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chapter: this is the foundation for the whole course. Anatomy and physiology, the hierarchy of organization, what defines life, what the body requires, how it stays balanced (homeostasis), and the standardized terminology used in every clinical setting. Preview that nearly every concept here reappears in patient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core distinction: anatomy is what structures are and where; physiology is how they work. Stress that structure and function are inseparable — a structure's shape enables its job. Note the subdivisions: gross/macroscopic versus microscopic (cytology, histology), and regional versus systemic approaches. The blood-pressure cuff is a perfect example of physiology you assess at the bedside.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up the pyramid: atoms and molecules (chemical level) build organelles and cells; similar cells form tissues; tissues combine into organs; organs working together form organ systems; all systems together form the organism. Emphasize the cell as the basic unit of life. This hierarchy is the scaffolding for the entire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the first set of organ systems and their primary jobs: integumentary (protection, temperature), skeletal (support, movement, blood-cell formation), muscular (movement, heat), nervous (rapid control), endocrine (hormonal control), and cardiovascular (transport). Students don't need mastery yet — this is the map; each system gets its own chapter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survey: lymphatic/immune (defense and fluid balance), respiratory (gas exchange), digestive (nutrient breakdown and absorption), urinary (waste removal and fluid balance), and reproductive (continuation of the species). Reinforce that the eleven systems are interdependent — no system functions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characteristics that define human life: organization, metabolism, responsiveness, movement, development, and reproduction. Use the figure to teach metabolism — catabolism breaks molecules down and releases energy, while anabolism uses that energy to build larger molecules. Together they keep the body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requires oxygen (to make ATP), nutrients (energy and building blocks), water (the medium for most reactions and about 70% of body mass), a narrow temperature range, and appropriate atmospheric pressure for gas exchange. Activity multiplies oxygen and nutrient demand — a useful tie-in to exercise tolerance and respiratory and cardiac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homeostasis as the maintenance of stable internal conditions despite external change. Negative feedback is the main mechanism: a receptor detects a deviation, a control center compares it to a set point, and effectors reverse the change. Body-temperature regulation is the classic example — overheating triggers sweating and vasodilation to shed heat. This underlies nearly all vital-sign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feedback intensifies the original stimulus until an endpoint is reached. It is less common and reserved for processes that must complete quickly: childbirth (oxytocin increases contractions until delivery) and blood clotting (each step accelerates the next). Contrast it sharply with negative feedback so students don't confuse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directional terms assume the anatomical position: standing erect, face forward, arms at the sides, palms forward. Regional terms (brachial, femoral, and so on) name precise areas. Emphasize that consistent terminology is a patient-safety issue — vague descriptions cause errors in documentation and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the paired directional terms: superior/inferior (above/below), anterior or ventral / posterior or dorsal (front/back), medial/lateral (toward/away from the midline), proximal/distal (near/far from the trunk, for limbs), and superficial/deep. Have students locate structures relative to one another aloud — these appear constantly in charting and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cardinal planes: sagittal (vertical, left/right; midsagittal makes equal halves), frontal or coronal (vertical, anterior/posterior), and transverse or horizontal (a cross-section, superior/inferior). CT and MRI images are displayed in these planes, so understanding them helps students interpret diagnostic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major closed cavities. The dorsal cavity (cranial plus vertebral) houses the brain and spinal cord. The ventral cavity divides into the thoracic cavity (pleural and pericardial) and the abdominopelvic cavity, separated by the diaphragm. Knowing cavity boundaries helps localize pain and organs.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mapping systems for the abdomen: the four quadrants (a quick clinical reference) and the nine regions (more precise). These let you localize pain and the underlying organs — for example, RLQ tenderness suggests the appendix, and RUQ the liver or gallbladder. This applies directly to abdominal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Serous membranes are double-layered: the parietal layer lines the cavity wall and the visceral layer covers the organ, with a thin film of serous fluid between them to reduce friction during movement such as heartbeat and breathing. Use the balloon-and-fist analogy. Inflammation produces the -itis terms: pericarditis, pleuritis, peritonitis.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imaging as applied anatomy. Plain radiography passes radiation through the body; dense tissue such as bone absorbs more and appears white. It is fast and inexpensive, ideal for fractures and chest films, but shows soft tissue poorly. Mention radiation safety and why exposure is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major modalities: CT (stacked X-ray slices, fast, excellent for trauma and bleeding), MRI (magnetic fields, best soft-tissue contrast, no radiation but slow and loud), PET (tracks metabolic activity, used in oncology), and ultrasound (sound waves, real-time, safe in pregnancy). Match the tool to the clinical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arc: from defining anatomy and physiology, through the levels of organization and organ systems, to the functions and requirements of life, homeostasis, terminology, and imaging. Remind students that this vocabulary and these concepts return in every later chapter and at every patient encounter.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anchoring the chapter to bedside priorities. Ask students which concept applies to a patient with a fever (negative feedback), to documenting a wound location (directional terms), or to describing abdominal pain (quadrants). This is the bridge from foundational A&amp;P into hands-on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a:t>
            </a:r>
            <a:endParaRPr lang="en-US" sz="1800" dirty="0"/>
          </a:p>
        </p:txBody>
      </p:sp>
      <p:sp>
        <p:nvSpPr>
          <p:cNvPr id="3" name="Text 1"/>
          <p:cNvSpPr/>
          <p:nvPr/>
        </p:nvSpPr>
        <p:spPr>
          <a:xfrm>
            <a:off x="713232" y="1783080"/>
            <a:ext cx="6858000" cy="182880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An Introduction to the Human Body</a:t>
            </a:r>
            <a:endParaRPr lang="en-US" sz="4400" dirty="0"/>
          </a:p>
        </p:txBody>
      </p:sp>
      <p:sp>
        <p:nvSpPr>
          <p:cNvPr id="4" name="Text 2"/>
          <p:cNvSpPr/>
          <p:nvPr/>
        </p:nvSpPr>
        <p:spPr>
          <a:xfrm>
            <a:off x="749808" y="384048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Anatomy, physiology, levels of organization, homeostasis,</a:t>
            </a:r>
            <a:endParaRPr lang="en-US" sz="1600" dirty="0"/>
          </a:p>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and the language of the body.</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7649"/>
            <a:ext cx="4096512" cy="1965581"/>
          </a:xfrm>
          <a:prstGeom prst="roundRect">
            <a:avLst>
              <a:gd name="adj" fmla="val 279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1/img/img01.jpg">    </p:cNvPr>
          <p:cNvPicPr>
            <a:picLocks noChangeAspect="1"/>
          </p:cNvPicPr>
          <p:nvPr/>
        </p:nvPicPr>
        <p:blipFill>
          <a:blip r:embed="rId1"/>
          <a:stretch>
            <a:fillRect/>
          </a:stretch>
        </p:blipFill>
        <p:spPr>
          <a:xfrm>
            <a:off x="7818120" y="2619945"/>
            <a:ext cx="3931920" cy="18009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Learning Objectives</a:t>
            </a:r>
            <a:endParaRPr lang="en-US" sz="30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Distinguish between anatomy and physiology, and identify several branches of each</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structure of the body, from simplest to most complex, in terms of the six levels of organization</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the functional characteristics of human life</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the four requirements for human survival</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Define homeostasis and explain its importance to normal human functioning</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Use appropriate anatomical terminology to identify key body structures, body regions, and directions in the body</a:t>
            </a:r>
            <a:endParaRPr lang="en-US" sz="1300" dirty="0"/>
          </a:p>
        </p:txBody>
      </p:sp>
      <p:sp>
        <p:nvSpPr>
          <p:cNvPr id="23" name="Shape 21"/>
          <p:cNvSpPr/>
          <p:nvPr/>
        </p:nvSpPr>
        <p:spPr>
          <a:xfrm>
            <a:off x="7699696" y="1517904"/>
            <a:ext cx="3803008" cy="4462272"/>
          </a:xfrm>
          <a:prstGeom prst="roundRect">
            <a:avLst>
              <a:gd name="adj" fmla="val 144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01/img/img02.jpg">    </p:cNvPr>
          <p:cNvPicPr>
            <a:picLocks noChangeAspect="1"/>
          </p:cNvPicPr>
          <p:nvPr/>
        </p:nvPicPr>
        <p:blipFill>
          <a:blip r:embed="rId1"/>
          <a:stretch>
            <a:fillRect/>
          </a:stretch>
        </p:blipFill>
        <p:spPr>
          <a:xfrm>
            <a:off x="7781992" y="1600200"/>
            <a:ext cx="3638416" cy="4297680"/>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body's levels of organization — the roadmap for this chapter.</a:t>
            </a:r>
            <a:endParaRPr lang="en-US" sz="1100" dirty="0"/>
          </a:p>
        </p:txBody>
      </p:sp>
      <p:sp>
        <p:nvSpPr>
          <p:cNvPr id="27" name="Text 23"/>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1.1</a:t>
            </a:r>
            <a:endParaRPr lang="en-US" sz="4800" dirty="0"/>
          </a:p>
        </p:txBody>
      </p:sp>
      <p:sp>
        <p:nvSpPr>
          <p:cNvPr id="4" name="Text 2"/>
          <p:cNvSpPr/>
          <p:nvPr/>
        </p:nvSpPr>
        <p:spPr>
          <a:xfrm>
            <a:off x="3200400" y="251460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37160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Overview of Anatomy and Physiology</a:t>
            </a:r>
            <a:endParaRPr lang="en-US" sz="3200" dirty="0"/>
          </a:p>
        </p:txBody>
      </p:sp>
      <p:sp>
        <p:nvSpPr>
          <p:cNvPr id="6" name="Text 4"/>
          <p:cNvSpPr/>
          <p:nvPr/>
        </p:nvSpPr>
        <p:spPr>
          <a:xfrm>
            <a:off x="3200400" y="411480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study of the body's structure and how its parts function — and why the two are inseparable.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1.1</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Anatomy &amp; Physiology in Action</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Anatomy = structure; physiology = function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Form and function are always linked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Gross (macroscopic) vs. microscopic anatomy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blood-pressure reading is physiology at the bedside</a:t>
            </a:r>
            <a:endParaRPr lang="en-US" sz="1500" dirty="0"/>
          </a:p>
        </p:txBody>
      </p:sp>
      <p:sp>
        <p:nvSpPr>
          <p:cNvPr id="5" name="Shape 3"/>
          <p:cNvSpPr/>
          <p:nvPr/>
        </p:nvSpPr>
        <p:spPr>
          <a:xfrm>
            <a:off x="5404104" y="2151266"/>
            <a:ext cx="6382512" cy="3012668"/>
          </a:xfrm>
          <a:prstGeom prst="roundRect">
            <a:avLst>
              <a:gd name="adj" fmla="val 182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01.jpg">    </p:cNvPr>
          <p:cNvPicPr>
            <a:picLocks noChangeAspect="1"/>
          </p:cNvPicPr>
          <p:nvPr/>
        </p:nvPicPr>
        <p:blipFill>
          <a:blip r:embed="rId1"/>
          <a:stretch>
            <a:fillRect/>
          </a:stretch>
        </p:blipFill>
        <p:spPr>
          <a:xfrm>
            <a:off x="5486400" y="2233562"/>
            <a:ext cx="6217920" cy="2848076"/>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Measuring blood pressure — physiology you assess every shift</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1.2</a:t>
            </a:r>
            <a:endParaRPr lang="en-US" sz="4800" dirty="0"/>
          </a:p>
        </p:txBody>
      </p:sp>
      <p:sp>
        <p:nvSpPr>
          <p:cNvPr id="4" name="Text 2"/>
          <p:cNvSpPr/>
          <p:nvPr/>
        </p:nvSpPr>
        <p:spPr>
          <a:xfrm>
            <a:off x="3200400" y="251460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37160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Structural Organization of the Human Body</a:t>
            </a:r>
            <a:endParaRPr lang="en-US" sz="3200" dirty="0"/>
          </a:p>
        </p:txBody>
      </p:sp>
      <p:sp>
        <p:nvSpPr>
          <p:cNvPr id="6" name="Text 4"/>
          <p:cNvSpPr/>
          <p:nvPr/>
        </p:nvSpPr>
        <p:spPr>
          <a:xfrm>
            <a:off x="3200400" y="411480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From atoms to the whole organism — six levels of increasing complexity, and the eleven organ systems.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The Six Levels of Organization</a:t>
            </a:r>
            <a:endParaRPr lang="en-US" sz="3000" dirty="0"/>
          </a:p>
        </p:txBody>
      </p:sp>
      <p:sp>
        <p:nvSpPr>
          <p:cNvPr id="4" name="Shape 2"/>
          <p:cNvSpPr/>
          <p:nvPr/>
        </p:nvSpPr>
        <p:spPr>
          <a:xfrm>
            <a:off x="634136" y="1289304"/>
            <a:ext cx="4035247" cy="4736592"/>
          </a:xfrm>
          <a:prstGeom prst="roundRect">
            <a:avLst>
              <a:gd name="adj" fmla="val 136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1/img/img02.jpg">    </p:cNvPr>
          <p:cNvPicPr>
            <a:picLocks noChangeAspect="1"/>
          </p:cNvPicPr>
          <p:nvPr/>
        </p:nvPicPr>
        <p:blipFill>
          <a:blip r:embed="rId1"/>
          <a:stretch>
            <a:fillRect/>
          </a:stretch>
        </p:blipFill>
        <p:spPr>
          <a:xfrm>
            <a:off x="716432" y="1371600"/>
            <a:ext cx="3870655"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levels of structural organization in the body</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Chemical → cellular → tissue → organ → system → organism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Each level builds on the one below it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cell is the smallest unit of life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Complexity rises from atom to whole person</a:t>
            </a:r>
            <a:endParaRPr lang="en-US" sz="16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Organ Systems of the Body (I)</a:t>
            </a:r>
            <a:endParaRPr lang="en-US" sz="3000" dirty="0"/>
          </a:p>
        </p:txBody>
      </p:sp>
      <p:sp>
        <p:nvSpPr>
          <p:cNvPr id="4" name="Shape 2"/>
          <p:cNvSpPr/>
          <p:nvPr/>
        </p:nvSpPr>
        <p:spPr>
          <a:xfrm>
            <a:off x="1187120" y="1289304"/>
            <a:ext cx="2929280" cy="4736592"/>
          </a:xfrm>
          <a:prstGeom prst="roundRect">
            <a:avLst>
              <a:gd name="adj" fmla="val 187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1/img/img03.jpg">    </p:cNvPr>
          <p:cNvPicPr>
            <a:picLocks noChangeAspect="1"/>
          </p:cNvPicPr>
          <p:nvPr/>
        </p:nvPicPr>
        <p:blipFill>
          <a:blip r:embed="rId1"/>
          <a:stretch>
            <a:fillRect/>
          </a:stretch>
        </p:blipFill>
        <p:spPr>
          <a:xfrm>
            <a:off x="1269416" y="1371600"/>
            <a:ext cx="276468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Organ systems and their major organs (part 1)</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Integumentary, skeletal, and muscular systems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Nervous and endocrine — the body's control systems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Cardiovascular system transports blood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Each system has distinct organs and roles</a:t>
            </a:r>
            <a:endParaRPr lang="en-US" sz="16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1.2</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Organ Systems of the Body (II)</a:t>
            </a:r>
            <a:endParaRPr lang="en-US" sz="3000" dirty="0"/>
          </a:p>
        </p:txBody>
      </p:sp>
      <p:sp>
        <p:nvSpPr>
          <p:cNvPr id="4" name="Shape 2"/>
          <p:cNvSpPr/>
          <p:nvPr/>
        </p:nvSpPr>
        <p:spPr>
          <a:xfrm>
            <a:off x="1187120" y="1289304"/>
            <a:ext cx="2929280" cy="4736592"/>
          </a:xfrm>
          <a:prstGeom prst="roundRect">
            <a:avLst>
              <a:gd name="adj" fmla="val 187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1/img/img04.jpg">    </p:cNvPr>
          <p:cNvPicPr>
            <a:picLocks noChangeAspect="1"/>
          </p:cNvPicPr>
          <p:nvPr/>
        </p:nvPicPr>
        <p:blipFill>
          <a:blip r:embed="rId1"/>
          <a:stretch>
            <a:fillRect/>
          </a:stretch>
        </p:blipFill>
        <p:spPr>
          <a:xfrm>
            <a:off x="1269416" y="1371600"/>
            <a:ext cx="276468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Organ systems and their major organs (part 2)</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Lymphatic/immune and respiratory systems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Digestive and urinary systems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Male and female reproductive systems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All eleven systems work interdependently</a:t>
            </a:r>
            <a:endParaRPr lang="en-US" sz="16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1.3</a:t>
            </a:r>
            <a:endParaRPr lang="en-US" sz="4800" dirty="0"/>
          </a:p>
        </p:txBody>
      </p:sp>
      <p:sp>
        <p:nvSpPr>
          <p:cNvPr id="4" name="Text 2"/>
          <p:cNvSpPr/>
          <p:nvPr/>
        </p:nvSpPr>
        <p:spPr>
          <a:xfrm>
            <a:off x="3200400" y="251460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37160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Functions of Human Life</a:t>
            </a:r>
            <a:endParaRPr lang="en-US" sz="3200" dirty="0"/>
          </a:p>
        </p:txBody>
      </p:sp>
      <p:sp>
        <p:nvSpPr>
          <p:cNvPr id="6" name="Text 4"/>
          <p:cNvSpPr/>
          <p:nvPr/>
        </p:nvSpPr>
        <p:spPr>
          <a:xfrm>
            <a:off x="3200400" y="411480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processes that distinguish the living human body — organization, metabolism, responsiveness, and more.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1.3</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Functions of Human Life</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Organization, metabolism, responsiveness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Movement, development, and reproduction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Metabolism = catabolism + anabolism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Catabolism releases energy; anabolism builds</a:t>
            </a:r>
            <a:endParaRPr lang="en-US" sz="1500" dirty="0"/>
          </a:p>
        </p:txBody>
      </p:sp>
      <p:sp>
        <p:nvSpPr>
          <p:cNvPr id="5" name="Shape 3"/>
          <p:cNvSpPr/>
          <p:nvPr/>
        </p:nvSpPr>
        <p:spPr>
          <a:xfrm>
            <a:off x="5965194" y="1335024"/>
            <a:ext cx="5260333"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05.jpg">    </p:cNvPr>
          <p:cNvPicPr>
            <a:picLocks noChangeAspect="1"/>
          </p:cNvPicPr>
          <p:nvPr/>
        </p:nvPicPr>
        <p:blipFill>
          <a:blip r:embed="rId1"/>
          <a:stretch>
            <a:fillRect/>
          </a:stretch>
        </p:blipFill>
        <p:spPr>
          <a:xfrm>
            <a:off x="6047490" y="1417320"/>
            <a:ext cx="509574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Metabolism: catabolism releases energy, anabolism uses it</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1.4</a:t>
            </a:r>
            <a:endParaRPr lang="en-US" sz="4800" dirty="0"/>
          </a:p>
        </p:txBody>
      </p:sp>
      <p:sp>
        <p:nvSpPr>
          <p:cNvPr id="4" name="Text 2"/>
          <p:cNvSpPr/>
          <p:nvPr/>
        </p:nvSpPr>
        <p:spPr>
          <a:xfrm>
            <a:off x="3200400" y="251460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37160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Requirements for Human Life</a:t>
            </a:r>
            <a:endParaRPr lang="en-US" sz="3200" dirty="0"/>
          </a:p>
        </p:txBody>
      </p:sp>
      <p:sp>
        <p:nvSpPr>
          <p:cNvPr id="6" name="Text 4"/>
          <p:cNvSpPr/>
          <p:nvPr/>
        </p:nvSpPr>
        <p:spPr>
          <a:xfrm>
            <a:off x="3200400" y="411480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Oxygen, nutrients, water, and narrow ranges of temperature and atmospheric pressure.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1.4</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Requirements for Human Survival</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Oxygen, nutrients, and water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Narrow ranges of temperature and pressure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Demand rises sharply during activity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Survival depends on meeting all of these</a:t>
            </a:r>
            <a:endParaRPr lang="en-US" sz="1500" dirty="0"/>
          </a:p>
        </p:txBody>
      </p:sp>
      <p:sp>
        <p:nvSpPr>
          <p:cNvPr id="5" name="Shape 3"/>
          <p:cNvSpPr/>
          <p:nvPr/>
        </p:nvSpPr>
        <p:spPr>
          <a:xfrm>
            <a:off x="5404104" y="1502664"/>
            <a:ext cx="6382512" cy="4309872"/>
          </a:xfrm>
          <a:prstGeom prst="roundRect">
            <a:avLst>
              <a:gd name="adj" fmla="val 127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06.jpg">    </p:cNvPr>
          <p:cNvPicPr>
            <a:picLocks noChangeAspect="1"/>
          </p:cNvPicPr>
          <p:nvPr/>
        </p:nvPicPr>
        <p:blipFill>
          <a:blip r:embed="rId1"/>
          <a:stretch>
            <a:fillRect/>
          </a:stretch>
        </p:blipFill>
        <p:spPr>
          <a:xfrm>
            <a:off x="5486400" y="1584960"/>
            <a:ext cx="6217920" cy="414528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body's demands climb steeply with activity</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1.5</a:t>
            </a:r>
            <a:endParaRPr lang="en-US" sz="4800" dirty="0"/>
          </a:p>
        </p:txBody>
      </p:sp>
      <p:sp>
        <p:nvSpPr>
          <p:cNvPr id="4" name="Text 2"/>
          <p:cNvSpPr/>
          <p:nvPr/>
        </p:nvSpPr>
        <p:spPr>
          <a:xfrm>
            <a:off x="3200400" y="251460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37160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Homeostasis</a:t>
            </a:r>
            <a:endParaRPr lang="en-US" sz="3200" dirty="0"/>
          </a:p>
        </p:txBody>
      </p:sp>
      <p:sp>
        <p:nvSpPr>
          <p:cNvPr id="6" name="Text 4"/>
          <p:cNvSpPr/>
          <p:nvPr/>
        </p:nvSpPr>
        <p:spPr>
          <a:xfrm>
            <a:off x="3200400" y="411480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body maintains a stable internal environment through feedback.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Homeostasis &amp; Negative Feedback</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Homeostasis = a stable internal environment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Negative feedback reverses a change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Stimulus → sensor → control center → effector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Example: temperature regulation by sweating</a:t>
            </a:r>
            <a:endParaRPr lang="en-US" sz="1500" dirty="0"/>
          </a:p>
        </p:txBody>
      </p:sp>
      <p:sp>
        <p:nvSpPr>
          <p:cNvPr id="5" name="Shape 3"/>
          <p:cNvSpPr/>
          <p:nvPr/>
        </p:nvSpPr>
        <p:spPr>
          <a:xfrm>
            <a:off x="5460907" y="1335024"/>
            <a:ext cx="626890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09.jpg">    </p:cNvPr>
          <p:cNvPicPr>
            <a:picLocks noChangeAspect="1"/>
          </p:cNvPicPr>
          <p:nvPr/>
        </p:nvPicPr>
        <p:blipFill>
          <a:blip r:embed="rId1"/>
          <a:stretch>
            <a:fillRect/>
          </a:stretch>
        </p:blipFill>
        <p:spPr>
          <a:xfrm>
            <a:off x="5543203" y="1417320"/>
            <a:ext cx="610431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negative-feedback loop and body-temperature control</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1.5</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Positive Feedback</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Amplifies a change rather than reversing it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Reserved for rapid, self-limiting events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Example: oxytocin during labor and childbirth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Also drives the blood-clotting cascade</a:t>
            </a:r>
            <a:endParaRPr lang="en-US" sz="1500" dirty="0"/>
          </a:p>
        </p:txBody>
      </p:sp>
      <p:sp>
        <p:nvSpPr>
          <p:cNvPr id="5" name="Shape 3"/>
          <p:cNvSpPr/>
          <p:nvPr/>
        </p:nvSpPr>
        <p:spPr>
          <a:xfrm>
            <a:off x="6189446" y="1335024"/>
            <a:ext cx="4811829"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10.jpg">    </p:cNvPr>
          <p:cNvPicPr>
            <a:picLocks noChangeAspect="1"/>
          </p:cNvPicPr>
          <p:nvPr/>
        </p:nvPicPr>
        <p:blipFill>
          <a:blip r:embed="rId1"/>
          <a:stretch>
            <a:fillRect/>
          </a:stretch>
        </p:blipFill>
        <p:spPr>
          <a:xfrm>
            <a:off x="6271742" y="1417320"/>
            <a:ext cx="464723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Positive feedback: oxytocin intensifies labor contractions</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1.6</a:t>
            </a:r>
            <a:endParaRPr lang="en-US" sz="4800" dirty="0"/>
          </a:p>
        </p:txBody>
      </p:sp>
      <p:sp>
        <p:nvSpPr>
          <p:cNvPr id="4" name="Text 2"/>
          <p:cNvSpPr/>
          <p:nvPr/>
        </p:nvSpPr>
        <p:spPr>
          <a:xfrm>
            <a:off x="3200400" y="251460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37160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Anatomical Terminology</a:t>
            </a:r>
            <a:endParaRPr lang="en-US" sz="3200" dirty="0"/>
          </a:p>
        </p:txBody>
      </p:sp>
      <p:sp>
        <p:nvSpPr>
          <p:cNvPr id="6" name="Text 4"/>
          <p:cNvSpPr/>
          <p:nvPr/>
        </p:nvSpPr>
        <p:spPr>
          <a:xfrm>
            <a:off x="3200400" y="411480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standardized language of position, direction, planes, cavities, and regions.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Anatomical Position &amp; Body Regions</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Anatomical position is the reference posture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Standing, facing forward, palms forward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Regional terms name specific body areas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shared language prevents miscommunication</a:t>
            </a:r>
            <a:endParaRPr lang="en-US" sz="1500" dirty="0"/>
          </a:p>
        </p:txBody>
      </p:sp>
      <p:sp>
        <p:nvSpPr>
          <p:cNvPr id="5" name="Shape 3"/>
          <p:cNvSpPr/>
          <p:nvPr/>
        </p:nvSpPr>
        <p:spPr>
          <a:xfrm>
            <a:off x="5965418" y="1335024"/>
            <a:ext cx="525988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11.jpg">    </p:cNvPr>
          <p:cNvPicPr>
            <a:picLocks noChangeAspect="1"/>
          </p:cNvPicPr>
          <p:nvPr/>
        </p:nvPicPr>
        <p:blipFill>
          <a:blip r:embed="rId1"/>
          <a:stretch>
            <a:fillRect/>
          </a:stretch>
        </p:blipFill>
        <p:spPr>
          <a:xfrm>
            <a:off x="6047714" y="1417320"/>
            <a:ext cx="509529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Anatomical position with regional terms (anterior and posterior)</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Directional Terms</a:t>
            </a:r>
            <a:endParaRPr lang="en-US" sz="3000" dirty="0"/>
          </a:p>
        </p:txBody>
      </p:sp>
      <p:sp>
        <p:nvSpPr>
          <p:cNvPr id="4" name="Shape 2"/>
          <p:cNvSpPr/>
          <p:nvPr/>
        </p:nvSpPr>
        <p:spPr>
          <a:xfrm>
            <a:off x="420624" y="1393519"/>
            <a:ext cx="4462272" cy="4528162"/>
          </a:xfrm>
          <a:prstGeom prst="roundRect">
            <a:avLst>
              <a:gd name="adj" fmla="val 123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1/img/img12.jpg">    </p:cNvPr>
          <p:cNvPicPr>
            <a:picLocks noChangeAspect="1"/>
          </p:cNvPicPr>
          <p:nvPr/>
        </p:nvPicPr>
        <p:blipFill>
          <a:blip r:embed="rId1"/>
          <a:stretch>
            <a:fillRect/>
          </a:stretch>
        </p:blipFill>
        <p:spPr>
          <a:xfrm>
            <a:off x="502920" y="1475815"/>
            <a:ext cx="4297680" cy="436357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Directional terms used to relate body structures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Superior/inferior, anterior/posterior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Medial/lateral, proximal/distal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Superficial/deep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Always described from anatomical position</a:t>
            </a:r>
            <a:endParaRPr lang="en-US" sz="16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Planes of Section</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Sagittal plane divides left and right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Frontal (coronal) divides front and back</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Transverse divides superior and inferior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Imaging studies are read in these planes</a:t>
            </a:r>
            <a:endParaRPr lang="en-US" sz="1500" dirty="0"/>
          </a:p>
        </p:txBody>
      </p:sp>
      <p:sp>
        <p:nvSpPr>
          <p:cNvPr id="5" name="Shape 3"/>
          <p:cNvSpPr/>
          <p:nvPr/>
        </p:nvSpPr>
        <p:spPr>
          <a:xfrm>
            <a:off x="6327447" y="1335024"/>
            <a:ext cx="4535826" cy="4645152"/>
          </a:xfrm>
          <a:prstGeom prst="roundRect">
            <a:avLst>
              <a:gd name="adj" fmla="val 121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13.jpg">    </p:cNvPr>
          <p:cNvPicPr>
            <a:picLocks noChangeAspect="1"/>
          </p:cNvPicPr>
          <p:nvPr/>
        </p:nvPicPr>
        <p:blipFill>
          <a:blip r:embed="rId1"/>
          <a:stretch>
            <a:fillRect/>
          </a:stretch>
        </p:blipFill>
        <p:spPr>
          <a:xfrm>
            <a:off x="6409743" y="1417320"/>
            <a:ext cx="437123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sagittal, frontal, and transverse planes</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Body Cavities &amp; Membranes</a:t>
            </a:r>
            <a:endParaRPr lang="en-US" sz="3000" dirty="0"/>
          </a:p>
        </p:txBody>
      </p:sp>
      <p:sp>
        <p:nvSpPr>
          <p:cNvPr id="4" name="Shape 2"/>
          <p:cNvSpPr/>
          <p:nvPr/>
        </p:nvSpPr>
        <p:spPr>
          <a:xfrm>
            <a:off x="2941945" y="1289304"/>
            <a:ext cx="632335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1/img/img14.jpg">    </p:cNvPr>
          <p:cNvPicPr>
            <a:picLocks noChangeAspect="1"/>
          </p:cNvPicPr>
          <p:nvPr/>
        </p:nvPicPr>
        <p:blipFill>
          <a:blip r:embed="rId1"/>
          <a:stretch>
            <a:fillRect/>
          </a:stretch>
        </p:blipFill>
        <p:spPr>
          <a:xfrm>
            <a:off x="3024241" y="1371600"/>
            <a:ext cx="615875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dorsal and ventral body cavities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Dorsal cavity: cranial and vertebral</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Ventral cavity: thoracic and abdominopelvic</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diaphragm separates thorax and abdomen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Cavities protect and organize the organs</a:t>
            </a:r>
            <a:endParaRPr lang="en-US" sz="1300" dirty="0"/>
          </a:p>
        </p:txBody>
      </p:sp>
      <p:sp>
        <p:nvSpPr>
          <p:cNvPr id="10" name="Text 6"/>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Abdominal Regions &amp; Quadrants</a:t>
            </a:r>
            <a:endParaRPr lang="en-US" sz="3000" dirty="0"/>
          </a:p>
        </p:txBody>
      </p:sp>
      <p:sp>
        <p:nvSpPr>
          <p:cNvPr id="4" name="Shape 2"/>
          <p:cNvSpPr/>
          <p:nvPr/>
        </p:nvSpPr>
        <p:spPr>
          <a:xfrm>
            <a:off x="2565715" y="1289304"/>
            <a:ext cx="707581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1/img/img15.jpg">    </p:cNvPr>
          <p:cNvPicPr>
            <a:picLocks noChangeAspect="1"/>
          </p:cNvPicPr>
          <p:nvPr/>
        </p:nvPicPr>
        <p:blipFill>
          <a:blip r:embed="rId1"/>
          <a:stretch>
            <a:fillRect/>
          </a:stretch>
        </p:blipFill>
        <p:spPr>
          <a:xfrm>
            <a:off x="2648011" y="1371600"/>
            <a:ext cx="691121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nine abdominal regions and four quadrants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Four quadrants: RUQ, LUQ, RLQ, LLQ</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Nine regions allow finer localization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Used to describe pain and organ location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RLQ pain → think appendicitis</a:t>
            </a:r>
            <a:endParaRPr lang="en-US" sz="1300" dirty="0"/>
          </a:p>
        </p:txBody>
      </p:sp>
      <p:sp>
        <p:nvSpPr>
          <p:cNvPr id="10" name="Text 6"/>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1.6</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Serous Membranes</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Line cavities and cover the organs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Parietal layer lines the wall; visceral covers the organ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Serous fluid reduces friction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Examples: pericardium, pleura, peritoneum</a:t>
            </a:r>
            <a:endParaRPr lang="en-US" sz="1500" dirty="0"/>
          </a:p>
        </p:txBody>
      </p:sp>
      <p:sp>
        <p:nvSpPr>
          <p:cNvPr id="5" name="Shape 3"/>
          <p:cNvSpPr/>
          <p:nvPr/>
        </p:nvSpPr>
        <p:spPr>
          <a:xfrm>
            <a:off x="5404104" y="2050781"/>
            <a:ext cx="6382512" cy="3213638"/>
          </a:xfrm>
          <a:prstGeom prst="roundRect">
            <a:avLst>
              <a:gd name="adj" fmla="val 170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16.jpg">    </p:cNvPr>
          <p:cNvPicPr>
            <a:picLocks noChangeAspect="1"/>
          </p:cNvPicPr>
          <p:nvPr/>
        </p:nvPicPr>
        <p:blipFill>
          <a:blip r:embed="rId1"/>
          <a:stretch>
            <a:fillRect/>
          </a:stretch>
        </p:blipFill>
        <p:spPr>
          <a:xfrm>
            <a:off x="5486400" y="2133077"/>
            <a:ext cx="6217920" cy="3049046"/>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Serous membrane structure (balloon-and-fist analogy)</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1.7</a:t>
            </a:r>
            <a:endParaRPr lang="en-US" sz="4800" dirty="0"/>
          </a:p>
        </p:txBody>
      </p:sp>
      <p:sp>
        <p:nvSpPr>
          <p:cNvPr id="4" name="Text 2"/>
          <p:cNvSpPr/>
          <p:nvPr/>
        </p:nvSpPr>
        <p:spPr>
          <a:xfrm>
            <a:off x="3200400" y="251460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37160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Medical Imaging</a:t>
            </a:r>
            <a:endParaRPr lang="en-US" sz="3200" dirty="0"/>
          </a:p>
        </p:txBody>
      </p:sp>
      <p:sp>
        <p:nvSpPr>
          <p:cNvPr id="6" name="Text 4"/>
          <p:cNvSpPr/>
          <p:nvPr/>
        </p:nvSpPr>
        <p:spPr>
          <a:xfrm>
            <a:off x="3200400" y="411480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Seeing inside the living body — radiography, CT, MRI, PET, and ultrasound.</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Medical Imaging — Radiography</a:t>
            </a:r>
            <a:endParaRPr lang="en-US" sz="3000" dirty="0"/>
          </a:p>
        </p:txBody>
      </p:sp>
      <p:sp>
        <p:nvSpPr>
          <p:cNvPr id="4" name="Shape 2"/>
          <p:cNvSpPr/>
          <p:nvPr/>
        </p:nvSpPr>
        <p:spPr>
          <a:xfrm>
            <a:off x="623392" y="1289304"/>
            <a:ext cx="4056736" cy="4736592"/>
          </a:xfrm>
          <a:prstGeom prst="roundRect">
            <a:avLst>
              <a:gd name="adj" fmla="val 135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1/img/img17.jpg">    </p:cNvPr>
          <p:cNvPicPr>
            <a:picLocks noChangeAspect="1"/>
          </p:cNvPicPr>
          <p:nvPr/>
        </p:nvPicPr>
        <p:blipFill>
          <a:blip r:embed="rId1"/>
          <a:stretch>
            <a:fillRect/>
          </a:stretch>
        </p:blipFill>
        <p:spPr>
          <a:xfrm>
            <a:off x="705688" y="1371600"/>
            <a:ext cx="389214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plain radiograph (X-ray) of the hand</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X-rays show dense structures like bone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Quick, inexpensive, and widely available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Limited soft-tissue detail</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First-line for suspected fractures</a:t>
            </a:r>
            <a:endParaRPr lang="en-US" sz="16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1.7</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Imaging Modalities Compared</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CT: cross-sectional X-ray, excellent for trauma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MRI: magnetic, superb soft-tissue detail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PET: shows metabolic activity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Ultrasound: safe, real-time, no radiation</a:t>
            </a:r>
            <a:endParaRPr lang="en-US" sz="1500" dirty="0"/>
          </a:p>
        </p:txBody>
      </p:sp>
      <p:sp>
        <p:nvSpPr>
          <p:cNvPr id="5" name="Shape 3"/>
          <p:cNvSpPr/>
          <p:nvPr/>
        </p:nvSpPr>
        <p:spPr>
          <a:xfrm>
            <a:off x="6029490" y="1335024"/>
            <a:ext cx="513174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1/img/img18.jpg">    </p:cNvPr>
          <p:cNvPicPr>
            <a:picLocks noChangeAspect="1"/>
          </p:cNvPicPr>
          <p:nvPr/>
        </p:nvPicPr>
        <p:blipFill>
          <a:blip r:embed="rId1"/>
          <a:stretch>
            <a:fillRect/>
          </a:stretch>
        </p:blipFill>
        <p:spPr>
          <a:xfrm>
            <a:off x="6111786" y="1417320"/>
            <a:ext cx="496714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Common imaging modalities and their uses</a:t>
            </a:r>
            <a:endParaRPr lang="en-US" sz="1100" dirty="0"/>
          </a:p>
        </p:txBody>
      </p:sp>
      <p:sp>
        <p:nvSpPr>
          <p:cNvPr id="9" name="Text 5"/>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a:t>
            </a:r>
            <a:endParaRPr lang="en-US" sz="1200" dirty="0"/>
          </a:p>
        </p:txBody>
      </p:sp>
      <p:sp>
        <p:nvSpPr>
          <p:cNvPr id="3" name="Text 1"/>
          <p:cNvSpPr/>
          <p:nvPr/>
        </p:nvSpPr>
        <p:spPr>
          <a:xfrm>
            <a:off x="475488" y="658368"/>
            <a:ext cx="11247120" cy="731520"/>
          </a:xfrm>
          <a:prstGeom prst="rect">
            <a:avLst/>
          </a:prstGeom>
          <a:noFill/>
          <a:ln/>
        </p:spPr>
        <p:txBody>
          <a:bodyPr wrap="square" rtlCol="0" anchor="ctr"/>
          <a:lstStyle/>
          <a:p>
            <a:pPr indent="0" marL="0">
              <a:buNone/>
            </a:pPr>
            <a:r>
              <a:rPr lang="en-US" sz="3000" b="1" dirty="0">
                <a:solidFill>
                  <a:srgbClr val="0F4C5C"/>
                </a:solidFill>
                <a:latin typeface="Georgia" pitchFamily="34" charset="0"/>
                <a:ea typeface="Georgia" pitchFamily="34" charset="-122"/>
                <a:cs typeface="Georgia" pitchFamily="34" charset="-120"/>
              </a:rPr>
              <a:t>Key Takeaways</a:t>
            </a:r>
            <a:endParaRPr lang="en-US" sz="30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02920"/>
          </a:xfrm>
          <a:prstGeom prst="rect">
            <a:avLst/>
          </a:prstGeom>
          <a:noFill/>
          <a:ln/>
        </p:spPr>
        <p:txBody>
          <a:bodyPr wrap="square" rtlCol="0" anchor="ctr"/>
          <a:lstStyle/>
          <a:p>
            <a:pPr indent="0" marL="0">
              <a:buNone/>
            </a:pPr>
            <a:r>
              <a:rPr lang="en-US" sz="1600" dirty="0">
                <a:solidFill>
                  <a:srgbClr val="23363B"/>
                </a:solidFill>
                <a:latin typeface="Calibri" pitchFamily="34" charset="0"/>
                <a:ea typeface="Calibri" pitchFamily="34" charset="-122"/>
                <a:cs typeface="Calibri" pitchFamily="34" charset="-120"/>
              </a:rPr>
              <a:t>Anatomy is structure and physiology is function — the two are inseparable.</a:t>
            </a:r>
            <a:endParaRPr lang="en-US" sz="1600" dirty="0"/>
          </a:p>
        </p:txBody>
      </p:sp>
      <p:sp>
        <p:nvSpPr>
          <p:cNvPr id="6" name="Shape 4"/>
          <p:cNvSpPr/>
          <p:nvPr/>
        </p:nvSpPr>
        <p:spPr>
          <a:xfrm>
            <a:off x="548640" y="2569464"/>
            <a:ext cx="237744" cy="237744"/>
          </a:xfrm>
          <a:prstGeom prst="ellipse">
            <a:avLst/>
          </a:prstGeom>
          <a:solidFill>
            <a:srgbClr val="E36414"/>
          </a:solidFill>
          <a:ln/>
        </p:spPr>
      </p:sp>
      <p:sp>
        <p:nvSpPr>
          <p:cNvPr id="7" name="Text 5"/>
          <p:cNvSpPr/>
          <p:nvPr/>
        </p:nvSpPr>
        <p:spPr>
          <a:xfrm>
            <a:off x="960120" y="2487168"/>
            <a:ext cx="10607040" cy="502920"/>
          </a:xfrm>
          <a:prstGeom prst="rect">
            <a:avLst/>
          </a:prstGeom>
          <a:noFill/>
          <a:ln/>
        </p:spPr>
        <p:txBody>
          <a:bodyPr wrap="square" rtlCol="0" anchor="ctr"/>
          <a:lstStyle/>
          <a:p>
            <a:pPr indent="0" marL="0">
              <a:buNone/>
            </a:pPr>
            <a:r>
              <a:rPr lang="en-US" sz="1600" dirty="0">
                <a:solidFill>
                  <a:srgbClr val="23363B"/>
                </a:solidFill>
                <a:latin typeface="Calibri" pitchFamily="34" charset="0"/>
                <a:ea typeface="Calibri" pitchFamily="34" charset="-122"/>
                <a:cs typeface="Calibri" pitchFamily="34" charset="-120"/>
              </a:rPr>
              <a:t>The body is organized in six levels, from the chemical level to the organism.</a:t>
            </a:r>
            <a:endParaRPr lang="en-US" sz="1600" dirty="0"/>
          </a:p>
        </p:txBody>
      </p:sp>
      <p:sp>
        <p:nvSpPr>
          <p:cNvPr id="8" name="Shape 6"/>
          <p:cNvSpPr/>
          <p:nvPr/>
        </p:nvSpPr>
        <p:spPr>
          <a:xfrm>
            <a:off x="548640" y="3319272"/>
            <a:ext cx="237744" cy="237744"/>
          </a:xfrm>
          <a:prstGeom prst="ellipse">
            <a:avLst/>
          </a:prstGeom>
          <a:solidFill>
            <a:srgbClr val="E36414"/>
          </a:solidFill>
          <a:ln/>
        </p:spPr>
      </p:sp>
      <p:sp>
        <p:nvSpPr>
          <p:cNvPr id="9" name="Text 7"/>
          <p:cNvSpPr/>
          <p:nvPr/>
        </p:nvSpPr>
        <p:spPr>
          <a:xfrm>
            <a:off x="960120" y="3236976"/>
            <a:ext cx="10607040" cy="502920"/>
          </a:xfrm>
          <a:prstGeom prst="rect">
            <a:avLst/>
          </a:prstGeom>
          <a:noFill/>
          <a:ln/>
        </p:spPr>
        <p:txBody>
          <a:bodyPr wrap="square" rtlCol="0" anchor="ctr"/>
          <a:lstStyle/>
          <a:p>
            <a:pPr indent="0" marL="0">
              <a:buNone/>
            </a:pPr>
            <a:r>
              <a:rPr lang="en-US" sz="1600" dirty="0">
                <a:solidFill>
                  <a:srgbClr val="23363B"/>
                </a:solidFill>
                <a:latin typeface="Calibri" pitchFamily="34" charset="0"/>
                <a:ea typeface="Calibri" pitchFamily="34" charset="-122"/>
                <a:cs typeface="Calibri" pitchFamily="34" charset="-120"/>
              </a:rPr>
              <a:t>Eleven organ systems work together to keep the body alive.</a:t>
            </a:r>
            <a:endParaRPr lang="en-US" sz="1600" dirty="0"/>
          </a:p>
        </p:txBody>
      </p:sp>
      <p:sp>
        <p:nvSpPr>
          <p:cNvPr id="10" name="Shape 8"/>
          <p:cNvSpPr/>
          <p:nvPr/>
        </p:nvSpPr>
        <p:spPr>
          <a:xfrm>
            <a:off x="548640" y="4069080"/>
            <a:ext cx="237744" cy="237744"/>
          </a:xfrm>
          <a:prstGeom prst="ellipse">
            <a:avLst/>
          </a:prstGeom>
          <a:solidFill>
            <a:srgbClr val="E36414"/>
          </a:solidFill>
          <a:ln/>
        </p:spPr>
      </p:sp>
      <p:sp>
        <p:nvSpPr>
          <p:cNvPr id="11" name="Text 9"/>
          <p:cNvSpPr/>
          <p:nvPr/>
        </p:nvSpPr>
        <p:spPr>
          <a:xfrm>
            <a:off x="960120" y="3986784"/>
            <a:ext cx="10607040" cy="502920"/>
          </a:xfrm>
          <a:prstGeom prst="rect">
            <a:avLst/>
          </a:prstGeom>
          <a:noFill/>
          <a:ln/>
        </p:spPr>
        <p:txBody>
          <a:bodyPr wrap="square" rtlCol="0" anchor="ctr"/>
          <a:lstStyle/>
          <a:p>
            <a:pPr indent="0" marL="0">
              <a:buNone/>
            </a:pPr>
            <a:r>
              <a:rPr lang="en-US" sz="1600" dirty="0">
                <a:solidFill>
                  <a:srgbClr val="23363B"/>
                </a:solidFill>
                <a:latin typeface="Calibri" pitchFamily="34" charset="0"/>
                <a:ea typeface="Calibri" pitchFamily="34" charset="-122"/>
                <a:cs typeface="Calibri" pitchFamily="34" charset="-120"/>
              </a:rPr>
              <a:t>Homeostasis, maintained mainly by negative feedback, keeps internal conditions stable.</a:t>
            </a:r>
            <a:endParaRPr lang="en-US" sz="1600" dirty="0"/>
          </a:p>
        </p:txBody>
      </p:sp>
      <p:sp>
        <p:nvSpPr>
          <p:cNvPr id="12" name="Shape 10"/>
          <p:cNvSpPr/>
          <p:nvPr/>
        </p:nvSpPr>
        <p:spPr>
          <a:xfrm>
            <a:off x="548640" y="4818888"/>
            <a:ext cx="237744" cy="237744"/>
          </a:xfrm>
          <a:prstGeom prst="ellipse">
            <a:avLst/>
          </a:prstGeom>
          <a:solidFill>
            <a:srgbClr val="E36414"/>
          </a:solidFill>
          <a:ln/>
        </p:spPr>
      </p:sp>
      <p:sp>
        <p:nvSpPr>
          <p:cNvPr id="13" name="Text 11"/>
          <p:cNvSpPr/>
          <p:nvPr/>
        </p:nvSpPr>
        <p:spPr>
          <a:xfrm>
            <a:off x="960120" y="4736592"/>
            <a:ext cx="10607040" cy="502920"/>
          </a:xfrm>
          <a:prstGeom prst="rect">
            <a:avLst/>
          </a:prstGeom>
          <a:noFill/>
          <a:ln/>
        </p:spPr>
        <p:txBody>
          <a:bodyPr wrap="square" rtlCol="0" anchor="ctr"/>
          <a:lstStyle/>
          <a:p>
            <a:pPr indent="0" marL="0">
              <a:buNone/>
            </a:pPr>
            <a:r>
              <a:rPr lang="en-US" sz="1600" dirty="0">
                <a:solidFill>
                  <a:srgbClr val="23363B"/>
                </a:solidFill>
                <a:latin typeface="Calibri" pitchFamily="34" charset="0"/>
                <a:ea typeface="Calibri" pitchFamily="34" charset="-122"/>
                <a:cs typeface="Calibri" pitchFamily="34" charset="-120"/>
              </a:rPr>
              <a:t>Anatomical terminology gives a precise, shared language for safe practice.</a:t>
            </a:r>
            <a:endParaRPr lang="en-US" sz="1600" dirty="0"/>
          </a:p>
        </p:txBody>
      </p:sp>
      <p:sp>
        <p:nvSpPr>
          <p:cNvPr id="15" name="Text 12"/>
          <p:cNvSpPr/>
          <p:nvPr/>
        </p:nvSpPr>
        <p:spPr>
          <a:xfrm>
            <a:off x="457200" y="6473952"/>
            <a:ext cx="82296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 — An Introduction to the Human Body</a:t>
            </a:r>
            <a:endParaRPr lang="en-US" sz="900" dirty="0"/>
          </a:p>
        </p:txBody>
      </p:sp>
      <p:sp>
        <p:nvSpPr>
          <p:cNvPr id="16"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Why the Basics Matter in Practical Nursing</a:t>
            </a:r>
            <a:endParaRPr lang="en-US" sz="28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Vital Signs</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Temperature, BP, HR, and RR are homeostasis you measure every shift.</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Assessment Language</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Directional terms and quadrants make documentation precise and safe.</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Abdominal Assessment</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Quadrants and regions localize pain to the underlying organs.</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Feedback Loops</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Fever, blood-glucose, and BP control all follow feedback mechanisms.</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Reading Imaging</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Knowing the planes and modalities helps you interpret and explain studies.</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Whole-Person Care</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Systems are interdependent — one failing system affects the rest.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2026-06-23T19:53:39Z</dcterms:created>
  <dcterms:modified xsi:type="dcterms:W3CDTF">2026-06-23T19:53:39Z</dcterms:modified>
</cp:coreProperties>
</file>