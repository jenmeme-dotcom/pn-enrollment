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neurological exam as a structured, localizing tool: its five components — mental status, cranial nerves, sensory, motor, and coordination/gait — each testing specific parts of the nervous system so that the pattern of findings reveals where a problem 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neurological exam is a systematic way to assess nervous system function at the bedside. Its five parts — mental status, cranial nerves, sensory, motor, and coordination/gait — each test specific regions, so the pattern of findings helps localize where a problem lies, from cortex to peripheral nerve.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mental status exam tests the cerebral cortex — orientation, memory, attention, and language. Different cortical regions have specialized jobs (primary motor, sensory, visual, and auditory areas, plus association areas that integrate them), so a focal deficit points to a particular area, as in stroke.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Language relies on two cortical areas, usually in the left hemisphere: Broca's area (frontal) produces speech, and Wernicke's area (temporal) handles comprehension. Damage to Broca's causes halting, effortful speech; damage to Wernicke's causes fluent but nonsensical speech — together called aphasia. Assessing speech is part of every mental status exam.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cranial nerve exam tests each of the twelve nerves. Visual acuity, checked with a Snellen chart one eye at a time, assesses the optic nerve (CN II) and the visual pathway. Reduced acuity or visual-field loss can localize problems from the eye to the visual cortex.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facial nerve (CN VII) controls the muscles of facial expression. Asking the patient to smile, raise the eyebrows, and puff the cheeks reveals weakness. The pattern — whether the forehead is spared — distinguishes a central lesion (like a stroke) from a peripheral one (like Bell's palsy).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cranial nerves move the eyes — oculomotor (III), trochlear (IV), and abducens (VI). Having the patient follow a finger through the directions of gaze tests them together, revealing nerve palsies, double vision, or abnormal eye alignment. The oculomotor nerve also controls the pupil and eyelid.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accessory nerve (CN XI) supplies the sternocleidomastoid and trapezius muscles. Testing it — asking the patient to shrug the shoulders against resistance and turn the head — checks these muscles and the nerve, completing part of the cranial nerve survey.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sensory and motor exams test the spinal cord pathways. The dorsal columns carry fine touch and position sense, the spinothalamic tracts carry pain and temperature, and the corticospinal tracts carry voluntary motor commands. Testing each separately, on both sides, localizes where the cord or nerve is damaged.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spinal nerve supplies sensation to a specific strip of skin — a dermatome. Mapping where sensation is lost pinpoints which spinal nerve or cord level is affected, essential for localizing spinal cord injuries and conditions like shingles, which follows a single dermatome.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coordination and gait exam assesses the cerebellum. Tests like finger-to-nose, rapid alternating movements, and watching the patient walk reveal cerebellar function. Damage produces ataxia — uncoordinated, clumsy movements and an unsteady, wide-based gait — seen in cerebellar stroke and alcohol intoxication.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5C"/>
        </a:solidFill>
      </p:bgPr>
    </p:bg>
    <p:spTree>
      <p:nvGrpSpPr>
        <p:cNvPr id="1" name=""/>
        <p:cNvGrpSpPr/>
        <p:nvPr/>
      </p:nvGrpSpPr>
      <p:grpSpPr>
        <a:xfrm>
          <a:off x="0" y="0"/>
          <a:ext cx="0" cy="0"/>
          <a:chOff x="0" y="0"/>
          <a:chExt cx="0" cy="0"/>
        </a:xfrm>
      </p:grpSpPr>
      <p:sp>
        <p:nvSpPr>
          <p:cNvPr id="2" name="Text 0"/>
          <p:cNvSpPr/>
          <p:nvPr/>
        </p:nvSpPr>
        <p:spPr>
          <a:xfrm>
            <a:off x="731520" y="1325880"/>
            <a:ext cx="6400800" cy="457200"/>
          </a:xfrm>
          <a:prstGeom prst="rect">
            <a:avLst/>
          </a:prstGeom>
          <a:noFill/>
          <a:ln/>
        </p:spPr>
        <p:txBody>
          <a:bodyPr wrap="square" rtlCol="0" anchor="ctr"/>
          <a:lstStyle/>
          <a:p>
            <a:pPr indent="0" marL="0">
              <a:buNone/>
            </a:pPr>
            <a:r>
              <a:rPr lang="en-US" sz="1800" b="1" spc="400" kern="0" dirty="0">
                <a:solidFill>
                  <a:srgbClr val="E36414"/>
                </a:solidFill>
                <a:latin typeface="Calibri" pitchFamily="34" charset="0"/>
                <a:ea typeface="Calibri" pitchFamily="34" charset="-122"/>
                <a:cs typeface="Calibri" pitchFamily="34" charset="-120"/>
              </a:rPr>
              <a:t>CHAPTER 16</a:t>
            </a:r>
            <a:endParaRPr lang="en-US" sz="1800" dirty="0"/>
          </a:p>
        </p:txBody>
      </p:sp>
      <p:sp>
        <p:nvSpPr>
          <p:cNvPr id="3" name="Text 1"/>
          <p:cNvSpPr/>
          <p:nvPr/>
        </p:nvSpPr>
        <p:spPr>
          <a:xfrm>
            <a:off x="713232" y="1783080"/>
            <a:ext cx="6858000" cy="1920240"/>
          </a:xfrm>
          <a:prstGeom prst="rect">
            <a:avLst/>
          </a:prstGeom>
          <a:noFill/>
          <a:ln/>
        </p:spPr>
        <p:txBody>
          <a:bodyPr wrap="square" rtlCol="0" anchor="t"/>
          <a:lstStyle/>
          <a:p>
            <a:pPr indent="0" marL="0">
              <a:buNone/>
            </a:pPr>
            <a:r>
              <a:rPr lang="en-US" sz="4400" b="1" dirty="0">
                <a:solidFill>
                  <a:srgbClr val="FFFFFF"/>
                </a:solidFill>
                <a:latin typeface="Georgia" pitchFamily="34" charset="0"/>
                <a:ea typeface="Georgia" pitchFamily="34" charset="-122"/>
                <a:cs typeface="Georgia" pitchFamily="34" charset="-120"/>
              </a:rPr>
              <a:t>The Neurological Exam</a:t>
            </a:r>
            <a:endParaRPr lang="en-US" sz="4400" dirty="0"/>
          </a:p>
        </p:txBody>
      </p:sp>
      <p:sp>
        <p:nvSpPr>
          <p:cNvPr id="4" name="Text 2"/>
          <p:cNvSpPr/>
          <p:nvPr/>
        </p:nvSpPr>
        <p:spPr>
          <a:xfrm>
            <a:off x="749808" y="3886200"/>
            <a:ext cx="6400800" cy="822960"/>
          </a:xfrm>
          <a:prstGeom prst="rect">
            <a:avLst/>
          </a:prstGeom>
          <a:noFill/>
          <a:ln/>
        </p:spPr>
        <p:txBody>
          <a:bodyPr wrap="square" rtlCol="0" anchor="ctr"/>
          <a:lstStyle/>
          <a:p>
            <a:pPr indent="0" marL="0">
              <a:lnSpc>
                <a:spcPct val="110000"/>
              </a:lnSpc>
              <a:buNone/>
            </a:pPr>
            <a:r>
              <a:rPr lang="en-US" sz="1600" dirty="0">
                <a:solidFill>
                  <a:srgbClr val="CFE3E7"/>
                </a:solidFill>
                <a:latin typeface="Calibri" pitchFamily="34" charset="0"/>
                <a:ea typeface="Calibri" pitchFamily="34" charset="-122"/>
                <a:cs typeface="Calibri" pitchFamily="34" charset="-120"/>
              </a:rPr>
              <a:t>A structured bedside assessment of nervous system function.</a:t>
            </a:r>
            <a:endParaRPr lang="en-US" sz="1600" dirty="0"/>
          </a:p>
        </p:txBody>
      </p:sp>
      <p:sp>
        <p:nvSpPr>
          <p:cNvPr id="5" name="Text 3"/>
          <p:cNvSpPr/>
          <p:nvPr/>
        </p:nvSpPr>
        <p:spPr>
          <a:xfrm>
            <a:off x="749808" y="5806440"/>
            <a:ext cx="8229600" cy="320040"/>
          </a:xfrm>
          <a:prstGeom prst="rect">
            <a:avLst/>
          </a:prstGeom>
          <a:noFill/>
          <a:ln/>
        </p:spPr>
        <p:txBody>
          <a:bodyPr wrap="square" rtlCol="0" anchor="ctr"/>
          <a:lstStyle/>
          <a:p>
            <a:pPr indent="0" marL="0">
              <a:buNone/>
            </a:pPr>
            <a:r>
              <a:rPr lang="en-US" sz="1300" dirty="0">
                <a:solidFill>
                  <a:srgbClr val="9FC2C9"/>
                </a:solidFill>
                <a:latin typeface="Calibri" pitchFamily="34" charset="0"/>
                <a:ea typeface="Calibri" pitchFamily="34" charset="-122"/>
                <a:cs typeface="Calibri" pitchFamily="34" charset="-120"/>
              </a:rPr>
              <a:t>Anatomy &amp; Physiology  ·  Broward-Miami Health Institute</a:t>
            </a:r>
            <a:endParaRPr lang="en-US" sz="1300" dirty="0"/>
          </a:p>
        </p:txBody>
      </p:sp>
      <p:sp>
        <p:nvSpPr>
          <p:cNvPr id="6" name="Text 4"/>
          <p:cNvSpPr/>
          <p:nvPr/>
        </p:nvSpPr>
        <p:spPr>
          <a:xfrm>
            <a:off x="749808" y="6144768"/>
            <a:ext cx="3657600" cy="320040"/>
          </a:xfrm>
          <a:prstGeom prst="rect">
            <a:avLst/>
          </a:prstGeom>
          <a:noFill/>
          <a:ln/>
        </p:spPr>
        <p:txBody>
          <a:bodyPr wrap="square" rtlCol="0" anchor="ctr"/>
          <a:lstStyle/>
          <a:p>
            <a:pPr indent="0" marL="0">
              <a:buNone/>
            </a:pPr>
            <a:r>
              <a:rPr lang="en-US" sz="1100" b="1" spc="300" kern="0" dirty="0">
                <a:solidFill>
                  <a:srgbClr val="E36414"/>
                </a:solidFill>
                <a:latin typeface="Calibri" pitchFamily="34" charset="0"/>
                <a:ea typeface="Calibri" pitchFamily="34" charset="-122"/>
                <a:cs typeface="Calibri" pitchFamily="34" charset="-120"/>
              </a:rPr>
              <a:t>FACULTY EDITION</a:t>
            </a:r>
            <a:endParaRPr lang="en-US" sz="1100" dirty="0"/>
          </a:p>
        </p:txBody>
      </p:sp>
      <p:sp>
        <p:nvSpPr>
          <p:cNvPr id="7" name="Shape 5"/>
          <p:cNvSpPr/>
          <p:nvPr/>
        </p:nvSpPr>
        <p:spPr>
          <a:xfrm>
            <a:off x="7735824" y="2765031"/>
            <a:ext cx="4096512" cy="1510817"/>
          </a:xfrm>
          <a:prstGeom prst="roundRect">
            <a:avLst>
              <a:gd name="adj" fmla="val 363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8" name="Image 0" descr="/home/claude/all/ch16/img/img01.jpg">    </p:cNvPr>
          <p:cNvPicPr>
            <a:picLocks noChangeAspect="1"/>
          </p:cNvPicPr>
          <p:nvPr/>
        </p:nvPicPr>
        <p:blipFill>
          <a:blip r:embed="rId1"/>
          <a:stretch>
            <a:fillRect/>
          </a:stretch>
        </p:blipFill>
        <p:spPr>
          <a:xfrm>
            <a:off x="7818120" y="2847327"/>
            <a:ext cx="3931920" cy="134622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CHAPTER 16</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Learning Objectives</a:t>
            </a:r>
            <a:endParaRPr lang="en-US" sz="2800" dirty="0"/>
          </a:p>
        </p:txBody>
      </p:sp>
      <p:sp>
        <p:nvSpPr>
          <p:cNvPr id="4" name="Text 2"/>
          <p:cNvSpPr/>
          <p:nvPr/>
        </p:nvSpPr>
        <p:spPr>
          <a:xfrm>
            <a:off x="548640" y="1371600"/>
            <a:ext cx="8229600" cy="274320"/>
          </a:xfrm>
          <a:prstGeom prst="rect">
            <a:avLst/>
          </a:prstGeom>
          <a:noFill/>
          <a:ln/>
        </p:spPr>
        <p:txBody>
          <a:bodyPr wrap="square" rtlCol="0" anchor="ctr"/>
          <a:lstStyle/>
          <a:p>
            <a:pPr indent="0" marL="0">
              <a:buNone/>
            </a:pPr>
            <a:r>
              <a:rPr lang="en-US" sz="1200" i="1" dirty="0">
                <a:solidFill>
                  <a:srgbClr val="5A6B70"/>
                </a:solidFill>
                <a:latin typeface="Calibri" pitchFamily="34" charset="0"/>
                <a:ea typeface="Calibri" pitchFamily="34" charset="-122"/>
                <a:cs typeface="Calibri" pitchFamily="34" charset="-120"/>
              </a:rPr>
              <a:t>After studying this chapter, students will be able to:</a:t>
            </a:r>
            <a:endParaRPr lang="en-US" sz="1200" dirty="0"/>
          </a:p>
        </p:txBody>
      </p:sp>
      <p:sp>
        <p:nvSpPr>
          <p:cNvPr id="5" name="Shape 3"/>
          <p:cNvSpPr/>
          <p:nvPr/>
        </p:nvSpPr>
        <p:spPr>
          <a:xfrm>
            <a:off x="548640" y="1664208"/>
            <a:ext cx="384048" cy="384048"/>
          </a:xfrm>
          <a:prstGeom prst="ellipse">
            <a:avLst/>
          </a:prstGeom>
          <a:solidFill>
            <a:srgbClr val="0F4C5C"/>
          </a:solidFill>
          <a:ln/>
        </p:spPr>
      </p:sp>
      <p:sp>
        <p:nvSpPr>
          <p:cNvPr id="6" name="Text 4"/>
          <p:cNvSpPr/>
          <p:nvPr/>
        </p:nvSpPr>
        <p:spPr>
          <a:xfrm>
            <a:off x="548640" y="166420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7" name="Text 5"/>
          <p:cNvSpPr/>
          <p:nvPr/>
        </p:nvSpPr>
        <p:spPr>
          <a:xfrm>
            <a:off x="1115568" y="1645920"/>
            <a:ext cx="5943600" cy="786384"/>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Describe the major sections of the neurological exam</a:t>
            </a:r>
            <a:endParaRPr lang="en-US" sz="1400" dirty="0"/>
          </a:p>
        </p:txBody>
      </p:sp>
      <p:sp>
        <p:nvSpPr>
          <p:cNvPr id="8" name="Shape 6"/>
          <p:cNvSpPr/>
          <p:nvPr/>
        </p:nvSpPr>
        <p:spPr>
          <a:xfrm>
            <a:off x="548640" y="2450592"/>
            <a:ext cx="384048" cy="384048"/>
          </a:xfrm>
          <a:prstGeom prst="ellipse">
            <a:avLst/>
          </a:prstGeom>
          <a:solidFill>
            <a:srgbClr val="0F4C5C"/>
          </a:solidFill>
          <a:ln/>
        </p:spPr>
      </p:sp>
      <p:sp>
        <p:nvSpPr>
          <p:cNvPr id="9" name="Text 7"/>
          <p:cNvSpPr/>
          <p:nvPr/>
        </p:nvSpPr>
        <p:spPr>
          <a:xfrm>
            <a:off x="548640" y="2450592"/>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0" name="Text 8"/>
          <p:cNvSpPr/>
          <p:nvPr/>
        </p:nvSpPr>
        <p:spPr>
          <a:xfrm>
            <a:off x="1115568" y="2432304"/>
            <a:ext cx="5943600" cy="786384"/>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Outline the benefits of rapidly assessing neurological function</a:t>
            </a:r>
            <a:endParaRPr lang="en-US" sz="1400" dirty="0"/>
          </a:p>
        </p:txBody>
      </p:sp>
      <p:sp>
        <p:nvSpPr>
          <p:cNvPr id="11" name="Shape 9"/>
          <p:cNvSpPr/>
          <p:nvPr/>
        </p:nvSpPr>
        <p:spPr>
          <a:xfrm>
            <a:off x="548640" y="3236976"/>
            <a:ext cx="384048" cy="384048"/>
          </a:xfrm>
          <a:prstGeom prst="ellipse">
            <a:avLst/>
          </a:prstGeom>
          <a:solidFill>
            <a:srgbClr val="0F4C5C"/>
          </a:solidFill>
          <a:ln/>
        </p:spPr>
      </p:sp>
      <p:sp>
        <p:nvSpPr>
          <p:cNvPr id="12" name="Text 10"/>
          <p:cNvSpPr/>
          <p:nvPr/>
        </p:nvSpPr>
        <p:spPr>
          <a:xfrm>
            <a:off x="548640" y="3236976"/>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13" name="Text 11"/>
          <p:cNvSpPr/>
          <p:nvPr/>
        </p:nvSpPr>
        <p:spPr>
          <a:xfrm>
            <a:off x="1115568" y="3218688"/>
            <a:ext cx="5943600" cy="786384"/>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Relate anatomical structures of the nervous system to specific functions</a:t>
            </a:r>
            <a:endParaRPr lang="en-US" sz="1400" dirty="0"/>
          </a:p>
        </p:txBody>
      </p:sp>
      <p:sp>
        <p:nvSpPr>
          <p:cNvPr id="14" name="Shape 12"/>
          <p:cNvSpPr/>
          <p:nvPr/>
        </p:nvSpPr>
        <p:spPr>
          <a:xfrm>
            <a:off x="548640" y="4023360"/>
            <a:ext cx="384048" cy="384048"/>
          </a:xfrm>
          <a:prstGeom prst="ellipse">
            <a:avLst/>
          </a:prstGeom>
          <a:solidFill>
            <a:srgbClr val="0F4C5C"/>
          </a:solidFill>
          <a:ln/>
        </p:spPr>
      </p:sp>
      <p:sp>
        <p:nvSpPr>
          <p:cNvPr id="15" name="Text 13"/>
          <p:cNvSpPr/>
          <p:nvPr/>
        </p:nvSpPr>
        <p:spPr>
          <a:xfrm>
            <a:off x="548640" y="4023360"/>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16" name="Text 14"/>
          <p:cNvSpPr/>
          <p:nvPr/>
        </p:nvSpPr>
        <p:spPr>
          <a:xfrm>
            <a:off x="1115568" y="4005072"/>
            <a:ext cx="5943600" cy="786384"/>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Diagram the connections of the nervous system to the musculature and integument involved in primary sensorimotor responses</a:t>
            </a:r>
            <a:endParaRPr lang="en-US" sz="1400" dirty="0"/>
          </a:p>
        </p:txBody>
      </p:sp>
      <p:sp>
        <p:nvSpPr>
          <p:cNvPr id="17" name="Shape 15"/>
          <p:cNvSpPr/>
          <p:nvPr/>
        </p:nvSpPr>
        <p:spPr>
          <a:xfrm>
            <a:off x="7757962" y="1545336"/>
            <a:ext cx="3686477" cy="4370832"/>
          </a:xfrm>
          <a:prstGeom prst="roundRect">
            <a:avLst>
              <a:gd name="adj" fmla="val 1488"/>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18" name="Image 0" descr="/home/claude/all/ch16/img/img02.jpg">    </p:cNvPr>
          <p:cNvPicPr>
            <a:picLocks noChangeAspect="1"/>
          </p:cNvPicPr>
          <p:nvPr/>
        </p:nvPicPr>
        <p:blipFill>
          <a:blip r:embed="rId1"/>
          <a:stretch>
            <a:fillRect/>
          </a:stretch>
        </p:blipFill>
        <p:spPr>
          <a:xfrm>
            <a:off x="7840258" y="1627632"/>
            <a:ext cx="3521885" cy="4206240"/>
          </a:xfrm>
          <a:prstGeom prst="rect">
            <a:avLst/>
          </a:prstGeom>
        </p:spPr>
      </p:pic>
      <p:sp>
        <p:nvSpPr>
          <p:cNvPr id="19" name="Text 16"/>
          <p:cNvSpPr/>
          <p:nvPr/>
        </p:nvSpPr>
        <p:spPr>
          <a:xfrm>
            <a:off x="7498080" y="5943600"/>
            <a:ext cx="420624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five parts of the neurological exam.</a:t>
            </a:r>
            <a:endParaRPr lang="en-US" sz="1100" dirty="0"/>
          </a:p>
        </p:txBody>
      </p:sp>
      <p:sp>
        <p:nvSpPr>
          <p:cNvPr id="21" name="Text 17"/>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16 — The Neurological Exam</a:t>
            </a:r>
            <a:endParaRPr lang="en-US" sz="900" dirty="0"/>
          </a:p>
        </p:txBody>
      </p:sp>
      <p:sp>
        <p:nvSpPr>
          <p:cNvPr id="22" name="Text 18"/>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16.1</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Overview of the Neurological Exam</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The neurological exam as a structured tool to localize problems.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16.1</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Neurological Exam</a:t>
            </a:r>
            <a:endParaRPr lang="en-US" sz="2800" dirty="0"/>
          </a:p>
        </p:txBody>
      </p:sp>
      <p:sp>
        <p:nvSpPr>
          <p:cNvPr id="4" name="Shape 2"/>
          <p:cNvSpPr/>
          <p:nvPr/>
        </p:nvSpPr>
        <p:spPr>
          <a:xfrm>
            <a:off x="655396" y="1289304"/>
            <a:ext cx="3992728" cy="4736592"/>
          </a:xfrm>
          <a:prstGeom prst="roundRect">
            <a:avLst>
              <a:gd name="adj" fmla="val 1374"/>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16/img/img02.jpg">    </p:cNvPr>
          <p:cNvPicPr>
            <a:picLocks noChangeAspect="1"/>
          </p:cNvPicPr>
          <p:nvPr/>
        </p:nvPicPr>
        <p:blipFill>
          <a:blip r:embed="rId1"/>
          <a:stretch>
            <a:fillRect/>
          </a:stretch>
        </p:blipFill>
        <p:spPr>
          <a:xfrm>
            <a:off x="737692" y="1371600"/>
            <a:ext cx="3828136"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components of the neurological exam</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A structured bedside assessment</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Five major components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Each tests different brain regions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Helps localize the problem</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16 — The Neurological Exam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16.2</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The Mental Status Exam</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Testing the higher functions of the cerebral cortex.</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16.2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Cortical Functional Areas</a:t>
            </a:r>
            <a:endParaRPr lang="en-US" sz="2800" dirty="0"/>
          </a:p>
        </p:txBody>
      </p:sp>
      <p:sp>
        <p:nvSpPr>
          <p:cNvPr id="4" name="Shape 2"/>
          <p:cNvSpPr/>
          <p:nvPr/>
        </p:nvSpPr>
        <p:spPr>
          <a:xfrm>
            <a:off x="2565715" y="1289304"/>
            <a:ext cx="7075810"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16/img/img05.jpg">    </p:cNvPr>
          <p:cNvPicPr>
            <a:picLocks noChangeAspect="1"/>
          </p:cNvPicPr>
          <p:nvPr/>
        </p:nvPicPr>
        <p:blipFill>
          <a:blip r:embed="rId1"/>
          <a:stretch>
            <a:fillRect/>
          </a:stretch>
        </p:blipFill>
        <p:spPr>
          <a:xfrm>
            <a:off x="2648011" y="1371600"/>
            <a:ext cx="6911218"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Functional areas of the cerebral cortex</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The cortex has specialized regions</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Motor, sensory, visual, auditory areas</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Association areas integrate information</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Damage gives specific deficits</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16 — The Neurological Exam</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16.2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Language Areas</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Two key language centers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Broca's area — speech production</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Wernicke's area — comprehension</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Damage causes aphasia</a:t>
            </a:r>
            <a:endParaRPr lang="en-US" sz="1500" dirty="0"/>
          </a:p>
        </p:txBody>
      </p:sp>
      <p:sp>
        <p:nvSpPr>
          <p:cNvPr id="5" name="Shape 3"/>
          <p:cNvSpPr/>
          <p:nvPr/>
        </p:nvSpPr>
        <p:spPr>
          <a:xfrm>
            <a:off x="5404104" y="1467249"/>
            <a:ext cx="6382512" cy="4380703"/>
          </a:xfrm>
          <a:prstGeom prst="roundRect">
            <a:avLst>
              <a:gd name="adj" fmla="val 1252"/>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16/img/img06.jpg">    </p:cNvPr>
          <p:cNvPicPr>
            <a:picLocks noChangeAspect="1"/>
          </p:cNvPicPr>
          <p:nvPr/>
        </p:nvPicPr>
        <p:blipFill>
          <a:blip r:embed="rId1"/>
          <a:stretch>
            <a:fillRect/>
          </a:stretch>
        </p:blipFill>
        <p:spPr>
          <a:xfrm>
            <a:off x="5486400" y="1549545"/>
            <a:ext cx="6217920" cy="4216111"/>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Broca's and Wernicke's language areas</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16 — The Neurological Exam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16.3</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The Cranial Nerve Exam</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Testing the twelve cranial nerves and the regions they serve.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16.3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Visual Acuity — CN II</a:t>
            </a:r>
            <a:endParaRPr lang="en-US" sz="2800" dirty="0"/>
          </a:p>
        </p:txBody>
      </p:sp>
      <p:sp>
        <p:nvSpPr>
          <p:cNvPr id="4" name="Shape 2"/>
          <p:cNvSpPr/>
          <p:nvPr/>
        </p:nvSpPr>
        <p:spPr>
          <a:xfrm>
            <a:off x="1193292" y="1289304"/>
            <a:ext cx="2916936" cy="4736592"/>
          </a:xfrm>
          <a:prstGeom prst="roundRect">
            <a:avLst>
              <a:gd name="adj" fmla="val 18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16/img/img07.jpg">    </p:cNvPr>
          <p:cNvPicPr>
            <a:picLocks noChangeAspect="1"/>
          </p:cNvPicPr>
          <p:nvPr/>
        </p:nvPicPr>
        <p:blipFill>
          <a:blip r:embed="rId1"/>
          <a:stretch>
            <a:fillRect/>
          </a:stretch>
        </p:blipFill>
        <p:spPr>
          <a:xfrm>
            <a:off x="1275588" y="1371600"/>
            <a:ext cx="2752344"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Snellen eye chart</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The Snellen chart tests vision</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Checks the optic nerve (CN II)</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Each eye is tested separately</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Part of cranial nerve testing</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16 — The Neurological Exam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16.3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Facial Nerve — CN VII</a:t>
            </a:r>
            <a:endParaRPr lang="en-US" sz="2800" dirty="0"/>
          </a:p>
        </p:txBody>
      </p:sp>
      <p:sp>
        <p:nvSpPr>
          <p:cNvPr id="4" name="Shape 2"/>
          <p:cNvSpPr/>
          <p:nvPr/>
        </p:nvSpPr>
        <p:spPr>
          <a:xfrm>
            <a:off x="877824" y="1289304"/>
            <a:ext cx="3547872" cy="4736592"/>
          </a:xfrm>
          <a:prstGeom prst="roundRect">
            <a:avLst>
              <a:gd name="adj" fmla="val 1546"/>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16/img/img09.jpg">    </p:cNvPr>
          <p:cNvPicPr>
            <a:picLocks noChangeAspect="1"/>
          </p:cNvPicPr>
          <p:nvPr/>
        </p:nvPicPr>
        <p:blipFill>
          <a:blip r:embed="rId1"/>
          <a:stretch>
            <a:fillRect/>
          </a:stretch>
        </p:blipFill>
        <p:spPr>
          <a:xfrm>
            <a:off x="960120" y="1371600"/>
            <a:ext cx="3383280"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Testing the muscles of facial expression</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Tests the facial expression muscles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The facial nerve (CN VII)</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Ask the patient to smile and frown</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Weakness localizes the lesion</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16 — The Neurological Exam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16.3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Eye Movements — CN III, IV, VI</a:t>
            </a:r>
            <a:endParaRPr lang="en-US" sz="2800" dirty="0"/>
          </a:p>
        </p:txBody>
      </p:sp>
      <p:sp>
        <p:nvSpPr>
          <p:cNvPr id="4" name="Shape 2"/>
          <p:cNvSpPr/>
          <p:nvPr/>
        </p:nvSpPr>
        <p:spPr>
          <a:xfrm>
            <a:off x="441884" y="1289304"/>
            <a:ext cx="4419752" cy="4736592"/>
          </a:xfrm>
          <a:prstGeom prst="roundRect">
            <a:avLst>
              <a:gd name="adj" fmla="val 124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16/img/img10.jpg">    </p:cNvPr>
          <p:cNvPicPr>
            <a:picLocks noChangeAspect="1"/>
          </p:cNvPicPr>
          <p:nvPr/>
        </p:nvPicPr>
        <p:blipFill>
          <a:blip r:embed="rId1"/>
          <a:stretch>
            <a:fillRect/>
          </a:stretch>
        </p:blipFill>
        <p:spPr>
          <a:xfrm>
            <a:off x="524180" y="1371600"/>
            <a:ext cx="4255160"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Control of eye movements</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Three nerves move the eyes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Oculomotor, trochlear, abducens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Follow a target in all directions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Detects palsies and gaze problems</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16 — The Neurological Exam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16.3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Accessory Nerve — CN XI</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Tests neck and shoulder muscles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The accessory nerve (CN XI)</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Sternocleidomastoid and trapezius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Shrug and turn-head movements</a:t>
            </a:r>
            <a:endParaRPr lang="en-US" sz="1500" dirty="0"/>
          </a:p>
        </p:txBody>
      </p:sp>
      <p:sp>
        <p:nvSpPr>
          <p:cNvPr id="5" name="Shape 3"/>
          <p:cNvSpPr/>
          <p:nvPr/>
        </p:nvSpPr>
        <p:spPr>
          <a:xfrm>
            <a:off x="5813975" y="1335024"/>
            <a:ext cx="5562771"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16/img/img11.jpg">    </p:cNvPr>
          <p:cNvPicPr>
            <a:picLocks noChangeAspect="1"/>
          </p:cNvPicPr>
          <p:nvPr/>
        </p:nvPicPr>
        <p:blipFill>
          <a:blip r:embed="rId1"/>
          <a:stretch>
            <a:fillRect/>
          </a:stretch>
        </p:blipFill>
        <p:spPr>
          <a:xfrm>
            <a:off x="5896271" y="1417320"/>
            <a:ext cx="5398179"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sternocleidomastoid and trapezius (CN XI)</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16 — The Neurological Exam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16.4</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The Sensory and Motor Exams</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Testing sensation and voluntary movement throughout the body.</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16.4</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Sensory &amp; Motor Tracts</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Distinct pathways in the spinal cord</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Dorsal column — fine touch, position</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Spinothalamic — pain and temperature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Corticospinal — voluntary movement</a:t>
            </a:r>
            <a:endParaRPr lang="en-US" sz="1500" dirty="0"/>
          </a:p>
        </p:txBody>
      </p:sp>
      <p:sp>
        <p:nvSpPr>
          <p:cNvPr id="5" name="Shape 3"/>
          <p:cNvSpPr/>
          <p:nvPr/>
        </p:nvSpPr>
        <p:spPr>
          <a:xfrm>
            <a:off x="6291378" y="1335024"/>
            <a:ext cx="4607963" cy="4645152"/>
          </a:xfrm>
          <a:prstGeom prst="roundRect">
            <a:avLst>
              <a:gd name="adj" fmla="val 119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16/img/img12.jpg">    </p:cNvPr>
          <p:cNvPicPr>
            <a:picLocks noChangeAspect="1"/>
          </p:cNvPicPr>
          <p:nvPr/>
        </p:nvPicPr>
        <p:blipFill>
          <a:blip r:embed="rId1"/>
          <a:stretch>
            <a:fillRect/>
          </a:stretch>
        </p:blipFill>
        <p:spPr>
          <a:xfrm>
            <a:off x="6373674" y="1417320"/>
            <a:ext cx="4443371"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Sensory and motor tracts of the spinal cord</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16 — The Neurological Exam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16.4</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Dermatomes</a:t>
            </a:r>
            <a:endParaRPr lang="en-US" sz="2800" dirty="0"/>
          </a:p>
        </p:txBody>
      </p:sp>
      <p:sp>
        <p:nvSpPr>
          <p:cNvPr id="4" name="Shape 2"/>
          <p:cNvSpPr/>
          <p:nvPr/>
        </p:nvSpPr>
        <p:spPr>
          <a:xfrm>
            <a:off x="1324280" y="1289304"/>
            <a:ext cx="2654960" cy="4736592"/>
          </a:xfrm>
          <a:prstGeom prst="roundRect">
            <a:avLst>
              <a:gd name="adj" fmla="val 2066"/>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16/img/img13.jpg">    </p:cNvPr>
          <p:cNvPicPr>
            <a:picLocks noChangeAspect="1"/>
          </p:cNvPicPr>
          <p:nvPr/>
        </p:nvPicPr>
        <p:blipFill>
          <a:blip r:embed="rId1"/>
          <a:stretch>
            <a:fillRect/>
          </a:stretch>
        </p:blipFill>
        <p:spPr>
          <a:xfrm>
            <a:off x="1406576" y="1371600"/>
            <a:ext cx="2490368"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dermatome map</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Each spinal nerve maps to a skin area</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These areas are called dermatomes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Testing them localizes nerve damage</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Guides the level of spinal injury</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16 — The Neurological Exam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16.5</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The Coordination and Gait Exams</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Testing the cerebellum through coordination and gait.</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16.5</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Cerebellum</a:t>
            </a:r>
            <a:endParaRPr lang="en-US" sz="2800" dirty="0"/>
          </a:p>
        </p:txBody>
      </p:sp>
      <p:sp>
        <p:nvSpPr>
          <p:cNvPr id="4" name="Shape 2"/>
          <p:cNvSpPr/>
          <p:nvPr/>
        </p:nvSpPr>
        <p:spPr>
          <a:xfrm>
            <a:off x="2583546" y="1289304"/>
            <a:ext cx="7040148"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16/img/img15.jpg">    </p:cNvPr>
          <p:cNvPicPr>
            <a:picLocks noChangeAspect="1"/>
          </p:cNvPicPr>
          <p:nvPr/>
        </p:nvPicPr>
        <p:blipFill>
          <a:blip r:embed="rId1"/>
          <a:stretch>
            <a:fillRect/>
          </a:stretch>
        </p:blipFill>
        <p:spPr>
          <a:xfrm>
            <a:off x="2665842" y="1371600"/>
            <a:ext cx="6875556"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cerebellum and coordination</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Coordinates movement and balance</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Tested by coordination and gait</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Finger-to-nose, heel-to-shin</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Damage causes ataxia</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16 — The Neurological Exam</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CHAPTER 16</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Key Takeaways</a:t>
            </a:r>
            <a:endParaRPr lang="en-US" sz="2800" dirty="0"/>
          </a:p>
        </p:txBody>
      </p:sp>
      <p:sp>
        <p:nvSpPr>
          <p:cNvPr id="4" name="Shape 2"/>
          <p:cNvSpPr/>
          <p:nvPr/>
        </p:nvSpPr>
        <p:spPr>
          <a:xfrm>
            <a:off x="548640" y="1819656"/>
            <a:ext cx="237744" cy="237744"/>
          </a:xfrm>
          <a:prstGeom prst="ellipse">
            <a:avLst/>
          </a:prstGeom>
          <a:solidFill>
            <a:srgbClr val="E36414"/>
          </a:solidFill>
          <a:ln/>
        </p:spPr>
      </p:sp>
      <p:sp>
        <p:nvSpPr>
          <p:cNvPr id="5" name="Text 3"/>
          <p:cNvSpPr/>
          <p:nvPr/>
        </p:nvSpPr>
        <p:spPr>
          <a:xfrm>
            <a:off x="960120" y="1737360"/>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The neurological exam has five parts that together localize nervous system problems.</a:t>
            </a:r>
            <a:endParaRPr lang="en-US" sz="1550" dirty="0"/>
          </a:p>
        </p:txBody>
      </p:sp>
      <p:sp>
        <p:nvSpPr>
          <p:cNvPr id="6" name="Shape 4"/>
          <p:cNvSpPr/>
          <p:nvPr/>
        </p:nvSpPr>
        <p:spPr>
          <a:xfrm>
            <a:off x="548640" y="2606040"/>
            <a:ext cx="237744" cy="237744"/>
          </a:xfrm>
          <a:prstGeom prst="ellipse">
            <a:avLst/>
          </a:prstGeom>
          <a:solidFill>
            <a:srgbClr val="E36414"/>
          </a:solidFill>
          <a:ln/>
        </p:spPr>
      </p:sp>
      <p:sp>
        <p:nvSpPr>
          <p:cNvPr id="7" name="Text 5"/>
          <p:cNvSpPr/>
          <p:nvPr/>
        </p:nvSpPr>
        <p:spPr>
          <a:xfrm>
            <a:off x="960120" y="2523744"/>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The mental status exam tests cortical functions, including memory and language.</a:t>
            </a:r>
            <a:endParaRPr lang="en-US" sz="1550" dirty="0"/>
          </a:p>
        </p:txBody>
      </p:sp>
      <p:sp>
        <p:nvSpPr>
          <p:cNvPr id="8" name="Shape 6"/>
          <p:cNvSpPr/>
          <p:nvPr/>
        </p:nvSpPr>
        <p:spPr>
          <a:xfrm>
            <a:off x="548640" y="3392424"/>
            <a:ext cx="237744" cy="237744"/>
          </a:xfrm>
          <a:prstGeom prst="ellipse">
            <a:avLst/>
          </a:prstGeom>
          <a:solidFill>
            <a:srgbClr val="E36414"/>
          </a:solidFill>
          <a:ln/>
        </p:spPr>
      </p:sp>
      <p:sp>
        <p:nvSpPr>
          <p:cNvPr id="9" name="Text 7"/>
          <p:cNvSpPr/>
          <p:nvPr/>
        </p:nvSpPr>
        <p:spPr>
          <a:xfrm>
            <a:off x="960120" y="3310128"/>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The cranial nerve exam checks the twelve nerves serving the head and neck.</a:t>
            </a:r>
            <a:endParaRPr lang="en-US" sz="1550" dirty="0"/>
          </a:p>
        </p:txBody>
      </p:sp>
      <p:sp>
        <p:nvSpPr>
          <p:cNvPr id="10" name="Shape 8"/>
          <p:cNvSpPr/>
          <p:nvPr/>
        </p:nvSpPr>
        <p:spPr>
          <a:xfrm>
            <a:off x="548640" y="4178808"/>
            <a:ext cx="237744" cy="237744"/>
          </a:xfrm>
          <a:prstGeom prst="ellipse">
            <a:avLst/>
          </a:prstGeom>
          <a:solidFill>
            <a:srgbClr val="E36414"/>
          </a:solidFill>
          <a:ln/>
        </p:spPr>
      </p:sp>
      <p:sp>
        <p:nvSpPr>
          <p:cNvPr id="11" name="Text 9"/>
          <p:cNvSpPr/>
          <p:nvPr/>
        </p:nvSpPr>
        <p:spPr>
          <a:xfrm>
            <a:off x="960120" y="4096512"/>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The sensory and motor exams test spinal cord pathways and dermatomes.</a:t>
            </a:r>
            <a:endParaRPr lang="en-US" sz="1550" dirty="0"/>
          </a:p>
        </p:txBody>
      </p:sp>
      <p:sp>
        <p:nvSpPr>
          <p:cNvPr id="12" name="Shape 10"/>
          <p:cNvSpPr/>
          <p:nvPr/>
        </p:nvSpPr>
        <p:spPr>
          <a:xfrm>
            <a:off x="548640" y="4965192"/>
            <a:ext cx="237744" cy="237744"/>
          </a:xfrm>
          <a:prstGeom prst="ellipse">
            <a:avLst/>
          </a:prstGeom>
          <a:solidFill>
            <a:srgbClr val="E36414"/>
          </a:solidFill>
          <a:ln/>
        </p:spPr>
      </p:sp>
      <p:sp>
        <p:nvSpPr>
          <p:cNvPr id="13" name="Text 11"/>
          <p:cNvSpPr/>
          <p:nvPr/>
        </p:nvSpPr>
        <p:spPr>
          <a:xfrm>
            <a:off x="960120" y="4882896"/>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The coordination and gait exam assesses the cerebellum.</a:t>
            </a:r>
            <a:endParaRPr lang="en-US" sz="1550" dirty="0"/>
          </a:p>
        </p:txBody>
      </p:sp>
      <p:sp>
        <p:nvSpPr>
          <p:cNvPr id="14" name="Text 12"/>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16 — The Neurological Exam</a:t>
            </a:r>
            <a:endParaRPr lang="en-US" sz="900" dirty="0"/>
          </a:p>
        </p:txBody>
      </p:sp>
      <p:sp>
        <p:nvSpPr>
          <p:cNvPr id="15" name="Text 13"/>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4C5C"/>
        </a:solidFill>
      </p:bgPr>
    </p:bg>
    <p:spTree>
      <p:nvGrpSpPr>
        <p:cNvPr id="1" name=""/>
        <p:cNvGrpSpPr/>
        <p:nvPr/>
      </p:nvGrpSpPr>
      <p:grpSpPr>
        <a:xfrm>
          <a:off x="0" y="0"/>
          <a:ext cx="0" cy="0"/>
          <a:chOff x="0" y="0"/>
          <a:chExt cx="0" cy="0"/>
        </a:xfrm>
      </p:grpSpPr>
      <p:sp>
        <p:nvSpPr>
          <p:cNvPr id="2" name="Text 0"/>
          <p:cNvSpPr/>
          <p:nvPr/>
        </p:nvSpPr>
        <p:spPr>
          <a:xfrm>
            <a:off x="548640" y="502920"/>
            <a:ext cx="10058400" cy="365760"/>
          </a:xfrm>
          <a:prstGeom prst="rect">
            <a:avLst/>
          </a:prstGeom>
          <a:noFill/>
          <a:ln/>
        </p:spPr>
        <p:txBody>
          <a:bodyPr wrap="square" rtlCol="0" anchor="ctr"/>
          <a:lstStyle/>
          <a:p>
            <a:pPr indent="0" marL="0">
              <a:buNone/>
            </a:pPr>
            <a:r>
              <a:rPr lang="en-US" sz="1300" b="1" spc="300" kern="0" dirty="0">
                <a:solidFill>
                  <a:srgbClr val="E36414"/>
                </a:solidFill>
                <a:latin typeface="Calibri" pitchFamily="34" charset="0"/>
                <a:ea typeface="Calibri" pitchFamily="34" charset="-122"/>
                <a:cs typeface="Calibri" pitchFamily="34" charset="-120"/>
              </a:rPr>
              <a:t>CLINICAL CONNECTIONS</a:t>
            </a:r>
            <a:endParaRPr lang="en-US" sz="1300" dirty="0"/>
          </a:p>
        </p:txBody>
      </p:sp>
      <p:sp>
        <p:nvSpPr>
          <p:cNvPr id="3" name="Text 1"/>
          <p:cNvSpPr/>
          <p:nvPr/>
        </p:nvSpPr>
        <p:spPr>
          <a:xfrm>
            <a:off x="530352" y="841248"/>
            <a:ext cx="10972800" cy="640080"/>
          </a:xfrm>
          <a:prstGeom prst="rect">
            <a:avLst/>
          </a:prstGeom>
          <a:noFill/>
          <a:ln/>
        </p:spPr>
        <p:txBody>
          <a:bodyPr wrap="square" rtlCol="0" anchor="ctr"/>
          <a:lstStyle/>
          <a:p>
            <a:pPr indent="0" marL="0">
              <a:buNone/>
            </a:pPr>
            <a:r>
              <a:rPr lang="en-US" sz="2500" b="1" dirty="0">
                <a:solidFill>
                  <a:srgbClr val="FFFFFF"/>
                </a:solidFill>
                <a:latin typeface="Georgia" pitchFamily="34" charset="0"/>
                <a:ea typeface="Georgia" pitchFamily="34" charset="-122"/>
                <a:cs typeface="Georgia" pitchFamily="34" charset="-120"/>
              </a:rPr>
              <a:t>Why the Neurological Exam Matters in Practical Nursing</a:t>
            </a:r>
            <a:endParaRPr lang="en-US" sz="2500" dirty="0"/>
          </a:p>
        </p:txBody>
      </p:sp>
      <p:sp>
        <p:nvSpPr>
          <p:cNvPr id="4" name="Shape 2"/>
          <p:cNvSpPr/>
          <p:nvPr/>
        </p:nvSpPr>
        <p:spPr>
          <a:xfrm>
            <a:off x="548640" y="1783080"/>
            <a:ext cx="5440680" cy="1389888"/>
          </a:xfrm>
          <a:prstGeom prst="roundRect">
            <a:avLst>
              <a:gd name="adj" fmla="val 5263"/>
            </a:avLst>
          </a:prstGeom>
          <a:solidFill>
            <a:srgbClr val="13586A"/>
          </a:solidFill>
          <a:ln w="12700">
            <a:solidFill>
              <a:srgbClr val="2A7A8C"/>
            </a:solidFill>
            <a:prstDash val="solid"/>
          </a:ln>
        </p:spPr>
      </p:sp>
      <p:sp>
        <p:nvSpPr>
          <p:cNvPr id="5" name="Text 3"/>
          <p:cNvSpPr/>
          <p:nvPr/>
        </p:nvSpPr>
        <p:spPr>
          <a:xfrm>
            <a:off x="777240" y="191109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Stroke Assessment</a:t>
            </a:r>
            <a:endParaRPr lang="en-US" sz="1600" dirty="0"/>
          </a:p>
        </p:txBody>
      </p:sp>
      <p:sp>
        <p:nvSpPr>
          <p:cNvPr id="6" name="Text 4"/>
          <p:cNvSpPr/>
          <p:nvPr/>
        </p:nvSpPr>
        <p:spPr>
          <a:xfrm>
            <a:off x="777240" y="228600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Rapid neuro exam findings localize damage and guide treatment.</a:t>
            </a:r>
            <a:endParaRPr lang="en-US" sz="1250" dirty="0"/>
          </a:p>
        </p:txBody>
      </p:sp>
      <p:sp>
        <p:nvSpPr>
          <p:cNvPr id="7" name="Shape 5"/>
          <p:cNvSpPr/>
          <p:nvPr/>
        </p:nvSpPr>
        <p:spPr>
          <a:xfrm>
            <a:off x="6172200" y="1783080"/>
            <a:ext cx="5440680" cy="1389888"/>
          </a:xfrm>
          <a:prstGeom prst="roundRect">
            <a:avLst>
              <a:gd name="adj" fmla="val 5263"/>
            </a:avLst>
          </a:prstGeom>
          <a:solidFill>
            <a:srgbClr val="13586A"/>
          </a:solidFill>
          <a:ln w="12700">
            <a:solidFill>
              <a:srgbClr val="2A7A8C"/>
            </a:solidFill>
            <a:prstDash val="solid"/>
          </a:ln>
        </p:spPr>
      </p:sp>
      <p:sp>
        <p:nvSpPr>
          <p:cNvPr id="8" name="Text 6"/>
          <p:cNvSpPr/>
          <p:nvPr/>
        </p:nvSpPr>
        <p:spPr>
          <a:xfrm>
            <a:off x="6400800" y="191109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Aphasia</a:t>
            </a:r>
            <a:endParaRPr lang="en-US" sz="1600" dirty="0"/>
          </a:p>
        </p:txBody>
      </p:sp>
      <p:sp>
        <p:nvSpPr>
          <p:cNvPr id="9" name="Text 7"/>
          <p:cNvSpPr/>
          <p:nvPr/>
        </p:nvSpPr>
        <p:spPr>
          <a:xfrm>
            <a:off x="6400800" y="228600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Speech changes point to specific language-area damage.</a:t>
            </a:r>
            <a:endParaRPr lang="en-US" sz="1250" dirty="0"/>
          </a:p>
        </p:txBody>
      </p:sp>
      <p:sp>
        <p:nvSpPr>
          <p:cNvPr id="10" name="Shape 8"/>
          <p:cNvSpPr/>
          <p:nvPr/>
        </p:nvSpPr>
        <p:spPr>
          <a:xfrm>
            <a:off x="548640" y="3337560"/>
            <a:ext cx="5440680" cy="1389888"/>
          </a:xfrm>
          <a:prstGeom prst="roundRect">
            <a:avLst>
              <a:gd name="adj" fmla="val 5263"/>
            </a:avLst>
          </a:prstGeom>
          <a:solidFill>
            <a:srgbClr val="13586A"/>
          </a:solidFill>
          <a:ln w="12700">
            <a:solidFill>
              <a:srgbClr val="2A7A8C"/>
            </a:solidFill>
            <a:prstDash val="solid"/>
          </a:ln>
        </p:spPr>
      </p:sp>
      <p:sp>
        <p:nvSpPr>
          <p:cNvPr id="11" name="Text 9"/>
          <p:cNvSpPr/>
          <p:nvPr/>
        </p:nvSpPr>
        <p:spPr>
          <a:xfrm>
            <a:off x="777240" y="346557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Bell's Palsy</a:t>
            </a:r>
            <a:endParaRPr lang="en-US" sz="1600" dirty="0"/>
          </a:p>
        </p:txBody>
      </p:sp>
      <p:sp>
        <p:nvSpPr>
          <p:cNvPr id="12" name="Text 10"/>
          <p:cNvSpPr/>
          <p:nvPr/>
        </p:nvSpPr>
        <p:spPr>
          <a:xfrm>
            <a:off x="777240" y="384048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Facial weakness sparing the forehead suggests a peripheral cause.</a:t>
            </a:r>
            <a:endParaRPr lang="en-US" sz="1250" dirty="0"/>
          </a:p>
        </p:txBody>
      </p:sp>
      <p:sp>
        <p:nvSpPr>
          <p:cNvPr id="13" name="Shape 11"/>
          <p:cNvSpPr/>
          <p:nvPr/>
        </p:nvSpPr>
        <p:spPr>
          <a:xfrm>
            <a:off x="6172200" y="3337560"/>
            <a:ext cx="5440680" cy="1389888"/>
          </a:xfrm>
          <a:prstGeom prst="roundRect">
            <a:avLst>
              <a:gd name="adj" fmla="val 5263"/>
            </a:avLst>
          </a:prstGeom>
          <a:solidFill>
            <a:srgbClr val="13586A"/>
          </a:solidFill>
          <a:ln w="12700">
            <a:solidFill>
              <a:srgbClr val="2A7A8C"/>
            </a:solidFill>
            <a:prstDash val="solid"/>
          </a:ln>
        </p:spPr>
      </p:sp>
      <p:sp>
        <p:nvSpPr>
          <p:cNvPr id="14" name="Text 12"/>
          <p:cNvSpPr/>
          <p:nvPr/>
        </p:nvSpPr>
        <p:spPr>
          <a:xfrm>
            <a:off x="6400800" y="346557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Dermatome Mapping</a:t>
            </a:r>
            <a:endParaRPr lang="en-US" sz="1600" dirty="0"/>
          </a:p>
        </p:txBody>
      </p:sp>
      <p:sp>
        <p:nvSpPr>
          <p:cNvPr id="15" name="Text 13"/>
          <p:cNvSpPr/>
          <p:nvPr/>
        </p:nvSpPr>
        <p:spPr>
          <a:xfrm>
            <a:off x="6400800" y="384048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Sensory loss localizes spinal nerve or cord injury.</a:t>
            </a:r>
            <a:endParaRPr lang="en-US" sz="1250" dirty="0"/>
          </a:p>
        </p:txBody>
      </p:sp>
      <p:sp>
        <p:nvSpPr>
          <p:cNvPr id="16" name="Shape 14"/>
          <p:cNvSpPr/>
          <p:nvPr/>
        </p:nvSpPr>
        <p:spPr>
          <a:xfrm>
            <a:off x="548640" y="4892040"/>
            <a:ext cx="5440680" cy="1389888"/>
          </a:xfrm>
          <a:prstGeom prst="roundRect">
            <a:avLst>
              <a:gd name="adj" fmla="val 5263"/>
            </a:avLst>
          </a:prstGeom>
          <a:solidFill>
            <a:srgbClr val="13586A"/>
          </a:solidFill>
          <a:ln w="12700">
            <a:solidFill>
              <a:srgbClr val="2A7A8C"/>
            </a:solidFill>
            <a:prstDash val="solid"/>
          </a:ln>
        </p:spPr>
      </p:sp>
      <p:sp>
        <p:nvSpPr>
          <p:cNvPr id="17" name="Text 15"/>
          <p:cNvSpPr/>
          <p:nvPr/>
        </p:nvSpPr>
        <p:spPr>
          <a:xfrm>
            <a:off x="777240" y="502005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Ataxia</a:t>
            </a:r>
            <a:endParaRPr lang="en-US" sz="1600" dirty="0"/>
          </a:p>
        </p:txBody>
      </p:sp>
      <p:sp>
        <p:nvSpPr>
          <p:cNvPr id="18" name="Text 16"/>
          <p:cNvSpPr/>
          <p:nvPr/>
        </p:nvSpPr>
        <p:spPr>
          <a:xfrm>
            <a:off x="777240" y="539496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Incoordination and unsteady gait suggest cerebellar problems.</a:t>
            </a:r>
            <a:endParaRPr lang="en-US" sz="1250" dirty="0"/>
          </a:p>
        </p:txBody>
      </p:sp>
      <p:sp>
        <p:nvSpPr>
          <p:cNvPr id="19" name="Shape 17"/>
          <p:cNvSpPr/>
          <p:nvPr/>
        </p:nvSpPr>
        <p:spPr>
          <a:xfrm>
            <a:off x="6172200" y="4892040"/>
            <a:ext cx="5440680" cy="1389888"/>
          </a:xfrm>
          <a:prstGeom prst="roundRect">
            <a:avLst>
              <a:gd name="adj" fmla="val 5263"/>
            </a:avLst>
          </a:prstGeom>
          <a:solidFill>
            <a:srgbClr val="13586A"/>
          </a:solidFill>
          <a:ln w="12700">
            <a:solidFill>
              <a:srgbClr val="2A7A8C"/>
            </a:solidFill>
            <a:prstDash val="solid"/>
          </a:ln>
        </p:spPr>
      </p:sp>
      <p:sp>
        <p:nvSpPr>
          <p:cNvPr id="20" name="Text 18"/>
          <p:cNvSpPr/>
          <p:nvPr/>
        </p:nvSpPr>
        <p:spPr>
          <a:xfrm>
            <a:off x="6400800" y="502005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Baseline Exams</a:t>
            </a:r>
            <a:endParaRPr lang="en-US" sz="1600" dirty="0"/>
          </a:p>
        </p:txBody>
      </p:sp>
      <p:sp>
        <p:nvSpPr>
          <p:cNvPr id="21" name="Text 19"/>
          <p:cNvSpPr/>
          <p:nvPr/>
        </p:nvSpPr>
        <p:spPr>
          <a:xfrm>
            <a:off x="6400800" y="539496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Serial neuro checks detect changes early in patient care.</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2026-06-23T21:03:36Z</dcterms:created>
  <dcterms:modified xsi:type="dcterms:W3CDTF">2026-06-23T21:03:36Z</dcterms:modified>
</cp:coreProperties>
</file>