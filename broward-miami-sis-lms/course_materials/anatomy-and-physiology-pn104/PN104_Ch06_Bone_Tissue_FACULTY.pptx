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skeletal system: bones are living organs that support, protect, move, store minerals, and make blood cells. Cover classification, microscopic structure, how bones form and grow, how they heal, and how the skeleton keeps blood calcium balanced.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Bones are grouped by shape: long (femur, humerus — for leverage and movement), short (carpals, tarsals — for stability), flat (skull, ribs, sternum — for protection and muscle attachment), irregular (vertebrae, facial bones), and sesamoid (the patella — protecting tendons). Shape reflects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long bone has a shaft (diaphysis) with a central medullary cavity, two ends (epiphyses) capped by articular cartilage, and a tough periosteum outside (with endosteum lining the inside). Red marrow forms blood cells; yellow marrow stores fat.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Compact (cortical) bone forms the dense outer shell that bears weight; spongy (cancellous) bone, a lattice of trabeculae, fills the interior, lightens the bone, and houses red marrow. Trabeculae align along lines of stress, giving strength with minimal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cell types remodel bone: osteogenic (stem) cells divide into osteoblasts that deposit new matrix; osteoblasts trapped in matrix mature into osteocytes that maintain the tissue; osteoclasts dissolve bone to release minerals. Balance between building and breakdown keeps bone healthy.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Compact bone is organized into osteons — concentric rings (lamellae) of matrix around a central (Haversian) canal carrying blood vessels and nerves. Osteocytes occupy small spaces (lacunae) and communicate through tiny channels (canaliculi). This structure makes bone strong yet living.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Bones form by two routes. Intramembranous ossification builds flat bones (skull, clavicle) directly from connective tissue. Endochondral ossification — the route for most bones — replaces a hyaline cartilage model with bone, starting at primary and secondary ossification centers before birth.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bones lengthen at the epiphyseal (growth) plate, where cartilage grows on the epiphyseal side and is replaced by bone on the diaphyseal side. Growth hormones drive this process until the plate closes (ossifies) after puberty, ending height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growing bone the epiphyseal plate is active cartilage; in the mature bone it becomes the epiphyseal line, a bony remnant. Growth-plate fractures in children need careful management because they can disturb future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Fractures are described by pattern and skin involvement: closed (skin intact) versus open (bone through skin), and by line — transverse, oblique, spiral, comminuted (many pieces), greenstick (incomplete, common in children), and impacted. Accurate description guides treatment.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Bone heals in stages: a hematoma forms, then a soft fibrocartilage callus, then a hard bony callus, and finally remodeling restores normal shape. Healing requires good blood supply, immobilization, and nutrition — factors you support in patient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Vitamin D, made in the skin from sunlight and activated by the liver and kidneys, is required to absorb dietary calcium from the gut. Without enough vitamin D and calcium, bones weaken (rickets in children, osteomalacia in adults). Diet, sun exposure, and weight-bearing exercise all support bone.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Bone mass builds to a peak in the twenties, then gradually declines — sharply in women after menopause as estrogen falls. Excessive loss is osteoporosis, which raises fracture risk. Weight-bearing exercise, calcium, and vitamin D help preserve bone — important teaching for older patients.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Calcium is vital for nerves, muscles, and clotting, so blood levels are tightly regulated. When calcium falls, parathyroid hormone (PTH) releases it from bone, conserves it in the kidney, and boosts gut absorption; calcitonin lowers high calcium. The skeleton serves as the body's calcium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731520" y="1325880"/>
            <a:ext cx="6400800" cy="457200"/>
          </a:xfrm>
          <a:prstGeom prst="rect">
            <a:avLst/>
          </a:prstGeom>
          <a:noFill/>
          <a:ln/>
        </p:spPr>
        <p:txBody>
          <a:bodyPr wrap="square" rtlCol="0" anchor="ctr"/>
          <a:lstStyle/>
          <a:p>
            <a:pPr indent="0" marL="0">
              <a:buNone/>
            </a:pPr>
            <a:r>
              <a:rPr lang="en-US" sz="1800" b="1" spc="400" kern="0" dirty="0">
                <a:solidFill>
                  <a:srgbClr val="E36414"/>
                </a:solidFill>
                <a:latin typeface="Calibri" pitchFamily="34" charset="0"/>
                <a:ea typeface="Calibri" pitchFamily="34" charset="-122"/>
                <a:cs typeface="Calibri" pitchFamily="34" charset="-120"/>
              </a:rPr>
              <a:t>CHAPTER 6</a:t>
            </a:r>
            <a:endParaRPr lang="en-US" sz="1800" dirty="0"/>
          </a:p>
        </p:txBody>
      </p:sp>
      <p:sp>
        <p:nvSpPr>
          <p:cNvPr id="3" name="Text 1"/>
          <p:cNvSpPr/>
          <p:nvPr/>
        </p:nvSpPr>
        <p:spPr>
          <a:xfrm>
            <a:off x="713232" y="1783080"/>
            <a:ext cx="6858000" cy="1920240"/>
          </a:xfrm>
          <a:prstGeom prst="rect">
            <a:avLst/>
          </a:prstGeom>
          <a:noFill/>
          <a:ln/>
        </p:spPr>
        <p:txBody>
          <a:bodyPr wrap="square" rtlCol="0" anchor="t"/>
          <a:lstStyle/>
          <a:p>
            <a:pPr indent="0" marL="0">
              <a:buNone/>
            </a:pPr>
            <a:r>
              <a:rPr lang="en-US" sz="4000" b="1" dirty="0">
                <a:solidFill>
                  <a:srgbClr val="FFFFFF"/>
                </a:solidFill>
                <a:latin typeface="Georgia" pitchFamily="34" charset="0"/>
                <a:ea typeface="Georgia" pitchFamily="34" charset="-122"/>
                <a:cs typeface="Georgia" pitchFamily="34" charset="-120"/>
              </a:rPr>
              <a:t>Bone Tissue and the Skeletal System</a:t>
            </a:r>
            <a:endParaRPr lang="en-US" sz="4000" dirty="0"/>
          </a:p>
        </p:txBody>
      </p:sp>
      <p:sp>
        <p:nvSpPr>
          <p:cNvPr id="4" name="Text 2"/>
          <p:cNvSpPr/>
          <p:nvPr/>
        </p:nvSpPr>
        <p:spPr>
          <a:xfrm>
            <a:off x="749808" y="3886200"/>
            <a:ext cx="6400800" cy="822960"/>
          </a:xfrm>
          <a:prstGeom prst="rect">
            <a:avLst/>
          </a:prstGeom>
          <a:noFill/>
          <a:ln/>
        </p:spPr>
        <p:txBody>
          <a:bodyPr wrap="square" rtlCol="0" anchor="ctr"/>
          <a:lstStyle/>
          <a:p>
            <a:pPr indent="0" marL="0">
              <a:lnSpc>
                <a:spcPct val="110000"/>
              </a:lnSpc>
              <a:buNone/>
            </a:pPr>
            <a:r>
              <a:rPr lang="en-US" sz="1600" dirty="0">
                <a:solidFill>
                  <a:srgbClr val="CFE3E7"/>
                </a:solidFill>
                <a:latin typeface="Calibri" pitchFamily="34" charset="0"/>
                <a:ea typeface="Calibri" pitchFamily="34" charset="-122"/>
                <a:cs typeface="Calibri" pitchFamily="34" charset="-120"/>
              </a:rPr>
              <a:t>Bone structure, formation, fractures, and calcium balance.</a:t>
            </a:r>
            <a:endParaRPr lang="en-US" sz="1600" dirty="0"/>
          </a:p>
        </p:txBody>
      </p:sp>
      <p:sp>
        <p:nvSpPr>
          <p:cNvPr id="5" name="Text 3"/>
          <p:cNvSpPr/>
          <p:nvPr/>
        </p:nvSpPr>
        <p:spPr>
          <a:xfrm>
            <a:off x="749808" y="5806440"/>
            <a:ext cx="8229600" cy="320040"/>
          </a:xfrm>
          <a:prstGeom prst="rect">
            <a:avLst/>
          </a:prstGeom>
          <a:noFill/>
          <a:ln/>
        </p:spPr>
        <p:txBody>
          <a:bodyPr wrap="square" rtlCol="0" anchor="ctr"/>
          <a:lstStyle/>
          <a:p>
            <a:pPr indent="0" marL="0">
              <a:buNone/>
            </a:pPr>
            <a:r>
              <a:rPr lang="en-US" sz="1300" dirty="0">
                <a:solidFill>
                  <a:srgbClr val="9FC2C9"/>
                </a:solidFill>
                <a:latin typeface="Calibri" pitchFamily="34" charset="0"/>
                <a:ea typeface="Calibri" pitchFamily="34" charset="-122"/>
                <a:cs typeface="Calibri" pitchFamily="34" charset="-120"/>
              </a:rPr>
              <a:t>Anatomy &amp; Physiology  ·  Broward-Miami Health Institute</a:t>
            </a:r>
            <a:endParaRPr lang="en-US" sz="1300" dirty="0"/>
          </a:p>
        </p:txBody>
      </p:sp>
      <p:sp>
        <p:nvSpPr>
          <p:cNvPr id="6" name="Text 4"/>
          <p:cNvSpPr/>
          <p:nvPr/>
        </p:nvSpPr>
        <p:spPr>
          <a:xfrm>
            <a:off x="749808" y="6144768"/>
            <a:ext cx="3657600" cy="320040"/>
          </a:xfrm>
          <a:prstGeom prst="rect">
            <a:avLst/>
          </a:prstGeom>
          <a:noFill/>
          <a:ln/>
        </p:spPr>
        <p:txBody>
          <a:bodyPr wrap="square" rtlCol="0" anchor="ctr"/>
          <a:lstStyle/>
          <a:p>
            <a:pPr indent="0" marL="0">
              <a:buNone/>
            </a:pPr>
            <a:r>
              <a:rPr lang="en-US" sz="1100" b="1" spc="300" kern="0" dirty="0">
                <a:solidFill>
                  <a:srgbClr val="E36414"/>
                </a:solidFill>
                <a:latin typeface="Calibri" pitchFamily="34" charset="0"/>
                <a:ea typeface="Calibri" pitchFamily="34" charset="-122"/>
                <a:cs typeface="Calibri" pitchFamily="34" charset="-120"/>
              </a:rPr>
              <a:t>FACULTY EDITION</a:t>
            </a:r>
            <a:endParaRPr lang="en-US" sz="1100" dirty="0"/>
          </a:p>
        </p:txBody>
      </p:sp>
      <p:sp>
        <p:nvSpPr>
          <p:cNvPr id="7" name="Shape 5"/>
          <p:cNvSpPr/>
          <p:nvPr/>
        </p:nvSpPr>
        <p:spPr>
          <a:xfrm>
            <a:off x="7735824" y="2535914"/>
            <a:ext cx="4096512" cy="1969053"/>
          </a:xfrm>
          <a:prstGeom prst="roundRect">
            <a:avLst>
              <a:gd name="adj" fmla="val 2786"/>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8" name="Image 0" descr="/home/claude/all/ch06/img/img01.jpg">    </p:cNvPr>
          <p:cNvPicPr>
            <a:picLocks noChangeAspect="1"/>
          </p:cNvPicPr>
          <p:nvPr/>
        </p:nvPicPr>
        <p:blipFill>
          <a:blip r:embed="rId1"/>
          <a:stretch>
            <a:fillRect/>
          </a:stretch>
        </p:blipFill>
        <p:spPr>
          <a:xfrm>
            <a:off x="7818120" y="2618210"/>
            <a:ext cx="3931920" cy="180446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6</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Learning Objectives</a:t>
            </a:r>
            <a:endParaRPr lang="en-US" sz="2800" dirty="0"/>
          </a:p>
        </p:txBody>
      </p:sp>
      <p:sp>
        <p:nvSpPr>
          <p:cNvPr id="4" name="Text 2"/>
          <p:cNvSpPr/>
          <p:nvPr/>
        </p:nvSpPr>
        <p:spPr>
          <a:xfrm>
            <a:off x="548640" y="1371600"/>
            <a:ext cx="8229600" cy="274320"/>
          </a:xfrm>
          <a:prstGeom prst="rect">
            <a:avLst/>
          </a:prstGeom>
          <a:noFill/>
          <a:ln/>
        </p:spPr>
        <p:txBody>
          <a:bodyPr wrap="square" rtlCol="0" anchor="ctr"/>
          <a:lstStyle/>
          <a:p>
            <a:pPr indent="0" marL="0">
              <a:buNone/>
            </a:pPr>
            <a:r>
              <a:rPr lang="en-US" sz="1200" i="1" dirty="0">
                <a:solidFill>
                  <a:srgbClr val="5A6B70"/>
                </a:solidFill>
                <a:latin typeface="Calibri" pitchFamily="34" charset="0"/>
                <a:ea typeface="Calibri" pitchFamily="34" charset="-122"/>
                <a:cs typeface="Calibri" pitchFamily="34" charset="-120"/>
              </a:rPr>
              <a:t>After studying this chapter, students will be able to:</a:t>
            </a:r>
            <a:endParaRPr lang="en-US" sz="1200" dirty="0"/>
          </a:p>
        </p:txBody>
      </p:sp>
      <p:sp>
        <p:nvSpPr>
          <p:cNvPr id="5" name="Shape 3"/>
          <p:cNvSpPr/>
          <p:nvPr/>
        </p:nvSpPr>
        <p:spPr>
          <a:xfrm>
            <a:off x="548640" y="1664208"/>
            <a:ext cx="384048" cy="384048"/>
          </a:xfrm>
          <a:prstGeom prst="ellipse">
            <a:avLst/>
          </a:prstGeom>
          <a:solidFill>
            <a:srgbClr val="0F4C5C"/>
          </a:solidFill>
          <a:ln/>
        </p:spPr>
      </p:sp>
      <p:sp>
        <p:nvSpPr>
          <p:cNvPr id="6" name="Text 4"/>
          <p:cNvSpPr/>
          <p:nvPr/>
        </p:nvSpPr>
        <p:spPr>
          <a:xfrm>
            <a:off x="548640" y="166420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7" name="Text 5"/>
          <p:cNvSpPr/>
          <p:nvPr/>
        </p:nvSpPr>
        <p:spPr>
          <a:xfrm>
            <a:off x="1115568" y="164592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List and describe the functions of bones</a:t>
            </a:r>
            <a:endParaRPr lang="en-US" sz="1300" dirty="0"/>
          </a:p>
        </p:txBody>
      </p:sp>
      <p:sp>
        <p:nvSpPr>
          <p:cNvPr id="8" name="Shape 6"/>
          <p:cNvSpPr/>
          <p:nvPr/>
        </p:nvSpPr>
        <p:spPr>
          <a:xfrm>
            <a:off x="548640" y="2418588"/>
            <a:ext cx="384048" cy="384048"/>
          </a:xfrm>
          <a:prstGeom prst="ellipse">
            <a:avLst/>
          </a:prstGeom>
          <a:solidFill>
            <a:srgbClr val="0F4C5C"/>
          </a:solidFill>
          <a:ln/>
        </p:spPr>
      </p:sp>
      <p:sp>
        <p:nvSpPr>
          <p:cNvPr id="9" name="Text 7"/>
          <p:cNvSpPr/>
          <p:nvPr/>
        </p:nvSpPr>
        <p:spPr>
          <a:xfrm>
            <a:off x="548640" y="241858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0" name="Text 8"/>
          <p:cNvSpPr/>
          <p:nvPr/>
        </p:nvSpPr>
        <p:spPr>
          <a:xfrm>
            <a:off x="1115568" y="240030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Describe the classes of bones</a:t>
            </a:r>
            <a:endParaRPr lang="en-US" sz="1300" dirty="0"/>
          </a:p>
        </p:txBody>
      </p:sp>
      <p:sp>
        <p:nvSpPr>
          <p:cNvPr id="11" name="Shape 9"/>
          <p:cNvSpPr/>
          <p:nvPr/>
        </p:nvSpPr>
        <p:spPr>
          <a:xfrm>
            <a:off x="548640" y="3172968"/>
            <a:ext cx="384048" cy="384048"/>
          </a:xfrm>
          <a:prstGeom prst="ellipse">
            <a:avLst/>
          </a:prstGeom>
          <a:solidFill>
            <a:srgbClr val="0F4C5C"/>
          </a:solidFill>
          <a:ln/>
        </p:spPr>
      </p:sp>
      <p:sp>
        <p:nvSpPr>
          <p:cNvPr id="12" name="Text 10"/>
          <p:cNvSpPr/>
          <p:nvPr/>
        </p:nvSpPr>
        <p:spPr>
          <a:xfrm>
            <a:off x="548640" y="317296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13" name="Text 11"/>
          <p:cNvSpPr/>
          <p:nvPr/>
        </p:nvSpPr>
        <p:spPr>
          <a:xfrm>
            <a:off x="1115568" y="315468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Discuss the process of bone formation and development</a:t>
            </a:r>
            <a:endParaRPr lang="en-US" sz="1300" dirty="0"/>
          </a:p>
        </p:txBody>
      </p:sp>
      <p:sp>
        <p:nvSpPr>
          <p:cNvPr id="14" name="Shape 12"/>
          <p:cNvSpPr/>
          <p:nvPr/>
        </p:nvSpPr>
        <p:spPr>
          <a:xfrm>
            <a:off x="548640" y="3927348"/>
            <a:ext cx="384048" cy="384048"/>
          </a:xfrm>
          <a:prstGeom prst="ellipse">
            <a:avLst/>
          </a:prstGeom>
          <a:solidFill>
            <a:srgbClr val="0F4C5C"/>
          </a:solidFill>
          <a:ln/>
        </p:spPr>
      </p:sp>
      <p:sp>
        <p:nvSpPr>
          <p:cNvPr id="15" name="Text 13"/>
          <p:cNvSpPr/>
          <p:nvPr/>
        </p:nvSpPr>
        <p:spPr>
          <a:xfrm>
            <a:off x="548640" y="392734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16" name="Text 14"/>
          <p:cNvSpPr/>
          <p:nvPr/>
        </p:nvSpPr>
        <p:spPr>
          <a:xfrm>
            <a:off x="1115568" y="390906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Explain how bone repairs itself after a fracture</a:t>
            </a:r>
            <a:endParaRPr lang="en-US" sz="1300" dirty="0"/>
          </a:p>
        </p:txBody>
      </p:sp>
      <p:sp>
        <p:nvSpPr>
          <p:cNvPr id="17" name="Shape 15"/>
          <p:cNvSpPr/>
          <p:nvPr/>
        </p:nvSpPr>
        <p:spPr>
          <a:xfrm>
            <a:off x="548640" y="4681728"/>
            <a:ext cx="384048" cy="384048"/>
          </a:xfrm>
          <a:prstGeom prst="ellipse">
            <a:avLst/>
          </a:prstGeom>
          <a:solidFill>
            <a:srgbClr val="0F4C5C"/>
          </a:solidFill>
          <a:ln/>
        </p:spPr>
      </p:sp>
      <p:sp>
        <p:nvSpPr>
          <p:cNvPr id="18" name="Text 16"/>
          <p:cNvSpPr/>
          <p:nvPr/>
        </p:nvSpPr>
        <p:spPr>
          <a:xfrm>
            <a:off x="548640" y="468172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19" name="Text 17"/>
          <p:cNvSpPr/>
          <p:nvPr/>
        </p:nvSpPr>
        <p:spPr>
          <a:xfrm>
            <a:off x="1115568" y="466344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Discuss the effect of exercise, nutrition, and hormones on bone tissue</a:t>
            </a:r>
            <a:endParaRPr lang="en-US" sz="1300" dirty="0"/>
          </a:p>
        </p:txBody>
      </p:sp>
      <p:sp>
        <p:nvSpPr>
          <p:cNvPr id="20" name="Shape 18"/>
          <p:cNvSpPr/>
          <p:nvPr/>
        </p:nvSpPr>
        <p:spPr>
          <a:xfrm>
            <a:off x="548640" y="5436108"/>
            <a:ext cx="384048" cy="384048"/>
          </a:xfrm>
          <a:prstGeom prst="ellipse">
            <a:avLst/>
          </a:prstGeom>
          <a:solidFill>
            <a:srgbClr val="0F4C5C"/>
          </a:solidFill>
          <a:ln/>
        </p:spPr>
      </p:sp>
      <p:sp>
        <p:nvSpPr>
          <p:cNvPr id="21" name="Text 19"/>
          <p:cNvSpPr/>
          <p:nvPr/>
        </p:nvSpPr>
        <p:spPr>
          <a:xfrm>
            <a:off x="548640" y="543610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22" name="Text 20"/>
          <p:cNvSpPr/>
          <p:nvPr/>
        </p:nvSpPr>
        <p:spPr>
          <a:xfrm>
            <a:off x="1115568" y="541782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Describe how an imbalance of calcium can affect bone tissue Bones make good fossils</a:t>
            </a:r>
            <a:endParaRPr lang="en-US" sz="1300" dirty="0"/>
          </a:p>
        </p:txBody>
      </p:sp>
      <p:sp>
        <p:nvSpPr>
          <p:cNvPr id="23" name="Shape 21"/>
          <p:cNvSpPr/>
          <p:nvPr/>
        </p:nvSpPr>
        <p:spPr>
          <a:xfrm>
            <a:off x="8273016" y="1545336"/>
            <a:ext cx="2656369" cy="4370832"/>
          </a:xfrm>
          <a:prstGeom prst="roundRect">
            <a:avLst>
              <a:gd name="adj" fmla="val 2065"/>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24" name="Image 0" descr="/home/claude/all/ch06/img/img06.jpg">    </p:cNvPr>
          <p:cNvPicPr>
            <a:picLocks noChangeAspect="1"/>
          </p:cNvPicPr>
          <p:nvPr/>
        </p:nvPicPr>
        <p:blipFill>
          <a:blip r:embed="rId1"/>
          <a:stretch>
            <a:fillRect/>
          </a:stretch>
        </p:blipFill>
        <p:spPr>
          <a:xfrm>
            <a:off x="8355312" y="1627632"/>
            <a:ext cx="2491777" cy="4206240"/>
          </a:xfrm>
          <a:prstGeom prst="rect">
            <a:avLst/>
          </a:prstGeom>
        </p:spPr>
      </p:pic>
      <p:sp>
        <p:nvSpPr>
          <p:cNvPr id="25" name="Text 22"/>
          <p:cNvSpPr/>
          <p:nvPr/>
        </p:nvSpPr>
        <p:spPr>
          <a:xfrm>
            <a:off x="7498080" y="5943600"/>
            <a:ext cx="420624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anatomy of a long bone.</a:t>
            </a:r>
            <a:endParaRPr lang="en-US" sz="1100" dirty="0"/>
          </a:p>
        </p:txBody>
      </p:sp>
      <p:sp>
        <p:nvSpPr>
          <p:cNvPr id="27" name="Text 23"/>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6 — Bone Tissue and the Skeletal System</a:t>
            </a:r>
            <a:endParaRPr lang="en-US" sz="900" dirty="0"/>
          </a:p>
        </p:txBody>
      </p:sp>
      <p:sp>
        <p:nvSpPr>
          <p:cNvPr id="28" name="Text 24"/>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6.2</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Bone Classification</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five shapes of bones and how shape relates to function.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6.2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Classification of Bones</a:t>
            </a:r>
            <a:endParaRPr lang="en-US" sz="2800" dirty="0"/>
          </a:p>
        </p:txBody>
      </p:sp>
      <p:sp>
        <p:nvSpPr>
          <p:cNvPr id="4" name="Shape 2"/>
          <p:cNvSpPr/>
          <p:nvPr/>
        </p:nvSpPr>
        <p:spPr>
          <a:xfrm>
            <a:off x="597332" y="1289304"/>
            <a:ext cx="4108856" cy="4736592"/>
          </a:xfrm>
          <a:prstGeom prst="roundRect">
            <a:avLst>
              <a:gd name="adj" fmla="val 1335"/>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6/img/img05.jpg">    </p:cNvPr>
          <p:cNvPicPr>
            <a:picLocks noChangeAspect="1"/>
          </p:cNvPicPr>
          <p:nvPr/>
        </p:nvPicPr>
        <p:blipFill>
          <a:blip r:embed="rId1"/>
          <a:stretch>
            <a:fillRect/>
          </a:stretch>
        </p:blipFill>
        <p:spPr>
          <a:xfrm>
            <a:off x="679628" y="1371600"/>
            <a:ext cx="3944264"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classification of bones by shape</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Long bones (limbs) act as levers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Short bones (wrist, ankle) add stability</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Flat bones (skull, ribs) protect</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Irregular and sesamoid bones</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6 — Bone Tissue and the Skeletal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6.3</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Bone Structure</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gross and microscopic structure of bone tissue.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6.3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Anatomy of a Long Bone</a:t>
            </a:r>
            <a:endParaRPr lang="en-US" sz="2800" dirty="0"/>
          </a:p>
        </p:txBody>
      </p:sp>
      <p:sp>
        <p:nvSpPr>
          <p:cNvPr id="4" name="Shape 2"/>
          <p:cNvSpPr/>
          <p:nvPr/>
        </p:nvSpPr>
        <p:spPr>
          <a:xfrm>
            <a:off x="1215238" y="1289304"/>
            <a:ext cx="2873045" cy="4736592"/>
          </a:xfrm>
          <a:prstGeom prst="roundRect">
            <a:avLst>
              <a:gd name="adj" fmla="val 1910"/>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6/img/img06.jpg">    </p:cNvPr>
          <p:cNvPicPr>
            <a:picLocks noChangeAspect="1"/>
          </p:cNvPicPr>
          <p:nvPr/>
        </p:nvPicPr>
        <p:blipFill>
          <a:blip r:embed="rId1"/>
          <a:stretch>
            <a:fillRect/>
          </a:stretch>
        </p:blipFill>
        <p:spPr>
          <a:xfrm>
            <a:off x="1297534" y="1371600"/>
            <a:ext cx="2708453"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structure of a long bone</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Diaphysis (shaft) and epiphyses (ends)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Medullary cavity holds marrow</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Periosteum covers the outer surface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Articular cartilage cushions the joints</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6 — Bone Tissue and the Skeletal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6.3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Compact and Spongy Bone</a:t>
            </a:r>
            <a:endParaRPr lang="en-US" sz="2800" dirty="0"/>
          </a:p>
        </p:txBody>
      </p:sp>
      <p:sp>
        <p:nvSpPr>
          <p:cNvPr id="4" name="Shape 2"/>
          <p:cNvSpPr/>
          <p:nvPr/>
        </p:nvSpPr>
        <p:spPr>
          <a:xfrm>
            <a:off x="2498493" y="1289304"/>
            <a:ext cx="7210254"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6/img/img08.jpg">    </p:cNvPr>
          <p:cNvPicPr>
            <a:picLocks noChangeAspect="1"/>
          </p:cNvPicPr>
          <p:nvPr/>
        </p:nvPicPr>
        <p:blipFill>
          <a:blip r:embed="rId1"/>
          <a:stretch>
            <a:fillRect/>
          </a:stretch>
        </p:blipFill>
        <p:spPr>
          <a:xfrm>
            <a:off x="2580789" y="1371600"/>
            <a:ext cx="7045662"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Compact and spongy bone</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Compact bone is dense and solid</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Forms the strong outer layer</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Spongy bone is porous (trabeculae)</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Trabeculae resist stress, hold marrow</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6 — Bone Tissue and the Skeletal System</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6.3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Four Bone Cells</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Osteogenic cells are bone stem cells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Osteoblasts build new bone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Osteocytes maintain bone tissue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Osteoclasts resorb (break down) bone</a:t>
            </a:r>
            <a:endParaRPr lang="en-US" sz="1500" dirty="0"/>
          </a:p>
        </p:txBody>
      </p:sp>
      <p:sp>
        <p:nvSpPr>
          <p:cNvPr id="5" name="Shape 3"/>
          <p:cNvSpPr/>
          <p:nvPr/>
        </p:nvSpPr>
        <p:spPr>
          <a:xfrm>
            <a:off x="5404104" y="1390972"/>
            <a:ext cx="6382512" cy="4533256"/>
          </a:xfrm>
          <a:prstGeom prst="roundRect">
            <a:avLst>
              <a:gd name="adj" fmla="val 1210"/>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06/img/img10.jpg">    </p:cNvPr>
          <p:cNvPicPr>
            <a:picLocks noChangeAspect="1"/>
          </p:cNvPicPr>
          <p:nvPr/>
        </p:nvPicPr>
        <p:blipFill>
          <a:blip r:embed="rId1"/>
          <a:stretch>
            <a:fillRect/>
          </a:stretch>
        </p:blipFill>
        <p:spPr>
          <a:xfrm>
            <a:off x="5486400" y="1473268"/>
            <a:ext cx="6217920" cy="4368664"/>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cells of bone tissue</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6 — Bone Tissue and the Skeletal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6.3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Microscopic Bone — The Osteon</a:t>
            </a:r>
            <a:endParaRPr lang="en-US" sz="2800" dirty="0"/>
          </a:p>
        </p:txBody>
      </p:sp>
      <p:sp>
        <p:nvSpPr>
          <p:cNvPr id="4" name="Shape 2"/>
          <p:cNvSpPr/>
          <p:nvPr/>
        </p:nvSpPr>
        <p:spPr>
          <a:xfrm>
            <a:off x="629336" y="1289304"/>
            <a:ext cx="4044848" cy="4736592"/>
          </a:xfrm>
          <a:prstGeom prst="roundRect">
            <a:avLst>
              <a:gd name="adj" fmla="val 1356"/>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6/img/img11.jpg">    </p:cNvPr>
          <p:cNvPicPr>
            <a:picLocks noChangeAspect="1"/>
          </p:cNvPicPr>
          <p:nvPr/>
        </p:nvPicPr>
        <p:blipFill>
          <a:blip r:embed="rId1"/>
          <a:stretch>
            <a:fillRect/>
          </a:stretch>
        </p:blipFill>
        <p:spPr>
          <a:xfrm>
            <a:off x="711632" y="1371600"/>
            <a:ext cx="3880256"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osteon (Haversian system)</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Compact bone is built of osteons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Central canal carries vessels and nerves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Concentric lamellae surround the canal</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Osteocytes sit in lacunae</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6 — Bone Tissue and the Skeletal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6.4</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Bone Formation and Development</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How bones form before birth and grow throughout childhood.</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6.4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Bone Formation (Ossification)</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Intramembranous forms flat bones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Endochondral replaces cartilage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Most bones form from a cartilage model</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Begins before birth</a:t>
            </a:r>
            <a:endParaRPr lang="en-US" sz="1500" dirty="0"/>
          </a:p>
        </p:txBody>
      </p:sp>
      <p:sp>
        <p:nvSpPr>
          <p:cNvPr id="5" name="Shape 3"/>
          <p:cNvSpPr/>
          <p:nvPr/>
        </p:nvSpPr>
        <p:spPr>
          <a:xfrm>
            <a:off x="5404104" y="1404394"/>
            <a:ext cx="6382512" cy="4506412"/>
          </a:xfrm>
          <a:prstGeom prst="roundRect">
            <a:avLst>
              <a:gd name="adj" fmla="val 1217"/>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06/img/img16.jpg">    </p:cNvPr>
          <p:cNvPicPr>
            <a:picLocks noChangeAspect="1"/>
          </p:cNvPicPr>
          <p:nvPr/>
        </p:nvPicPr>
        <p:blipFill>
          <a:blip r:embed="rId1"/>
          <a:stretch>
            <a:fillRect/>
          </a:stretch>
        </p:blipFill>
        <p:spPr>
          <a:xfrm>
            <a:off x="5486400" y="1486690"/>
            <a:ext cx="6217920" cy="434182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Intramembranous and endochondral ossification</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6 — Bone Tissue and the Skeletal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6.4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Epiphyseal (Growth) Plate</a:t>
            </a:r>
            <a:endParaRPr lang="en-US" sz="2800" dirty="0"/>
          </a:p>
        </p:txBody>
      </p:sp>
      <p:sp>
        <p:nvSpPr>
          <p:cNvPr id="4" name="Shape 2"/>
          <p:cNvSpPr/>
          <p:nvPr/>
        </p:nvSpPr>
        <p:spPr>
          <a:xfrm>
            <a:off x="1101623" y="1289304"/>
            <a:ext cx="3100273" cy="4736592"/>
          </a:xfrm>
          <a:prstGeom prst="roundRect">
            <a:avLst>
              <a:gd name="adj" fmla="val 1770"/>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6/img/img18.jpg">    </p:cNvPr>
          <p:cNvPicPr>
            <a:picLocks noChangeAspect="1"/>
          </p:cNvPicPr>
          <p:nvPr/>
        </p:nvPicPr>
        <p:blipFill>
          <a:blip r:embed="rId1"/>
          <a:stretch>
            <a:fillRect/>
          </a:stretch>
        </p:blipFill>
        <p:spPr>
          <a:xfrm>
            <a:off x="1183919" y="1371600"/>
            <a:ext cx="2935681"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Zones of the epiphyseal plate</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A plate of hyaline cartilage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Lengthens long bones in childhood</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Cartilage grows, then turns to bone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Closes after puberty</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6 — Bone Tissue and the Skeletal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6.4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Growing vs. Mature Bone</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Active growth plate in children</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Epiphyseal line in adults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Marks where growth occurred</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Plate injuries can affect growth</a:t>
            </a:r>
            <a:endParaRPr lang="en-US" sz="1500" dirty="0"/>
          </a:p>
        </p:txBody>
      </p:sp>
      <p:sp>
        <p:nvSpPr>
          <p:cNvPr id="5" name="Shape 3"/>
          <p:cNvSpPr/>
          <p:nvPr/>
        </p:nvSpPr>
        <p:spPr>
          <a:xfrm>
            <a:off x="5681350" y="1335024"/>
            <a:ext cx="5828020"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06/img/img19.jpg">    </p:cNvPr>
          <p:cNvPicPr>
            <a:picLocks noChangeAspect="1"/>
          </p:cNvPicPr>
          <p:nvPr/>
        </p:nvPicPr>
        <p:blipFill>
          <a:blip r:embed="rId1"/>
          <a:stretch>
            <a:fillRect/>
          </a:stretch>
        </p:blipFill>
        <p:spPr>
          <a:xfrm>
            <a:off x="5763646" y="1417320"/>
            <a:ext cx="5663428"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Growing and mature long bone</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6 — Bone Tissue and the Skeletal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6.5</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Fractures: Bone Repair</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Types of fractures and how bone repairs itself.</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6.5</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Types of Fractures</a:t>
            </a:r>
            <a:endParaRPr lang="en-US" sz="2800" dirty="0"/>
          </a:p>
        </p:txBody>
      </p:sp>
      <p:sp>
        <p:nvSpPr>
          <p:cNvPr id="4" name="Shape 2"/>
          <p:cNvSpPr/>
          <p:nvPr/>
        </p:nvSpPr>
        <p:spPr>
          <a:xfrm>
            <a:off x="1363142" y="1289304"/>
            <a:ext cx="2577236" cy="4736592"/>
          </a:xfrm>
          <a:prstGeom prst="roundRect">
            <a:avLst>
              <a:gd name="adj" fmla="val 2129"/>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6/img/img20.jpg">    </p:cNvPr>
          <p:cNvPicPr>
            <a:picLocks noChangeAspect="1"/>
          </p:cNvPicPr>
          <p:nvPr/>
        </p:nvPicPr>
        <p:blipFill>
          <a:blip r:embed="rId1"/>
          <a:stretch>
            <a:fillRect/>
          </a:stretch>
        </p:blipFill>
        <p:spPr>
          <a:xfrm>
            <a:off x="1445438" y="1371600"/>
            <a:ext cx="2412644"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Common types of bone fractures</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Closed (simple) vs. open (compound)</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Transverse, oblique, spiral, comminuted</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Greenstick (incomplete) in children</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Impacted ends driven together</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6 — Bone Tissue and the Skeletal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6.5</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Fracture Repair</a:t>
            </a:r>
            <a:endParaRPr lang="en-US" sz="2800" dirty="0"/>
          </a:p>
        </p:txBody>
      </p:sp>
      <p:sp>
        <p:nvSpPr>
          <p:cNvPr id="4" name="Shape 2"/>
          <p:cNvSpPr/>
          <p:nvPr/>
        </p:nvSpPr>
        <p:spPr>
          <a:xfrm>
            <a:off x="1403147" y="1289304"/>
            <a:ext cx="9400946"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6/img/img21.jpg">    </p:cNvPr>
          <p:cNvPicPr>
            <a:picLocks noChangeAspect="1"/>
          </p:cNvPicPr>
          <p:nvPr/>
        </p:nvPicPr>
        <p:blipFill>
          <a:blip r:embed="rId1"/>
          <a:stretch>
            <a:fillRect/>
          </a:stretch>
        </p:blipFill>
        <p:spPr>
          <a:xfrm>
            <a:off x="1485443" y="1371600"/>
            <a:ext cx="9236354"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stages of fracture repair</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A hematoma forms at the break</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A soft (fibrocartilage) callus bridges it</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A bony callus replaces it</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Remodeling restores the bone</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6 — Bone Tissue and the Skeletal System</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6.6</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Exercise, Nutrition, Hormones, and Bone Tissue</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How exercise, nutrition, and hormones keep bone strong.</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6.6</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Vitamin D &amp; Calcium Absorption</a:t>
            </a:r>
            <a:endParaRPr lang="en-US" sz="2800" dirty="0"/>
          </a:p>
        </p:txBody>
      </p:sp>
      <p:sp>
        <p:nvSpPr>
          <p:cNvPr id="4" name="Shape 2"/>
          <p:cNvSpPr/>
          <p:nvPr/>
        </p:nvSpPr>
        <p:spPr>
          <a:xfrm>
            <a:off x="830504" y="1289304"/>
            <a:ext cx="3642512" cy="4736592"/>
          </a:xfrm>
          <a:prstGeom prst="roundRect">
            <a:avLst>
              <a:gd name="adj" fmla="val 1506"/>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6/img/img22.jpg">    </p:cNvPr>
          <p:cNvPicPr>
            <a:picLocks noChangeAspect="1"/>
          </p:cNvPicPr>
          <p:nvPr/>
        </p:nvPicPr>
        <p:blipFill>
          <a:blip r:embed="rId1"/>
          <a:stretch>
            <a:fillRect/>
          </a:stretch>
        </p:blipFill>
        <p:spPr>
          <a:xfrm>
            <a:off x="912800" y="1371600"/>
            <a:ext cx="3477920"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Vitamin D synthesis and calcium absorption</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Sunlight starts vitamin D synthesis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Liver and kidneys activate it</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Vitamin D drives calcium absorption</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Essential for strong bones</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6 — Bone Tissue and the Skeletal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6.6</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Bone Mass Over the Lifespan</a:t>
            </a:r>
            <a:endParaRPr lang="en-US" sz="2800" dirty="0"/>
          </a:p>
        </p:txBody>
      </p:sp>
      <p:sp>
        <p:nvSpPr>
          <p:cNvPr id="4" name="Shape 2"/>
          <p:cNvSpPr/>
          <p:nvPr/>
        </p:nvSpPr>
        <p:spPr>
          <a:xfrm>
            <a:off x="3248278" y="1289304"/>
            <a:ext cx="5710684"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6/img/img23.jpg">    </p:cNvPr>
          <p:cNvPicPr>
            <a:picLocks noChangeAspect="1"/>
          </p:cNvPicPr>
          <p:nvPr/>
        </p:nvPicPr>
        <p:blipFill>
          <a:blip r:embed="rId1"/>
          <a:stretch>
            <a:fillRect/>
          </a:stretch>
        </p:blipFill>
        <p:spPr>
          <a:xfrm>
            <a:off x="3330574" y="1371600"/>
            <a:ext cx="5546092"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Bone mass across the lifespan</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Bone mass peaks in young adulthood</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Declines with age, faster after menopause</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Low bone mass leads to osteoporosis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Exercise and calcium slow the loss</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6 — Bone Tissue and the Skeletal System</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6.7</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Calcium Homeostasis: Interactions of the Skeletal System and Other Organ Systems</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How the skeleton helps keep blood calcium in a safe range.</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6.7</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Calcium Homeostasis</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Blood calcium is tightly controlled</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PTH raises calcium (bone, kidney, gut)</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Calcitonin lowers calcium</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Bone is the body's calcium reservoir</a:t>
            </a:r>
            <a:endParaRPr lang="en-US" sz="1500" dirty="0"/>
          </a:p>
        </p:txBody>
      </p:sp>
      <p:sp>
        <p:nvSpPr>
          <p:cNvPr id="5" name="Shape 3"/>
          <p:cNvSpPr/>
          <p:nvPr/>
        </p:nvSpPr>
        <p:spPr>
          <a:xfrm>
            <a:off x="6005295" y="1335024"/>
            <a:ext cx="5180131"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06/img/img24.jpg">    </p:cNvPr>
          <p:cNvPicPr>
            <a:picLocks noChangeAspect="1"/>
          </p:cNvPicPr>
          <p:nvPr/>
        </p:nvPicPr>
        <p:blipFill>
          <a:blip r:embed="rId1"/>
          <a:stretch>
            <a:fillRect/>
          </a:stretch>
        </p:blipFill>
        <p:spPr>
          <a:xfrm>
            <a:off x="6087591" y="1417320"/>
            <a:ext cx="5015539"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Hormonal control of blood calcium</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6 — Bone Tissue and the Skeletal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6</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Key Takeaways</a:t>
            </a:r>
            <a:endParaRPr lang="en-US" sz="2800" dirty="0"/>
          </a:p>
        </p:txBody>
      </p:sp>
      <p:sp>
        <p:nvSpPr>
          <p:cNvPr id="4" name="Shape 2"/>
          <p:cNvSpPr/>
          <p:nvPr/>
        </p:nvSpPr>
        <p:spPr>
          <a:xfrm>
            <a:off x="548640" y="1819656"/>
            <a:ext cx="237744" cy="237744"/>
          </a:xfrm>
          <a:prstGeom prst="ellipse">
            <a:avLst/>
          </a:prstGeom>
          <a:solidFill>
            <a:srgbClr val="E36414"/>
          </a:solidFill>
          <a:ln/>
        </p:spPr>
      </p:sp>
      <p:sp>
        <p:nvSpPr>
          <p:cNvPr id="5" name="Text 3"/>
          <p:cNvSpPr/>
          <p:nvPr/>
        </p:nvSpPr>
        <p:spPr>
          <a:xfrm>
            <a:off x="960120" y="1737360"/>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skeleton supports, protects, moves the body, stores minerals, and makes blood cells.</a:t>
            </a:r>
            <a:endParaRPr lang="en-US" sz="1550" dirty="0"/>
          </a:p>
        </p:txBody>
      </p:sp>
      <p:sp>
        <p:nvSpPr>
          <p:cNvPr id="6" name="Shape 4"/>
          <p:cNvSpPr/>
          <p:nvPr/>
        </p:nvSpPr>
        <p:spPr>
          <a:xfrm>
            <a:off x="548640" y="2606040"/>
            <a:ext cx="237744" cy="237744"/>
          </a:xfrm>
          <a:prstGeom prst="ellipse">
            <a:avLst/>
          </a:prstGeom>
          <a:solidFill>
            <a:srgbClr val="E36414"/>
          </a:solidFill>
          <a:ln/>
        </p:spPr>
      </p:sp>
      <p:sp>
        <p:nvSpPr>
          <p:cNvPr id="7" name="Text 5"/>
          <p:cNvSpPr/>
          <p:nvPr/>
        </p:nvSpPr>
        <p:spPr>
          <a:xfrm>
            <a:off x="960120" y="2523744"/>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Bones are classified by shape, with structure suited to function.</a:t>
            </a:r>
            <a:endParaRPr lang="en-US" sz="1550" dirty="0"/>
          </a:p>
        </p:txBody>
      </p:sp>
      <p:sp>
        <p:nvSpPr>
          <p:cNvPr id="8" name="Shape 6"/>
          <p:cNvSpPr/>
          <p:nvPr/>
        </p:nvSpPr>
        <p:spPr>
          <a:xfrm>
            <a:off x="548640" y="3392424"/>
            <a:ext cx="237744" cy="237744"/>
          </a:xfrm>
          <a:prstGeom prst="ellipse">
            <a:avLst/>
          </a:prstGeom>
          <a:solidFill>
            <a:srgbClr val="E36414"/>
          </a:solidFill>
          <a:ln/>
        </p:spPr>
      </p:sp>
      <p:sp>
        <p:nvSpPr>
          <p:cNvPr id="9" name="Text 7"/>
          <p:cNvSpPr/>
          <p:nvPr/>
        </p:nvSpPr>
        <p:spPr>
          <a:xfrm>
            <a:off x="960120" y="3310128"/>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Bone is living tissue, built of osteons and continuously remodeled by bone cells.</a:t>
            </a:r>
            <a:endParaRPr lang="en-US" sz="1550" dirty="0"/>
          </a:p>
        </p:txBody>
      </p:sp>
      <p:sp>
        <p:nvSpPr>
          <p:cNvPr id="10" name="Shape 8"/>
          <p:cNvSpPr/>
          <p:nvPr/>
        </p:nvSpPr>
        <p:spPr>
          <a:xfrm>
            <a:off x="548640" y="4178808"/>
            <a:ext cx="237744" cy="237744"/>
          </a:xfrm>
          <a:prstGeom prst="ellipse">
            <a:avLst/>
          </a:prstGeom>
          <a:solidFill>
            <a:srgbClr val="E36414"/>
          </a:solidFill>
          <a:ln/>
        </p:spPr>
      </p:sp>
      <p:sp>
        <p:nvSpPr>
          <p:cNvPr id="11" name="Text 9"/>
          <p:cNvSpPr/>
          <p:nvPr/>
        </p:nvSpPr>
        <p:spPr>
          <a:xfrm>
            <a:off x="960120" y="4096512"/>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Bones form by ossification and lengthen at the epiphyseal plate until adulthood.</a:t>
            </a:r>
            <a:endParaRPr lang="en-US" sz="1550" dirty="0"/>
          </a:p>
        </p:txBody>
      </p:sp>
      <p:sp>
        <p:nvSpPr>
          <p:cNvPr id="12" name="Shape 10"/>
          <p:cNvSpPr/>
          <p:nvPr/>
        </p:nvSpPr>
        <p:spPr>
          <a:xfrm>
            <a:off x="548640" y="4965192"/>
            <a:ext cx="237744" cy="237744"/>
          </a:xfrm>
          <a:prstGeom prst="ellipse">
            <a:avLst/>
          </a:prstGeom>
          <a:solidFill>
            <a:srgbClr val="E36414"/>
          </a:solidFill>
          <a:ln/>
        </p:spPr>
      </p:sp>
      <p:sp>
        <p:nvSpPr>
          <p:cNvPr id="13" name="Text 11"/>
          <p:cNvSpPr/>
          <p:nvPr/>
        </p:nvSpPr>
        <p:spPr>
          <a:xfrm>
            <a:off x="960120" y="4882896"/>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Bone health depends on exercise, nutrition, hormones, and calcium balance.</a:t>
            </a:r>
            <a:endParaRPr lang="en-US" sz="1550" dirty="0"/>
          </a:p>
        </p:txBody>
      </p:sp>
      <p:sp>
        <p:nvSpPr>
          <p:cNvPr id="14" name="Text 12"/>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6 — Bone Tissue and the Skeletal System</a:t>
            </a:r>
            <a:endParaRPr lang="en-US" sz="900" dirty="0"/>
          </a:p>
        </p:txBody>
      </p:sp>
      <p:sp>
        <p:nvSpPr>
          <p:cNvPr id="15" name="Text 13"/>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548640" y="502920"/>
            <a:ext cx="10058400" cy="365760"/>
          </a:xfrm>
          <a:prstGeom prst="rect">
            <a:avLst/>
          </a:prstGeom>
          <a:noFill/>
          <a:ln/>
        </p:spPr>
        <p:txBody>
          <a:bodyPr wrap="square" rtlCol="0" anchor="ctr"/>
          <a:lstStyle/>
          <a:p>
            <a:pPr indent="0" marL="0">
              <a:buNone/>
            </a:pPr>
            <a:r>
              <a:rPr lang="en-US" sz="1300" b="1" spc="300" kern="0" dirty="0">
                <a:solidFill>
                  <a:srgbClr val="E36414"/>
                </a:solidFill>
                <a:latin typeface="Calibri" pitchFamily="34" charset="0"/>
                <a:ea typeface="Calibri" pitchFamily="34" charset="-122"/>
                <a:cs typeface="Calibri" pitchFamily="34" charset="-120"/>
              </a:rPr>
              <a:t>CLINICAL CONNECTIONS</a:t>
            </a:r>
            <a:endParaRPr lang="en-US" sz="1300" dirty="0"/>
          </a:p>
        </p:txBody>
      </p:sp>
      <p:sp>
        <p:nvSpPr>
          <p:cNvPr id="3" name="Text 1"/>
          <p:cNvSpPr/>
          <p:nvPr/>
        </p:nvSpPr>
        <p:spPr>
          <a:xfrm>
            <a:off x="530352" y="841248"/>
            <a:ext cx="10972800" cy="64008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Why Bone Matters in Practical Nursing</a:t>
            </a:r>
            <a:endParaRPr lang="en-US" sz="2600" dirty="0"/>
          </a:p>
        </p:txBody>
      </p:sp>
      <p:sp>
        <p:nvSpPr>
          <p:cNvPr id="4" name="Shape 2"/>
          <p:cNvSpPr/>
          <p:nvPr/>
        </p:nvSpPr>
        <p:spPr>
          <a:xfrm>
            <a:off x="548640" y="1691640"/>
            <a:ext cx="5440680" cy="1417320"/>
          </a:xfrm>
          <a:prstGeom prst="roundRect">
            <a:avLst>
              <a:gd name="adj" fmla="val 5161"/>
            </a:avLst>
          </a:prstGeom>
          <a:solidFill>
            <a:srgbClr val="13586A"/>
          </a:solidFill>
          <a:ln w="12700">
            <a:solidFill>
              <a:srgbClr val="2A7A8C"/>
            </a:solidFill>
            <a:prstDash val="solid"/>
          </a:ln>
        </p:spPr>
      </p:sp>
      <p:sp>
        <p:nvSpPr>
          <p:cNvPr id="5" name="Text 3"/>
          <p:cNvSpPr/>
          <p:nvPr/>
        </p:nvSpPr>
        <p:spPr>
          <a:xfrm>
            <a:off x="777240" y="18196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Fracture Care</a:t>
            </a:r>
            <a:endParaRPr lang="en-US" sz="1600" dirty="0"/>
          </a:p>
        </p:txBody>
      </p:sp>
      <p:sp>
        <p:nvSpPr>
          <p:cNvPr id="6" name="Text 4"/>
          <p:cNvSpPr/>
          <p:nvPr/>
        </p:nvSpPr>
        <p:spPr>
          <a:xfrm>
            <a:off x="777240" y="21945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Knowing fracture types and healing stages guides immobilization and recovery.</a:t>
            </a:r>
            <a:endParaRPr lang="en-US" sz="1250" dirty="0"/>
          </a:p>
        </p:txBody>
      </p:sp>
      <p:sp>
        <p:nvSpPr>
          <p:cNvPr id="7" name="Shape 5"/>
          <p:cNvSpPr/>
          <p:nvPr/>
        </p:nvSpPr>
        <p:spPr>
          <a:xfrm>
            <a:off x="6172200" y="1691640"/>
            <a:ext cx="5440680" cy="1417320"/>
          </a:xfrm>
          <a:prstGeom prst="roundRect">
            <a:avLst>
              <a:gd name="adj" fmla="val 5161"/>
            </a:avLst>
          </a:prstGeom>
          <a:solidFill>
            <a:srgbClr val="13586A"/>
          </a:solidFill>
          <a:ln w="12700">
            <a:solidFill>
              <a:srgbClr val="2A7A8C"/>
            </a:solidFill>
            <a:prstDash val="solid"/>
          </a:ln>
        </p:spPr>
      </p:sp>
      <p:sp>
        <p:nvSpPr>
          <p:cNvPr id="8" name="Text 6"/>
          <p:cNvSpPr/>
          <p:nvPr/>
        </p:nvSpPr>
        <p:spPr>
          <a:xfrm>
            <a:off x="6400800" y="18196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Osteoporosis</a:t>
            </a:r>
            <a:endParaRPr lang="en-US" sz="1600" dirty="0"/>
          </a:p>
        </p:txBody>
      </p:sp>
      <p:sp>
        <p:nvSpPr>
          <p:cNvPr id="9" name="Text 7"/>
          <p:cNvSpPr/>
          <p:nvPr/>
        </p:nvSpPr>
        <p:spPr>
          <a:xfrm>
            <a:off x="6400800" y="21945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Bone loss with age raises fracture risk — central to fall prevention.</a:t>
            </a:r>
            <a:endParaRPr lang="en-US" sz="1250" dirty="0"/>
          </a:p>
        </p:txBody>
      </p:sp>
      <p:sp>
        <p:nvSpPr>
          <p:cNvPr id="10" name="Shape 8"/>
          <p:cNvSpPr/>
          <p:nvPr/>
        </p:nvSpPr>
        <p:spPr>
          <a:xfrm>
            <a:off x="548640" y="3264408"/>
            <a:ext cx="5440680" cy="1417320"/>
          </a:xfrm>
          <a:prstGeom prst="roundRect">
            <a:avLst>
              <a:gd name="adj" fmla="val 5161"/>
            </a:avLst>
          </a:prstGeom>
          <a:solidFill>
            <a:srgbClr val="13586A"/>
          </a:solidFill>
          <a:ln w="12700">
            <a:solidFill>
              <a:srgbClr val="2A7A8C"/>
            </a:solidFill>
            <a:prstDash val="solid"/>
          </a:ln>
        </p:spPr>
      </p:sp>
      <p:sp>
        <p:nvSpPr>
          <p:cNvPr id="11" name="Text 9"/>
          <p:cNvSpPr/>
          <p:nvPr/>
        </p:nvSpPr>
        <p:spPr>
          <a:xfrm>
            <a:off x="777240" y="3392424"/>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Calcium &amp; Vitamin D</a:t>
            </a:r>
            <a:endParaRPr lang="en-US" sz="1600" dirty="0"/>
          </a:p>
        </p:txBody>
      </p:sp>
      <p:sp>
        <p:nvSpPr>
          <p:cNvPr id="12" name="Text 10"/>
          <p:cNvSpPr/>
          <p:nvPr/>
        </p:nvSpPr>
        <p:spPr>
          <a:xfrm>
            <a:off x="777240" y="3767328"/>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Essential nutrients for bone and for nerve and muscle function.</a:t>
            </a:r>
            <a:endParaRPr lang="en-US" sz="1250" dirty="0"/>
          </a:p>
        </p:txBody>
      </p:sp>
      <p:sp>
        <p:nvSpPr>
          <p:cNvPr id="13" name="Shape 11"/>
          <p:cNvSpPr/>
          <p:nvPr/>
        </p:nvSpPr>
        <p:spPr>
          <a:xfrm>
            <a:off x="6172200" y="3264408"/>
            <a:ext cx="5440680" cy="1417320"/>
          </a:xfrm>
          <a:prstGeom prst="roundRect">
            <a:avLst>
              <a:gd name="adj" fmla="val 5161"/>
            </a:avLst>
          </a:prstGeom>
          <a:solidFill>
            <a:srgbClr val="13586A"/>
          </a:solidFill>
          <a:ln w="12700">
            <a:solidFill>
              <a:srgbClr val="2A7A8C"/>
            </a:solidFill>
            <a:prstDash val="solid"/>
          </a:ln>
        </p:spPr>
      </p:sp>
      <p:sp>
        <p:nvSpPr>
          <p:cNvPr id="14" name="Text 12"/>
          <p:cNvSpPr/>
          <p:nvPr/>
        </p:nvSpPr>
        <p:spPr>
          <a:xfrm>
            <a:off x="6400800" y="3392424"/>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Blood Cell Formation</a:t>
            </a:r>
            <a:endParaRPr lang="en-US" sz="1600" dirty="0"/>
          </a:p>
        </p:txBody>
      </p:sp>
      <p:sp>
        <p:nvSpPr>
          <p:cNvPr id="15" name="Text 13"/>
          <p:cNvSpPr/>
          <p:nvPr/>
        </p:nvSpPr>
        <p:spPr>
          <a:xfrm>
            <a:off x="6400800" y="3767328"/>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Red marrow makes the blood cells you monitor in lab work.</a:t>
            </a:r>
            <a:endParaRPr lang="en-US" sz="1250" dirty="0"/>
          </a:p>
        </p:txBody>
      </p:sp>
      <p:sp>
        <p:nvSpPr>
          <p:cNvPr id="16" name="Shape 14"/>
          <p:cNvSpPr/>
          <p:nvPr/>
        </p:nvSpPr>
        <p:spPr>
          <a:xfrm>
            <a:off x="548640" y="4837176"/>
            <a:ext cx="5440680" cy="1417320"/>
          </a:xfrm>
          <a:prstGeom prst="roundRect">
            <a:avLst>
              <a:gd name="adj" fmla="val 5161"/>
            </a:avLst>
          </a:prstGeom>
          <a:solidFill>
            <a:srgbClr val="13586A"/>
          </a:solidFill>
          <a:ln w="12700">
            <a:solidFill>
              <a:srgbClr val="2A7A8C"/>
            </a:solidFill>
            <a:prstDash val="solid"/>
          </a:ln>
        </p:spPr>
      </p:sp>
      <p:sp>
        <p:nvSpPr>
          <p:cNvPr id="17" name="Text 15"/>
          <p:cNvSpPr/>
          <p:nvPr/>
        </p:nvSpPr>
        <p:spPr>
          <a:xfrm>
            <a:off x="777240" y="4965192"/>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Growth Plates</a:t>
            </a:r>
            <a:endParaRPr lang="en-US" sz="1600" dirty="0"/>
          </a:p>
        </p:txBody>
      </p:sp>
      <p:sp>
        <p:nvSpPr>
          <p:cNvPr id="18" name="Text 16"/>
          <p:cNvSpPr/>
          <p:nvPr/>
        </p:nvSpPr>
        <p:spPr>
          <a:xfrm>
            <a:off x="777240" y="5340096"/>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Pediatric growth-plate injuries require special attention.</a:t>
            </a:r>
            <a:endParaRPr lang="en-US" sz="1250" dirty="0"/>
          </a:p>
        </p:txBody>
      </p:sp>
      <p:sp>
        <p:nvSpPr>
          <p:cNvPr id="19" name="Shape 17"/>
          <p:cNvSpPr/>
          <p:nvPr/>
        </p:nvSpPr>
        <p:spPr>
          <a:xfrm>
            <a:off x="6172200" y="4837176"/>
            <a:ext cx="5440680" cy="1417320"/>
          </a:xfrm>
          <a:prstGeom prst="roundRect">
            <a:avLst>
              <a:gd name="adj" fmla="val 5161"/>
            </a:avLst>
          </a:prstGeom>
          <a:solidFill>
            <a:srgbClr val="13586A"/>
          </a:solidFill>
          <a:ln w="12700">
            <a:solidFill>
              <a:srgbClr val="2A7A8C"/>
            </a:solidFill>
            <a:prstDash val="solid"/>
          </a:ln>
        </p:spPr>
      </p:sp>
      <p:sp>
        <p:nvSpPr>
          <p:cNvPr id="20" name="Text 18"/>
          <p:cNvSpPr/>
          <p:nvPr/>
        </p:nvSpPr>
        <p:spPr>
          <a:xfrm>
            <a:off x="6400800" y="4965192"/>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Mobility</a:t>
            </a:r>
            <a:endParaRPr lang="en-US" sz="1600" dirty="0"/>
          </a:p>
        </p:txBody>
      </p:sp>
      <p:sp>
        <p:nvSpPr>
          <p:cNvPr id="21" name="Text 19"/>
          <p:cNvSpPr/>
          <p:nvPr/>
        </p:nvSpPr>
        <p:spPr>
          <a:xfrm>
            <a:off x="6400800" y="5340096"/>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Bone strength underpins safe movement and weight-bearing.</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2026-06-23T20:13:17Z</dcterms:created>
  <dcterms:modified xsi:type="dcterms:W3CDTF">2026-06-23T20:13:17Z</dcterms:modified>
</cp:coreProperties>
</file>