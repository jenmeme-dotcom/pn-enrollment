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31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chapter: muscles are organs of movement, posture, and protection. Preview the two big organizing ideas — how muscles interact to produce coordinated movement, and how the body's named muscles are grouped into axial (head, neck, trunk) and appendicular (limb) regions. Connect to practical nursing throughout: mobility, breathing, swallowing, and continence all depend on this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muscles work in functional groups, never alone. The agonist shortens to create movement while the antagonist lengthens under control to smooth and brake the motion. Synergists add force or neutralize unwanted movement; fixators hold the origin steady. Tie to patient mobility — weakness or spasticity in one group disrupts the whole pairing.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geometry of fascicles is a trade-off: parallel and fusiform muscles give greater range and speed; pennate arrangements pack more fibers per area for greater force but shorter range. Circular sphincters control openings (orbicularis oris, anal sphincter). Convergent muscles such as pectoralis major allow a versatile pull from several directions.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levers to everyday patient movement. A lever is a rigid bar (bone) moving around a fulcrum (joint); muscle supplies the effort against a load. Third-class levers — most common, e.g., the biceps at the elbow — favor speed and range of motion over mechanical advantage. This is why we cue patients to use large, mechanically efficient muscle groups during transfers.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naming as a decoding skill rather than rote memorization. Each criterion is a clue: size (maximus/minimus), shape (deltoid, trapezius), direction (rectus, transversus, oblique), location (tibialis anterior), action (flexor, extensor), and attachments (sternocleidomastoid). Once students recognize the roots, hundreds of muscle names become predictable.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two or three examples live. Have students translate a name aloud before you reveal the answer. This table is handout-worthy — encourage students to keep it nearby while learning the regional muscles in 11.3 through 11.6.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Facial expression muscles are unique: they insert into skin and other muscles, so contraction moves the face rather than a joint. All are supplied by CN VII. Connect to assessment — asymmetry, an inability to close one eye, or a drooping mouth signals facial-nerve involvement (Bell's palsy, stroke).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study reference. Encourage students to learn muscles in functional clusters (smiling, frowning, eye closure) rather than alphabetically, and reinforce that they all share one cranial nerve.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here. Extraocular muscles (CN III, IV, VI) move the eye in conjugate gaze; disconjugate movement suggests a cranial-nerve palsy. The muscles of mastication (CN V3) close and grind the jaw — masseter and temporalis are easily palpated when a patient clenches.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Tongue movement underlies safe swallowing and clear speech — directly relevant to aspiration risk. Extrinsic muscles share the '-glossus' suffix (genioglossus, styloglossus, hyoglossus). CN XII palsy makes the tongue deviate toward the weak side on protrusion.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swallowing connection. The tongue propels the bolus while pharyngeal and suprahyoid muscles elevate the larynx and protect the airway. This is the anatomical basis for aspiration precautions and swallow assessments in geriatric and post-stroke care.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consolidation slide — keep it brief in lecture and point students to it for self-study. Emphasize linking each muscle group to its cranial nerve.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hyoid is the anchor for swallowing mechanics. Suprahyoids raise the larynx during the pharyngeal phase; infrahyoids return it. These strap muscles also frame the thyroid and trachea — useful surface landmarks for airway and neck assessment.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SCM and trapezius are CN XI (accessory) test muscles — shrug and head-turn against resistance. The scalenes are accessory muscles of respiration, recruited in respiratory distress. Tie the deep neck muscles to posture-related pain.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erector spinae run the length of the spine in three columns and are the primary extensors and postural stabilizers of the trunk. Most mechanical low-back pain involves strain here — reinforce body-mechanics teaching (lift with the legs, keep the load close).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abdominal wall is layered for strength and supports core stability plus forced expiration, coughing, defecation, and childbirth via increased intra-abdominal pressure. The crisscross orientation of the obliques and transversus resists herniation. Connect to post-op coughing and splinting teaching.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diaphragm is THE key respiratory muscle. On contraction it descends, enlarging the thorax and drawing air in; relaxation drives passive expiration. Phrenic nerve roots C3–C5 are clinically vital — high cervical injury can stop spontaneous breathing. Point out the openings for the aorta, esophagus, and inferior vena cava.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Intercostals fine-tune the rib cage during breathing: external elevate ribs to expand the chest, internal aid forced expiration. When patients labor to breathe, accessory muscles are recruited and you may see intercostal retractions — an important assessment finding.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pelvic floor is a muscular hammock supporting the pelvic organs and maintaining continence. Childbirth, aging, and chronic straining weaken it, leading to prolapse and incontinence. This grounds pelvic-floor (Kegel) teaching and post-partum and geriatric care.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male and female pelvic floors — the female floor has the additional vaginal opening, a factor in obstetric injury. The pelvic diaphragm counteracts intra-abdominal pressure spikes (coughing, lifting). Reinforce its role across continence, organ support, and sexual function.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orientation to the upper limb. The pectoral girdle is mobile, so its muscles must first stabilize the scapula before the arm can move powerfully. Scapular dyskinesis underlies many shoulder complaints.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muscles glide the scapula across the rib cage. Serratus anterior protracts and holds the scapula flat; its weakness (long thoracic nerve injury) causes a winged scapula. Trapezius and rhomboids retract and elevate. Stable scapular positioning is essential before loading the shoulder.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shoulder trades stability for mobility. Large prime movers (deltoid, pectoralis major, latissimus dorsi) generate power, while the four rotator cuff muscles — Supraspinatus, Infraspinatus, Teres minor, Subscapularis (SITS) — hold the humeral head in the shallow glenoid. Rotator cuff tears are very common.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consolidation. Encourage grouping by action and separating stabilizers (the cuff) from prime movers. Tie to range-of-motion assessment.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Elbow flexion (biceps, brachialis, brachioradialis) versus extension (triceps) is a clean agonist/antagonist pair that reinforces 11.1. Pronation and supination rotate the radius over the ulna. Note the anterior (flexor) and posterior (extensor) compartments — relevant to compartment syndrome.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forearm. Emphasize the compartment concept and that most fine hand control comes from forearm muscles acting through long tendons. Nerve supply matters when assessing injuries.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forearm-to-hand story. The flexor retinaculum forms the carpal tunnel; median-nerve compression there causes carpal tunnel syndrome (numbness, thenar weakness) — a common clinical correlate.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Intrinsic hand muscles give precision — opposition of the thumb is the hallmark of human grasp. Thenar muscles (median nerve) oppose the thumb; interossei and lumbricals (mostly ulnar) abduct and adduct the fingers. Nerve injury produces characteristic deformities such as ape hand or claw hand.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Hip muscles drive standing, walking, and stair-climbing. Gluteus maximus is the powerful hip extensor; medius and minimus stabilize the pelvis during single-leg stance (a positive Trendelenburg sign indicates weakness). Iliopsoas flexes the hip. Gluteus medius is the classic IM injection site (ventrogluteal).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consolidation. Highlight the pelvic stabilizers and their role in balance and fall prevention in older adults.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Quadriceps (anterior) extend the knee and are crucial for sit-to-stand and stair climbing; hamstrings (posterior) flex the knee. Adductors stabilize the medial thigh. These big muscles are what patients use in transfers — strength here predicts mobility.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Dorsiflexion (tibialis anterior) clears the foot during the swing phase; weakness causes foot drop and a steppage gait. Plantarflexors (gastrocnemius and soleus via the Achilles tendon) propel walking and push-off. The calf muscle pump also aids venous return — relevant to DVT prevention.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Reinforce the compartment model and that lower-leg compartment syndrome is a surgical emergency (the five P's). Tie the tendons to ankle movement.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Intrinsic foot muscles maintain the arches and adjust to uneven ground for balance. Their support of the longitudinal arch is relevant in diabetic and geriatric foot care, where structural breakdown leads to ulcers and instability.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reference table. Keep brief and point students to it for foot-anatomy review. Connect to skin and foot-integrity assessment.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chapter's arc: from how muscles interact, to how they are named, to a regional tour of the body's axial and appendicular muscles. Remind students that every muscle group connects to a patient-care priority — mobility, breathing, swallowing, or continence.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anchoring the anatomy to bedside priorities. Ask students to name a muscle group involved in each scenario: a patient in respiratory distress, a transfer, a swallow evaluation, and incontinence care. This is the bridge from A&amp;P (PN 104) into Fundamentals of Nursing (PN 105).</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a:effectLst/>
      </p:bgPr>
    </p:bg>
    <p:spTree>
      <p:nvGrpSpPr>
        <p:cNvPr id="1" name=""/>
        <p:cNvGrpSpPr/>
        <p:nvPr/>
      </p:nvGrpSpPr>
      <p:grpSpPr>
        <a:xfrm>
          <a:off x="0" y="0"/>
          <a:ext cx="0" cy="0"/>
          <a:chOff x="0" y="0"/>
          <a:chExt cx="0" cy="0"/>
        </a:xfrm>
      </p:grpSpPr>
      <p:sp>
        <p:nvSpPr>
          <p:cNvPr id="2" name="Text 0"/>
          <p:cNvSpPr/>
          <p:nvPr/>
        </p:nvSpPr>
        <p:spPr>
          <a:xfrm>
            <a:off x="731520" y="1371600"/>
            <a:ext cx="6400800" cy="457200"/>
          </a:xfrm>
          <a:prstGeom prst="rect">
            <a:avLst/>
          </a:prstGeom>
          <a:noFill/>
          <a:ln/>
        </p:spPr>
        <p:txBody>
          <a:bodyPr wrap="square" rtlCol="0" anchor="ctr"/>
          <a:lstStyle/>
          <a:p>
            <a:pPr marL="0" indent="0">
              <a:buNone/>
            </a:pPr>
            <a:r>
              <a:rPr lang="en-US" sz="1800" b="1" kern="0" spc="400" dirty="0">
                <a:solidFill>
                  <a:srgbClr val="E36414"/>
                </a:solidFill>
                <a:latin typeface="Calibri" pitchFamily="34" charset="0"/>
                <a:ea typeface="Calibri" pitchFamily="34" charset="-122"/>
                <a:cs typeface="Calibri" pitchFamily="34" charset="-120"/>
              </a:rPr>
              <a:t>CHAPTER 11</a:t>
            </a:r>
            <a:endParaRPr lang="en-US" sz="1800" dirty="0"/>
          </a:p>
        </p:txBody>
      </p:sp>
      <p:sp>
        <p:nvSpPr>
          <p:cNvPr id="3" name="Text 1"/>
          <p:cNvSpPr/>
          <p:nvPr/>
        </p:nvSpPr>
        <p:spPr>
          <a:xfrm>
            <a:off x="713232" y="1828800"/>
            <a:ext cx="6766560" cy="1645920"/>
          </a:xfrm>
          <a:prstGeom prst="rect">
            <a:avLst/>
          </a:prstGeom>
          <a:noFill/>
          <a:ln/>
        </p:spPr>
        <p:txBody>
          <a:bodyPr wrap="square" rtlCol="0" anchor="ctr"/>
          <a:lstStyle/>
          <a:p>
            <a:pPr marL="0" indent="0">
              <a:buNone/>
            </a:pPr>
            <a:r>
              <a:rPr lang="en-US" sz="5800" b="1" dirty="0">
                <a:solidFill>
                  <a:srgbClr val="FFFFFF"/>
                </a:solidFill>
                <a:latin typeface="Georgia" pitchFamily="34" charset="0"/>
                <a:ea typeface="Georgia" pitchFamily="34" charset="-122"/>
                <a:cs typeface="Georgia" pitchFamily="34" charset="-120"/>
              </a:rPr>
              <a:t>The Muscular System</a:t>
            </a:r>
            <a:endParaRPr lang="en-US" sz="5800" dirty="0"/>
          </a:p>
        </p:txBody>
      </p:sp>
      <p:sp>
        <p:nvSpPr>
          <p:cNvPr id="4" name="Text 2"/>
          <p:cNvSpPr/>
          <p:nvPr/>
        </p:nvSpPr>
        <p:spPr>
          <a:xfrm>
            <a:off x="749808" y="3611880"/>
            <a:ext cx="6309360" cy="914400"/>
          </a:xfrm>
          <a:prstGeom prst="rect">
            <a:avLst/>
          </a:prstGeom>
          <a:noFill/>
          <a:ln/>
        </p:spPr>
        <p:txBody>
          <a:bodyPr wrap="square" rtlCol="0" anchor="ctr"/>
          <a:lstStyle/>
          <a:p>
            <a:pPr marL="0" indent="0">
              <a:lnSpc>
                <a:spcPct val="110000"/>
              </a:lnSpc>
              <a:buNone/>
            </a:pPr>
            <a:r>
              <a:rPr lang="en-US" sz="1700" dirty="0">
                <a:solidFill>
                  <a:srgbClr val="CFE3E7"/>
                </a:solidFill>
                <a:latin typeface="Calibri" pitchFamily="34" charset="0"/>
                <a:ea typeface="Calibri" pitchFamily="34" charset="-122"/>
                <a:cs typeface="Calibri" pitchFamily="34" charset="-120"/>
              </a:rPr>
              <a:t>Gross anatomy of skeletal muscle — interactions, naming, and the</a:t>
            </a:r>
            <a:endParaRPr lang="en-US" sz="1700" dirty="0"/>
          </a:p>
          <a:p>
            <a:pPr marL="0" indent="0">
              <a:lnSpc>
                <a:spcPct val="110000"/>
              </a:lnSpc>
              <a:buNone/>
            </a:pPr>
            <a:r>
              <a:rPr lang="en-US" sz="1700" dirty="0">
                <a:solidFill>
                  <a:srgbClr val="CFE3E7"/>
                </a:solidFill>
                <a:latin typeface="Calibri" pitchFamily="34" charset="0"/>
                <a:ea typeface="Calibri" pitchFamily="34" charset="-122"/>
                <a:cs typeface="Calibri" pitchFamily="34" charset="-120"/>
              </a:rPr>
              <a:t>axial and appendicular muscles of the body.</a:t>
            </a:r>
            <a:endParaRPr lang="en-US" sz="1700" dirty="0"/>
          </a:p>
        </p:txBody>
      </p:sp>
      <p:sp>
        <p:nvSpPr>
          <p:cNvPr id="5" name="Text 3"/>
          <p:cNvSpPr/>
          <p:nvPr/>
        </p:nvSpPr>
        <p:spPr>
          <a:xfrm>
            <a:off x="749808" y="5806440"/>
            <a:ext cx="7315200" cy="320040"/>
          </a:xfrm>
          <a:prstGeom prst="rect">
            <a:avLst/>
          </a:prstGeom>
          <a:noFill/>
          <a:ln/>
        </p:spPr>
        <p:txBody>
          <a:bodyPr wrap="square" rtlCol="0" anchor="ctr"/>
          <a:lstStyle/>
          <a:p>
            <a:pPr marL="0" indent="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marL="0" indent="0">
              <a:buNone/>
            </a:pPr>
            <a:r>
              <a:rPr lang="en-US" sz="1100" b="1" kern="0" spc="30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690104" y="1686576"/>
            <a:ext cx="4096512" cy="3667728"/>
          </a:xfrm>
          <a:prstGeom prst="roundRect">
            <a:avLst>
              <a:gd name="adj" fmla="val 1496"/>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8" name="Image 0" descr="img/img04.jpg"/>
          <p:cNvPicPr>
            <a:picLocks noChangeAspect="1"/>
          </p:cNvPicPr>
          <p:nvPr/>
        </p:nvPicPr>
        <p:blipFill>
          <a:blip r:embed="rId3"/>
          <a:stretch>
            <a:fillRect/>
          </a:stretch>
        </p:blipFill>
        <p:spPr>
          <a:xfrm>
            <a:off x="7772400" y="1768872"/>
            <a:ext cx="3931920" cy="35031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CHAPTER 11</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Learning Objectives</a:t>
            </a:r>
            <a:endParaRPr lang="en-US" sz="3000" dirty="0"/>
          </a:p>
        </p:txBody>
      </p:sp>
      <p:sp>
        <p:nvSpPr>
          <p:cNvPr id="4" name="Shape 2"/>
          <p:cNvSpPr/>
          <p:nvPr/>
        </p:nvSpPr>
        <p:spPr>
          <a:xfrm>
            <a:off x="548640" y="1600200"/>
            <a:ext cx="457200" cy="457200"/>
          </a:xfrm>
          <a:prstGeom prst="ellipse">
            <a:avLst/>
          </a:prstGeom>
          <a:solidFill>
            <a:srgbClr val="0F4C5C"/>
          </a:solidFill>
          <a:ln/>
        </p:spPr>
        <p:txBody>
          <a:bodyPr/>
          <a:lstStyle/>
          <a:p>
            <a:endParaRPr lang="en-US"/>
          </a:p>
        </p:txBody>
      </p:sp>
      <p:sp>
        <p:nvSpPr>
          <p:cNvPr id="5" name="Text 3"/>
          <p:cNvSpPr/>
          <p:nvPr/>
        </p:nvSpPr>
        <p:spPr>
          <a:xfrm>
            <a:off x="548640" y="160020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188720" y="1581912"/>
            <a:ext cx="5486400" cy="502920"/>
          </a:xfrm>
          <a:prstGeom prst="rect">
            <a:avLst/>
          </a:prstGeom>
          <a:noFill/>
          <a:ln/>
        </p:spPr>
        <p:txBody>
          <a:bodyPr wrap="square" rtlCol="0" anchor="ctr"/>
          <a:lstStyle/>
          <a:p>
            <a:pPr marL="0" indent="0">
              <a:buNone/>
            </a:pPr>
            <a:r>
              <a:rPr lang="en-US" sz="1500" dirty="0">
                <a:solidFill>
                  <a:srgbClr val="23363B"/>
                </a:solidFill>
                <a:latin typeface="Calibri" pitchFamily="34" charset="0"/>
                <a:ea typeface="Calibri" pitchFamily="34" charset="-122"/>
                <a:cs typeface="Calibri" pitchFamily="34" charset="-120"/>
              </a:rPr>
              <a:t>Describe the actions and roles of agonists and antagonists</a:t>
            </a:r>
            <a:endParaRPr lang="en-US" sz="1500" dirty="0"/>
          </a:p>
        </p:txBody>
      </p:sp>
      <p:sp>
        <p:nvSpPr>
          <p:cNvPr id="7" name="Shape 5"/>
          <p:cNvSpPr/>
          <p:nvPr/>
        </p:nvSpPr>
        <p:spPr>
          <a:xfrm>
            <a:off x="548640" y="2350008"/>
            <a:ext cx="457200" cy="457200"/>
          </a:xfrm>
          <a:prstGeom prst="ellipse">
            <a:avLst/>
          </a:prstGeom>
          <a:solidFill>
            <a:srgbClr val="0F4C5C"/>
          </a:solidFill>
          <a:ln/>
        </p:spPr>
        <p:txBody>
          <a:bodyPr/>
          <a:lstStyle/>
          <a:p>
            <a:endParaRPr lang="en-US"/>
          </a:p>
        </p:txBody>
      </p:sp>
      <p:sp>
        <p:nvSpPr>
          <p:cNvPr id="8" name="Text 6"/>
          <p:cNvSpPr/>
          <p:nvPr/>
        </p:nvSpPr>
        <p:spPr>
          <a:xfrm>
            <a:off x="548640" y="2350008"/>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188720" y="2331720"/>
            <a:ext cx="5486400" cy="502920"/>
          </a:xfrm>
          <a:prstGeom prst="rect">
            <a:avLst/>
          </a:prstGeom>
          <a:noFill/>
          <a:ln/>
        </p:spPr>
        <p:txBody>
          <a:bodyPr wrap="square" rtlCol="0" anchor="ctr"/>
          <a:lstStyle/>
          <a:p>
            <a:pPr marL="0" indent="0">
              <a:buNone/>
            </a:pPr>
            <a:r>
              <a:rPr lang="en-US" sz="1500" dirty="0">
                <a:solidFill>
                  <a:srgbClr val="23363B"/>
                </a:solidFill>
                <a:latin typeface="Calibri" pitchFamily="34" charset="0"/>
                <a:ea typeface="Calibri" pitchFamily="34" charset="-122"/>
                <a:cs typeface="Calibri" pitchFamily="34" charset="-120"/>
              </a:rPr>
              <a:t>Explain the structure of muscle fascicles and their role in generating force</a:t>
            </a:r>
            <a:endParaRPr lang="en-US" sz="1500" dirty="0"/>
          </a:p>
        </p:txBody>
      </p:sp>
      <p:sp>
        <p:nvSpPr>
          <p:cNvPr id="10" name="Shape 8"/>
          <p:cNvSpPr/>
          <p:nvPr/>
        </p:nvSpPr>
        <p:spPr>
          <a:xfrm>
            <a:off x="548640" y="3099816"/>
            <a:ext cx="457200" cy="457200"/>
          </a:xfrm>
          <a:prstGeom prst="ellipse">
            <a:avLst/>
          </a:prstGeom>
          <a:solidFill>
            <a:srgbClr val="0F4C5C"/>
          </a:solidFill>
          <a:ln/>
        </p:spPr>
        <p:txBody>
          <a:bodyPr/>
          <a:lstStyle/>
          <a:p>
            <a:endParaRPr lang="en-US"/>
          </a:p>
        </p:txBody>
      </p:sp>
      <p:sp>
        <p:nvSpPr>
          <p:cNvPr id="11" name="Text 9"/>
          <p:cNvSpPr/>
          <p:nvPr/>
        </p:nvSpPr>
        <p:spPr>
          <a:xfrm>
            <a:off x="548640" y="3099816"/>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188720" y="3081528"/>
            <a:ext cx="5486400" cy="502920"/>
          </a:xfrm>
          <a:prstGeom prst="rect">
            <a:avLst/>
          </a:prstGeom>
          <a:noFill/>
          <a:ln/>
        </p:spPr>
        <p:txBody>
          <a:bodyPr wrap="square" rtlCol="0" anchor="ctr"/>
          <a:lstStyle/>
          <a:p>
            <a:pPr marL="0" indent="0">
              <a:buNone/>
            </a:pPr>
            <a:r>
              <a:rPr lang="en-US" sz="1500" dirty="0">
                <a:solidFill>
                  <a:srgbClr val="23363B"/>
                </a:solidFill>
                <a:latin typeface="Calibri" pitchFamily="34" charset="0"/>
                <a:ea typeface="Calibri" pitchFamily="34" charset="-122"/>
                <a:cs typeface="Calibri" pitchFamily="34" charset="-120"/>
              </a:rPr>
              <a:t>Explain the criteria used to name skeletal muscles</a:t>
            </a:r>
            <a:endParaRPr lang="en-US" sz="1500" dirty="0"/>
          </a:p>
        </p:txBody>
      </p:sp>
      <p:sp>
        <p:nvSpPr>
          <p:cNvPr id="13" name="Shape 11"/>
          <p:cNvSpPr/>
          <p:nvPr/>
        </p:nvSpPr>
        <p:spPr>
          <a:xfrm>
            <a:off x="548640" y="3849624"/>
            <a:ext cx="457200" cy="457200"/>
          </a:xfrm>
          <a:prstGeom prst="ellipse">
            <a:avLst/>
          </a:prstGeom>
          <a:solidFill>
            <a:srgbClr val="0F4C5C"/>
          </a:solidFill>
          <a:ln/>
        </p:spPr>
        <p:txBody>
          <a:bodyPr/>
          <a:lstStyle/>
          <a:p>
            <a:endParaRPr lang="en-US"/>
          </a:p>
        </p:txBody>
      </p:sp>
      <p:sp>
        <p:nvSpPr>
          <p:cNvPr id="14" name="Text 12"/>
          <p:cNvSpPr/>
          <p:nvPr/>
        </p:nvSpPr>
        <p:spPr>
          <a:xfrm>
            <a:off x="548640" y="3849624"/>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5" name="Text 13"/>
          <p:cNvSpPr/>
          <p:nvPr/>
        </p:nvSpPr>
        <p:spPr>
          <a:xfrm>
            <a:off x="1188720" y="3831336"/>
            <a:ext cx="5486400" cy="502920"/>
          </a:xfrm>
          <a:prstGeom prst="rect">
            <a:avLst/>
          </a:prstGeom>
          <a:noFill/>
          <a:ln/>
        </p:spPr>
        <p:txBody>
          <a:bodyPr wrap="square" rtlCol="0" anchor="ctr"/>
          <a:lstStyle/>
          <a:p>
            <a:pPr marL="0" indent="0">
              <a:buNone/>
            </a:pPr>
            <a:r>
              <a:rPr lang="en-US" sz="1500" dirty="0">
                <a:solidFill>
                  <a:srgbClr val="23363B"/>
                </a:solidFill>
                <a:latin typeface="Calibri" pitchFamily="34" charset="0"/>
                <a:ea typeface="Calibri" pitchFamily="34" charset="-122"/>
                <a:cs typeface="Calibri" pitchFamily="34" charset="-120"/>
              </a:rPr>
              <a:t>Identify the major skeletal muscles and their actions on the body</a:t>
            </a:r>
            <a:endParaRPr lang="en-US" sz="1500" dirty="0"/>
          </a:p>
        </p:txBody>
      </p:sp>
      <p:sp>
        <p:nvSpPr>
          <p:cNvPr id="16" name="Shape 14"/>
          <p:cNvSpPr/>
          <p:nvPr/>
        </p:nvSpPr>
        <p:spPr>
          <a:xfrm>
            <a:off x="548640" y="4599432"/>
            <a:ext cx="457200" cy="457200"/>
          </a:xfrm>
          <a:prstGeom prst="ellipse">
            <a:avLst/>
          </a:prstGeom>
          <a:solidFill>
            <a:srgbClr val="0F4C5C"/>
          </a:solidFill>
          <a:ln/>
        </p:spPr>
        <p:txBody>
          <a:bodyPr/>
          <a:lstStyle/>
          <a:p>
            <a:endParaRPr lang="en-US"/>
          </a:p>
        </p:txBody>
      </p:sp>
      <p:sp>
        <p:nvSpPr>
          <p:cNvPr id="17" name="Text 15"/>
          <p:cNvSpPr/>
          <p:nvPr/>
        </p:nvSpPr>
        <p:spPr>
          <a:xfrm>
            <a:off x="548640" y="4599432"/>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8" name="Text 16"/>
          <p:cNvSpPr/>
          <p:nvPr/>
        </p:nvSpPr>
        <p:spPr>
          <a:xfrm>
            <a:off x="1188720" y="4581144"/>
            <a:ext cx="5486400" cy="502920"/>
          </a:xfrm>
          <a:prstGeom prst="rect">
            <a:avLst/>
          </a:prstGeom>
          <a:noFill/>
          <a:ln/>
        </p:spPr>
        <p:txBody>
          <a:bodyPr wrap="square" rtlCol="0" anchor="ctr"/>
          <a:lstStyle/>
          <a:p>
            <a:pPr marL="0" indent="0">
              <a:buNone/>
            </a:pPr>
            <a:r>
              <a:rPr lang="en-US" sz="1500" dirty="0">
                <a:solidFill>
                  <a:srgbClr val="23363B"/>
                </a:solidFill>
                <a:latin typeface="Calibri" pitchFamily="34" charset="0"/>
                <a:ea typeface="Calibri" pitchFamily="34" charset="-122"/>
                <a:cs typeface="Calibri" pitchFamily="34" charset="-120"/>
              </a:rPr>
              <a:t>Identify the origins and insertions of muscles and the prime movers</a:t>
            </a:r>
            <a:endParaRPr lang="en-US" sz="1500" dirty="0"/>
          </a:p>
        </p:txBody>
      </p:sp>
      <p:sp>
        <p:nvSpPr>
          <p:cNvPr id="19" name="Shape 17"/>
          <p:cNvSpPr/>
          <p:nvPr/>
        </p:nvSpPr>
        <p:spPr>
          <a:xfrm>
            <a:off x="6958584" y="1774727"/>
            <a:ext cx="4828032" cy="2302706"/>
          </a:xfrm>
          <a:prstGeom prst="roundRect">
            <a:avLst>
              <a:gd name="adj" fmla="val 2383"/>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20" name="Image 0" descr="img/img01.jpg"/>
          <p:cNvPicPr>
            <a:picLocks noChangeAspect="1"/>
          </p:cNvPicPr>
          <p:nvPr/>
        </p:nvPicPr>
        <p:blipFill>
          <a:blip r:embed="rId3"/>
          <a:stretch>
            <a:fillRect/>
          </a:stretch>
        </p:blipFill>
        <p:spPr>
          <a:xfrm>
            <a:off x="7040880" y="1857023"/>
            <a:ext cx="4663440" cy="2138114"/>
          </a:xfrm>
          <a:prstGeom prst="rect">
            <a:avLst/>
          </a:prstGeom>
        </p:spPr>
      </p:pic>
      <p:sp>
        <p:nvSpPr>
          <p:cNvPr id="21" name="Text 18"/>
          <p:cNvSpPr/>
          <p:nvPr/>
        </p:nvSpPr>
        <p:spPr>
          <a:xfrm>
            <a:off x="7040880" y="4434840"/>
            <a:ext cx="466344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Movement is the product of muscle, bone, and nervous control working together.</a:t>
            </a:r>
            <a:endParaRPr lang="en-US" sz="1100" dirty="0"/>
          </a:p>
        </p:txBody>
      </p:sp>
      <p:sp>
        <p:nvSpPr>
          <p:cNvPr id="22" name="Text 19"/>
          <p:cNvSpPr/>
          <p:nvPr/>
        </p:nvSpPr>
        <p:spPr>
          <a:xfrm>
            <a:off x="548640" y="1325880"/>
            <a:ext cx="6400800" cy="274320"/>
          </a:xfrm>
          <a:prstGeom prst="rect">
            <a:avLst/>
          </a:prstGeom>
          <a:noFill/>
          <a:ln/>
        </p:spPr>
        <p:txBody>
          <a:bodyPr wrap="square" rtlCol="0" anchor="ctr"/>
          <a:lstStyle/>
          <a:p>
            <a:pPr marL="0" indent="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24" name="Text 20"/>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11.1</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Interactions of Skeletal Muscles, Fascicle Arrangement &amp; Lever Systems</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How muscles work in groups, how fascicle geometry shapes force, and how bones act as levers.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11.1</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Agonists, Antagonists &amp; Synergists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Prime mover (agonist) produces the main movement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Antagonist opposes and controls the motion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Synergists assist; fixators stabilize the origin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Example: biceps flexes, triceps extends the elbow</a:t>
            </a:r>
            <a:endParaRPr lang="en-US" sz="1500" dirty="0"/>
          </a:p>
        </p:txBody>
      </p:sp>
      <p:sp>
        <p:nvSpPr>
          <p:cNvPr id="5" name="Shape 3"/>
          <p:cNvSpPr/>
          <p:nvPr/>
        </p:nvSpPr>
        <p:spPr>
          <a:xfrm>
            <a:off x="5671941" y="1335024"/>
            <a:ext cx="5846838"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02.jpg"/>
          <p:cNvPicPr>
            <a:picLocks noChangeAspect="1"/>
          </p:cNvPicPr>
          <p:nvPr/>
        </p:nvPicPr>
        <p:blipFill>
          <a:blip r:embed="rId3"/>
          <a:stretch>
            <a:fillRect/>
          </a:stretch>
        </p:blipFill>
        <p:spPr>
          <a:xfrm>
            <a:off x="5754237" y="1417320"/>
            <a:ext cx="568224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Biceps brachii acting as a prime mover with synergists</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11.1</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Fascicle Arrangement &amp; Muscle Shapes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Fascicle pattern sets the force–range trade-off</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Parallel, fusiform, convergent, circular, pennate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Pennate muscles pack more fibers → greater force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Circular muscles (sphincters) close body openings</a:t>
            </a:r>
            <a:endParaRPr lang="en-US" sz="1500" dirty="0"/>
          </a:p>
        </p:txBody>
      </p:sp>
      <p:sp>
        <p:nvSpPr>
          <p:cNvPr id="5" name="Shape 3"/>
          <p:cNvSpPr/>
          <p:nvPr/>
        </p:nvSpPr>
        <p:spPr>
          <a:xfrm>
            <a:off x="6235371" y="1335024"/>
            <a:ext cx="4719977"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03.jpg"/>
          <p:cNvPicPr>
            <a:picLocks noChangeAspect="1"/>
          </p:cNvPicPr>
          <p:nvPr/>
        </p:nvPicPr>
        <p:blipFill>
          <a:blip r:embed="rId3"/>
          <a:stretch>
            <a:fillRect/>
          </a:stretch>
        </p:blipFill>
        <p:spPr>
          <a:xfrm>
            <a:off x="6317667" y="1417320"/>
            <a:ext cx="455538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Patterns of fascicle organization seen throughout the body</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11.1</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Lever Systems &amp; Muscle Action</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Bones are levers; joints are fulcrums; muscle is effort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First-, second-, and third-class levers occur in the body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Most body levers are third-class (favor speed/range)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Leverage lets a small effort move a larger load</a:t>
            </a:r>
            <a:endParaRPr lang="en-US" sz="1500" dirty="0"/>
          </a:p>
        </p:txBody>
      </p:sp>
      <p:sp>
        <p:nvSpPr>
          <p:cNvPr id="5" name="Shape 3"/>
          <p:cNvSpPr/>
          <p:nvPr/>
        </p:nvSpPr>
        <p:spPr>
          <a:xfrm>
            <a:off x="5998574" y="1335024"/>
            <a:ext cx="5193573"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04.jpg"/>
          <p:cNvPicPr>
            <a:picLocks noChangeAspect="1"/>
          </p:cNvPicPr>
          <p:nvPr/>
        </p:nvPicPr>
        <p:blipFill>
          <a:blip r:embed="rId3"/>
          <a:stretch>
            <a:fillRect/>
          </a:stretch>
        </p:blipFill>
        <p:spPr>
          <a:xfrm>
            <a:off x="6080870" y="1417320"/>
            <a:ext cx="5028981"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 generates movement by pulling on bony levers</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11.2</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Naming Skeletal Muscles</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Muscle names are descriptive codes — decode them to predict location and action.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11.2</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How Skeletal Muscles Are Named</a:t>
            </a:r>
            <a:endParaRPr lang="en-US" sz="3000" dirty="0"/>
          </a:p>
        </p:txBody>
      </p:sp>
      <p:sp>
        <p:nvSpPr>
          <p:cNvPr id="4" name="Shape 2"/>
          <p:cNvSpPr/>
          <p:nvPr/>
        </p:nvSpPr>
        <p:spPr>
          <a:xfrm>
            <a:off x="1553794" y="1289304"/>
            <a:ext cx="2195932" cy="4736592"/>
          </a:xfrm>
          <a:prstGeom prst="roundRect">
            <a:avLst>
              <a:gd name="adj" fmla="val 2498"/>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05.jpg"/>
          <p:cNvPicPr>
            <a:picLocks noChangeAspect="1"/>
          </p:cNvPicPr>
          <p:nvPr/>
        </p:nvPicPr>
        <p:blipFill>
          <a:blip r:embed="rId3"/>
          <a:stretch>
            <a:fillRect/>
          </a:stretch>
        </p:blipFill>
        <p:spPr>
          <a:xfrm>
            <a:off x="1636090" y="1371600"/>
            <a:ext cx="203134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Major skeletal muscles, anterior and posterior views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Named by location, shape, size, and fiber direction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Also by number of origins and by origin/insertion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Named by action: flexor, extensor, adductor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Decoding the name predicts what the muscle does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11.2</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Naming Criteria — Worked Examples</a:t>
            </a:r>
            <a:endParaRPr lang="en-US" sz="3000" dirty="0"/>
          </a:p>
        </p:txBody>
      </p:sp>
      <p:sp>
        <p:nvSpPr>
          <p:cNvPr id="4" name="Shape 2"/>
          <p:cNvSpPr/>
          <p:nvPr/>
        </p:nvSpPr>
        <p:spPr>
          <a:xfrm>
            <a:off x="420624" y="2732655"/>
            <a:ext cx="4462272" cy="1849891"/>
          </a:xfrm>
          <a:prstGeom prst="roundRect">
            <a:avLst>
              <a:gd name="adj" fmla="val 2966"/>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06.jpg"/>
          <p:cNvPicPr>
            <a:picLocks noChangeAspect="1"/>
          </p:cNvPicPr>
          <p:nvPr/>
        </p:nvPicPr>
        <p:blipFill>
          <a:blip r:embed="rId3"/>
          <a:stretch>
            <a:fillRect/>
          </a:stretch>
        </p:blipFill>
        <p:spPr>
          <a:xfrm>
            <a:off x="502920" y="2814951"/>
            <a:ext cx="4297680" cy="1685299"/>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Reference: word roots used in muscle names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Break each name into root + meaning</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"Abductor digiti minimi" → moves the little finger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Build a personal glossary of recurring roots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Use the name to predict location and action</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11.3</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Axial Muscles of the Head, Neck &amp; Back</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Facial expression, mastication, eye and tongue movement, neck support, and spinal posture.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Facial Expression</a:t>
            </a:r>
            <a:endParaRPr lang="en-US" sz="3000" dirty="0"/>
          </a:p>
        </p:txBody>
      </p:sp>
      <p:sp>
        <p:nvSpPr>
          <p:cNvPr id="4" name="Shape 2"/>
          <p:cNvSpPr/>
          <p:nvPr/>
        </p:nvSpPr>
        <p:spPr>
          <a:xfrm>
            <a:off x="3081738" y="1289304"/>
            <a:ext cx="6043763"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07.jpg"/>
          <p:cNvPicPr>
            <a:picLocks noChangeAspect="1"/>
          </p:cNvPicPr>
          <p:nvPr/>
        </p:nvPicPr>
        <p:blipFill>
          <a:blip r:embed="rId3"/>
          <a:stretch>
            <a:fillRect/>
          </a:stretch>
        </p:blipFill>
        <p:spPr>
          <a:xfrm>
            <a:off x="3164034" y="1371600"/>
            <a:ext cx="587917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Facial muscles, anterior and lateral views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Insert into skin, not bone → move soft tissue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All innervated by the facial nerve (CN VII)</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Orbicularis oris/oculi, zygomaticus, buccinator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Clinical: CN VII palsy causes facial drooping</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Facial Expression — Reference Table</a:t>
            </a:r>
            <a:endParaRPr lang="en-US" sz="3000" dirty="0"/>
          </a:p>
        </p:txBody>
      </p:sp>
      <p:sp>
        <p:nvSpPr>
          <p:cNvPr id="4" name="Shape 2"/>
          <p:cNvSpPr/>
          <p:nvPr/>
        </p:nvSpPr>
        <p:spPr>
          <a:xfrm>
            <a:off x="831418" y="1289304"/>
            <a:ext cx="3640684" cy="4736592"/>
          </a:xfrm>
          <a:prstGeom prst="roundRect">
            <a:avLst>
              <a:gd name="adj" fmla="val 1507"/>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08.jpg"/>
          <p:cNvPicPr>
            <a:picLocks noChangeAspect="1"/>
          </p:cNvPicPr>
          <p:nvPr/>
        </p:nvPicPr>
        <p:blipFill>
          <a:blip r:embed="rId3"/>
          <a:stretch>
            <a:fillRect/>
          </a:stretch>
        </p:blipFill>
        <p:spPr>
          <a:xfrm>
            <a:off x="913714" y="1371600"/>
            <a:ext cx="347609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facial expression: action, origin, insertion</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Group muscles by region: eye, mouth, nose, scalp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Note the shared CN VII innervation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Focus on action verbs: elevate, compress, purse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Pair with the diagram on the previous slide</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the Eye &amp; Mastication</a:t>
            </a:r>
            <a:endParaRPr lang="en-US" sz="3000" dirty="0"/>
          </a:p>
        </p:txBody>
      </p:sp>
      <p:sp>
        <p:nvSpPr>
          <p:cNvPr id="4" name="Shape 2"/>
          <p:cNvSpPr/>
          <p:nvPr/>
        </p:nvSpPr>
        <p:spPr>
          <a:xfrm>
            <a:off x="2299501" y="1289304"/>
            <a:ext cx="7608238"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09.jpg"/>
          <p:cNvPicPr>
            <a:picLocks noChangeAspect="1"/>
          </p:cNvPicPr>
          <p:nvPr/>
        </p:nvPicPr>
        <p:blipFill>
          <a:blip r:embed="rId3"/>
          <a:stretch>
            <a:fillRect/>
          </a:stretch>
        </p:blipFill>
        <p:spPr>
          <a:xfrm>
            <a:off x="2381797" y="1371600"/>
            <a:ext cx="744364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Extraocular muscles and the muscles of mastication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Six extraocular muscles move the eyeball</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Mastication: masseter, temporalis, pterygoids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Chewing muscles served by trigeminal nerve (CN V)</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Clinical: check jaw strength and symmetry</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That Move the Tongue</a:t>
            </a:r>
            <a:endParaRPr lang="en-US" sz="3000" dirty="0"/>
          </a:p>
        </p:txBody>
      </p:sp>
      <p:sp>
        <p:nvSpPr>
          <p:cNvPr id="4" name="Shape 2"/>
          <p:cNvSpPr/>
          <p:nvPr/>
        </p:nvSpPr>
        <p:spPr>
          <a:xfrm>
            <a:off x="2386694" y="1289304"/>
            <a:ext cx="7433853"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10.jpg"/>
          <p:cNvPicPr>
            <a:picLocks noChangeAspect="1"/>
          </p:cNvPicPr>
          <p:nvPr/>
        </p:nvPicPr>
        <p:blipFill>
          <a:blip r:embed="rId3"/>
          <a:stretch>
            <a:fillRect/>
          </a:stretch>
        </p:blipFill>
        <p:spPr>
          <a:xfrm>
            <a:off x="2468990" y="1371600"/>
            <a:ext cx="7269261"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mastication and the tongue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Intrinsic muscles change the tongue's shape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Extrinsic muscles (-glossus) move its position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Innervated by the hypoglossal nerve (CN XII)</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Essential for speech, chewing, and swallowing</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Tongue &amp; Pharyngeal Muscles</a:t>
            </a:r>
            <a:endParaRPr lang="en-US" sz="3000" dirty="0"/>
          </a:p>
        </p:txBody>
      </p:sp>
      <p:sp>
        <p:nvSpPr>
          <p:cNvPr id="4" name="Shape 2"/>
          <p:cNvSpPr/>
          <p:nvPr/>
        </p:nvSpPr>
        <p:spPr>
          <a:xfrm>
            <a:off x="2652194" y="1289304"/>
            <a:ext cx="6902851"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11.jpg"/>
          <p:cNvPicPr>
            <a:picLocks noChangeAspect="1"/>
          </p:cNvPicPr>
          <p:nvPr/>
        </p:nvPicPr>
        <p:blipFill>
          <a:blip r:embed="rId3"/>
          <a:stretch>
            <a:fillRect/>
          </a:stretch>
        </p:blipFill>
        <p:spPr>
          <a:xfrm>
            <a:off x="2734490" y="1371600"/>
            <a:ext cx="6738259"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Tongue muscles and associated pharyngeal structures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Coordinate the oral phase of swallowing</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Move the food bolus toward the pharynx</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Work with suprahyoid muscles to elevate the larynx</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Dysfunction → dysphagia and aspiration risk</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Head &amp; Neck — Reference Table</a:t>
            </a:r>
            <a:endParaRPr lang="en-US" sz="3000" dirty="0"/>
          </a:p>
        </p:txBody>
      </p:sp>
      <p:sp>
        <p:nvSpPr>
          <p:cNvPr id="4" name="Shape 2"/>
          <p:cNvSpPr/>
          <p:nvPr/>
        </p:nvSpPr>
        <p:spPr>
          <a:xfrm>
            <a:off x="812673" y="1289304"/>
            <a:ext cx="3678174" cy="4736592"/>
          </a:xfrm>
          <a:prstGeom prst="roundRect">
            <a:avLst>
              <a:gd name="adj" fmla="val 1492"/>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12.jpg"/>
          <p:cNvPicPr>
            <a:picLocks noChangeAspect="1"/>
          </p:cNvPicPr>
          <p:nvPr/>
        </p:nvPicPr>
        <p:blipFill>
          <a:blip r:embed="rId3"/>
          <a:stretch>
            <a:fillRect/>
          </a:stretch>
        </p:blipFill>
        <p:spPr>
          <a:xfrm>
            <a:off x="894969" y="1371600"/>
            <a:ext cx="351358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head and neck: summary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Consolidates head and neck muscle actions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Cross-reference each muscle's cranial-nerve supply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Identify the prime mover for each motion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Use for targeted review before exams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Anterior Neck — Hyoid Muscles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Suprahyoid muscles elevate the hyoid and larynx</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Infrahyoid (strap) muscles depress them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Stabilize the hyoid for speech and swallowing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Landmarks for airway and thyroid assessment</a:t>
            </a:r>
            <a:endParaRPr lang="en-US" sz="1500" dirty="0"/>
          </a:p>
        </p:txBody>
      </p:sp>
      <p:sp>
        <p:nvSpPr>
          <p:cNvPr id="5" name="Shape 3"/>
          <p:cNvSpPr/>
          <p:nvPr/>
        </p:nvSpPr>
        <p:spPr>
          <a:xfrm>
            <a:off x="5831449" y="1335024"/>
            <a:ext cx="5527822"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13.jpg"/>
          <p:cNvPicPr>
            <a:picLocks noChangeAspect="1"/>
          </p:cNvPicPr>
          <p:nvPr/>
        </p:nvPicPr>
        <p:blipFill>
          <a:blip r:embed="rId3"/>
          <a:stretch>
            <a:fillRect/>
          </a:stretch>
        </p:blipFill>
        <p:spPr>
          <a:xfrm>
            <a:off x="5913745" y="1417320"/>
            <a:ext cx="536323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Suprahyoid and infrahyoid muscles of the neck</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the Neck &amp; Back</a:t>
            </a:r>
            <a:endParaRPr lang="en-US" sz="3000" dirty="0"/>
          </a:p>
        </p:txBody>
      </p:sp>
      <p:sp>
        <p:nvSpPr>
          <p:cNvPr id="4" name="Shape 2"/>
          <p:cNvSpPr/>
          <p:nvPr/>
        </p:nvSpPr>
        <p:spPr>
          <a:xfrm>
            <a:off x="420624" y="2837327"/>
            <a:ext cx="4462272" cy="1640545"/>
          </a:xfrm>
          <a:prstGeom prst="roundRect">
            <a:avLst>
              <a:gd name="adj" fmla="val 3344"/>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14.jpg"/>
          <p:cNvPicPr>
            <a:picLocks noChangeAspect="1"/>
          </p:cNvPicPr>
          <p:nvPr/>
        </p:nvPicPr>
        <p:blipFill>
          <a:blip r:embed="rId3"/>
          <a:stretch>
            <a:fillRect/>
          </a:stretch>
        </p:blipFill>
        <p:spPr>
          <a:xfrm>
            <a:off x="502920" y="2919623"/>
            <a:ext cx="4297680" cy="1475953"/>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Posterior and lateral muscles of the neck and back</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Sternocleidomastoid flexes and rotates the head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Trapezius and scalenes support posture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Deep muscles stabilize the cervical spine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Scalenes act as accessory respiratory muscles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11.3</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Deep Back — Erector Spinae</a:t>
            </a:r>
            <a:endParaRPr lang="en-US" sz="3000" dirty="0"/>
          </a:p>
        </p:txBody>
      </p:sp>
      <p:sp>
        <p:nvSpPr>
          <p:cNvPr id="4" name="Shape 2"/>
          <p:cNvSpPr/>
          <p:nvPr/>
        </p:nvSpPr>
        <p:spPr>
          <a:xfrm>
            <a:off x="602361" y="1289304"/>
            <a:ext cx="4098798" cy="4736592"/>
          </a:xfrm>
          <a:prstGeom prst="roundRect">
            <a:avLst>
              <a:gd name="adj" fmla="val 1339"/>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15.jpg"/>
          <p:cNvPicPr>
            <a:picLocks noChangeAspect="1"/>
          </p:cNvPicPr>
          <p:nvPr/>
        </p:nvPicPr>
        <p:blipFill>
          <a:blip r:embed="rId3"/>
          <a:stretch>
            <a:fillRect/>
          </a:stretch>
        </p:blipFill>
        <p:spPr>
          <a:xfrm>
            <a:off x="684657" y="1371600"/>
            <a:ext cx="393420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Erector spinae group and the deep back muscles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Erector spinae = iliocostalis, longissimus, spinalis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Extend and stabilize the vertebral column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Maintain upright posture against gravity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Common source of mechanical low-back strain</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11.4</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Axial Muscles of the Abdominal Wall &amp; Thorax</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The core, the diaphragm and intercostals of breathing, and the pelvic floor.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11.4</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the Abdominal Wall</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Rectus abdominis flexes the trunk</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External/internal obliques bend and rotate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Transversus abdominis compresses the abdomen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Support posture, breathing, and core stability</a:t>
            </a:r>
            <a:endParaRPr lang="en-US" sz="1500" dirty="0"/>
          </a:p>
        </p:txBody>
      </p:sp>
      <p:sp>
        <p:nvSpPr>
          <p:cNvPr id="5" name="Shape 3"/>
          <p:cNvSpPr/>
          <p:nvPr/>
        </p:nvSpPr>
        <p:spPr>
          <a:xfrm>
            <a:off x="6778639" y="1335024"/>
            <a:ext cx="3633442" cy="4645152"/>
          </a:xfrm>
          <a:prstGeom prst="roundRect">
            <a:avLst>
              <a:gd name="adj" fmla="val 1510"/>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16.jpg"/>
          <p:cNvPicPr>
            <a:picLocks noChangeAspect="1"/>
          </p:cNvPicPr>
          <p:nvPr/>
        </p:nvPicPr>
        <p:blipFill>
          <a:blip r:embed="rId3"/>
          <a:stretch>
            <a:fillRect/>
          </a:stretch>
        </p:blipFill>
        <p:spPr>
          <a:xfrm>
            <a:off x="6860935" y="1417320"/>
            <a:ext cx="346885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Layered muscles of the anterior abdominal wall</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11.4</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The Diaphragm</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Primary muscle of inspiration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Contracts and flattens → thoracic volume rises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Innervated by the phrenic nerve (C3–C5)</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"C3, 4, 5 keep the diaphragm alive"</a:t>
            </a:r>
            <a:endParaRPr lang="en-US" sz="1500" dirty="0"/>
          </a:p>
        </p:txBody>
      </p:sp>
      <p:sp>
        <p:nvSpPr>
          <p:cNvPr id="5" name="Shape 3"/>
          <p:cNvSpPr/>
          <p:nvPr/>
        </p:nvSpPr>
        <p:spPr>
          <a:xfrm>
            <a:off x="5451049" y="1335024"/>
            <a:ext cx="6288621"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17.jpg"/>
          <p:cNvPicPr>
            <a:picLocks noChangeAspect="1"/>
          </p:cNvPicPr>
          <p:nvPr/>
        </p:nvPicPr>
        <p:blipFill>
          <a:blip r:embed="rId3"/>
          <a:stretch>
            <a:fillRect/>
          </a:stretch>
        </p:blipFill>
        <p:spPr>
          <a:xfrm>
            <a:off x="5533345" y="1417320"/>
            <a:ext cx="612402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The diaphragm, inferior view</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11.4</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Thoracic Muscles &amp; Intercostals</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External intercostals elevate ribs (inspiration)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Internal intercostals depress ribs (forced expiration)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Accessory muscles assist in respiratory distress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Retractions signal increased work of breathing</a:t>
            </a:r>
            <a:endParaRPr lang="en-US" sz="1500" dirty="0"/>
          </a:p>
        </p:txBody>
      </p:sp>
      <p:sp>
        <p:nvSpPr>
          <p:cNvPr id="5" name="Shape 3"/>
          <p:cNvSpPr/>
          <p:nvPr/>
        </p:nvSpPr>
        <p:spPr>
          <a:xfrm>
            <a:off x="5404104" y="1835636"/>
            <a:ext cx="6382512" cy="3643927"/>
          </a:xfrm>
          <a:prstGeom prst="roundRect">
            <a:avLst>
              <a:gd name="adj" fmla="val 1506"/>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18.jpg"/>
          <p:cNvPicPr>
            <a:picLocks noChangeAspect="1"/>
          </p:cNvPicPr>
          <p:nvPr/>
        </p:nvPicPr>
        <p:blipFill>
          <a:blip r:embed="rId3"/>
          <a:stretch>
            <a:fillRect/>
          </a:stretch>
        </p:blipFill>
        <p:spPr>
          <a:xfrm>
            <a:off x="5486400" y="1917932"/>
            <a:ext cx="6217920" cy="3479335"/>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Intercostal muscles of the thoracic wall</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11.4</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Pelvic Floor &amp; Perineum</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Levator ani forms the pelvic diaphragm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Supports the bladder, rectum, and pelvic organs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Maintains continence of urine and stool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Weakness → prolapse and incontinence</a:t>
            </a:r>
            <a:endParaRPr lang="en-US" sz="1500" dirty="0"/>
          </a:p>
        </p:txBody>
      </p:sp>
      <p:sp>
        <p:nvSpPr>
          <p:cNvPr id="5" name="Shape 3"/>
          <p:cNvSpPr/>
          <p:nvPr/>
        </p:nvSpPr>
        <p:spPr>
          <a:xfrm>
            <a:off x="5436712" y="1335024"/>
            <a:ext cx="6317297"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19.jpg"/>
          <p:cNvPicPr>
            <a:picLocks noChangeAspect="1"/>
          </p:cNvPicPr>
          <p:nvPr/>
        </p:nvPicPr>
        <p:blipFill>
          <a:blip r:embed="rId3"/>
          <a:stretch>
            <a:fillRect/>
          </a:stretch>
        </p:blipFill>
        <p:spPr>
          <a:xfrm>
            <a:off x="5519008" y="1417320"/>
            <a:ext cx="615270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pelvic floor (perineum)</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11.4</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The Pelvic Diaphragm</a:t>
            </a:r>
            <a:endParaRPr lang="en-US" sz="3000" dirty="0"/>
          </a:p>
        </p:txBody>
      </p:sp>
      <p:sp>
        <p:nvSpPr>
          <p:cNvPr id="4" name="Shape 2"/>
          <p:cNvSpPr/>
          <p:nvPr/>
        </p:nvSpPr>
        <p:spPr>
          <a:xfrm>
            <a:off x="3127385" y="1289304"/>
            <a:ext cx="5952470"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0.jpg"/>
          <p:cNvPicPr>
            <a:picLocks noChangeAspect="1"/>
          </p:cNvPicPr>
          <p:nvPr/>
        </p:nvPicPr>
        <p:blipFill>
          <a:blip r:embed="rId3"/>
          <a:stretch>
            <a:fillRect/>
          </a:stretch>
        </p:blipFill>
        <p:spPr>
          <a:xfrm>
            <a:off x="3209681" y="1371600"/>
            <a:ext cx="578787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Pelvic diaphragm, male and female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Levator ani + coccygeus = pelvic diaphragm</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Sex differences in the openings it transmits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Resists downward intra-abdominal pressure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Key to bowel, bladder, and sexual function</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11.5</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Muscles of the Pectoral Girdle &amp; Upper Limbs</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Positioning the scapula, moving the humerus and forearm, and the muscles of the hand.</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Pectoral Girdle — Reference Table</a:t>
            </a:r>
            <a:endParaRPr lang="en-US" sz="3000" dirty="0"/>
          </a:p>
        </p:txBody>
      </p:sp>
      <p:sp>
        <p:nvSpPr>
          <p:cNvPr id="4" name="Shape 2"/>
          <p:cNvSpPr/>
          <p:nvPr/>
        </p:nvSpPr>
        <p:spPr>
          <a:xfrm>
            <a:off x="420624" y="1469630"/>
            <a:ext cx="4462272" cy="4375939"/>
          </a:xfrm>
          <a:prstGeom prst="roundRect">
            <a:avLst>
              <a:gd name="adj" fmla="val 1254"/>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1.jpg"/>
          <p:cNvPicPr>
            <a:picLocks noChangeAspect="1"/>
          </p:cNvPicPr>
          <p:nvPr/>
        </p:nvPicPr>
        <p:blipFill>
          <a:blip r:embed="rId3"/>
          <a:stretch>
            <a:fillRect/>
          </a:stretch>
        </p:blipFill>
        <p:spPr>
          <a:xfrm>
            <a:off x="502920" y="1551926"/>
            <a:ext cx="4297680" cy="4211347"/>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that position the pectoral girdle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Anchors the upper limb to the axial skeleton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These muscles position the scapula and clavicle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stable scapula enables efficient arm movement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Sets up the humerus muscles that follow</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Positioning the Pectoral Girdle</a:t>
            </a:r>
            <a:endParaRPr lang="en-US" sz="3000" dirty="0"/>
          </a:p>
        </p:txBody>
      </p:sp>
      <p:sp>
        <p:nvSpPr>
          <p:cNvPr id="4" name="Shape 2"/>
          <p:cNvSpPr/>
          <p:nvPr/>
        </p:nvSpPr>
        <p:spPr>
          <a:xfrm>
            <a:off x="2128325" y="1289304"/>
            <a:ext cx="7950589"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2.jpg"/>
          <p:cNvPicPr>
            <a:picLocks noChangeAspect="1"/>
          </p:cNvPicPr>
          <p:nvPr/>
        </p:nvPicPr>
        <p:blipFill>
          <a:blip r:embed="rId3"/>
          <a:stretch>
            <a:fillRect/>
          </a:stretch>
        </p:blipFill>
        <p:spPr>
          <a:xfrm>
            <a:off x="2210621" y="1371600"/>
            <a:ext cx="7785997"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Anterior and posterior muscles of the pectoral girdle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Trapezius and serratus anterior move the scapula</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Rhomboids retract; pectoralis minor depresses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Stabilize the shoulder for lifting and reaching</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Serratus anterior weakness → "winged scapula"</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That Move the Humerus</a:t>
            </a:r>
            <a:endParaRPr lang="en-US" sz="3000" dirty="0"/>
          </a:p>
        </p:txBody>
      </p:sp>
      <p:sp>
        <p:nvSpPr>
          <p:cNvPr id="4" name="Shape 2"/>
          <p:cNvSpPr/>
          <p:nvPr/>
        </p:nvSpPr>
        <p:spPr>
          <a:xfrm>
            <a:off x="420624" y="1289547"/>
            <a:ext cx="4462272" cy="4736106"/>
          </a:xfrm>
          <a:prstGeom prst="roundRect">
            <a:avLst>
              <a:gd name="adj" fmla="val 1230"/>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3.jpg"/>
          <p:cNvPicPr>
            <a:picLocks noChangeAspect="1"/>
          </p:cNvPicPr>
          <p:nvPr/>
        </p:nvPicPr>
        <p:blipFill>
          <a:blip r:embed="rId3"/>
          <a:stretch>
            <a:fillRect/>
          </a:stretch>
        </p:blipFill>
        <p:spPr>
          <a:xfrm>
            <a:off x="502920" y="1371843"/>
            <a:ext cx="4297680" cy="4571514"/>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that move the humerus, including the rotator cuff</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Deltoid abducts; pectoralis major adducts/flexes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Latissimus dorsi extends and medially rotates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Rotator cuff (SITS) stabilizes the joint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Most mobile — and least stable — joint in the body</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Humerus Muscles — Reference Table</a:t>
            </a:r>
            <a:endParaRPr lang="en-US" sz="3000" dirty="0"/>
          </a:p>
        </p:txBody>
      </p:sp>
      <p:sp>
        <p:nvSpPr>
          <p:cNvPr id="4" name="Shape 2"/>
          <p:cNvSpPr/>
          <p:nvPr/>
        </p:nvSpPr>
        <p:spPr>
          <a:xfrm>
            <a:off x="536067" y="1289304"/>
            <a:ext cx="4231386" cy="4736592"/>
          </a:xfrm>
          <a:prstGeom prst="roundRect">
            <a:avLst>
              <a:gd name="adj" fmla="val 1297"/>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4.jpg"/>
          <p:cNvPicPr>
            <a:picLocks noChangeAspect="1"/>
          </p:cNvPicPr>
          <p:nvPr/>
        </p:nvPicPr>
        <p:blipFill>
          <a:blip r:embed="rId3"/>
          <a:stretch>
            <a:fillRect/>
          </a:stretch>
        </p:blipFill>
        <p:spPr>
          <a:xfrm>
            <a:off x="618363" y="1371600"/>
            <a:ext cx="406679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that move the humerus: summary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Sort movers by action: flex, extend, abduct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Separate rotator cuff from the prime movers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Link origin/insertion to the motion produced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Use for skills lab and exam review</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That Move the Forearm</a:t>
            </a:r>
            <a:endParaRPr lang="en-US" sz="3000" dirty="0"/>
          </a:p>
        </p:txBody>
      </p:sp>
      <p:sp>
        <p:nvSpPr>
          <p:cNvPr id="4" name="Shape 2"/>
          <p:cNvSpPr/>
          <p:nvPr/>
        </p:nvSpPr>
        <p:spPr>
          <a:xfrm>
            <a:off x="716890" y="1289304"/>
            <a:ext cx="3869741" cy="4736592"/>
          </a:xfrm>
          <a:prstGeom prst="roundRect">
            <a:avLst>
              <a:gd name="adj" fmla="val 1418"/>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5.jpg"/>
          <p:cNvPicPr>
            <a:picLocks noChangeAspect="1"/>
          </p:cNvPicPr>
          <p:nvPr/>
        </p:nvPicPr>
        <p:blipFill>
          <a:blip r:embed="rId3"/>
          <a:stretch>
            <a:fillRect/>
          </a:stretch>
        </p:blipFill>
        <p:spPr>
          <a:xfrm>
            <a:off x="799186" y="1371600"/>
            <a:ext cx="3705149"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arm that move the forearm</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Biceps brachii and brachialis flex the elbow</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Triceps brachii extends the elbow</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Supinator and pronators rotate the forearm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Anterior vs. posterior compartments group them</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Forearm — Muscles of the Wrist (Table)</a:t>
            </a:r>
            <a:endParaRPr lang="en-US" sz="3000" dirty="0"/>
          </a:p>
        </p:txBody>
      </p:sp>
      <p:sp>
        <p:nvSpPr>
          <p:cNvPr id="4" name="Shape 2"/>
          <p:cNvSpPr/>
          <p:nvPr/>
        </p:nvSpPr>
        <p:spPr>
          <a:xfrm>
            <a:off x="420624" y="1413276"/>
            <a:ext cx="4462272" cy="4488649"/>
          </a:xfrm>
          <a:prstGeom prst="roundRect">
            <a:avLst>
              <a:gd name="adj" fmla="val 1230"/>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6.jpg"/>
          <p:cNvPicPr>
            <a:picLocks noChangeAspect="1"/>
          </p:cNvPicPr>
          <p:nvPr/>
        </p:nvPicPr>
        <p:blipFill>
          <a:blip r:embed="rId3"/>
          <a:stretch>
            <a:fillRect/>
          </a:stretch>
        </p:blipFill>
        <p:spPr>
          <a:xfrm>
            <a:off x="502920" y="1495572"/>
            <a:ext cx="4297680" cy="4324057"/>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that move the forearm: reference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Anterior compartment flexes wrist and fingers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Posterior compartment extends wrist and fingers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Long tendons cross from forearm into the hand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Median, ulnar, and radial nerve supply</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Wrist &amp; Hand — Reference Table</a:t>
            </a:r>
            <a:endParaRPr lang="en-US" sz="3000" dirty="0"/>
          </a:p>
        </p:txBody>
      </p:sp>
      <p:sp>
        <p:nvSpPr>
          <p:cNvPr id="4" name="Shape 2"/>
          <p:cNvSpPr/>
          <p:nvPr/>
        </p:nvSpPr>
        <p:spPr>
          <a:xfrm>
            <a:off x="881939" y="1289304"/>
            <a:ext cx="3539642" cy="4736592"/>
          </a:xfrm>
          <a:prstGeom prst="roundRect">
            <a:avLst>
              <a:gd name="adj" fmla="val 1550"/>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7.jpg"/>
          <p:cNvPicPr>
            <a:picLocks noChangeAspect="1"/>
          </p:cNvPicPr>
          <p:nvPr/>
        </p:nvPicPr>
        <p:blipFill>
          <a:blip r:embed="rId3"/>
          <a:stretch>
            <a:fillRect/>
          </a:stretch>
        </p:blipFill>
        <p:spPr>
          <a:xfrm>
            <a:off x="964235" y="1371600"/>
            <a:ext cx="337505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wrist and hand: reference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Extrinsic muscles power gross grip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Retinacula stabilize the long tendons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Carpal tunnel transmits the median nerve + tendons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Clinical: carpal tunnel syndrome</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11.5</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Intrinsic Muscles of the Hand</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Thenar, hypothenar, and midpalmar groups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Provide fine, precise finger movements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Thumb opposition enables a functional grasp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Nerve injury impairs dexterity and grip</a:t>
            </a:r>
            <a:endParaRPr lang="en-US" sz="1500" dirty="0"/>
          </a:p>
        </p:txBody>
      </p:sp>
      <p:sp>
        <p:nvSpPr>
          <p:cNvPr id="5" name="Shape 3"/>
          <p:cNvSpPr/>
          <p:nvPr/>
        </p:nvSpPr>
        <p:spPr>
          <a:xfrm>
            <a:off x="6217673" y="1335024"/>
            <a:ext cx="4755374"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28.jpg"/>
          <p:cNvPicPr>
            <a:picLocks noChangeAspect="1"/>
          </p:cNvPicPr>
          <p:nvPr/>
        </p:nvPicPr>
        <p:blipFill>
          <a:blip r:embed="rId3"/>
          <a:stretch>
            <a:fillRect/>
          </a:stretch>
        </p:blipFill>
        <p:spPr>
          <a:xfrm>
            <a:off x="6299969" y="1417320"/>
            <a:ext cx="459078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Intrinsic muscles of the hand</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5C"/>
        </a:solidFill>
        <a:effectLst/>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txBody>
          <a:bodyPr/>
          <a:lstStyle/>
          <a:p>
            <a:endParaRPr lang="en-US"/>
          </a:p>
        </p:txBody>
      </p:sp>
      <p:sp>
        <p:nvSpPr>
          <p:cNvPr id="3" name="Text 1"/>
          <p:cNvSpPr/>
          <p:nvPr/>
        </p:nvSpPr>
        <p:spPr>
          <a:xfrm>
            <a:off x="822960" y="2331720"/>
            <a:ext cx="2011680" cy="20116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11.6</a:t>
            </a:r>
            <a:endParaRPr lang="en-US" sz="5200" dirty="0"/>
          </a:p>
        </p:txBody>
      </p:sp>
      <p:sp>
        <p:nvSpPr>
          <p:cNvPr id="4" name="Text 2"/>
          <p:cNvSpPr/>
          <p:nvPr/>
        </p:nvSpPr>
        <p:spPr>
          <a:xfrm>
            <a:off x="3200400" y="2514600"/>
            <a:ext cx="7315200" cy="365760"/>
          </a:xfrm>
          <a:prstGeom prst="rect">
            <a:avLst/>
          </a:prstGeom>
          <a:noFill/>
          <a:ln/>
        </p:spPr>
        <p:txBody>
          <a:bodyPr wrap="square" rtlCol="0" anchor="ctr"/>
          <a:lstStyle/>
          <a:p>
            <a:pPr marL="0" indent="0">
              <a:buNone/>
            </a:pPr>
            <a:r>
              <a:rPr lang="en-US" sz="1400" b="1" kern="0" spc="40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834640"/>
            <a:ext cx="8412480" cy="1463040"/>
          </a:xfrm>
          <a:prstGeom prst="rect">
            <a:avLst/>
          </a:prstGeom>
          <a:noFill/>
          <a:ln/>
        </p:spPr>
        <p:txBody>
          <a:bodyPr wrap="square" rtlCol="0" anchor="t"/>
          <a:lstStyle/>
          <a:p>
            <a:pPr marL="0" indent="0">
              <a:buNone/>
            </a:pPr>
            <a:r>
              <a:rPr lang="en-US" sz="3400" b="1" dirty="0">
                <a:solidFill>
                  <a:srgbClr val="FFFFFF"/>
                </a:solidFill>
                <a:latin typeface="Georgia" pitchFamily="34" charset="0"/>
                <a:ea typeface="Georgia" pitchFamily="34" charset="-122"/>
                <a:cs typeface="Georgia" pitchFamily="34" charset="-120"/>
              </a:rPr>
              <a:t>Appendicular Muscles of the Pelvic Girdle &amp; Lower Limbs</a:t>
            </a:r>
            <a:endParaRPr lang="en-US" sz="3400" dirty="0"/>
          </a:p>
        </p:txBody>
      </p:sp>
      <p:sp>
        <p:nvSpPr>
          <p:cNvPr id="6" name="Text 4"/>
          <p:cNvSpPr/>
          <p:nvPr/>
        </p:nvSpPr>
        <p:spPr>
          <a:xfrm>
            <a:off x="3200400" y="4160520"/>
            <a:ext cx="8138160" cy="731520"/>
          </a:xfrm>
          <a:prstGeom prst="rect">
            <a:avLst/>
          </a:prstGeom>
          <a:noFill/>
          <a:ln/>
        </p:spPr>
        <p:txBody>
          <a:bodyPr wrap="square" rtlCol="0" anchor="ctr"/>
          <a:lstStyle/>
          <a:p>
            <a:pPr marL="0" indent="0">
              <a:lnSpc>
                <a:spcPct val="110000"/>
              </a:lnSpc>
              <a:buNone/>
            </a:pPr>
            <a:r>
              <a:rPr lang="en-US" sz="1500" dirty="0">
                <a:solidFill>
                  <a:srgbClr val="CFE3E7"/>
                </a:solidFill>
                <a:latin typeface="Calibri" pitchFamily="34" charset="0"/>
                <a:ea typeface="Calibri" pitchFamily="34" charset="-122"/>
                <a:cs typeface="Calibri" pitchFamily="34" charset="-120"/>
              </a:rPr>
              <a:t>The hip, thigh, leg, and foot muscles that power standing, walking, and balance.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the Gluteal Region &amp; Thigh</a:t>
            </a:r>
            <a:endParaRPr lang="en-US" sz="3000" dirty="0"/>
          </a:p>
        </p:txBody>
      </p:sp>
      <p:sp>
        <p:nvSpPr>
          <p:cNvPr id="4" name="Shape 2"/>
          <p:cNvSpPr/>
          <p:nvPr/>
        </p:nvSpPr>
        <p:spPr>
          <a:xfrm>
            <a:off x="769010" y="1289304"/>
            <a:ext cx="3765499" cy="4736592"/>
          </a:xfrm>
          <a:prstGeom prst="roundRect">
            <a:avLst>
              <a:gd name="adj" fmla="val 1457"/>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29.jpg"/>
          <p:cNvPicPr>
            <a:picLocks noChangeAspect="1"/>
          </p:cNvPicPr>
          <p:nvPr/>
        </p:nvPicPr>
        <p:blipFill>
          <a:blip r:embed="rId3"/>
          <a:stretch>
            <a:fillRect/>
          </a:stretch>
        </p:blipFill>
        <p:spPr>
          <a:xfrm>
            <a:off x="851306" y="1371600"/>
            <a:ext cx="3600907"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gluteal region acting on the femur</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Gluteus maximus extends the hip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Gluteus medius/minimus abduct and stabilize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Iliopsoas is the main hip flexor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Gait and balance depend on these muscles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Gluteal Region — Reference Table</a:t>
            </a:r>
            <a:endParaRPr lang="en-US" sz="3000" dirty="0"/>
          </a:p>
        </p:txBody>
      </p:sp>
      <p:sp>
        <p:nvSpPr>
          <p:cNvPr id="4" name="Shape 2"/>
          <p:cNvSpPr/>
          <p:nvPr/>
        </p:nvSpPr>
        <p:spPr>
          <a:xfrm>
            <a:off x="1051103" y="1289304"/>
            <a:ext cx="3201314" cy="4736592"/>
          </a:xfrm>
          <a:prstGeom prst="roundRect">
            <a:avLst>
              <a:gd name="adj" fmla="val 1714"/>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30.jpg"/>
          <p:cNvPicPr>
            <a:picLocks noChangeAspect="1"/>
          </p:cNvPicPr>
          <p:nvPr/>
        </p:nvPicPr>
        <p:blipFill>
          <a:blip r:embed="rId3"/>
          <a:stretch>
            <a:fillRect/>
          </a:stretch>
        </p:blipFill>
        <p:spPr>
          <a:xfrm>
            <a:off x="1133399" y="1371600"/>
            <a:ext cx="303672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gluteal region: summary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Separate flexors, extensors, abductors, rotators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Note the pelvic stabilizers used in gait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Connect to fall risk and mobility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Reference for clinical skills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of the Thigh — Reference Table</a:t>
            </a:r>
            <a:endParaRPr lang="en-US" sz="3000" dirty="0"/>
          </a:p>
        </p:txBody>
      </p:sp>
      <p:sp>
        <p:nvSpPr>
          <p:cNvPr id="4" name="Shape 2"/>
          <p:cNvSpPr/>
          <p:nvPr/>
        </p:nvSpPr>
        <p:spPr>
          <a:xfrm>
            <a:off x="928573" y="1289304"/>
            <a:ext cx="3446374" cy="4736592"/>
          </a:xfrm>
          <a:prstGeom prst="roundRect">
            <a:avLst>
              <a:gd name="adj" fmla="val 1592"/>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31.jpg"/>
          <p:cNvPicPr>
            <a:picLocks noChangeAspect="1"/>
          </p:cNvPicPr>
          <p:nvPr/>
        </p:nvPicPr>
        <p:blipFill>
          <a:blip r:embed="rId3"/>
          <a:stretch>
            <a:fillRect/>
          </a:stretch>
        </p:blipFill>
        <p:spPr>
          <a:xfrm>
            <a:off x="1010869" y="1371600"/>
            <a:ext cx="328178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thigh: reference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Quadriceps extend the knee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Hamstrings flex the knee and extend the hip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Adductors pull the thigh medially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Powerful muscles for transfers and walking</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Muscles That Move the Foot</a:t>
            </a:r>
            <a:endParaRPr lang="en-US" sz="3000" dirty="0"/>
          </a:p>
        </p:txBody>
      </p:sp>
      <p:sp>
        <p:nvSpPr>
          <p:cNvPr id="4" name="Shape 2"/>
          <p:cNvSpPr/>
          <p:nvPr/>
        </p:nvSpPr>
        <p:spPr>
          <a:xfrm>
            <a:off x="3028959" y="1289304"/>
            <a:ext cx="6149322" cy="3730752"/>
          </a:xfrm>
          <a:prstGeom prst="roundRect">
            <a:avLst>
              <a:gd name="adj" fmla="val 147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32.jpg"/>
          <p:cNvPicPr>
            <a:picLocks noChangeAspect="1"/>
          </p:cNvPicPr>
          <p:nvPr/>
        </p:nvPicPr>
        <p:blipFill>
          <a:blip r:embed="rId3"/>
          <a:stretch>
            <a:fillRect/>
          </a:stretch>
        </p:blipFill>
        <p:spPr>
          <a:xfrm>
            <a:off x="3111255" y="1371600"/>
            <a:ext cx="598473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leg that move the foot</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Anterior leg dorsiflexes (tibialis anterior)</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Posterior leg plantarflexes (gastrocnemius, soleus)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Calf muscles form the Achilles tendon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Deep fibular nerve injury → "foot drop"</a:t>
            </a:r>
            <a:endParaRPr lang="en-US" sz="1300" dirty="0"/>
          </a:p>
        </p:txBody>
      </p:sp>
      <p:sp>
        <p:nvSpPr>
          <p:cNvPr id="10" name="Text 6"/>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Leg Muscles — Reference Table</a:t>
            </a:r>
            <a:endParaRPr lang="en-US" sz="3000" dirty="0"/>
          </a:p>
        </p:txBody>
      </p:sp>
      <p:sp>
        <p:nvSpPr>
          <p:cNvPr id="4" name="Shape 2"/>
          <p:cNvSpPr/>
          <p:nvPr/>
        </p:nvSpPr>
        <p:spPr>
          <a:xfrm>
            <a:off x="905027" y="1289304"/>
            <a:ext cx="3493465" cy="4736592"/>
          </a:xfrm>
          <a:prstGeom prst="roundRect">
            <a:avLst>
              <a:gd name="adj" fmla="val 1570"/>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33.jpg"/>
          <p:cNvPicPr>
            <a:picLocks noChangeAspect="1"/>
          </p:cNvPicPr>
          <p:nvPr/>
        </p:nvPicPr>
        <p:blipFill>
          <a:blip r:embed="rId3"/>
          <a:stretch>
            <a:fillRect/>
          </a:stretch>
        </p:blipFill>
        <p:spPr>
          <a:xfrm>
            <a:off x="987323" y="1371600"/>
            <a:ext cx="3328873"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leg: reference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Group by compartment: anterior, lateral, posterior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Match each muscle to its foot movement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Note tendons crossing the ankle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Compartment syndrome awareness</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Intrinsic Muscles of the Foot</a:t>
            </a:r>
            <a:endParaRPr lang="en-US" sz="30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Support the arches of the foot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Provide balance and fine foot control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Layered plantar muscles cushion body weight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Arch support matters in diabetic foot care</a:t>
            </a:r>
            <a:endParaRPr lang="en-US" sz="1500" dirty="0"/>
          </a:p>
        </p:txBody>
      </p:sp>
      <p:sp>
        <p:nvSpPr>
          <p:cNvPr id="5" name="Shape 3"/>
          <p:cNvSpPr/>
          <p:nvPr/>
        </p:nvSpPr>
        <p:spPr>
          <a:xfrm>
            <a:off x="5581882" y="1335024"/>
            <a:ext cx="6026957" cy="4645152"/>
          </a:xfrm>
          <a:prstGeom prst="roundRect">
            <a:avLst>
              <a:gd name="adj" fmla="val 1181"/>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6" name="Image 0" descr="img/img34.jpg"/>
          <p:cNvPicPr>
            <a:picLocks noChangeAspect="1"/>
          </p:cNvPicPr>
          <p:nvPr/>
        </p:nvPicPr>
        <p:blipFill>
          <a:blip r:embed="rId3"/>
          <a:stretch>
            <a:fillRect/>
          </a:stretch>
        </p:blipFill>
        <p:spPr>
          <a:xfrm>
            <a:off x="5664178" y="1417320"/>
            <a:ext cx="586236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Intrinsic muscles of the foot</a:t>
            </a:r>
            <a:endParaRPr lang="en-US" sz="11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SECTION 11.6</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Foot Muscles — Reference Table</a:t>
            </a:r>
            <a:endParaRPr lang="en-US" sz="3000" dirty="0"/>
          </a:p>
        </p:txBody>
      </p:sp>
      <p:sp>
        <p:nvSpPr>
          <p:cNvPr id="4" name="Shape 2"/>
          <p:cNvSpPr/>
          <p:nvPr/>
        </p:nvSpPr>
        <p:spPr>
          <a:xfrm>
            <a:off x="943661" y="1289304"/>
            <a:ext cx="3416198" cy="4736592"/>
          </a:xfrm>
          <a:prstGeom prst="roundRect">
            <a:avLst>
              <a:gd name="adj" fmla="val 1606"/>
            </a:avLst>
          </a:prstGeom>
          <a:solidFill>
            <a:srgbClr val="FFFFFF"/>
          </a:solidFill>
          <a:ln w="12700">
            <a:solidFill>
              <a:srgbClr val="D7E2E6"/>
            </a:solidFill>
            <a:prstDash val="solid"/>
          </a:ln>
          <a:effectLst>
            <a:outerShdw blurRad="76200" dist="25400" dir="5400000" algn="bl" rotWithShape="0">
              <a:srgbClr val="9AA9AE">
                <a:alpha val="45000"/>
              </a:srgbClr>
            </a:outerShdw>
          </a:effectLst>
        </p:spPr>
        <p:txBody>
          <a:bodyPr/>
          <a:lstStyle/>
          <a:p>
            <a:endParaRPr lang="en-US"/>
          </a:p>
        </p:txBody>
      </p:sp>
      <p:pic>
        <p:nvPicPr>
          <p:cNvPr id="5" name="Image 0" descr="img/img35.jpg"/>
          <p:cNvPicPr>
            <a:picLocks noChangeAspect="1"/>
          </p:cNvPicPr>
          <p:nvPr/>
        </p:nvPicPr>
        <p:blipFill>
          <a:blip r:embed="rId3"/>
          <a:stretch>
            <a:fillRect/>
          </a:stretch>
        </p:blipFill>
        <p:spPr>
          <a:xfrm>
            <a:off x="1025957" y="1371600"/>
            <a:ext cx="325160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marL="0" indent="0" algn="ctr">
              <a:buNone/>
            </a:pPr>
            <a:r>
              <a:rPr lang="en-US" sz="1100" i="1" dirty="0">
                <a:solidFill>
                  <a:srgbClr val="5A6B70"/>
                </a:solidFill>
                <a:latin typeface="Calibri" pitchFamily="34" charset="0"/>
                <a:ea typeface="Calibri" pitchFamily="34" charset="-122"/>
                <a:cs typeface="Calibri" pitchFamily="34" charset="-120"/>
              </a:rPr>
              <a:t>Muscles of the foot: reference table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Plantar muscles arranged in four layers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Work with intrinsic and extrinsic tendons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Maintain the arches and move the toes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Reference for foot assessment</a:t>
            </a:r>
            <a:endParaRPr lang="en-US" sz="1600" dirty="0"/>
          </a:p>
        </p:txBody>
      </p:sp>
      <p:sp>
        <p:nvSpPr>
          <p:cNvPr id="9" name="Text 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rtlCol="0" anchor="ctr"/>
          <a:lstStyle/>
          <a:p>
            <a:pPr marL="0" indent="0">
              <a:buNone/>
            </a:pPr>
            <a:r>
              <a:rPr lang="en-US" sz="1200" b="1" kern="0" spc="200" dirty="0">
                <a:solidFill>
                  <a:srgbClr val="E36414"/>
                </a:solidFill>
                <a:latin typeface="Calibri" pitchFamily="34" charset="0"/>
                <a:ea typeface="Calibri" pitchFamily="34" charset="-122"/>
                <a:cs typeface="Calibri" pitchFamily="34" charset="-120"/>
              </a:rPr>
              <a:t>CHAPTER 11</a:t>
            </a:r>
            <a:endParaRPr lang="en-US" sz="1200" dirty="0"/>
          </a:p>
        </p:txBody>
      </p:sp>
      <p:sp>
        <p:nvSpPr>
          <p:cNvPr id="3" name="Text 1"/>
          <p:cNvSpPr/>
          <p:nvPr/>
        </p:nvSpPr>
        <p:spPr>
          <a:xfrm>
            <a:off x="475488" y="658368"/>
            <a:ext cx="11247120" cy="658368"/>
          </a:xfrm>
          <a:prstGeom prst="rect">
            <a:avLst/>
          </a:prstGeom>
          <a:noFill/>
          <a:ln/>
        </p:spPr>
        <p:txBody>
          <a:bodyPr wrap="square" rtlCol="0" anchor="ctr"/>
          <a:lstStyle/>
          <a:p>
            <a:pPr marL="0" indent="0">
              <a:buNone/>
            </a:pPr>
            <a:r>
              <a:rPr lang="en-US" sz="3000" b="1" dirty="0">
                <a:solidFill>
                  <a:srgbClr val="0F4C5C"/>
                </a:solidFill>
                <a:latin typeface="Georgia" pitchFamily="34" charset="0"/>
                <a:ea typeface="Georgia" pitchFamily="34" charset="-122"/>
                <a:cs typeface="Georgia" pitchFamily="34" charset="-120"/>
              </a:rPr>
              <a:t>Key Takeaways</a:t>
            </a:r>
            <a:endParaRPr lang="en-US" sz="3000" dirty="0"/>
          </a:p>
        </p:txBody>
      </p:sp>
      <p:sp>
        <p:nvSpPr>
          <p:cNvPr id="4" name="Shape 2"/>
          <p:cNvSpPr/>
          <p:nvPr/>
        </p:nvSpPr>
        <p:spPr>
          <a:xfrm>
            <a:off x="548640" y="1819656"/>
            <a:ext cx="237744" cy="237744"/>
          </a:xfrm>
          <a:prstGeom prst="ellipse">
            <a:avLst/>
          </a:prstGeom>
          <a:solidFill>
            <a:srgbClr val="E36414"/>
          </a:solidFill>
          <a:ln/>
        </p:spPr>
        <p:txBody>
          <a:bodyPr/>
          <a:lstStyle/>
          <a:p>
            <a:endParaRPr lang="en-US"/>
          </a:p>
        </p:txBody>
      </p:sp>
      <p:sp>
        <p:nvSpPr>
          <p:cNvPr id="5" name="Text 3"/>
          <p:cNvSpPr/>
          <p:nvPr/>
        </p:nvSpPr>
        <p:spPr>
          <a:xfrm>
            <a:off x="960120" y="1737360"/>
            <a:ext cx="10607040" cy="502920"/>
          </a:xfrm>
          <a:prstGeom prst="rect">
            <a:avLst/>
          </a:prstGeom>
          <a:noFill/>
          <a:ln/>
        </p:spPr>
        <p:txBody>
          <a:bodyPr wrap="square" rtlCol="0" anchor="ctr"/>
          <a:lstStyle/>
          <a:p>
            <a:pPr marL="0" indent="0">
              <a:buNone/>
            </a:pPr>
            <a:r>
              <a:rPr lang="en-US" sz="1600" dirty="0">
                <a:solidFill>
                  <a:srgbClr val="23363B"/>
                </a:solidFill>
                <a:latin typeface="Calibri" pitchFamily="34" charset="0"/>
                <a:ea typeface="Calibri" pitchFamily="34" charset="-122"/>
                <a:cs typeface="Calibri" pitchFamily="34" charset="-120"/>
              </a:rPr>
              <a:t>Muscles act in coordinated groups — agonist, antagonist, synergist, and fixator.</a:t>
            </a:r>
            <a:endParaRPr lang="en-US" sz="1600" dirty="0"/>
          </a:p>
        </p:txBody>
      </p:sp>
      <p:sp>
        <p:nvSpPr>
          <p:cNvPr id="6" name="Shape 4"/>
          <p:cNvSpPr/>
          <p:nvPr/>
        </p:nvSpPr>
        <p:spPr>
          <a:xfrm>
            <a:off x="548640" y="2569464"/>
            <a:ext cx="237744" cy="237744"/>
          </a:xfrm>
          <a:prstGeom prst="ellipse">
            <a:avLst/>
          </a:prstGeom>
          <a:solidFill>
            <a:srgbClr val="E36414"/>
          </a:solidFill>
          <a:ln/>
        </p:spPr>
        <p:txBody>
          <a:bodyPr/>
          <a:lstStyle/>
          <a:p>
            <a:endParaRPr lang="en-US"/>
          </a:p>
        </p:txBody>
      </p:sp>
      <p:sp>
        <p:nvSpPr>
          <p:cNvPr id="7" name="Text 5"/>
          <p:cNvSpPr/>
          <p:nvPr/>
        </p:nvSpPr>
        <p:spPr>
          <a:xfrm>
            <a:off x="960120" y="2487168"/>
            <a:ext cx="10607040" cy="502920"/>
          </a:xfrm>
          <a:prstGeom prst="rect">
            <a:avLst/>
          </a:prstGeom>
          <a:noFill/>
          <a:ln/>
        </p:spPr>
        <p:txBody>
          <a:bodyPr wrap="square" rtlCol="0" anchor="ctr"/>
          <a:lstStyle/>
          <a:p>
            <a:pPr marL="0" indent="0">
              <a:buNone/>
            </a:pPr>
            <a:r>
              <a:rPr lang="en-US" sz="1600" dirty="0">
                <a:solidFill>
                  <a:srgbClr val="23363B"/>
                </a:solidFill>
                <a:latin typeface="Calibri" pitchFamily="34" charset="0"/>
                <a:ea typeface="Calibri" pitchFamily="34" charset="-122"/>
                <a:cs typeface="Calibri" pitchFamily="34" charset="-120"/>
              </a:rPr>
              <a:t>Fascicle arrangement sets the trade-off between force and range of motion.</a:t>
            </a:r>
            <a:endParaRPr lang="en-US" sz="1600" dirty="0"/>
          </a:p>
        </p:txBody>
      </p:sp>
      <p:sp>
        <p:nvSpPr>
          <p:cNvPr id="8" name="Shape 6"/>
          <p:cNvSpPr/>
          <p:nvPr/>
        </p:nvSpPr>
        <p:spPr>
          <a:xfrm>
            <a:off x="548640" y="3319272"/>
            <a:ext cx="237744" cy="237744"/>
          </a:xfrm>
          <a:prstGeom prst="ellipse">
            <a:avLst/>
          </a:prstGeom>
          <a:solidFill>
            <a:srgbClr val="E36414"/>
          </a:solidFill>
          <a:ln/>
        </p:spPr>
        <p:txBody>
          <a:bodyPr/>
          <a:lstStyle/>
          <a:p>
            <a:endParaRPr lang="en-US"/>
          </a:p>
        </p:txBody>
      </p:sp>
      <p:sp>
        <p:nvSpPr>
          <p:cNvPr id="9" name="Text 7"/>
          <p:cNvSpPr/>
          <p:nvPr/>
        </p:nvSpPr>
        <p:spPr>
          <a:xfrm>
            <a:off x="960120" y="3236976"/>
            <a:ext cx="10607040" cy="502920"/>
          </a:xfrm>
          <a:prstGeom prst="rect">
            <a:avLst/>
          </a:prstGeom>
          <a:noFill/>
          <a:ln/>
        </p:spPr>
        <p:txBody>
          <a:bodyPr wrap="square" rtlCol="0" anchor="ctr"/>
          <a:lstStyle/>
          <a:p>
            <a:pPr marL="0" indent="0">
              <a:buNone/>
            </a:pPr>
            <a:r>
              <a:rPr lang="en-US" sz="1600" dirty="0">
                <a:solidFill>
                  <a:srgbClr val="23363B"/>
                </a:solidFill>
                <a:latin typeface="Calibri" pitchFamily="34" charset="0"/>
                <a:ea typeface="Calibri" pitchFamily="34" charset="-122"/>
                <a:cs typeface="Calibri" pitchFamily="34" charset="-120"/>
              </a:rPr>
              <a:t>Muscle names encode location, shape, size, direction, action, and attachments.</a:t>
            </a:r>
            <a:endParaRPr lang="en-US" sz="1600" dirty="0"/>
          </a:p>
        </p:txBody>
      </p:sp>
      <p:sp>
        <p:nvSpPr>
          <p:cNvPr id="10" name="Shape 8"/>
          <p:cNvSpPr/>
          <p:nvPr/>
        </p:nvSpPr>
        <p:spPr>
          <a:xfrm>
            <a:off x="548640" y="4069080"/>
            <a:ext cx="237744" cy="237744"/>
          </a:xfrm>
          <a:prstGeom prst="ellipse">
            <a:avLst/>
          </a:prstGeom>
          <a:solidFill>
            <a:srgbClr val="E36414"/>
          </a:solidFill>
          <a:ln/>
        </p:spPr>
        <p:txBody>
          <a:bodyPr/>
          <a:lstStyle/>
          <a:p>
            <a:endParaRPr lang="en-US"/>
          </a:p>
        </p:txBody>
      </p:sp>
      <p:sp>
        <p:nvSpPr>
          <p:cNvPr id="11" name="Text 9"/>
          <p:cNvSpPr/>
          <p:nvPr/>
        </p:nvSpPr>
        <p:spPr>
          <a:xfrm>
            <a:off x="960120" y="3986784"/>
            <a:ext cx="10607040" cy="502920"/>
          </a:xfrm>
          <a:prstGeom prst="rect">
            <a:avLst/>
          </a:prstGeom>
          <a:noFill/>
          <a:ln/>
        </p:spPr>
        <p:txBody>
          <a:bodyPr wrap="square" rtlCol="0" anchor="ctr"/>
          <a:lstStyle/>
          <a:p>
            <a:pPr marL="0" indent="0">
              <a:buNone/>
            </a:pPr>
            <a:r>
              <a:rPr lang="en-US" sz="1600" dirty="0">
                <a:solidFill>
                  <a:srgbClr val="23363B"/>
                </a:solidFill>
                <a:latin typeface="Calibri" pitchFamily="34" charset="0"/>
                <a:ea typeface="Calibri" pitchFamily="34" charset="-122"/>
                <a:cs typeface="Calibri" pitchFamily="34" charset="-120"/>
              </a:rPr>
              <a:t>Axial muscles support the head, neck, trunk, breathing, and continence.</a:t>
            </a:r>
            <a:endParaRPr lang="en-US" sz="1600" dirty="0"/>
          </a:p>
        </p:txBody>
      </p:sp>
      <p:sp>
        <p:nvSpPr>
          <p:cNvPr id="12" name="Shape 10"/>
          <p:cNvSpPr/>
          <p:nvPr/>
        </p:nvSpPr>
        <p:spPr>
          <a:xfrm>
            <a:off x="548640" y="4818888"/>
            <a:ext cx="237744" cy="237744"/>
          </a:xfrm>
          <a:prstGeom prst="ellipse">
            <a:avLst/>
          </a:prstGeom>
          <a:solidFill>
            <a:srgbClr val="E36414"/>
          </a:solidFill>
          <a:ln/>
        </p:spPr>
        <p:txBody>
          <a:bodyPr/>
          <a:lstStyle/>
          <a:p>
            <a:endParaRPr lang="en-US"/>
          </a:p>
        </p:txBody>
      </p:sp>
      <p:sp>
        <p:nvSpPr>
          <p:cNvPr id="13" name="Text 11"/>
          <p:cNvSpPr/>
          <p:nvPr/>
        </p:nvSpPr>
        <p:spPr>
          <a:xfrm>
            <a:off x="960120" y="4736592"/>
            <a:ext cx="10607040" cy="502920"/>
          </a:xfrm>
          <a:prstGeom prst="rect">
            <a:avLst/>
          </a:prstGeom>
          <a:noFill/>
          <a:ln/>
        </p:spPr>
        <p:txBody>
          <a:bodyPr wrap="square" rtlCol="0" anchor="ctr"/>
          <a:lstStyle/>
          <a:p>
            <a:pPr marL="0" indent="0">
              <a:buNone/>
            </a:pPr>
            <a:r>
              <a:rPr lang="en-US" sz="1600" dirty="0">
                <a:solidFill>
                  <a:srgbClr val="23363B"/>
                </a:solidFill>
                <a:latin typeface="Calibri" pitchFamily="34" charset="0"/>
                <a:ea typeface="Calibri" pitchFamily="34" charset="-122"/>
                <a:cs typeface="Calibri" pitchFamily="34" charset="-120"/>
              </a:rPr>
              <a:t>Appendicular muscles move the limbs and underlie gait, grasp, and balance.</a:t>
            </a:r>
            <a:endParaRPr lang="en-US" sz="1600" dirty="0"/>
          </a:p>
        </p:txBody>
      </p:sp>
      <p:sp>
        <p:nvSpPr>
          <p:cNvPr id="15" name="Text 1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5A6B70"/>
                </a:solidFill>
                <a:latin typeface="Calibri" pitchFamily="34" charset="0"/>
                <a:ea typeface="Calibri" pitchFamily="34" charset="-122"/>
                <a:cs typeface="Calibri" pitchFamily="34" charset="-120"/>
              </a:rPr>
              <a:t>PN 104 · Ch 11 — The Muscular System</a:t>
            </a:r>
            <a:endParaRPr lang="en-US" sz="900" dirty="0"/>
          </a:p>
        </p:txBody>
      </p:sp>
      <p:sp>
        <p:nvSpPr>
          <p:cNvPr id="16" name="Text 13"/>
          <p:cNvSpPr/>
          <p:nvPr/>
        </p:nvSpPr>
        <p:spPr>
          <a:xfrm>
            <a:off x="11338560" y="6473952"/>
            <a:ext cx="457200" cy="274320"/>
          </a:xfrm>
          <a:prstGeom prst="rect">
            <a:avLst/>
          </a:prstGeom>
          <a:noFill/>
          <a:ln/>
        </p:spPr>
        <p:txBody>
          <a:bodyPr wrap="square" rtlCol="0" anchor="ctr"/>
          <a:lstStyle/>
          <a:p>
            <a:pPr marL="0" indent="0" algn="r">
              <a:buNone/>
            </a:pPr>
            <a:r>
              <a:rPr lang="en-US" sz="900" dirty="0">
                <a:solidFill>
                  <a:srgbClr val="5A6B70"/>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4C5C"/>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marL="0" indent="0">
              <a:buNone/>
            </a:pPr>
            <a:r>
              <a:rPr lang="en-US" sz="1300" b="1" kern="0" spc="30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Why the Muscular System Matters in Practical Nursing</a:t>
            </a:r>
            <a:endParaRPr lang="en-US" sz="28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5" name="Text 3"/>
          <p:cNvSpPr/>
          <p:nvPr/>
        </p:nvSpPr>
        <p:spPr>
          <a:xfrm>
            <a:off x="777240" y="1819656"/>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Breathing</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Diaphragm (C3–C5), intercostals, and accessory muscles drive ventilation — watch for retractions.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8" name="Text 6"/>
          <p:cNvSpPr/>
          <p:nvPr/>
        </p:nvSpPr>
        <p:spPr>
          <a:xfrm>
            <a:off x="6400800" y="1819656"/>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Mobility &amp; Transfers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Gluteals, quadriceps, and hamstrings power standing and walking — central to fall risk and safe lifting.</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11" name="Text 9"/>
          <p:cNvSpPr/>
          <p:nvPr/>
        </p:nvSpPr>
        <p:spPr>
          <a:xfrm>
            <a:off x="777240" y="3392424"/>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Swallowing</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Tongue, suprahyoid, and pharyngeal muscles protect the airway — basis for aspiration precautions.</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14" name="Text 12"/>
          <p:cNvSpPr/>
          <p:nvPr/>
        </p:nvSpPr>
        <p:spPr>
          <a:xfrm>
            <a:off x="6400800" y="3392424"/>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Continence</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The pelvic floor (levator ani) supports organs and controls elimination — weakness causes incontinence.</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17" name="Text 15"/>
          <p:cNvSpPr/>
          <p:nvPr/>
        </p:nvSpPr>
        <p:spPr>
          <a:xfrm>
            <a:off x="777240" y="4965192"/>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Cranial Nerves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Link muscle groups to CN V (chewing), VII (face), XII (tongue), and XI (SCM/trapezius).</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txBody>
          <a:bodyPr/>
          <a:lstStyle/>
          <a:p>
            <a:endParaRPr lang="en-US"/>
          </a:p>
        </p:txBody>
      </p:sp>
      <p:sp>
        <p:nvSpPr>
          <p:cNvPr id="20" name="Text 18"/>
          <p:cNvSpPr/>
          <p:nvPr/>
        </p:nvSpPr>
        <p:spPr>
          <a:xfrm>
            <a:off x="6400800" y="4965192"/>
            <a:ext cx="5029200" cy="320040"/>
          </a:xfrm>
          <a:prstGeom prst="rect">
            <a:avLst/>
          </a:prstGeom>
          <a:noFill/>
          <a:ln/>
        </p:spPr>
        <p:txBody>
          <a:bodyPr wrap="square" rtlCol="0" anchor="ctr"/>
          <a:lstStyle/>
          <a:p>
            <a:pPr marL="0" indent="0">
              <a:buNone/>
            </a:pPr>
            <a:r>
              <a:rPr lang="en-US" sz="1600" b="1" dirty="0">
                <a:solidFill>
                  <a:srgbClr val="7FD0C8"/>
                </a:solidFill>
                <a:latin typeface="Georgia" pitchFamily="34" charset="0"/>
                <a:ea typeface="Georgia" pitchFamily="34" charset="-122"/>
                <a:cs typeface="Georgia" pitchFamily="34" charset="-120"/>
              </a:rPr>
              <a:t>Body Mechanics</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marL="0" indent="0">
              <a:lnSpc>
                <a:spcPct val="102000"/>
              </a:lnSpc>
              <a:buNone/>
            </a:pPr>
            <a:r>
              <a:rPr lang="en-US" sz="1250" dirty="0">
                <a:solidFill>
                  <a:srgbClr val="E6F1F3"/>
                </a:solidFill>
                <a:latin typeface="Calibri" pitchFamily="34" charset="0"/>
                <a:ea typeface="Calibri" pitchFamily="34" charset="-122"/>
                <a:cs typeface="Calibri" pitchFamily="34" charset="-120"/>
              </a:rPr>
              <a:t>Erector spinae and core muscles protect the back — reinforce lifting technique with every patient.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4047</Words>
  <Application>Microsoft Office PowerPoint</Application>
  <PresentationFormat>Widescreen</PresentationFormat>
  <Paragraphs>456</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Darline B Riggs</cp:lastModifiedBy>
  <cp:revision>1</cp:revision>
  <dcterms:created xsi:type="dcterms:W3CDTF">2026-06-23T19:32:21Z</dcterms:created>
  <dcterms:modified xsi:type="dcterms:W3CDTF">2026-06-23T19:52:06Z</dcterms:modified>
</cp:coreProperties>
</file>