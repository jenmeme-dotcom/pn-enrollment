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joints by structure (fibrous, cartilaginous, synovial) and function (how freely they move). Focus on synovial joints, the vocabulary of body movement, and the major joints — shoulder, hip, and knee — where the mobility-versus-stability trade-off is clearest.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Fibrous joints are held by dense connective tissue and allow little or no movement. They include sutures (immovable, between skull bones), syndesmoses (slightly movable, like the radius and ulna), and gomphoses (the pegs anchoring teeth in their sockets).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Cartilaginous joints unite bones with cartilage. Synchondroses (hyaline cartilage, like the epiphyseal plate) are immovable; symphyses (fibrocartilage, like the pubic symphysis and intervertebral discs) are slightly movable and absorb shock.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Synovial joints are freely movable and share a common design: a joint cavity filled with lubricating synovial fluid, articular (hyaline) cartilage cushioning the bone ends, a synovial membrane lining a fibrous capsule, and ligaments adding stability. Most limb joints are synovial.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Synovial joints come in six shapes, each permitting characteristic motion: plane (gliding), hinge (elbow, knee — flexion and extension), pivot (rotation, as at the neck), condyloid (wrist), saddle (thumb), and ball-and-socket (hip, shoulder — movement in all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Angular movements change the angle between bones: flexion (bending, decreasing the angle), extension (straightening), abduction (moving away from the midline), and adduction (moving back toward it). Demonstrate each on the body — these terms appear constantly in range-of-motion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movements include rotation (turning on an axis, like shaking the head "no"), pronation and supination of the forearm, circumduction (a cone-shaped motion), and special movements such as inversion and eversion of the foot and opposition of the thumb. These complete the vocabulary of joint motion.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shoulder is a ball-and-socket joint with the greatest range of motion — and, because of its shallow socket, the least stability. The rotator-cuff muscles and ligaments hold it together, which is why dislocations and rotator-cuff injuries are common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hip is also a ball-and-socket joint, but its deep acetabulum and strong ligaments make it far more stable than the shoulder, suited to weight-bearing. Hip fractures and arthritis (often requiring replacement) are major concerns in older adults.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knee is the largest and most complex joint — essentially a hinge that allows slight rotation. The cruciate ligaments (ACL and PCL) keep the bones from sliding, and the menisci (fibrocartilage pads) cushion and stabilize it. Bursae reduce friction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it bears weight while allowing motion, the knee is frequently injured. A sudden twist can tear the anterior cruciate ligament (ACL) or a meniscus, causing pain, swelling, and instability — injuries common in sports and falls and often requiring surgery.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Joints develop alongside the bones from embryonic tissue. In the newborn skull, wide fibrous fontanelles ("soft spots") act as flexible joints that let the skull mold during birth and accommodate rapid brain growth, gradually ossifying into immovable sutures over the first two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5C"/>
        </a:solidFill>
      </p:bgPr>
    </p:bg>
    <p:spTree>
      <p:nvGrpSpPr>
        <p:cNvPr id="1" name=""/>
        <p:cNvGrpSpPr/>
        <p:nvPr/>
      </p:nvGrpSpPr>
      <p:grpSpPr>
        <a:xfrm>
          <a:off x="0" y="0"/>
          <a:ext cx="0" cy="0"/>
          <a:chOff x="0" y="0"/>
          <a:chExt cx="0" cy="0"/>
        </a:xfrm>
      </p:grpSpPr>
      <p:sp>
        <p:nvSpPr>
          <p:cNvPr id="2" name="Text 0"/>
          <p:cNvSpPr/>
          <p:nvPr/>
        </p:nvSpPr>
        <p:spPr>
          <a:xfrm>
            <a:off x="731520" y="1325880"/>
            <a:ext cx="6400800" cy="457200"/>
          </a:xfrm>
          <a:prstGeom prst="rect">
            <a:avLst/>
          </a:prstGeom>
          <a:noFill/>
          <a:ln/>
        </p:spPr>
        <p:txBody>
          <a:bodyPr wrap="square" rtlCol="0" anchor="ctr"/>
          <a:lstStyle/>
          <a:p>
            <a:pPr indent="0" marL="0">
              <a:buNone/>
            </a:pPr>
            <a:r>
              <a:rPr lang="en-US" sz="1800" b="1" spc="400" kern="0" dirty="0">
                <a:solidFill>
                  <a:srgbClr val="E36414"/>
                </a:solidFill>
                <a:latin typeface="Calibri" pitchFamily="34" charset="0"/>
                <a:ea typeface="Calibri" pitchFamily="34" charset="-122"/>
                <a:cs typeface="Calibri" pitchFamily="34" charset="-120"/>
              </a:rPr>
              <a:t>CHAPTER 9</a:t>
            </a:r>
            <a:endParaRPr lang="en-US" sz="1800" dirty="0"/>
          </a:p>
        </p:txBody>
      </p:sp>
      <p:sp>
        <p:nvSpPr>
          <p:cNvPr id="3" name="Text 1"/>
          <p:cNvSpPr/>
          <p:nvPr/>
        </p:nvSpPr>
        <p:spPr>
          <a:xfrm>
            <a:off x="713232" y="1783080"/>
            <a:ext cx="6858000" cy="1920240"/>
          </a:xfrm>
          <a:prstGeom prst="rect">
            <a:avLst/>
          </a:prstGeom>
          <a:noFill/>
          <a:ln/>
        </p:spPr>
        <p:txBody>
          <a:bodyPr wrap="square" rtlCol="0" anchor="t"/>
          <a:lstStyle/>
          <a:p>
            <a:pPr indent="0" marL="0">
              <a:buNone/>
            </a:pPr>
            <a:r>
              <a:rPr lang="en-US" sz="4400" b="1" dirty="0">
                <a:solidFill>
                  <a:srgbClr val="FFFFFF"/>
                </a:solidFill>
                <a:latin typeface="Georgia" pitchFamily="34" charset="0"/>
                <a:ea typeface="Georgia" pitchFamily="34" charset="-122"/>
                <a:cs typeface="Georgia" pitchFamily="34" charset="-120"/>
              </a:rPr>
              <a:t>Joints</a:t>
            </a:r>
            <a:endParaRPr lang="en-US" sz="4400" dirty="0"/>
          </a:p>
        </p:txBody>
      </p:sp>
      <p:sp>
        <p:nvSpPr>
          <p:cNvPr id="4" name="Text 2"/>
          <p:cNvSpPr/>
          <p:nvPr/>
        </p:nvSpPr>
        <p:spPr>
          <a:xfrm>
            <a:off x="749808" y="3886200"/>
            <a:ext cx="6400800" cy="822960"/>
          </a:xfrm>
          <a:prstGeom prst="rect">
            <a:avLst/>
          </a:prstGeom>
          <a:noFill/>
          <a:ln/>
        </p:spPr>
        <p:txBody>
          <a:bodyPr wrap="square" rtlCol="0" anchor="ctr"/>
          <a:lstStyle/>
          <a:p>
            <a:pPr indent="0" marL="0">
              <a:lnSpc>
                <a:spcPct val="110000"/>
              </a:lnSpc>
              <a:buNone/>
            </a:pPr>
            <a:r>
              <a:rPr lang="en-US" sz="1600" dirty="0">
                <a:solidFill>
                  <a:srgbClr val="CFE3E7"/>
                </a:solidFill>
                <a:latin typeface="Calibri" pitchFamily="34" charset="0"/>
                <a:ea typeface="Calibri" pitchFamily="34" charset="-122"/>
                <a:cs typeface="Calibri" pitchFamily="34" charset="-120"/>
              </a:rPr>
              <a:t>How bones connect — and how the body moves.</a:t>
            </a:r>
            <a:endParaRPr lang="en-US" sz="1600" dirty="0"/>
          </a:p>
        </p:txBody>
      </p:sp>
      <p:sp>
        <p:nvSpPr>
          <p:cNvPr id="5" name="Text 3"/>
          <p:cNvSpPr/>
          <p:nvPr/>
        </p:nvSpPr>
        <p:spPr>
          <a:xfrm>
            <a:off x="749808" y="5806440"/>
            <a:ext cx="8229600" cy="320040"/>
          </a:xfrm>
          <a:prstGeom prst="rect">
            <a:avLst/>
          </a:prstGeom>
          <a:noFill/>
          <a:ln/>
        </p:spPr>
        <p:txBody>
          <a:bodyPr wrap="square" rtlCol="0" anchor="ctr"/>
          <a:lstStyle/>
          <a:p>
            <a:pPr indent="0" marL="0">
              <a:buNone/>
            </a:pPr>
            <a:r>
              <a:rPr lang="en-US" sz="1300" dirty="0">
                <a:solidFill>
                  <a:srgbClr val="9FC2C9"/>
                </a:solidFill>
                <a:latin typeface="Calibri" pitchFamily="34" charset="0"/>
                <a:ea typeface="Calibri" pitchFamily="34" charset="-122"/>
                <a:cs typeface="Calibri" pitchFamily="34" charset="-120"/>
              </a:rPr>
              <a:t>Anatomy &amp; Physiology  ·  Broward-Miami Health Institute</a:t>
            </a:r>
            <a:endParaRPr lang="en-US" sz="1300" dirty="0"/>
          </a:p>
        </p:txBody>
      </p:sp>
      <p:sp>
        <p:nvSpPr>
          <p:cNvPr id="6" name="Text 4"/>
          <p:cNvSpPr/>
          <p:nvPr/>
        </p:nvSpPr>
        <p:spPr>
          <a:xfrm>
            <a:off x="749808" y="6144768"/>
            <a:ext cx="3657600" cy="320040"/>
          </a:xfrm>
          <a:prstGeom prst="rect">
            <a:avLst/>
          </a:prstGeom>
          <a:noFill/>
          <a:ln/>
        </p:spPr>
        <p:txBody>
          <a:bodyPr wrap="square" rtlCol="0" anchor="ctr"/>
          <a:lstStyle/>
          <a:p>
            <a:pPr indent="0" marL="0">
              <a:buNone/>
            </a:pPr>
            <a:r>
              <a:rPr lang="en-US" sz="1100" b="1" spc="300" kern="0" dirty="0">
                <a:solidFill>
                  <a:srgbClr val="E36414"/>
                </a:solidFill>
                <a:latin typeface="Calibri" pitchFamily="34" charset="0"/>
                <a:ea typeface="Calibri" pitchFamily="34" charset="-122"/>
                <a:cs typeface="Calibri" pitchFamily="34" charset="-120"/>
              </a:rPr>
              <a:t>FACULTY EDITION</a:t>
            </a:r>
            <a:endParaRPr lang="en-US" sz="1100" dirty="0"/>
          </a:p>
        </p:txBody>
      </p:sp>
      <p:sp>
        <p:nvSpPr>
          <p:cNvPr id="7" name="Shape 5"/>
          <p:cNvSpPr/>
          <p:nvPr/>
        </p:nvSpPr>
        <p:spPr>
          <a:xfrm>
            <a:off x="7735824" y="2536410"/>
            <a:ext cx="4096512" cy="1968060"/>
          </a:xfrm>
          <a:prstGeom prst="roundRect">
            <a:avLst>
              <a:gd name="adj" fmla="val 2788"/>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8" name="Image 0" descr="/home/claude/all/ch09/img/img01.jpg">    </p:cNvPr>
          <p:cNvPicPr>
            <a:picLocks noChangeAspect="1"/>
          </p:cNvPicPr>
          <p:nvPr/>
        </p:nvPicPr>
        <p:blipFill>
          <a:blip r:embed="rId1"/>
          <a:stretch>
            <a:fillRect/>
          </a:stretch>
        </p:blipFill>
        <p:spPr>
          <a:xfrm>
            <a:off x="7818120" y="2618706"/>
            <a:ext cx="3931920" cy="18034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CHAPTER 9</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Learning Objectives</a:t>
            </a:r>
            <a:endParaRPr lang="en-US" sz="2800" dirty="0"/>
          </a:p>
        </p:txBody>
      </p:sp>
      <p:sp>
        <p:nvSpPr>
          <p:cNvPr id="4" name="Text 2"/>
          <p:cNvSpPr/>
          <p:nvPr/>
        </p:nvSpPr>
        <p:spPr>
          <a:xfrm>
            <a:off x="548640" y="1371600"/>
            <a:ext cx="8229600" cy="274320"/>
          </a:xfrm>
          <a:prstGeom prst="rect">
            <a:avLst/>
          </a:prstGeom>
          <a:noFill/>
          <a:ln/>
        </p:spPr>
        <p:txBody>
          <a:bodyPr wrap="square" rtlCol="0" anchor="ctr"/>
          <a:lstStyle/>
          <a:p>
            <a:pPr indent="0" marL="0">
              <a:buNone/>
            </a:pPr>
            <a:r>
              <a:rPr lang="en-US" sz="1200" i="1" dirty="0">
                <a:solidFill>
                  <a:srgbClr val="5A6B70"/>
                </a:solidFill>
                <a:latin typeface="Calibri" pitchFamily="34" charset="0"/>
                <a:ea typeface="Calibri" pitchFamily="34" charset="-122"/>
                <a:cs typeface="Calibri" pitchFamily="34" charset="-120"/>
              </a:rPr>
              <a:t>After studying this chapter, students will be able to:</a:t>
            </a:r>
            <a:endParaRPr lang="en-US" sz="1200" dirty="0"/>
          </a:p>
        </p:txBody>
      </p:sp>
      <p:sp>
        <p:nvSpPr>
          <p:cNvPr id="5" name="Shape 3"/>
          <p:cNvSpPr/>
          <p:nvPr/>
        </p:nvSpPr>
        <p:spPr>
          <a:xfrm>
            <a:off x="548640" y="1664208"/>
            <a:ext cx="384048" cy="384048"/>
          </a:xfrm>
          <a:prstGeom prst="ellipse">
            <a:avLst/>
          </a:prstGeom>
          <a:solidFill>
            <a:srgbClr val="0F4C5C"/>
          </a:solidFill>
          <a:ln/>
        </p:spPr>
      </p:sp>
      <p:sp>
        <p:nvSpPr>
          <p:cNvPr id="6" name="Text 4"/>
          <p:cNvSpPr/>
          <p:nvPr/>
        </p:nvSpPr>
        <p:spPr>
          <a:xfrm>
            <a:off x="548640" y="166420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7" name="Text 5"/>
          <p:cNvSpPr/>
          <p:nvPr/>
        </p:nvSpPr>
        <p:spPr>
          <a:xfrm>
            <a:off x="1115568" y="1645920"/>
            <a:ext cx="5943600" cy="786384"/>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Discuss both functional and structural classifications for body joints</a:t>
            </a:r>
            <a:endParaRPr lang="en-US" sz="1400" dirty="0"/>
          </a:p>
        </p:txBody>
      </p:sp>
      <p:sp>
        <p:nvSpPr>
          <p:cNvPr id="8" name="Shape 6"/>
          <p:cNvSpPr/>
          <p:nvPr/>
        </p:nvSpPr>
        <p:spPr>
          <a:xfrm>
            <a:off x="548640" y="2450592"/>
            <a:ext cx="384048" cy="384048"/>
          </a:xfrm>
          <a:prstGeom prst="ellipse">
            <a:avLst/>
          </a:prstGeom>
          <a:solidFill>
            <a:srgbClr val="0F4C5C"/>
          </a:solidFill>
          <a:ln/>
        </p:spPr>
      </p:sp>
      <p:sp>
        <p:nvSpPr>
          <p:cNvPr id="9" name="Text 7"/>
          <p:cNvSpPr/>
          <p:nvPr/>
        </p:nvSpPr>
        <p:spPr>
          <a:xfrm>
            <a:off x="548640" y="2450592"/>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0" name="Text 8"/>
          <p:cNvSpPr/>
          <p:nvPr/>
        </p:nvSpPr>
        <p:spPr>
          <a:xfrm>
            <a:off x="1115568" y="2432304"/>
            <a:ext cx="5943600" cy="786384"/>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Describe the characteristic features for fibrous, cartilaginous, and synovial joints and give examples of each</a:t>
            </a:r>
            <a:endParaRPr lang="en-US" sz="1400" dirty="0"/>
          </a:p>
        </p:txBody>
      </p:sp>
      <p:sp>
        <p:nvSpPr>
          <p:cNvPr id="11" name="Shape 9"/>
          <p:cNvSpPr/>
          <p:nvPr/>
        </p:nvSpPr>
        <p:spPr>
          <a:xfrm>
            <a:off x="548640" y="3236976"/>
            <a:ext cx="384048" cy="384048"/>
          </a:xfrm>
          <a:prstGeom prst="ellipse">
            <a:avLst/>
          </a:prstGeom>
          <a:solidFill>
            <a:srgbClr val="0F4C5C"/>
          </a:solidFill>
          <a:ln/>
        </p:spPr>
      </p:sp>
      <p:sp>
        <p:nvSpPr>
          <p:cNvPr id="12" name="Text 10"/>
          <p:cNvSpPr/>
          <p:nvPr/>
        </p:nvSpPr>
        <p:spPr>
          <a:xfrm>
            <a:off x="548640" y="3236976"/>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13" name="Text 11"/>
          <p:cNvSpPr/>
          <p:nvPr/>
        </p:nvSpPr>
        <p:spPr>
          <a:xfrm>
            <a:off x="1115568" y="3218688"/>
            <a:ext cx="5943600" cy="786384"/>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Define and identify the different body movements</a:t>
            </a:r>
            <a:endParaRPr lang="en-US" sz="1400" dirty="0"/>
          </a:p>
        </p:txBody>
      </p:sp>
      <p:sp>
        <p:nvSpPr>
          <p:cNvPr id="14" name="Shape 12"/>
          <p:cNvSpPr/>
          <p:nvPr/>
        </p:nvSpPr>
        <p:spPr>
          <a:xfrm>
            <a:off x="548640" y="4023360"/>
            <a:ext cx="384048" cy="384048"/>
          </a:xfrm>
          <a:prstGeom prst="ellipse">
            <a:avLst/>
          </a:prstGeom>
          <a:solidFill>
            <a:srgbClr val="0F4C5C"/>
          </a:solidFill>
          <a:ln/>
        </p:spPr>
      </p:sp>
      <p:sp>
        <p:nvSpPr>
          <p:cNvPr id="15" name="Text 13"/>
          <p:cNvSpPr/>
          <p:nvPr/>
        </p:nvSpPr>
        <p:spPr>
          <a:xfrm>
            <a:off x="548640" y="4023360"/>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16" name="Text 14"/>
          <p:cNvSpPr/>
          <p:nvPr/>
        </p:nvSpPr>
        <p:spPr>
          <a:xfrm>
            <a:off x="1115568" y="4005072"/>
            <a:ext cx="5943600" cy="786384"/>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Discuss the structure of specific body joints and the movements allowed by each</a:t>
            </a:r>
            <a:endParaRPr lang="en-US" sz="1400" dirty="0"/>
          </a:p>
        </p:txBody>
      </p:sp>
      <p:sp>
        <p:nvSpPr>
          <p:cNvPr id="17" name="Shape 15"/>
          <p:cNvSpPr/>
          <p:nvPr/>
        </p:nvSpPr>
        <p:spPr>
          <a:xfrm>
            <a:off x="7659746" y="1545336"/>
            <a:ext cx="3882908" cy="4370832"/>
          </a:xfrm>
          <a:prstGeom prst="roundRect">
            <a:avLst>
              <a:gd name="adj" fmla="val 1413"/>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18" name="Image 0" descr="/home/claude/all/ch09/img/img08.jpg">    </p:cNvPr>
          <p:cNvPicPr>
            <a:picLocks noChangeAspect="1"/>
          </p:cNvPicPr>
          <p:nvPr/>
        </p:nvPicPr>
        <p:blipFill>
          <a:blip r:embed="rId1"/>
          <a:stretch>
            <a:fillRect/>
          </a:stretch>
        </p:blipFill>
        <p:spPr>
          <a:xfrm>
            <a:off x="7742042" y="1627632"/>
            <a:ext cx="3718316" cy="4206240"/>
          </a:xfrm>
          <a:prstGeom prst="rect">
            <a:avLst/>
          </a:prstGeom>
        </p:spPr>
      </p:pic>
      <p:sp>
        <p:nvSpPr>
          <p:cNvPr id="19" name="Text 16"/>
          <p:cNvSpPr/>
          <p:nvPr/>
        </p:nvSpPr>
        <p:spPr>
          <a:xfrm>
            <a:off x="7498080" y="5943600"/>
            <a:ext cx="420624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A synovial joint — the body's most movable joint.</a:t>
            </a:r>
            <a:endParaRPr lang="en-US" sz="1100" dirty="0"/>
          </a:p>
        </p:txBody>
      </p:sp>
      <p:sp>
        <p:nvSpPr>
          <p:cNvPr id="21" name="Text 17"/>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9 — Joints</a:t>
            </a:r>
            <a:endParaRPr lang="en-US" sz="900" dirty="0"/>
          </a:p>
        </p:txBody>
      </p:sp>
      <p:sp>
        <p:nvSpPr>
          <p:cNvPr id="22" name="Text 18"/>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9.2</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Fibrous Joints</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Joints held by fibrous connective tissue — mostly immovable.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9.2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Fibrous Joints</a:t>
            </a:r>
            <a:endParaRPr lang="en-US" sz="2800" dirty="0"/>
          </a:p>
        </p:txBody>
      </p:sp>
      <p:sp>
        <p:nvSpPr>
          <p:cNvPr id="4" name="Shape 2"/>
          <p:cNvSpPr/>
          <p:nvPr/>
        </p:nvSpPr>
        <p:spPr>
          <a:xfrm>
            <a:off x="1962677" y="1289304"/>
            <a:ext cx="8281885"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9/img/img05.jpg">    </p:cNvPr>
          <p:cNvPicPr>
            <a:picLocks noChangeAspect="1"/>
          </p:cNvPicPr>
          <p:nvPr/>
        </p:nvPicPr>
        <p:blipFill>
          <a:blip r:embed="rId1"/>
          <a:stretch>
            <a:fillRect/>
          </a:stretch>
        </p:blipFill>
        <p:spPr>
          <a:xfrm>
            <a:off x="2044973" y="1371600"/>
            <a:ext cx="8117293"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Types of fibrous joints</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Bones joined by fibrous tissue</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Little or no movement</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Sutures join the skull bones</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Gomphoses anchor the teeth</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9 — Joints</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9.3</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Cartilaginous Joints</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Joints united by cartilage — slightly movable or immovable.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9.3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Cartilaginous Joints</a:t>
            </a:r>
            <a:endParaRPr lang="en-US" sz="2800" dirty="0"/>
          </a:p>
        </p:txBody>
      </p:sp>
      <p:sp>
        <p:nvSpPr>
          <p:cNvPr id="4" name="Shape 2"/>
          <p:cNvSpPr/>
          <p:nvPr/>
        </p:nvSpPr>
        <p:spPr>
          <a:xfrm>
            <a:off x="2259560" y="1289304"/>
            <a:ext cx="7688120"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9/img/img07.jpg">    </p:cNvPr>
          <p:cNvPicPr>
            <a:picLocks noChangeAspect="1"/>
          </p:cNvPicPr>
          <p:nvPr/>
        </p:nvPicPr>
        <p:blipFill>
          <a:blip r:embed="rId1"/>
          <a:stretch>
            <a:fillRect/>
          </a:stretch>
        </p:blipFill>
        <p:spPr>
          <a:xfrm>
            <a:off x="2341856" y="1371600"/>
            <a:ext cx="7523528"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Types of cartilaginous joints</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Bones joined by cartilage</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Slightly movable or immovable</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Pubic symphysis allows give in birth</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Intervertebral discs cushion the spine</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9 — Joints</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9.4</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Synovial Joints</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Freely movable joints with a fluid-filled cavity — the most common type.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9.4</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Structure of a Synovial Joint</a:t>
            </a:r>
            <a:endParaRPr lang="en-US" sz="2800" dirty="0"/>
          </a:p>
        </p:txBody>
      </p:sp>
      <p:sp>
        <p:nvSpPr>
          <p:cNvPr id="4" name="Shape 2"/>
          <p:cNvSpPr/>
          <p:nvPr/>
        </p:nvSpPr>
        <p:spPr>
          <a:xfrm>
            <a:off x="548640" y="1289304"/>
            <a:ext cx="4206240" cy="4736592"/>
          </a:xfrm>
          <a:prstGeom prst="roundRect">
            <a:avLst>
              <a:gd name="adj" fmla="val 1304"/>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9/img/img08.jpg">    </p:cNvPr>
          <p:cNvPicPr>
            <a:picLocks noChangeAspect="1"/>
          </p:cNvPicPr>
          <p:nvPr/>
        </p:nvPicPr>
        <p:blipFill>
          <a:blip r:embed="rId1"/>
          <a:stretch>
            <a:fillRect/>
          </a:stretch>
        </p:blipFill>
        <p:spPr>
          <a:xfrm>
            <a:off x="630936" y="1371600"/>
            <a:ext cx="4041648"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structure of a synovial joint</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A fluid-filled joint cavity</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Articular cartilage caps the bone ends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Synovial membrane secretes fluid</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Capsule and ligaments stabilize it</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9 — Joints</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9.4</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Types of Synovial Joints</a:t>
            </a:r>
            <a:endParaRPr lang="en-US" sz="2800" dirty="0"/>
          </a:p>
        </p:txBody>
      </p:sp>
      <p:sp>
        <p:nvSpPr>
          <p:cNvPr id="4" name="Shape 2"/>
          <p:cNvSpPr/>
          <p:nvPr/>
        </p:nvSpPr>
        <p:spPr>
          <a:xfrm>
            <a:off x="651053" y="1289304"/>
            <a:ext cx="4001414" cy="4736592"/>
          </a:xfrm>
          <a:prstGeom prst="roundRect">
            <a:avLst>
              <a:gd name="adj" fmla="val 13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9/img/img10.jpg">    </p:cNvPr>
          <p:cNvPicPr>
            <a:picLocks noChangeAspect="1"/>
          </p:cNvPicPr>
          <p:nvPr/>
        </p:nvPicPr>
        <p:blipFill>
          <a:blip r:embed="rId1"/>
          <a:stretch>
            <a:fillRect/>
          </a:stretch>
        </p:blipFill>
        <p:spPr>
          <a:xfrm>
            <a:off x="733349" y="1371600"/>
            <a:ext cx="3836822"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six types of synovial joints</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Six shapes allow different motions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Hinge (elbow), pivot (neck)</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Ball-and-socket (hip, shoulder)</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Saddle, plane, and condyloid</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9 — Joints</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9.5</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Types of Body Movements</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Flexion, extension, rotation, and the other movements joints allow.</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9.5</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Body Movements — Angular</a:t>
            </a:r>
            <a:endParaRPr lang="en-US" sz="2800" dirty="0"/>
          </a:p>
        </p:txBody>
      </p:sp>
      <p:sp>
        <p:nvSpPr>
          <p:cNvPr id="4" name="Shape 2"/>
          <p:cNvSpPr/>
          <p:nvPr/>
        </p:nvSpPr>
        <p:spPr>
          <a:xfrm>
            <a:off x="640080" y="1289304"/>
            <a:ext cx="4023360" cy="4736592"/>
          </a:xfrm>
          <a:prstGeom prst="roundRect">
            <a:avLst>
              <a:gd name="adj" fmla="val 1364"/>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9/img/img12.jpg">    </p:cNvPr>
          <p:cNvPicPr>
            <a:picLocks noChangeAspect="1"/>
          </p:cNvPicPr>
          <p:nvPr/>
        </p:nvPicPr>
        <p:blipFill>
          <a:blip r:embed="rId1"/>
          <a:stretch>
            <a:fillRect/>
          </a:stretch>
        </p:blipFill>
        <p:spPr>
          <a:xfrm>
            <a:off x="722376" y="1371600"/>
            <a:ext cx="3858768"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Angular movements at synovial joints</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Flexion decreases a joint angle</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Extension increases it</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Abduction moves away from midline</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Adduction moves toward it</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9 — Joints</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9.5</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Body Movements — Rotational &amp; Special</a:t>
            </a:r>
            <a:endParaRPr lang="en-US" sz="2800" dirty="0"/>
          </a:p>
        </p:txBody>
      </p:sp>
      <p:sp>
        <p:nvSpPr>
          <p:cNvPr id="4" name="Shape 2"/>
          <p:cNvSpPr/>
          <p:nvPr/>
        </p:nvSpPr>
        <p:spPr>
          <a:xfrm>
            <a:off x="452628" y="1289304"/>
            <a:ext cx="4398264" cy="4736592"/>
          </a:xfrm>
          <a:prstGeom prst="roundRect">
            <a:avLst>
              <a:gd name="adj" fmla="val 1247"/>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9/img/img13.jpg">    </p:cNvPr>
          <p:cNvPicPr>
            <a:picLocks noChangeAspect="1"/>
          </p:cNvPicPr>
          <p:nvPr/>
        </p:nvPicPr>
        <p:blipFill>
          <a:blip r:embed="rId1"/>
          <a:stretch>
            <a:fillRect/>
          </a:stretch>
        </p:blipFill>
        <p:spPr>
          <a:xfrm>
            <a:off x="534924" y="1371600"/>
            <a:ext cx="4233672"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Rotational and special movements</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Rotation turns a bone on its axis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Pronation and supination of the forearm</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Inversion and eversion of the foot</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Special movements at specific joints</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9 — Joints</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9.6</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Anatomy of Selected Synovial Joints</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A closer look at the shoulder, hip, and knee.</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9.6</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Shoulder Joint</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 ball-and-socket joint</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 most mobile joint in the body</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Shallow socket = least stable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Rotator cuff provides support</a:t>
            </a:r>
            <a:endParaRPr lang="en-US" sz="1500" dirty="0"/>
          </a:p>
        </p:txBody>
      </p:sp>
      <p:sp>
        <p:nvSpPr>
          <p:cNvPr id="5" name="Shape 3"/>
          <p:cNvSpPr/>
          <p:nvPr/>
        </p:nvSpPr>
        <p:spPr>
          <a:xfrm>
            <a:off x="5448809" y="1335024"/>
            <a:ext cx="6293102"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09/img/img16.jpg">    </p:cNvPr>
          <p:cNvPicPr>
            <a:picLocks noChangeAspect="1"/>
          </p:cNvPicPr>
          <p:nvPr/>
        </p:nvPicPr>
        <p:blipFill>
          <a:blip r:embed="rId1"/>
          <a:stretch>
            <a:fillRect/>
          </a:stretch>
        </p:blipFill>
        <p:spPr>
          <a:xfrm>
            <a:off x="5531105" y="1417320"/>
            <a:ext cx="6128510"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shoulder (glenohumeral) joint</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9 — Joints</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9.6</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Hip Joint</a:t>
            </a:r>
            <a:endParaRPr lang="en-US" sz="2800" dirty="0"/>
          </a:p>
        </p:txBody>
      </p:sp>
      <p:sp>
        <p:nvSpPr>
          <p:cNvPr id="4" name="Shape 2"/>
          <p:cNvSpPr/>
          <p:nvPr/>
        </p:nvSpPr>
        <p:spPr>
          <a:xfrm>
            <a:off x="1325880" y="1289304"/>
            <a:ext cx="2651760" cy="4736592"/>
          </a:xfrm>
          <a:prstGeom prst="roundRect">
            <a:avLst>
              <a:gd name="adj" fmla="val 2069"/>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9/img/img18.jpg">    </p:cNvPr>
          <p:cNvPicPr>
            <a:picLocks noChangeAspect="1"/>
          </p:cNvPicPr>
          <p:nvPr/>
        </p:nvPicPr>
        <p:blipFill>
          <a:blip r:embed="rId1"/>
          <a:stretch>
            <a:fillRect/>
          </a:stretch>
        </p:blipFill>
        <p:spPr>
          <a:xfrm>
            <a:off x="1408176" y="1371600"/>
            <a:ext cx="2487168"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hip joint</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A ball-and-socket joint</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Deep socket = very stable</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Bears the body's weight</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Strong ligaments reinforce it</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9 — Joints</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9.6</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Knee Joint</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The largest, most complex joint</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 modified hinge joint</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Cruciate ligaments provide stability</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Menisci cushion the joint</a:t>
            </a:r>
            <a:endParaRPr lang="en-US" sz="1500" dirty="0"/>
          </a:p>
        </p:txBody>
      </p:sp>
      <p:sp>
        <p:nvSpPr>
          <p:cNvPr id="5" name="Shape 3"/>
          <p:cNvSpPr/>
          <p:nvPr/>
        </p:nvSpPr>
        <p:spPr>
          <a:xfrm>
            <a:off x="5720331" y="1335024"/>
            <a:ext cx="5750058"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09/img/img09.jpg">    </p:cNvPr>
          <p:cNvPicPr>
            <a:picLocks noChangeAspect="1"/>
          </p:cNvPicPr>
          <p:nvPr/>
        </p:nvPicPr>
        <p:blipFill>
          <a:blip r:embed="rId1"/>
          <a:stretch>
            <a:fillRect/>
          </a:stretch>
        </p:blipFill>
        <p:spPr>
          <a:xfrm>
            <a:off x="5802627" y="1417320"/>
            <a:ext cx="5585466"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knee joint</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9 — Joints</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9.6</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Knee Injuries</a:t>
            </a:r>
            <a:endParaRPr lang="en-US" sz="2800" dirty="0"/>
          </a:p>
        </p:txBody>
      </p:sp>
      <p:sp>
        <p:nvSpPr>
          <p:cNvPr id="4" name="Shape 2"/>
          <p:cNvSpPr/>
          <p:nvPr/>
        </p:nvSpPr>
        <p:spPr>
          <a:xfrm>
            <a:off x="3039658" y="1289304"/>
            <a:ext cx="6127925"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9/img/img20.jpg">    </p:cNvPr>
          <p:cNvPicPr>
            <a:picLocks noChangeAspect="1"/>
          </p:cNvPicPr>
          <p:nvPr/>
        </p:nvPicPr>
        <p:blipFill>
          <a:blip r:embed="rId1"/>
          <a:stretch>
            <a:fillRect/>
          </a:stretch>
        </p:blipFill>
        <p:spPr>
          <a:xfrm>
            <a:off x="3121954" y="1371600"/>
            <a:ext cx="5963333"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Torn ACL and meniscus of the knee</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The knee is prone to injury</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ACL tears from twisting forces</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Meniscus tears with rotation</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Common in sports and falls</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9 — Joints</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9.7</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Development of Joints</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How joints form before birth, as the skeleton develops.</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9.7</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Development of Joints</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Joints form as the skeleton develops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Fibrous fontanelles in the infant skull</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Allow skull molding and brain growth</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Close into sutures over time</a:t>
            </a:r>
            <a:endParaRPr lang="en-US" sz="1500" dirty="0"/>
          </a:p>
        </p:txBody>
      </p:sp>
      <p:sp>
        <p:nvSpPr>
          <p:cNvPr id="5" name="Shape 3"/>
          <p:cNvSpPr/>
          <p:nvPr/>
        </p:nvSpPr>
        <p:spPr>
          <a:xfrm>
            <a:off x="5404104" y="1497817"/>
            <a:ext cx="6382512" cy="4319567"/>
          </a:xfrm>
          <a:prstGeom prst="roundRect">
            <a:avLst>
              <a:gd name="adj" fmla="val 1270"/>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09/img/img06.jpg">    </p:cNvPr>
          <p:cNvPicPr>
            <a:picLocks noChangeAspect="1"/>
          </p:cNvPicPr>
          <p:nvPr/>
        </p:nvPicPr>
        <p:blipFill>
          <a:blip r:embed="rId1"/>
          <a:stretch>
            <a:fillRect/>
          </a:stretch>
        </p:blipFill>
        <p:spPr>
          <a:xfrm>
            <a:off x="5486400" y="1580113"/>
            <a:ext cx="6217920" cy="4154975"/>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Fontanelles of the developing skull</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9 — Joints</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CHAPTER 9</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Key Takeaways</a:t>
            </a:r>
            <a:endParaRPr lang="en-US" sz="2800" dirty="0"/>
          </a:p>
        </p:txBody>
      </p:sp>
      <p:sp>
        <p:nvSpPr>
          <p:cNvPr id="4" name="Shape 2"/>
          <p:cNvSpPr/>
          <p:nvPr/>
        </p:nvSpPr>
        <p:spPr>
          <a:xfrm>
            <a:off x="548640" y="1819656"/>
            <a:ext cx="237744" cy="237744"/>
          </a:xfrm>
          <a:prstGeom prst="ellipse">
            <a:avLst/>
          </a:prstGeom>
          <a:solidFill>
            <a:srgbClr val="E36414"/>
          </a:solidFill>
          <a:ln/>
        </p:spPr>
      </p:sp>
      <p:sp>
        <p:nvSpPr>
          <p:cNvPr id="5" name="Text 3"/>
          <p:cNvSpPr/>
          <p:nvPr/>
        </p:nvSpPr>
        <p:spPr>
          <a:xfrm>
            <a:off x="960120" y="1737360"/>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Joints are classified by structure (fibrous, cartilaginous, synovial) and by how much they move.</a:t>
            </a:r>
            <a:endParaRPr lang="en-US" sz="1550" dirty="0"/>
          </a:p>
        </p:txBody>
      </p:sp>
      <p:sp>
        <p:nvSpPr>
          <p:cNvPr id="6" name="Shape 4"/>
          <p:cNvSpPr/>
          <p:nvPr/>
        </p:nvSpPr>
        <p:spPr>
          <a:xfrm>
            <a:off x="548640" y="2606040"/>
            <a:ext cx="237744" cy="237744"/>
          </a:xfrm>
          <a:prstGeom prst="ellipse">
            <a:avLst/>
          </a:prstGeom>
          <a:solidFill>
            <a:srgbClr val="E36414"/>
          </a:solidFill>
          <a:ln/>
        </p:spPr>
      </p:sp>
      <p:sp>
        <p:nvSpPr>
          <p:cNvPr id="7" name="Text 5"/>
          <p:cNvSpPr/>
          <p:nvPr/>
        </p:nvSpPr>
        <p:spPr>
          <a:xfrm>
            <a:off x="960120" y="2523744"/>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Fibrous and cartilaginous joints allow little movement but provide strength and shock absorption.</a:t>
            </a:r>
            <a:endParaRPr lang="en-US" sz="1550" dirty="0"/>
          </a:p>
        </p:txBody>
      </p:sp>
      <p:sp>
        <p:nvSpPr>
          <p:cNvPr id="8" name="Shape 6"/>
          <p:cNvSpPr/>
          <p:nvPr/>
        </p:nvSpPr>
        <p:spPr>
          <a:xfrm>
            <a:off x="548640" y="3392424"/>
            <a:ext cx="237744" cy="237744"/>
          </a:xfrm>
          <a:prstGeom prst="ellipse">
            <a:avLst/>
          </a:prstGeom>
          <a:solidFill>
            <a:srgbClr val="E36414"/>
          </a:solidFill>
          <a:ln/>
        </p:spPr>
      </p:sp>
      <p:sp>
        <p:nvSpPr>
          <p:cNvPr id="9" name="Text 7"/>
          <p:cNvSpPr/>
          <p:nvPr/>
        </p:nvSpPr>
        <p:spPr>
          <a:xfrm>
            <a:off x="960120" y="3310128"/>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Synovial joints are freely movable, with a fluid-filled cavity and six structural types.</a:t>
            </a:r>
            <a:endParaRPr lang="en-US" sz="1550" dirty="0"/>
          </a:p>
        </p:txBody>
      </p:sp>
      <p:sp>
        <p:nvSpPr>
          <p:cNvPr id="10" name="Shape 8"/>
          <p:cNvSpPr/>
          <p:nvPr/>
        </p:nvSpPr>
        <p:spPr>
          <a:xfrm>
            <a:off x="548640" y="4178808"/>
            <a:ext cx="237744" cy="237744"/>
          </a:xfrm>
          <a:prstGeom prst="ellipse">
            <a:avLst/>
          </a:prstGeom>
          <a:solidFill>
            <a:srgbClr val="E36414"/>
          </a:solidFill>
          <a:ln/>
        </p:spPr>
      </p:sp>
      <p:sp>
        <p:nvSpPr>
          <p:cNvPr id="11" name="Text 9"/>
          <p:cNvSpPr/>
          <p:nvPr/>
        </p:nvSpPr>
        <p:spPr>
          <a:xfrm>
            <a:off x="960120" y="4096512"/>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Body movements — flexion, extension, rotation, and more — describe how joints move.</a:t>
            </a:r>
            <a:endParaRPr lang="en-US" sz="1550" dirty="0"/>
          </a:p>
        </p:txBody>
      </p:sp>
      <p:sp>
        <p:nvSpPr>
          <p:cNvPr id="12" name="Shape 10"/>
          <p:cNvSpPr/>
          <p:nvPr/>
        </p:nvSpPr>
        <p:spPr>
          <a:xfrm>
            <a:off x="548640" y="4965192"/>
            <a:ext cx="237744" cy="237744"/>
          </a:xfrm>
          <a:prstGeom prst="ellipse">
            <a:avLst/>
          </a:prstGeom>
          <a:solidFill>
            <a:srgbClr val="E36414"/>
          </a:solidFill>
          <a:ln/>
        </p:spPr>
      </p:sp>
      <p:sp>
        <p:nvSpPr>
          <p:cNvPr id="13" name="Text 11"/>
          <p:cNvSpPr/>
          <p:nvPr/>
        </p:nvSpPr>
        <p:spPr>
          <a:xfrm>
            <a:off x="960120" y="4882896"/>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shoulder, hip, and knee illustrate the trade-off between mobility and stability.</a:t>
            </a:r>
            <a:endParaRPr lang="en-US" sz="1550" dirty="0"/>
          </a:p>
        </p:txBody>
      </p:sp>
      <p:sp>
        <p:nvSpPr>
          <p:cNvPr id="14" name="Text 12"/>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9 — Joints</a:t>
            </a:r>
            <a:endParaRPr lang="en-US" sz="900" dirty="0"/>
          </a:p>
        </p:txBody>
      </p:sp>
      <p:sp>
        <p:nvSpPr>
          <p:cNvPr id="15" name="Text 13"/>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4C5C"/>
        </a:solidFill>
      </p:bgPr>
    </p:bg>
    <p:spTree>
      <p:nvGrpSpPr>
        <p:cNvPr id="1" name=""/>
        <p:cNvGrpSpPr/>
        <p:nvPr/>
      </p:nvGrpSpPr>
      <p:grpSpPr>
        <a:xfrm>
          <a:off x="0" y="0"/>
          <a:ext cx="0" cy="0"/>
          <a:chOff x="0" y="0"/>
          <a:chExt cx="0" cy="0"/>
        </a:xfrm>
      </p:grpSpPr>
      <p:sp>
        <p:nvSpPr>
          <p:cNvPr id="2" name="Text 0"/>
          <p:cNvSpPr/>
          <p:nvPr/>
        </p:nvSpPr>
        <p:spPr>
          <a:xfrm>
            <a:off x="548640" y="502920"/>
            <a:ext cx="10058400" cy="365760"/>
          </a:xfrm>
          <a:prstGeom prst="rect">
            <a:avLst/>
          </a:prstGeom>
          <a:noFill/>
          <a:ln/>
        </p:spPr>
        <p:txBody>
          <a:bodyPr wrap="square" rtlCol="0" anchor="ctr"/>
          <a:lstStyle/>
          <a:p>
            <a:pPr indent="0" marL="0">
              <a:buNone/>
            </a:pPr>
            <a:r>
              <a:rPr lang="en-US" sz="1300" b="1" spc="300" kern="0" dirty="0">
                <a:solidFill>
                  <a:srgbClr val="E36414"/>
                </a:solidFill>
                <a:latin typeface="Calibri" pitchFamily="34" charset="0"/>
                <a:ea typeface="Calibri" pitchFamily="34" charset="-122"/>
                <a:cs typeface="Calibri" pitchFamily="34" charset="-120"/>
              </a:rPr>
              <a:t>CLINICAL CONNECTIONS</a:t>
            </a:r>
            <a:endParaRPr lang="en-US" sz="1300" dirty="0"/>
          </a:p>
        </p:txBody>
      </p:sp>
      <p:sp>
        <p:nvSpPr>
          <p:cNvPr id="3" name="Text 1"/>
          <p:cNvSpPr/>
          <p:nvPr/>
        </p:nvSpPr>
        <p:spPr>
          <a:xfrm>
            <a:off x="530352" y="841248"/>
            <a:ext cx="10972800" cy="64008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Why Joints Matter in Practical Nursing</a:t>
            </a:r>
            <a:endParaRPr lang="en-US" sz="2600" dirty="0"/>
          </a:p>
        </p:txBody>
      </p:sp>
      <p:sp>
        <p:nvSpPr>
          <p:cNvPr id="4" name="Shape 2"/>
          <p:cNvSpPr/>
          <p:nvPr/>
        </p:nvSpPr>
        <p:spPr>
          <a:xfrm>
            <a:off x="548640" y="1691640"/>
            <a:ext cx="5440680" cy="1417320"/>
          </a:xfrm>
          <a:prstGeom prst="roundRect">
            <a:avLst>
              <a:gd name="adj" fmla="val 5161"/>
            </a:avLst>
          </a:prstGeom>
          <a:solidFill>
            <a:srgbClr val="13586A"/>
          </a:solidFill>
          <a:ln w="12700">
            <a:solidFill>
              <a:srgbClr val="2A7A8C"/>
            </a:solidFill>
            <a:prstDash val="solid"/>
          </a:ln>
        </p:spPr>
      </p:sp>
      <p:sp>
        <p:nvSpPr>
          <p:cNvPr id="5" name="Text 3"/>
          <p:cNvSpPr/>
          <p:nvPr/>
        </p:nvSpPr>
        <p:spPr>
          <a:xfrm>
            <a:off x="777240" y="181965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Range of Motion</a:t>
            </a:r>
            <a:endParaRPr lang="en-US" sz="1600" dirty="0"/>
          </a:p>
        </p:txBody>
      </p:sp>
      <p:sp>
        <p:nvSpPr>
          <p:cNvPr id="6" name="Text 4"/>
          <p:cNvSpPr/>
          <p:nvPr/>
        </p:nvSpPr>
        <p:spPr>
          <a:xfrm>
            <a:off x="777240" y="219456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Movement terms describe and document joint function and limitations.</a:t>
            </a:r>
            <a:endParaRPr lang="en-US" sz="1250" dirty="0"/>
          </a:p>
        </p:txBody>
      </p:sp>
      <p:sp>
        <p:nvSpPr>
          <p:cNvPr id="7" name="Shape 5"/>
          <p:cNvSpPr/>
          <p:nvPr/>
        </p:nvSpPr>
        <p:spPr>
          <a:xfrm>
            <a:off x="6172200" y="1691640"/>
            <a:ext cx="5440680" cy="1417320"/>
          </a:xfrm>
          <a:prstGeom prst="roundRect">
            <a:avLst>
              <a:gd name="adj" fmla="val 5161"/>
            </a:avLst>
          </a:prstGeom>
          <a:solidFill>
            <a:srgbClr val="13586A"/>
          </a:solidFill>
          <a:ln w="12700">
            <a:solidFill>
              <a:srgbClr val="2A7A8C"/>
            </a:solidFill>
            <a:prstDash val="solid"/>
          </a:ln>
        </p:spPr>
      </p:sp>
      <p:sp>
        <p:nvSpPr>
          <p:cNvPr id="8" name="Text 6"/>
          <p:cNvSpPr/>
          <p:nvPr/>
        </p:nvSpPr>
        <p:spPr>
          <a:xfrm>
            <a:off x="6400800" y="181965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Arthritis</a:t>
            </a:r>
            <a:endParaRPr lang="en-US" sz="1600" dirty="0"/>
          </a:p>
        </p:txBody>
      </p:sp>
      <p:sp>
        <p:nvSpPr>
          <p:cNvPr id="9" name="Text 7"/>
          <p:cNvSpPr/>
          <p:nvPr/>
        </p:nvSpPr>
        <p:spPr>
          <a:xfrm>
            <a:off x="6400800" y="219456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Cartilage breakdown causes pain and stiffness — a leading cause of disability.</a:t>
            </a:r>
            <a:endParaRPr lang="en-US" sz="1250" dirty="0"/>
          </a:p>
        </p:txBody>
      </p:sp>
      <p:sp>
        <p:nvSpPr>
          <p:cNvPr id="10" name="Shape 8"/>
          <p:cNvSpPr/>
          <p:nvPr/>
        </p:nvSpPr>
        <p:spPr>
          <a:xfrm>
            <a:off x="548640" y="3264408"/>
            <a:ext cx="5440680" cy="1417320"/>
          </a:xfrm>
          <a:prstGeom prst="roundRect">
            <a:avLst>
              <a:gd name="adj" fmla="val 5161"/>
            </a:avLst>
          </a:prstGeom>
          <a:solidFill>
            <a:srgbClr val="13586A"/>
          </a:solidFill>
          <a:ln w="12700">
            <a:solidFill>
              <a:srgbClr val="2A7A8C"/>
            </a:solidFill>
            <a:prstDash val="solid"/>
          </a:ln>
        </p:spPr>
      </p:sp>
      <p:sp>
        <p:nvSpPr>
          <p:cNvPr id="11" name="Text 9"/>
          <p:cNvSpPr/>
          <p:nvPr/>
        </p:nvSpPr>
        <p:spPr>
          <a:xfrm>
            <a:off x="777240" y="3392424"/>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Joint Injuries</a:t>
            </a:r>
            <a:endParaRPr lang="en-US" sz="1600" dirty="0"/>
          </a:p>
        </p:txBody>
      </p:sp>
      <p:sp>
        <p:nvSpPr>
          <p:cNvPr id="12" name="Text 10"/>
          <p:cNvSpPr/>
          <p:nvPr/>
        </p:nvSpPr>
        <p:spPr>
          <a:xfrm>
            <a:off x="777240" y="3767328"/>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Sprains, dislocations, and ACL or meniscus tears are common.</a:t>
            </a:r>
            <a:endParaRPr lang="en-US" sz="1250" dirty="0"/>
          </a:p>
        </p:txBody>
      </p:sp>
      <p:sp>
        <p:nvSpPr>
          <p:cNvPr id="13" name="Shape 11"/>
          <p:cNvSpPr/>
          <p:nvPr/>
        </p:nvSpPr>
        <p:spPr>
          <a:xfrm>
            <a:off x="6172200" y="3264408"/>
            <a:ext cx="5440680" cy="1417320"/>
          </a:xfrm>
          <a:prstGeom prst="roundRect">
            <a:avLst>
              <a:gd name="adj" fmla="val 5161"/>
            </a:avLst>
          </a:prstGeom>
          <a:solidFill>
            <a:srgbClr val="13586A"/>
          </a:solidFill>
          <a:ln w="12700">
            <a:solidFill>
              <a:srgbClr val="2A7A8C"/>
            </a:solidFill>
            <a:prstDash val="solid"/>
          </a:ln>
        </p:spPr>
      </p:sp>
      <p:sp>
        <p:nvSpPr>
          <p:cNvPr id="14" name="Text 12"/>
          <p:cNvSpPr/>
          <p:nvPr/>
        </p:nvSpPr>
        <p:spPr>
          <a:xfrm>
            <a:off x="6400800" y="3392424"/>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Joint Replacement</a:t>
            </a:r>
            <a:endParaRPr lang="en-US" sz="1600" dirty="0"/>
          </a:p>
        </p:txBody>
      </p:sp>
      <p:sp>
        <p:nvSpPr>
          <p:cNvPr id="15" name="Text 13"/>
          <p:cNvSpPr/>
          <p:nvPr/>
        </p:nvSpPr>
        <p:spPr>
          <a:xfrm>
            <a:off x="6400800" y="3767328"/>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Worn hips and knees are often replaced surgically.</a:t>
            </a:r>
            <a:endParaRPr lang="en-US" sz="1250" dirty="0"/>
          </a:p>
        </p:txBody>
      </p:sp>
      <p:sp>
        <p:nvSpPr>
          <p:cNvPr id="16" name="Shape 14"/>
          <p:cNvSpPr/>
          <p:nvPr/>
        </p:nvSpPr>
        <p:spPr>
          <a:xfrm>
            <a:off x="548640" y="4837176"/>
            <a:ext cx="5440680" cy="1417320"/>
          </a:xfrm>
          <a:prstGeom prst="roundRect">
            <a:avLst>
              <a:gd name="adj" fmla="val 5161"/>
            </a:avLst>
          </a:prstGeom>
          <a:solidFill>
            <a:srgbClr val="13586A"/>
          </a:solidFill>
          <a:ln w="12700">
            <a:solidFill>
              <a:srgbClr val="2A7A8C"/>
            </a:solidFill>
            <a:prstDash val="solid"/>
          </a:ln>
        </p:spPr>
      </p:sp>
      <p:sp>
        <p:nvSpPr>
          <p:cNvPr id="17" name="Text 15"/>
          <p:cNvSpPr/>
          <p:nvPr/>
        </p:nvSpPr>
        <p:spPr>
          <a:xfrm>
            <a:off x="777240" y="4965192"/>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Rehabilitation</a:t>
            </a:r>
            <a:endParaRPr lang="en-US" sz="1600" dirty="0"/>
          </a:p>
        </p:txBody>
      </p:sp>
      <p:sp>
        <p:nvSpPr>
          <p:cNvPr id="18" name="Text 16"/>
          <p:cNvSpPr/>
          <p:nvPr/>
        </p:nvSpPr>
        <p:spPr>
          <a:xfrm>
            <a:off x="777240" y="5340096"/>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Restoring joint movement is central to recovery and mobility.</a:t>
            </a:r>
            <a:endParaRPr lang="en-US" sz="1250" dirty="0"/>
          </a:p>
        </p:txBody>
      </p:sp>
      <p:sp>
        <p:nvSpPr>
          <p:cNvPr id="19" name="Shape 17"/>
          <p:cNvSpPr/>
          <p:nvPr/>
        </p:nvSpPr>
        <p:spPr>
          <a:xfrm>
            <a:off x="6172200" y="4837176"/>
            <a:ext cx="5440680" cy="1417320"/>
          </a:xfrm>
          <a:prstGeom prst="roundRect">
            <a:avLst>
              <a:gd name="adj" fmla="val 5161"/>
            </a:avLst>
          </a:prstGeom>
          <a:solidFill>
            <a:srgbClr val="13586A"/>
          </a:solidFill>
          <a:ln w="12700">
            <a:solidFill>
              <a:srgbClr val="2A7A8C"/>
            </a:solidFill>
            <a:prstDash val="solid"/>
          </a:ln>
        </p:spPr>
      </p:sp>
      <p:sp>
        <p:nvSpPr>
          <p:cNvPr id="20" name="Text 18"/>
          <p:cNvSpPr/>
          <p:nvPr/>
        </p:nvSpPr>
        <p:spPr>
          <a:xfrm>
            <a:off x="6400800" y="4965192"/>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Synovial Fluid</a:t>
            </a:r>
            <a:endParaRPr lang="en-US" sz="1600" dirty="0"/>
          </a:p>
        </p:txBody>
      </p:sp>
      <p:sp>
        <p:nvSpPr>
          <p:cNvPr id="21" name="Text 19"/>
          <p:cNvSpPr/>
          <p:nvPr/>
        </p:nvSpPr>
        <p:spPr>
          <a:xfrm>
            <a:off x="6400800" y="5340096"/>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Changes in joint fluid can signal infection or inflammation.</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2026-06-23T20:31:45Z</dcterms:created>
  <dcterms:modified xsi:type="dcterms:W3CDTF">2026-06-23T20:31:45Z</dcterms:modified>
</cp:coreProperties>
</file>