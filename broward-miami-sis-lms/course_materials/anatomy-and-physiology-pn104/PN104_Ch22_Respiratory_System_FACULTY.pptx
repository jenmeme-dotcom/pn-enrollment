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respiratory system: the airways from nose to alveoli, the lungs and pleura, the mechanics and control of breathing, gas exchange at the lungs and tissues, and how oxygen and carbon dioxide are carried in the blood.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respiratory system runs from the nose through the pharynx and larynx (upper tract) to the trachea, bronchi, and lungs (lower tract). Air is warmed, humidified, and filtered on the way to the alveoli, the tiny sacs where gas exchange actually occurs.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larynx connects the pharynx to the trachea and houses the vocal cords, which vibrate to produce sound. The leaf-shaped epiglottis folds down during swallowing to keep food and drink out of the airway — a function that fails in choking and aspiration.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trachea (windpipe) is held open by C-shaped cartilage rings. It branches into the right and left primary bronchi, which divide again and again into ever-smaller bronchi and bronchioles — the bronchial tree — distributing air throughout the lungs.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smallest bronchioles open into clusters of alveoli — millions of tiny, thin-walled air sacs surrounded by capillaries. Their enormous combined surface area and paper-thin walls make them ideal for exchanging oxygen and carbon dioxide with the blood.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lungs occupy most of the chest. The right lung has three lobes; the left has only two, with a notch making room for the heart. Air enters each lung at the hilum, where the main bronchus and blood vessels 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lung is wrapped in a double-layered pleura with a thin film of pleural fluid between the layers. The fluid lets the layers slide smoothly during breathing and helps hold the lung against the chest wall so it expands with the rib cage. Air or fluid in this space (pneumothorax, pleural effusion) impairs breathing.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Breathing works by changing chest volume. During inspiration the diaphragm and external intercostals contract, enlarging the chest; by Boyle's law, the larger volume lowers the pressure, so air flows in. Relaxation shrinks the chest, raising pressure, and air flows out — usually passively at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air the lungs move can be measured. Tidal volume is a normal quiet breath; vital capacity is the most air you can exhale after a full inhale; residual volume always stays behind. Spirometry measures these to assess lung function and diagnose conditions like asthma and COPD.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Breathing is automatic, driven by respiratory centers in the medulla and pons that set the rhythm. They adjust rate and depth based mainly on blood carbon dioxide (and pH), and on oxygen levels — which is why rising CO2 is the strongest stimulus to breathe.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Gas exchange happens by simple diffusion down pressure gradients. At the lungs (external respiration), oxygen diffuses from alveoli into blood and carbon dioxide diffuses out. At the tissues (internal respiration), oxygen leaves the blood for the cells and carbon dioxide enters the blood to be carried back to the lungs.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Blood carries gases efficiently. Oxygen binds hemoglobin in red blood cells (a little dissolves in plasma). Carbon dioxide is carried mostly as bicarbonate ions formed in red cells, with some on hemoglobin and some dissolved. This system also helps buffer blood 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respiratory tract grows from a single lung bud off the embryonic gut, branching repeatedly to form the bronchial tree. Alveoli and surfactant — the substance that keeps alveoli from collapsing — develop late in pregnancy, which is why premature infants often struggle to breathe.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22</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The Respiratory System</a:t>
            </a:r>
            <a:endParaRPr lang="en-US" sz="4400" dirty="0"/>
          </a:p>
        </p:txBody>
      </p:sp>
      <p:sp>
        <p:nvSpPr>
          <p:cNvPr id="4" name="Text 2"/>
          <p:cNvSpPr/>
          <p:nvPr/>
        </p:nvSpPr>
        <p:spPr>
          <a:xfrm>
            <a:off x="749808" y="397764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The airways, the lungs, breathing, and gas exchange.</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536410"/>
            <a:ext cx="4096512" cy="1968060"/>
          </a:xfrm>
          <a:prstGeom prst="roundRect">
            <a:avLst>
              <a:gd name="adj" fmla="val 278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22/img/img21.jpg">    </p:cNvPr>
          <p:cNvPicPr>
            <a:picLocks noChangeAspect="1"/>
          </p:cNvPicPr>
          <p:nvPr/>
        </p:nvPicPr>
        <p:blipFill>
          <a:blip r:embed="rId1"/>
          <a:stretch>
            <a:fillRect/>
          </a:stretch>
        </p:blipFill>
        <p:spPr>
          <a:xfrm>
            <a:off x="7818120" y="2618706"/>
            <a:ext cx="3931920" cy="18034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22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List the structures of the respiratory system</a:t>
            </a:r>
            <a:endParaRPr lang="en-US" sz="1300" dirty="0"/>
          </a:p>
        </p:txBody>
      </p:sp>
      <p:sp>
        <p:nvSpPr>
          <p:cNvPr id="8" name="Shape 6"/>
          <p:cNvSpPr/>
          <p:nvPr/>
        </p:nvSpPr>
        <p:spPr>
          <a:xfrm>
            <a:off x="548640" y="2418588"/>
            <a:ext cx="384048" cy="384048"/>
          </a:xfrm>
          <a:prstGeom prst="ellipse">
            <a:avLst/>
          </a:prstGeom>
          <a:solidFill>
            <a:srgbClr val="0F4C5C"/>
          </a:solidFill>
          <a:ln/>
        </p:spPr>
      </p:sp>
      <p:sp>
        <p:nvSpPr>
          <p:cNvPr id="9" name="Text 7"/>
          <p:cNvSpPr/>
          <p:nvPr/>
        </p:nvSpPr>
        <p:spPr>
          <a:xfrm>
            <a:off x="548640" y="241858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0030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List the major functions of the respiratory system</a:t>
            </a:r>
            <a:endParaRPr lang="en-US" sz="1300" dirty="0"/>
          </a:p>
        </p:txBody>
      </p:sp>
      <p:sp>
        <p:nvSpPr>
          <p:cNvPr id="11" name="Shape 9"/>
          <p:cNvSpPr/>
          <p:nvPr/>
        </p:nvSpPr>
        <p:spPr>
          <a:xfrm>
            <a:off x="548640" y="3172968"/>
            <a:ext cx="384048" cy="384048"/>
          </a:xfrm>
          <a:prstGeom prst="ellipse">
            <a:avLst/>
          </a:prstGeom>
          <a:solidFill>
            <a:srgbClr val="0F4C5C"/>
          </a:solidFill>
          <a:ln/>
        </p:spPr>
      </p:sp>
      <p:sp>
        <p:nvSpPr>
          <p:cNvPr id="12" name="Text 10"/>
          <p:cNvSpPr/>
          <p:nvPr/>
        </p:nvSpPr>
        <p:spPr>
          <a:xfrm>
            <a:off x="548640" y="317296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15468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Outline the forces that allow for air movement into and out of the lungs</a:t>
            </a:r>
            <a:endParaRPr lang="en-US" sz="1300" dirty="0"/>
          </a:p>
        </p:txBody>
      </p:sp>
      <p:sp>
        <p:nvSpPr>
          <p:cNvPr id="14" name="Shape 12"/>
          <p:cNvSpPr/>
          <p:nvPr/>
        </p:nvSpPr>
        <p:spPr>
          <a:xfrm>
            <a:off x="548640" y="3927348"/>
            <a:ext cx="384048" cy="384048"/>
          </a:xfrm>
          <a:prstGeom prst="ellipse">
            <a:avLst/>
          </a:prstGeom>
          <a:solidFill>
            <a:srgbClr val="0F4C5C"/>
          </a:solidFill>
          <a:ln/>
        </p:spPr>
      </p:sp>
      <p:sp>
        <p:nvSpPr>
          <p:cNvPr id="15" name="Text 13"/>
          <p:cNvSpPr/>
          <p:nvPr/>
        </p:nvSpPr>
        <p:spPr>
          <a:xfrm>
            <a:off x="548640" y="392734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390906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Outline the process of gas exchange</a:t>
            </a:r>
            <a:endParaRPr lang="en-US" sz="1300" dirty="0"/>
          </a:p>
        </p:txBody>
      </p:sp>
      <p:sp>
        <p:nvSpPr>
          <p:cNvPr id="17" name="Shape 15"/>
          <p:cNvSpPr/>
          <p:nvPr/>
        </p:nvSpPr>
        <p:spPr>
          <a:xfrm>
            <a:off x="548640" y="4681728"/>
            <a:ext cx="384048" cy="384048"/>
          </a:xfrm>
          <a:prstGeom prst="ellipse">
            <a:avLst/>
          </a:prstGeom>
          <a:solidFill>
            <a:srgbClr val="0F4C5C"/>
          </a:solidFill>
          <a:ln/>
        </p:spPr>
      </p:sp>
      <p:sp>
        <p:nvSpPr>
          <p:cNvPr id="18" name="Text 16"/>
          <p:cNvSpPr/>
          <p:nvPr/>
        </p:nvSpPr>
        <p:spPr>
          <a:xfrm>
            <a:off x="548640" y="468172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115568" y="466344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Summarize the process of oxygen and carbon dioxide transport within the respiratory system</a:t>
            </a:r>
            <a:endParaRPr lang="en-US" sz="1300" dirty="0"/>
          </a:p>
        </p:txBody>
      </p:sp>
      <p:sp>
        <p:nvSpPr>
          <p:cNvPr id="20" name="Shape 18"/>
          <p:cNvSpPr/>
          <p:nvPr/>
        </p:nvSpPr>
        <p:spPr>
          <a:xfrm>
            <a:off x="548640" y="5436108"/>
            <a:ext cx="384048" cy="384048"/>
          </a:xfrm>
          <a:prstGeom prst="ellipse">
            <a:avLst/>
          </a:prstGeom>
          <a:solidFill>
            <a:srgbClr val="0F4C5C"/>
          </a:solidFill>
          <a:ln/>
        </p:spPr>
      </p:sp>
      <p:sp>
        <p:nvSpPr>
          <p:cNvPr id="21" name="Text 19"/>
          <p:cNvSpPr/>
          <p:nvPr/>
        </p:nvSpPr>
        <p:spPr>
          <a:xfrm>
            <a:off x="548640" y="54361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22" name="Text 20"/>
          <p:cNvSpPr/>
          <p:nvPr/>
        </p:nvSpPr>
        <p:spPr>
          <a:xfrm>
            <a:off x="1115568" y="54178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Create a flow chart illustrating how respiration is controlled</a:t>
            </a:r>
            <a:endParaRPr lang="en-US" sz="1300" dirty="0"/>
          </a:p>
        </p:txBody>
      </p:sp>
      <p:sp>
        <p:nvSpPr>
          <p:cNvPr id="23" name="Shape 21"/>
          <p:cNvSpPr/>
          <p:nvPr/>
        </p:nvSpPr>
        <p:spPr>
          <a:xfrm>
            <a:off x="7415784" y="1881871"/>
            <a:ext cx="4370832" cy="3697763"/>
          </a:xfrm>
          <a:prstGeom prst="roundRect">
            <a:avLst>
              <a:gd name="adj" fmla="val 1484"/>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24" name="Image 0" descr="/home/claude/all/ch22/img/img22.jpg">    </p:cNvPr>
          <p:cNvPicPr>
            <a:picLocks noChangeAspect="1"/>
          </p:cNvPicPr>
          <p:nvPr/>
        </p:nvPicPr>
        <p:blipFill>
          <a:blip r:embed="rId1"/>
          <a:stretch>
            <a:fillRect/>
          </a:stretch>
        </p:blipFill>
        <p:spPr>
          <a:xfrm>
            <a:off x="7498080" y="1964167"/>
            <a:ext cx="4206240" cy="3533171"/>
          </a:xfrm>
          <a:prstGeom prst="rect">
            <a:avLst/>
          </a:prstGeom>
        </p:spPr>
      </p:pic>
      <p:sp>
        <p:nvSpPr>
          <p:cNvPr id="25" name="Text 22"/>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organs of the respiratory system.</a:t>
            </a:r>
            <a:endParaRPr lang="en-US" sz="1100" dirty="0"/>
          </a:p>
        </p:txBody>
      </p:sp>
      <p:sp>
        <p:nvSpPr>
          <p:cNvPr id="27" name="Text 23"/>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22 — The Respiratory System</a:t>
            </a:r>
            <a:endParaRPr lang="en-US" sz="900" dirty="0"/>
          </a:p>
        </p:txBody>
      </p:sp>
      <p:sp>
        <p:nvSpPr>
          <p:cNvPr id="28" name="Text 24"/>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22.1</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Organs and Structures of the Respiratory System</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airways that carry air from the nose to the alveoli.</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22.1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Respiratory System</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Upper and lower respiratory tracts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Nose, pharynx, larynx, trachea</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Bronchi branch into the lungs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Ends at the alveoli</a:t>
            </a:r>
            <a:endParaRPr lang="en-US" sz="1500" dirty="0"/>
          </a:p>
        </p:txBody>
      </p:sp>
      <p:sp>
        <p:nvSpPr>
          <p:cNvPr id="5" name="Shape 3"/>
          <p:cNvSpPr/>
          <p:nvPr/>
        </p:nvSpPr>
        <p:spPr>
          <a:xfrm>
            <a:off x="5846011" y="1335024"/>
            <a:ext cx="5498699"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2/img/img22.jpg">    </p:cNvPr>
          <p:cNvPicPr>
            <a:picLocks noChangeAspect="1"/>
          </p:cNvPicPr>
          <p:nvPr/>
        </p:nvPicPr>
        <p:blipFill>
          <a:blip r:embed="rId1"/>
          <a:stretch>
            <a:fillRect/>
          </a:stretch>
        </p:blipFill>
        <p:spPr>
          <a:xfrm>
            <a:off x="5928307" y="1417320"/>
            <a:ext cx="5334107"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respiratory system</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22 — The Respiratory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22.1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Larynx</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"voice box"</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Connects pharynx to trachea</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Houses the vocal cords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Epiglottis guards the airway</a:t>
            </a:r>
            <a:endParaRPr lang="en-US" sz="1500" dirty="0"/>
          </a:p>
        </p:txBody>
      </p:sp>
      <p:sp>
        <p:nvSpPr>
          <p:cNvPr id="5" name="Shape 3"/>
          <p:cNvSpPr/>
          <p:nvPr/>
        </p:nvSpPr>
        <p:spPr>
          <a:xfrm>
            <a:off x="6083256" y="1335024"/>
            <a:ext cx="5024207"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2/img/img27.jpg">    </p:cNvPr>
          <p:cNvPicPr>
            <a:picLocks noChangeAspect="1"/>
          </p:cNvPicPr>
          <p:nvPr/>
        </p:nvPicPr>
        <p:blipFill>
          <a:blip r:embed="rId1"/>
          <a:stretch>
            <a:fillRect/>
          </a:stretch>
        </p:blipFill>
        <p:spPr>
          <a:xfrm>
            <a:off x="6165552" y="1417320"/>
            <a:ext cx="4859615"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larynx</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22 — The Respiratory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22.1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Trachea &amp; Bronchial Tree</a:t>
            </a:r>
            <a:endParaRPr lang="en-US" sz="2800" dirty="0"/>
          </a:p>
        </p:txBody>
      </p:sp>
      <p:sp>
        <p:nvSpPr>
          <p:cNvPr id="4" name="Shape 2"/>
          <p:cNvSpPr/>
          <p:nvPr/>
        </p:nvSpPr>
        <p:spPr>
          <a:xfrm>
            <a:off x="524180" y="1289304"/>
            <a:ext cx="4255160" cy="4736592"/>
          </a:xfrm>
          <a:prstGeom prst="roundRect">
            <a:avLst>
              <a:gd name="adj" fmla="val 1289"/>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2/img/img29.jpg">    </p:cNvPr>
          <p:cNvPicPr>
            <a:picLocks noChangeAspect="1"/>
          </p:cNvPicPr>
          <p:nvPr/>
        </p:nvPicPr>
        <p:blipFill>
          <a:blip r:embed="rId1"/>
          <a:stretch>
            <a:fillRect/>
          </a:stretch>
        </p:blipFill>
        <p:spPr>
          <a:xfrm>
            <a:off x="606476" y="1371600"/>
            <a:ext cx="4090568"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trachea and bronchial tree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trachea is the windpipe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C-shaped cartilage rings hold it open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It splits into two main bronchi</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Bronchi branch like an upside-down tree</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22 — The Respiratory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22.1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Bronchioles &amp; Alveoli</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Bronchioles end in alveolar sacs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Alveoli are tiny air sacs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Wrapped in capillaries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Where gas exchange occurs</a:t>
            </a:r>
            <a:endParaRPr lang="en-US" sz="1500" dirty="0"/>
          </a:p>
        </p:txBody>
      </p:sp>
      <p:sp>
        <p:nvSpPr>
          <p:cNvPr id="5" name="Shape 3"/>
          <p:cNvSpPr/>
          <p:nvPr/>
        </p:nvSpPr>
        <p:spPr>
          <a:xfrm>
            <a:off x="5578297" y="1335024"/>
            <a:ext cx="6034126"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2/img/img30.jpg">    </p:cNvPr>
          <p:cNvPicPr>
            <a:picLocks noChangeAspect="1"/>
          </p:cNvPicPr>
          <p:nvPr/>
        </p:nvPicPr>
        <p:blipFill>
          <a:blip r:embed="rId1"/>
          <a:stretch>
            <a:fillRect/>
          </a:stretch>
        </p:blipFill>
        <p:spPr>
          <a:xfrm>
            <a:off x="5660593" y="1417320"/>
            <a:ext cx="5869534"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Bronchioles and alveoli</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22 — The Respiratory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22.2</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The Lungs</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lungs, their lobes, and the pleura that surround them.</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22.2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Lungs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Two lungs fill the chest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Right lung has three lobes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Left lung has two lobes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Left is smaller (room for the heart)</a:t>
            </a:r>
            <a:endParaRPr lang="en-US" sz="1500" dirty="0"/>
          </a:p>
        </p:txBody>
      </p:sp>
      <p:sp>
        <p:nvSpPr>
          <p:cNvPr id="5" name="Shape 3"/>
          <p:cNvSpPr/>
          <p:nvPr/>
        </p:nvSpPr>
        <p:spPr>
          <a:xfrm>
            <a:off x="5404104" y="1438415"/>
            <a:ext cx="6382512" cy="4438370"/>
          </a:xfrm>
          <a:prstGeom prst="roundRect">
            <a:avLst>
              <a:gd name="adj" fmla="val 123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2/img/img02.jpg">    </p:cNvPr>
          <p:cNvPicPr>
            <a:picLocks noChangeAspect="1"/>
          </p:cNvPicPr>
          <p:nvPr/>
        </p:nvPicPr>
        <p:blipFill>
          <a:blip r:embed="rId1"/>
          <a:stretch>
            <a:fillRect/>
          </a:stretch>
        </p:blipFill>
        <p:spPr>
          <a:xfrm>
            <a:off x="5486400" y="1520711"/>
            <a:ext cx="6217920" cy="4273778"/>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lungs and their lobes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22 — The Respiratory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22.2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Pleura</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 double membrane around each lung</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Pleural fluid lies between the layers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Reduces friction during breathing</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Helps the lungs expand</a:t>
            </a:r>
            <a:endParaRPr lang="en-US" sz="1500" dirty="0"/>
          </a:p>
        </p:txBody>
      </p:sp>
      <p:sp>
        <p:nvSpPr>
          <p:cNvPr id="5" name="Shape 3"/>
          <p:cNvSpPr/>
          <p:nvPr/>
        </p:nvSpPr>
        <p:spPr>
          <a:xfrm>
            <a:off x="5536628" y="1335024"/>
            <a:ext cx="6117464"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2/img/img03.jpg">    </p:cNvPr>
          <p:cNvPicPr>
            <a:picLocks noChangeAspect="1"/>
          </p:cNvPicPr>
          <p:nvPr/>
        </p:nvPicPr>
        <p:blipFill>
          <a:blip r:embed="rId1"/>
          <a:stretch>
            <a:fillRect/>
          </a:stretch>
        </p:blipFill>
        <p:spPr>
          <a:xfrm>
            <a:off x="5618924" y="1417320"/>
            <a:ext cx="5952872"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pleural membranes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22 — The Respiratory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22.3</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The Process of Breathing</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body moves air in and out of the lungs.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22.3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Inspiration &amp; Expiration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Breathing changes chest volume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Diaphragm and intercostals contract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Volume up → pressure down → air in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Relaxation pushes air out</a:t>
            </a:r>
            <a:endParaRPr lang="en-US" sz="1500" dirty="0"/>
          </a:p>
        </p:txBody>
      </p:sp>
      <p:sp>
        <p:nvSpPr>
          <p:cNvPr id="5" name="Shape 3"/>
          <p:cNvSpPr/>
          <p:nvPr/>
        </p:nvSpPr>
        <p:spPr>
          <a:xfrm>
            <a:off x="5480173" y="1335024"/>
            <a:ext cx="6230374"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2/img/img06.jpg">    </p:cNvPr>
          <p:cNvPicPr>
            <a:picLocks noChangeAspect="1"/>
          </p:cNvPicPr>
          <p:nvPr/>
        </p:nvPicPr>
        <p:blipFill>
          <a:blip r:embed="rId1"/>
          <a:stretch>
            <a:fillRect/>
          </a:stretch>
        </p:blipFill>
        <p:spPr>
          <a:xfrm>
            <a:off x="5562469" y="1417320"/>
            <a:ext cx="6065782"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mechanics of breathing</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22 — The Respiratory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22.3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Lung Volumes &amp; Capacities</a:t>
            </a:r>
            <a:endParaRPr lang="en-US" sz="2800" dirty="0"/>
          </a:p>
        </p:txBody>
      </p:sp>
      <p:sp>
        <p:nvSpPr>
          <p:cNvPr id="4" name="Shape 2"/>
          <p:cNvSpPr/>
          <p:nvPr/>
        </p:nvSpPr>
        <p:spPr>
          <a:xfrm>
            <a:off x="1585734" y="1289304"/>
            <a:ext cx="9035772"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2/img/img07.jpg">    </p:cNvPr>
          <p:cNvPicPr>
            <a:picLocks noChangeAspect="1"/>
          </p:cNvPicPr>
          <p:nvPr/>
        </p:nvPicPr>
        <p:blipFill>
          <a:blip r:embed="rId1"/>
          <a:stretch>
            <a:fillRect/>
          </a:stretch>
        </p:blipFill>
        <p:spPr>
          <a:xfrm>
            <a:off x="1668030" y="1371600"/>
            <a:ext cx="8871180"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Lung volumes and capacities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 lungs hold measurable volumes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Tidal volume = a normal breath</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Vital capacity = max breath out</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Measured by spirometry</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22 — The Respiratory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22.3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Control of Breathing</a:t>
            </a:r>
            <a:endParaRPr lang="en-US" sz="2800" dirty="0"/>
          </a:p>
        </p:txBody>
      </p:sp>
      <p:sp>
        <p:nvSpPr>
          <p:cNvPr id="4" name="Shape 2"/>
          <p:cNvSpPr/>
          <p:nvPr/>
        </p:nvSpPr>
        <p:spPr>
          <a:xfrm>
            <a:off x="809701" y="1289304"/>
            <a:ext cx="3684118" cy="4736592"/>
          </a:xfrm>
          <a:prstGeom prst="roundRect">
            <a:avLst>
              <a:gd name="adj" fmla="val 1489"/>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2/img/img09.jpg">    </p:cNvPr>
          <p:cNvPicPr>
            <a:picLocks noChangeAspect="1"/>
          </p:cNvPicPr>
          <p:nvPr/>
        </p:nvPicPr>
        <p:blipFill>
          <a:blip r:embed="rId1"/>
          <a:stretch>
            <a:fillRect/>
          </a:stretch>
        </p:blipFill>
        <p:spPr>
          <a:xfrm>
            <a:off x="891997" y="1371600"/>
            <a:ext cx="3519526"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Neural control of breathing</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brainstem sets the rhythm</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Centers in the medulla and pons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Adjust rate and depth automatically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Respond to CO2 and oxygen levels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22 — The Respiratory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22.4</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Gas Exchange</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oxygen and carbon dioxide are exchanged in the body.</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22.4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Gas Exchange</a:t>
            </a:r>
            <a:endParaRPr lang="en-US" sz="2800" dirty="0"/>
          </a:p>
        </p:txBody>
      </p:sp>
      <p:sp>
        <p:nvSpPr>
          <p:cNvPr id="4" name="Shape 2"/>
          <p:cNvSpPr/>
          <p:nvPr/>
        </p:nvSpPr>
        <p:spPr>
          <a:xfrm>
            <a:off x="3046255" y="1289304"/>
            <a:ext cx="6114730"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2/img/img11.jpg">    </p:cNvPr>
          <p:cNvPicPr>
            <a:picLocks noChangeAspect="1"/>
          </p:cNvPicPr>
          <p:nvPr/>
        </p:nvPicPr>
        <p:blipFill>
          <a:blip r:embed="rId1"/>
          <a:stretch>
            <a:fillRect/>
          </a:stretch>
        </p:blipFill>
        <p:spPr>
          <a:xfrm>
            <a:off x="3128551" y="1371600"/>
            <a:ext cx="5950138"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External and internal respiration</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Gases move by diffusion</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External respiration in the lungs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O2 in, CO2 out at the alveoli</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Internal respiration at the tissues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22 — The Respiratory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22.5</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Transport of Gases</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blood carries oxygen and carbon dioxide.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22.5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Transport of Gases</a:t>
            </a:r>
            <a:endParaRPr lang="en-US" sz="2800" dirty="0"/>
          </a:p>
        </p:txBody>
      </p:sp>
      <p:sp>
        <p:nvSpPr>
          <p:cNvPr id="4" name="Shape 2"/>
          <p:cNvSpPr/>
          <p:nvPr/>
        </p:nvSpPr>
        <p:spPr>
          <a:xfrm>
            <a:off x="2402028" y="1289304"/>
            <a:ext cx="7403184"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2/img/img19.jpg">    </p:cNvPr>
          <p:cNvPicPr>
            <a:picLocks noChangeAspect="1"/>
          </p:cNvPicPr>
          <p:nvPr/>
        </p:nvPicPr>
        <p:blipFill>
          <a:blip r:embed="rId1"/>
          <a:stretch>
            <a:fillRect/>
          </a:stretch>
        </p:blipFill>
        <p:spPr>
          <a:xfrm>
            <a:off x="2484324" y="1371600"/>
            <a:ext cx="7238592"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Transport of oxygen and carbon dioxide</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Most oxygen rides on hemoglobin</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Most CO2 travels as bicarbonate</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Some gas dissolves in plasma</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Carried between lungs and tissues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22 — The Respiratory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22.7</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Embryonic Development of the Respiratory System</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lungs and airways form before birth.</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22.7</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Respiratory Development</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airways begin as a lung bud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They branch into the bronchial tree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Alveoli mature late in pregnancy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Surfactant readies the lungs for air</a:t>
            </a:r>
            <a:endParaRPr lang="en-US" sz="1500" dirty="0"/>
          </a:p>
        </p:txBody>
      </p:sp>
      <p:sp>
        <p:nvSpPr>
          <p:cNvPr id="5" name="Shape 3"/>
          <p:cNvSpPr/>
          <p:nvPr/>
        </p:nvSpPr>
        <p:spPr>
          <a:xfrm>
            <a:off x="5562839" y="1335024"/>
            <a:ext cx="6065041"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2/img/img20.jpg">    </p:cNvPr>
          <p:cNvPicPr>
            <a:picLocks noChangeAspect="1"/>
          </p:cNvPicPr>
          <p:nvPr/>
        </p:nvPicPr>
        <p:blipFill>
          <a:blip r:embed="rId1"/>
          <a:stretch>
            <a:fillRect/>
          </a:stretch>
        </p:blipFill>
        <p:spPr>
          <a:xfrm>
            <a:off x="5645135" y="1417320"/>
            <a:ext cx="5900449"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Development of the respiratory system</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22 — The Respiratory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22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respiratory tract carries air from the nose to the alveoli, where gas exchange occurs.</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lungs are wrapped in pleura that allow smooth, friction-free breathing.</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Breathing moves air by changing chest volume and therefore pressure.</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Gases are exchanged by diffusion at the lungs and at the tissues.</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Oxygen is carried on hemoglobin and carbon dioxide mostly as bicarbonate.</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22 — The Respiratory System</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Why the Respiratory System Matters in Practical Nursing</a:t>
            </a:r>
            <a:endParaRPr lang="en-US" sz="2500" dirty="0"/>
          </a:p>
        </p:txBody>
      </p:sp>
      <p:sp>
        <p:nvSpPr>
          <p:cNvPr id="4" name="Shape 2"/>
          <p:cNvSpPr/>
          <p:nvPr/>
        </p:nvSpPr>
        <p:spPr>
          <a:xfrm>
            <a:off x="548640" y="1783080"/>
            <a:ext cx="5440680" cy="1389888"/>
          </a:xfrm>
          <a:prstGeom prst="roundRect">
            <a:avLst>
              <a:gd name="adj" fmla="val 5263"/>
            </a:avLst>
          </a:prstGeom>
          <a:solidFill>
            <a:srgbClr val="13586A"/>
          </a:solidFill>
          <a:ln w="12700">
            <a:solidFill>
              <a:srgbClr val="2A7A8C"/>
            </a:solidFill>
            <a:prstDash val="solid"/>
          </a:ln>
        </p:spPr>
      </p:sp>
      <p:sp>
        <p:nvSpPr>
          <p:cNvPr id="5" name="Text 3"/>
          <p:cNvSpPr/>
          <p:nvPr/>
        </p:nvSpPr>
        <p:spPr>
          <a:xfrm>
            <a:off x="77724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Asthma &amp; COPD</a:t>
            </a:r>
            <a:endParaRPr lang="en-US" sz="1600" dirty="0"/>
          </a:p>
        </p:txBody>
      </p:sp>
      <p:sp>
        <p:nvSpPr>
          <p:cNvPr id="6" name="Text 4"/>
          <p:cNvSpPr/>
          <p:nvPr/>
        </p:nvSpPr>
        <p:spPr>
          <a:xfrm>
            <a:off x="77724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Narrowed airways make breathing difficult.</a:t>
            </a:r>
            <a:endParaRPr lang="en-US" sz="1250" dirty="0"/>
          </a:p>
        </p:txBody>
      </p:sp>
      <p:sp>
        <p:nvSpPr>
          <p:cNvPr id="7" name="Shape 5"/>
          <p:cNvSpPr/>
          <p:nvPr/>
        </p:nvSpPr>
        <p:spPr>
          <a:xfrm>
            <a:off x="6172200" y="1783080"/>
            <a:ext cx="5440680" cy="1389888"/>
          </a:xfrm>
          <a:prstGeom prst="roundRect">
            <a:avLst>
              <a:gd name="adj" fmla="val 5263"/>
            </a:avLst>
          </a:prstGeom>
          <a:solidFill>
            <a:srgbClr val="13586A"/>
          </a:solidFill>
          <a:ln w="12700">
            <a:solidFill>
              <a:srgbClr val="2A7A8C"/>
            </a:solidFill>
            <a:prstDash val="solid"/>
          </a:ln>
        </p:spPr>
      </p:sp>
      <p:sp>
        <p:nvSpPr>
          <p:cNvPr id="8" name="Text 6"/>
          <p:cNvSpPr/>
          <p:nvPr/>
        </p:nvSpPr>
        <p:spPr>
          <a:xfrm>
            <a:off x="640080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Pneumonia</a:t>
            </a:r>
            <a:endParaRPr lang="en-US" sz="1600" dirty="0"/>
          </a:p>
        </p:txBody>
      </p:sp>
      <p:sp>
        <p:nvSpPr>
          <p:cNvPr id="9" name="Text 7"/>
          <p:cNvSpPr/>
          <p:nvPr/>
        </p:nvSpPr>
        <p:spPr>
          <a:xfrm>
            <a:off x="640080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Infection fills alveoli, impairing gas exchange.</a:t>
            </a:r>
            <a:endParaRPr lang="en-US" sz="1250" dirty="0"/>
          </a:p>
        </p:txBody>
      </p:sp>
      <p:sp>
        <p:nvSpPr>
          <p:cNvPr id="10" name="Shape 8"/>
          <p:cNvSpPr/>
          <p:nvPr/>
        </p:nvSpPr>
        <p:spPr>
          <a:xfrm>
            <a:off x="548640" y="3337560"/>
            <a:ext cx="5440680" cy="1389888"/>
          </a:xfrm>
          <a:prstGeom prst="roundRect">
            <a:avLst>
              <a:gd name="adj" fmla="val 5263"/>
            </a:avLst>
          </a:prstGeom>
          <a:solidFill>
            <a:srgbClr val="13586A"/>
          </a:solidFill>
          <a:ln w="12700">
            <a:solidFill>
              <a:srgbClr val="2A7A8C"/>
            </a:solidFill>
            <a:prstDash val="solid"/>
          </a:ln>
        </p:spPr>
      </p:sp>
      <p:sp>
        <p:nvSpPr>
          <p:cNvPr id="11" name="Text 9"/>
          <p:cNvSpPr/>
          <p:nvPr/>
        </p:nvSpPr>
        <p:spPr>
          <a:xfrm>
            <a:off x="77724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Oxygen Therapy</a:t>
            </a:r>
            <a:endParaRPr lang="en-US" sz="1600" dirty="0"/>
          </a:p>
        </p:txBody>
      </p:sp>
      <p:sp>
        <p:nvSpPr>
          <p:cNvPr id="12" name="Text 10"/>
          <p:cNvSpPr/>
          <p:nvPr/>
        </p:nvSpPr>
        <p:spPr>
          <a:xfrm>
            <a:off x="77724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Supplemental oxygen supports patients with low blood oxygen.</a:t>
            </a:r>
            <a:endParaRPr lang="en-US" sz="1250" dirty="0"/>
          </a:p>
        </p:txBody>
      </p:sp>
      <p:sp>
        <p:nvSpPr>
          <p:cNvPr id="13" name="Shape 11"/>
          <p:cNvSpPr/>
          <p:nvPr/>
        </p:nvSpPr>
        <p:spPr>
          <a:xfrm>
            <a:off x="6172200" y="3337560"/>
            <a:ext cx="5440680" cy="1389888"/>
          </a:xfrm>
          <a:prstGeom prst="roundRect">
            <a:avLst>
              <a:gd name="adj" fmla="val 5263"/>
            </a:avLst>
          </a:prstGeom>
          <a:solidFill>
            <a:srgbClr val="13586A"/>
          </a:solidFill>
          <a:ln w="12700">
            <a:solidFill>
              <a:srgbClr val="2A7A8C"/>
            </a:solidFill>
            <a:prstDash val="solid"/>
          </a:ln>
        </p:spPr>
      </p:sp>
      <p:sp>
        <p:nvSpPr>
          <p:cNvPr id="14" name="Text 12"/>
          <p:cNvSpPr/>
          <p:nvPr/>
        </p:nvSpPr>
        <p:spPr>
          <a:xfrm>
            <a:off x="640080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Aspiration</a:t>
            </a:r>
            <a:endParaRPr lang="en-US" sz="1600" dirty="0"/>
          </a:p>
        </p:txBody>
      </p:sp>
      <p:sp>
        <p:nvSpPr>
          <p:cNvPr id="15" name="Text 13"/>
          <p:cNvSpPr/>
          <p:nvPr/>
        </p:nvSpPr>
        <p:spPr>
          <a:xfrm>
            <a:off x="640080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Food or fluid entering the airway is a serious risk.</a:t>
            </a:r>
            <a:endParaRPr lang="en-US" sz="1250" dirty="0"/>
          </a:p>
        </p:txBody>
      </p:sp>
      <p:sp>
        <p:nvSpPr>
          <p:cNvPr id="16" name="Shape 14"/>
          <p:cNvSpPr/>
          <p:nvPr/>
        </p:nvSpPr>
        <p:spPr>
          <a:xfrm>
            <a:off x="548640" y="4892040"/>
            <a:ext cx="5440680" cy="1389888"/>
          </a:xfrm>
          <a:prstGeom prst="roundRect">
            <a:avLst>
              <a:gd name="adj" fmla="val 5263"/>
            </a:avLst>
          </a:prstGeom>
          <a:solidFill>
            <a:srgbClr val="13586A"/>
          </a:solidFill>
          <a:ln w="12700">
            <a:solidFill>
              <a:srgbClr val="2A7A8C"/>
            </a:solidFill>
            <a:prstDash val="solid"/>
          </a:ln>
        </p:spPr>
      </p:sp>
      <p:sp>
        <p:nvSpPr>
          <p:cNvPr id="17" name="Text 15"/>
          <p:cNvSpPr/>
          <p:nvPr/>
        </p:nvSpPr>
        <p:spPr>
          <a:xfrm>
            <a:off x="77724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Pulse Oximetry</a:t>
            </a:r>
            <a:endParaRPr lang="en-US" sz="1600" dirty="0"/>
          </a:p>
        </p:txBody>
      </p:sp>
      <p:sp>
        <p:nvSpPr>
          <p:cNvPr id="18" name="Text 16"/>
          <p:cNvSpPr/>
          <p:nvPr/>
        </p:nvSpPr>
        <p:spPr>
          <a:xfrm>
            <a:off x="77724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Measures blood oxygen saturation noninvasively.</a:t>
            </a:r>
            <a:endParaRPr lang="en-US" sz="1250" dirty="0"/>
          </a:p>
        </p:txBody>
      </p:sp>
      <p:sp>
        <p:nvSpPr>
          <p:cNvPr id="19" name="Shape 17"/>
          <p:cNvSpPr/>
          <p:nvPr/>
        </p:nvSpPr>
        <p:spPr>
          <a:xfrm>
            <a:off x="6172200" y="4892040"/>
            <a:ext cx="5440680" cy="1389888"/>
          </a:xfrm>
          <a:prstGeom prst="roundRect">
            <a:avLst>
              <a:gd name="adj" fmla="val 5263"/>
            </a:avLst>
          </a:prstGeom>
          <a:solidFill>
            <a:srgbClr val="13586A"/>
          </a:solidFill>
          <a:ln w="12700">
            <a:solidFill>
              <a:srgbClr val="2A7A8C"/>
            </a:solidFill>
            <a:prstDash val="solid"/>
          </a:ln>
        </p:spPr>
      </p:sp>
      <p:sp>
        <p:nvSpPr>
          <p:cNvPr id="20" name="Text 18"/>
          <p:cNvSpPr/>
          <p:nvPr/>
        </p:nvSpPr>
        <p:spPr>
          <a:xfrm>
            <a:off x="640080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Respiratory Rate</a:t>
            </a:r>
            <a:endParaRPr lang="en-US" sz="1600" dirty="0"/>
          </a:p>
        </p:txBody>
      </p:sp>
      <p:sp>
        <p:nvSpPr>
          <p:cNvPr id="21" name="Text 19"/>
          <p:cNvSpPr/>
          <p:nvPr/>
        </p:nvSpPr>
        <p:spPr>
          <a:xfrm>
            <a:off x="640080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A vital sign reflecting breathing and overall status.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2026-06-23T22:02:05Z</dcterms:created>
  <dcterms:modified xsi:type="dcterms:W3CDTF">2026-06-23T22:02:05Z</dcterms:modified>
</cp:coreProperties>
</file>