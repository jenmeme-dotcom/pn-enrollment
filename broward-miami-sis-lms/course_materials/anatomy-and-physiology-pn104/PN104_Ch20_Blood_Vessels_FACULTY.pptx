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blood vessels and circulation: the structure of arteries, veins, and capillaries; blood pressure, flow, and resistance; capillary exchange; the major circulatory pathways; and the special features of fetal circulation.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Arteries and veins share three wall layers (tunics) but differ in build. Arteries have thick, muscular, elastic walls to withstand the high pressure from the heart; veins have thinner walls and a wider lumen, and many contain one-way valves that keep blood flowing back toward the heart against gravity.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Capillaries are the tiniest vessels, with walls just one cell thick to allow exchange. Continuous capillaries (most tissues) are the least leaky, fenestrated ones (kidney, intestine) have pores for faster exchange, and sinusoids (liver, marrow) are the leakiest, letting cells and large molecules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Capillaries are arranged in networks (beds) linking arterioles to venules. Rings of muscle called precapillary sphincters open and close to route blood only to tissues that currently need it — for example, to working muscles during exercise or to the gut after a meal.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 pressure is highest and most pulsatile in the large arteries near the heart, falls steeply across the arterioles (the main site of resistance), and is lowest in the venules and veins. This pressure gradient is what keeps blood moving forward through the entire circuit.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pulse is the wave of expansion in an artery with each heartbeat, felt where an artery runs close to the skin over a bone — the radial (wrist), carotid (neck), brachial, and femoral, among others. Pulse points let you assess heart rate and rhythm, and serve as pressure points to control bleeding.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 pressure is measured with an inflatable cuff that occludes then releases an artery while listening for Korotkoff sounds. The systolic pressure (top number) is the peak during ventricular contraction; the diastolic (bottom) is the resting pressure between beats. Around 120/80 mmHg is typical; persistently high readings indicate hypertension.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venous pressure is low, returning blood to the heart needs help. As skeletal muscles contract during movement, they squeeze nearby veins, and the one-way valves ensure blood moves only toward the heart. This skeletal muscle pump is why staying still too long lets blood pool in the legs.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Capillaries are where blood serves the tissues. At the arterial end, blood pressure pushes fluid and nutrients out (filtration); at the venous end, osmotic pressure from plasma proteins pulls most of it back in (reabsorption). The lymphatic system collects the small excess. Imbalance here causes edema — tissue swelling.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circulation has two circuits in series. The pulmonary circuit carries blood from the right heart to the lungs to pick up oxygen and return to the left heart; the systemic circuit carries oxygen-rich blood from the left heart to all body tissues and back. Every drop passes through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Arteries carry blood away from the heart, branching from the aorta into named vessels supplying the head, limbs, and organs. They usually carry oxygen-rich blood (the pulmonary arteries are the exception). Knowing the major arteries underlies pulse points, blood pressure, and sites of blockage.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Veins return blood to the heart, converging into the superior and inferior venae cavae that empty into the right atrium. They usually carry oxygen-poor blood (the pulmonary veins are the exception). Superficial veins, visible at the skin, are common sites for drawing blood and giving IV fluids.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hepatic portal system is a special venous detour: blood draining the stomach, intestines, and spleen flows first to the liver, not straight back to the heart. This lets the liver process absorbed nutrients, store glucose, and detoxify substances before the blood rejoins the general circulation.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birth, the fetus gets oxygen from the placenta, not the lungs, so blood largely bypasses them through shunts — the ductus venosus, foramen ovale (between the atria), and ductus arteriosus. At birth, when breathing begins, these shunts normally close; failure to close causes congenital heart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20</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Blood Vessels and Circulation</a:t>
            </a:r>
            <a:endParaRPr lang="en-US" sz="4400" dirty="0"/>
          </a:p>
        </p:txBody>
      </p:sp>
      <p:sp>
        <p:nvSpPr>
          <p:cNvPr id="4" name="Text 2"/>
          <p:cNvSpPr/>
          <p:nvPr/>
        </p:nvSpPr>
        <p:spPr>
          <a:xfrm>
            <a:off x="749808" y="397764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Vessels, blood pressure, exchange, and the circulatory pathways.</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6410"/>
            <a:ext cx="4096512" cy="1968060"/>
          </a:xfrm>
          <a:prstGeom prst="roundRect">
            <a:avLst>
              <a:gd name="adj" fmla="val 278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20/img/img01.jpg">    </p:cNvPr>
          <p:cNvPicPr>
            <a:picLocks noChangeAspect="1"/>
          </p:cNvPicPr>
          <p:nvPr/>
        </p:nvPicPr>
        <p:blipFill>
          <a:blip r:embed="rId1"/>
          <a:stretch>
            <a:fillRect/>
          </a:stretch>
        </p:blipFill>
        <p:spPr>
          <a:xfrm>
            <a:off x="7818120" y="2618706"/>
            <a:ext cx="3931920" cy="18034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20</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Compare and contrast the anatomical structure of arteries, arterioles, capillaries, venules, and veins</a:t>
            </a:r>
            <a:endParaRPr lang="en-US" sz="1300" dirty="0"/>
          </a:p>
        </p:txBody>
      </p:sp>
      <p:sp>
        <p:nvSpPr>
          <p:cNvPr id="8" name="Shape 6"/>
          <p:cNvSpPr/>
          <p:nvPr/>
        </p:nvSpPr>
        <p:spPr>
          <a:xfrm>
            <a:off x="548640" y="2418588"/>
            <a:ext cx="384048" cy="384048"/>
          </a:xfrm>
          <a:prstGeom prst="ellipse">
            <a:avLst/>
          </a:prstGeom>
          <a:solidFill>
            <a:srgbClr val="0F4C5C"/>
          </a:solidFill>
          <a:ln/>
        </p:spPr>
      </p:sp>
      <p:sp>
        <p:nvSpPr>
          <p:cNvPr id="9" name="Text 7"/>
          <p:cNvSpPr/>
          <p:nvPr/>
        </p:nvSpPr>
        <p:spPr>
          <a:xfrm>
            <a:off x="548640" y="241858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0030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Accurately describe the forces that account for capillary exchange</a:t>
            </a:r>
            <a:endParaRPr lang="en-US" sz="1300" dirty="0"/>
          </a:p>
        </p:txBody>
      </p:sp>
      <p:sp>
        <p:nvSpPr>
          <p:cNvPr id="11" name="Shape 9"/>
          <p:cNvSpPr/>
          <p:nvPr/>
        </p:nvSpPr>
        <p:spPr>
          <a:xfrm>
            <a:off x="548640" y="3172968"/>
            <a:ext cx="384048" cy="384048"/>
          </a:xfrm>
          <a:prstGeom prst="ellipse">
            <a:avLst/>
          </a:prstGeom>
          <a:solidFill>
            <a:srgbClr val="0F4C5C"/>
          </a:solidFill>
          <a:ln/>
        </p:spPr>
      </p:sp>
      <p:sp>
        <p:nvSpPr>
          <p:cNvPr id="12" name="Text 10"/>
          <p:cNvSpPr/>
          <p:nvPr/>
        </p:nvSpPr>
        <p:spPr>
          <a:xfrm>
            <a:off x="548640" y="317296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15468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List the major factors affecting blood flow, blood pressure, and resistance</a:t>
            </a:r>
            <a:endParaRPr lang="en-US" sz="1300" dirty="0"/>
          </a:p>
        </p:txBody>
      </p:sp>
      <p:sp>
        <p:nvSpPr>
          <p:cNvPr id="14" name="Shape 12"/>
          <p:cNvSpPr/>
          <p:nvPr/>
        </p:nvSpPr>
        <p:spPr>
          <a:xfrm>
            <a:off x="548640" y="3927348"/>
            <a:ext cx="384048" cy="384048"/>
          </a:xfrm>
          <a:prstGeom prst="ellipse">
            <a:avLst/>
          </a:prstGeom>
          <a:solidFill>
            <a:srgbClr val="0F4C5C"/>
          </a:solidFill>
          <a:ln/>
        </p:spPr>
      </p:sp>
      <p:sp>
        <p:nvSpPr>
          <p:cNvPr id="15" name="Text 13"/>
          <p:cNvSpPr/>
          <p:nvPr/>
        </p:nvSpPr>
        <p:spPr>
          <a:xfrm>
            <a:off x="548640" y="392734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390906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how blood flow, blood pressure, and resistance interrelate</a:t>
            </a:r>
            <a:endParaRPr lang="en-US" sz="1300" dirty="0"/>
          </a:p>
        </p:txBody>
      </p:sp>
      <p:sp>
        <p:nvSpPr>
          <p:cNvPr id="17" name="Shape 15"/>
          <p:cNvSpPr/>
          <p:nvPr/>
        </p:nvSpPr>
        <p:spPr>
          <a:xfrm>
            <a:off x="548640" y="4681728"/>
            <a:ext cx="384048" cy="384048"/>
          </a:xfrm>
          <a:prstGeom prst="ellipse">
            <a:avLst/>
          </a:prstGeom>
          <a:solidFill>
            <a:srgbClr val="0F4C5C"/>
          </a:solidFill>
          <a:ln/>
        </p:spPr>
      </p:sp>
      <p:sp>
        <p:nvSpPr>
          <p:cNvPr id="18" name="Text 16"/>
          <p:cNvSpPr/>
          <p:nvPr/>
        </p:nvSpPr>
        <p:spPr>
          <a:xfrm>
            <a:off x="548640" y="468172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66344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Discuss how the neural and endocrine mechanisms maintain homeostasis within the blood vessels</a:t>
            </a:r>
            <a:endParaRPr lang="en-US" sz="1300" dirty="0"/>
          </a:p>
        </p:txBody>
      </p:sp>
      <p:sp>
        <p:nvSpPr>
          <p:cNvPr id="20" name="Shape 18"/>
          <p:cNvSpPr/>
          <p:nvPr/>
        </p:nvSpPr>
        <p:spPr>
          <a:xfrm>
            <a:off x="548640" y="5436108"/>
            <a:ext cx="384048" cy="384048"/>
          </a:xfrm>
          <a:prstGeom prst="ellipse">
            <a:avLst/>
          </a:prstGeom>
          <a:solidFill>
            <a:srgbClr val="0F4C5C"/>
          </a:solidFill>
          <a:ln/>
        </p:spPr>
      </p:sp>
      <p:sp>
        <p:nvSpPr>
          <p:cNvPr id="21" name="Text 19"/>
          <p:cNvSpPr/>
          <p:nvPr/>
        </p:nvSpPr>
        <p:spPr>
          <a:xfrm>
            <a:off x="548640" y="54361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22" name="Text 20"/>
          <p:cNvSpPr/>
          <p:nvPr/>
        </p:nvSpPr>
        <p:spPr>
          <a:xfrm>
            <a:off x="1115568" y="54178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interaction of the cardiovascular system with other body systems</a:t>
            </a:r>
            <a:endParaRPr lang="en-US" sz="1300" dirty="0"/>
          </a:p>
        </p:txBody>
      </p:sp>
      <p:sp>
        <p:nvSpPr>
          <p:cNvPr id="23" name="Shape 21"/>
          <p:cNvSpPr/>
          <p:nvPr/>
        </p:nvSpPr>
        <p:spPr>
          <a:xfrm>
            <a:off x="7415784" y="2222515"/>
            <a:ext cx="4370832" cy="3016473"/>
          </a:xfrm>
          <a:prstGeom prst="roundRect">
            <a:avLst>
              <a:gd name="adj" fmla="val 181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4" name="Image 0" descr="/home/claude/all/ch20/img/img02.jpg">    </p:cNvPr>
          <p:cNvPicPr>
            <a:picLocks noChangeAspect="1"/>
          </p:cNvPicPr>
          <p:nvPr/>
        </p:nvPicPr>
        <p:blipFill>
          <a:blip r:embed="rId1"/>
          <a:stretch>
            <a:fillRect/>
          </a:stretch>
        </p:blipFill>
        <p:spPr>
          <a:xfrm>
            <a:off x="7498080" y="2304811"/>
            <a:ext cx="4206240" cy="2851881"/>
          </a:xfrm>
          <a:prstGeom prst="rect">
            <a:avLst/>
          </a:prstGeom>
        </p:spPr>
      </p:pic>
      <p:sp>
        <p:nvSpPr>
          <p:cNvPr id="25" name="Text 22"/>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pulmonary and systemic circuits.</a:t>
            </a:r>
            <a:endParaRPr lang="en-US" sz="1100" dirty="0"/>
          </a:p>
        </p:txBody>
      </p:sp>
      <p:sp>
        <p:nvSpPr>
          <p:cNvPr id="27" name="Text 23"/>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20 — Blood Vessels and Circulation</a:t>
            </a:r>
            <a:endParaRPr lang="en-US" sz="900" dirty="0"/>
          </a:p>
        </p:txBody>
      </p:sp>
      <p:sp>
        <p:nvSpPr>
          <p:cNvPr id="28" name="Text 2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20.1</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Structure and Function of Blood Vessels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structure of arteries, veins, and capillaries.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20.1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Artery vs. Vein</a:t>
            </a:r>
            <a:endParaRPr lang="en-US" sz="2800" dirty="0"/>
          </a:p>
        </p:txBody>
      </p:sp>
      <p:sp>
        <p:nvSpPr>
          <p:cNvPr id="4" name="Shape 2"/>
          <p:cNvSpPr/>
          <p:nvPr/>
        </p:nvSpPr>
        <p:spPr>
          <a:xfrm>
            <a:off x="893140" y="1289304"/>
            <a:ext cx="3517240" cy="4736592"/>
          </a:xfrm>
          <a:prstGeom prst="roundRect">
            <a:avLst>
              <a:gd name="adj" fmla="val 156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0/img/img03.jpg">    </p:cNvPr>
          <p:cNvPicPr>
            <a:picLocks noChangeAspect="1"/>
          </p:cNvPicPr>
          <p:nvPr/>
        </p:nvPicPr>
        <p:blipFill>
          <a:blip r:embed="rId1"/>
          <a:stretch>
            <a:fillRect/>
          </a:stretch>
        </p:blipFill>
        <p:spPr>
          <a:xfrm>
            <a:off x="975436" y="1371600"/>
            <a:ext cx="335264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walls of an artery and a vein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Both have three wall layers (tunics)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Arteries have thick muscular walls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Veins are thinner, with valves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Valves keep venous blood moving up</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20 — Blood Vessels and Circulation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20.1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Types of Capillaries</a:t>
            </a:r>
            <a:endParaRPr lang="en-US" sz="2800" dirty="0"/>
          </a:p>
        </p:txBody>
      </p:sp>
      <p:sp>
        <p:nvSpPr>
          <p:cNvPr id="4" name="Shape 2"/>
          <p:cNvSpPr/>
          <p:nvPr/>
        </p:nvSpPr>
        <p:spPr>
          <a:xfrm>
            <a:off x="1287425" y="1289304"/>
            <a:ext cx="9632390"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0/img/img05.jpg">    </p:cNvPr>
          <p:cNvPicPr>
            <a:picLocks noChangeAspect="1"/>
          </p:cNvPicPr>
          <p:nvPr/>
        </p:nvPicPr>
        <p:blipFill>
          <a:blip r:embed="rId1"/>
          <a:stretch>
            <a:fillRect/>
          </a:stretch>
        </p:blipFill>
        <p:spPr>
          <a:xfrm>
            <a:off x="1369721" y="1371600"/>
            <a:ext cx="9467798"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three types of capillaries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smallest vessels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Walls just one cell thick</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Continuous, fenestrated, sinusoid</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site of all exchange</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20 — Blood Vessels and Circulation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20.1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Capillary Bed</a:t>
            </a:r>
            <a:endParaRPr lang="en-US" sz="2800" dirty="0"/>
          </a:p>
        </p:txBody>
      </p:sp>
      <p:sp>
        <p:nvSpPr>
          <p:cNvPr id="4" name="Shape 2"/>
          <p:cNvSpPr/>
          <p:nvPr/>
        </p:nvSpPr>
        <p:spPr>
          <a:xfrm>
            <a:off x="3002570" y="1289304"/>
            <a:ext cx="6202101"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0/img/img06.jpg">    </p:cNvPr>
          <p:cNvPicPr>
            <a:picLocks noChangeAspect="1"/>
          </p:cNvPicPr>
          <p:nvPr/>
        </p:nvPicPr>
        <p:blipFill>
          <a:blip r:embed="rId1"/>
          <a:stretch>
            <a:fillRect/>
          </a:stretch>
        </p:blipFill>
        <p:spPr>
          <a:xfrm>
            <a:off x="3084866" y="1371600"/>
            <a:ext cx="6037509"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Blood flow through a capillary bed</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Capillaries form branching beds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Connect arterioles to venules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Precapillary sphincters control flow</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Direct blood where it's needed</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20 — Blood Vessels and Circulation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20.2</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Blood Flow, Blood Pressure, and Resistance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Blood flow, blood pressure, and resistance.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20.2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Blood Pressure Across the System</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Pressure is highest in the arteries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Drops sharply in the arterioles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Lowest in the veins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gradient drives blood flow</a:t>
            </a:r>
            <a:endParaRPr lang="en-US" sz="1500" dirty="0"/>
          </a:p>
        </p:txBody>
      </p:sp>
      <p:sp>
        <p:nvSpPr>
          <p:cNvPr id="5" name="Shape 3"/>
          <p:cNvSpPr/>
          <p:nvPr/>
        </p:nvSpPr>
        <p:spPr>
          <a:xfrm>
            <a:off x="5404104" y="1409385"/>
            <a:ext cx="6382512" cy="4496430"/>
          </a:xfrm>
          <a:prstGeom prst="roundRect">
            <a:avLst>
              <a:gd name="adj" fmla="val 122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0/img/img10.jpg">    </p:cNvPr>
          <p:cNvPicPr>
            <a:picLocks noChangeAspect="1"/>
          </p:cNvPicPr>
          <p:nvPr/>
        </p:nvPicPr>
        <p:blipFill>
          <a:blip r:embed="rId1"/>
          <a:stretch>
            <a:fillRect/>
          </a:stretch>
        </p:blipFill>
        <p:spPr>
          <a:xfrm>
            <a:off x="5486400" y="1491681"/>
            <a:ext cx="6217920" cy="4331838"/>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Blood pressure throughout the circulation</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20 — Blood Vessels and Circulation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20.2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Pulse Points</a:t>
            </a:r>
            <a:endParaRPr lang="en-US" sz="2800" dirty="0"/>
          </a:p>
        </p:txBody>
      </p:sp>
      <p:sp>
        <p:nvSpPr>
          <p:cNvPr id="4" name="Shape 2"/>
          <p:cNvSpPr/>
          <p:nvPr/>
        </p:nvSpPr>
        <p:spPr>
          <a:xfrm>
            <a:off x="1085850" y="1289304"/>
            <a:ext cx="3131820" cy="4736592"/>
          </a:xfrm>
          <a:prstGeom prst="roundRect">
            <a:avLst>
              <a:gd name="adj" fmla="val 175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0/img/img11.jpg">    </p:cNvPr>
          <p:cNvPicPr>
            <a:picLocks noChangeAspect="1"/>
          </p:cNvPicPr>
          <p:nvPr/>
        </p:nvPicPr>
        <p:blipFill>
          <a:blip r:embed="rId1"/>
          <a:stretch>
            <a:fillRect/>
          </a:stretch>
        </p:blipFill>
        <p:spPr>
          <a:xfrm>
            <a:off x="1168146" y="1371600"/>
            <a:ext cx="296722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Pulse points of the body</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Pulse = artery expanding with each beat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Felt where arteries are near the surface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Common sites: radial, carotid, femoral</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Used to assess rate and rhythm</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20 — Blood Vessels and Circulation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20.2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Measuring Blood Pressure</a:t>
            </a:r>
            <a:endParaRPr lang="en-US" sz="2800" dirty="0"/>
          </a:p>
        </p:txBody>
      </p:sp>
      <p:sp>
        <p:nvSpPr>
          <p:cNvPr id="4" name="Shape 2"/>
          <p:cNvSpPr/>
          <p:nvPr/>
        </p:nvSpPr>
        <p:spPr>
          <a:xfrm>
            <a:off x="3157698" y="1289304"/>
            <a:ext cx="5891845"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0/img/img12.jpg">    </p:cNvPr>
          <p:cNvPicPr>
            <a:picLocks noChangeAspect="1"/>
          </p:cNvPicPr>
          <p:nvPr/>
        </p:nvPicPr>
        <p:blipFill>
          <a:blip r:embed="rId1"/>
          <a:stretch>
            <a:fillRect/>
          </a:stretch>
        </p:blipFill>
        <p:spPr>
          <a:xfrm>
            <a:off x="3239994" y="1371600"/>
            <a:ext cx="5727253"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Measuring arterial blood pressure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Measured with a cuff (sphygmomanometer)</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Systolic over diastolic</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Normal about 120/80 mmHg</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 key vital sign</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20 — Blood Vessels and Circulation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20.2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Skeletal Muscle Pump</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Veins need help returning blood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Contracting muscles squeeze veins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Valves keep blood moving up</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Aids venous return to the heart</a:t>
            </a:r>
            <a:endParaRPr lang="en-US" sz="1500" dirty="0"/>
          </a:p>
        </p:txBody>
      </p:sp>
      <p:sp>
        <p:nvSpPr>
          <p:cNvPr id="5" name="Shape 3"/>
          <p:cNvSpPr/>
          <p:nvPr/>
        </p:nvSpPr>
        <p:spPr>
          <a:xfrm>
            <a:off x="5951752" y="1335024"/>
            <a:ext cx="5287216"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0/img/img15.jpg">    </p:cNvPr>
          <p:cNvPicPr>
            <a:picLocks noChangeAspect="1"/>
          </p:cNvPicPr>
          <p:nvPr/>
        </p:nvPicPr>
        <p:blipFill>
          <a:blip r:embed="rId1"/>
          <a:stretch>
            <a:fillRect/>
          </a:stretch>
        </p:blipFill>
        <p:spPr>
          <a:xfrm>
            <a:off x="6034048" y="1417320"/>
            <a:ext cx="5122624"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skeletal muscle pump</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20 — Blood Vessels and Circulation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20.3</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Capillary Exchange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Capillary exchange — where blood serves the tissues.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20.3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Capillary Exchange</a:t>
            </a:r>
            <a:endParaRPr lang="en-US" sz="2800" dirty="0"/>
          </a:p>
        </p:txBody>
      </p:sp>
      <p:sp>
        <p:nvSpPr>
          <p:cNvPr id="4" name="Shape 2"/>
          <p:cNvSpPr/>
          <p:nvPr/>
        </p:nvSpPr>
        <p:spPr>
          <a:xfrm>
            <a:off x="2195013" y="1289304"/>
            <a:ext cx="7817215"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0/img/img16.jpg">    </p:cNvPr>
          <p:cNvPicPr>
            <a:picLocks noChangeAspect="1"/>
          </p:cNvPicPr>
          <p:nvPr/>
        </p:nvPicPr>
        <p:blipFill>
          <a:blip r:embed="rId1"/>
          <a:stretch>
            <a:fillRect/>
          </a:stretch>
        </p:blipFill>
        <p:spPr>
          <a:xfrm>
            <a:off x="2277309" y="1371600"/>
            <a:ext cx="7652623"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Fluid exchange at the capillary</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Materials cross the thin capillary wall</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Pressure pushes fluid out (filtration)</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Osmosis pulls fluid back (reabsorption)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Delivers nutrients, removes wastes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20 — Blood Vessels and Circulation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20.5</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Circulatory Pathways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major arteries, veins, and circulatory pathways.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20.5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Pulmonary &amp; Systemic Circuits</a:t>
            </a:r>
            <a:endParaRPr lang="en-US" sz="2800" dirty="0"/>
          </a:p>
        </p:txBody>
      </p:sp>
      <p:sp>
        <p:nvSpPr>
          <p:cNvPr id="4" name="Shape 2"/>
          <p:cNvSpPr/>
          <p:nvPr/>
        </p:nvSpPr>
        <p:spPr>
          <a:xfrm>
            <a:off x="2922153" y="1289304"/>
            <a:ext cx="6362935"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0/img/img23.jpg">    </p:cNvPr>
          <p:cNvPicPr>
            <a:picLocks noChangeAspect="1"/>
          </p:cNvPicPr>
          <p:nvPr/>
        </p:nvPicPr>
        <p:blipFill>
          <a:blip r:embed="rId1"/>
          <a:stretch>
            <a:fillRect/>
          </a:stretch>
        </p:blipFill>
        <p:spPr>
          <a:xfrm>
            <a:off x="3004449" y="1371600"/>
            <a:ext cx="6198343"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pulmonary and systemic circuits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Two linked circuits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Pulmonary: heart ↔ lungs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Systemic: heart ↔ body</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Run in series through the heart</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20 — Blood Vessels and Circulation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20.5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Major Arteries</a:t>
            </a:r>
            <a:endParaRPr lang="en-US" sz="2800" dirty="0"/>
          </a:p>
        </p:txBody>
      </p:sp>
      <p:sp>
        <p:nvSpPr>
          <p:cNvPr id="4" name="Shape 2"/>
          <p:cNvSpPr/>
          <p:nvPr/>
        </p:nvSpPr>
        <p:spPr>
          <a:xfrm>
            <a:off x="1159688" y="1289304"/>
            <a:ext cx="2984144" cy="4736592"/>
          </a:xfrm>
          <a:prstGeom prst="roundRect">
            <a:avLst>
              <a:gd name="adj" fmla="val 183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0/img/img24.jpg">    </p:cNvPr>
          <p:cNvPicPr>
            <a:picLocks noChangeAspect="1"/>
          </p:cNvPicPr>
          <p:nvPr/>
        </p:nvPicPr>
        <p:blipFill>
          <a:blip r:embed="rId1"/>
          <a:stretch>
            <a:fillRect/>
          </a:stretch>
        </p:blipFill>
        <p:spPr>
          <a:xfrm>
            <a:off x="1241984" y="1371600"/>
            <a:ext cx="281955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Major arteries of the body</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Arteries carry blood from the heart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aorta is the largest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Branches supply every region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Usually carry oxygen-rich blood</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20 — Blood Vessels and Circulation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20.5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Major Veins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Veins return blood to the heart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venae cavae are the largest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Drain every body region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Usually carry oxygen-poor blood</a:t>
            </a:r>
            <a:endParaRPr lang="en-US" sz="1500" dirty="0"/>
          </a:p>
        </p:txBody>
      </p:sp>
      <p:sp>
        <p:nvSpPr>
          <p:cNvPr id="5" name="Shape 3"/>
          <p:cNvSpPr/>
          <p:nvPr/>
        </p:nvSpPr>
        <p:spPr>
          <a:xfrm>
            <a:off x="6045844" y="1335024"/>
            <a:ext cx="5099033"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0/img/img36.jpg">    </p:cNvPr>
          <p:cNvPicPr>
            <a:picLocks noChangeAspect="1"/>
          </p:cNvPicPr>
          <p:nvPr/>
        </p:nvPicPr>
        <p:blipFill>
          <a:blip r:embed="rId1"/>
          <a:stretch>
            <a:fillRect/>
          </a:stretch>
        </p:blipFill>
        <p:spPr>
          <a:xfrm>
            <a:off x="6128140" y="1417320"/>
            <a:ext cx="4934441"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Major veins of the body</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20 — Blood Vessels and Circulation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20.5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Hepatic Portal System</a:t>
            </a:r>
            <a:endParaRPr lang="en-US" sz="2800" dirty="0"/>
          </a:p>
        </p:txBody>
      </p:sp>
      <p:sp>
        <p:nvSpPr>
          <p:cNvPr id="4" name="Shape 2"/>
          <p:cNvSpPr/>
          <p:nvPr/>
        </p:nvSpPr>
        <p:spPr>
          <a:xfrm>
            <a:off x="3255410" y="1289304"/>
            <a:ext cx="5696419"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0/img/img43.jpg">    </p:cNvPr>
          <p:cNvPicPr>
            <a:picLocks noChangeAspect="1"/>
          </p:cNvPicPr>
          <p:nvPr/>
        </p:nvPicPr>
        <p:blipFill>
          <a:blip r:embed="rId1"/>
          <a:stretch>
            <a:fillRect/>
          </a:stretch>
        </p:blipFill>
        <p:spPr>
          <a:xfrm>
            <a:off x="3337706" y="1371600"/>
            <a:ext cx="5531827"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hepatic portal system</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 special detour through the liver</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Drains the digestive organs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Carries nutrient-rich blood to the liver</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Liver processes it before circulation</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20 — Blood Vessels and Circulation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20.6</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Development of Blood Vessels and Fetal Circulation</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Fetal circulation before birth.</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20.6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Fetal Circulation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fetus gets oxygen from the placenta</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lungs are bypassed before birth</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Shortcuts: ductus arteriosus, foramen ovale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They close at birth</a:t>
            </a:r>
            <a:endParaRPr lang="en-US" sz="1500" dirty="0"/>
          </a:p>
        </p:txBody>
      </p:sp>
      <p:sp>
        <p:nvSpPr>
          <p:cNvPr id="5" name="Shape 3"/>
          <p:cNvSpPr/>
          <p:nvPr/>
        </p:nvSpPr>
        <p:spPr>
          <a:xfrm>
            <a:off x="6356346" y="1335024"/>
            <a:ext cx="4478027" cy="4645152"/>
          </a:xfrm>
          <a:prstGeom prst="roundRect">
            <a:avLst>
              <a:gd name="adj" fmla="val 1225"/>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0/img/img44.jpg">    </p:cNvPr>
          <p:cNvPicPr>
            <a:picLocks noChangeAspect="1"/>
          </p:cNvPicPr>
          <p:nvPr/>
        </p:nvPicPr>
        <p:blipFill>
          <a:blip r:embed="rId1"/>
          <a:stretch>
            <a:fillRect/>
          </a:stretch>
        </p:blipFill>
        <p:spPr>
          <a:xfrm>
            <a:off x="6438642" y="1417320"/>
            <a:ext cx="4313435"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Fetal circulation</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20 — Blood Vessels and Circulation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20</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Arteries carry blood from the heart, veins return it, and capillaries are where exchange occurs.</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Blood pressure is highest in the arteries and drives flow through the circuit.</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Capillary exchange delivers nutrients and removes wastes; imbalance causes edema.</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systemic and pulmonary circuits carry blood to the body and the lungs.</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Fetal circulation bypasses the lungs through shunts that close at birth.</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20 — Blood Vessels and Circulation</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Why Blood Vessels Matter in Practical Nursing</a:t>
            </a:r>
            <a:endParaRPr lang="en-US" sz="2500" dirty="0"/>
          </a:p>
        </p:txBody>
      </p:sp>
      <p:sp>
        <p:nvSpPr>
          <p:cNvPr id="4" name="Shape 2"/>
          <p:cNvSpPr/>
          <p:nvPr/>
        </p:nvSpPr>
        <p:spPr>
          <a:xfrm>
            <a:off x="548640" y="1783080"/>
            <a:ext cx="5440680" cy="1389888"/>
          </a:xfrm>
          <a:prstGeom prst="roundRect">
            <a:avLst>
              <a:gd name="adj" fmla="val 5263"/>
            </a:avLst>
          </a:prstGeom>
          <a:solidFill>
            <a:srgbClr val="13586A"/>
          </a:solidFill>
          <a:ln w="12700">
            <a:solidFill>
              <a:srgbClr val="2A7A8C"/>
            </a:solidFill>
            <a:prstDash val="solid"/>
          </a:ln>
        </p:spPr>
      </p:sp>
      <p:sp>
        <p:nvSpPr>
          <p:cNvPr id="5" name="Text 3"/>
          <p:cNvSpPr/>
          <p:nvPr/>
        </p:nvSpPr>
        <p:spPr>
          <a:xfrm>
            <a:off x="77724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Hypertension</a:t>
            </a:r>
            <a:endParaRPr lang="en-US" sz="1600" dirty="0"/>
          </a:p>
        </p:txBody>
      </p:sp>
      <p:sp>
        <p:nvSpPr>
          <p:cNvPr id="6" name="Text 4"/>
          <p:cNvSpPr/>
          <p:nvPr/>
        </p:nvSpPr>
        <p:spPr>
          <a:xfrm>
            <a:off x="77724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Chronically high blood pressure damages vessels and organs.</a:t>
            </a:r>
            <a:endParaRPr lang="en-US" sz="1250" dirty="0"/>
          </a:p>
        </p:txBody>
      </p:sp>
      <p:sp>
        <p:nvSpPr>
          <p:cNvPr id="7" name="Shape 5"/>
          <p:cNvSpPr/>
          <p:nvPr/>
        </p:nvSpPr>
        <p:spPr>
          <a:xfrm>
            <a:off x="6172200" y="1783080"/>
            <a:ext cx="5440680" cy="1389888"/>
          </a:xfrm>
          <a:prstGeom prst="roundRect">
            <a:avLst>
              <a:gd name="adj" fmla="val 5263"/>
            </a:avLst>
          </a:prstGeom>
          <a:solidFill>
            <a:srgbClr val="13586A"/>
          </a:solidFill>
          <a:ln w="12700">
            <a:solidFill>
              <a:srgbClr val="2A7A8C"/>
            </a:solidFill>
            <a:prstDash val="solid"/>
          </a:ln>
        </p:spPr>
      </p:sp>
      <p:sp>
        <p:nvSpPr>
          <p:cNvPr id="8" name="Text 6"/>
          <p:cNvSpPr/>
          <p:nvPr/>
        </p:nvSpPr>
        <p:spPr>
          <a:xfrm>
            <a:off x="640080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Atherosclerosis</a:t>
            </a:r>
            <a:endParaRPr lang="en-US" sz="1600" dirty="0"/>
          </a:p>
        </p:txBody>
      </p:sp>
      <p:sp>
        <p:nvSpPr>
          <p:cNvPr id="9" name="Text 7"/>
          <p:cNvSpPr/>
          <p:nvPr/>
        </p:nvSpPr>
        <p:spPr>
          <a:xfrm>
            <a:off x="640080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Arterial plaque narrows vessels and raises clot risk.</a:t>
            </a:r>
            <a:endParaRPr lang="en-US" sz="1250" dirty="0"/>
          </a:p>
        </p:txBody>
      </p:sp>
      <p:sp>
        <p:nvSpPr>
          <p:cNvPr id="10" name="Shape 8"/>
          <p:cNvSpPr/>
          <p:nvPr/>
        </p:nvSpPr>
        <p:spPr>
          <a:xfrm>
            <a:off x="548640" y="3337560"/>
            <a:ext cx="5440680" cy="1389888"/>
          </a:xfrm>
          <a:prstGeom prst="roundRect">
            <a:avLst>
              <a:gd name="adj" fmla="val 5263"/>
            </a:avLst>
          </a:prstGeom>
          <a:solidFill>
            <a:srgbClr val="13586A"/>
          </a:solidFill>
          <a:ln w="12700">
            <a:solidFill>
              <a:srgbClr val="2A7A8C"/>
            </a:solidFill>
            <a:prstDash val="solid"/>
          </a:ln>
        </p:spPr>
      </p:sp>
      <p:sp>
        <p:nvSpPr>
          <p:cNvPr id="11" name="Text 9"/>
          <p:cNvSpPr/>
          <p:nvPr/>
        </p:nvSpPr>
        <p:spPr>
          <a:xfrm>
            <a:off x="77724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Pulse &amp; BP</a:t>
            </a:r>
            <a:endParaRPr lang="en-US" sz="1600" dirty="0"/>
          </a:p>
        </p:txBody>
      </p:sp>
      <p:sp>
        <p:nvSpPr>
          <p:cNvPr id="12" name="Text 10"/>
          <p:cNvSpPr/>
          <p:nvPr/>
        </p:nvSpPr>
        <p:spPr>
          <a:xfrm>
            <a:off x="77724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Core vital signs reflecting cardiovascular status.</a:t>
            </a:r>
            <a:endParaRPr lang="en-US" sz="1250" dirty="0"/>
          </a:p>
        </p:txBody>
      </p:sp>
      <p:sp>
        <p:nvSpPr>
          <p:cNvPr id="13" name="Shape 11"/>
          <p:cNvSpPr/>
          <p:nvPr/>
        </p:nvSpPr>
        <p:spPr>
          <a:xfrm>
            <a:off x="6172200" y="3337560"/>
            <a:ext cx="5440680" cy="1389888"/>
          </a:xfrm>
          <a:prstGeom prst="roundRect">
            <a:avLst>
              <a:gd name="adj" fmla="val 5263"/>
            </a:avLst>
          </a:prstGeom>
          <a:solidFill>
            <a:srgbClr val="13586A"/>
          </a:solidFill>
          <a:ln w="12700">
            <a:solidFill>
              <a:srgbClr val="2A7A8C"/>
            </a:solidFill>
            <a:prstDash val="solid"/>
          </a:ln>
        </p:spPr>
      </p:sp>
      <p:sp>
        <p:nvSpPr>
          <p:cNvPr id="14" name="Text 12"/>
          <p:cNvSpPr/>
          <p:nvPr/>
        </p:nvSpPr>
        <p:spPr>
          <a:xfrm>
            <a:off x="640080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Edema</a:t>
            </a:r>
            <a:endParaRPr lang="en-US" sz="1600" dirty="0"/>
          </a:p>
        </p:txBody>
      </p:sp>
      <p:sp>
        <p:nvSpPr>
          <p:cNvPr id="15" name="Text 13"/>
          <p:cNvSpPr/>
          <p:nvPr/>
        </p:nvSpPr>
        <p:spPr>
          <a:xfrm>
            <a:off x="640080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Fluid leaking from capillaries causes tissue swelling.</a:t>
            </a:r>
            <a:endParaRPr lang="en-US" sz="1250" dirty="0"/>
          </a:p>
        </p:txBody>
      </p:sp>
      <p:sp>
        <p:nvSpPr>
          <p:cNvPr id="16" name="Shape 14"/>
          <p:cNvSpPr/>
          <p:nvPr/>
        </p:nvSpPr>
        <p:spPr>
          <a:xfrm>
            <a:off x="548640" y="4892040"/>
            <a:ext cx="5440680" cy="1389888"/>
          </a:xfrm>
          <a:prstGeom prst="roundRect">
            <a:avLst>
              <a:gd name="adj" fmla="val 5263"/>
            </a:avLst>
          </a:prstGeom>
          <a:solidFill>
            <a:srgbClr val="13586A"/>
          </a:solidFill>
          <a:ln w="12700">
            <a:solidFill>
              <a:srgbClr val="2A7A8C"/>
            </a:solidFill>
            <a:prstDash val="solid"/>
          </a:ln>
        </p:spPr>
      </p:sp>
      <p:sp>
        <p:nvSpPr>
          <p:cNvPr id="17" name="Text 15"/>
          <p:cNvSpPr/>
          <p:nvPr/>
        </p:nvSpPr>
        <p:spPr>
          <a:xfrm>
            <a:off x="77724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Varicose Veins</a:t>
            </a:r>
            <a:endParaRPr lang="en-US" sz="1600" dirty="0"/>
          </a:p>
        </p:txBody>
      </p:sp>
      <p:sp>
        <p:nvSpPr>
          <p:cNvPr id="18" name="Text 16"/>
          <p:cNvSpPr/>
          <p:nvPr/>
        </p:nvSpPr>
        <p:spPr>
          <a:xfrm>
            <a:off x="77724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Failed venous valves let blood pool in the legs.</a:t>
            </a:r>
            <a:endParaRPr lang="en-US" sz="1250" dirty="0"/>
          </a:p>
        </p:txBody>
      </p:sp>
      <p:sp>
        <p:nvSpPr>
          <p:cNvPr id="19" name="Shape 17"/>
          <p:cNvSpPr/>
          <p:nvPr/>
        </p:nvSpPr>
        <p:spPr>
          <a:xfrm>
            <a:off x="6172200" y="4892040"/>
            <a:ext cx="5440680" cy="1389888"/>
          </a:xfrm>
          <a:prstGeom prst="roundRect">
            <a:avLst>
              <a:gd name="adj" fmla="val 5263"/>
            </a:avLst>
          </a:prstGeom>
          <a:solidFill>
            <a:srgbClr val="13586A"/>
          </a:solidFill>
          <a:ln w="12700">
            <a:solidFill>
              <a:srgbClr val="2A7A8C"/>
            </a:solidFill>
            <a:prstDash val="solid"/>
          </a:ln>
        </p:spPr>
      </p:sp>
      <p:sp>
        <p:nvSpPr>
          <p:cNvPr id="20" name="Text 18"/>
          <p:cNvSpPr/>
          <p:nvPr/>
        </p:nvSpPr>
        <p:spPr>
          <a:xfrm>
            <a:off x="640080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IV Access</a:t>
            </a:r>
            <a:endParaRPr lang="en-US" sz="1600" dirty="0"/>
          </a:p>
        </p:txBody>
      </p:sp>
      <p:sp>
        <p:nvSpPr>
          <p:cNvPr id="21" name="Text 19"/>
          <p:cNvSpPr/>
          <p:nvPr/>
        </p:nvSpPr>
        <p:spPr>
          <a:xfrm>
            <a:off x="640080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Superficial veins are used for fluids, medications, and blood draws.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2026-06-23T21:44:30Z</dcterms:created>
  <dcterms:modified xsi:type="dcterms:W3CDTF">2026-06-23T21:44:30Z</dcterms:modified>
</cp:coreProperties>
</file>