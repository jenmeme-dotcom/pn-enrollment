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aa49a534e5a46e9" /><Relationship Type="http://schemas.openxmlformats.org/officeDocument/2006/relationships/extended-properties" Target="/docProps/app.xml" Id="Rc2cdb33c80ad4afb" /><Relationship Type="http://schemas.openxmlformats.org/officeDocument/2006/relationships/officeDocument" Target="/ppt/presentation.xml" Id="R2a55cb4274814242" /></Relationships>
</file>

<file path=ppt/presentation.xml><?xml version="1.0" encoding="utf-8"?>
<p:presentation xmlns:p="http://schemas.openxmlformats.org/presentationml/2006/main">
  <p:sldMasterIdLst>
    <p:sldMasterId xmlns:r="http://schemas.openxmlformats.org/officeDocument/2006/relationships" id="2147483648" r:id="Ra912015bfd9347f8"/>
  </p:sldMasterIdLst>
  <p:notesMasterIdLst>
    <p:notesMasterId xmlns:r="http://schemas.openxmlformats.org/officeDocument/2006/relationships" r:id="Re4ef8ced71cc49bb"/>
  </p:notesMasterIdLst>
  <p:sldIdLst>
    <p:sldId xmlns:r="http://schemas.openxmlformats.org/officeDocument/2006/relationships" id="256" r:id="R41d19b1f804b4967"/>
    <p:sldId xmlns:r="http://schemas.openxmlformats.org/officeDocument/2006/relationships" id="257" r:id="R7735a21bc4c74dff"/>
    <p:sldId xmlns:r="http://schemas.openxmlformats.org/officeDocument/2006/relationships" id="258" r:id="Reba7d2acf1334e9f"/>
    <p:sldId xmlns:r="http://schemas.openxmlformats.org/officeDocument/2006/relationships" id="259" r:id="R0b05a7a502ba4d19"/>
    <p:sldId xmlns:r="http://schemas.openxmlformats.org/officeDocument/2006/relationships" id="260" r:id="R6bdd2d2319f54c16"/>
    <p:sldId xmlns:r="http://schemas.openxmlformats.org/officeDocument/2006/relationships" id="261" r:id="R1ea0cf3fbfd04d42"/>
    <p:sldId xmlns:r="http://schemas.openxmlformats.org/officeDocument/2006/relationships" id="262" r:id="R06cbc21bfdb2476f"/>
    <p:sldId xmlns:r="http://schemas.openxmlformats.org/officeDocument/2006/relationships" id="263" r:id="R3adc7b75ce534cb2"/>
    <p:sldId xmlns:r="http://schemas.openxmlformats.org/officeDocument/2006/relationships" id="264" r:id="Re193f88a2466430d"/>
    <p:sldId xmlns:r="http://schemas.openxmlformats.org/officeDocument/2006/relationships" id="265" r:id="R1ee0927426f3414a"/>
    <p:sldId xmlns:r="http://schemas.openxmlformats.org/officeDocument/2006/relationships" id="266" r:id="R32beff2219944d37"/>
    <p:sldId xmlns:r="http://schemas.openxmlformats.org/officeDocument/2006/relationships" id="267" r:id="R0406b02e8d85470f"/>
    <p:sldId xmlns:r="http://schemas.openxmlformats.org/officeDocument/2006/relationships" id="268" r:id="R2d870db4664c4dc1"/>
    <p:sldId xmlns:r="http://schemas.openxmlformats.org/officeDocument/2006/relationships" id="269" r:id="R3398427af2634bf7"/>
    <p:sldId xmlns:r="http://schemas.openxmlformats.org/officeDocument/2006/relationships" id="270" r:id="Rf852f0235a374cef"/>
    <p:sldId xmlns:r="http://schemas.openxmlformats.org/officeDocument/2006/relationships" id="271" r:id="Ra3230cfebb19499c"/>
    <p:sldId xmlns:r="http://schemas.openxmlformats.org/officeDocument/2006/relationships" id="272" r:id="R31ae631925ab416a"/>
    <p:sldId xmlns:r="http://schemas.openxmlformats.org/officeDocument/2006/relationships" id="273" r:id="Rf16b5c3174224fea"/>
    <p:sldId xmlns:r="http://schemas.openxmlformats.org/officeDocument/2006/relationships" id="274" r:id="Rdfdf458020c34395"/>
    <p:sldId xmlns:r="http://schemas.openxmlformats.org/officeDocument/2006/relationships" id="275" r:id="Rb678836a141a48b0"/>
    <p:sldId xmlns:r="http://schemas.openxmlformats.org/officeDocument/2006/relationships" id="276" r:id="Ra3096ee457814cbe"/>
    <p:sldId xmlns:r="http://schemas.openxmlformats.org/officeDocument/2006/relationships" id="277" r:id="R69a2f6a8795a4737"/>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a02925ac1e047fa" /><Relationship Type="http://schemas.openxmlformats.org/officeDocument/2006/relationships/slideMaster" Target="/ppt/slideMasters/slideMaster1.xml" Id="Ra912015bfd9347f8" /><Relationship Type="http://schemas.openxmlformats.org/officeDocument/2006/relationships/notesMaster" Target="/ppt/notesMasters/notesMaster1.xml" Id="Re4ef8ced71cc49bb" /><Relationship Type="http://schemas.openxmlformats.org/officeDocument/2006/relationships/presProps" Target="/ppt/presProps.xml" Id="Rdb508f5e5e804f66" /><Relationship Type="http://schemas.openxmlformats.org/officeDocument/2006/relationships/viewProps" Target="/ppt/viewProps.xml" Id="Rf6a050b557f54773" /><Relationship Type="http://schemas.openxmlformats.org/officeDocument/2006/relationships/tableStyles" Target="/ppt/tableStyles.xml" Id="Rabf7b7301c114719" /><Relationship Type="http://schemas.openxmlformats.org/officeDocument/2006/relationships/slide" Target="/ppt/slides/slide1.xml" Id="R41d19b1f804b4967" /><Relationship Type="http://schemas.openxmlformats.org/officeDocument/2006/relationships/slide" Target="/ppt/slides/slide2.xml" Id="R7735a21bc4c74dff" /><Relationship Type="http://schemas.openxmlformats.org/officeDocument/2006/relationships/slide" Target="/ppt/slides/slide3.xml" Id="Reba7d2acf1334e9f" /><Relationship Type="http://schemas.openxmlformats.org/officeDocument/2006/relationships/slide" Target="/ppt/slides/slide4.xml" Id="R0b05a7a502ba4d19" /><Relationship Type="http://schemas.openxmlformats.org/officeDocument/2006/relationships/slide" Target="/ppt/slides/slide5.xml" Id="R6bdd2d2319f54c16" /><Relationship Type="http://schemas.openxmlformats.org/officeDocument/2006/relationships/slide" Target="/ppt/slides/slide6.xml" Id="R1ea0cf3fbfd04d42" /><Relationship Type="http://schemas.openxmlformats.org/officeDocument/2006/relationships/slide" Target="/ppt/slides/slide7.xml" Id="R06cbc21bfdb2476f" /><Relationship Type="http://schemas.openxmlformats.org/officeDocument/2006/relationships/slide" Target="/ppt/slides/slide8.xml" Id="R3adc7b75ce534cb2" /><Relationship Type="http://schemas.openxmlformats.org/officeDocument/2006/relationships/slide" Target="/ppt/slides/slide9.xml" Id="Re193f88a2466430d" /><Relationship Type="http://schemas.openxmlformats.org/officeDocument/2006/relationships/slide" Target="/ppt/slides/slide10.xml" Id="R1ee0927426f3414a" /><Relationship Type="http://schemas.openxmlformats.org/officeDocument/2006/relationships/slide" Target="/ppt/slides/slide11.xml" Id="R32beff2219944d37" /><Relationship Type="http://schemas.openxmlformats.org/officeDocument/2006/relationships/slide" Target="/ppt/slides/slide12.xml" Id="R0406b02e8d85470f" /><Relationship Type="http://schemas.openxmlformats.org/officeDocument/2006/relationships/slide" Target="/ppt/slides/slide13.xml" Id="R2d870db4664c4dc1" /><Relationship Type="http://schemas.openxmlformats.org/officeDocument/2006/relationships/slide" Target="/ppt/slides/slide14.xml" Id="R3398427af2634bf7" /><Relationship Type="http://schemas.openxmlformats.org/officeDocument/2006/relationships/slide" Target="/ppt/slides/slide15.xml" Id="Rf852f0235a374cef" /><Relationship Type="http://schemas.openxmlformats.org/officeDocument/2006/relationships/slide" Target="/ppt/slides/slide16.xml" Id="Ra3230cfebb19499c" /><Relationship Type="http://schemas.openxmlformats.org/officeDocument/2006/relationships/slide" Target="/ppt/slides/slide17.xml" Id="R31ae631925ab416a" /><Relationship Type="http://schemas.openxmlformats.org/officeDocument/2006/relationships/slide" Target="/ppt/slides/slide18.xml" Id="Rf16b5c3174224fea" /><Relationship Type="http://schemas.openxmlformats.org/officeDocument/2006/relationships/slide" Target="/ppt/slides/slide19.xml" Id="Rdfdf458020c34395" /><Relationship Type="http://schemas.openxmlformats.org/officeDocument/2006/relationships/slide" Target="/ppt/slides/slide20.xml" Id="Rb678836a141a48b0" /><Relationship Type="http://schemas.openxmlformats.org/officeDocument/2006/relationships/slide" Target="/ppt/slides/slide21.xml" Id="Ra3096ee457814cbe" /><Relationship Type="http://schemas.openxmlformats.org/officeDocument/2006/relationships/slide" Target="/ppt/slides/slide22.xml" Id="R69a2f6a8795a473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049261871b84d2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9266c831104432b" /><Relationship Type="http://schemas.openxmlformats.org/officeDocument/2006/relationships/notesMaster" Target="/ppt/notesMasters/notesMaster1.xml" Id="R0a28352e19624478" /></Relationships>
</file>

<file path=ppt/notesSlides/_rels/notesSlide2.xml.rels>&#65279;<?xml version="1.0" encoding="utf-8"?><Relationships xmlns="http://schemas.openxmlformats.org/package/2006/relationships"><Relationship Type="http://schemas.openxmlformats.org/officeDocument/2006/relationships/slide" Target="/ppt/slides/slide2.xml" Id="Rb0b2f884de2c4ed6" /><Relationship Type="http://schemas.openxmlformats.org/officeDocument/2006/relationships/notesMaster" Target="/ppt/notesMasters/notesMaster1.xml" Id="R88f93c3c45f74c71" /></Relationships>
</file>

<file path=ppt/notesSlides/_rels/notesSlide3.xml.rels>&#65279;<?xml version="1.0" encoding="utf-8"?><Relationships xmlns="http://schemas.openxmlformats.org/package/2006/relationships"><Relationship Type="http://schemas.openxmlformats.org/officeDocument/2006/relationships/slide" Target="/ppt/slides/slide3.xml" Id="R181773a3b67c42ad" /><Relationship Type="http://schemas.openxmlformats.org/officeDocument/2006/relationships/notesMaster" Target="/ppt/notesMasters/notesMaster1.xml" Id="Rd0370af2b1c748bf" /></Relationships>
</file>

<file path=ppt/notesSlides/_rels/notesSlide4.xml.rels>&#65279;<?xml version="1.0" encoding="utf-8"?><Relationships xmlns="http://schemas.openxmlformats.org/package/2006/relationships"><Relationship Type="http://schemas.openxmlformats.org/officeDocument/2006/relationships/slide" Target="/ppt/slides/slide4.xml" Id="R1aae445b44414402" /><Relationship Type="http://schemas.openxmlformats.org/officeDocument/2006/relationships/notesMaster" Target="/ppt/notesMasters/notesMaster1.xml" Id="R037e5c898c834d80" /></Relationships>
</file>

<file path=ppt/notesSlides/_rels/notesSlide5.xml.rels>&#65279;<?xml version="1.0" encoding="utf-8"?><Relationships xmlns="http://schemas.openxmlformats.org/package/2006/relationships"><Relationship Type="http://schemas.openxmlformats.org/officeDocument/2006/relationships/slide" Target="/ppt/slides/slide5.xml" Id="R67bfaf7834494ed2" /><Relationship Type="http://schemas.openxmlformats.org/officeDocument/2006/relationships/notesMaster" Target="/ppt/notesMasters/notesMaster1.xml" Id="R6ad1135114834ac5" /></Relationships>
</file>

<file path=ppt/notesSlides/_rels/notesSlide6.xml.rels>&#65279;<?xml version="1.0" encoding="utf-8"?><Relationships xmlns="http://schemas.openxmlformats.org/package/2006/relationships"><Relationship Type="http://schemas.openxmlformats.org/officeDocument/2006/relationships/slide" Target="/ppt/slides/slide6.xml" Id="R0e67f9ebd0e547d0" /><Relationship Type="http://schemas.openxmlformats.org/officeDocument/2006/relationships/notesMaster" Target="/ppt/notesMasters/notesMaster1.xml" Id="R61d6104e5cf24d16" /></Relationships>
</file>

<file path=ppt/notesSlides/_rels/notesSlide7.xml.rels>&#65279;<?xml version="1.0" encoding="utf-8"?><Relationships xmlns="http://schemas.openxmlformats.org/package/2006/relationships"><Relationship Type="http://schemas.openxmlformats.org/officeDocument/2006/relationships/slide" Target="/ppt/slides/slide7.xml" Id="R0cae12d6a75146de" /><Relationship Type="http://schemas.openxmlformats.org/officeDocument/2006/relationships/notesMaster" Target="/ppt/notesMasters/notesMaster1.xml" Id="Ra77c68505c07487d" /></Relationships>
</file>

<file path=ppt/notesSlides/_rels/notesSlide8.xml.rels>&#65279;<?xml version="1.0" encoding="utf-8"?><Relationships xmlns="http://schemas.openxmlformats.org/package/2006/relationships"><Relationship Type="http://schemas.openxmlformats.org/officeDocument/2006/relationships/slide" Target="/ppt/slides/slide8.xml" Id="R11159d930e8d4b74" /><Relationship Type="http://schemas.openxmlformats.org/officeDocument/2006/relationships/notesMaster" Target="/ppt/notesMasters/notesMaster1.xml" Id="R4a39ab9645ac4db2" /></Relationships>
</file>

<file path=ppt/notesSlides/_rels/notesSlide9.xml.rels>&#65279;<?xml version="1.0" encoding="utf-8"?><Relationships xmlns="http://schemas.openxmlformats.org/package/2006/relationships"><Relationship Type="http://schemas.openxmlformats.org/officeDocument/2006/relationships/slide" Target="/ppt/slides/slide9.xml" Id="R8c693fcd2e0f4707" /><Relationship Type="http://schemas.openxmlformats.org/officeDocument/2006/relationships/notesMaster" Target="/ppt/notesMasters/notesMaster1.xml" Id="Ra0aac4089bc849e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1427620c5344678" /><Relationship Type="http://schemas.openxmlformats.org/officeDocument/2006/relationships/notesMaster" Target="/ppt/notesMasters/notesMaster1.xml" Id="R752dd64ade394ea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fac5342598a44c8" /><Relationship Type="http://schemas.openxmlformats.org/officeDocument/2006/relationships/notesMaster" Target="/ppt/notesMasters/notesMaster1.xml" Id="Rf8918c16e78240f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16e63692fd5424b" /><Relationship Type="http://schemas.openxmlformats.org/officeDocument/2006/relationships/notesMaster" Target="/ppt/notesMasters/notesMaster1.xml" Id="R70c4e1acb8ec423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52c97cee1cf4164" /><Relationship Type="http://schemas.openxmlformats.org/officeDocument/2006/relationships/notesMaster" Target="/ppt/notesMasters/notesMaster1.xml" Id="R09123c10c0404eb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432108ca5384ac3" /><Relationship Type="http://schemas.openxmlformats.org/officeDocument/2006/relationships/notesMaster" Target="/ppt/notesMasters/notesMaster1.xml" Id="Rda679835108f443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d125fa20521476e" /><Relationship Type="http://schemas.openxmlformats.org/officeDocument/2006/relationships/notesMaster" Target="/ppt/notesMasters/notesMaster1.xml" Id="R5e63c7ef8691414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cac67e248a6409e" /><Relationship Type="http://schemas.openxmlformats.org/officeDocument/2006/relationships/notesMaster" Target="/ppt/notesMasters/notesMaster1.xml" Id="R981ba1934696441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466c207d07b40e6" /><Relationship Type="http://schemas.openxmlformats.org/officeDocument/2006/relationships/notesMaster" Target="/ppt/notesMasters/notesMaster1.xml" Id="R66e9fd649ab4446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bbabfb3e8c84570" /><Relationship Type="http://schemas.openxmlformats.org/officeDocument/2006/relationships/notesMaster" Target="/ppt/notesMasters/notesMaster1.xml" Id="R3a2bd40648b6439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cec8377a307413c" /><Relationship Type="http://schemas.openxmlformats.org/officeDocument/2006/relationships/notesMaster" Target="/ppt/notesMasters/notesMaster1.xml" Id="R9da8041334e9407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d26a42c21d8438e" /><Relationship Type="http://schemas.openxmlformats.org/officeDocument/2006/relationships/notesMaster" Target="/ppt/notesMasters/notesMaster1.xml" Id="R8fb70e6d3844496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161e48bf13743d5" /><Relationship Type="http://schemas.openxmlformats.org/officeDocument/2006/relationships/notesMaster" Target="/ppt/notesMasters/notesMaster1.xml" Id="R4b3b4312b59f4e0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aeb5aa24ed3414e" /><Relationship Type="http://schemas.openxmlformats.org/officeDocument/2006/relationships/notesMaster" Target="/ppt/notesMasters/notesMaster1.xml" Id="R88a8cdb470ca4d1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Today we are beginning Chapter 7, the axial skeleton. In this chapter, we will connect the names and locations of skeletal structures with their functions and with the observations that matter in practical nursing care. As we move through the slides, focus on how structure supports protection, movement, stability, mineral balance, and patient safety. By the end, you should be able to explain the major concepts in your own words and apply them to a patient-care situation.</a:t>
            </a:r>
          </a:p>
          <a:p xmlns:a="http://schemas.openxmlformats.org/drawingml/2006/main">
            <a:r>
              <a:t/>
            </a:r>
          </a:p>
          <a:p xmlns:a="http://schemas.openxmlformats.org/drawingml/2006/main">
            <a:r>
              <a:t>[Sources]</a:t>
            </a:r>
          </a:p>
          <a:p xmlns:a="http://schemas.openxmlformats.org/drawingml/2006/main">
            <a:r>
              <a:t>- BMHI PN 104 Chapter 7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These are our learning objectives for Chapter 7. By the end of the chapter, you should be able to do the following: Describe the functions of the skeletal system and define its two major subdivisions. Identify the bones and bony structures of the skull, the cranial suture lines, the cranial fossae, and the openings in the skull. Discuss the vertebral column and regional variations in its bony components and curvatures. Describe the components of the thoracic cage. Discuss the embryonic development of the axial skeleton The skeletal system forms the rigid internal framework of the body. Do not treat these as isolated facts. Use them as a checklist for what you should be able to identify, explain, and connect to safe practical nursing care.</a:t>
            </a:r>
          </a:p>
          <a:p xmlns:a="http://schemas.openxmlformats.org/drawingml/2006/main">
            <a:r>
              <a:t/>
            </a:r>
          </a:p>
          <a:p xmlns:a="http://schemas.openxmlformats.org/drawingml/2006/main">
            <a:r>
              <a:t>[Sources]</a:t>
            </a:r>
          </a:p>
          <a:p xmlns:a="http://schemas.openxmlformats.org/drawingml/2006/main">
            <a:r>
              <a:t>- BMHI PN 104 Chapter 7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We are now moving into Divisions of the Skeletal System. Dividing the skeleton into the axial core and the appendicular limbs. As we begin this section, listen for the major structures, their locations, and the functions they perform. Then ask yourself what a change in this area might look like during patient care.</a:t>
            </a:r>
          </a:p>
          <a:p xmlns:a="http://schemas.openxmlformats.org/drawingml/2006/main">
            <a:r>
              <a:t/>
            </a:r>
          </a:p>
          <a:p xmlns:a="http://schemas.openxmlformats.org/drawingml/2006/main">
            <a:r>
              <a:t>[Sources]</a:t>
            </a:r>
          </a:p>
          <a:p xmlns:a="http://schemas.openxmlformats.org/drawingml/2006/main">
            <a:r>
              <a:t>- BMHI PN 104 Chapter 7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Axial vs. Appendicular Skeleton. bones in two divisions. Axial: skull, vertebrae, thoracic cage. Appendicular: limbs and girdles. The axial forms the central axis. The axial and appendicular skeleton. Protect spinal alignment during movement and transfers, and report new weakness, numbness, severe pain, or loss of bowel or bladder control immediately. Take a moment to identify the structure on the image and explain how its form supports its function. This is slide 4 of 22.</a:t>
            </a:r>
          </a:p>
          <a:p xmlns:a="http://schemas.openxmlformats.org/drawingml/2006/main">
            <a:r>
              <a:t/>
            </a:r>
          </a:p>
          <a:p xmlns:a="http://schemas.openxmlformats.org/drawingml/2006/main">
            <a:r>
              <a:t>[Sources]</a:t>
            </a:r>
          </a:p>
          <a:p xmlns:a="http://schemas.openxmlformats.org/drawingml/2006/main">
            <a:r>
              <a:t>- BMHI PN 104 Chapter 7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We are now moving into The Skull. The cranial and facial bones that protect the brain and shape the face. As we begin this section, listen for the major structures, their locations, and the functions they perform. Then ask yourself what a change in this area might look like during patient care.</a:t>
            </a:r>
          </a:p>
          <a:p xmlns:a="http://schemas.openxmlformats.org/drawingml/2006/main">
            <a:r>
              <a:t/>
            </a:r>
          </a:p>
          <a:p xmlns:a="http://schemas.openxmlformats.org/drawingml/2006/main">
            <a:r>
              <a:t>[Sources]</a:t>
            </a:r>
          </a:p>
          <a:p xmlns:a="http://schemas.openxmlformats.org/drawingml/2006/main">
            <a:r>
              <a:t>- BMHI PN 104 Chapter 7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The Skull — Anterior View. bones: cranial and facial. Cranial bones enclose the brain. Facial bones shape the face. Joined by immovable sutures. Anterior view of the skull. Use these landmarks when observing facial symmetry, trauma, airway concerns, pain, drainage, or changes in neurologic status. Take a moment to identify the structure on the image and explain how its form supports its function. This is slide 6 of 22.</a:t>
            </a:r>
          </a:p>
          <a:p xmlns:a="http://schemas.openxmlformats.org/drawingml/2006/main">
            <a:r>
              <a:t/>
            </a:r>
          </a:p>
          <a:p xmlns:a="http://schemas.openxmlformats.org/drawingml/2006/main">
            <a:r>
              <a:t>[Sources]</a:t>
            </a:r>
          </a:p>
          <a:p xmlns:a="http://schemas.openxmlformats.org/drawingml/2006/main">
            <a:r>
              <a:t>- BMHI PN 104 Chapter 7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The Skull — Lateral View. Frontal, parietal, temporal, occipital. Sphenoid and ethmoid lie deep within. Cranial bones meet at sutures. Cranial fossae cradle the brain. Lateral view of the skull. Use these landmarks when observing facial symmetry, trauma, airway concerns, pain, drainage, or changes in neurologic status. Take a moment to identify the structure on the image and explain how its form supports its function. This is slide 7 of 22.</a:t>
            </a:r>
          </a:p>
          <a:p xmlns:a="http://schemas.openxmlformats.org/drawingml/2006/main">
            <a:r>
              <a:t/>
            </a:r>
          </a:p>
          <a:p xmlns:a="http://schemas.openxmlformats.org/drawingml/2006/main">
            <a:r>
              <a:t>[Sources]</a:t>
            </a:r>
          </a:p>
          <a:p xmlns:a="http://schemas.openxmlformats.org/drawingml/2006/main">
            <a:r>
              <a:t>- BMHI PN 104 Chapter 7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Sutures of the Skull. Sutures are immovable fibrous joints. Coronal, sagittal, and lambdoid. Lock the cranial bones together. Foramen magnum at the base. Posterior skull and cranial sutures. Use these landmarks when observing facial symmetry, trauma, airway concerns, pain, drainage, or changes in neurologic status. Take a moment to identify the structure on the image and explain how its form supports its function. This is slide 8 of 22.</a:t>
            </a:r>
          </a:p>
          <a:p xmlns:a="http://schemas.openxmlformats.org/drawingml/2006/main">
            <a:r>
              <a:t/>
            </a:r>
          </a:p>
          <a:p xmlns:a="http://schemas.openxmlformats.org/drawingml/2006/main">
            <a:r>
              <a:t>[Sources]</a:t>
            </a:r>
          </a:p>
          <a:p xmlns:a="http://schemas.openxmlformats.org/drawingml/2006/main">
            <a:r>
              <a:t>- BMHI PN 104 Chapter 7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The Mandible. The only movable skull bone. Forms the lower jaw. Holds the lower teeth. Articulates at the TMJ. The mandible (lower jaw). Use these landmarks when observing facial symmetry, trauma, airway concerns, pain, drainage, or changes in neurologic status. Take a moment to identify the structure on the image and explain how its form supports its function. This is slide 9 of 22.</a:t>
            </a:r>
          </a:p>
          <a:p xmlns:a="http://schemas.openxmlformats.org/drawingml/2006/main">
            <a:r>
              <a:t/>
            </a:r>
          </a:p>
          <a:p xmlns:a="http://schemas.openxmlformats.org/drawingml/2006/main">
            <a:r>
              <a:t>[Sources]</a:t>
            </a:r>
          </a:p>
          <a:p xmlns:a="http://schemas.openxmlformats.org/drawingml/2006/main">
            <a:r>
              <a:t>- BMHI PN 104 Chapter 7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The Paranasal Sinuses. Air-filled spaces in skull bones. Frontal, ethmoid, sphenoid, maxillary. Lighten the skull and warm air. Drain into the nasal cavity. The paranasal sinuses. Use these landmarks when observing facial symmetry, trauma, airway concerns, pain, drainage, or changes in neurologic status. Take a moment to identify the structure on the image and explain how its form supports its function. This is slide 10 of 22.</a:t>
            </a:r>
          </a:p>
          <a:p xmlns:a="http://schemas.openxmlformats.org/drawingml/2006/main">
            <a:r>
              <a:t/>
            </a:r>
          </a:p>
          <a:p xmlns:a="http://schemas.openxmlformats.org/drawingml/2006/main">
            <a:r>
              <a:t>[Sources]</a:t>
            </a:r>
          </a:p>
          <a:p xmlns:a="http://schemas.openxmlformats.org/drawingml/2006/main">
            <a:r>
              <a:t>- BMHI PN 104 Chapter 7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We are now moving into The Vertebral Column. Support, protection of the spinal cord, and flexibility of the spine. As we begin this section, listen for the major structures, their locations, and the functions they perform. Then ask yourself what a change in this area might look like during patient care.</a:t>
            </a:r>
          </a:p>
          <a:p xmlns:a="http://schemas.openxmlformats.org/drawingml/2006/main">
            <a:r>
              <a:t/>
            </a:r>
          </a:p>
          <a:p xmlns:a="http://schemas.openxmlformats.org/drawingml/2006/main">
            <a:r>
              <a:t>[Sources]</a:t>
            </a:r>
          </a:p>
          <a:p xmlns:a="http://schemas.openxmlformats.org/drawingml/2006/main">
            <a:r>
              <a:t>- BMHI PN 104 Chapter 7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The Vertebral Column. bones in five regions. Cervical, thoracic, lumbar, sacrum, coccyx. Four curvatures balance the body. Protects the spinal cord. The vertebral column and its curvatures. Protect spinal alignment during movement and transfers, and report new weakness, numbness, severe pain, or loss of bowel or bladder control immediately. Take a moment to identify the structure on the image and explain how its form supports its function. This is slide 12 of 22.</a:t>
            </a:r>
          </a:p>
          <a:p xmlns:a="http://schemas.openxmlformats.org/drawingml/2006/main">
            <a:r>
              <a:t/>
            </a:r>
          </a:p>
          <a:p xmlns:a="http://schemas.openxmlformats.org/drawingml/2006/main">
            <a:r>
              <a:t>[Sources]</a:t>
            </a:r>
          </a:p>
          <a:p xmlns:a="http://schemas.openxmlformats.org/drawingml/2006/main">
            <a:r>
              <a:t>- BMHI PN 104 Chapter 7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Abnormal Spinal Curvatures. Scoliosis, kyphosis, and lordosis. Scoliosis: a sideways curvature. Kyphosis: exaggerated thoracic curve. Lordosis: exaggerated lumbar curve. Affect posture and breathing. Protect spinal alignment during movement and transfers, and report new weakness, numbness, severe pain, or loss of bowel or bladder control immediately. Take a moment to identify the structure on the image and explain how its form supports its function. This is slide 13 of 22.</a:t>
            </a:r>
          </a:p>
          <a:p xmlns:a="http://schemas.openxmlformats.org/drawingml/2006/main">
            <a:r>
              <a:t/>
            </a:r>
          </a:p>
          <a:p xmlns:a="http://schemas.openxmlformats.org/drawingml/2006/main">
            <a:r>
              <a:t>[Sources]</a:t>
            </a:r>
          </a:p>
          <a:p xmlns:a="http://schemas.openxmlformats.org/drawingml/2006/main">
            <a:r>
              <a:t>- BMHI PN 104 Chapter 7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A Typical Vertebra. The structure of a typical vertebra. Body bears weight in front. Vertebral arch surrounds the cord. Spinous and transverse processes. Stacked foramina form the canal. Protect spinal alignment during movement and transfers, and report new weakness, numbness, severe pain, or loss of bowel or bladder control immediately. Take a moment to identify the structure on the image and explain how its form supports its function. This is slide 14 of 22.</a:t>
            </a:r>
          </a:p>
          <a:p xmlns:a="http://schemas.openxmlformats.org/drawingml/2006/main">
            <a:r>
              <a:t/>
            </a:r>
          </a:p>
          <a:p xmlns:a="http://schemas.openxmlformats.org/drawingml/2006/main">
            <a:r>
              <a:t>[Sources]</a:t>
            </a:r>
          </a:p>
          <a:p xmlns:a="http://schemas.openxmlformats.org/drawingml/2006/main">
            <a:r>
              <a:t>- BMHI PN 104 Chapter 7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Intervertebral Discs. An intervertebral disc. Cushions between vertebral bodies. Tough outer ring (annulus fibrosus). Gel-like center (nucleus pulposus). Absorb shock and allow movement. Protect spinal alignment during movement and transfers, and report new weakness, numbness, severe pain, or loss of bowel or bladder control immediately. Take a moment to identify the structure on the image and explain how its form supports its function. This is slide 15 of 22.</a:t>
            </a:r>
          </a:p>
          <a:p xmlns:a="http://schemas.openxmlformats.org/drawingml/2006/main">
            <a:r>
              <a:t/>
            </a:r>
          </a:p>
          <a:p xmlns:a="http://schemas.openxmlformats.org/drawingml/2006/main">
            <a:r>
              <a:t>[Sources]</a:t>
            </a:r>
          </a:p>
          <a:p xmlns:a="http://schemas.openxmlformats.org/drawingml/2006/main">
            <a:r>
              <a:t>- BMHI PN 104 Chapter 7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Herniated Disc. A herniated intervertebral disc. Nucleus pushes through the annulus. Can compress spinal nerves. Causes pain, numbness, weakness. Common in the lumbar spine. Protect spinal alignment during movement and transfers, and report new weakness, numbness, severe pain, or loss of bowel or bladder control immediately. Take a moment to identify the structure on the image and explain how its form supports its function. This is slide 16 of 22.</a:t>
            </a:r>
          </a:p>
          <a:p xmlns:a="http://schemas.openxmlformats.org/drawingml/2006/main">
            <a:r>
              <a:t/>
            </a:r>
          </a:p>
          <a:p xmlns:a="http://schemas.openxmlformats.org/drawingml/2006/main">
            <a:r>
              <a:t>[Sources]</a:t>
            </a:r>
          </a:p>
          <a:p xmlns:a="http://schemas.openxmlformats.org/drawingml/2006/main">
            <a:r>
              <a:t>- BMHI PN 104 Chapter 7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We are now moving into The Thoracic Cage. The sternum and ribs that protect the heart and lungs and aid breathing. As we begin this section, listen for the major structures, their locations, and the functions they perform. Then ask yourself what a change in this area might look like during patient care.</a:t>
            </a:r>
          </a:p>
          <a:p xmlns:a="http://schemas.openxmlformats.org/drawingml/2006/main">
            <a:r>
              <a:t/>
            </a:r>
          </a:p>
          <a:p xmlns:a="http://schemas.openxmlformats.org/drawingml/2006/main">
            <a:r>
              <a:t>[Sources]</a:t>
            </a:r>
          </a:p>
          <a:p xmlns:a="http://schemas.openxmlformats.org/drawingml/2006/main">
            <a:r>
              <a:t>- BMHI PN 104 Chapter 7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The Thoracic Cage. The thoracic cage (sternum and ribs). Sternum plus 12 pairs of ribs. True, false, and floating ribs. Protects the heart and lungs. Moves to enable breathing. Relate these landmarks to breathing assessment, trauma observation, positioning, and correct chest-compression placement. Take a moment to identify the structure on the image and explain how its form supports its function. This is slide 18 of 22.</a:t>
            </a:r>
          </a:p>
          <a:p xmlns:a="http://schemas.openxmlformats.org/drawingml/2006/main">
            <a:r>
              <a:t/>
            </a:r>
          </a:p>
          <a:p xmlns:a="http://schemas.openxmlformats.org/drawingml/2006/main">
            <a:r>
              <a:t>[Sources]</a:t>
            </a:r>
          </a:p>
          <a:p xmlns:a="http://schemas.openxmlformats.org/drawingml/2006/main">
            <a:r>
              <a:t>- BMHI PN 104 Chapter 7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We are now moving into Embryonic Development of the Axial Skeleton. How the skull and spine form before birth and in infancy. As we begin this section, listen for the major structures, their locations, and the functions they perform. Then ask yourself what a change in this area might look like during patient care.</a:t>
            </a:r>
          </a:p>
          <a:p xmlns:a="http://schemas.openxmlformats.org/drawingml/2006/main">
            <a:r>
              <a:t/>
            </a:r>
          </a:p>
          <a:p xmlns:a="http://schemas.openxmlformats.org/drawingml/2006/main">
            <a:r>
              <a:t>[Sources]</a:t>
            </a:r>
          </a:p>
          <a:p xmlns:a="http://schemas.openxmlformats.org/drawingml/2006/main">
            <a:r>
              <a:t>- BMHI PN 104 Chapter 7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Fontanelles &amp; Skull Development. Fontanelles of the newborn skull. Infant skull bones are not yet fused. Fontanelles ("soft spots") remain. Allow birth passage and brain growth. Close over the first two years. During infant assessment, observe fontanelles without pressing firmly and report marked bulging or sinking with the complete clinical picture. Take a moment to identify the structure on the image and explain how its form supports its function. This is slide 20 of 22.</a:t>
            </a:r>
          </a:p>
          <a:p xmlns:a="http://schemas.openxmlformats.org/drawingml/2006/main">
            <a:r>
              <a:t/>
            </a:r>
          </a:p>
          <a:p xmlns:a="http://schemas.openxmlformats.org/drawingml/2006/main">
            <a:r>
              <a:t>[Sources]</a:t>
            </a:r>
          </a:p>
          <a:p xmlns:a="http://schemas.openxmlformats.org/drawingml/2006/main">
            <a:r>
              <a:t>- BMHI PN 104 Chapter 7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Let us review the major takeaways from Chapter 7. The skeleton divides into the axial (central axis) and appendicular (limbs) divisions. The skull's 22 bones protect the brain and form the face, joined by immovable sutures. The vertebral column supports the body, protects the spinal cord, and has four curvatures. The thoracic cage protects the heart and lungs and assists with breathing. The infant skull has fontanelles that allow birth and brain growth. Before moving on, pause and explain each point without reading the slide. If any statement is difficult to explain, mark that topic for review before the quiz.</a:t>
            </a:r>
          </a:p>
          <a:p xmlns:a="http://schemas.openxmlformats.org/drawingml/2006/main">
            <a:r>
              <a:t/>
            </a:r>
          </a:p>
          <a:p xmlns:a="http://schemas.openxmlformats.org/drawingml/2006/main">
            <a:r>
              <a:t>[Sources]</a:t>
            </a:r>
          </a:p>
          <a:p xmlns:a="http://schemas.openxmlformats.org/drawingml/2006/main">
            <a:r>
              <a:t>- BMHI PN 104 Chapter 7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This final slide connects Chapter 7 to practical nursing. Spine Injuries. Vertebrae protect the spinal cord — spinal precautions prevent paralysis. Back Pain. Herniated discs and abnormal curvatures are common sources of pain. Sinusitis. The paranasal sinuses drain into the nose and can become infected. Infant Assessment. Fontanelles reveal hydration status and intracranial pressure. Osteoporosis. Thoracic kyphosis often reflects vertebral bone loss in older adults. CPR Landmarks. The sternum and ribs guide hand placement for chest compressions. Your role is to observe carefully, protect safety, follow orders and precautions, document objectively, and report changes through the appropriate chain of command. Use these examples to connect anatomy with the care you will provide.</a:t>
            </a:r>
          </a:p>
          <a:p xmlns:a="http://schemas.openxmlformats.org/drawingml/2006/main">
            <a:r>
              <a:t/>
            </a:r>
          </a:p>
          <a:p xmlns:a="http://schemas.openxmlformats.org/drawingml/2006/main">
            <a:r>
              <a:t>[Sources]</a:t>
            </a:r>
          </a:p>
          <a:p xmlns:a="http://schemas.openxmlformats.org/drawingml/2006/main">
            <a:r>
              <a:t>- BMHI PN 104 Chapter 7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096008ed3634ca8"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2d8057206994c4c" /><Relationship Type="http://schemas.openxmlformats.org/officeDocument/2006/relationships/slideLayout" Target="/ppt/slideLayouts/slideLayout1.xml" Id="Rfb44ee5d43ac499d"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b44ee5d43ac499d"/>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e704cd778494834" /><Relationship Type="http://schemas.openxmlformats.org/officeDocument/2006/relationships/image" Target="/ppt/media/image.jpeg" Id="R192f4cf8e22b4185" /><Relationship Type="http://schemas.openxmlformats.org/officeDocument/2006/relationships/notesSlide" Target="/ppt/notesSlides/notesSlide1.xml" Id="R186675c5ce0c42e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cdf781774dd4c58" /><Relationship Type="http://schemas.openxmlformats.org/officeDocument/2006/relationships/image" Target="/ppt/media/image2.jpeg" Id="R3cf0f6cc8cda4037" /><Relationship Type="http://schemas.openxmlformats.org/officeDocument/2006/relationships/notesSlide" Target="/ppt/notesSlides/notesSlide2.xml" Id="Rc3ebce92ec2a4f8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d8e9d484e524cf9" /><Relationship Type="http://schemas.openxmlformats.org/officeDocument/2006/relationships/notesSlide" Target="/ppt/notesSlides/notesSlide3.xml" Id="Re68cfd0b3ab4402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96ffddf846944c4" /><Relationship Type="http://schemas.openxmlformats.org/officeDocument/2006/relationships/image" Target="/ppt/media/image3.jpeg" Id="Rfef318477a664835" /><Relationship Type="http://schemas.openxmlformats.org/officeDocument/2006/relationships/notesSlide" Target="/ppt/notesSlides/notesSlide4.xml" Id="R910396b2227a4d1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a3d98a157c74335" /><Relationship Type="http://schemas.openxmlformats.org/officeDocument/2006/relationships/notesSlide" Target="/ppt/notesSlides/notesSlide5.xml" Id="R737b64a6762f464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a768305e1044e17" /><Relationship Type="http://schemas.openxmlformats.org/officeDocument/2006/relationships/image" Target="/ppt/media/image4.jpeg" Id="R07845f16f0484a12" /><Relationship Type="http://schemas.openxmlformats.org/officeDocument/2006/relationships/notesSlide" Target="/ppt/notesSlides/notesSlide6.xml" Id="R9287bba01fbe4e1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219c5ae1bc1471d" /><Relationship Type="http://schemas.openxmlformats.org/officeDocument/2006/relationships/image" Target="/ppt/media/image5.jpeg" Id="Rd3a9c397946c4f65" /><Relationship Type="http://schemas.openxmlformats.org/officeDocument/2006/relationships/notesSlide" Target="/ppt/notesSlides/notesSlide7.xml" Id="R3908c7a9185a40a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79edbc0a122484d" /><Relationship Type="http://schemas.openxmlformats.org/officeDocument/2006/relationships/image" Target="/ppt/media/image6.jpeg" Id="R0fcd2af13eb2417b" /><Relationship Type="http://schemas.openxmlformats.org/officeDocument/2006/relationships/notesSlide" Target="/ppt/notesSlides/notesSlide8.xml" Id="R66087c76abc64c3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b88999f4566486a" /><Relationship Type="http://schemas.openxmlformats.org/officeDocument/2006/relationships/image" Target="/ppt/media/image7.jpeg" Id="R7993ac2edee84bbb" /><Relationship Type="http://schemas.openxmlformats.org/officeDocument/2006/relationships/notesSlide" Target="/ppt/notesSlides/notesSlide9.xml" Id="R49b699fd04d7408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3e74781c364406d" /><Relationship Type="http://schemas.openxmlformats.org/officeDocument/2006/relationships/image" Target="/ppt/media/image8.jpeg" Id="Rc194adf574e848e1" /><Relationship Type="http://schemas.openxmlformats.org/officeDocument/2006/relationships/notesSlide" Target="/ppt/notesSlides/notesSlide10.xml" Id="Ra4df8515fa314b2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031542f5b144634" /><Relationship Type="http://schemas.openxmlformats.org/officeDocument/2006/relationships/notesSlide" Target="/ppt/notesSlides/notesSlide11.xml" Id="R0d98ad61221848e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4c523d6e6fe4cd9" /><Relationship Type="http://schemas.openxmlformats.org/officeDocument/2006/relationships/image" Target="/ppt/media/image9.jpeg" Id="R874f0086eaa445d5" /><Relationship Type="http://schemas.openxmlformats.org/officeDocument/2006/relationships/notesSlide" Target="/ppt/notesSlides/notesSlide12.xml" Id="Rafbcad67d8bb42e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f5f8350f39748c6" /><Relationship Type="http://schemas.openxmlformats.org/officeDocument/2006/relationships/image" Target="/ppt/media/image10.jpeg" Id="R2c10e7b6faf646e9" /><Relationship Type="http://schemas.openxmlformats.org/officeDocument/2006/relationships/notesSlide" Target="/ppt/notesSlides/notesSlide13.xml" Id="R2cd771a32daf478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3f731c3cf74486e" /><Relationship Type="http://schemas.openxmlformats.org/officeDocument/2006/relationships/image" Target="/ppt/media/image11.jpeg" Id="R0948a96af0784e71" /><Relationship Type="http://schemas.openxmlformats.org/officeDocument/2006/relationships/notesSlide" Target="/ppt/notesSlides/notesSlide14.xml" Id="R32e4e0e6f90d498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8598327a5e34144" /><Relationship Type="http://schemas.openxmlformats.org/officeDocument/2006/relationships/image" Target="/ppt/media/image12.jpeg" Id="R53a8b8bea6af4c33" /><Relationship Type="http://schemas.openxmlformats.org/officeDocument/2006/relationships/notesSlide" Target="/ppt/notesSlides/notesSlide15.xml" Id="R7ce76ddb3ee946e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70e0cb3144d4911" /><Relationship Type="http://schemas.openxmlformats.org/officeDocument/2006/relationships/image" Target="/ppt/media/image13.jpeg" Id="R7b70a454584d4fac" /><Relationship Type="http://schemas.openxmlformats.org/officeDocument/2006/relationships/notesSlide" Target="/ppt/notesSlides/notesSlide16.xml" Id="R5448629fc95449c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66f9ba2cd5042dd" /><Relationship Type="http://schemas.openxmlformats.org/officeDocument/2006/relationships/notesSlide" Target="/ppt/notesSlides/notesSlide17.xml" Id="Rb6a9ffa12f474a2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82eb501fd104e9c" /><Relationship Type="http://schemas.openxmlformats.org/officeDocument/2006/relationships/image" Target="/ppt/media/image14.jpeg" Id="Ref7524e7f44e435c" /><Relationship Type="http://schemas.openxmlformats.org/officeDocument/2006/relationships/notesSlide" Target="/ppt/notesSlides/notesSlide18.xml" Id="Rb513597d42df476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b81ea4ffce5480e" /><Relationship Type="http://schemas.openxmlformats.org/officeDocument/2006/relationships/notesSlide" Target="/ppt/notesSlides/notesSlide19.xml" Id="Rd98d42f1ac4c458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c754a98145547ba" /><Relationship Type="http://schemas.openxmlformats.org/officeDocument/2006/relationships/image" Target="/ppt/media/image15.jpeg" Id="Rb4abe1c50a3548cb" /><Relationship Type="http://schemas.openxmlformats.org/officeDocument/2006/relationships/notesSlide" Target="/ppt/notesSlides/notesSlide20.xml" Id="R3251be930ad2432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98eb703cb234fda" /><Relationship Type="http://schemas.openxmlformats.org/officeDocument/2006/relationships/notesSlide" Target="/ppt/notesSlides/notesSlide21.xml" Id="R44289a10e89748c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ce6430593e24bd0" /><Relationship Type="http://schemas.openxmlformats.org/officeDocument/2006/relationships/notesSlide" Target="/ppt/notesSlides/notesSlide22.xml" Id="Rc2de3f7ad8994ae7" /></Relationships>
</file>

<file path=ppt/slides/slide1.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A8B10F9-0A3A-4BFD-BE38-7205D231BB29}"/>
              </a:ext>
            </a:extLst>
          </p:cNvPr>
          <p:cNvSpPr>
            <a:spLocks xmlns:a="http://schemas.openxmlformats.org/drawingml/2006/main" noGrp="1"/>
          </p:cNvSpPr>
          <p:nvPr/>
        </p:nvSpPr>
        <p:spPr>
          <a:xfrm xmlns:a="http://schemas.openxmlformats.org/drawingml/2006/main">
            <a:off x="731520" y="1325880"/>
            <a:ext cx="64008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800" b="1">
                <a:solidFill>
                  <a:srgbClr val="E36414"/>
                </a:solidFill>
                <a:latin typeface="Calibri"/>
                <a:ea typeface="Calibri"/>
                <a:cs typeface="Calibri"/>
              </a:rPr>
              <a:t>CHAPTER 7</a:t>
            </a:r>
          </a:p>
        </p:txBody>
      </p:sp>
      <p:sp>
        <p:nvSpPr>
          <p:cNvPr id="3" name="Text 1">
            <a:extLst xmlns:a="http://schemas.openxmlformats.org/drawingml/2006/main">
              <a:ext uri="{FF2B5EF4-FFF2-40B4-BE49-F238E27FC236}">
                <a16:creationId xmlns:a16="http://schemas.microsoft.com/office/drawing/2014/main" id="{60348B06-6EED-4BD7-8E5F-CD2B73A8056C}"/>
              </a:ext>
            </a:extLst>
          </p:cNvPr>
          <p:cNvSpPr>
            <a:spLocks xmlns:a="http://schemas.openxmlformats.org/drawingml/2006/main" noGrp="1"/>
          </p:cNvSpPr>
          <p:nvPr/>
        </p:nvSpPr>
        <p:spPr>
          <a:xfrm xmlns:a="http://schemas.openxmlformats.org/drawingml/2006/main">
            <a:off x="713232" y="1783080"/>
            <a:ext cx="6858000" cy="1920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4400" b="1">
                <a:solidFill>
                  <a:srgbClr val="FFFFFF"/>
                </a:solidFill>
                <a:latin typeface="Georgia"/>
                <a:ea typeface="Georgia"/>
                <a:cs typeface="Georgia"/>
              </a:rPr>
              <a:t>The Axial Skeleton</a:t>
            </a:r>
          </a:p>
        </p:txBody>
      </p:sp>
      <p:sp>
        <p:nvSpPr>
          <p:cNvPr id="4" name="Text 2">
            <a:extLst xmlns:a="http://schemas.openxmlformats.org/drawingml/2006/main">
              <a:ext uri="{FF2B5EF4-FFF2-40B4-BE49-F238E27FC236}">
                <a16:creationId xmlns:a16="http://schemas.microsoft.com/office/drawing/2014/main" id="{5485AA63-1D5E-408E-89F0-22AE87B37FF4}"/>
              </a:ext>
            </a:extLst>
          </p:cNvPr>
          <p:cNvSpPr>
            <a:spLocks xmlns:a="http://schemas.openxmlformats.org/drawingml/2006/main" noGrp="1"/>
          </p:cNvSpPr>
          <p:nvPr/>
        </p:nvSpPr>
        <p:spPr>
          <a:xfrm xmlns:a="http://schemas.openxmlformats.org/drawingml/2006/main">
            <a:off x="749808" y="3886200"/>
            <a:ext cx="640080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600">
                <a:solidFill>
                  <a:srgbClr val="CFE3E7"/>
                </a:solidFill>
                <a:latin typeface="Calibri"/>
                <a:ea typeface="Calibri"/>
                <a:cs typeface="Calibri"/>
              </a:rPr>
              <a:t>The skull, vertebral column, and thoracic cage.</a:t>
            </a:r>
          </a:p>
        </p:txBody>
      </p:sp>
      <p:sp>
        <p:nvSpPr>
          <p:cNvPr id="5" name="Text 3">
            <a:extLst xmlns:a="http://schemas.openxmlformats.org/drawingml/2006/main">
              <a:ext uri="{FF2B5EF4-FFF2-40B4-BE49-F238E27FC236}">
                <a16:creationId xmlns:a16="http://schemas.microsoft.com/office/drawing/2014/main" id="{60401569-F79A-4E75-AD35-630815134988}"/>
              </a:ext>
            </a:extLst>
          </p:cNvPr>
          <p:cNvSpPr>
            <a:spLocks xmlns:a="http://schemas.openxmlformats.org/drawingml/2006/main" noGrp="1"/>
          </p:cNvSpPr>
          <p:nvPr/>
        </p:nvSpPr>
        <p:spPr>
          <a:xfrm xmlns:a="http://schemas.openxmlformats.org/drawingml/2006/main">
            <a:off x="749808" y="5806440"/>
            <a:ext cx="82296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a:solidFill>
                  <a:srgbClr val="9FC2C9"/>
                </a:solidFill>
                <a:latin typeface="Calibri"/>
                <a:ea typeface="Calibri"/>
                <a:cs typeface="Calibri"/>
              </a:rPr>
              <a:t>Anatomy &amp; Physiology  ·  Broward-Miami Health Institute</a:t>
            </a:r>
          </a:p>
        </p:txBody>
      </p:sp>
      <p:sp>
        <p:nvSpPr>
          <p:cNvPr id="6" name="Text 4">
            <a:extLst xmlns:a="http://schemas.openxmlformats.org/drawingml/2006/main">
              <a:ext uri="{FF2B5EF4-FFF2-40B4-BE49-F238E27FC236}">
                <a16:creationId xmlns:a16="http://schemas.microsoft.com/office/drawing/2014/main" id="{8D346CDC-59EA-4D76-B689-A26ABBB0A253}"/>
              </a:ext>
            </a:extLst>
          </p:cNvPr>
          <p:cNvSpPr>
            <a:spLocks xmlns:a="http://schemas.openxmlformats.org/drawingml/2006/main" noGrp="1"/>
          </p:cNvSpPr>
          <p:nvPr/>
        </p:nvSpPr>
        <p:spPr>
          <a:xfrm xmlns:a="http://schemas.openxmlformats.org/drawingml/2006/main">
            <a:off x="749808" y="6144768"/>
            <a:ext cx="36576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E36414"/>
                </a:solidFill>
                <a:latin typeface="Calibri"/>
                <a:ea typeface="Calibri"/>
                <a:cs typeface="Calibri"/>
              </a:rPr>
              <a:t>FACULTY EDITION</a:t>
            </a:r>
          </a:p>
        </p:txBody>
      </p:sp>
      <p:sp>
        <p:nvSpPr>
          <p:cNvPr id="7" name="Shape 5">
            <a:extLst xmlns:a="http://schemas.openxmlformats.org/drawingml/2006/main">
              <a:ext uri="{FF2B5EF4-FFF2-40B4-BE49-F238E27FC236}">
                <a16:creationId xmlns:a16="http://schemas.microsoft.com/office/drawing/2014/main" id="{84C3050B-131C-4891-9749-D9B50EEE5F17}"/>
              </a:ext>
            </a:extLst>
          </p:cNvPr>
          <p:cNvSpPr>
            <a:spLocks xmlns:a="http://schemas.openxmlformats.org/drawingml/2006/main" noGrp="1"/>
          </p:cNvSpPr>
          <p:nvPr/>
        </p:nvSpPr>
        <p:spPr>
          <a:xfrm xmlns:a="http://schemas.openxmlformats.org/drawingml/2006/main">
            <a:off x="7735824" y="2664875"/>
            <a:ext cx="4096512" cy="1711131"/>
          </a:xfrm>
          <a:prstGeom xmlns:a="http://schemas.openxmlformats.org/drawingml/2006/main" prst="roundRect">
            <a:avLst>
              <a:gd name="adj" fmla="val 3206"/>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192f4cf8e22b4185"/>
          <a:stretch xmlns:a="http://schemas.openxmlformats.org/drawingml/2006/main">
            <a:fillRect l="0" t="0" r="0" b="0"/>
          </a:stretch>
        </p:blipFill>
        <p:spPr>
          <a:xfrm xmlns:a="http://schemas.openxmlformats.org/drawingml/2006/main">
            <a:off x="7818120" y="2747171"/>
            <a:ext cx="3931920" cy="1546539"/>
          </a:xfrm>
          <a:prstGeom xmlns:a="http://schemas.openxmlformats.org/drawingml/2006/main" prst="rect">
            <a:avLst/>
          </a:prstGeom>
        </p:spPr>
      </p:pic>
    </p:spTree>
    <p:extLst>
      <p:ext uri="{BB962C8B-B14F-4D97-AF65-F5344CB8AC3E}">
        <p14:creationId xmlns:p14="http://schemas.microsoft.com/office/powerpoint/2010/main" val="97899902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2C19996-3D5C-4AED-8624-CAAEC894F0AE}"/>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CHAPTER 7</a:t>
            </a:r>
          </a:p>
        </p:txBody>
      </p:sp>
      <p:sp>
        <p:nvSpPr>
          <p:cNvPr id="3" name="Text 1">
            <a:extLst xmlns:a="http://schemas.openxmlformats.org/drawingml/2006/main">
              <a:ext uri="{FF2B5EF4-FFF2-40B4-BE49-F238E27FC236}">
                <a16:creationId xmlns:a16="http://schemas.microsoft.com/office/drawing/2014/main" id="{3BC5FE72-0410-48EF-A2EF-50CC42B916AC}"/>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Learning Objectives</a:t>
            </a:r>
          </a:p>
        </p:txBody>
      </p:sp>
      <p:sp>
        <p:nvSpPr>
          <p:cNvPr id="4" name="Text 2">
            <a:extLst xmlns:a="http://schemas.openxmlformats.org/drawingml/2006/main">
              <a:ext uri="{FF2B5EF4-FFF2-40B4-BE49-F238E27FC236}">
                <a16:creationId xmlns:a16="http://schemas.microsoft.com/office/drawing/2014/main" id="{E5A6B49C-B3EE-46B2-A221-002BB1529C8C}"/>
              </a:ext>
            </a:extLst>
          </p:cNvPr>
          <p:cNvSpPr>
            <a:spLocks xmlns:a="http://schemas.openxmlformats.org/drawingml/2006/main" noGrp="1"/>
          </p:cNvSpPr>
          <p:nvPr/>
        </p:nvSpPr>
        <p:spPr>
          <a:xfrm xmlns:a="http://schemas.openxmlformats.org/drawingml/2006/main">
            <a:off x="548640" y="1371600"/>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i="1">
                <a:solidFill>
                  <a:srgbClr val="5A6B70"/>
                </a:solidFill>
                <a:latin typeface="Calibri"/>
                <a:ea typeface="Calibri"/>
                <a:cs typeface="Calibri"/>
              </a:rPr>
              <a:t>After studying this chapter, students will be able to:</a:t>
            </a:r>
          </a:p>
        </p:txBody>
      </p:sp>
      <p:sp>
        <p:nvSpPr>
          <p:cNvPr id="5" name="Shape 3">
            <a:extLst xmlns:a="http://schemas.openxmlformats.org/drawingml/2006/main">
              <a:ext uri="{FF2B5EF4-FFF2-40B4-BE49-F238E27FC236}">
                <a16:creationId xmlns:a16="http://schemas.microsoft.com/office/drawing/2014/main" id="{44326B0E-8A30-4B7B-A988-21E6F5A4C81F}"/>
              </a:ext>
            </a:extLst>
          </p:cNvPr>
          <p:cNvSpPr>
            <a:spLocks xmlns:a="http://schemas.openxmlformats.org/drawingml/2006/main" noGrp="1"/>
          </p:cNvSpPr>
          <p:nvPr/>
        </p:nvSpPr>
        <p:spPr>
          <a:xfrm xmlns:a="http://schemas.openxmlformats.org/drawingml/2006/main">
            <a:off x="548640" y="1664208"/>
            <a:ext cx="384048" cy="384048"/>
          </a:xfrm>
          <a:prstGeom xmlns:a="http://schemas.openxmlformats.org/drawingml/2006/main" prst="ellipse">
            <a:avLst/>
          </a:prstGeom>
          <a:solidFill xmlns:a="http://schemas.openxmlformats.org/drawingml/2006/main">
            <a:srgbClr val="0F4C5C"/>
          </a:solidFill>
        </p:spPr>
      </p:sp>
      <p:sp>
        <p:nvSpPr>
          <p:cNvPr id="6" name="Text 4">
            <a:extLst xmlns:a="http://schemas.openxmlformats.org/drawingml/2006/main">
              <a:ext uri="{FF2B5EF4-FFF2-40B4-BE49-F238E27FC236}">
                <a16:creationId xmlns:a16="http://schemas.microsoft.com/office/drawing/2014/main" id="{4AD840A5-A01B-455B-82E6-85DBBDBA26C1}"/>
              </a:ext>
            </a:extLst>
          </p:cNvPr>
          <p:cNvSpPr>
            <a:spLocks xmlns:a="http://schemas.openxmlformats.org/drawingml/2006/main" noGrp="1"/>
          </p:cNvSpPr>
          <p:nvPr/>
        </p:nvSpPr>
        <p:spPr>
          <a:xfrm xmlns:a="http://schemas.openxmlformats.org/drawingml/2006/main">
            <a:off x="548640" y="1664208"/>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1</a:t>
            </a:r>
          </a:p>
        </p:txBody>
      </p:sp>
      <p:sp>
        <p:nvSpPr>
          <p:cNvPr id="7" name="Text 5">
            <a:extLst xmlns:a="http://schemas.openxmlformats.org/drawingml/2006/main">
              <a:ext uri="{FF2B5EF4-FFF2-40B4-BE49-F238E27FC236}">
                <a16:creationId xmlns:a16="http://schemas.microsoft.com/office/drawing/2014/main" id="{4D6E578C-3FF4-4B09-A014-37EAC5FB0DD7}"/>
              </a:ext>
            </a:extLst>
          </p:cNvPr>
          <p:cNvSpPr>
            <a:spLocks xmlns:a="http://schemas.openxmlformats.org/drawingml/2006/main" noGrp="1"/>
          </p:cNvSpPr>
          <p:nvPr/>
        </p:nvSpPr>
        <p:spPr>
          <a:xfrm xmlns:a="http://schemas.openxmlformats.org/drawingml/2006/main">
            <a:off x="1115568" y="1645920"/>
            <a:ext cx="5943600" cy="78638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400">
                <a:solidFill>
                  <a:srgbClr val="23363B"/>
                </a:solidFill>
                <a:latin typeface="Calibri"/>
                <a:ea typeface="Calibri"/>
                <a:cs typeface="Calibri"/>
              </a:rPr>
              <a:t>Describe the functions of the skeletal system and define its two major subdivisions</a:t>
            </a:r>
          </a:p>
        </p:txBody>
      </p:sp>
      <p:sp>
        <p:nvSpPr>
          <p:cNvPr id="8" name="Shape 6">
            <a:extLst xmlns:a="http://schemas.openxmlformats.org/drawingml/2006/main">
              <a:ext uri="{FF2B5EF4-FFF2-40B4-BE49-F238E27FC236}">
                <a16:creationId xmlns:a16="http://schemas.microsoft.com/office/drawing/2014/main" id="{EC576EC3-E53B-417A-BEEB-1A969BFAA7A8}"/>
              </a:ext>
            </a:extLst>
          </p:cNvPr>
          <p:cNvSpPr>
            <a:spLocks xmlns:a="http://schemas.openxmlformats.org/drawingml/2006/main" noGrp="1"/>
          </p:cNvSpPr>
          <p:nvPr/>
        </p:nvSpPr>
        <p:spPr>
          <a:xfrm xmlns:a="http://schemas.openxmlformats.org/drawingml/2006/main">
            <a:off x="548640" y="2450592"/>
            <a:ext cx="384048" cy="384048"/>
          </a:xfrm>
          <a:prstGeom xmlns:a="http://schemas.openxmlformats.org/drawingml/2006/main" prst="ellipse">
            <a:avLst/>
          </a:prstGeom>
          <a:solidFill xmlns:a="http://schemas.openxmlformats.org/drawingml/2006/main">
            <a:srgbClr val="0F4C5C"/>
          </a:solidFill>
        </p:spPr>
      </p:sp>
      <p:sp>
        <p:nvSpPr>
          <p:cNvPr id="9" name="Text 7">
            <a:extLst xmlns:a="http://schemas.openxmlformats.org/drawingml/2006/main">
              <a:ext uri="{FF2B5EF4-FFF2-40B4-BE49-F238E27FC236}">
                <a16:creationId xmlns:a16="http://schemas.microsoft.com/office/drawing/2014/main" id="{55B52763-66CF-45B1-B14B-E608F6D35613}"/>
              </a:ext>
            </a:extLst>
          </p:cNvPr>
          <p:cNvSpPr>
            <a:spLocks xmlns:a="http://schemas.openxmlformats.org/drawingml/2006/main" noGrp="1"/>
          </p:cNvSpPr>
          <p:nvPr/>
        </p:nvSpPr>
        <p:spPr>
          <a:xfrm xmlns:a="http://schemas.openxmlformats.org/drawingml/2006/main">
            <a:off x="548640" y="2450592"/>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2</a:t>
            </a:r>
          </a:p>
        </p:txBody>
      </p:sp>
      <p:sp>
        <p:nvSpPr>
          <p:cNvPr id="10" name="Text 8">
            <a:extLst xmlns:a="http://schemas.openxmlformats.org/drawingml/2006/main">
              <a:ext uri="{FF2B5EF4-FFF2-40B4-BE49-F238E27FC236}">
                <a16:creationId xmlns:a16="http://schemas.microsoft.com/office/drawing/2014/main" id="{5BF928F4-EAD5-4C96-A9E5-5D1EE9F00F65}"/>
              </a:ext>
            </a:extLst>
          </p:cNvPr>
          <p:cNvSpPr>
            <a:spLocks xmlns:a="http://schemas.openxmlformats.org/drawingml/2006/main" noGrp="1"/>
          </p:cNvSpPr>
          <p:nvPr/>
        </p:nvSpPr>
        <p:spPr>
          <a:xfrm xmlns:a="http://schemas.openxmlformats.org/drawingml/2006/main">
            <a:off x="1115568" y="2432304"/>
            <a:ext cx="5943600" cy="78638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400">
                <a:solidFill>
                  <a:srgbClr val="23363B"/>
                </a:solidFill>
                <a:latin typeface="Calibri"/>
                <a:ea typeface="Calibri"/>
                <a:cs typeface="Calibri"/>
              </a:rPr>
              <a:t>Identify the bones and bony structures of the skull, the cranial suture lines, the cranial fossae, and the openings in the skull</a:t>
            </a:r>
          </a:p>
        </p:txBody>
      </p:sp>
      <p:sp>
        <p:nvSpPr>
          <p:cNvPr id="11" name="Shape 9">
            <a:extLst xmlns:a="http://schemas.openxmlformats.org/drawingml/2006/main">
              <a:ext uri="{FF2B5EF4-FFF2-40B4-BE49-F238E27FC236}">
                <a16:creationId xmlns:a16="http://schemas.microsoft.com/office/drawing/2014/main" id="{CFC63553-9D03-45EA-8020-4DC20FF2C33C}"/>
              </a:ext>
            </a:extLst>
          </p:cNvPr>
          <p:cNvSpPr>
            <a:spLocks xmlns:a="http://schemas.openxmlformats.org/drawingml/2006/main" noGrp="1"/>
          </p:cNvSpPr>
          <p:nvPr/>
        </p:nvSpPr>
        <p:spPr>
          <a:xfrm xmlns:a="http://schemas.openxmlformats.org/drawingml/2006/main">
            <a:off x="548640" y="3236976"/>
            <a:ext cx="384048" cy="384048"/>
          </a:xfrm>
          <a:prstGeom xmlns:a="http://schemas.openxmlformats.org/drawingml/2006/main" prst="ellipse">
            <a:avLst/>
          </a:prstGeom>
          <a:solidFill xmlns:a="http://schemas.openxmlformats.org/drawingml/2006/main">
            <a:srgbClr val="0F4C5C"/>
          </a:solidFill>
        </p:spPr>
      </p:sp>
      <p:sp>
        <p:nvSpPr>
          <p:cNvPr id="12" name="Text 10">
            <a:extLst xmlns:a="http://schemas.openxmlformats.org/drawingml/2006/main">
              <a:ext uri="{FF2B5EF4-FFF2-40B4-BE49-F238E27FC236}">
                <a16:creationId xmlns:a16="http://schemas.microsoft.com/office/drawing/2014/main" id="{F1F776B1-681F-458E-A88E-F1F1C87565F5}"/>
              </a:ext>
            </a:extLst>
          </p:cNvPr>
          <p:cNvSpPr>
            <a:spLocks xmlns:a="http://schemas.openxmlformats.org/drawingml/2006/main" noGrp="1"/>
          </p:cNvSpPr>
          <p:nvPr/>
        </p:nvSpPr>
        <p:spPr>
          <a:xfrm xmlns:a="http://schemas.openxmlformats.org/drawingml/2006/main">
            <a:off x="548640" y="3236976"/>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3</a:t>
            </a:r>
          </a:p>
        </p:txBody>
      </p:sp>
      <p:sp>
        <p:nvSpPr>
          <p:cNvPr id="13" name="Text 11">
            <a:extLst xmlns:a="http://schemas.openxmlformats.org/drawingml/2006/main">
              <a:ext uri="{FF2B5EF4-FFF2-40B4-BE49-F238E27FC236}">
                <a16:creationId xmlns:a16="http://schemas.microsoft.com/office/drawing/2014/main" id="{38385528-5D53-4CB8-AD83-B80DE9CD3F16}"/>
              </a:ext>
            </a:extLst>
          </p:cNvPr>
          <p:cNvSpPr>
            <a:spLocks xmlns:a="http://schemas.openxmlformats.org/drawingml/2006/main" noGrp="1"/>
          </p:cNvSpPr>
          <p:nvPr/>
        </p:nvSpPr>
        <p:spPr>
          <a:xfrm xmlns:a="http://schemas.openxmlformats.org/drawingml/2006/main">
            <a:off x="1115568" y="3218688"/>
            <a:ext cx="5943600" cy="78638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400">
                <a:solidFill>
                  <a:srgbClr val="23363B"/>
                </a:solidFill>
                <a:latin typeface="Calibri"/>
                <a:ea typeface="Calibri"/>
                <a:cs typeface="Calibri"/>
              </a:rPr>
              <a:t>Discuss the vertebral column and regional variations in its bony components and curvatures</a:t>
            </a:r>
          </a:p>
        </p:txBody>
      </p:sp>
      <p:sp>
        <p:nvSpPr>
          <p:cNvPr id="14" name="Shape 12">
            <a:extLst xmlns:a="http://schemas.openxmlformats.org/drawingml/2006/main">
              <a:ext uri="{FF2B5EF4-FFF2-40B4-BE49-F238E27FC236}">
                <a16:creationId xmlns:a16="http://schemas.microsoft.com/office/drawing/2014/main" id="{D9D23F82-FEBC-441E-B3ED-22DA96A8758C}"/>
              </a:ext>
            </a:extLst>
          </p:cNvPr>
          <p:cNvSpPr>
            <a:spLocks xmlns:a="http://schemas.openxmlformats.org/drawingml/2006/main" noGrp="1"/>
          </p:cNvSpPr>
          <p:nvPr/>
        </p:nvSpPr>
        <p:spPr>
          <a:xfrm xmlns:a="http://schemas.openxmlformats.org/drawingml/2006/main">
            <a:off x="548640" y="4023360"/>
            <a:ext cx="384048" cy="384048"/>
          </a:xfrm>
          <a:prstGeom xmlns:a="http://schemas.openxmlformats.org/drawingml/2006/main" prst="ellipse">
            <a:avLst/>
          </a:prstGeom>
          <a:solidFill xmlns:a="http://schemas.openxmlformats.org/drawingml/2006/main">
            <a:srgbClr val="0F4C5C"/>
          </a:solidFill>
        </p:spPr>
      </p:sp>
      <p:sp>
        <p:nvSpPr>
          <p:cNvPr id="15" name="Text 13">
            <a:extLst xmlns:a="http://schemas.openxmlformats.org/drawingml/2006/main">
              <a:ext uri="{FF2B5EF4-FFF2-40B4-BE49-F238E27FC236}">
                <a16:creationId xmlns:a16="http://schemas.microsoft.com/office/drawing/2014/main" id="{164CC1E9-922B-4D5B-9189-CE606D34E700}"/>
              </a:ext>
            </a:extLst>
          </p:cNvPr>
          <p:cNvSpPr>
            <a:spLocks xmlns:a="http://schemas.openxmlformats.org/drawingml/2006/main" noGrp="1"/>
          </p:cNvSpPr>
          <p:nvPr/>
        </p:nvSpPr>
        <p:spPr>
          <a:xfrm xmlns:a="http://schemas.openxmlformats.org/drawingml/2006/main">
            <a:off x="548640" y="4023360"/>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4</a:t>
            </a:r>
          </a:p>
        </p:txBody>
      </p:sp>
      <p:sp>
        <p:nvSpPr>
          <p:cNvPr id="16" name="Text 14">
            <a:extLst xmlns:a="http://schemas.openxmlformats.org/drawingml/2006/main">
              <a:ext uri="{FF2B5EF4-FFF2-40B4-BE49-F238E27FC236}">
                <a16:creationId xmlns:a16="http://schemas.microsoft.com/office/drawing/2014/main" id="{0E17C7EB-ABF9-46B9-8F57-6953508F27E3}"/>
              </a:ext>
            </a:extLst>
          </p:cNvPr>
          <p:cNvSpPr>
            <a:spLocks xmlns:a="http://schemas.openxmlformats.org/drawingml/2006/main" noGrp="1"/>
          </p:cNvSpPr>
          <p:nvPr/>
        </p:nvSpPr>
        <p:spPr>
          <a:xfrm xmlns:a="http://schemas.openxmlformats.org/drawingml/2006/main">
            <a:off x="1115568" y="4005072"/>
            <a:ext cx="5943600" cy="78638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400">
                <a:solidFill>
                  <a:srgbClr val="23363B"/>
                </a:solidFill>
                <a:latin typeface="Calibri"/>
                <a:ea typeface="Calibri"/>
                <a:cs typeface="Calibri"/>
              </a:rPr>
              <a:t>Describe the components of the thoracic cage</a:t>
            </a:r>
          </a:p>
        </p:txBody>
      </p:sp>
      <p:sp>
        <p:nvSpPr>
          <p:cNvPr id="17" name="Shape 15">
            <a:extLst xmlns:a="http://schemas.openxmlformats.org/drawingml/2006/main">
              <a:ext uri="{FF2B5EF4-FFF2-40B4-BE49-F238E27FC236}">
                <a16:creationId xmlns:a16="http://schemas.microsoft.com/office/drawing/2014/main" id="{3968FE0B-A3AF-4E3B-A9D9-FE7E93213508}"/>
              </a:ext>
            </a:extLst>
          </p:cNvPr>
          <p:cNvSpPr>
            <a:spLocks xmlns:a="http://schemas.openxmlformats.org/drawingml/2006/main" noGrp="1"/>
          </p:cNvSpPr>
          <p:nvPr/>
        </p:nvSpPr>
        <p:spPr>
          <a:xfrm xmlns:a="http://schemas.openxmlformats.org/drawingml/2006/main">
            <a:off x="548640" y="4809744"/>
            <a:ext cx="384048" cy="384048"/>
          </a:xfrm>
          <a:prstGeom xmlns:a="http://schemas.openxmlformats.org/drawingml/2006/main" prst="ellipse">
            <a:avLst/>
          </a:prstGeom>
          <a:solidFill xmlns:a="http://schemas.openxmlformats.org/drawingml/2006/main">
            <a:srgbClr val="0F4C5C"/>
          </a:solidFill>
        </p:spPr>
      </p:sp>
      <p:sp>
        <p:nvSpPr>
          <p:cNvPr id="18" name="Text 16">
            <a:extLst xmlns:a="http://schemas.openxmlformats.org/drawingml/2006/main">
              <a:ext uri="{FF2B5EF4-FFF2-40B4-BE49-F238E27FC236}">
                <a16:creationId xmlns:a16="http://schemas.microsoft.com/office/drawing/2014/main" id="{E9EE50C9-52D5-4E74-9794-8656A4942404}"/>
              </a:ext>
            </a:extLst>
          </p:cNvPr>
          <p:cNvSpPr>
            <a:spLocks xmlns:a="http://schemas.openxmlformats.org/drawingml/2006/main" noGrp="1"/>
          </p:cNvSpPr>
          <p:nvPr/>
        </p:nvSpPr>
        <p:spPr>
          <a:xfrm xmlns:a="http://schemas.openxmlformats.org/drawingml/2006/main">
            <a:off x="548640" y="4809744"/>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5</a:t>
            </a:r>
          </a:p>
        </p:txBody>
      </p:sp>
      <p:sp>
        <p:nvSpPr>
          <p:cNvPr id="19" name="Text 17">
            <a:extLst xmlns:a="http://schemas.openxmlformats.org/drawingml/2006/main">
              <a:ext uri="{FF2B5EF4-FFF2-40B4-BE49-F238E27FC236}">
                <a16:creationId xmlns:a16="http://schemas.microsoft.com/office/drawing/2014/main" id="{15F00B90-3B9A-42EA-B2AD-11D4CF0733AB}"/>
              </a:ext>
            </a:extLst>
          </p:cNvPr>
          <p:cNvSpPr>
            <a:spLocks xmlns:a="http://schemas.openxmlformats.org/drawingml/2006/main" noGrp="1"/>
          </p:cNvSpPr>
          <p:nvPr/>
        </p:nvSpPr>
        <p:spPr>
          <a:xfrm xmlns:a="http://schemas.openxmlformats.org/drawingml/2006/main">
            <a:off x="1115568" y="4791456"/>
            <a:ext cx="5943600" cy="78638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400">
                <a:solidFill>
                  <a:srgbClr val="23363B"/>
                </a:solidFill>
                <a:latin typeface="Calibri"/>
                <a:ea typeface="Calibri"/>
                <a:cs typeface="Calibri"/>
              </a:rPr>
              <a:t>Discuss the embryonic development of the axial skeleton The skeletal system forms the rigid internal framework of the body</a:t>
            </a:r>
          </a:p>
        </p:txBody>
      </p:sp>
      <p:sp>
        <p:nvSpPr>
          <p:cNvPr id="20" name="Shape 18">
            <a:extLst xmlns:a="http://schemas.openxmlformats.org/drawingml/2006/main">
              <a:ext uri="{FF2B5EF4-FFF2-40B4-BE49-F238E27FC236}">
                <a16:creationId xmlns:a16="http://schemas.microsoft.com/office/drawing/2014/main" id="{85397A43-BC03-4A5D-880C-1917094515E0}"/>
              </a:ext>
            </a:extLst>
          </p:cNvPr>
          <p:cNvSpPr>
            <a:spLocks xmlns:a="http://schemas.openxmlformats.org/drawingml/2006/main" noGrp="1"/>
          </p:cNvSpPr>
          <p:nvPr/>
        </p:nvSpPr>
        <p:spPr>
          <a:xfrm xmlns:a="http://schemas.openxmlformats.org/drawingml/2006/main">
            <a:off x="7450906" y="1545336"/>
            <a:ext cx="4300588" cy="4370832"/>
          </a:xfrm>
          <a:prstGeom xmlns:a="http://schemas.openxmlformats.org/drawingml/2006/main" prst="roundRect">
            <a:avLst>
              <a:gd name="adj" fmla="val 1276"/>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46" name="Image 0"/>
          <p:cNvPicPr>
            <a:picLocks xmlns:a="http://schemas.openxmlformats.org/drawingml/2006/main" noChangeAspect="1"/>
          </p:cNvPicPr>
          <p:nvPr/>
        </p:nvPicPr>
        <p:blipFill>
          <a:blip xmlns:r="http://schemas.openxmlformats.org/officeDocument/2006/relationships" xmlns:a="http://schemas.openxmlformats.org/drawingml/2006/main" r:embed="R3cf0f6cc8cda4037"/>
          <a:stretch xmlns:a="http://schemas.openxmlformats.org/drawingml/2006/main">
            <a:fillRect l="0" t="0" r="0" b="0"/>
          </a:stretch>
        </p:blipFill>
        <p:spPr>
          <a:xfrm xmlns:a="http://schemas.openxmlformats.org/drawingml/2006/main">
            <a:off x="7533202" y="1627632"/>
            <a:ext cx="4135996" cy="4206240"/>
          </a:xfrm>
          <a:prstGeom xmlns:a="http://schemas.openxmlformats.org/drawingml/2006/main" prst="rect">
            <a:avLst/>
          </a:prstGeom>
        </p:spPr>
      </p:pic>
      <p:sp>
        <p:nvSpPr>
          <p:cNvPr id="22" name="Text 19">
            <a:extLst xmlns:a="http://schemas.openxmlformats.org/drawingml/2006/main">
              <a:ext uri="{FF2B5EF4-FFF2-40B4-BE49-F238E27FC236}">
                <a16:creationId xmlns:a16="http://schemas.microsoft.com/office/drawing/2014/main" id="{29A31BBA-08B0-4189-9FA2-DF2356BA1C7F}"/>
              </a:ext>
            </a:extLst>
          </p:cNvPr>
          <p:cNvSpPr>
            <a:spLocks xmlns:a="http://schemas.openxmlformats.org/drawingml/2006/main" noGrp="1"/>
          </p:cNvSpPr>
          <p:nvPr/>
        </p:nvSpPr>
        <p:spPr>
          <a:xfrm xmlns:a="http://schemas.openxmlformats.org/drawingml/2006/main">
            <a:off x="7498080" y="5943600"/>
            <a:ext cx="4206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axial skeleton forms the body's central axis.</a:t>
            </a:r>
          </a:p>
        </p:txBody>
      </p:sp>
      <p:sp>
        <p:nvSpPr>
          <p:cNvPr id="24" name="Text 20">
            <a:extLst xmlns:a="http://schemas.openxmlformats.org/drawingml/2006/main">
              <a:ext uri="{FF2B5EF4-FFF2-40B4-BE49-F238E27FC236}">
                <a16:creationId xmlns:a16="http://schemas.microsoft.com/office/drawing/2014/main" id="{427BC9DF-44FC-4828-91C5-6CFA76C81085}"/>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7 — The Axial Skeleton</a:t>
            </a:r>
          </a:p>
        </p:txBody>
      </p:sp>
      <p:sp>
        <p:nvSpPr>
          <p:cNvPr id="25" name="Text 21">
            <a:extLst xmlns:a="http://schemas.openxmlformats.org/drawingml/2006/main">
              <a:ext uri="{FF2B5EF4-FFF2-40B4-BE49-F238E27FC236}">
                <a16:creationId xmlns:a16="http://schemas.microsoft.com/office/drawing/2014/main" id="{B9F8DCA9-0153-43DD-8656-3FBEAD7271BA}"/>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2</a:t>
            </a:r>
          </a:p>
        </p:txBody>
      </p:sp>
    </p:spTree>
    <p:extLst>
      <p:ext uri="{BB962C8B-B14F-4D97-AF65-F5344CB8AC3E}">
        <p14:creationId xmlns:p14="http://schemas.microsoft.com/office/powerpoint/2010/main" val="1544951663"/>
      </p:ext>
    </p:extLst>
  </p:cSld>
</p:sld>
</file>

<file path=ppt/slides/slide3.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7640075-C91F-4610-ACF2-1A9563583881}"/>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18213A2C-A1BF-4A21-A860-D663D92336A4}"/>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800" b="1">
                <a:solidFill>
                  <a:srgbClr val="FFFFFF"/>
                </a:solidFill>
                <a:latin typeface="Georgia"/>
                <a:ea typeface="Georgia"/>
                <a:cs typeface="Georgia"/>
              </a:rPr>
              <a:t>7.1</a:t>
            </a:r>
          </a:p>
        </p:txBody>
      </p:sp>
      <p:sp>
        <p:nvSpPr>
          <p:cNvPr id="4" name="Text 2">
            <a:extLst xmlns:a="http://schemas.openxmlformats.org/drawingml/2006/main">
              <a:ext uri="{FF2B5EF4-FFF2-40B4-BE49-F238E27FC236}">
                <a16:creationId xmlns:a16="http://schemas.microsoft.com/office/drawing/2014/main" id="{A708A5FD-CFBE-4DFE-8E29-A910A02C651F}"/>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p>
        </p:txBody>
      </p:sp>
      <p:sp>
        <p:nvSpPr>
          <p:cNvPr id="5" name="Text 3">
            <a:extLst xmlns:a="http://schemas.openxmlformats.org/drawingml/2006/main">
              <a:ext uri="{FF2B5EF4-FFF2-40B4-BE49-F238E27FC236}">
                <a16:creationId xmlns:a16="http://schemas.microsoft.com/office/drawing/2014/main" id="{B6E92924-9A60-4B95-9B1B-2A8710C601D1}"/>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000" b="1">
                <a:solidFill>
                  <a:srgbClr val="FFFFFF"/>
                </a:solidFill>
                <a:latin typeface="Georgia"/>
                <a:ea typeface="Georgia"/>
                <a:cs typeface="Georgia"/>
              </a:rPr>
              <a:t>Divisions of the Skeletal System</a:t>
            </a:r>
          </a:p>
        </p:txBody>
      </p:sp>
      <p:sp>
        <p:nvSpPr>
          <p:cNvPr id="6" name="Text 4">
            <a:extLst xmlns:a="http://schemas.openxmlformats.org/drawingml/2006/main">
              <a:ext uri="{FF2B5EF4-FFF2-40B4-BE49-F238E27FC236}">
                <a16:creationId xmlns:a16="http://schemas.microsoft.com/office/drawing/2014/main" id="{E9D808AE-1F3D-4005-9BFF-415D54204174}"/>
              </a:ext>
            </a:extLst>
          </p:cNvPr>
          <p:cNvSpPr>
            <a:spLocks xmlns:a="http://schemas.openxmlformats.org/drawingml/2006/main" noGrp="1"/>
          </p:cNvSpPr>
          <p:nvPr/>
        </p:nvSpPr>
        <p:spPr>
          <a:xfrm xmlns:a="http://schemas.openxmlformats.org/drawingml/2006/main">
            <a:off x="3200400" y="416052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Dividing the skeleton into the axial core and the appendicular limbs.</a:t>
            </a:r>
          </a:p>
        </p:txBody>
      </p:sp>
    </p:spTree>
    <p:extLst>
      <p:ext uri="{BB962C8B-B14F-4D97-AF65-F5344CB8AC3E}">
        <p14:creationId xmlns:p14="http://schemas.microsoft.com/office/powerpoint/2010/main" val="83225899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936C985-9FD0-4B99-B4BA-A5A3C75BEF90}"/>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7.1</a:t>
            </a:r>
          </a:p>
        </p:txBody>
      </p:sp>
      <p:sp>
        <p:nvSpPr>
          <p:cNvPr id="3" name="Text 1">
            <a:extLst xmlns:a="http://schemas.openxmlformats.org/drawingml/2006/main">
              <a:ext uri="{FF2B5EF4-FFF2-40B4-BE49-F238E27FC236}">
                <a16:creationId xmlns:a16="http://schemas.microsoft.com/office/drawing/2014/main" id="{3AE3D999-DE32-419E-8F0C-B2AFB2F0C796}"/>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Axial vs. Appendicular Skeleton</a:t>
            </a:r>
          </a:p>
        </p:txBody>
      </p:sp>
      <p:sp>
        <p:nvSpPr>
          <p:cNvPr id="4" name="Text 2">
            <a:extLst xmlns:a="http://schemas.openxmlformats.org/drawingml/2006/main">
              <a:ext uri="{FF2B5EF4-FFF2-40B4-BE49-F238E27FC236}">
                <a16:creationId xmlns:a16="http://schemas.microsoft.com/office/drawing/2014/main" id="{72C91D78-14E1-4D27-8B2E-AA1DDA2CCBA2}"/>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206 bones in two divisions</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Axial: skull, vertebrae, thoracic cage</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Appendicular: limbs and girdles</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The axial forms the central axis</a:t>
            </a:r>
          </a:p>
        </p:txBody>
      </p:sp>
      <p:sp>
        <p:nvSpPr>
          <p:cNvPr id="5" name="Shape 3">
            <a:extLst xmlns:a="http://schemas.openxmlformats.org/drawingml/2006/main">
              <a:ext uri="{FF2B5EF4-FFF2-40B4-BE49-F238E27FC236}">
                <a16:creationId xmlns:a16="http://schemas.microsoft.com/office/drawing/2014/main" id="{D1D0CF2F-C607-4F64-9597-5E9F28520A54}"/>
              </a:ext>
            </a:extLst>
          </p:cNvPr>
          <p:cNvSpPr>
            <a:spLocks xmlns:a="http://schemas.openxmlformats.org/drawingml/2006/main" noGrp="1"/>
          </p:cNvSpPr>
          <p:nvPr/>
        </p:nvSpPr>
        <p:spPr>
          <a:xfrm xmlns:a="http://schemas.openxmlformats.org/drawingml/2006/main">
            <a:off x="6310197" y="1335024"/>
            <a:ext cx="4570327" cy="4645152"/>
          </a:xfrm>
          <a:prstGeom xmlns:a="http://schemas.openxmlformats.org/drawingml/2006/main" prst="roundRect">
            <a:avLst>
              <a:gd name="adj" fmla="val 1200"/>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fef318477a664835"/>
          <a:stretch xmlns:a="http://schemas.openxmlformats.org/drawingml/2006/main">
            <a:fillRect l="0" t="0" r="0" b="0"/>
          </a:stretch>
        </p:blipFill>
        <p:spPr>
          <a:xfrm xmlns:a="http://schemas.openxmlformats.org/drawingml/2006/main">
            <a:off x="6392493" y="1417320"/>
            <a:ext cx="4405735" cy="448056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35634E99-2BBE-43EE-83EC-8C4D2BB8BA07}"/>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axial and appendicular skeleton</a:t>
            </a:r>
          </a:p>
        </p:txBody>
      </p:sp>
      <p:sp>
        <p:nvSpPr>
          <p:cNvPr id="9" name="Text 5">
            <a:extLst xmlns:a="http://schemas.openxmlformats.org/drawingml/2006/main">
              <a:ext uri="{FF2B5EF4-FFF2-40B4-BE49-F238E27FC236}">
                <a16:creationId xmlns:a16="http://schemas.microsoft.com/office/drawing/2014/main" id="{CAF9B103-23C2-4BBD-BC00-6B6914F0ADBE}"/>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7 — The Axial Skeleton</a:t>
            </a:r>
          </a:p>
        </p:txBody>
      </p:sp>
      <p:sp>
        <p:nvSpPr>
          <p:cNvPr id="10" name="Text 6">
            <a:extLst xmlns:a="http://schemas.openxmlformats.org/drawingml/2006/main">
              <a:ext uri="{FF2B5EF4-FFF2-40B4-BE49-F238E27FC236}">
                <a16:creationId xmlns:a16="http://schemas.microsoft.com/office/drawing/2014/main" id="{02BE1711-2B2A-4328-8036-35B4FE863BBE}"/>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4</a:t>
            </a:r>
          </a:p>
        </p:txBody>
      </p:sp>
    </p:spTree>
    <p:extLst>
      <p:ext uri="{BB962C8B-B14F-4D97-AF65-F5344CB8AC3E}">
        <p14:creationId xmlns:p14="http://schemas.microsoft.com/office/powerpoint/2010/main" val="1056658342"/>
      </p:ext>
    </p:extLst>
  </p:cSld>
</p:sld>
</file>

<file path=ppt/slides/slide5.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028B9B6-1880-449B-B8E5-AB2BFD70B6ED}"/>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09583251-F1CC-4720-8F5E-F03977B8B92F}"/>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800" b="1">
                <a:solidFill>
                  <a:srgbClr val="FFFFFF"/>
                </a:solidFill>
                <a:latin typeface="Georgia"/>
                <a:ea typeface="Georgia"/>
                <a:cs typeface="Georgia"/>
              </a:rPr>
              <a:t>7.2</a:t>
            </a:r>
          </a:p>
        </p:txBody>
      </p:sp>
      <p:sp>
        <p:nvSpPr>
          <p:cNvPr id="4" name="Text 2">
            <a:extLst xmlns:a="http://schemas.openxmlformats.org/drawingml/2006/main">
              <a:ext uri="{FF2B5EF4-FFF2-40B4-BE49-F238E27FC236}">
                <a16:creationId xmlns:a16="http://schemas.microsoft.com/office/drawing/2014/main" id="{19197FBE-FEB2-47C6-B445-ADA0120C6C69}"/>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p>
        </p:txBody>
      </p:sp>
      <p:sp>
        <p:nvSpPr>
          <p:cNvPr id="5" name="Text 3">
            <a:extLst xmlns:a="http://schemas.openxmlformats.org/drawingml/2006/main">
              <a:ext uri="{FF2B5EF4-FFF2-40B4-BE49-F238E27FC236}">
                <a16:creationId xmlns:a16="http://schemas.microsoft.com/office/drawing/2014/main" id="{E247CA23-835B-41F0-8018-E3A675BBEA3B}"/>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000" b="1">
                <a:solidFill>
                  <a:srgbClr val="FFFFFF"/>
                </a:solidFill>
                <a:latin typeface="Georgia"/>
                <a:ea typeface="Georgia"/>
                <a:cs typeface="Georgia"/>
              </a:rPr>
              <a:t>The Skull</a:t>
            </a:r>
          </a:p>
        </p:txBody>
      </p:sp>
      <p:sp>
        <p:nvSpPr>
          <p:cNvPr id="6" name="Text 4">
            <a:extLst xmlns:a="http://schemas.openxmlformats.org/drawingml/2006/main">
              <a:ext uri="{FF2B5EF4-FFF2-40B4-BE49-F238E27FC236}">
                <a16:creationId xmlns:a16="http://schemas.microsoft.com/office/drawing/2014/main" id="{8B9937C4-5EA7-4AB9-9AB9-82537B8882FF}"/>
              </a:ext>
            </a:extLst>
          </p:cNvPr>
          <p:cNvSpPr>
            <a:spLocks xmlns:a="http://schemas.openxmlformats.org/drawingml/2006/main" noGrp="1"/>
          </p:cNvSpPr>
          <p:nvPr/>
        </p:nvSpPr>
        <p:spPr>
          <a:xfrm xmlns:a="http://schemas.openxmlformats.org/drawingml/2006/main">
            <a:off x="3200400" y="416052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The cranial and facial bones that protect the brain and shape the face.</a:t>
            </a:r>
          </a:p>
        </p:txBody>
      </p:sp>
    </p:spTree>
    <p:extLst>
      <p:ext uri="{BB962C8B-B14F-4D97-AF65-F5344CB8AC3E}">
        <p14:creationId xmlns:p14="http://schemas.microsoft.com/office/powerpoint/2010/main" val="176260321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705D496-7890-42DB-AB95-06719A49990B}"/>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7.2</a:t>
            </a:r>
          </a:p>
        </p:txBody>
      </p:sp>
      <p:sp>
        <p:nvSpPr>
          <p:cNvPr id="3" name="Text 1">
            <a:extLst xmlns:a="http://schemas.openxmlformats.org/drawingml/2006/main">
              <a:ext uri="{FF2B5EF4-FFF2-40B4-BE49-F238E27FC236}">
                <a16:creationId xmlns:a16="http://schemas.microsoft.com/office/drawing/2014/main" id="{25D28A20-032E-4255-BF7C-C50A9CDEDD22}"/>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The Skull — Anterior View</a:t>
            </a:r>
          </a:p>
        </p:txBody>
      </p:sp>
      <p:sp>
        <p:nvSpPr>
          <p:cNvPr id="4" name="Text 2">
            <a:extLst xmlns:a="http://schemas.openxmlformats.org/drawingml/2006/main">
              <a:ext uri="{FF2B5EF4-FFF2-40B4-BE49-F238E27FC236}">
                <a16:creationId xmlns:a16="http://schemas.microsoft.com/office/drawing/2014/main" id="{88C9FCCD-F7D4-4419-B25B-168DC5079C17}"/>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22 bones: cranial and facial</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Cranial bones enclose the brain</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Facial bones shape the face</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Joined by immovable sutures</a:t>
            </a:r>
          </a:p>
        </p:txBody>
      </p:sp>
      <p:sp>
        <p:nvSpPr>
          <p:cNvPr id="5" name="Shape 3">
            <a:extLst xmlns:a="http://schemas.openxmlformats.org/drawingml/2006/main">
              <a:ext uri="{FF2B5EF4-FFF2-40B4-BE49-F238E27FC236}">
                <a16:creationId xmlns:a16="http://schemas.microsoft.com/office/drawing/2014/main" id="{8E1AC239-AF02-44C6-8C96-1B40E4912AF3}"/>
              </a:ext>
            </a:extLst>
          </p:cNvPr>
          <p:cNvSpPr>
            <a:spLocks xmlns:a="http://schemas.openxmlformats.org/drawingml/2006/main" noGrp="1"/>
          </p:cNvSpPr>
          <p:nvPr/>
        </p:nvSpPr>
        <p:spPr>
          <a:xfrm xmlns:a="http://schemas.openxmlformats.org/drawingml/2006/main">
            <a:off x="5865053" y="1335024"/>
            <a:ext cx="5460614" cy="4645152"/>
          </a:xfrm>
          <a:prstGeom xmlns:a="http://schemas.openxmlformats.org/drawingml/2006/main" prst="roundRect">
            <a:avLst>
              <a:gd name="adj" fmla="val 118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07845f16f0484a12"/>
          <a:stretch xmlns:a="http://schemas.openxmlformats.org/drawingml/2006/main">
            <a:fillRect l="0" t="0" r="0" b="0"/>
          </a:stretch>
        </p:blipFill>
        <p:spPr>
          <a:xfrm xmlns:a="http://schemas.openxmlformats.org/drawingml/2006/main">
            <a:off x="5947349" y="1417320"/>
            <a:ext cx="5296022" cy="448056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E2B9F0C3-DC6F-427D-99FD-0264FDA597CC}"/>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Anterior view of the skull</a:t>
            </a:r>
          </a:p>
        </p:txBody>
      </p:sp>
      <p:sp>
        <p:nvSpPr>
          <p:cNvPr id="9" name="Text 5">
            <a:extLst xmlns:a="http://schemas.openxmlformats.org/drawingml/2006/main">
              <a:ext uri="{FF2B5EF4-FFF2-40B4-BE49-F238E27FC236}">
                <a16:creationId xmlns:a16="http://schemas.microsoft.com/office/drawing/2014/main" id="{E1C8FAFE-688B-4538-A53E-2F5FFB067FA8}"/>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7 — The Axial Skeleton</a:t>
            </a:r>
          </a:p>
        </p:txBody>
      </p:sp>
      <p:sp>
        <p:nvSpPr>
          <p:cNvPr id="10" name="Text 6">
            <a:extLst xmlns:a="http://schemas.openxmlformats.org/drawingml/2006/main">
              <a:ext uri="{FF2B5EF4-FFF2-40B4-BE49-F238E27FC236}">
                <a16:creationId xmlns:a16="http://schemas.microsoft.com/office/drawing/2014/main" id="{73751E85-16AA-4640-BF9D-4658339F166C}"/>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6</a:t>
            </a:r>
          </a:p>
        </p:txBody>
      </p:sp>
    </p:spTree>
    <p:extLst>
      <p:ext uri="{BB962C8B-B14F-4D97-AF65-F5344CB8AC3E}">
        <p14:creationId xmlns:p14="http://schemas.microsoft.com/office/powerpoint/2010/main" val="81304647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90A5CF3-815C-454A-A976-F769FF0861FE}"/>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7.2</a:t>
            </a:r>
          </a:p>
        </p:txBody>
      </p:sp>
      <p:sp>
        <p:nvSpPr>
          <p:cNvPr id="3" name="Text 1">
            <a:extLst xmlns:a="http://schemas.openxmlformats.org/drawingml/2006/main">
              <a:ext uri="{FF2B5EF4-FFF2-40B4-BE49-F238E27FC236}">
                <a16:creationId xmlns:a16="http://schemas.microsoft.com/office/drawing/2014/main" id="{2D6456E4-B952-4EC5-8546-BE25A682E712}"/>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The Skull — Lateral View</a:t>
            </a:r>
          </a:p>
        </p:txBody>
      </p:sp>
      <p:sp>
        <p:nvSpPr>
          <p:cNvPr id="4" name="Text 2">
            <a:extLst xmlns:a="http://schemas.openxmlformats.org/drawingml/2006/main">
              <a:ext uri="{FF2B5EF4-FFF2-40B4-BE49-F238E27FC236}">
                <a16:creationId xmlns:a16="http://schemas.microsoft.com/office/drawing/2014/main" id="{B347D347-504B-4335-AB56-96AFF45DF7DB}"/>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Frontal, parietal, temporal, occipital</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Sphenoid and ethmoid lie deep within</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Cranial bones meet at sutures</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Cranial fossae cradle the brain</a:t>
            </a:r>
          </a:p>
        </p:txBody>
      </p:sp>
      <p:sp>
        <p:nvSpPr>
          <p:cNvPr id="5" name="Shape 3">
            <a:extLst xmlns:a="http://schemas.openxmlformats.org/drawingml/2006/main">
              <a:ext uri="{FF2B5EF4-FFF2-40B4-BE49-F238E27FC236}">
                <a16:creationId xmlns:a16="http://schemas.microsoft.com/office/drawing/2014/main" id="{A253CA01-F4A3-4ABA-BD65-C139B71BEE79}"/>
              </a:ext>
            </a:extLst>
          </p:cNvPr>
          <p:cNvSpPr>
            <a:spLocks xmlns:a="http://schemas.openxmlformats.org/drawingml/2006/main" noGrp="1"/>
          </p:cNvSpPr>
          <p:nvPr/>
        </p:nvSpPr>
        <p:spPr>
          <a:xfrm xmlns:a="http://schemas.openxmlformats.org/drawingml/2006/main">
            <a:off x="5404104" y="1442519"/>
            <a:ext cx="6382512" cy="4430161"/>
          </a:xfrm>
          <a:prstGeom xmlns:a="http://schemas.openxmlformats.org/drawingml/2006/main" prst="roundRect">
            <a:avLst>
              <a:gd name="adj" fmla="val 1238"/>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d3a9c397946c4f65"/>
          <a:stretch xmlns:a="http://schemas.openxmlformats.org/drawingml/2006/main">
            <a:fillRect l="0" t="0" r="0" b="0"/>
          </a:stretch>
        </p:blipFill>
        <p:spPr>
          <a:xfrm xmlns:a="http://schemas.openxmlformats.org/drawingml/2006/main">
            <a:off x="5486400" y="1524815"/>
            <a:ext cx="6217920" cy="4265569"/>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78A41E6D-FCCD-4698-89EB-7AF3B1140A75}"/>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Lateral view of the skull</a:t>
            </a:r>
          </a:p>
        </p:txBody>
      </p:sp>
      <p:sp>
        <p:nvSpPr>
          <p:cNvPr id="9" name="Text 5">
            <a:extLst xmlns:a="http://schemas.openxmlformats.org/drawingml/2006/main">
              <a:ext uri="{FF2B5EF4-FFF2-40B4-BE49-F238E27FC236}">
                <a16:creationId xmlns:a16="http://schemas.microsoft.com/office/drawing/2014/main" id="{9D2737B3-A4B7-4991-9151-9167C53A3476}"/>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7 — The Axial Skeleton</a:t>
            </a:r>
          </a:p>
        </p:txBody>
      </p:sp>
      <p:sp>
        <p:nvSpPr>
          <p:cNvPr id="10" name="Text 6">
            <a:extLst xmlns:a="http://schemas.openxmlformats.org/drawingml/2006/main">
              <a:ext uri="{FF2B5EF4-FFF2-40B4-BE49-F238E27FC236}">
                <a16:creationId xmlns:a16="http://schemas.microsoft.com/office/drawing/2014/main" id="{29C9D32B-DBDB-408F-8CDF-0F111BB580B3}"/>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7</a:t>
            </a:r>
          </a:p>
        </p:txBody>
      </p:sp>
    </p:spTree>
    <p:extLst>
      <p:ext uri="{BB962C8B-B14F-4D97-AF65-F5344CB8AC3E}">
        <p14:creationId xmlns:p14="http://schemas.microsoft.com/office/powerpoint/2010/main" val="152789709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E3C0CF2-EE6A-409D-9097-153E2427F1B5}"/>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7.2</a:t>
            </a:r>
          </a:p>
        </p:txBody>
      </p:sp>
      <p:sp>
        <p:nvSpPr>
          <p:cNvPr id="3" name="Text 1">
            <a:extLst xmlns:a="http://schemas.openxmlformats.org/drawingml/2006/main">
              <a:ext uri="{FF2B5EF4-FFF2-40B4-BE49-F238E27FC236}">
                <a16:creationId xmlns:a16="http://schemas.microsoft.com/office/drawing/2014/main" id="{EC5168B5-DF90-4E36-BA6C-6FD5C5576A92}"/>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Sutures of the Skull</a:t>
            </a:r>
          </a:p>
        </p:txBody>
      </p:sp>
      <p:sp>
        <p:nvSpPr>
          <p:cNvPr id="4" name="Text 2">
            <a:extLst xmlns:a="http://schemas.openxmlformats.org/drawingml/2006/main">
              <a:ext uri="{FF2B5EF4-FFF2-40B4-BE49-F238E27FC236}">
                <a16:creationId xmlns:a16="http://schemas.microsoft.com/office/drawing/2014/main" id="{D81BC9AD-4BEA-4210-9197-3359523A3F59}"/>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Sutures are immovable fibrous joints</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Coronal, sagittal, and lambdoid</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Lock the cranial bones together</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Foramen magnum at the base</a:t>
            </a:r>
          </a:p>
        </p:txBody>
      </p:sp>
      <p:sp>
        <p:nvSpPr>
          <p:cNvPr id="5" name="Shape 3">
            <a:extLst xmlns:a="http://schemas.openxmlformats.org/drawingml/2006/main">
              <a:ext uri="{FF2B5EF4-FFF2-40B4-BE49-F238E27FC236}">
                <a16:creationId xmlns:a16="http://schemas.microsoft.com/office/drawing/2014/main" id="{FA872F76-8E10-4006-9529-F77383A9F2B4}"/>
              </a:ext>
            </a:extLst>
          </p:cNvPr>
          <p:cNvSpPr>
            <a:spLocks xmlns:a="http://schemas.openxmlformats.org/drawingml/2006/main" noGrp="1"/>
          </p:cNvSpPr>
          <p:nvPr/>
        </p:nvSpPr>
        <p:spPr>
          <a:xfrm xmlns:a="http://schemas.openxmlformats.org/drawingml/2006/main">
            <a:off x="5637217" y="1335024"/>
            <a:ext cx="5916287" cy="4645152"/>
          </a:xfrm>
          <a:prstGeom xmlns:a="http://schemas.openxmlformats.org/drawingml/2006/main" prst="roundRect">
            <a:avLst>
              <a:gd name="adj" fmla="val 118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0fcd2af13eb2417b"/>
          <a:stretch xmlns:a="http://schemas.openxmlformats.org/drawingml/2006/main">
            <a:fillRect l="0" t="0" r="0" b="0"/>
          </a:stretch>
        </p:blipFill>
        <p:spPr>
          <a:xfrm xmlns:a="http://schemas.openxmlformats.org/drawingml/2006/main">
            <a:off x="5719513" y="1417320"/>
            <a:ext cx="5751695" cy="448056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810EB72C-8E2B-42AE-A7E4-7266A419437E}"/>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Posterior skull and cranial sutures</a:t>
            </a:r>
          </a:p>
        </p:txBody>
      </p:sp>
      <p:sp>
        <p:nvSpPr>
          <p:cNvPr id="9" name="Text 5">
            <a:extLst xmlns:a="http://schemas.openxmlformats.org/drawingml/2006/main">
              <a:ext uri="{FF2B5EF4-FFF2-40B4-BE49-F238E27FC236}">
                <a16:creationId xmlns:a16="http://schemas.microsoft.com/office/drawing/2014/main" id="{F2DB3002-CD80-41F9-86AF-8421B497CDC2}"/>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7 — The Axial Skeleton</a:t>
            </a:r>
          </a:p>
        </p:txBody>
      </p:sp>
      <p:sp>
        <p:nvSpPr>
          <p:cNvPr id="10" name="Text 6">
            <a:extLst xmlns:a="http://schemas.openxmlformats.org/drawingml/2006/main">
              <a:ext uri="{FF2B5EF4-FFF2-40B4-BE49-F238E27FC236}">
                <a16:creationId xmlns:a16="http://schemas.microsoft.com/office/drawing/2014/main" id="{CE38C37E-94A6-4454-8F8A-2EC5D3A7E6BD}"/>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8</a:t>
            </a:r>
          </a:p>
        </p:txBody>
      </p:sp>
    </p:spTree>
    <p:extLst>
      <p:ext uri="{BB962C8B-B14F-4D97-AF65-F5344CB8AC3E}">
        <p14:creationId xmlns:p14="http://schemas.microsoft.com/office/powerpoint/2010/main" val="94207888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228F73C-D9E2-4EA5-B8D6-660DFE80925E}"/>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7.2</a:t>
            </a:r>
          </a:p>
        </p:txBody>
      </p:sp>
      <p:sp>
        <p:nvSpPr>
          <p:cNvPr id="3" name="Text 1">
            <a:extLst xmlns:a="http://schemas.openxmlformats.org/drawingml/2006/main">
              <a:ext uri="{FF2B5EF4-FFF2-40B4-BE49-F238E27FC236}">
                <a16:creationId xmlns:a16="http://schemas.microsoft.com/office/drawing/2014/main" id="{AE92CAF5-442A-4E28-B3A5-6F3E88A812F7}"/>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The Mandible</a:t>
            </a:r>
          </a:p>
        </p:txBody>
      </p:sp>
      <p:sp>
        <p:nvSpPr>
          <p:cNvPr id="4" name="Text 2">
            <a:extLst xmlns:a="http://schemas.openxmlformats.org/drawingml/2006/main">
              <a:ext uri="{FF2B5EF4-FFF2-40B4-BE49-F238E27FC236}">
                <a16:creationId xmlns:a16="http://schemas.microsoft.com/office/drawing/2014/main" id="{7AAFA156-EACC-4A79-8609-7478B0E95CB1}"/>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The only movable skull bone</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Forms the lower jaw</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Holds the lower teeth</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Articulates at the TMJ</a:t>
            </a:r>
          </a:p>
        </p:txBody>
      </p:sp>
      <p:sp>
        <p:nvSpPr>
          <p:cNvPr id="5" name="Shape 3">
            <a:extLst xmlns:a="http://schemas.openxmlformats.org/drawingml/2006/main">
              <a:ext uri="{FF2B5EF4-FFF2-40B4-BE49-F238E27FC236}">
                <a16:creationId xmlns:a16="http://schemas.microsoft.com/office/drawing/2014/main" id="{AB27E7DF-A835-479D-AB9A-7315B205251A}"/>
              </a:ext>
            </a:extLst>
          </p:cNvPr>
          <p:cNvSpPr>
            <a:spLocks xmlns:a="http://schemas.openxmlformats.org/drawingml/2006/main" noGrp="1"/>
          </p:cNvSpPr>
          <p:nvPr/>
        </p:nvSpPr>
        <p:spPr>
          <a:xfrm xmlns:a="http://schemas.openxmlformats.org/drawingml/2006/main">
            <a:off x="5590395" y="1335024"/>
            <a:ext cx="6009931" cy="4645152"/>
          </a:xfrm>
          <a:prstGeom xmlns:a="http://schemas.openxmlformats.org/drawingml/2006/main" prst="roundRect">
            <a:avLst>
              <a:gd name="adj" fmla="val 118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7993ac2edee84bbb"/>
          <a:stretch xmlns:a="http://schemas.openxmlformats.org/drawingml/2006/main">
            <a:fillRect l="0" t="0" r="0" b="0"/>
          </a:stretch>
        </p:blipFill>
        <p:spPr>
          <a:xfrm xmlns:a="http://schemas.openxmlformats.org/drawingml/2006/main">
            <a:off x="5672691" y="1417320"/>
            <a:ext cx="5845339" cy="448056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44DE02BE-E04F-497F-BBAF-81AEFAA670A0}"/>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mandible (lower jaw)</a:t>
            </a:r>
          </a:p>
        </p:txBody>
      </p:sp>
      <p:sp>
        <p:nvSpPr>
          <p:cNvPr id="9" name="Text 5">
            <a:extLst xmlns:a="http://schemas.openxmlformats.org/drawingml/2006/main">
              <a:ext uri="{FF2B5EF4-FFF2-40B4-BE49-F238E27FC236}">
                <a16:creationId xmlns:a16="http://schemas.microsoft.com/office/drawing/2014/main" id="{62959027-2ED6-4234-AEBE-6B41FA0EB18E}"/>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7 — The Axial Skeleton</a:t>
            </a:r>
          </a:p>
        </p:txBody>
      </p:sp>
      <p:sp>
        <p:nvSpPr>
          <p:cNvPr id="10" name="Text 6">
            <a:extLst xmlns:a="http://schemas.openxmlformats.org/drawingml/2006/main">
              <a:ext uri="{FF2B5EF4-FFF2-40B4-BE49-F238E27FC236}">
                <a16:creationId xmlns:a16="http://schemas.microsoft.com/office/drawing/2014/main" id="{B42771C1-6EBC-4413-BC43-4978879F9E27}"/>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9</a:t>
            </a:r>
          </a:p>
        </p:txBody>
      </p:sp>
    </p:spTree>
    <p:extLst>
      <p:ext uri="{BB962C8B-B14F-4D97-AF65-F5344CB8AC3E}">
        <p14:creationId xmlns:p14="http://schemas.microsoft.com/office/powerpoint/2010/main" val="12427028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68C8075-D6E5-41CC-9793-BE8E1368C895}"/>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7.2</a:t>
            </a:r>
          </a:p>
        </p:txBody>
      </p:sp>
      <p:sp>
        <p:nvSpPr>
          <p:cNvPr id="3" name="Text 1">
            <a:extLst xmlns:a="http://schemas.openxmlformats.org/drawingml/2006/main">
              <a:ext uri="{FF2B5EF4-FFF2-40B4-BE49-F238E27FC236}">
                <a16:creationId xmlns:a16="http://schemas.microsoft.com/office/drawing/2014/main" id="{7B23E765-C42E-403E-92A5-E05D0DA8A89C}"/>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The Paranasal Sinuses</a:t>
            </a:r>
          </a:p>
        </p:txBody>
      </p:sp>
      <p:sp>
        <p:nvSpPr>
          <p:cNvPr id="4" name="Text 2">
            <a:extLst xmlns:a="http://schemas.openxmlformats.org/drawingml/2006/main">
              <a:ext uri="{FF2B5EF4-FFF2-40B4-BE49-F238E27FC236}">
                <a16:creationId xmlns:a16="http://schemas.microsoft.com/office/drawing/2014/main" id="{2FFC9DD7-EF03-41FD-87D6-F0BFDAD3E3E3}"/>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Air-filled spaces in skull bones</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Frontal, ethmoid, sphenoid, maxillary</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Lighten the skull and warm air</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Drain into the nasal cavity</a:t>
            </a:r>
          </a:p>
        </p:txBody>
      </p:sp>
      <p:sp>
        <p:nvSpPr>
          <p:cNvPr id="5" name="Shape 3">
            <a:extLst xmlns:a="http://schemas.openxmlformats.org/drawingml/2006/main">
              <a:ext uri="{FF2B5EF4-FFF2-40B4-BE49-F238E27FC236}">
                <a16:creationId xmlns:a16="http://schemas.microsoft.com/office/drawing/2014/main" id="{1C0DEFCF-F0C7-41DD-A2D8-5B6C225C2BA2}"/>
              </a:ext>
            </a:extLst>
          </p:cNvPr>
          <p:cNvSpPr>
            <a:spLocks xmlns:a="http://schemas.openxmlformats.org/drawingml/2006/main" noGrp="1"/>
          </p:cNvSpPr>
          <p:nvPr/>
        </p:nvSpPr>
        <p:spPr>
          <a:xfrm xmlns:a="http://schemas.openxmlformats.org/drawingml/2006/main">
            <a:off x="5404104" y="1477632"/>
            <a:ext cx="6382512" cy="4359936"/>
          </a:xfrm>
          <a:prstGeom xmlns:a="http://schemas.openxmlformats.org/drawingml/2006/main" prst="roundRect">
            <a:avLst>
              <a:gd name="adj" fmla="val 1258"/>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c194adf574e848e1"/>
          <a:stretch xmlns:a="http://schemas.openxmlformats.org/drawingml/2006/main">
            <a:fillRect l="0" t="0" r="0" b="0"/>
          </a:stretch>
        </p:blipFill>
        <p:spPr>
          <a:xfrm xmlns:a="http://schemas.openxmlformats.org/drawingml/2006/main">
            <a:off x="5486400" y="1559928"/>
            <a:ext cx="6217920" cy="419534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9327DDEB-4254-4034-8581-9A72290D2DB7}"/>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paranasal sinuses</a:t>
            </a:r>
          </a:p>
        </p:txBody>
      </p:sp>
      <p:sp>
        <p:nvSpPr>
          <p:cNvPr id="9" name="Text 5">
            <a:extLst xmlns:a="http://schemas.openxmlformats.org/drawingml/2006/main">
              <a:ext uri="{FF2B5EF4-FFF2-40B4-BE49-F238E27FC236}">
                <a16:creationId xmlns:a16="http://schemas.microsoft.com/office/drawing/2014/main" id="{95ECD44E-3C16-4F38-AFF1-451264768494}"/>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7 — The Axial Skeleton</a:t>
            </a:r>
          </a:p>
        </p:txBody>
      </p:sp>
      <p:sp>
        <p:nvSpPr>
          <p:cNvPr id="10" name="Text 6">
            <a:extLst xmlns:a="http://schemas.openxmlformats.org/drawingml/2006/main">
              <a:ext uri="{FF2B5EF4-FFF2-40B4-BE49-F238E27FC236}">
                <a16:creationId xmlns:a16="http://schemas.microsoft.com/office/drawing/2014/main" id="{6512E32C-4BD2-4EE7-8060-77AA69BD9BA0}"/>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10</a:t>
            </a:r>
          </a:p>
        </p:txBody>
      </p:sp>
    </p:spTree>
    <p:extLst>
      <p:ext uri="{BB962C8B-B14F-4D97-AF65-F5344CB8AC3E}">
        <p14:creationId xmlns:p14="http://schemas.microsoft.com/office/powerpoint/2010/main" val="1038568964"/>
      </p:ext>
    </p:extLst>
  </p:cSld>
</p:sld>
</file>

<file path=ppt/slides/slide11.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FB03BC8-93D4-4CF8-97A5-38CEE8001BBF}"/>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16ED3A50-19CB-40D5-B68F-85250C289A8C}"/>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800" b="1">
                <a:solidFill>
                  <a:srgbClr val="FFFFFF"/>
                </a:solidFill>
                <a:latin typeface="Georgia"/>
                <a:ea typeface="Georgia"/>
                <a:cs typeface="Georgia"/>
              </a:rPr>
              <a:t>7.3</a:t>
            </a:r>
          </a:p>
        </p:txBody>
      </p:sp>
      <p:sp>
        <p:nvSpPr>
          <p:cNvPr id="4" name="Text 2">
            <a:extLst xmlns:a="http://schemas.openxmlformats.org/drawingml/2006/main">
              <a:ext uri="{FF2B5EF4-FFF2-40B4-BE49-F238E27FC236}">
                <a16:creationId xmlns:a16="http://schemas.microsoft.com/office/drawing/2014/main" id="{31D122B0-47F8-4DE1-88D4-92E1DB2A31ED}"/>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p>
        </p:txBody>
      </p:sp>
      <p:sp>
        <p:nvSpPr>
          <p:cNvPr id="5" name="Text 3">
            <a:extLst xmlns:a="http://schemas.openxmlformats.org/drawingml/2006/main">
              <a:ext uri="{FF2B5EF4-FFF2-40B4-BE49-F238E27FC236}">
                <a16:creationId xmlns:a16="http://schemas.microsoft.com/office/drawing/2014/main" id="{E00E0ACB-48DB-4730-8FD7-EEBB8053BC93}"/>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000" b="1">
                <a:solidFill>
                  <a:srgbClr val="FFFFFF"/>
                </a:solidFill>
                <a:latin typeface="Georgia"/>
                <a:ea typeface="Georgia"/>
                <a:cs typeface="Georgia"/>
              </a:rPr>
              <a:t>The Vertebral Column</a:t>
            </a:r>
          </a:p>
        </p:txBody>
      </p:sp>
      <p:sp>
        <p:nvSpPr>
          <p:cNvPr id="6" name="Text 4">
            <a:extLst xmlns:a="http://schemas.openxmlformats.org/drawingml/2006/main">
              <a:ext uri="{FF2B5EF4-FFF2-40B4-BE49-F238E27FC236}">
                <a16:creationId xmlns:a16="http://schemas.microsoft.com/office/drawing/2014/main" id="{A2324692-740D-4E47-BAFC-9E43B49DB9C2}"/>
              </a:ext>
            </a:extLst>
          </p:cNvPr>
          <p:cNvSpPr>
            <a:spLocks xmlns:a="http://schemas.openxmlformats.org/drawingml/2006/main" noGrp="1"/>
          </p:cNvSpPr>
          <p:nvPr/>
        </p:nvSpPr>
        <p:spPr>
          <a:xfrm xmlns:a="http://schemas.openxmlformats.org/drawingml/2006/main">
            <a:off x="3200400" y="416052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Support, protection of the spinal cord, and flexibility of the spine.</a:t>
            </a:r>
          </a:p>
        </p:txBody>
      </p:sp>
    </p:spTree>
    <p:extLst>
      <p:ext uri="{BB962C8B-B14F-4D97-AF65-F5344CB8AC3E}">
        <p14:creationId xmlns:p14="http://schemas.microsoft.com/office/powerpoint/2010/main" val="63530220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1B3F056-F5B4-4F61-955D-CB90D8806DFC}"/>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7.3</a:t>
            </a:r>
          </a:p>
        </p:txBody>
      </p:sp>
      <p:sp>
        <p:nvSpPr>
          <p:cNvPr id="3" name="Text 1">
            <a:extLst xmlns:a="http://schemas.openxmlformats.org/drawingml/2006/main">
              <a:ext uri="{FF2B5EF4-FFF2-40B4-BE49-F238E27FC236}">
                <a16:creationId xmlns:a16="http://schemas.microsoft.com/office/drawing/2014/main" id="{2CD168DC-0590-44C7-B1DB-154A178C57E5}"/>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The Vertebral Column</a:t>
            </a:r>
          </a:p>
        </p:txBody>
      </p:sp>
      <p:sp>
        <p:nvSpPr>
          <p:cNvPr id="4" name="Text 2">
            <a:extLst xmlns:a="http://schemas.openxmlformats.org/drawingml/2006/main">
              <a:ext uri="{FF2B5EF4-FFF2-40B4-BE49-F238E27FC236}">
                <a16:creationId xmlns:a16="http://schemas.microsoft.com/office/drawing/2014/main" id="{35A93768-2C93-409F-8093-D334E6AEB7BE}"/>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26 bones in five regions</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Cervical, thoracic, lumbar, sacrum, coccyx</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Four curvatures balance the body</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Protects the spinal cord</a:t>
            </a:r>
          </a:p>
        </p:txBody>
      </p:sp>
      <p:sp>
        <p:nvSpPr>
          <p:cNvPr id="5" name="Shape 3">
            <a:extLst xmlns:a="http://schemas.openxmlformats.org/drawingml/2006/main">
              <a:ext uri="{FF2B5EF4-FFF2-40B4-BE49-F238E27FC236}">
                <a16:creationId xmlns:a16="http://schemas.microsoft.com/office/drawing/2014/main" id="{9C8108D1-2483-4007-B678-B3AB50BF9B5A}"/>
              </a:ext>
            </a:extLst>
          </p:cNvPr>
          <p:cNvSpPr>
            <a:spLocks xmlns:a="http://schemas.openxmlformats.org/drawingml/2006/main" noGrp="1"/>
          </p:cNvSpPr>
          <p:nvPr/>
        </p:nvSpPr>
        <p:spPr>
          <a:xfrm xmlns:a="http://schemas.openxmlformats.org/drawingml/2006/main">
            <a:off x="6165251" y="1335024"/>
            <a:ext cx="4860219" cy="4645152"/>
          </a:xfrm>
          <a:prstGeom xmlns:a="http://schemas.openxmlformats.org/drawingml/2006/main" prst="roundRect">
            <a:avLst>
              <a:gd name="adj" fmla="val 118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874f0086eaa445d5"/>
          <a:stretch xmlns:a="http://schemas.openxmlformats.org/drawingml/2006/main">
            <a:fillRect l="0" t="0" r="0" b="0"/>
          </a:stretch>
        </p:blipFill>
        <p:spPr>
          <a:xfrm xmlns:a="http://schemas.openxmlformats.org/drawingml/2006/main">
            <a:off x="6247547" y="1417320"/>
            <a:ext cx="4695627" cy="448056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CCB313D3-6DE9-442A-A1EE-F7D197E0965C}"/>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vertebral column and its curvatures</a:t>
            </a:r>
          </a:p>
        </p:txBody>
      </p:sp>
      <p:sp>
        <p:nvSpPr>
          <p:cNvPr id="9" name="Text 5">
            <a:extLst xmlns:a="http://schemas.openxmlformats.org/drawingml/2006/main">
              <a:ext uri="{FF2B5EF4-FFF2-40B4-BE49-F238E27FC236}">
                <a16:creationId xmlns:a16="http://schemas.microsoft.com/office/drawing/2014/main" id="{B6359D4E-52BE-40C8-A774-F41D73F36F68}"/>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7 — The Axial Skeleton</a:t>
            </a:r>
          </a:p>
        </p:txBody>
      </p:sp>
      <p:sp>
        <p:nvSpPr>
          <p:cNvPr id="10" name="Text 6">
            <a:extLst xmlns:a="http://schemas.openxmlformats.org/drawingml/2006/main">
              <a:ext uri="{FF2B5EF4-FFF2-40B4-BE49-F238E27FC236}">
                <a16:creationId xmlns:a16="http://schemas.microsoft.com/office/drawing/2014/main" id="{853A2B54-276B-4070-84AE-F9BA0ED3F58C}"/>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12</a:t>
            </a:r>
          </a:p>
        </p:txBody>
      </p:sp>
    </p:spTree>
    <p:extLst>
      <p:ext uri="{BB962C8B-B14F-4D97-AF65-F5344CB8AC3E}">
        <p14:creationId xmlns:p14="http://schemas.microsoft.com/office/powerpoint/2010/main" val="154431040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4C5B5C6-0D97-4639-AB01-D5767E71A8CC}"/>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7.3</a:t>
            </a:r>
          </a:p>
        </p:txBody>
      </p:sp>
      <p:sp>
        <p:nvSpPr>
          <p:cNvPr id="3" name="Text 1">
            <a:extLst xmlns:a="http://schemas.openxmlformats.org/drawingml/2006/main">
              <a:ext uri="{FF2B5EF4-FFF2-40B4-BE49-F238E27FC236}">
                <a16:creationId xmlns:a16="http://schemas.microsoft.com/office/drawing/2014/main" id="{E1AFCE25-C4B2-468B-8D2B-AD85447E1DBD}"/>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Abnormal Spinal Curvatures</a:t>
            </a:r>
          </a:p>
        </p:txBody>
      </p:sp>
      <p:sp>
        <p:nvSpPr>
          <p:cNvPr id="4" name="Shape 2">
            <a:extLst xmlns:a="http://schemas.openxmlformats.org/drawingml/2006/main">
              <a:ext uri="{FF2B5EF4-FFF2-40B4-BE49-F238E27FC236}">
                <a16:creationId xmlns:a16="http://schemas.microsoft.com/office/drawing/2014/main" id="{C19DA4FA-949E-4691-BEFD-6DF499ECA2D7}"/>
              </a:ext>
            </a:extLst>
          </p:cNvPr>
          <p:cNvSpPr>
            <a:spLocks xmlns:a="http://schemas.openxmlformats.org/drawingml/2006/main" noGrp="1"/>
          </p:cNvSpPr>
          <p:nvPr/>
        </p:nvSpPr>
        <p:spPr>
          <a:xfrm xmlns:a="http://schemas.openxmlformats.org/drawingml/2006/main">
            <a:off x="1369803" y="1289304"/>
            <a:ext cx="9467634" cy="3730752"/>
          </a:xfrm>
          <a:prstGeom xmlns:a="http://schemas.openxmlformats.org/drawingml/2006/main" prst="roundRect">
            <a:avLst>
              <a:gd name="adj" fmla="val 147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2c10e7b6faf646e9"/>
          <a:stretch xmlns:a="http://schemas.openxmlformats.org/drawingml/2006/main">
            <a:fillRect l="0" t="0" r="0" b="0"/>
          </a:stretch>
        </p:blipFill>
        <p:spPr>
          <a:xfrm xmlns:a="http://schemas.openxmlformats.org/drawingml/2006/main">
            <a:off x="1452099" y="1371600"/>
            <a:ext cx="9303042" cy="356616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126F325C-8DD4-4263-9C0B-267489C30319}"/>
              </a:ext>
            </a:extLst>
          </p:cNvPr>
          <p:cNvSpPr>
            <a:spLocks xmlns:a="http://schemas.openxmlformats.org/drawingml/2006/main" noGrp="1"/>
          </p:cNvSpPr>
          <p:nvPr/>
        </p:nvSpPr>
        <p:spPr>
          <a:xfrm xmlns:a="http://schemas.openxmlformats.org/drawingml/2006/main">
            <a:off x="640080" y="4983480"/>
            <a:ext cx="109270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Scoliosis, kyphosis, and lordosis</a:t>
            </a:r>
          </a:p>
        </p:txBody>
      </p:sp>
      <p:sp>
        <p:nvSpPr>
          <p:cNvPr id="7" name="Text 4">
            <a:extLst xmlns:a="http://schemas.openxmlformats.org/drawingml/2006/main">
              <a:ext uri="{FF2B5EF4-FFF2-40B4-BE49-F238E27FC236}">
                <a16:creationId xmlns:a16="http://schemas.microsoft.com/office/drawing/2014/main" id="{A6636C27-8AB5-4CBA-9B5E-0256C7BDFE5F}"/>
              </a:ext>
            </a:extLst>
          </p:cNvPr>
          <p:cNvSpPr>
            <a:spLocks xmlns:a="http://schemas.openxmlformats.org/drawingml/2006/main" noGrp="1"/>
          </p:cNvSpPr>
          <p:nvPr/>
        </p:nvSpPr>
        <p:spPr>
          <a:xfrm xmlns:a="http://schemas.openxmlformats.org/drawingml/2006/main">
            <a:off x="73152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Scoliosis: a sideways curvature</a:t>
            </a:r>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Kyphosis: exaggerated thoracic curve</a:t>
            </a:r>
          </a:p>
        </p:txBody>
      </p:sp>
      <p:sp>
        <p:nvSpPr>
          <p:cNvPr id="8" name="Text 5">
            <a:extLst xmlns:a="http://schemas.openxmlformats.org/drawingml/2006/main">
              <a:ext uri="{FF2B5EF4-FFF2-40B4-BE49-F238E27FC236}">
                <a16:creationId xmlns:a16="http://schemas.microsoft.com/office/drawing/2014/main" id="{ED8EAF1A-C2C1-4F35-BE89-AF09FE535ED0}"/>
              </a:ext>
            </a:extLst>
          </p:cNvPr>
          <p:cNvSpPr>
            <a:spLocks xmlns:a="http://schemas.openxmlformats.org/drawingml/2006/main" noGrp="1"/>
          </p:cNvSpPr>
          <p:nvPr/>
        </p:nvSpPr>
        <p:spPr>
          <a:xfrm xmlns:a="http://schemas.openxmlformats.org/drawingml/2006/main">
            <a:off x="626364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Lordosis: exaggerated lumbar curve</a:t>
            </a:r>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Affect posture and breathing</a:t>
            </a:r>
          </a:p>
        </p:txBody>
      </p:sp>
      <p:sp>
        <p:nvSpPr>
          <p:cNvPr id="10" name="Text 6">
            <a:extLst xmlns:a="http://schemas.openxmlformats.org/drawingml/2006/main">
              <a:ext uri="{FF2B5EF4-FFF2-40B4-BE49-F238E27FC236}">
                <a16:creationId xmlns:a16="http://schemas.microsoft.com/office/drawing/2014/main" id="{88D67FFF-5C44-451F-83F4-817AD800D133}"/>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7 — The Axial Skeleton</a:t>
            </a:r>
          </a:p>
        </p:txBody>
      </p:sp>
      <p:sp>
        <p:nvSpPr>
          <p:cNvPr id="11" name="Text 7">
            <a:extLst xmlns:a="http://schemas.openxmlformats.org/drawingml/2006/main">
              <a:ext uri="{FF2B5EF4-FFF2-40B4-BE49-F238E27FC236}">
                <a16:creationId xmlns:a16="http://schemas.microsoft.com/office/drawing/2014/main" id="{FCC4F1EB-1B23-4F73-84BB-062D10CD6F2F}"/>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13</a:t>
            </a:r>
          </a:p>
        </p:txBody>
      </p:sp>
    </p:spTree>
    <p:extLst>
      <p:ext uri="{BB962C8B-B14F-4D97-AF65-F5344CB8AC3E}">
        <p14:creationId xmlns:p14="http://schemas.microsoft.com/office/powerpoint/2010/main" val="44498579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FE525F9-F72B-43BD-A9B8-F8FBE548D44D}"/>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7.3</a:t>
            </a:r>
          </a:p>
        </p:txBody>
      </p:sp>
      <p:sp>
        <p:nvSpPr>
          <p:cNvPr id="3" name="Text 1">
            <a:extLst xmlns:a="http://schemas.openxmlformats.org/drawingml/2006/main">
              <a:ext uri="{FF2B5EF4-FFF2-40B4-BE49-F238E27FC236}">
                <a16:creationId xmlns:a16="http://schemas.microsoft.com/office/drawing/2014/main" id="{A62F6F6D-99F7-4AA1-81C7-14B9F7F47109}"/>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A Typical Vertebra</a:t>
            </a:r>
          </a:p>
        </p:txBody>
      </p:sp>
      <p:sp>
        <p:nvSpPr>
          <p:cNvPr id="4" name="Shape 2">
            <a:extLst xmlns:a="http://schemas.openxmlformats.org/drawingml/2006/main">
              <a:ext uri="{FF2B5EF4-FFF2-40B4-BE49-F238E27FC236}">
                <a16:creationId xmlns:a16="http://schemas.microsoft.com/office/drawing/2014/main" id="{2C786985-A1BC-4795-A75A-CB3146E4C352}"/>
              </a:ext>
            </a:extLst>
          </p:cNvPr>
          <p:cNvSpPr>
            <a:spLocks xmlns:a="http://schemas.openxmlformats.org/drawingml/2006/main" noGrp="1"/>
          </p:cNvSpPr>
          <p:nvPr/>
        </p:nvSpPr>
        <p:spPr>
          <a:xfrm xmlns:a="http://schemas.openxmlformats.org/drawingml/2006/main">
            <a:off x="1922201" y="1289304"/>
            <a:ext cx="8362837" cy="3730752"/>
          </a:xfrm>
          <a:prstGeom xmlns:a="http://schemas.openxmlformats.org/drawingml/2006/main" prst="roundRect">
            <a:avLst>
              <a:gd name="adj" fmla="val 147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0948a96af0784e71"/>
          <a:stretch xmlns:a="http://schemas.openxmlformats.org/drawingml/2006/main">
            <a:fillRect l="0" t="0" r="0" b="0"/>
          </a:stretch>
        </p:blipFill>
        <p:spPr>
          <a:xfrm xmlns:a="http://schemas.openxmlformats.org/drawingml/2006/main">
            <a:off x="2004497" y="1371600"/>
            <a:ext cx="8198245" cy="356616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B0103C21-42CB-4828-B638-76FB6B8A481B}"/>
              </a:ext>
            </a:extLst>
          </p:cNvPr>
          <p:cNvSpPr>
            <a:spLocks xmlns:a="http://schemas.openxmlformats.org/drawingml/2006/main" noGrp="1"/>
          </p:cNvSpPr>
          <p:nvPr/>
        </p:nvSpPr>
        <p:spPr>
          <a:xfrm xmlns:a="http://schemas.openxmlformats.org/drawingml/2006/main">
            <a:off x="640080" y="4983480"/>
            <a:ext cx="109270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structure of a typical vertebra</a:t>
            </a:r>
          </a:p>
        </p:txBody>
      </p:sp>
      <p:sp>
        <p:nvSpPr>
          <p:cNvPr id="7" name="Text 4">
            <a:extLst xmlns:a="http://schemas.openxmlformats.org/drawingml/2006/main">
              <a:ext uri="{FF2B5EF4-FFF2-40B4-BE49-F238E27FC236}">
                <a16:creationId xmlns:a16="http://schemas.microsoft.com/office/drawing/2014/main" id="{453F111C-BA29-4967-A8F2-6FA7A7699B2F}"/>
              </a:ext>
            </a:extLst>
          </p:cNvPr>
          <p:cNvSpPr>
            <a:spLocks xmlns:a="http://schemas.openxmlformats.org/drawingml/2006/main" noGrp="1"/>
          </p:cNvSpPr>
          <p:nvPr/>
        </p:nvSpPr>
        <p:spPr>
          <a:xfrm xmlns:a="http://schemas.openxmlformats.org/drawingml/2006/main">
            <a:off x="73152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Body bears weight in front</a:t>
            </a:r>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Vertebral arch surrounds the cord</a:t>
            </a:r>
          </a:p>
        </p:txBody>
      </p:sp>
      <p:sp>
        <p:nvSpPr>
          <p:cNvPr id="8" name="Text 5">
            <a:extLst xmlns:a="http://schemas.openxmlformats.org/drawingml/2006/main">
              <a:ext uri="{FF2B5EF4-FFF2-40B4-BE49-F238E27FC236}">
                <a16:creationId xmlns:a16="http://schemas.microsoft.com/office/drawing/2014/main" id="{4839171E-3639-4CE6-9E49-5FE3E1F0CBF6}"/>
              </a:ext>
            </a:extLst>
          </p:cNvPr>
          <p:cNvSpPr>
            <a:spLocks xmlns:a="http://schemas.openxmlformats.org/drawingml/2006/main" noGrp="1"/>
          </p:cNvSpPr>
          <p:nvPr/>
        </p:nvSpPr>
        <p:spPr>
          <a:xfrm xmlns:a="http://schemas.openxmlformats.org/drawingml/2006/main">
            <a:off x="626364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Spinous and transverse processes</a:t>
            </a:r>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Stacked foramina form the canal</a:t>
            </a:r>
          </a:p>
        </p:txBody>
      </p:sp>
      <p:sp>
        <p:nvSpPr>
          <p:cNvPr id="10" name="Text 6">
            <a:extLst xmlns:a="http://schemas.openxmlformats.org/drawingml/2006/main">
              <a:ext uri="{FF2B5EF4-FFF2-40B4-BE49-F238E27FC236}">
                <a16:creationId xmlns:a16="http://schemas.microsoft.com/office/drawing/2014/main" id="{1E9F2408-7CFA-4D6D-B46F-C99F67AF78C0}"/>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7 — The Axial Skeleton</a:t>
            </a:r>
          </a:p>
        </p:txBody>
      </p:sp>
      <p:sp>
        <p:nvSpPr>
          <p:cNvPr id="11" name="Text 7">
            <a:extLst xmlns:a="http://schemas.openxmlformats.org/drawingml/2006/main">
              <a:ext uri="{FF2B5EF4-FFF2-40B4-BE49-F238E27FC236}">
                <a16:creationId xmlns:a16="http://schemas.microsoft.com/office/drawing/2014/main" id="{5E3C8303-88FA-4A1B-B042-AD1807C1B56E}"/>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14</a:t>
            </a:r>
          </a:p>
        </p:txBody>
      </p:sp>
    </p:spTree>
    <p:extLst>
      <p:ext uri="{BB962C8B-B14F-4D97-AF65-F5344CB8AC3E}">
        <p14:creationId xmlns:p14="http://schemas.microsoft.com/office/powerpoint/2010/main" val="157610347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D517A0A-95D1-47BF-BF4E-29137A1CC53E}"/>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7.3</a:t>
            </a:r>
          </a:p>
        </p:txBody>
      </p:sp>
      <p:sp>
        <p:nvSpPr>
          <p:cNvPr id="3" name="Text 1">
            <a:extLst xmlns:a="http://schemas.openxmlformats.org/drawingml/2006/main">
              <a:ext uri="{FF2B5EF4-FFF2-40B4-BE49-F238E27FC236}">
                <a16:creationId xmlns:a16="http://schemas.microsoft.com/office/drawing/2014/main" id="{FD31EA62-7508-411D-BFF9-7B230E3AC585}"/>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Intervertebral Discs</a:t>
            </a:r>
          </a:p>
        </p:txBody>
      </p:sp>
      <p:sp>
        <p:nvSpPr>
          <p:cNvPr id="4" name="Shape 2">
            <a:extLst xmlns:a="http://schemas.openxmlformats.org/drawingml/2006/main">
              <a:ext uri="{FF2B5EF4-FFF2-40B4-BE49-F238E27FC236}">
                <a16:creationId xmlns:a16="http://schemas.microsoft.com/office/drawing/2014/main" id="{1F1140BE-CAC3-472C-A6F9-CF5406FAF931}"/>
              </a:ext>
            </a:extLst>
          </p:cNvPr>
          <p:cNvSpPr>
            <a:spLocks xmlns:a="http://schemas.openxmlformats.org/drawingml/2006/main" noGrp="1"/>
          </p:cNvSpPr>
          <p:nvPr/>
        </p:nvSpPr>
        <p:spPr>
          <a:xfrm xmlns:a="http://schemas.openxmlformats.org/drawingml/2006/main">
            <a:off x="2235667" y="1289304"/>
            <a:ext cx="7735906" cy="3730752"/>
          </a:xfrm>
          <a:prstGeom xmlns:a="http://schemas.openxmlformats.org/drawingml/2006/main" prst="roundRect">
            <a:avLst>
              <a:gd name="adj" fmla="val 147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53a8b8bea6af4c33"/>
          <a:stretch xmlns:a="http://schemas.openxmlformats.org/drawingml/2006/main">
            <a:fillRect l="0" t="0" r="0" b="0"/>
          </a:stretch>
        </p:blipFill>
        <p:spPr>
          <a:xfrm xmlns:a="http://schemas.openxmlformats.org/drawingml/2006/main">
            <a:off x="2317963" y="1371600"/>
            <a:ext cx="7571314" cy="356616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EFB4E89F-3171-4D20-987A-7283591D0C89}"/>
              </a:ext>
            </a:extLst>
          </p:cNvPr>
          <p:cNvSpPr>
            <a:spLocks xmlns:a="http://schemas.openxmlformats.org/drawingml/2006/main" noGrp="1"/>
          </p:cNvSpPr>
          <p:nvPr/>
        </p:nvSpPr>
        <p:spPr>
          <a:xfrm xmlns:a="http://schemas.openxmlformats.org/drawingml/2006/main">
            <a:off x="640080" y="4983480"/>
            <a:ext cx="109270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An intervertebral disc</a:t>
            </a:r>
          </a:p>
        </p:txBody>
      </p:sp>
      <p:sp>
        <p:nvSpPr>
          <p:cNvPr id="7" name="Text 4">
            <a:extLst xmlns:a="http://schemas.openxmlformats.org/drawingml/2006/main">
              <a:ext uri="{FF2B5EF4-FFF2-40B4-BE49-F238E27FC236}">
                <a16:creationId xmlns:a16="http://schemas.microsoft.com/office/drawing/2014/main" id="{65A94098-FC05-4467-846B-133F8CF8C119}"/>
              </a:ext>
            </a:extLst>
          </p:cNvPr>
          <p:cNvSpPr>
            <a:spLocks xmlns:a="http://schemas.openxmlformats.org/drawingml/2006/main" noGrp="1"/>
          </p:cNvSpPr>
          <p:nvPr/>
        </p:nvSpPr>
        <p:spPr>
          <a:xfrm xmlns:a="http://schemas.openxmlformats.org/drawingml/2006/main">
            <a:off x="73152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Cushions between vertebral bodies</a:t>
            </a:r>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Tough outer ring (annulus fibrosus)</a:t>
            </a:r>
          </a:p>
        </p:txBody>
      </p:sp>
      <p:sp>
        <p:nvSpPr>
          <p:cNvPr id="8" name="Text 5">
            <a:extLst xmlns:a="http://schemas.openxmlformats.org/drawingml/2006/main">
              <a:ext uri="{FF2B5EF4-FFF2-40B4-BE49-F238E27FC236}">
                <a16:creationId xmlns:a16="http://schemas.microsoft.com/office/drawing/2014/main" id="{A6F3451C-F573-47DC-ACA0-D2950DA168CD}"/>
              </a:ext>
            </a:extLst>
          </p:cNvPr>
          <p:cNvSpPr>
            <a:spLocks xmlns:a="http://schemas.openxmlformats.org/drawingml/2006/main" noGrp="1"/>
          </p:cNvSpPr>
          <p:nvPr/>
        </p:nvSpPr>
        <p:spPr>
          <a:xfrm xmlns:a="http://schemas.openxmlformats.org/drawingml/2006/main">
            <a:off x="626364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Gel-like center (nucleus pulposus)</a:t>
            </a:r>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Absorb shock and allow movement</a:t>
            </a:r>
          </a:p>
        </p:txBody>
      </p:sp>
      <p:sp>
        <p:nvSpPr>
          <p:cNvPr id="10" name="Text 6">
            <a:extLst xmlns:a="http://schemas.openxmlformats.org/drawingml/2006/main">
              <a:ext uri="{FF2B5EF4-FFF2-40B4-BE49-F238E27FC236}">
                <a16:creationId xmlns:a16="http://schemas.microsoft.com/office/drawing/2014/main" id="{77A13693-E1AF-4B9F-A67E-A1859FD00C22}"/>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7 — The Axial Skeleton</a:t>
            </a:r>
          </a:p>
        </p:txBody>
      </p:sp>
      <p:sp>
        <p:nvSpPr>
          <p:cNvPr id="11" name="Text 7">
            <a:extLst xmlns:a="http://schemas.openxmlformats.org/drawingml/2006/main">
              <a:ext uri="{FF2B5EF4-FFF2-40B4-BE49-F238E27FC236}">
                <a16:creationId xmlns:a16="http://schemas.microsoft.com/office/drawing/2014/main" id="{71BF7462-8719-422A-8517-0757E57BFF85}"/>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15</a:t>
            </a:r>
          </a:p>
        </p:txBody>
      </p:sp>
    </p:spTree>
    <p:extLst>
      <p:ext uri="{BB962C8B-B14F-4D97-AF65-F5344CB8AC3E}">
        <p14:creationId xmlns:p14="http://schemas.microsoft.com/office/powerpoint/2010/main" val="213411595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121BAEF-C806-4976-955F-DA81D857A93F}"/>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7.3</a:t>
            </a:r>
          </a:p>
        </p:txBody>
      </p:sp>
      <p:sp>
        <p:nvSpPr>
          <p:cNvPr id="3" name="Text 1">
            <a:extLst xmlns:a="http://schemas.openxmlformats.org/drawingml/2006/main">
              <a:ext uri="{FF2B5EF4-FFF2-40B4-BE49-F238E27FC236}">
                <a16:creationId xmlns:a16="http://schemas.microsoft.com/office/drawing/2014/main" id="{083C3C7C-86C4-44EA-902D-22E3FE4CA267}"/>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Herniated Disc</a:t>
            </a:r>
          </a:p>
        </p:txBody>
      </p:sp>
      <p:sp>
        <p:nvSpPr>
          <p:cNvPr id="4" name="Shape 2">
            <a:extLst xmlns:a="http://schemas.openxmlformats.org/drawingml/2006/main">
              <a:ext uri="{FF2B5EF4-FFF2-40B4-BE49-F238E27FC236}">
                <a16:creationId xmlns:a16="http://schemas.microsoft.com/office/drawing/2014/main" id="{BB4B37AA-933D-4C12-8BD6-7F1BFF30DC6C}"/>
              </a:ext>
            </a:extLst>
          </p:cNvPr>
          <p:cNvSpPr>
            <a:spLocks xmlns:a="http://schemas.openxmlformats.org/drawingml/2006/main" noGrp="1"/>
          </p:cNvSpPr>
          <p:nvPr/>
        </p:nvSpPr>
        <p:spPr>
          <a:xfrm xmlns:a="http://schemas.openxmlformats.org/drawingml/2006/main">
            <a:off x="2515254" y="1289304"/>
            <a:ext cx="7176732" cy="3730752"/>
          </a:xfrm>
          <a:prstGeom xmlns:a="http://schemas.openxmlformats.org/drawingml/2006/main" prst="roundRect">
            <a:avLst>
              <a:gd name="adj" fmla="val 147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7b70a454584d4fac"/>
          <a:stretch xmlns:a="http://schemas.openxmlformats.org/drawingml/2006/main">
            <a:fillRect l="0" t="0" r="0" b="0"/>
          </a:stretch>
        </p:blipFill>
        <p:spPr>
          <a:xfrm xmlns:a="http://schemas.openxmlformats.org/drawingml/2006/main">
            <a:off x="2597550" y="1371600"/>
            <a:ext cx="7012140" cy="356616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B37650D9-C6C7-47A6-AE84-9CC4D37399B0}"/>
              </a:ext>
            </a:extLst>
          </p:cNvPr>
          <p:cNvSpPr>
            <a:spLocks xmlns:a="http://schemas.openxmlformats.org/drawingml/2006/main" noGrp="1"/>
          </p:cNvSpPr>
          <p:nvPr/>
        </p:nvSpPr>
        <p:spPr>
          <a:xfrm xmlns:a="http://schemas.openxmlformats.org/drawingml/2006/main">
            <a:off x="640080" y="4983480"/>
            <a:ext cx="109270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A herniated intervertebral disc</a:t>
            </a:r>
          </a:p>
        </p:txBody>
      </p:sp>
      <p:sp>
        <p:nvSpPr>
          <p:cNvPr id="7" name="Text 4">
            <a:extLst xmlns:a="http://schemas.openxmlformats.org/drawingml/2006/main">
              <a:ext uri="{FF2B5EF4-FFF2-40B4-BE49-F238E27FC236}">
                <a16:creationId xmlns:a16="http://schemas.microsoft.com/office/drawing/2014/main" id="{0FA66869-A6F8-4B92-8A1B-AB325FA249CE}"/>
              </a:ext>
            </a:extLst>
          </p:cNvPr>
          <p:cNvSpPr>
            <a:spLocks xmlns:a="http://schemas.openxmlformats.org/drawingml/2006/main" noGrp="1"/>
          </p:cNvSpPr>
          <p:nvPr/>
        </p:nvSpPr>
        <p:spPr>
          <a:xfrm xmlns:a="http://schemas.openxmlformats.org/drawingml/2006/main">
            <a:off x="73152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Nucleus pushes through the annulus</a:t>
            </a:r>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Can compress spinal nerves</a:t>
            </a:r>
          </a:p>
        </p:txBody>
      </p:sp>
      <p:sp>
        <p:nvSpPr>
          <p:cNvPr id="8" name="Text 5">
            <a:extLst xmlns:a="http://schemas.openxmlformats.org/drawingml/2006/main">
              <a:ext uri="{FF2B5EF4-FFF2-40B4-BE49-F238E27FC236}">
                <a16:creationId xmlns:a16="http://schemas.microsoft.com/office/drawing/2014/main" id="{198BA988-2124-4C23-B976-51E4B6E223D5}"/>
              </a:ext>
            </a:extLst>
          </p:cNvPr>
          <p:cNvSpPr>
            <a:spLocks xmlns:a="http://schemas.openxmlformats.org/drawingml/2006/main" noGrp="1"/>
          </p:cNvSpPr>
          <p:nvPr/>
        </p:nvSpPr>
        <p:spPr>
          <a:xfrm xmlns:a="http://schemas.openxmlformats.org/drawingml/2006/main">
            <a:off x="626364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Causes pain, numbness, weakness</a:t>
            </a:r>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Common in the lumbar spine</a:t>
            </a:r>
          </a:p>
        </p:txBody>
      </p:sp>
      <p:sp>
        <p:nvSpPr>
          <p:cNvPr id="10" name="Text 6">
            <a:extLst xmlns:a="http://schemas.openxmlformats.org/drawingml/2006/main">
              <a:ext uri="{FF2B5EF4-FFF2-40B4-BE49-F238E27FC236}">
                <a16:creationId xmlns:a16="http://schemas.microsoft.com/office/drawing/2014/main" id="{3A71B33A-A3AE-46E6-BB83-BD26350A527D}"/>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7 — The Axial Skeleton</a:t>
            </a:r>
          </a:p>
        </p:txBody>
      </p:sp>
      <p:sp>
        <p:nvSpPr>
          <p:cNvPr id="11" name="Text 7">
            <a:extLst xmlns:a="http://schemas.openxmlformats.org/drawingml/2006/main">
              <a:ext uri="{FF2B5EF4-FFF2-40B4-BE49-F238E27FC236}">
                <a16:creationId xmlns:a16="http://schemas.microsoft.com/office/drawing/2014/main" id="{DE3E2A9E-6C97-469C-9EEB-6F9E7C1552D2}"/>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16</a:t>
            </a:r>
          </a:p>
        </p:txBody>
      </p:sp>
    </p:spTree>
    <p:extLst>
      <p:ext uri="{BB962C8B-B14F-4D97-AF65-F5344CB8AC3E}">
        <p14:creationId xmlns:p14="http://schemas.microsoft.com/office/powerpoint/2010/main" val="868007714"/>
      </p:ext>
    </p:extLst>
  </p:cSld>
</p:sld>
</file>

<file path=ppt/slides/slide17.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38241E6-93AA-4963-991D-158A0C36D789}"/>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12A94E7F-E47B-4A23-83A2-64115EC2CE17}"/>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800" b="1">
                <a:solidFill>
                  <a:srgbClr val="FFFFFF"/>
                </a:solidFill>
                <a:latin typeface="Georgia"/>
                <a:ea typeface="Georgia"/>
                <a:cs typeface="Georgia"/>
              </a:rPr>
              <a:t>7.4</a:t>
            </a:r>
          </a:p>
        </p:txBody>
      </p:sp>
      <p:sp>
        <p:nvSpPr>
          <p:cNvPr id="4" name="Text 2">
            <a:extLst xmlns:a="http://schemas.openxmlformats.org/drawingml/2006/main">
              <a:ext uri="{FF2B5EF4-FFF2-40B4-BE49-F238E27FC236}">
                <a16:creationId xmlns:a16="http://schemas.microsoft.com/office/drawing/2014/main" id="{F5638FBD-9BA7-438F-9B44-E8CFA8211C5E}"/>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p>
        </p:txBody>
      </p:sp>
      <p:sp>
        <p:nvSpPr>
          <p:cNvPr id="5" name="Text 3">
            <a:extLst xmlns:a="http://schemas.openxmlformats.org/drawingml/2006/main">
              <a:ext uri="{FF2B5EF4-FFF2-40B4-BE49-F238E27FC236}">
                <a16:creationId xmlns:a16="http://schemas.microsoft.com/office/drawing/2014/main" id="{C002C990-679B-44BE-80BC-3C051C92716D}"/>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000" b="1">
                <a:solidFill>
                  <a:srgbClr val="FFFFFF"/>
                </a:solidFill>
                <a:latin typeface="Georgia"/>
                <a:ea typeface="Georgia"/>
                <a:cs typeface="Georgia"/>
              </a:rPr>
              <a:t>The Thoracic Cage</a:t>
            </a:r>
          </a:p>
        </p:txBody>
      </p:sp>
      <p:sp>
        <p:nvSpPr>
          <p:cNvPr id="6" name="Text 4">
            <a:extLst xmlns:a="http://schemas.openxmlformats.org/drawingml/2006/main">
              <a:ext uri="{FF2B5EF4-FFF2-40B4-BE49-F238E27FC236}">
                <a16:creationId xmlns:a16="http://schemas.microsoft.com/office/drawing/2014/main" id="{355FFA78-0B66-4965-92EF-642FA0DABC1F}"/>
              </a:ext>
            </a:extLst>
          </p:cNvPr>
          <p:cNvSpPr>
            <a:spLocks xmlns:a="http://schemas.openxmlformats.org/drawingml/2006/main" noGrp="1"/>
          </p:cNvSpPr>
          <p:nvPr/>
        </p:nvSpPr>
        <p:spPr>
          <a:xfrm xmlns:a="http://schemas.openxmlformats.org/drawingml/2006/main">
            <a:off x="3200400" y="416052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The sternum and ribs that protect the heart and lungs and aid breathing.</a:t>
            </a:r>
          </a:p>
        </p:txBody>
      </p:sp>
    </p:spTree>
    <p:extLst>
      <p:ext uri="{BB962C8B-B14F-4D97-AF65-F5344CB8AC3E}">
        <p14:creationId xmlns:p14="http://schemas.microsoft.com/office/powerpoint/2010/main" val="193787148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33940AE-4C37-4D2C-AB73-479D21490AEC}"/>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7.4</a:t>
            </a:r>
          </a:p>
        </p:txBody>
      </p:sp>
      <p:sp>
        <p:nvSpPr>
          <p:cNvPr id="3" name="Text 1">
            <a:extLst xmlns:a="http://schemas.openxmlformats.org/drawingml/2006/main">
              <a:ext uri="{FF2B5EF4-FFF2-40B4-BE49-F238E27FC236}">
                <a16:creationId xmlns:a16="http://schemas.microsoft.com/office/drawing/2014/main" id="{264322E1-240D-4463-B306-CF8DF4AC02ED}"/>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The Thoracic Cage</a:t>
            </a:r>
          </a:p>
        </p:txBody>
      </p:sp>
      <p:sp>
        <p:nvSpPr>
          <p:cNvPr id="4" name="Shape 2">
            <a:extLst xmlns:a="http://schemas.openxmlformats.org/drawingml/2006/main">
              <a:ext uri="{FF2B5EF4-FFF2-40B4-BE49-F238E27FC236}">
                <a16:creationId xmlns:a16="http://schemas.microsoft.com/office/drawing/2014/main" id="{E1968ED6-58B6-4DCA-8180-6A47FBCCCB47}"/>
              </a:ext>
            </a:extLst>
          </p:cNvPr>
          <p:cNvSpPr>
            <a:spLocks xmlns:a="http://schemas.openxmlformats.org/drawingml/2006/main" noGrp="1"/>
          </p:cNvSpPr>
          <p:nvPr/>
        </p:nvSpPr>
        <p:spPr>
          <a:xfrm xmlns:a="http://schemas.openxmlformats.org/drawingml/2006/main">
            <a:off x="3007384" y="1289304"/>
            <a:ext cx="6192472" cy="3730752"/>
          </a:xfrm>
          <a:prstGeom xmlns:a="http://schemas.openxmlformats.org/drawingml/2006/main" prst="roundRect">
            <a:avLst>
              <a:gd name="adj" fmla="val 147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ef7524e7f44e435c"/>
          <a:stretch xmlns:a="http://schemas.openxmlformats.org/drawingml/2006/main">
            <a:fillRect l="0" t="0" r="0" b="0"/>
          </a:stretch>
        </p:blipFill>
        <p:spPr>
          <a:xfrm xmlns:a="http://schemas.openxmlformats.org/drawingml/2006/main">
            <a:off x="3089680" y="1371600"/>
            <a:ext cx="6027880" cy="356616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E47B0EC5-5733-4CDD-B02D-C3A3A7C54E56}"/>
              </a:ext>
            </a:extLst>
          </p:cNvPr>
          <p:cNvSpPr>
            <a:spLocks xmlns:a="http://schemas.openxmlformats.org/drawingml/2006/main" noGrp="1"/>
          </p:cNvSpPr>
          <p:nvPr/>
        </p:nvSpPr>
        <p:spPr>
          <a:xfrm xmlns:a="http://schemas.openxmlformats.org/drawingml/2006/main">
            <a:off x="640080" y="4983480"/>
            <a:ext cx="109270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thoracic cage (sternum and ribs)</a:t>
            </a:r>
          </a:p>
        </p:txBody>
      </p:sp>
      <p:sp>
        <p:nvSpPr>
          <p:cNvPr id="7" name="Text 4">
            <a:extLst xmlns:a="http://schemas.openxmlformats.org/drawingml/2006/main">
              <a:ext uri="{FF2B5EF4-FFF2-40B4-BE49-F238E27FC236}">
                <a16:creationId xmlns:a16="http://schemas.microsoft.com/office/drawing/2014/main" id="{A1E4F3FF-727F-4A02-94CE-7BE2873A885C}"/>
              </a:ext>
            </a:extLst>
          </p:cNvPr>
          <p:cNvSpPr>
            <a:spLocks xmlns:a="http://schemas.openxmlformats.org/drawingml/2006/main" noGrp="1"/>
          </p:cNvSpPr>
          <p:nvPr/>
        </p:nvSpPr>
        <p:spPr>
          <a:xfrm xmlns:a="http://schemas.openxmlformats.org/drawingml/2006/main">
            <a:off x="73152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Sternum plus 12 pairs of ribs</a:t>
            </a:r>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True, false, and floating ribs</a:t>
            </a:r>
          </a:p>
        </p:txBody>
      </p:sp>
      <p:sp>
        <p:nvSpPr>
          <p:cNvPr id="8" name="Text 5">
            <a:extLst xmlns:a="http://schemas.openxmlformats.org/drawingml/2006/main">
              <a:ext uri="{FF2B5EF4-FFF2-40B4-BE49-F238E27FC236}">
                <a16:creationId xmlns:a16="http://schemas.microsoft.com/office/drawing/2014/main" id="{3662AA21-08B8-46DE-B566-A9D508953EB3}"/>
              </a:ext>
            </a:extLst>
          </p:cNvPr>
          <p:cNvSpPr>
            <a:spLocks xmlns:a="http://schemas.openxmlformats.org/drawingml/2006/main" noGrp="1"/>
          </p:cNvSpPr>
          <p:nvPr/>
        </p:nvSpPr>
        <p:spPr>
          <a:xfrm xmlns:a="http://schemas.openxmlformats.org/drawingml/2006/main">
            <a:off x="626364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Protects the heart and lungs</a:t>
            </a:r>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Moves to enable breathing</a:t>
            </a:r>
          </a:p>
        </p:txBody>
      </p:sp>
      <p:sp>
        <p:nvSpPr>
          <p:cNvPr id="10" name="Text 6">
            <a:extLst xmlns:a="http://schemas.openxmlformats.org/drawingml/2006/main">
              <a:ext uri="{FF2B5EF4-FFF2-40B4-BE49-F238E27FC236}">
                <a16:creationId xmlns:a16="http://schemas.microsoft.com/office/drawing/2014/main" id="{2B865BE5-4B62-4605-A369-370C6D6A6348}"/>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7 — The Axial Skeleton</a:t>
            </a:r>
          </a:p>
        </p:txBody>
      </p:sp>
      <p:sp>
        <p:nvSpPr>
          <p:cNvPr id="11" name="Text 7">
            <a:extLst xmlns:a="http://schemas.openxmlformats.org/drawingml/2006/main">
              <a:ext uri="{FF2B5EF4-FFF2-40B4-BE49-F238E27FC236}">
                <a16:creationId xmlns:a16="http://schemas.microsoft.com/office/drawing/2014/main" id="{BE3D57AE-7084-4054-A511-CE76CDF68467}"/>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18</a:t>
            </a:r>
          </a:p>
        </p:txBody>
      </p:sp>
    </p:spTree>
    <p:extLst>
      <p:ext uri="{BB962C8B-B14F-4D97-AF65-F5344CB8AC3E}">
        <p14:creationId xmlns:p14="http://schemas.microsoft.com/office/powerpoint/2010/main" val="653083597"/>
      </p:ext>
    </p:extLst>
  </p:cSld>
</p:sld>
</file>

<file path=ppt/slides/slide19.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AB1AD32-AF52-4970-8336-E5E032E79130}"/>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73DD35FA-8B21-4771-AFD5-0227790C401F}"/>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800" b="1">
                <a:solidFill>
                  <a:srgbClr val="FFFFFF"/>
                </a:solidFill>
                <a:latin typeface="Georgia"/>
                <a:ea typeface="Georgia"/>
                <a:cs typeface="Georgia"/>
              </a:rPr>
              <a:t>7.5</a:t>
            </a:r>
          </a:p>
        </p:txBody>
      </p:sp>
      <p:sp>
        <p:nvSpPr>
          <p:cNvPr id="4" name="Text 2">
            <a:extLst xmlns:a="http://schemas.openxmlformats.org/drawingml/2006/main">
              <a:ext uri="{FF2B5EF4-FFF2-40B4-BE49-F238E27FC236}">
                <a16:creationId xmlns:a16="http://schemas.microsoft.com/office/drawing/2014/main" id="{E674DC71-9519-4AD4-9097-1D0DC514EC54}"/>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p>
        </p:txBody>
      </p:sp>
      <p:sp>
        <p:nvSpPr>
          <p:cNvPr id="5" name="Text 3">
            <a:extLst xmlns:a="http://schemas.openxmlformats.org/drawingml/2006/main">
              <a:ext uri="{FF2B5EF4-FFF2-40B4-BE49-F238E27FC236}">
                <a16:creationId xmlns:a16="http://schemas.microsoft.com/office/drawing/2014/main" id="{2645B62F-6CB4-479E-B35D-51F2A996F68B}"/>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000" b="1">
                <a:solidFill>
                  <a:srgbClr val="FFFFFF"/>
                </a:solidFill>
                <a:latin typeface="Georgia"/>
                <a:ea typeface="Georgia"/>
                <a:cs typeface="Georgia"/>
              </a:rPr>
              <a:t>Embryonic Development of the Axial Skeleton</a:t>
            </a:r>
          </a:p>
        </p:txBody>
      </p:sp>
      <p:sp>
        <p:nvSpPr>
          <p:cNvPr id="6" name="Text 4">
            <a:extLst xmlns:a="http://schemas.openxmlformats.org/drawingml/2006/main">
              <a:ext uri="{FF2B5EF4-FFF2-40B4-BE49-F238E27FC236}">
                <a16:creationId xmlns:a16="http://schemas.microsoft.com/office/drawing/2014/main" id="{5444C3F7-BA36-42DB-8647-F0ABC5363C20}"/>
              </a:ext>
            </a:extLst>
          </p:cNvPr>
          <p:cNvSpPr>
            <a:spLocks xmlns:a="http://schemas.openxmlformats.org/drawingml/2006/main" noGrp="1"/>
          </p:cNvSpPr>
          <p:nvPr/>
        </p:nvSpPr>
        <p:spPr>
          <a:xfrm xmlns:a="http://schemas.openxmlformats.org/drawingml/2006/main">
            <a:off x="3200400" y="416052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How the skull and spine form before birth and in infancy.</a:t>
            </a:r>
          </a:p>
        </p:txBody>
      </p:sp>
    </p:spTree>
    <p:extLst>
      <p:ext uri="{BB962C8B-B14F-4D97-AF65-F5344CB8AC3E}">
        <p14:creationId xmlns:p14="http://schemas.microsoft.com/office/powerpoint/2010/main" val="45227715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F15DF3E-0B32-4306-9E9E-C23B22098AFC}"/>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7.5</a:t>
            </a:r>
          </a:p>
        </p:txBody>
      </p:sp>
      <p:sp>
        <p:nvSpPr>
          <p:cNvPr id="3" name="Text 1">
            <a:extLst xmlns:a="http://schemas.openxmlformats.org/drawingml/2006/main">
              <a:ext uri="{FF2B5EF4-FFF2-40B4-BE49-F238E27FC236}">
                <a16:creationId xmlns:a16="http://schemas.microsoft.com/office/drawing/2014/main" id="{8E6B0973-409C-41D0-BDFE-8D580073447C}"/>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Fontanelles &amp; Skull Development</a:t>
            </a:r>
          </a:p>
        </p:txBody>
      </p:sp>
      <p:sp>
        <p:nvSpPr>
          <p:cNvPr id="4" name="Shape 2">
            <a:extLst xmlns:a="http://schemas.openxmlformats.org/drawingml/2006/main">
              <a:ext uri="{FF2B5EF4-FFF2-40B4-BE49-F238E27FC236}">
                <a16:creationId xmlns:a16="http://schemas.microsoft.com/office/drawing/2014/main" id="{272C46EB-31C8-445A-B638-1CF1FBF2C872}"/>
              </a:ext>
            </a:extLst>
          </p:cNvPr>
          <p:cNvSpPr>
            <a:spLocks xmlns:a="http://schemas.openxmlformats.org/drawingml/2006/main" noGrp="1"/>
          </p:cNvSpPr>
          <p:nvPr/>
        </p:nvSpPr>
        <p:spPr>
          <a:xfrm xmlns:a="http://schemas.openxmlformats.org/drawingml/2006/main">
            <a:off x="725041" y="1289304"/>
            <a:ext cx="10757157" cy="3730752"/>
          </a:xfrm>
          <a:prstGeom xmlns:a="http://schemas.openxmlformats.org/drawingml/2006/main" prst="roundRect">
            <a:avLst>
              <a:gd name="adj" fmla="val 147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b4abe1c50a3548cb"/>
          <a:stretch xmlns:a="http://schemas.openxmlformats.org/drawingml/2006/main">
            <a:fillRect l="0" t="0" r="0" b="0"/>
          </a:stretch>
        </p:blipFill>
        <p:spPr>
          <a:xfrm xmlns:a="http://schemas.openxmlformats.org/drawingml/2006/main">
            <a:off x="807337" y="1371600"/>
            <a:ext cx="10592565" cy="356616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BA275EEE-FAC4-4701-819B-6DD3D0AC8456}"/>
              </a:ext>
            </a:extLst>
          </p:cNvPr>
          <p:cNvSpPr>
            <a:spLocks xmlns:a="http://schemas.openxmlformats.org/drawingml/2006/main" noGrp="1"/>
          </p:cNvSpPr>
          <p:nvPr/>
        </p:nvSpPr>
        <p:spPr>
          <a:xfrm xmlns:a="http://schemas.openxmlformats.org/drawingml/2006/main">
            <a:off x="640080" y="4983480"/>
            <a:ext cx="109270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Fontanelles of the newborn skull</a:t>
            </a:r>
          </a:p>
        </p:txBody>
      </p:sp>
      <p:sp>
        <p:nvSpPr>
          <p:cNvPr id="7" name="Text 4">
            <a:extLst xmlns:a="http://schemas.openxmlformats.org/drawingml/2006/main">
              <a:ext uri="{FF2B5EF4-FFF2-40B4-BE49-F238E27FC236}">
                <a16:creationId xmlns:a16="http://schemas.microsoft.com/office/drawing/2014/main" id="{29E66178-3C93-42E2-BC09-E4618FFB7322}"/>
              </a:ext>
            </a:extLst>
          </p:cNvPr>
          <p:cNvSpPr>
            <a:spLocks xmlns:a="http://schemas.openxmlformats.org/drawingml/2006/main" noGrp="1"/>
          </p:cNvSpPr>
          <p:nvPr/>
        </p:nvSpPr>
        <p:spPr>
          <a:xfrm xmlns:a="http://schemas.openxmlformats.org/drawingml/2006/main">
            <a:off x="73152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Infant skull bones are not yet fused</a:t>
            </a:r>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Fontanelles ("soft spots") remain</a:t>
            </a:r>
          </a:p>
        </p:txBody>
      </p:sp>
      <p:sp>
        <p:nvSpPr>
          <p:cNvPr id="8" name="Text 5">
            <a:extLst xmlns:a="http://schemas.openxmlformats.org/drawingml/2006/main">
              <a:ext uri="{FF2B5EF4-FFF2-40B4-BE49-F238E27FC236}">
                <a16:creationId xmlns:a16="http://schemas.microsoft.com/office/drawing/2014/main" id="{49A0E5AC-C191-4091-9A9A-032ADD9EFF01}"/>
              </a:ext>
            </a:extLst>
          </p:cNvPr>
          <p:cNvSpPr>
            <a:spLocks xmlns:a="http://schemas.openxmlformats.org/drawingml/2006/main" noGrp="1"/>
          </p:cNvSpPr>
          <p:nvPr/>
        </p:nvSpPr>
        <p:spPr>
          <a:xfrm xmlns:a="http://schemas.openxmlformats.org/drawingml/2006/main">
            <a:off x="626364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Allow birth passage and brain growth</a:t>
            </a:r>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Close over the first two years</a:t>
            </a:r>
          </a:p>
        </p:txBody>
      </p:sp>
      <p:sp>
        <p:nvSpPr>
          <p:cNvPr id="10" name="Text 6">
            <a:extLst xmlns:a="http://schemas.openxmlformats.org/drawingml/2006/main">
              <a:ext uri="{FF2B5EF4-FFF2-40B4-BE49-F238E27FC236}">
                <a16:creationId xmlns:a16="http://schemas.microsoft.com/office/drawing/2014/main" id="{D28E2FAC-B42A-4C75-BCF2-E2985C8300DA}"/>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7 — The Axial Skeleton</a:t>
            </a:r>
          </a:p>
        </p:txBody>
      </p:sp>
      <p:sp>
        <p:nvSpPr>
          <p:cNvPr id="11" name="Text 7">
            <a:extLst xmlns:a="http://schemas.openxmlformats.org/drawingml/2006/main">
              <a:ext uri="{FF2B5EF4-FFF2-40B4-BE49-F238E27FC236}">
                <a16:creationId xmlns:a16="http://schemas.microsoft.com/office/drawing/2014/main" id="{1F9D8C1E-F42D-41EF-9100-9ADD8E8C4C76}"/>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20</a:t>
            </a:r>
          </a:p>
        </p:txBody>
      </p:sp>
    </p:spTree>
    <p:extLst>
      <p:ext uri="{BB962C8B-B14F-4D97-AF65-F5344CB8AC3E}">
        <p14:creationId xmlns:p14="http://schemas.microsoft.com/office/powerpoint/2010/main" val="72105783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313127C-CC9A-46B1-B11C-FEC63A78D738}"/>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CHAPTER 7</a:t>
            </a:r>
          </a:p>
        </p:txBody>
      </p:sp>
      <p:sp>
        <p:nvSpPr>
          <p:cNvPr id="3" name="Text 1">
            <a:extLst xmlns:a="http://schemas.openxmlformats.org/drawingml/2006/main">
              <a:ext uri="{FF2B5EF4-FFF2-40B4-BE49-F238E27FC236}">
                <a16:creationId xmlns:a16="http://schemas.microsoft.com/office/drawing/2014/main" id="{2F2DF57D-0018-4DCB-8793-CB7725D1D8E1}"/>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Key Takeaways</a:t>
            </a:r>
          </a:p>
        </p:txBody>
      </p:sp>
      <p:sp>
        <p:nvSpPr>
          <p:cNvPr id="4" name="Shape 2">
            <a:extLst xmlns:a="http://schemas.openxmlformats.org/drawingml/2006/main">
              <a:ext uri="{FF2B5EF4-FFF2-40B4-BE49-F238E27FC236}">
                <a16:creationId xmlns:a16="http://schemas.microsoft.com/office/drawing/2014/main" id="{3436DE36-7760-4529-8C60-F5D77297DF21}"/>
              </a:ext>
            </a:extLst>
          </p:cNvPr>
          <p:cNvSpPr>
            <a:spLocks xmlns:a="http://schemas.openxmlformats.org/drawingml/2006/main" noGrp="1"/>
          </p:cNvSpPr>
          <p:nvPr/>
        </p:nvSpPr>
        <p:spPr>
          <a:xfrm xmlns:a="http://schemas.openxmlformats.org/drawingml/2006/main">
            <a:off x="548640" y="1819656"/>
            <a:ext cx="237744" cy="237744"/>
          </a:xfrm>
          <a:prstGeom xmlns:a="http://schemas.openxmlformats.org/drawingml/2006/main" prst="ellipse">
            <a:avLst/>
          </a:prstGeom>
          <a:solidFill xmlns:a="http://schemas.openxmlformats.org/drawingml/2006/main">
            <a:srgbClr val="E36414"/>
          </a:solidFill>
        </p:spPr>
      </p:sp>
      <p:sp>
        <p:nvSpPr>
          <p:cNvPr id="5" name="Text 3">
            <a:extLst xmlns:a="http://schemas.openxmlformats.org/drawingml/2006/main">
              <a:ext uri="{FF2B5EF4-FFF2-40B4-BE49-F238E27FC236}">
                <a16:creationId xmlns:a16="http://schemas.microsoft.com/office/drawing/2014/main" id="{B7D62E61-6526-4426-9157-CD9B4D5ACB84}"/>
              </a:ext>
            </a:extLst>
          </p:cNvPr>
          <p:cNvSpPr>
            <a:spLocks xmlns:a="http://schemas.openxmlformats.org/drawingml/2006/main" noGrp="1"/>
          </p:cNvSpPr>
          <p:nvPr/>
        </p:nvSpPr>
        <p:spPr>
          <a:xfrm xmlns:a="http://schemas.openxmlformats.org/drawingml/2006/main">
            <a:off x="960120" y="1737360"/>
            <a:ext cx="106070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50">
                <a:solidFill>
                  <a:srgbClr val="23363B"/>
                </a:solidFill>
                <a:latin typeface="Calibri"/>
                <a:ea typeface="Calibri"/>
                <a:cs typeface="Calibri"/>
              </a:rPr>
              <a:t>The skeleton divides into the axial (central axis) and appendicular (limbs) divisions.</a:t>
            </a:r>
          </a:p>
        </p:txBody>
      </p:sp>
      <p:sp>
        <p:nvSpPr>
          <p:cNvPr id="6" name="Shape 4">
            <a:extLst xmlns:a="http://schemas.openxmlformats.org/drawingml/2006/main">
              <a:ext uri="{FF2B5EF4-FFF2-40B4-BE49-F238E27FC236}">
                <a16:creationId xmlns:a16="http://schemas.microsoft.com/office/drawing/2014/main" id="{D8145B3B-CEC2-4152-9120-D79212C1FDAE}"/>
              </a:ext>
            </a:extLst>
          </p:cNvPr>
          <p:cNvSpPr>
            <a:spLocks xmlns:a="http://schemas.openxmlformats.org/drawingml/2006/main" noGrp="1"/>
          </p:cNvSpPr>
          <p:nvPr/>
        </p:nvSpPr>
        <p:spPr>
          <a:xfrm xmlns:a="http://schemas.openxmlformats.org/drawingml/2006/main">
            <a:off x="548640" y="2606040"/>
            <a:ext cx="237744" cy="237744"/>
          </a:xfrm>
          <a:prstGeom xmlns:a="http://schemas.openxmlformats.org/drawingml/2006/main" prst="ellipse">
            <a:avLst/>
          </a:prstGeom>
          <a:solidFill xmlns:a="http://schemas.openxmlformats.org/drawingml/2006/main">
            <a:srgbClr val="E36414"/>
          </a:solidFill>
        </p:spPr>
      </p:sp>
      <p:sp>
        <p:nvSpPr>
          <p:cNvPr id="7" name="Text 5">
            <a:extLst xmlns:a="http://schemas.openxmlformats.org/drawingml/2006/main">
              <a:ext uri="{FF2B5EF4-FFF2-40B4-BE49-F238E27FC236}">
                <a16:creationId xmlns:a16="http://schemas.microsoft.com/office/drawing/2014/main" id="{F7875A8B-5D94-46E3-BC33-F91BBFEE4194}"/>
              </a:ext>
            </a:extLst>
          </p:cNvPr>
          <p:cNvSpPr>
            <a:spLocks xmlns:a="http://schemas.openxmlformats.org/drawingml/2006/main" noGrp="1"/>
          </p:cNvSpPr>
          <p:nvPr/>
        </p:nvSpPr>
        <p:spPr>
          <a:xfrm xmlns:a="http://schemas.openxmlformats.org/drawingml/2006/main">
            <a:off x="960120" y="2523744"/>
            <a:ext cx="106070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50">
                <a:solidFill>
                  <a:srgbClr val="23363B"/>
                </a:solidFill>
                <a:latin typeface="Calibri"/>
                <a:ea typeface="Calibri"/>
                <a:cs typeface="Calibri"/>
              </a:rPr>
              <a:t>The skull's 22 bones protect the brain and form the face, joined by immovable sutures.</a:t>
            </a:r>
          </a:p>
        </p:txBody>
      </p:sp>
      <p:sp>
        <p:nvSpPr>
          <p:cNvPr id="8" name="Shape 6">
            <a:extLst xmlns:a="http://schemas.openxmlformats.org/drawingml/2006/main">
              <a:ext uri="{FF2B5EF4-FFF2-40B4-BE49-F238E27FC236}">
                <a16:creationId xmlns:a16="http://schemas.microsoft.com/office/drawing/2014/main" id="{D13BE692-45FD-48F3-B40B-768949A8648D}"/>
              </a:ext>
            </a:extLst>
          </p:cNvPr>
          <p:cNvSpPr>
            <a:spLocks xmlns:a="http://schemas.openxmlformats.org/drawingml/2006/main" noGrp="1"/>
          </p:cNvSpPr>
          <p:nvPr/>
        </p:nvSpPr>
        <p:spPr>
          <a:xfrm xmlns:a="http://schemas.openxmlformats.org/drawingml/2006/main">
            <a:off x="548640" y="3392424"/>
            <a:ext cx="237744" cy="237744"/>
          </a:xfrm>
          <a:prstGeom xmlns:a="http://schemas.openxmlformats.org/drawingml/2006/main" prst="ellipse">
            <a:avLst/>
          </a:prstGeom>
          <a:solidFill xmlns:a="http://schemas.openxmlformats.org/drawingml/2006/main">
            <a:srgbClr val="E36414"/>
          </a:solidFill>
        </p:spPr>
      </p:sp>
      <p:sp>
        <p:nvSpPr>
          <p:cNvPr id="9" name="Text 7">
            <a:extLst xmlns:a="http://schemas.openxmlformats.org/drawingml/2006/main">
              <a:ext uri="{FF2B5EF4-FFF2-40B4-BE49-F238E27FC236}">
                <a16:creationId xmlns:a16="http://schemas.microsoft.com/office/drawing/2014/main" id="{09066C3C-6E59-4FA8-9D16-EF7C7A1F4744}"/>
              </a:ext>
            </a:extLst>
          </p:cNvPr>
          <p:cNvSpPr>
            <a:spLocks xmlns:a="http://schemas.openxmlformats.org/drawingml/2006/main" noGrp="1"/>
          </p:cNvSpPr>
          <p:nvPr/>
        </p:nvSpPr>
        <p:spPr>
          <a:xfrm xmlns:a="http://schemas.openxmlformats.org/drawingml/2006/main">
            <a:off x="960120" y="3310128"/>
            <a:ext cx="106070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50">
                <a:solidFill>
                  <a:srgbClr val="23363B"/>
                </a:solidFill>
                <a:latin typeface="Calibri"/>
                <a:ea typeface="Calibri"/>
                <a:cs typeface="Calibri"/>
              </a:rPr>
              <a:t>The vertebral column supports the body, protects the spinal cord, and has four curvatures.</a:t>
            </a:r>
          </a:p>
        </p:txBody>
      </p:sp>
      <p:sp>
        <p:nvSpPr>
          <p:cNvPr id="10" name="Shape 8">
            <a:extLst xmlns:a="http://schemas.openxmlformats.org/drawingml/2006/main">
              <a:ext uri="{FF2B5EF4-FFF2-40B4-BE49-F238E27FC236}">
                <a16:creationId xmlns:a16="http://schemas.microsoft.com/office/drawing/2014/main" id="{43D4C9ED-4BA0-4F0B-B72F-702D28552F15}"/>
              </a:ext>
            </a:extLst>
          </p:cNvPr>
          <p:cNvSpPr>
            <a:spLocks xmlns:a="http://schemas.openxmlformats.org/drawingml/2006/main" noGrp="1"/>
          </p:cNvSpPr>
          <p:nvPr/>
        </p:nvSpPr>
        <p:spPr>
          <a:xfrm xmlns:a="http://schemas.openxmlformats.org/drawingml/2006/main">
            <a:off x="548640" y="4178808"/>
            <a:ext cx="237744" cy="237744"/>
          </a:xfrm>
          <a:prstGeom xmlns:a="http://schemas.openxmlformats.org/drawingml/2006/main" prst="ellipse">
            <a:avLst/>
          </a:prstGeom>
          <a:solidFill xmlns:a="http://schemas.openxmlformats.org/drawingml/2006/main">
            <a:srgbClr val="E36414"/>
          </a:solidFill>
        </p:spPr>
      </p:sp>
      <p:sp>
        <p:nvSpPr>
          <p:cNvPr id="11" name="Text 9">
            <a:extLst xmlns:a="http://schemas.openxmlformats.org/drawingml/2006/main">
              <a:ext uri="{FF2B5EF4-FFF2-40B4-BE49-F238E27FC236}">
                <a16:creationId xmlns:a16="http://schemas.microsoft.com/office/drawing/2014/main" id="{6AFA9F6C-D46C-4D06-B286-2162E2D20772}"/>
              </a:ext>
            </a:extLst>
          </p:cNvPr>
          <p:cNvSpPr>
            <a:spLocks xmlns:a="http://schemas.openxmlformats.org/drawingml/2006/main" noGrp="1"/>
          </p:cNvSpPr>
          <p:nvPr/>
        </p:nvSpPr>
        <p:spPr>
          <a:xfrm xmlns:a="http://schemas.openxmlformats.org/drawingml/2006/main">
            <a:off x="960120" y="4096512"/>
            <a:ext cx="106070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50">
                <a:solidFill>
                  <a:srgbClr val="23363B"/>
                </a:solidFill>
                <a:latin typeface="Calibri"/>
                <a:ea typeface="Calibri"/>
                <a:cs typeface="Calibri"/>
              </a:rPr>
              <a:t>The thoracic cage protects the heart and lungs and assists with breathing.</a:t>
            </a:r>
          </a:p>
        </p:txBody>
      </p:sp>
      <p:sp>
        <p:nvSpPr>
          <p:cNvPr id="12" name="Shape 10">
            <a:extLst xmlns:a="http://schemas.openxmlformats.org/drawingml/2006/main">
              <a:ext uri="{FF2B5EF4-FFF2-40B4-BE49-F238E27FC236}">
                <a16:creationId xmlns:a16="http://schemas.microsoft.com/office/drawing/2014/main" id="{5D19270A-BD90-4472-BC9E-4F6A4BD8C028}"/>
              </a:ext>
            </a:extLst>
          </p:cNvPr>
          <p:cNvSpPr>
            <a:spLocks xmlns:a="http://schemas.openxmlformats.org/drawingml/2006/main" noGrp="1"/>
          </p:cNvSpPr>
          <p:nvPr/>
        </p:nvSpPr>
        <p:spPr>
          <a:xfrm xmlns:a="http://schemas.openxmlformats.org/drawingml/2006/main">
            <a:off x="548640" y="4965192"/>
            <a:ext cx="237744" cy="237744"/>
          </a:xfrm>
          <a:prstGeom xmlns:a="http://schemas.openxmlformats.org/drawingml/2006/main" prst="ellipse">
            <a:avLst/>
          </a:prstGeom>
          <a:solidFill xmlns:a="http://schemas.openxmlformats.org/drawingml/2006/main">
            <a:srgbClr val="E36414"/>
          </a:solidFill>
        </p:spPr>
      </p:sp>
      <p:sp>
        <p:nvSpPr>
          <p:cNvPr id="13" name="Text 11">
            <a:extLst xmlns:a="http://schemas.openxmlformats.org/drawingml/2006/main">
              <a:ext uri="{FF2B5EF4-FFF2-40B4-BE49-F238E27FC236}">
                <a16:creationId xmlns:a16="http://schemas.microsoft.com/office/drawing/2014/main" id="{4990F445-58B1-465B-A448-B2F0CFF8654E}"/>
              </a:ext>
            </a:extLst>
          </p:cNvPr>
          <p:cNvSpPr>
            <a:spLocks xmlns:a="http://schemas.openxmlformats.org/drawingml/2006/main" noGrp="1"/>
          </p:cNvSpPr>
          <p:nvPr/>
        </p:nvSpPr>
        <p:spPr>
          <a:xfrm xmlns:a="http://schemas.openxmlformats.org/drawingml/2006/main">
            <a:off x="960120" y="4882896"/>
            <a:ext cx="106070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50">
                <a:solidFill>
                  <a:srgbClr val="23363B"/>
                </a:solidFill>
                <a:latin typeface="Calibri"/>
                <a:ea typeface="Calibri"/>
                <a:cs typeface="Calibri"/>
              </a:rPr>
              <a:t>The infant skull has fontanelles that allow birth and brain growth.</a:t>
            </a:r>
          </a:p>
        </p:txBody>
      </p:sp>
      <p:sp>
        <p:nvSpPr>
          <p:cNvPr id="14" name="Text 12">
            <a:extLst xmlns:a="http://schemas.openxmlformats.org/drawingml/2006/main">
              <a:ext uri="{FF2B5EF4-FFF2-40B4-BE49-F238E27FC236}">
                <a16:creationId xmlns:a16="http://schemas.microsoft.com/office/drawing/2014/main" id="{7DBE59F2-BAFA-4360-BD1D-DBA2EB4D052C}"/>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7 — The Axial Skeleton</a:t>
            </a:r>
          </a:p>
        </p:txBody>
      </p:sp>
      <p:sp>
        <p:nvSpPr>
          <p:cNvPr id="15" name="Text 13">
            <a:extLst xmlns:a="http://schemas.openxmlformats.org/drawingml/2006/main">
              <a:ext uri="{FF2B5EF4-FFF2-40B4-BE49-F238E27FC236}">
                <a16:creationId xmlns:a16="http://schemas.microsoft.com/office/drawing/2014/main" id="{84A2C106-7D1C-4DC0-BA82-698C64667806}"/>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21</a:t>
            </a:r>
          </a:p>
        </p:txBody>
      </p:sp>
    </p:spTree>
    <p:extLst>
      <p:ext uri="{BB962C8B-B14F-4D97-AF65-F5344CB8AC3E}">
        <p14:creationId xmlns:p14="http://schemas.microsoft.com/office/powerpoint/2010/main" val="1651617188"/>
      </p:ext>
    </p:extLst>
  </p:cSld>
</p:sld>
</file>

<file path=ppt/slides/slide22.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3279251-A5DA-4A7D-92C7-CA9509463C82}"/>
              </a:ext>
            </a:extLst>
          </p:cNvPr>
          <p:cNvSpPr>
            <a:spLocks xmlns:a="http://schemas.openxmlformats.org/drawingml/2006/main" noGrp="1"/>
          </p:cNvSpPr>
          <p:nvPr/>
        </p:nvSpPr>
        <p:spPr>
          <a:xfrm xmlns:a="http://schemas.openxmlformats.org/drawingml/2006/main">
            <a:off x="548640" y="502920"/>
            <a:ext cx="100584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E36414"/>
                </a:solidFill>
                <a:latin typeface="Calibri"/>
                <a:ea typeface="Calibri"/>
                <a:cs typeface="Calibri"/>
              </a:rPr>
              <a:t>CLINICAL CONNECTIONS</a:t>
            </a:r>
          </a:p>
        </p:txBody>
      </p:sp>
      <p:sp>
        <p:nvSpPr>
          <p:cNvPr id="3" name="Text 1">
            <a:extLst xmlns:a="http://schemas.openxmlformats.org/drawingml/2006/main">
              <a:ext uri="{FF2B5EF4-FFF2-40B4-BE49-F238E27FC236}">
                <a16:creationId xmlns:a16="http://schemas.microsoft.com/office/drawing/2014/main" id="{65F7C3BE-DFB2-44FC-8824-B18992AD67DD}"/>
              </a:ext>
            </a:extLst>
          </p:cNvPr>
          <p:cNvSpPr>
            <a:spLocks xmlns:a="http://schemas.openxmlformats.org/drawingml/2006/main" noGrp="1"/>
          </p:cNvSpPr>
          <p:nvPr/>
        </p:nvSpPr>
        <p:spPr>
          <a:xfrm xmlns:a="http://schemas.openxmlformats.org/drawingml/2006/main">
            <a:off x="530352" y="841248"/>
            <a:ext cx="1097280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600" b="1">
                <a:solidFill>
                  <a:srgbClr val="FFFFFF"/>
                </a:solidFill>
                <a:latin typeface="Georgia"/>
                <a:ea typeface="Georgia"/>
                <a:cs typeface="Georgia"/>
              </a:rPr>
              <a:t>Why the Axial Skeleton Matters in Practical Nursing</a:t>
            </a:r>
          </a:p>
        </p:txBody>
      </p:sp>
      <p:sp>
        <p:nvSpPr>
          <p:cNvPr id="4" name="Shape 2">
            <a:extLst xmlns:a="http://schemas.openxmlformats.org/drawingml/2006/main">
              <a:ext uri="{FF2B5EF4-FFF2-40B4-BE49-F238E27FC236}">
                <a16:creationId xmlns:a16="http://schemas.microsoft.com/office/drawing/2014/main" id="{49D5866E-DBB2-45A5-969E-E2E887CAEAF2}"/>
              </a:ext>
            </a:extLst>
          </p:cNvPr>
          <p:cNvSpPr>
            <a:spLocks xmlns:a="http://schemas.openxmlformats.org/drawingml/2006/main" noGrp="1"/>
          </p:cNvSpPr>
          <p:nvPr/>
        </p:nvSpPr>
        <p:spPr>
          <a:xfrm xmlns:a="http://schemas.openxmlformats.org/drawingml/2006/main">
            <a:off x="548640" y="1691640"/>
            <a:ext cx="5440680" cy="1417320"/>
          </a:xfrm>
          <a:prstGeom xmlns:a="http://schemas.openxmlformats.org/drawingml/2006/main" prst="roundRect">
            <a:avLst>
              <a:gd name="adj" fmla="val 5161"/>
            </a:avLst>
          </a:prstGeom>
          <a:solidFill xmlns:a="http://schemas.openxmlformats.org/drawingml/2006/main">
            <a:srgbClr val="13586A"/>
          </a:solidFill>
          <a:ln xmlns:a="http://schemas.openxmlformats.org/drawingml/2006/main" w="12700">
            <a:solidFill>
              <a:srgbClr val="2A7A8C"/>
            </a:solidFill>
            <a:prstDash val="solid"/>
          </a:ln>
        </p:spPr>
      </p:sp>
      <p:sp>
        <p:nvSpPr>
          <p:cNvPr id="5" name="Text 3">
            <a:extLst xmlns:a="http://schemas.openxmlformats.org/drawingml/2006/main">
              <a:ext uri="{FF2B5EF4-FFF2-40B4-BE49-F238E27FC236}">
                <a16:creationId xmlns:a16="http://schemas.microsoft.com/office/drawing/2014/main" id="{CF5563A0-5168-4E30-82DF-E48B3B0CDB5D}"/>
              </a:ext>
            </a:extLst>
          </p:cNvPr>
          <p:cNvSpPr>
            <a:spLocks xmlns:a="http://schemas.openxmlformats.org/drawingml/2006/main" noGrp="1"/>
          </p:cNvSpPr>
          <p:nvPr/>
        </p:nvSpPr>
        <p:spPr>
          <a:xfrm xmlns:a="http://schemas.openxmlformats.org/drawingml/2006/main">
            <a:off x="777240" y="1819656"/>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Spine Injuries</a:t>
            </a:r>
          </a:p>
        </p:txBody>
      </p:sp>
      <p:sp>
        <p:nvSpPr>
          <p:cNvPr id="6" name="Text 4">
            <a:extLst xmlns:a="http://schemas.openxmlformats.org/drawingml/2006/main">
              <a:ext uri="{FF2B5EF4-FFF2-40B4-BE49-F238E27FC236}">
                <a16:creationId xmlns:a16="http://schemas.microsoft.com/office/drawing/2014/main" id="{DE9DB01E-2D05-47FE-8527-3202CCD113CE}"/>
              </a:ext>
            </a:extLst>
          </p:cNvPr>
          <p:cNvSpPr>
            <a:spLocks xmlns:a="http://schemas.openxmlformats.org/drawingml/2006/main" noGrp="1"/>
          </p:cNvSpPr>
          <p:nvPr/>
        </p:nvSpPr>
        <p:spPr>
          <a:xfrm xmlns:a="http://schemas.openxmlformats.org/drawingml/2006/main">
            <a:off x="777240" y="2194560"/>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Vertebrae protect the spinal cord — spinal precautions prevent paralysis.</a:t>
            </a:r>
          </a:p>
        </p:txBody>
      </p:sp>
      <p:sp>
        <p:nvSpPr>
          <p:cNvPr id="7" name="Shape 5">
            <a:extLst xmlns:a="http://schemas.openxmlformats.org/drawingml/2006/main">
              <a:ext uri="{FF2B5EF4-FFF2-40B4-BE49-F238E27FC236}">
                <a16:creationId xmlns:a16="http://schemas.microsoft.com/office/drawing/2014/main" id="{78D85962-2AE3-4C40-BF66-87143ABCFBAF}"/>
              </a:ext>
            </a:extLst>
          </p:cNvPr>
          <p:cNvSpPr>
            <a:spLocks xmlns:a="http://schemas.openxmlformats.org/drawingml/2006/main" noGrp="1"/>
          </p:cNvSpPr>
          <p:nvPr/>
        </p:nvSpPr>
        <p:spPr>
          <a:xfrm xmlns:a="http://schemas.openxmlformats.org/drawingml/2006/main">
            <a:off x="6172200" y="1691640"/>
            <a:ext cx="5440680" cy="1417320"/>
          </a:xfrm>
          <a:prstGeom xmlns:a="http://schemas.openxmlformats.org/drawingml/2006/main" prst="roundRect">
            <a:avLst>
              <a:gd name="adj" fmla="val 5161"/>
            </a:avLst>
          </a:prstGeom>
          <a:solidFill xmlns:a="http://schemas.openxmlformats.org/drawingml/2006/main">
            <a:srgbClr val="13586A"/>
          </a:solidFill>
          <a:ln xmlns:a="http://schemas.openxmlformats.org/drawingml/2006/main" w="12700">
            <a:solidFill>
              <a:srgbClr val="2A7A8C"/>
            </a:solidFill>
            <a:prstDash val="solid"/>
          </a:ln>
        </p:spPr>
      </p:sp>
      <p:sp>
        <p:nvSpPr>
          <p:cNvPr id="8" name="Text 6">
            <a:extLst xmlns:a="http://schemas.openxmlformats.org/drawingml/2006/main">
              <a:ext uri="{FF2B5EF4-FFF2-40B4-BE49-F238E27FC236}">
                <a16:creationId xmlns:a16="http://schemas.microsoft.com/office/drawing/2014/main" id="{B2C45CF3-4E4E-440F-9D08-FFB9A5D44216}"/>
              </a:ext>
            </a:extLst>
          </p:cNvPr>
          <p:cNvSpPr>
            <a:spLocks xmlns:a="http://schemas.openxmlformats.org/drawingml/2006/main" noGrp="1"/>
          </p:cNvSpPr>
          <p:nvPr/>
        </p:nvSpPr>
        <p:spPr>
          <a:xfrm xmlns:a="http://schemas.openxmlformats.org/drawingml/2006/main">
            <a:off x="6400800" y="1819656"/>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Back Pain</a:t>
            </a:r>
          </a:p>
        </p:txBody>
      </p:sp>
      <p:sp>
        <p:nvSpPr>
          <p:cNvPr id="9" name="Text 7">
            <a:extLst xmlns:a="http://schemas.openxmlformats.org/drawingml/2006/main">
              <a:ext uri="{FF2B5EF4-FFF2-40B4-BE49-F238E27FC236}">
                <a16:creationId xmlns:a16="http://schemas.microsoft.com/office/drawing/2014/main" id="{696E2DB6-EF93-4931-9C72-CE9A4E808085}"/>
              </a:ext>
            </a:extLst>
          </p:cNvPr>
          <p:cNvSpPr>
            <a:spLocks xmlns:a="http://schemas.openxmlformats.org/drawingml/2006/main" noGrp="1"/>
          </p:cNvSpPr>
          <p:nvPr/>
        </p:nvSpPr>
        <p:spPr>
          <a:xfrm xmlns:a="http://schemas.openxmlformats.org/drawingml/2006/main">
            <a:off x="6400800" y="2194560"/>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Herniated discs and abnormal curvatures are common sources of pain.</a:t>
            </a:r>
          </a:p>
        </p:txBody>
      </p:sp>
      <p:sp>
        <p:nvSpPr>
          <p:cNvPr id="10" name="Shape 8">
            <a:extLst xmlns:a="http://schemas.openxmlformats.org/drawingml/2006/main">
              <a:ext uri="{FF2B5EF4-FFF2-40B4-BE49-F238E27FC236}">
                <a16:creationId xmlns:a16="http://schemas.microsoft.com/office/drawing/2014/main" id="{0F29E318-50CC-41F1-B75B-6B451EF39C38}"/>
              </a:ext>
            </a:extLst>
          </p:cNvPr>
          <p:cNvSpPr>
            <a:spLocks xmlns:a="http://schemas.openxmlformats.org/drawingml/2006/main" noGrp="1"/>
          </p:cNvSpPr>
          <p:nvPr/>
        </p:nvSpPr>
        <p:spPr>
          <a:xfrm xmlns:a="http://schemas.openxmlformats.org/drawingml/2006/main">
            <a:off x="548640" y="3264408"/>
            <a:ext cx="5440680" cy="1417320"/>
          </a:xfrm>
          <a:prstGeom xmlns:a="http://schemas.openxmlformats.org/drawingml/2006/main" prst="roundRect">
            <a:avLst>
              <a:gd name="adj" fmla="val 5161"/>
            </a:avLst>
          </a:prstGeom>
          <a:solidFill xmlns:a="http://schemas.openxmlformats.org/drawingml/2006/main">
            <a:srgbClr val="13586A"/>
          </a:solidFill>
          <a:ln xmlns:a="http://schemas.openxmlformats.org/drawingml/2006/main" w="12700">
            <a:solidFill>
              <a:srgbClr val="2A7A8C"/>
            </a:solidFill>
            <a:prstDash val="solid"/>
          </a:ln>
        </p:spPr>
      </p:sp>
      <p:sp>
        <p:nvSpPr>
          <p:cNvPr id="11" name="Text 9">
            <a:extLst xmlns:a="http://schemas.openxmlformats.org/drawingml/2006/main">
              <a:ext uri="{FF2B5EF4-FFF2-40B4-BE49-F238E27FC236}">
                <a16:creationId xmlns:a16="http://schemas.microsoft.com/office/drawing/2014/main" id="{66F207F3-0D7B-45A4-AEB1-CFA8AAD9CEDB}"/>
              </a:ext>
            </a:extLst>
          </p:cNvPr>
          <p:cNvSpPr>
            <a:spLocks xmlns:a="http://schemas.openxmlformats.org/drawingml/2006/main" noGrp="1"/>
          </p:cNvSpPr>
          <p:nvPr/>
        </p:nvSpPr>
        <p:spPr>
          <a:xfrm xmlns:a="http://schemas.openxmlformats.org/drawingml/2006/main">
            <a:off x="777240" y="3392424"/>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Sinusitis</a:t>
            </a:r>
          </a:p>
        </p:txBody>
      </p:sp>
      <p:sp>
        <p:nvSpPr>
          <p:cNvPr id="12" name="Text 10">
            <a:extLst xmlns:a="http://schemas.openxmlformats.org/drawingml/2006/main">
              <a:ext uri="{FF2B5EF4-FFF2-40B4-BE49-F238E27FC236}">
                <a16:creationId xmlns:a16="http://schemas.microsoft.com/office/drawing/2014/main" id="{5AA8AAD1-FE15-4BAC-8144-E6124A1C6584}"/>
              </a:ext>
            </a:extLst>
          </p:cNvPr>
          <p:cNvSpPr>
            <a:spLocks xmlns:a="http://schemas.openxmlformats.org/drawingml/2006/main" noGrp="1"/>
          </p:cNvSpPr>
          <p:nvPr/>
        </p:nvSpPr>
        <p:spPr>
          <a:xfrm xmlns:a="http://schemas.openxmlformats.org/drawingml/2006/main">
            <a:off x="777240" y="3767328"/>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The paranasal sinuses drain into the nose and can become infected.</a:t>
            </a:r>
          </a:p>
        </p:txBody>
      </p:sp>
      <p:sp>
        <p:nvSpPr>
          <p:cNvPr id="13" name="Shape 11">
            <a:extLst xmlns:a="http://schemas.openxmlformats.org/drawingml/2006/main">
              <a:ext uri="{FF2B5EF4-FFF2-40B4-BE49-F238E27FC236}">
                <a16:creationId xmlns:a16="http://schemas.microsoft.com/office/drawing/2014/main" id="{A95C0CB3-1681-4C00-8210-87B0B9C127B7}"/>
              </a:ext>
            </a:extLst>
          </p:cNvPr>
          <p:cNvSpPr>
            <a:spLocks xmlns:a="http://schemas.openxmlformats.org/drawingml/2006/main" noGrp="1"/>
          </p:cNvSpPr>
          <p:nvPr/>
        </p:nvSpPr>
        <p:spPr>
          <a:xfrm xmlns:a="http://schemas.openxmlformats.org/drawingml/2006/main">
            <a:off x="6172200" y="3264408"/>
            <a:ext cx="5440680" cy="1417320"/>
          </a:xfrm>
          <a:prstGeom xmlns:a="http://schemas.openxmlformats.org/drawingml/2006/main" prst="roundRect">
            <a:avLst>
              <a:gd name="adj" fmla="val 5161"/>
            </a:avLst>
          </a:prstGeom>
          <a:solidFill xmlns:a="http://schemas.openxmlformats.org/drawingml/2006/main">
            <a:srgbClr val="13586A"/>
          </a:solidFill>
          <a:ln xmlns:a="http://schemas.openxmlformats.org/drawingml/2006/main" w="12700">
            <a:solidFill>
              <a:srgbClr val="2A7A8C"/>
            </a:solidFill>
            <a:prstDash val="solid"/>
          </a:ln>
        </p:spPr>
      </p:sp>
      <p:sp>
        <p:nvSpPr>
          <p:cNvPr id="14" name="Text 12">
            <a:extLst xmlns:a="http://schemas.openxmlformats.org/drawingml/2006/main">
              <a:ext uri="{FF2B5EF4-FFF2-40B4-BE49-F238E27FC236}">
                <a16:creationId xmlns:a16="http://schemas.microsoft.com/office/drawing/2014/main" id="{CD3B190A-C168-4377-81B0-03DE3883CC00}"/>
              </a:ext>
            </a:extLst>
          </p:cNvPr>
          <p:cNvSpPr>
            <a:spLocks xmlns:a="http://schemas.openxmlformats.org/drawingml/2006/main" noGrp="1"/>
          </p:cNvSpPr>
          <p:nvPr/>
        </p:nvSpPr>
        <p:spPr>
          <a:xfrm xmlns:a="http://schemas.openxmlformats.org/drawingml/2006/main">
            <a:off x="6400800" y="3392424"/>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Infant Assessment</a:t>
            </a:r>
          </a:p>
        </p:txBody>
      </p:sp>
      <p:sp>
        <p:nvSpPr>
          <p:cNvPr id="15" name="Text 13">
            <a:extLst xmlns:a="http://schemas.openxmlformats.org/drawingml/2006/main">
              <a:ext uri="{FF2B5EF4-FFF2-40B4-BE49-F238E27FC236}">
                <a16:creationId xmlns:a16="http://schemas.microsoft.com/office/drawing/2014/main" id="{ABCDDFE9-8276-4A6D-B617-6A8F0F287FAD}"/>
              </a:ext>
            </a:extLst>
          </p:cNvPr>
          <p:cNvSpPr>
            <a:spLocks xmlns:a="http://schemas.openxmlformats.org/drawingml/2006/main" noGrp="1"/>
          </p:cNvSpPr>
          <p:nvPr/>
        </p:nvSpPr>
        <p:spPr>
          <a:xfrm xmlns:a="http://schemas.openxmlformats.org/drawingml/2006/main">
            <a:off x="6400800" y="3767328"/>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Fontanelles reveal hydration status and intracranial pressure.</a:t>
            </a:r>
          </a:p>
        </p:txBody>
      </p:sp>
      <p:sp>
        <p:nvSpPr>
          <p:cNvPr id="16" name="Shape 14">
            <a:extLst xmlns:a="http://schemas.openxmlformats.org/drawingml/2006/main">
              <a:ext uri="{FF2B5EF4-FFF2-40B4-BE49-F238E27FC236}">
                <a16:creationId xmlns:a16="http://schemas.microsoft.com/office/drawing/2014/main" id="{1395CC77-CEF7-403D-A74E-EEA069B34EDE}"/>
              </a:ext>
            </a:extLst>
          </p:cNvPr>
          <p:cNvSpPr>
            <a:spLocks xmlns:a="http://schemas.openxmlformats.org/drawingml/2006/main" noGrp="1"/>
          </p:cNvSpPr>
          <p:nvPr/>
        </p:nvSpPr>
        <p:spPr>
          <a:xfrm xmlns:a="http://schemas.openxmlformats.org/drawingml/2006/main">
            <a:off x="548640" y="4837176"/>
            <a:ext cx="5440680" cy="1417320"/>
          </a:xfrm>
          <a:prstGeom xmlns:a="http://schemas.openxmlformats.org/drawingml/2006/main" prst="roundRect">
            <a:avLst>
              <a:gd name="adj" fmla="val 5161"/>
            </a:avLst>
          </a:prstGeom>
          <a:solidFill xmlns:a="http://schemas.openxmlformats.org/drawingml/2006/main">
            <a:srgbClr val="13586A"/>
          </a:solidFill>
          <a:ln xmlns:a="http://schemas.openxmlformats.org/drawingml/2006/main" w="12700">
            <a:solidFill>
              <a:srgbClr val="2A7A8C"/>
            </a:solidFill>
            <a:prstDash val="solid"/>
          </a:ln>
        </p:spPr>
      </p:sp>
      <p:sp>
        <p:nvSpPr>
          <p:cNvPr id="17" name="Text 15">
            <a:extLst xmlns:a="http://schemas.openxmlformats.org/drawingml/2006/main">
              <a:ext uri="{FF2B5EF4-FFF2-40B4-BE49-F238E27FC236}">
                <a16:creationId xmlns:a16="http://schemas.microsoft.com/office/drawing/2014/main" id="{EE1340DE-9ABD-4735-928A-5701FD4B4F73}"/>
              </a:ext>
            </a:extLst>
          </p:cNvPr>
          <p:cNvSpPr>
            <a:spLocks xmlns:a="http://schemas.openxmlformats.org/drawingml/2006/main" noGrp="1"/>
          </p:cNvSpPr>
          <p:nvPr/>
        </p:nvSpPr>
        <p:spPr>
          <a:xfrm xmlns:a="http://schemas.openxmlformats.org/drawingml/2006/main">
            <a:off x="777240" y="4965192"/>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Osteoporosis</a:t>
            </a:r>
          </a:p>
        </p:txBody>
      </p:sp>
      <p:sp>
        <p:nvSpPr>
          <p:cNvPr id="18" name="Text 16">
            <a:extLst xmlns:a="http://schemas.openxmlformats.org/drawingml/2006/main">
              <a:ext uri="{FF2B5EF4-FFF2-40B4-BE49-F238E27FC236}">
                <a16:creationId xmlns:a16="http://schemas.microsoft.com/office/drawing/2014/main" id="{8FFD9B35-72D4-4624-AAE5-2D8BDE2F0D3F}"/>
              </a:ext>
            </a:extLst>
          </p:cNvPr>
          <p:cNvSpPr>
            <a:spLocks xmlns:a="http://schemas.openxmlformats.org/drawingml/2006/main" noGrp="1"/>
          </p:cNvSpPr>
          <p:nvPr/>
        </p:nvSpPr>
        <p:spPr>
          <a:xfrm xmlns:a="http://schemas.openxmlformats.org/drawingml/2006/main">
            <a:off x="777240" y="5340096"/>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Thoracic kyphosis often reflects vertebral bone loss in older adults.</a:t>
            </a:r>
          </a:p>
        </p:txBody>
      </p:sp>
      <p:sp>
        <p:nvSpPr>
          <p:cNvPr id="19" name="Shape 17">
            <a:extLst xmlns:a="http://schemas.openxmlformats.org/drawingml/2006/main">
              <a:ext uri="{FF2B5EF4-FFF2-40B4-BE49-F238E27FC236}">
                <a16:creationId xmlns:a16="http://schemas.microsoft.com/office/drawing/2014/main" id="{F12B0DEC-46C7-460B-9F97-89760FA33B4E}"/>
              </a:ext>
            </a:extLst>
          </p:cNvPr>
          <p:cNvSpPr>
            <a:spLocks xmlns:a="http://schemas.openxmlformats.org/drawingml/2006/main" noGrp="1"/>
          </p:cNvSpPr>
          <p:nvPr/>
        </p:nvSpPr>
        <p:spPr>
          <a:xfrm xmlns:a="http://schemas.openxmlformats.org/drawingml/2006/main">
            <a:off x="6172200" y="4837176"/>
            <a:ext cx="5440680" cy="1417320"/>
          </a:xfrm>
          <a:prstGeom xmlns:a="http://schemas.openxmlformats.org/drawingml/2006/main" prst="roundRect">
            <a:avLst>
              <a:gd name="adj" fmla="val 5161"/>
            </a:avLst>
          </a:prstGeom>
          <a:solidFill xmlns:a="http://schemas.openxmlformats.org/drawingml/2006/main">
            <a:srgbClr val="13586A"/>
          </a:solidFill>
          <a:ln xmlns:a="http://schemas.openxmlformats.org/drawingml/2006/main" w="12700">
            <a:solidFill>
              <a:srgbClr val="2A7A8C"/>
            </a:solidFill>
            <a:prstDash val="solid"/>
          </a:ln>
        </p:spPr>
      </p:sp>
      <p:sp>
        <p:nvSpPr>
          <p:cNvPr id="20" name="Text 18">
            <a:extLst xmlns:a="http://schemas.openxmlformats.org/drawingml/2006/main">
              <a:ext uri="{FF2B5EF4-FFF2-40B4-BE49-F238E27FC236}">
                <a16:creationId xmlns:a16="http://schemas.microsoft.com/office/drawing/2014/main" id="{A32F8563-E140-4D76-9110-2513CDD3BA15}"/>
              </a:ext>
            </a:extLst>
          </p:cNvPr>
          <p:cNvSpPr>
            <a:spLocks xmlns:a="http://schemas.openxmlformats.org/drawingml/2006/main" noGrp="1"/>
          </p:cNvSpPr>
          <p:nvPr/>
        </p:nvSpPr>
        <p:spPr>
          <a:xfrm xmlns:a="http://schemas.openxmlformats.org/drawingml/2006/main">
            <a:off x="6400800" y="4965192"/>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CPR Landmarks</a:t>
            </a:r>
          </a:p>
        </p:txBody>
      </p:sp>
      <p:sp>
        <p:nvSpPr>
          <p:cNvPr id="21" name="Text 19">
            <a:extLst xmlns:a="http://schemas.openxmlformats.org/drawingml/2006/main">
              <a:ext uri="{FF2B5EF4-FFF2-40B4-BE49-F238E27FC236}">
                <a16:creationId xmlns:a16="http://schemas.microsoft.com/office/drawing/2014/main" id="{E4CFAA99-CF42-4600-B994-D559A2B7A1B2}"/>
              </a:ext>
            </a:extLst>
          </p:cNvPr>
          <p:cNvSpPr>
            <a:spLocks xmlns:a="http://schemas.openxmlformats.org/drawingml/2006/main" noGrp="1"/>
          </p:cNvSpPr>
          <p:nvPr/>
        </p:nvSpPr>
        <p:spPr>
          <a:xfrm xmlns:a="http://schemas.openxmlformats.org/drawingml/2006/main">
            <a:off x="6400800" y="5340096"/>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The sternum and ribs guide hand placement for chest compressions.</a:t>
            </a:r>
          </a:p>
        </p:txBody>
      </p:sp>
    </p:spTree>
    <p:extLst>
      <p:ext uri="{BB962C8B-B14F-4D97-AF65-F5344CB8AC3E}">
        <p14:creationId xmlns:p14="http://schemas.microsoft.com/office/powerpoint/2010/main" val="1142987032"/>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2026-08-04T21:56:47.3400000Z</dcterms:created>
  <dcterms:modified xsi:type="dcterms:W3CDTF">2026-08-04T21:56:47.3400000Z</dcterms:modified>
</coreProperties>
</file>