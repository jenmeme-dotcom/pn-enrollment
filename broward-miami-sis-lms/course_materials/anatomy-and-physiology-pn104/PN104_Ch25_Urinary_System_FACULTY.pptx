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urinary system: what urine reveals, the organs that transport it, the gross and microscopic anatomy of the kidney and nephron, how urine is formed through filtration and reabsorption, and how hormones regulate fluid and electrolyte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Urine is the kidneys' output, and its characteristics are a window on health. Color reflects hydration — pale yellow when well-hydrated, dark when dehydrated. Normal urine is clear; cloudiness, blood, or abnormal substances such as glucose or protein detected in a urinalysis can signal disease.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urinary system has four organs. The two kidneys filter blood and make urine; the ureters carry urine to the bladder; the muscular bladder stores it; and the urethra drains it from the body. The female urethra is shorter than the male's, which is why women get more urinary tract infections.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kidneys are bean-shaped organs sitting high against the posterior abdominal wall, behind the peritoneum (retroperitoneal), partly sheltered by the lower ribs. This location is why kidney pain is felt in the flank and why the area is checked for tenderness at the costovertebral 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sectioned kidney shows an outer cortex and inner medulla, the latter forming cone-shaped renal pyramids. Urine made in the nephrons drains from the pyramid tips into calyces, collects in the funnel-shaped renal pelvis, and flows into the ureter.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kidney holds about a million nephrons, the units that actually form urine. A nephron has a renal corpuscle (a glomerulus of capillaries inside a capsule) where blood is filtered, and a long tubule (proximal tubule, loop of Henle, distal tubule) where the filtrate is processed into urine before draining to a collecting 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Urine formation begins in the glomerulus, where blood pressure forces water and small solutes out of the capillaries into the capsule, while blood cells and large proteins stay behind. This filtrate then moves into the tubule. The kidneys filter the entire blood volume many times a day; the rate (GFR) is a key measure of kidney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glomerulus filters far more than the body could afford to lose, so the tubule reabsorbs most of it — nearly all the water, glucose, and useful ions — back into the blood. Meanwhile, extra wastes and ions are secreted from the blood into the tubule. What remains is concentrated urine.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of Henle sets up a salt concentration gradient that makes the medulla increasingly salty. As the collecting duct passes through it, water is osmotically pulled out (when ADH is present), concentrating the urine and conserving body water. This is how the kidney adjusts urine concentration to hydration.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Hormones tune the kidney's output to the body's needs. ADH (from the pituitary) makes the kidney reabsorb more water, concentrating urine when fluids are low. Aldosterone (from the adrenal cortex) makes it retain sodium and water. Through these, plus the renin-angiotensin system, the kidney regulates blood volume and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25</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4400" b="1" dirty="0">
                <a:solidFill>
                  <a:srgbClr val="FFFFFF"/>
                </a:solidFill>
                <a:latin typeface="Georgia" pitchFamily="34" charset="0"/>
                <a:ea typeface="Georgia" pitchFamily="34" charset="-122"/>
                <a:cs typeface="Georgia" pitchFamily="34" charset="-120"/>
              </a:rPr>
              <a:t>The Urinary System</a:t>
            </a:r>
            <a:endParaRPr lang="en-US" sz="4400" dirty="0"/>
          </a:p>
        </p:txBody>
      </p:sp>
      <p:sp>
        <p:nvSpPr>
          <p:cNvPr id="4" name="Text 2"/>
          <p:cNvSpPr/>
          <p:nvPr/>
        </p:nvSpPr>
        <p:spPr>
          <a:xfrm>
            <a:off x="749808" y="397764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How the kidneys filter the blood and make urine.</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7735824" y="2537732"/>
            <a:ext cx="4096512" cy="1965416"/>
          </a:xfrm>
          <a:prstGeom prst="roundRect">
            <a:avLst>
              <a:gd name="adj" fmla="val 279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25/img/img01.jpg">    </p:cNvPr>
          <p:cNvPicPr>
            <a:picLocks noChangeAspect="1"/>
          </p:cNvPicPr>
          <p:nvPr/>
        </p:nvPicPr>
        <p:blipFill>
          <a:blip r:embed="rId1"/>
          <a:stretch>
            <a:fillRect/>
          </a:stretch>
        </p:blipFill>
        <p:spPr>
          <a:xfrm>
            <a:off x="7818120" y="2620028"/>
            <a:ext cx="3931920" cy="180082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25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Describe the composition of urine</a:t>
            </a:r>
            <a:endParaRPr lang="en-US" sz="1300" dirty="0"/>
          </a:p>
        </p:txBody>
      </p:sp>
      <p:sp>
        <p:nvSpPr>
          <p:cNvPr id="8" name="Shape 6"/>
          <p:cNvSpPr/>
          <p:nvPr/>
        </p:nvSpPr>
        <p:spPr>
          <a:xfrm>
            <a:off x="548640" y="2418588"/>
            <a:ext cx="384048" cy="384048"/>
          </a:xfrm>
          <a:prstGeom prst="ellipse">
            <a:avLst/>
          </a:prstGeom>
          <a:solidFill>
            <a:srgbClr val="0F4C5C"/>
          </a:solidFill>
          <a:ln/>
        </p:spPr>
      </p:sp>
      <p:sp>
        <p:nvSpPr>
          <p:cNvPr id="9" name="Text 7"/>
          <p:cNvSpPr/>
          <p:nvPr/>
        </p:nvSpPr>
        <p:spPr>
          <a:xfrm>
            <a:off x="548640" y="241858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0030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Label structures of the urinary system</a:t>
            </a:r>
            <a:endParaRPr lang="en-US" sz="1300" dirty="0"/>
          </a:p>
        </p:txBody>
      </p:sp>
      <p:sp>
        <p:nvSpPr>
          <p:cNvPr id="11" name="Shape 9"/>
          <p:cNvSpPr/>
          <p:nvPr/>
        </p:nvSpPr>
        <p:spPr>
          <a:xfrm>
            <a:off x="548640" y="3172968"/>
            <a:ext cx="384048" cy="384048"/>
          </a:xfrm>
          <a:prstGeom prst="ellipse">
            <a:avLst/>
          </a:prstGeom>
          <a:solidFill>
            <a:srgbClr val="0F4C5C"/>
          </a:solidFill>
          <a:ln/>
        </p:spPr>
      </p:sp>
      <p:sp>
        <p:nvSpPr>
          <p:cNvPr id="12" name="Text 10"/>
          <p:cNvSpPr/>
          <p:nvPr/>
        </p:nvSpPr>
        <p:spPr>
          <a:xfrm>
            <a:off x="548640" y="317296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15468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Characterize the roles of each of the parts of the urinary system</a:t>
            </a:r>
            <a:endParaRPr lang="en-US" sz="1300" dirty="0"/>
          </a:p>
        </p:txBody>
      </p:sp>
      <p:sp>
        <p:nvSpPr>
          <p:cNvPr id="14" name="Shape 12"/>
          <p:cNvSpPr/>
          <p:nvPr/>
        </p:nvSpPr>
        <p:spPr>
          <a:xfrm>
            <a:off x="548640" y="3927348"/>
            <a:ext cx="384048" cy="384048"/>
          </a:xfrm>
          <a:prstGeom prst="ellipse">
            <a:avLst/>
          </a:prstGeom>
          <a:solidFill>
            <a:srgbClr val="0F4C5C"/>
          </a:solidFill>
          <a:ln/>
        </p:spPr>
      </p:sp>
      <p:sp>
        <p:nvSpPr>
          <p:cNvPr id="15" name="Text 13"/>
          <p:cNvSpPr/>
          <p:nvPr/>
        </p:nvSpPr>
        <p:spPr>
          <a:xfrm>
            <a:off x="548640" y="392734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390906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Illustrate the macroscopic and microscopic structures of the kidney</a:t>
            </a:r>
            <a:endParaRPr lang="en-US" sz="1300" dirty="0"/>
          </a:p>
        </p:txBody>
      </p:sp>
      <p:sp>
        <p:nvSpPr>
          <p:cNvPr id="17" name="Shape 15"/>
          <p:cNvSpPr/>
          <p:nvPr/>
        </p:nvSpPr>
        <p:spPr>
          <a:xfrm>
            <a:off x="548640" y="4681728"/>
            <a:ext cx="384048" cy="384048"/>
          </a:xfrm>
          <a:prstGeom prst="ellipse">
            <a:avLst/>
          </a:prstGeom>
          <a:solidFill>
            <a:srgbClr val="0F4C5C"/>
          </a:solidFill>
          <a:ln/>
        </p:spPr>
      </p:sp>
      <p:sp>
        <p:nvSpPr>
          <p:cNvPr id="18" name="Text 16"/>
          <p:cNvSpPr/>
          <p:nvPr/>
        </p:nvSpPr>
        <p:spPr>
          <a:xfrm>
            <a:off x="548640" y="468172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19" name="Text 17"/>
          <p:cNvSpPr/>
          <p:nvPr/>
        </p:nvSpPr>
        <p:spPr>
          <a:xfrm>
            <a:off x="1115568" y="466344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Trace the flow of blood through the kidney</a:t>
            </a:r>
            <a:endParaRPr lang="en-US" sz="1300" dirty="0"/>
          </a:p>
        </p:txBody>
      </p:sp>
      <p:sp>
        <p:nvSpPr>
          <p:cNvPr id="20" name="Shape 18"/>
          <p:cNvSpPr/>
          <p:nvPr/>
        </p:nvSpPr>
        <p:spPr>
          <a:xfrm>
            <a:off x="548640" y="5436108"/>
            <a:ext cx="384048" cy="384048"/>
          </a:xfrm>
          <a:prstGeom prst="ellipse">
            <a:avLst/>
          </a:prstGeom>
          <a:solidFill>
            <a:srgbClr val="0F4C5C"/>
          </a:solidFill>
          <a:ln/>
        </p:spPr>
      </p:sp>
      <p:sp>
        <p:nvSpPr>
          <p:cNvPr id="21" name="Text 19"/>
          <p:cNvSpPr/>
          <p:nvPr/>
        </p:nvSpPr>
        <p:spPr>
          <a:xfrm>
            <a:off x="548640" y="54361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22" name="Text 20"/>
          <p:cNvSpPr/>
          <p:nvPr/>
        </p:nvSpPr>
        <p:spPr>
          <a:xfrm>
            <a:off x="1115568" y="54178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Outline how blood is filtered in the kidney nephron</a:t>
            </a:r>
            <a:endParaRPr lang="en-US" sz="1300" dirty="0"/>
          </a:p>
        </p:txBody>
      </p:sp>
      <p:sp>
        <p:nvSpPr>
          <p:cNvPr id="23" name="Shape 21"/>
          <p:cNvSpPr/>
          <p:nvPr/>
        </p:nvSpPr>
        <p:spPr>
          <a:xfrm>
            <a:off x="7415784" y="2884324"/>
            <a:ext cx="4370832" cy="1692856"/>
          </a:xfrm>
          <a:prstGeom prst="roundRect">
            <a:avLst>
              <a:gd name="adj" fmla="val 324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24" name="Image 0" descr="/home/claude/all/ch25/img/img03.jpg">    </p:cNvPr>
          <p:cNvPicPr>
            <a:picLocks noChangeAspect="1"/>
          </p:cNvPicPr>
          <p:nvPr/>
        </p:nvPicPr>
        <p:blipFill>
          <a:blip r:embed="rId1"/>
          <a:stretch>
            <a:fillRect/>
          </a:stretch>
        </p:blipFill>
        <p:spPr>
          <a:xfrm>
            <a:off x="7498080" y="2966620"/>
            <a:ext cx="4206240" cy="1528264"/>
          </a:xfrm>
          <a:prstGeom prst="rect">
            <a:avLst/>
          </a:prstGeom>
        </p:spPr>
      </p:pic>
      <p:sp>
        <p:nvSpPr>
          <p:cNvPr id="25" name="Text 22"/>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organs of the urinary system.</a:t>
            </a:r>
            <a:endParaRPr lang="en-US" sz="1100" dirty="0"/>
          </a:p>
        </p:txBody>
      </p:sp>
      <p:sp>
        <p:nvSpPr>
          <p:cNvPr id="27" name="Text 23"/>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25 — The Urinary System</a:t>
            </a:r>
            <a:endParaRPr lang="en-US" sz="900" dirty="0"/>
          </a:p>
        </p:txBody>
      </p:sp>
      <p:sp>
        <p:nvSpPr>
          <p:cNvPr id="28" name="Text 24"/>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25.1</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Physical Characteristics of Urine</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What urine reveals about the body's internal balance.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25.1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Characteristics of Urine</a:t>
            </a:r>
            <a:endParaRPr lang="en-US" sz="2800" dirty="0"/>
          </a:p>
        </p:txBody>
      </p:sp>
      <p:sp>
        <p:nvSpPr>
          <p:cNvPr id="4" name="Shape 2"/>
          <p:cNvSpPr/>
          <p:nvPr/>
        </p:nvSpPr>
        <p:spPr>
          <a:xfrm>
            <a:off x="1223010" y="1289304"/>
            <a:ext cx="2857500" cy="4736592"/>
          </a:xfrm>
          <a:prstGeom prst="roundRect">
            <a:avLst>
              <a:gd name="adj" fmla="val 1920"/>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5/img/img02.jpg">    </p:cNvPr>
          <p:cNvPicPr>
            <a:picLocks noChangeAspect="1"/>
          </p:cNvPicPr>
          <p:nvPr/>
        </p:nvPicPr>
        <p:blipFill>
          <a:blip r:embed="rId1"/>
          <a:stretch>
            <a:fillRect/>
          </a:stretch>
        </p:blipFill>
        <p:spPr>
          <a:xfrm>
            <a:off x="1305306" y="1371600"/>
            <a:ext cx="2692908"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Urine color and hydration</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Urine reflects the body's state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Color signals hydration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Normally clear and yellow</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Tested in urinalysis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25 — The Urinary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25.2</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Gross Anatomy of Urine Transport</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ureters, bladder, and urethra that store and transport urine.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25.2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Urinary System</a:t>
            </a:r>
            <a:endParaRPr lang="en-US" sz="2800" dirty="0"/>
          </a:p>
        </p:txBody>
      </p:sp>
      <p:sp>
        <p:nvSpPr>
          <p:cNvPr id="4" name="Shape 2"/>
          <p:cNvSpPr/>
          <p:nvPr/>
        </p:nvSpPr>
        <p:spPr>
          <a:xfrm>
            <a:off x="1113753" y="1289304"/>
            <a:ext cx="9979734"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5/img/img03.jpg">    </p:cNvPr>
          <p:cNvPicPr>
            <a:picLocks noChangeAspect="1"/>
          </p:cNvPicPr>
          <p:nvPr/>
        </p:nvPicPr>
        <p:blipFill>
          <a:blip r:embed="rId1"/>
          <a:stretch>
            <a:fillRect/>
          </a:stretch>
        </p:blipFill>
        <p:spPr>
          <a:xfrm>
            <a:off x="1196049" y="1371600"/>
            <a:ext cx="9815142"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organs of the urinary system</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Two kidneys make urine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Ureters carry it to the bladder</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The bladder stores it</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The urethra empties it out</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25 — The Urinary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25.3</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Gross Anatomy of the Kidney</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position and internal structure of the kidneys.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25.3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Position of the Kidneys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Two bean-shaped organs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Sit against the back wall</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Retroperitoneal (behind the abdomen)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Partly protected by the lower ribs</a:t>
            </a:r>
            <a:endParaRPr lang="en-US" sz="1500" dirty="0"/>
          </a:p>
        </p:txBody>
      </p:sp>
      <p:sp>
        <p:nvSpPr>
          <p:cNvPr id="5" name="Shape 3"/>
          <p:cNvSpPr/>
          <p:nvPr/>
        </p:nvSpPr>
        <p:spPr>
          <a:xfrm>
            <a:off x="5477485" y="1335024"/>
            <a:ext cx="6235751"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5/img/img07.jpg">    </p:cNvPr>
          <p:cNvPicPr>
            <a:picLocks noChangeAspect="1"/>
          </p:cNvPicPr>
          <p:nvPr/>
        </p:nvPicPr>
        <p:blipFill>
          <a:blip r:embed="rId1"/>
          <a:stretch>
            <a:fillRect/>
          </a:stretch>
        </p:blipFill>
        <p:spPr>
          <a:xfrm>
            <a:off x="5559781" y="1417320"/>
            <a:ext cx="6071159"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position of the kidneys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25 — The Urinary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25.3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Internal Kidney Anatomy</a:t>
            </a:r>
            <a:endParaRPr lang="en-US" sz="2800" dirty="0"/>
          </a:p>
        </p:txBody>
      </p:sp>
      <p:sp>
        <p:nvSpPr>
          <p:cNvPr id="4" name="Shape 2"/>
          <p:cNvSpPr/>
          <p:nvPr/>
        </p:nvSpPr>
        <p:spPr>
          <a:xfrm>
            <a:off x="2900399" y="1289304"/>
            <a:ext cx="6406442"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5/img/img08.jpg">    </p:cNvPr>
          <p:cNvPicPr>
            <a:picLocks noChangeAspect="1"/>
          </p:cNvPicPr>
          <p:nvPr/>
        </p:nvPicPr>
        <p:blipFill>
          <a:blip r:embed="rId1"/>
          <a:stretch>
            <a:fillRect/>
          </a:stretch>
        </p:blipFill>
        <p:spPr>
          <a:xfrm>
            <a:off x="2982695" y="1371600"/>
            <a:ext cx="6241850"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Internal anatomy of the kidney</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Outer cortex, inner medulla</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Medulla forms renal pyramids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Urine collects in the renal pelvis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Drains into the ureter</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25 — The Urinary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25.4</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Microscopic Anatomy of the Kidney</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nephron — the kidney's microscopic filtering unit.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25.4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Nephron</a:t>
            </a:r>
            <a:endParaRPr lang="en-US" sz="2800" dirty="0"/>
          </a:p>
        </p:txBody>
      </p:sp>
      <p:sp>
        <p:nvSpPr>
          <p:cNvPr id="4" name="Shape 2"/>
          <p:cNvSpPr/>
          <p:nvPr/>
        </p:nvSpPr>
        <p:spPr>
          <a:xfrm>
            <a:off x="966292" y="1289304"/>
            <a:ext cx="3370936" cy="4736592"/>
          </a:xfrm>
          <a:prstGeom prst="roundRect">
            <a:avLst>
              <a:gd name="adj" fmla="val 162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5/img/img10.jpg">    </p:cNvPr>
          <p:cNvPicPr>
            <a:picLocks noChangeAspect="1"/>
          </p:cNvPicPr>
          <p:nvPr/>
        </p:nvPicPr>
        <p:blipFill>
          <a:blip r:embed="rId1"/>
          <a:stretch>
            <a:fillRect/>
          </a:stretch>
        </p:blipFill>
        <p:spPr>
          <a:xfrm>
            <a:off x="1048588" y="1371600"/>
            <a:ext cx="3206344"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structure of a nephron</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functional unit of the kidney</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About a million per kidney</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Has a glomerulus and a tubule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Filters blood and forms urine</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25 — The Urinary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25.5</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Physiology of Urine Formation</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Filtration, reabsorption, and secretion — how urine is made.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25.5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Glomerular Filtration</a:t>
            </a:r>
            <a:endParaRPr lang="en-US" sz="2800" dirty="0"/>
          </a:p>
        </p:txBody>
      </p:sp>
      <p:sp>
        <p:nvSpPr>
          <p:cNvPr id="4" name="Shape 2"/>
          <p:cNvSpPr/>
          <p:nvPr/>
        </p:nvSpPr>
        <p:spPr>
          <a:xfrm>
            <a:off x="2476383" y="1289304"/>
            <a:ext cx="7254475"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5/img/img15.jpg">    </p:cNvPr>
          <p:cNvPicPr>
            <a:picLocks noChangeAspect="1"/>
          </p:cNvPicPr>
          <p:nvPr/>
        </p:nvPicPr>
        <p:blipFill>
          <a:blip r:embed="rId1"/>
          <a:stretch>
            <a:fillRect/>
          </a:stretch>
        </p:blipFill>
        <p:spPr>
          <a:xfrm>
            <a:off x="2558679" y="1371600"/>
            <a:ext cx="7089883"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Glomerular filtration</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Urine formation starts with filtration</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Blood pressure pushes fluid out</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Filters water and small molecules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Keeps cells and proteins in the blood</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25 — The Urinary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25.6</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Tubular Reabsorption</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Reclaiming what the body needs from the filtrate.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25.6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Reabsorption &amp; Secretion</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Most of the filtrate is reclaimed</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Water, glucose, ions are reabsorbed</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Wastes are secreted into the tubule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Only urine remains</a:t>
            </a:r>
            <a:endParaRPr lang="en-US" sz="1500" dirty="0"/>
          </a:p>
        </p:txBody>
      </p:sp>
      <p:sp>
        <p:nvSpPr>
          <p:cNvPr id="5" name="Shape 3"/>
          <p:cNvSpPr/>
          <p:nvPr/>
        </p:nvSpPr>
        <p:spPr>
          <a:xfrm>
            <a:off x="6347385" y="1335024"/>
            <a:ext cx="4495949" cy="4645152"/>
          </a:xfrm>
          <a:prstGeom prst="roundRect">
            <a:avLst>
              <a:gd name="adj" fmla="val 1220"/>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5/img/img16.jpg">    </p:cNvPr>
          <p:cNvPicPr>
            <a:picLocks noChangeAspect="1"/>
          </p:cNvPicPr>
          <p:nvPr/>
        </p:nvPicPr>
        <p:blipFill>
          <a:blip r:embed="rId1"/>
          <a:stretch>
            <a:fillRect/>
          </a:stretch>
        </p:blipFill>
        <p:spPr>
          <a:xfrm>
            <a:off x="6429681" y="1417320"/>
            <a:ext cx="4331357"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Reabsorption and secretion along the nephron</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25 — The Urinary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25.6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Concentrating the Urine</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loop of Henle builds a salt gradient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medulla becomes very salty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Water is drawn out of the tubule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Produces concentrated urine</a:t>
            </a:r>
            <a:endParaRPr lang="en-US" sz="1500" dirty="0"/>
          </a:p>
        </p:txBody>
      </p:sp>
      <p:sp>
        <p:nvSpPr>
          <p:cNvPr id="5" name="Shape 3"/>
          <p:cNvSpPr/>
          <p:nvPr/>
        </p:nvSpPr>
        <p:spPr>
          <a:xfrm>
            <a:off x="5404104" y="1347138"/>
            <a:ext cx="6382512" cy="4620924"/>
          </a:xfrm>
          <a:prstGeom prst="roundRect">
            <a:avLst>
              <a:gd name="adj" fmla="val 1187"/>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5/img/img18.jpg">    </p:cNvPr>
          <p:cNvPicPr>
            <a:picLocks noChangeAspect="1"/>
          </p:cNvPicPr>
          <p:nvPr/>
        </p:nvPicPr>
        <p:blipFill>
          <a:blip r:embed="rId1"/>
          <a:stretch>
            <a:fillRect/>
          </a:stretch>
        </p:blipFill>
        <p:spPr>
          <a:xfrm>
            <a:off x="5486400" y="1429434"/>
            <a:ext cx="6217920" cy="4456332"/>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Concentrating the urine in the loop of Henle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25 — The Urinary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25.8</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Endocrine Regulation of Kidney Function</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hormones fine-tune kidney function and fluid balance.</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25.8</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Hormonal Regulation</a:t>
            </a:r>
            <a:endParaRPr lang="en-US" sz="2800" dirty="0"/>
          </a:p>
        </p:txBody>
      </p:sp>
      <p:sp>
        <p:nvSpPr>
          <p:cNvPr id="4" name="Shape 2"/>
          <p:cNvSpPr/>
          <p:nvPr/>
        </p:nvSpPr>
        <p:spPr>
          <a:xfrm>
            <a:off x="3194072" y="1289304"/>
            <a:ext cx="5819095"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5/img/img14.jpg">    </p:cNvPr>
          <p:cNvPicPr>
            <a:picLocks noChangeAspect="1"/>
          </p:cNvPicPr>
          <p:nvPr/>
        </p:nvPicPr>
        <p:blipFill>
          <a:blip r:embed="rId1"/>
          <a:stretch>
            <a:fillRect/>
          </a:stretch>
        </p:blipFill>
        <p:spPr>
          <a:xfrm>
            <a:off x="3276368" y="1371600"/>
            <a:ext cx="5654503"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Endocrine regulation of the kidney</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Hormones adjust water and salt</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ADH increases water reabsorption</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Aldosterone retains sodium</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Together they control blood volume and pressure</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25 — The Urinary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25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kidneys filter blood and make urine; the ureters, bladder, and urethra store and remove it.</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Each kidney has a cortex and medulla and about a million nephrons.</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Urine forms by filtration, reabsorption, and secretion along the nephron.</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loop of Henle lets the kidney concentrate urine and conserve water.</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Hormones like ADH and aldosterone adjust fluid and electrolyte balance.</a:t>
            </a:r>
            <a:endParaRPr lang="en-US" sz="1550" dirty="0"/>
          </a:p>
        </p:txBody>
      </p:sp>
      <p:sp>
        <p:nvSpPr>
          <p:cNvPr id="14"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25 — The Urinary System</a:t>
            </a:r>
            <a:endParaRPr lang="en-US" sz="900" dirty="0"/>
          </a:p>
        </p:txBody>
      </p:sp>
      <p:sp>
        <p:nvSpPr>
          <p:cNvPr id="15"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500" b="1" dirty="0">
                <a:solidFill>
                  <a:srgbClr val="FFFFFF"/>
                </a:solidFill>
                <a:latin typeface="Georgia" pitchFamily="34" charset="0"/>
                <a:ea typeface="Georgia" pitchFamily="34" charset="-122"/>
                <a:cs typeface="Georgia" pitchFamily="34" charset="-120"/>
              </a:rPr>
              <a:t>Why the Urinary System Matters in Practical Nursing</a:t>
            </a:r>
            <a:endParaRPr lang="en-US" sz="2500" dirty="0"/>
          </a:p>
        </p:txBody>
      </p:sp>
      <p:sp>
        <p:nvSpPr>
          <p:cNvPr id="4" name="Shape 2"/>
          <p:cNvSpPr/>
          <p:nvPr/>
        </p:nvSpPr>
        <p:spPr>
          <a:xfrm>
            <a:off x="548640" y="1783080"/>
            <a:ext cx="5440680" cy="1389888"/>
          </a:xfrm>
          <a:prstGeom prst="roundRect">
            <a:avLst>
              <a:gd name="adj" fmla="val 5263"/>
            </a:avLst>
          </a:prstGeom>
          <a:solidFill>
            <a:srgbClr val="13586A"/>
          </a:solidFill>
          <a:ln w="12700">
            <a:solidFill>
              <a:srgbClr val="2A7A8C"/>
            </a:solidFill>
            <a:prstDash val="solid"/>
          </a:ln>
        </p:spPr>
      </p:sp>
      <p:sp>
        <p:nvSpPr>
          <p:cNvPr id="5" name="Text 3"/>
          <p:cNvSpPr/>
          <p:nvPr/>
        </p:nvSpPr>
        <p:spPr>
          <a:xfrm>
            <a:off x="77724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Urinary Tract Infection</a:t>
            </a:r>
            <a:endParaRPr lang="en-US" sz="1600" dirty="0"/>
          </a:p>
        </p:txBody>
      </p:sp>
      <p:sp>
        <p:nvSpPr>
          <p:cNvPr id="6" name="Text 4"/>
          <p:cNvSpPr/>
          <p:nvPr/>
        </p:nvSpPr>
        <p:spPr>
          <a:xfrm>
            <a:off x="77724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Common, especially in women — watch for symptoms.</a:t>
            </a:r>
            <a:endParaRPr lang="en-US" sz="1250" dirty="0"/>
          </a:p>
        </p:txBody>
      </p:sp>
      <p:sp>
        <p:nvSpPr>
          <p:cNvPr id="7" name="Shape 5"/>
          <p:cNvSpPr/>
          <p:nvPr/>
        </p:nvSpPr>
        <p:spPr>
          <a:xfrm>
            <a:off x="6172200" y="1783080"/>
            <a:ext cx="5440680" cy="1389888"/>
          </a:xfrm>
          <a:prstGeom prst="roundRect">
            <a:avLst>
              <a:gd name="adj" fmla="val 5263"/>
            </a:avLst>
          </a:prstGeom>
          <a:solidFill>
            <a:srgbClr val="13586A"/>
          </a:solidFill>
          <a:ln w="12700">
            <a:solidFill>
              <a:srgbClr val="2A7A8C"/>
            </a:solidFill>
            <a:prstDash val="solid"/>
          </a:ln>
        </p:spPr>
      </p:sp>
      <p:sp>
        <p:nvSpPr>
          <p:cNvPr id="8" name="Text 6"/>
          <p:cNvSpPr/>
          <p:nvPr/>
        </p:nvSpPr>
        <p:spPr>
          <a:xfrm>
            <a:off x="640080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Kidney Stones</a:t>
            </a:r>
            <a:endParaRPr lang="en-US" sz="1600" dirty="0"/>
          </a:p>
        </p:txBody>
      </p:sp>
      <p:sp>
        <p:nvSpPr>
          <p:cNvPr id="9" name="Text 7"/>
          <p:cNvSpPr/>
          <p:nvPr/>
        </p:nvSpPr>
        <p:spPr>
          <a:xfrm>
            <a:off x="640080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Hardened deposits cause severe flank pain.</a:t>
            </a:r>
            <a:endParaRPr lang="en-US" sz="1250" dirty="0"/>
          </a:p>
        </p:txBody>
      </p:sp>
      <p:sp>
        <p:nvSpPr>
          <p:cNvPr id="10" name="Shape 8"/>
          <p:cNvSpPr/>
          <p:nvPr/>
        </p:nvSpPr>
        <p:spPr>
          <a:xfrm>
            <a:off x="548640" y="3337560"/>
            <a:ext cx="5440680" cy="1389888"/>
          </a:xfrm>
          <a:prstGeom prst="roundRect">
            <a:avLst>
              <a:gd name="adj" fmla="val 5263"/>
            </a:avLst>
          </a:prstGeom>
          <a:solidFill>
            <a:srgbClr val="13586A"/>
          </a:solidFill>
          <a:ln w="12700">
            <a:solidFill>
              <a:srgbClr val="2A7A8C"/>
            </a:solidFill>
            <a:prstDash val="solid"/>
          </a:ln>
        </p:spPr>
      </p:sp>
      <p:sp>
        <p:nvSpPr>
          <p:cNvPr id="11" name="Text 9"/>
          <p:cNvSpPr/>
          <p:nvPr/>
        </p:nvSpPr>
        <p:spPr>
          <a:xfrm>
            <a:off x="77724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Kidney Failure</a:t>
            </a:r>
            <a:endParaRPr lang="en-US" sz="1600" dirty="0"/>
          </a:p>
        </p:txBody>
      </p:sp>
      <p:sp>
        <p:nvSpPr>
          <p:cNvPr id="12" name="Text 10"/>
          <p:cNvSpPr/>
          <p:nvPr/>
        </p:nvSpPr>
        <p:spPr>
          <a:xfrm>
            <a:off x="77724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Lost filtration causes waste buildup; may need dialysis.</a:t>
            </a:r>
            <a:endParaRPr lang="en-US" sz="1250" dirty="0"/>
          </a:p>
        </p:txBody>
      </p:sp>
      <p:sp>
        <p:nvSpPr>
          <p:cNvPr id="13" name="Shape 11"/>
          <p:cNvSpPr/>
          <p:nvPr/>
        </p:nvSpPr>
        <p:spPr>
          <a:xfrm>
            <a:off x="6172200" y="3337560"/>
            <a:ext cx="5440680" cy="1389888"/>
          </a:xfrm>
          <a:prstGeom prst="roundRect">
            <a:avLst>
              <a:gd name="adj" fmla="val 5263"/>
            </a:avLst>
          </a:prstGeom>
          <a:solidFill>
            <a:srgbClr val="13586A"/>
          </a:solidFill>
          <a:ln w="12700">
            <a:solidFill>
              <a:srgbClr val="2A7A8C"/>
            </a:solidFill>
            <a:prstDash val="solid"/>
          </a:ln>
        </p:spPr>
      </p:sp>
      <p:sp>
        <p:nvSpPr>
          <p:cNvPr id="14" name="Text 12"/>
          <p:cNvSpPr/>
          <p:nvPr/>
        </p:nvSpPr>
        <p:spPr>
          <a:xfrm>
            <a:off x="640080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Urinalysis</a:t>
            </a:r>
            <a:endParaRPr lang="en-US" sz="1600" dirty="0"/>
          </a:p>
        </p:txBody>
      </p:sp>
      <p:sp>
        <p:nvSpPr>
          <p:cNvPr id="15" name="Text 13"/>
          <p:cNvSpPr/>
          <p:nvPr/>
        </p:nvSpPr>
        <p:spPr>
          <a:xfrm>
            <a:off x="640080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A simple test revealing many systemic conditions.</a:t>
            </a:r>
            <a:endParaRPr lang="en-US" sz="1250" dirty="0"/>
          </a:p>
        </p:txBody>
      </p:sp>
      <p:sp>
        <p:nvSpPr>
          <p:cNvPr id="16" name="Shape 14"/>
          <p:cNvSpPr/>
          <p:nvPr/>
        </p:nvSpPr>
        <p:spPr>
          <a:xfrm>
            <a:off x="548640" y="4892040"/>
            <a:ext cx="5440680" cy="1389888"/>
          </a:xfrm>
          <a:prstGeom prst="roundRect">
            <a:avLst>
              <a:gd name="adj" fmla="val 5263"/>
            </a:avLst>
          </a:prstGeom>
          <a:solidFill>
            <a:srgbClr val="13586A"/>
          </a:solidFill>
          <a:ln w="12700">
            <a:solidFill>
              <a:srgbClr val="2A7A8C"/>
            </a:solidFill>
            <a:prstDash val="solid"/>
          </a:ln>
        </p:spPr>
      </p:sp>
      <p:sp>
        <p:nvSpPr>
          <p:cNvPr id="17" name="Text 15"/>
          <p:cNvSpPr/>
          <p:nvPr/>
        </p:nvSpPr>
        <p:spPr>
          <a:xfrm>
            <a:off x="77724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Fluid Balance</a:t>
            </a:r>
            <a:endParaRPr lang="en-US" sz="1600" dirty="0"/>
          </a:p>
        </p:txBody>
      </p:sp>
      <p:sp>
        <p:nvSpPr>
          <p:cNvPr id="18" name="Text 16"/>
          <p:cNvSpPr/>
          <p:nvPr/>
        </p:nvSpPr>
        <p:spPr>
          <a:xfrm>
            <a:off x="77724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The kidneys are central to blood volume and pressure.</a:t>
            </a:r>
            <a:endParaRPr lang="en-US" sz="1250" dirty="0"/>
          </a:p>
        </p:txBody>
      </p:sp>
      <p:sp>
        <p:nvSpPr>
          <p:cNvPr id="19" name="Shape 17"/>
          <p:cNvSpPr/>
          <p:nvPr/>
        </p:nvSpPr>
        <p:spPr>
          <a:xfrm>
            <a:off x="6172200" y="4892040"/>
            <a:ext cx="5440680" cy="1389888"/>
          </a:xfrm>
          <a:prstGeom prst="roundRect">
            <a:avLst>
              <a:gd name="adj" fmla="val 5263"/>
            </a:avLst>
          </a:prstGeom>
          <a:solidFill>
            <a:srgbClr val="13586A"/>
          </a:solidFill>
          <a:ln w="12700">
            <a:solidFill>
              <a:srgbClr val="2A7A8C"/>
            </a:solidFill>
            <a:prstDash val="solid"/>
          </a:ln>
        </p:spPr>
      </p:sp>
      <p:sp>
        <p:nvSpPr>
          <p:cNvPr id="20" name="Text 18"/>
          <p:cNvSpPr/>
          <p:nvPr/>
        </p:nvSpPr>
        <p:spPr>
          <a:xfrm>
            <a:off x="640080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Diuretics</a:t>
            </a:r>
            <a:endParaRPr lang="en-US" sz="1600" dirty="0"/>
          </a:p>
        </p:txBody>
      </p:sp>
      <p:sp>
        <p:nvSpPr>
          <p:cNvPr id="21" name="Text 19"/>
          <p:cNvSpPr/>
          <p:nvPr/>
        </p:nvSpPr>
        <p:spPr>
          <a:xfrm>
            <a:off x="640080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Drugs that increase urine output to manage fluid overload.</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2026-06-23T22:09:32Z</dcterms:created>
  <dcterms:modified xsi:type="dcterms:W3CDTF">2026-06-23T22:09:32Z</dcterms:modified>
</cp:coreProperties>
</file>