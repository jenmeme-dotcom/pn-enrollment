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axial skeleton — the central core of 80 bones: the skull that protects the brain, the vertebral column that protects the spinal cord, and the thoracic cage that shields the heart and lungs. Highlight how each region supports the body and connects to clinical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206 bones split into the axial skeleton (80 bones — skull, vertebral column, thoracic cage), which forms the central supporting axis, and the appendicular skeleton (126 bones — the limbs and the girdles that attach them). This chapter covers the axial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skull has 22 bones — 8 cranial bones protecting the brain and 14 facial bones forming the face. From the front you see the frontal bone, the orbits, nasal bones, maxillae, and mandible. Nearly all skull joints are immovable sutures.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side, the major cranial bones — frontal, parietal, temporal, occipital, and sphenoid — meet at sutures. The temporal bone houses the ear and the mastoid process. Internally, three cranial fossae step down to cradle different parts of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cranial bones interlock at sutures — coronal (front), sagittal (top midline), and lambdoid (back). The foramen magnum, the large opening through which the spinal cord exits, lies in the occipital bone. Sutures are immovable in adults but flexible in infants.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mandible is the largest, strongest facial bone and the only one that moves, joining the temporal bone at the temporomandibular joint (TMJ). It holds the lower teeth and is essential for chewing and speech. TMJ disorders are a common clinical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paranasal sinuses are air-filled cavities in the frontal, ethmoid, sphenoid, and maxillary bones. They lighten the skull, warm and humidify inhaled air, and add resonance to the voice. Because they drain into the nasal cavity, they can become infected (sinusitis).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vertebral column has 26 bones in five regions — 7 cervical, 12 thoracic, 5 lumbar, the sacrum, and the coccyx. Its four curvatures (cervical and lumbar concave, thoracic and sacral convex) balance weight and absorb shock while protecting the spinal 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Abnormal curvatures include scoliosis (a lateral S- or C-curve), kyphosis (excessive thoracic convexity, common with osteoporosis), and lordosis (excessive lumbar concavity, or "swayback"). Severe cases affect posture, mobility, and even breathing. Adolescent scoliosis screening is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vertebra has a weight-bearing body in front and a vertebral arch behind that encloses the spinal cord. Processes (spinous, transverse, and articular) provide muscle attachment and joints with neighboring vertebrae. The stacked vertebral foramina form the protective vertebral canal.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Intervertebral discs of fibrocartilage sit between the vertebral bodies, cushioning them and allowing movement. Each has a tough outer annulus fibrosus around a gel-like nucleus pulposus. Discs thin with age, contributing to height loss and back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annulus weakens, the nucleus pulposus can bulge or rupture (herniate) and press on a spinal nerve or the cord, causing radiating pain, numbness, or weakness — classically sciatica in the lower back. This is a very common cause of back and leg pain.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thoracic cage is the sternum and 12 pairs of ribs. True ribs (1–7) attach directly to the sternum by costal cartilage, false ribs (8–10) attach indirectly, and floating ribs (11–12) have no anterior attachment. The cage protects the heart and lungs and moves to expand the chest during breathing.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birth, the cranial bones are connected by fibrous fontanelles ("soft spots") rather than rigid sutures. These let the skull mold during birth and accommodate rapid brain growth, then gradually close over the first two years. A sunken or bulging fontanelle is an important assessment sign in infants.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7</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Axial Skeleton</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skull, vertebral column, and thoracic cage.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664875"/>
            <a:ext cx="4096512" cy="1711131"/>
          </a:xfrm>
          <a:prstGeom prst="roundRect">
            <a:avLst>
              <a:gd name="adj" fmla="val 320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7/img/img01.jpg">    </p:cNvPr>
          <p:cNvPicPr>
            <a:picLocks noChangeAspect="1"/>
          </p:cNvPicPr>
          <p:nvPr/>
        </p:nvPicPr>
        <p:blipFill>
          <a:blip r:embed="rId1"/>
          <a:stretch>
            <a:fillRect/>
          </a:stretch>
        </p:blipFill>
        <p:spPr>
          <a:xfrm>
            <a:off x="7818120" y="2747171"/>
            <a:ext cx="3931920" cy="15465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functions of the skeletal system and define its two major subdivisions</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bones and bony structures of the skull, the cranial suture lines, the cranial fossae, and the openings in the skull</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vertebral column and regional variations in its bony components and curvatures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components of the thoracic cage</a:t>
            </a:r>
            <a:endParaRPr lang="en-US" sz="1400" dirty="0"/>
          </a:p>
        </p:txBody>
      </p:sp>
      <p:sp>
        <p:nvSpPr>
          <p:cNvPr id="17" name="Shape 15"/>
          <p:cNvSpPr/>
          <p:nvPr/>
        </p:nvSpPr>
        <p:spPr>
          <a:xfrm>
            <a:off x="548640" y="4809744"/>
            <a:ext cx="384048" cy="384048"/>
          </a:xfrm>
          <a:prstGeom prst="ellipse">
            <a:avLst/>
          </a:prstGeom>
          <a:solidFill>
            <a:srgbClr val="0F4C5C"/>
          </a:solidFill>
          <a:ln/>
        </p:spPr>
      </p:sp>
      <p:sp>
        <p:nvSpPr>
          <p:cNvPr id="18" name="Text 16"/>
          <p:cNvSpPr/>
          <p:nvPr/>
        </p:nvSpPr>
        <p:spPr>
          <a:xfrm>
            <a:off x="548640" y="48097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791456"/>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embryonic development of the axial skeleton The skeletal system forms the rigid internal framework of the body</a:t>
            </a:r>
            <a:endParaRPr lang="en-US" sz="1400" dirty="0"/>
          </a:p>
        </p:txBody>
      </p:sp>
      <p:sp>
        <p:nvSpPr>
          <p:cNvPr id="20" name="Shape 18"/>
          <p:cNvSpPr/>
          <p:nvPr/>
        </p:nvSpPr>
        <p:spPr>
          <a:xfrm>
            <a:off x="7450906" y="1545336"/>
            <a:ext cx="4300588" cy="4370832"/>
          </a:xfrm>
          <a:prstGeom prst="roundRect">
            <a:avLst>
              <a:gd name="adj" fmla="val 127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07/img/img02.jpg">    </p:cNvPr>
          <p:cNvPicPr>
            <a:picLocks noChangeAspect="1"/>
          </p:cNvPicPr>
          <p:nvPr/>
        </p:nvPicPr>
        <p:blipFill>
          <a:blip r:embed="rId1"/>
          <a:stretch>
            <a:fillRect/>
          </a:stretch>
        </p:blipFill>
        <p:spPr>
          <a:xfrm>
            <a:off x="7533202" y="1627632"/>
            <a:ext cx="4135996" cy="4206240"/>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axial skeleton forms the body's central axis.</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7.1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Divisions of the Skeletal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Dividing the skeleton into the axial core and the appendicular limbs.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Axial vs. Appendicular Skeleton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206 bones in two divisions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Axial: skull, vertebrae, thoracic cage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Appendicular: limbs and girdles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axial forms the central axis</a:t>
            </a:r>
            <a:endParaRPr lang="en-US" sz="1500" dirty="0"/>
          </a:p>
        </p:txBody>
      </p:sp>
      <p:sp>
        <p:nvSpPr>
          <p:cNvPr id="5" name="Shape 3"/>
          <p:cNvSpPr/>
          <p:nvPr/>
        </p:nvSpPr>
        <p:spPr>
          <a:xfrm>
            <a:off x="6310197" y="1335024"/>
            <a:ext cx="4570327" cy="4645152"/>
          </a:xfrm>
          <a:prstGeom prst="roundRect">
            <a:avLst>
              <a:gd name="adj" fmla="val 120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02.jpg">    </p:cNvPr>
          <p:cNvPicPr>
            <a:picLocks noChangeAspect="1"/>
          </p:cNvPicPr>
          <p:nvPr/>
        </p:nvPicPr>
        <p:blipFill>
          <a:blip r:embed="rId1"/>
          <a:stretch>
            <a:fillRect/>
          </a:stretch>
        </p:blipFill>
        <p:spPr>
          <a:xfrm>
            <a:off x="6392493" y="1417320"/>
            <a:ext cx="440573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axial and appendicular skeleton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7.2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Skull</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cranial and facial bones that protect the brain and shape the face.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Skull — Anterior View</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22 bones: cranial and facial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Cranial bones enclose the brain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Facial bones shape the face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Joined by immovable sutures</a:t>
            </a:r>
            <a:endParaRPr lang="en-US" sz="1500" dirty="0"/>
          </a:p>
        </p:txBody>
      </p:sp>
      <p:sp>
        <p:nvSpPr>
          <p:cNvPr id="5" name="Shape 3"/>
          <p:cNvSpPr/>
          <p:nvPr/>
        </p:nvSpPr>
        <p:spPr>
          <a:xfrm>
            <a:off x="5865053" y="1335024"/>
            <a:ext cx="546061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04.jpg">    </p:cNvPr>
          <p:cNvPicPr>
            <a:picLocks noChangeAspect="1"/>
          </p:cNvPicPr>
          <p:nvPr/>
        </p:nvPicPr>
        <p:blipFill>
          <a:blip r:embed="rId1"/>
          <a:stretch>
            <a:fillRect/>
          </a:stretch>
        </p:blipFill>
        <p:spPr>
          <a:xfrm>
            <a:off x="5947349" y="1417320"/>
            <a:ext cx="529602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Anterior view of the skull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Skull — Lateral View</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Frontal, parietal, temporal, occipital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Sphenoid and ethmoid lie deep within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Cranial bones meet at sutures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Cranial fossae cradle the brain</a:t>
            </a:r>
            <a:endParaRPr lang="en-US" sz="1500" dirty="0"/>
          </a:p>
        </p:txBody>
      </p:sp>
      <p:sp>
        <p:nvSpPr>
          <p:cNvPr id="5" name="Shape 3"/>
          <p:cNvSpPr/>
          <p:nvPr/>
        </p:nvSpPr>
        <p:spPr>
          <a:xfrm>
            <a:off x="5404104" y="1442519"/>
            <a:ext cx="6382512" cy="4430161"/>
          </a:xfrm>
          <a:prstGeom prst="roundRect">
            <a:avLst>
              <a:gd name="adj" fmla="val 123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05.jpg">    </p:cNvPr>
          <p:cNvPicPr>
            <a:picLocks noChangeAspect="1"/>
          </p:cNvPicPr>
          <p:nvPr/>
        </p:nvPicPr>
        <p:blipFill>
          <a:blip r:embed="rId1"/>
          <a:stretch>
            <a:fillRect/>
          </a:stretch>
        </p:blipFill>
        <p:spPr>
          <a:xfrm>
            <a:off x="5486400" y="1524815"/>
            <a:ext cx="6217920" cy="4265569"/>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Lateral view of the skull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Sutures of the Skull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Sutures are immovable fibrous joints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Coronal, sagittal, and lambdoid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Lock the cranial bones together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Foramen magnum at the base</a:t>
            </a:r>
            <a:endParaRPr lang="en-US" sz="1500" dirty="0"/>
          </a:p>
        </p:txBody>
      </p:sp>
      <p:sp>
        <p:nvSpPr>
          <p:cNvPr id="5" name="Shape 3"/>
          <p:cNvSpPr/>
          <p:nvPr/>
        </p:nvSpPr>
        <p:spPr>
          <a:xfrm>
            <a:off x="5637217" y="1335024"/>
            <a:ext cx="5916287"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09.jpg">    </p:cNvPr>
          <p:cNvPicPr>
            <a:picLocks noChangeAspect="1"/>
          </p:cNvPicPr>
          <p:nvPr/>
        </p:nvPicPr>
        <p:blipFill>
          <a:blip r:embed="rId1"/>
          <a:stretch>
            <a:fillRect/>
          </a:stretch>
        </p:blipFill>
        <p:spPr>
          <a:xfrm>
            <a:off x="5719513" y="1417320"/>
            <a:ext cx="5751695"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Posterior skull and cranial sutures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Mandible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only movable skull bone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Forms the lower jaw</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Holds the lower teeth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Articulates at the TMJ</a:t>
            </a:r>
            <a:endParaRPr lang="en-US" sz="1500" dirty="0"/>
          </a:p>
        </p:txBody>
      </p:sp>
      <p:sp>
        <p:nvSpPr>
          <p:cNvPr id="5" name="Shape 3"/>
          <p:cNvSpPr/>
          <p:nvPr/>
        </p:nvSpPr>
        <p:spPr>
          <a:xfrm>
            <a:off x="5590395" y="1335024"/>
            <a:ext cx="600993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15.jpg">    </p:cNvPr>
          <p:cNvPicPr>
            <a:picLocks noChangeAspect="1"/>
          </p:cNvPicPr>
          <p:nvPr/>
        </p:nvPicPr>
        <p:blipFill>
          <a:blip r:embed="rId1"/>
          <a:stretch>
            <a:fillRect/>
          </a:stretch>
        </p:blipFill>
        <p:spPr>
          <a:xfrm>
            <a:off x="5672691" y="1417320"/>
            <a:ext cx="584533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mandible (lower jaw)</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Paranasal Sinuses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Air-filled spaces in skull bones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Frontal, ethmoid, sphenoid, maxillary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Lighten the skull and warm air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Drain into the nasal cavity</a:t>
            </a:r>
            <a:endParaRPr lang="en-US" sz="1500" dirty="0"/>
          </a:p>
        </p:txBody>
      </p:sp>
      <p:sp>
        <p:nvSpPr>
          <p:cNvPr id="5" name="Shape 3"/>
          <p:cNvSpPr/>
          <p:nvPr/>
        </p:nvSpPr>
        <p:spPr>
          <a:xfrm>
            <a:off x="5404104" y="1477632"/>
            <a:ext cx="6382512" cy="4359936"/>
          </a:xfrm>
          <a:prstGeom prst="roundRect">
            <a:avLst>
              <a:gd name="adj" fmla="val 125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18.jpg">    </p:cNvPr>
          <p:cNvPicPr>
            <a:picLocks noChangeAspect="1"/>
          </p:cNvPicPr>
          <p:nvPr/>
        </p:nvPicPr>
        <p:blipFill>
          <a:blip r:embed="rId1"/>
          <a:stretch>
            <a:fillRect/>
          </a:stretch>
        </p:blipFill>
        <p:spPr>
          <a:xfrm>
            <a:off x="5486400" y="1559928"/>
            <a:ext cx="6217920" cy="4195344"/>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paranasal sinuses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7.3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Vertebral Column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Support, protection of the spinal cord, and flexibility of the spine.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Vertebral Column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26 bones in five regions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Cervical, thoracic, lumbar, sacrum, coccyx</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curvatures balance the body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Protects the spinal cord</a:t>
            </a:r>
            <a:endParaRPr lang="en-US" sz="1500" dirty="0"/>
          </a:p>
        </p:txBody>
      </p:sp>
      <p:sp>
        <p:nvSpPr>
          <p:cNvPr id="5" name="Shape 3"/>
          <p:cNvSpPr/>
          <p:nvPr/>
        </p:nvSpPr>
        <p:spPr>
          <a:xfrm>
            <a:off x="6165251" y="1335024"/>
            <a:ext cx="486021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7/img/img20.jpg">    </p:cNvPr>
          <p:cNvPicPr>
            <a:picLocks noChangeAspect="1"/>
          </p:cNvPicPr>
          <p:nvPr/>
        </p:nvPicPr>
        <p:blipFill>
          <a:blip r:embed="rId1"/>
          <a:stretch>
            <a:fillRect/>
          </a:stretch>
        </p:blipFill>
        <p:spPr>
          <a:xfrm>
            <a:off x="6247547" y="1417320"/>
            <a:ext cx="469562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vertebral column and its curvatures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Abnormal Spinal Curvatures</a:t>
            </a:r>
            <a:endParaRPr lang="en-US" sz="2800" dirty="0"/>
          </a:p>
        </p:txBody>
      </p:sp>
      <p:sp>
        <p:nvSpPr>
          <p:cNvPr id="4" name="Shape 2"/>
          <p:cNvSpPr/>
          <p:nvPr/>
        </p:nvSpPr>
        <p:spPr>
          <a:xfrm>
            <a:off x="1369803" y="1289304"/>
            <a:ext cx="946763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21.jpg">    </p:cNvPr>
          <p:cNvPicPr>
            <a:picLocks noChangeAspect="1"/>
          </p:cNvPicPr>
          <p:nvPr/>
        </p:nvPicPr>
        <p:blipFill>
          <a:blip r:embed="rId1"/>
          <a:stretch>
            <a:fillRect/>
          </a:stretch>
        </p:blipFill>
        <p:spPr>
          <a:xfrm>
            <a:off x="1452099" y="1371600"/>
            <a:ext cx="930304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Scoliosis, kyphosis, and lordosis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Scoliosis: a sideways curvature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Kyphosis: exaggerated thoracic curve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Lordosis: exaggerated lumbar curve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Affect posture and breathing</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 Typical Vertebra</a:t>
            </a:r>
            <a:endParaRPr lang="en-US" sz="2800" dirty="0"/>
          </a:p>
        </p:txBody>
      </p:sp>
      <p:sp>
        <p:nvSpPr>
          <p:cNvPr id="4" name="Shape 2"/>
          <p:cNvSpPr/>
          <p:nvPr/>
        </p:nvSpPr>
        <p:spPr>
          <a:xfrm>
            <a:off x="1922201" y="1289304"/>
            <a:ext cx="836283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23.jpg">    </p:cNvPr>
          <p:cNvPicPr>
            <a:picLocks noChangeAspect="1"/>
          </p:cNvPicPr>
          <p:nvPr/>
        </p:nvPicPr>
        <p:blipFill>
          <a:blip r:embed="rId1"/>
          <a:stretch>
            <a:fillRect/>
          </a:stretch>
        </p:blipFill>
        <p:spPr>
          <a:xfrm>
            <a:off x="2004497" y="1371600"/>
            <a:ext cx="819824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typical vertebra</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Body bears weight in front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Vertebral arch surrounds the cord</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Spinous and transverse processes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Stacked foramina form the canal</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Intervertebral Discs</a:t>
            </a:r>
            <a:endParaRPr lang="en-US" sz="2800" dirty="0"/>
          </a:p>
        </p:txBody>
      </p:sp>
      <p:sp>
        <p:nvSpPr>
          <p:cNvPr id="4" name="Shape 2"/>
          <p:cNvSpPr/>
          <p:nvPr/>
        </p:nvSpPr>
        <p:spPr>
          <a:xfrm>
            <a:off x="2235667" y="1289304"/>
            <a:ext cx="773590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24.jpg">    </p:cNvPr>
          <p:cNvPicPr>
            <a:picLocks noChangeAspect="1"/>
          </p:cNvPicPr>
          <p:nvPr/>
        </p:nvPicPr>
        <p:blipFill>
          <a:blip r:embed="rId1"/>
          <a:stretch>
            <a:fillRect/>
          </a:stretch>
        </p:blipFill>
        <p:spPr>
          <a:xfrm>
            <a:off x="2317963" y="1371600"/>
            <a:ext cx="757131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 intervertebral disc</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Cushions between vertebral bodies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Tough outer ring (annulus fibrosus)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Gel-like center (nucleus pulposus)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Absorb shock and allow movement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Herniated Disc</a:t>
            </a:r>
            <a:endParaRPr lang="en-US" sz="2800" dirty="0"/>
          </a:p>
        </p:txBody>
      </p:sp>
      <p:sp>
        <p:nvSpPr>
          <p:cNvPr id="4" name="Shape 2"/>
          <p:cNvSpPr/>
          <p:nvPr/>
        </p:nvSpPr>
        <p:spPr>
          <a:xfrm>
            <a:off x="2515254" y="1289304"/>
            <a:ext cx="717673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30.jpg">    </p:cNvPr>
          <p:cNvPicPr>
            <a:picLocks noChangeAspect="1"/>
          </p:cNvPicPr>
          <p:nvPr/>
        </p:nvPicPr>
        <p:blipFill>
          <a:blip r:embed="rId1"/>
          <a:stretch>
            <a:fillRect/>
          </a:stretch>
        </p:blipFill>
        <p:spPr>
          <a:xfrm>
            <a:off x="2597550" y="1371600"/>
            <a:ext cx="701214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herniated intervertebral disc</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Nucleus pushes through the annulus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Can compress spinal nerves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Causes pain, numbness, weakness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Common in the lumbar spine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7.4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Thoracic Cage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sternum and ribs that protect the heart and lungs and aid breathing.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Thoracic Cage</a:t>
            </a:r>
            <a:endParaRPr lang="en-US" sz="2800" dirty="0"/>
          </a:p>
        </p:txBody>
      </p:sp>
      <p:sp>
        <p:nvSpPr>
          <p:cNvPr id="4" name="Shape 2"/>
          <p:cNvSpPr/>
          <p:nvPr/>
        </p:nvSpPr>
        <p:spPr>
          <a:xfrm>
            <a:off x="3007384" y="1289304"/>
            <a:ext cx="6192472"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32.jpg">    </p:cNvPr>
          <p:cNvPicPr>
            <a:picLocks noChangeAspect="1"/>
          </p:cNvPicPr>
          <p:nvPr/>
        </p:nvPicPr>
        <p:blipFill>
          <a:blip r:embed="rId1"/>
          <a:stretch>
            <a:fillRect/>
          </a:stretch>
        </p:blipFill>
        <p:spPr>
          <a:xfrm>
            <a:off x="3089680" y="1371600"/>
            <a:ext cx="6027880"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thoracic cage (sternum and ribs)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Sternum plus 12 pairs of ribs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True, false, and floating ribs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Protects the heart and lungs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Moves to enable breathing</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7.5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Embryonic Development of the Axial Skeleton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skull and spine form before birth and in infancy.</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7.5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Fontanelles &amp; Skull Development</a:t>
            </a:r>
            <a:endParaRPr lang="en-US" sz="2800" dirty="0"/>
          </a:p>
        </p:txBody>
      </p:sp>
      <p:sp>
        <p:nvSpPr>
          <p:cNvPr id="4" name="Shape 2"/>
          <p:cNvSpPr/>
          <p:nvPr/>
        </p:nvSpPr>
        <p:spPr>
          <a:xfrm>
            <a:off x="725041" y="1289304"/>
            <a:ext cx="10757157"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7/img/img33.jpg">    </p:cNvPr>
          <p:cNvPicPr>
            <a:picLocks noChangeAspect="1"/>
          </p:cNvPicPr>
          <p:nvPr/>
        </p:nvPicPr>
        <p:blipFill>
          <a:blip r:embed="rId1"/>
          <a:stretch>
            <a:fillRect/>
          </a:stretch>
        </p:blipFill>
        <p:spPr>
          <a:xfrm>
            <a:off x="807337" y="1371600"/>
            <a:ext cx="10592565"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Fontanelles of the newborn skull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Infant skull bones are not yet fused</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Fontanelles ("soft spots") remain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Allow birth passage and brain growth</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Close over the first two years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skeleton divides into the axial (central axis) and appendicular (limbs) divisions.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skull's 22 bones protect the brain and form the face, joined by immovable sutures.</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vertebral column supports the body, protects the spinal cord, and has four curvatures.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thoracic cage protects the heart and lungs and assists with breathing.</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infant skull has fontanelles that allow birth and brain growth.</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7 — The Axial Skeleton</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the Axial Skeleton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Spine Injuries</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Vertebrae protect the spinal cord — spinal precautions prevent paralysis.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Back Pain</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Herniated discs and abnormal curvatures are common sources of pain.</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Sinusitis</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paranasal sinuses drain into the nose and can become infected.</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Infant Assessment</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Fontanelles reveal hydration status and intracranial pressure.</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Osteoporosis</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Thoracic kyphosis often reflects vertebral bone loss in older adults.</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CPR Landmarks</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The sternum and ribs guide hand placement for chest compressions.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2026-06-23T20:13:17Z</dcterms:created>
  <dcterms:modified xsi:type="dcterms:W3CDTF">2026-06-23T20:13:17Z</dcterms:modified>
</cp:coreProperties>
</file>