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cell as the basic living unit: a membrane controls what enters and leaves, organelles divide the labor, the nucleus stores and copies DNA, and protein synthesis and cell division keep the body growing and repairing. Each idea returns in physiology and pathology.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plasma membrane is a phospholipid bilayer studded with proteins — the fluid-mosaic model. Tails face inward (water-fearing) and heads face outward (water-loving). Membrane proteins handle transport, signaling, and recognition, while cholesterol keeps the membrane fluid yet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transport uses ATP to move substances uphill, from low to high concentration. The sodium-potassium pump (three Na⁺ out, two K⁺ in) is essential for nerve impulses, muscle contraction, and cell volume. Contrast it with passive diffusion, which needs no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Endocytosis brings large materials in by wrapping them in membrane. Phagocytosis engulfs solids — how white blood cells destroy pathogens; pinocytosis takes in fluid; receptor-mediated endocytosis selectively imports specific molecules. This is central to immune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Exocytosis is the reverse of endocytosis: a vesicle fuses with the plasma membrane and releases its contents outside. This is how cells secrete hormones, digestive enzymes, mucus, and neurotransmitters.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overview to orient students before detailing each organelle. The cytoplasm is everything between the membrane and the nucleus; organelles are specialized structures, each with a specific task — much like organs within a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is a membrane network. Rough ER, with ribosomes, synthesizes and folds proteins bound for secretion or membranes; smooth ER builds lipids, stores calcium, and detoxifies — especially important in liver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Golgi receives proteins from the rough ER, modifies and labels them, then packages them into vesicles for delivery inside or outside the cell. Think of it as the shipping-and-receiving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Mitochondria are the powerhouses, generating most of the cell's ATP through aerobic respiration. Their folded inner membrane (cristae) increases surface area for energy production. Cells with high energy demand — heart and muscle — are packed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nucleus is the control center, storing DNA and directing protein synthesis. Its double-membrane envelope has pores that regulate traffic; the nucleolus inside assembles ribosomes. Between divisions, DNA stays loosely packed as chromatin.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contains about two meters of DNA, packed by wrapping around histones into nucleosomes and coiling further. During division it condenses into visible chromosomes; the rest of the time it remains accessible chromatin.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DNA is a double helix with a sugar-phosphate backbone and paired bases — adenine with thymine, guanine with cytosine. The base sequence encodes the instructions for every protein the cell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dividing, a cell must copy its DNA. Helicase unzips the helix and DNA polymerase reads each strand to build a complementary partner, producing two identical double helices. Accuracy here guards against 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dogma: information flows from DNA to RNA to protein. Transcription copies a gene into messenger RNA in the nucleus; translation at the ribosome reads mRNA codons — three bases each — to assemble the correct amino-acid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transcription, RNA polymerase unwinds a gene and synthesizes a single-stranded mRNA copy of the template. The mRNA then leaves the nucleus through a pore to be translated at a ribosome.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ribosome, transfer RNAs bring amino acids matching each mRNA codon by anticodon pairing. The ribosome links them into a growing polypeptide chain, which folds into a functional protein.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cycle alternates interphase — G1 growth, S-phase DNA replication, G2 preparation — with the mitotic phase. Checkpoints governed by cyclins ensure each step is correct before proceeding. Loss of this control underlies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Mitosis distributes a complete, identical set of chromosomes to each new cell: chromosomes condense (prophase), align (metaphase), separate (anaphase), and re-form nuclei (telophase), followed by cytokinesis. This drives growth and tissue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body cells arise from stem cells that progressively specialize. Totipotent cells can form any cell type (and the placenta); pluripotent can form any body cell; multipotent are limited to a lineage. Differentiation turns specific genes on and off — and stem cells are a frontier in regenerative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chapter and reconnect each idea to patient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chapter's concepts to bedside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3</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Cellular Level of Organization</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cell membrane, organelles, DNA, and how cells divide.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7649"/>
            <a:ext cx="4096512" cy="1965581"/>
          </a:xfrm>
          <a:prstGeom prst="roundRect">
            <a:avLst>
              <a:gd name="adj" fmla="val 279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3/img/img01.jpg">    </p:cNvPr>
          <p:cNvPicPr>
            <a:picLocks noChangeAspect="1"/>
          </p:cNvPicPr>
          <p:nvPr/>
        </p:nvPicPr>
        <p:blipFill>
          <a:blip r:embed="rId1"/>
          <a:stretch>
            <a:fillRect/>
          </a:stretch>
        </p:blipFill>
        <p:spPr>
          <a:xfrm>
            <a:off x="7818120" y="2619945"/>
            <a:ext cx="3931920" cy="18009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structure and function of the cell membrane, including its regulation of materials into and out of the cell</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functions of the various cytoplasmic organelles</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the structure and contents of the nucleus, as well as the process of DNA replication</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the process by which a cell builds proteins using the DNA code</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List the stages of the cell cycle in order, including the steps of cell division in somatic cells</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Discuss how a cell differentiates and becomes more specialized</a:t>
            </a:r>
            <a:endParaRPr lang="en-US" sz="1300" dirty="0"/>
          </a:p>
        </p:txBody>
      </p:sp>
      <p:sp>
        <p:nvSpPr>
          <p:cNvPr id="23" name="Shape 21"/>
          <p:cNvSpPr/>
          <p:nvPr/>
        </p:nvSpPr>
        <p:spPr>
          <a:xfrm>
            <a:off x="7415784" y="1979975"/>
            <a:ext cx="4370832" cy="3501554"/>
          </a:xfrm>
          <a:prstGeom prst="roundRect">
            <a:avLst>
              <a:gd name="adj" fmla="val 156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03/img/img08.jpg">    </p:cNvPr>
          <p:cNvPicPr>
            <a:picLocks noChangeAspect="1"/>
          </p:cNvPicPr>
          <p:nvPr/>
        </p:nvPicPr>
        <p:blipFill>
          <a:blip r:embed="rId1"/>
          <a:stretch>
            <a:fillRect/>
          </a:stretch>
        </p:blipFill>
        <p:spPr>
          <a:xfrm>
            <a:off x="7498080" y="2062271"/>
            <a:ext cx="4206240" cy="3336962"/>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cell — the basic unit of life.</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Cell Membrane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selectively permeable boundary that controls what enters and leaves the cell.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Cell Membrane</a:t>
            </a:r>
            <a:endParaRPr lang="en-US" sz="2800" dirty="0"/>
          </a:p>
        </p:txBody>
      </p:sp>
      <p:sp>
        <p:nvSpPr>
          <p:cNvPr id="4" name="Shape 2"/>
          <p:cNvSpPr/>
          <p:nvPr/>
        </p:nvSpPr>
        <p:spPr>
          <a:xfrm>
            <a:off x="2120837" y="1289304"/>
            <a:ext cx="796556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02.jpg">    </p:cNvPr>
          <p:cNvPicPr>
            <a:picLocks noChangeAspect="1"/>
          </p:cNvPicPr>
          <p:nvPr/>
        </p:nvPicPr>
        <p:blipFill>
          <a:blip r:embed="rId1"/>
          <a:stretch>
            <a:fillRect/>
          </a:stretch>
        </p:blipFill>
        <p:spPr>
          <a:xfrm>
            <a:off x="2203133" y="1371600"/>
            <a:ext cx="780097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fluid-mosaic model of the cell membrane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Phospholipid bilayer with embedded proteins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Hydrophilic heads out, hydrophobic tails in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Cholesterol stabilizes the membrane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Selectively permeable barrier</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Active Transport</a:t>
            </a:r>
            <a:endParaRPr lang="en-US" sz="2800" dirty="0"/>
          </a:p>
        </p:txBody>
      </p:sp>
      <p:sp>
        <p:nvSpPr>
          <p:cNvPr id="4" name="Shape 2"/>
          <p:cNvSpPr/>
          <p:nvPr/>
        </p:nvSpPr>
        <p:spPr>
          <a:xfrm>
            <a:off x="2269724" y="1289304"/>
            <a:ext cx="7667793"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04.jpg">    </p:cNvPr>
          <p:cNvPicPr>
            <a:picLocks noChangeAspect="1"/>
          </p:cNvPicPr>
          <p:nvPr/>
        </p:nvPicPr>
        <p:blipFill>
          <a:blip r:embed="rId1"/>
          <a:stretch>
            <a:fillRect/>
          </a:stretch>
        </p:blipFill>
        <p:spPr>
          <a:xfrm>
            <a:off x="2352020" y="1371600"/>
            <a:ext cx="750320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Active transport across the membrane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Moves substances against their gradient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Requires energy (ATP)</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Pumps maintain ion gradients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Example: the sodium–potassium pump</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Endocytosis</a:t>
            </a:r>
            <a:endParaRPr lang="en-US" sz="2800" dirty="0"/>
          </a:p>
        </p:txBody>
      </p:sp>
      <p:sp>
        <p:nvSpPr>
          <p:cNvPr id="4" name="Shape 2"/>
          <p:cNvSpPr/>
          <p:nvPr/>
        </p:nvSpPr>
        <p:spPr>
          <a:xfrm>
            <a:off x="2426456" y="1289304"/>
            <a:ext cx="735432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05.jpg">    </p:cNvPr>
          <p:cNvPicPr>
            <a:picLocks noChangeAspect="1"/>
          </p:cNvPicPr>
          <p:nvPr/>
        </p:nvPicPr>
        <p:blipFill>
          <a:blip r:embed="rId1"/>
          <a:stretch>
            <a:fillRect/>
          </a:stretch>
        </p:blipFill>
        <p:spPr>
          <a:xfrm>
            <a:off x="2508752" y="1371600"/>
            <a:ext cx="718973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Forms of endocytosis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Bulk intake of material into the cell</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Phagocytosis = "cell eating"</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Pinocytosis = "cell drinking"</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Receptor-mediated for specific targets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Exocytosis</a:t>
            </a:r>
            <a:endParaRPr lang="en-US" sz="2800" dirty="0"/>
          </a:p>
        </p:txBody>
      </p:sp>
      <p:sp>
        <p:nvSpPr>
          <p:cNvPr id="4" name="Shape 2"/>
          <p:cNvSpPr/>
          <p:nvPr/>
        </p:nvSpPr>
        <p:spPr>
          <a:xfrm>
            <a:off x="537439" y="1289304"/>
            <a:ext cx="4228643" cy="4736592"/>
          </a:xfrm>
          <a:prstGeom prst="roundRect">
            <a:avLst>
              <a:gd name="adj" fmla="val 129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06.jpg">    </p:cNvPr>
          <p:cNvPicPr>
            <a:picLocks noChangeAspect="1"/>
          </p:cNvPicPr>
          <p:nvPr/>
        </p:nvPicPr>
        <p:blipFill>
          <a:blip r:embed="rId1"/>
          <a:stretch>
            <a:fillRect/>
          </a:stretch>
        </p:blipFill>
        <p:spPr>
          <a:xfrm>
            <a:off x="619735" y="1371600"/>
            <a:ext cx="4064051"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Exocytosis releasing material from the cell</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Bulk export out of the cell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Vesicles fuse with the membrane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Secretes hormones, enzymes, mucus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reverse of endocytosis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Cytoplasm and Cellular Organelles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cell's internal compartments and the job each one does.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Prototypical Cell</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Cytoplasm holds organelles in cytosol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Each organelle has a specialized job</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Division of labor keeps the cell efficient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nucleus directs activities</a:t>
            </a:r>
            <a:endParaRPr lang="en-US" sz="1500" dirty="0"/>
          </a:p>
        </p:txBody>
      </p:sp>
      <p:sp>
        <p:nvSpPr>
          <p:cNvPr id="5" name="Shape 3"/>
          <p:cNvSpPr/>
          <p:nvPr/>
        </p:nvSpPr>
        <p:spPr>
          <a:xfrm>
            <a:off x="5689191" y="1335024"/>
            <a:ext cx="581233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08.jpg">    </p:cNvPr>
          <p:cNvPicPr>
            <a:picLocks noChangeAspect="1"/>
          </p:cNvPicPr>
          <p:nvPr/>
        </p:nvPicPr>
        <p:blipFill>
          <a:blip r:embed="rId1"/>
          <a:stretch>
            <a:fillRect/>
          </a:stretch>
        </p:blipFill>
        <p:spPr>
          <a:xfrm>
            <a:off x="5771487" y="1417320"/>
            <a:ext cx="564774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composite (prototypical) human cell</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Endoplasmic Reticulum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Rough ER is studded with ribosomes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Rough ER makes and folds proteins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Smooth ER makes lipids and detoxifies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continuous membrane network</a:t>
            </a:r>
            <a:endParaRPr lang="en-US" sz="1500" dirty="0"/>
          </a:p>
        </p:txBody>
      </p:sp>
      <p:sp>
        <p:nvSpPr>
          <p:cNvPr id="5" name="Shape 3"/>
          <p:cNvSpPr/>
          <p:nvPr/>
        </p:nvSpPr>
        <p:spPr>
          <a:xfrm>
            <a:off x="5745422" y="1335024"/>
            <a:ext cx="569987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09.jpg">    </p:cNvPr>
          <p:cNvPicPr>
            <a:picLocks noChangeAspect="1"/>
          </p:cNvPicPr>
          <p:nvPr/>
        </p:nvPicPr>
        <p:blipFill>
          <a:blip r:embed="rId1"/>
          <a:stretch>
            <a:fillRect/>
          </a:stretch>
        </p:blipFill>
        <p:spPr>
          <a:xfrm>
            <a:off x="5827718" y="1417320"/>
            <a:ext cx="553528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Rough and smooth endoplasmic reticulum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Golgi Apparatus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Modifies, sorts, and packages proteins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Receives vesicles from the 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Ships finished products in vesicles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cell's "post office"</a:t>
            </a:r>
            <a:endParaRPr lang="en-US" sz="1500" dirty="0"/>
          </a:p>
        </p:txBody>
      </p:sp>
      <p:sp>
        <p:nvSpPr>
          <p:cNvPr id="5" name="Shape 3"/>
          <p:cNvSpPr/>
          <p:nvPr/>
        </p:nvSpPr>
        <p:spPr>
          <a:xfrm>
            <a:off x="5404104" y="1489733"/>
            <a:ext cx="6382512" cy="4335733"/>
          </a:xfrm>
          <a:prstGeom prst="roundRect">
            <a:avLst>
              <a:gd name="adj" fmla="val 126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10.jpg">    </p:cNvPr>
          <p:cNvPicPr>
            <a:picLocks noChangeAspect="1"/>
          </p:cNvPicPr>
          <p:nvPr/>
        </p:nvPicPr>
        <p:blipFill>
          <a:blip r:embed="rId1"/>
          <a:stretch>
            <a:fillRect/>
          </a:stretch>
        </p:blipFill>
        <p:spPr>
          <a:xfrm>
            <a:off x="5486400" y="1572029"/>
            <a:ext cx="6217920" cy="4171141"/>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Golgi apparatus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Mitochondria</a:t>
            </a:r>
            <a:endParaRPr lang="en-US" sz="2800" dirty="0"/>
          </a:p>
        </p:txBody>
      </p:sp>
      <p:sp>
        <p:nvSpPr>
          <p:cNvPr id="4" name="Shape 2"/>
          <p:cNvSpPr/>
          <p:nvPr/>
        </p:nvSpPr>
        <p:spPr>
          <a:xfrm>
            <a:off x="1999409" y="1289304"/>
            <a:ext cx="820842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11.jpg">    </p:cNvPr>
          <p:cNvPicPr>
            <a:picLocks noChangeAspect="1"/>
          </p:cNvPicPr>
          <p:nvPr/>
        </p:nvPicPr>
        <p:blipFill>
          <a:blip r:embed="rId1"/>
          <a:stretch>
            <a:fillRect/>
          </a:stretch>
        </p:blipFill>
        <p:spPr>
          <a:xfrm>
            <a:off x="2081705" y="1371600"/>
            <a:ext cx="804383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Structure of a mitochondrion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Site of cellular respiration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Produce ATP — the cell's energy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Folded inner membrane (cristae)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Carry their own DNA</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Nucleus and DNA Replication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control center and how the cell copies its genetic blueprint.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Nucleus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Houses the cell's DNA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Nuclear envelope with pores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Nucleolus makes ribosomes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Directs all cell activities</a:t>
            </a:r>
            <a:endParaRPr lang="en-US" sz="1500" dirty="0"/>
          </a:p>
        </p:txBody>
      </p:sp>
      <p:sp>
        <p:nvSpPr>
          <p:cNvPr id="5" name="Shape 3"/>
          <p:cNvSpPr/>
          <p:nvPr/>
        </p:nvSpPr>
        <p:spPr>
          <a:xfrm>
            <a:off x="5606973" y="1335024"/>
            <a:ext cx="597677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13.jpg">    </p:cNvPr>
          <p:cNvPicPr>
            <a:picLocks noChangeAspect="1"/>
          </p:cNvPicPr>
          <p:nvPr/>
        </p:nvPicPr>
        <p:blipFill>
          <a:blip r:embed="rId1"/>
          <a:stretch>
            <a:fillRect/>
          </a:stretch>
        </p:blipFill>
        <p:spPr>
          <a:xfrm>
            <a:off x="5689269" y="1417320"/>
            <a:ext cx="581218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Structure of the nucleus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DNA Packaging</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DNA wraps around histone proteins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Forms nucleosomes, then chromatin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Condenses into chromosomes to divide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Packs ~2 m of DNA into each nucleus</a:t>
            </a:r>
            <a:endParaRPr lang="en-US" sz="1500" dirty="0"/>
          </a:p>
        </p:txBody>
      </p:sp>
      <p:sp>
        <p:nvSpPr>
          <p:cNvPr id="5" name="Shape 3"/>
          <p:cNvSpPr/>
          <p:nvPr/>
        </p:nvSpPr>
        <p:spPr>
          <a:xfrm>
            <a:off x="5662756" y="1335024"/>
            <a:ext cx="586520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16.jpg">    </p:cNvPr>
          <p:cNvPicPr>
            <a:picLocks noChangeAspect="1"/>
          </p:cNvPicPr>
          <p:nvPr/>
        </p:nvPicPr>
        <p:blipFill>
          <a:blip r:embed="rId1"/>
          <a:stretch>
            <a:fillRect/>
          </a:stretch>
        </p:blipFill>
        <p:spPr>
          <a:xfrm>
            <a:off x="5745052" y="1417320"/>
            <a:ext cx="570061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Levels of DNA packing in the chromosome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DNA Structure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Double helix of two strands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Sugar–phosphate backbone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Bases pair: A–T and G–C</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sequence is the genetic code</a:t>
            </a:r>
            <a:endParaRPr lang="en-US" sz="1500" dirty="0"/>
          </a:p>
        </p:txBody>
      </p:sp>
      <p:sp>
        <p:nvSpPr>
          <p:cNvPr id="5" name="Shape 3"/>
          <p:cNvSpPr/>
          <p:nvPr/>
        </p:nvSpPr>
        <p:spPr>
          <a:xfrm>
            <a:off x="6286450" y="1335024"/>
            <a:ext cx="4617821" cy="4645152"/>
          </a:xfrm>
          <a:prstGeom prst="roundRect">
            <a:avLst>
              <a:gd name="adj" fmla="val 11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17.jpg">    </p:cNvPr>
          <p:cNvPicPr>
            <a:picLocks noChangeAspect="1"/>
          </p:cNvPicPr>
          <p:nvPr/>
        </p:nvPicPr>
        <p:blipFill>
          <a:blip r:embed="rId1"/>
          <a:stretch>
            <a:fillRect/>
          </a:stretch>
        </p:blipFill>
        <p:spPr>
          <a:xfrm>
            <a:off x="6368746" y="1417320"/>
            <a:ext cx="445322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DNA and base pairing</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DNA Replication</a:t>
            </a:r>
            <a:endParaRPr lang="en-US" sz="2800" dirty="0"/>
          </a:p>
        </p:txBody>
      </p:sp>
      <p:sp>
        <p:nvSpPr>
          <p:cNvPr id="4" name="Shape 2"/>
          <p:cNvSpPr/>
          <p:nvPr/>
        </p:nvSpPr>
        <p:spPr>
          <a:xfrm>
            <a:off x="3135231" y="1289304"/>
            <a:ext cx="5936779"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18.jpg">    </p:cNvPr>
          <p:cNvPicPr>
            <a:picLocks noChangeAspect="1"/>
          </p:cNvPicPr>
          <p:nvPr/>
        </p:nvPicPr>
        <p:blipFill>
          <a:blip r:embed="rId1"/>
          <a:stretch>
            <a:fillRect/>
          </a:stretch>
        </p:blipFill>
        <p:spPr>
          <a:xfrm>
            <a:off x="3217527" y="1371600"/>
            <a:ext cx="5772187"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DNA replication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DNA copies itself before division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Helicase unwinds the double helix</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DNA polymerase builds new strands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Each daughter cell gets identical DNA</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Protein Synthesis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Reading the genetic code to build the proteins that run the cell.</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From Gene to Protein</a:t>
            </a:r>
            <a:endParaRPr lang="en-US" sz="2800" dirty="0"/>
          </a:p>
        </p:txBody>
      </p:sp>
      <p:sp>
        <p:nvSpPr>
          <p:cNvPr id="4" name="Shape 2"/>
          <p:cNvSpPr/>
          <p:nvPr/>
        </p:nvSpPr>
        <p:spPr>
          <a:xfrm>
            <a:off x="2357451" y="1289304"/>
            <a:ext cx="749233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19.jpg">    </p:cNvPr>
          <p:cNvPicPr>
            <a:picLocks noChangeAspect="1"/>
          </p:cNvPicPr>
          <p:nvPr/>
        </p:nvPicPr>
        <p:blipFill>
          <a:blip r:embed="rId1"/>
          <a:stretch>
            <a:fillRect/>
          </a:stretch>
        </p:blipFill>
        <p:spPr>
          <a:xfrm>
            <a:off x="2439747" y="1371600"/>
            <a:ext cx="732774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Overview of transcription and translation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DNA → RNA → protein (central dogma)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Transcription copies DNA into mRNA</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Translation builds protein from mRNA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Codons specify amino acids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Transcription</a:t>
            </a:r>
            <a:endParaRPr lang="en-US" sz="2800" dirty="0"/>
          </a:p>
        </p:txBody>
      </p:sp>
      <p:sp>
        <p:nvSpPr>
          <p:cNvPr id="4" name="Shape 2"/>
          <p:cNvSpPr/>
          <p:nvPr/>
        </p:nvSpPr>
        <p:spPr>
          <a:xfrm>
            <a:off x="2863489" y="1289304"/>
            <a:ext cx="648026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20.jpg">    </p:cNvPr>
          <p:cNvPicPr>
            <a:picLocks noChangeAspect="1"/>
          </p:cNvPicPr>
          <p:nvPr/>
        </p:nvPicPr>
        <p:blipFill>
          <a:blip r:embed="rId1"/>
          <a:stretch>
            <a:fillRect/>
          </a:stretch>
        </p:blipFill>
        <p:spPr>
          <a:xfrm>
            <a:off x="2945785" y="1371600"/>
            <a:ext cx="631566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Transcription of DNA into mRNA</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RNA polymerase reads the DNA template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Builds a complementary mRNA strand</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Occurs in the nucleus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mRNA carries the message out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Translation</a:t>
            </a:r>
            <a:endParaRPr lang="en-US" sz="2800" dirty="0"/>
          </a:p>
        </p:txBody>
      </p:sp>
      <p:sp>
        <p:nvSpPr>
          <p:cNvPr id="4" name="Shape 2"/>
          <p:cNvSpPr/>
          <p:nvPr/>
        </p:nvSpPr>
        <p:spPr>
          <a:xfrm>
            <a:off x="1362456" y="1289304"/>
            <a:ext cx="2578608" cy="4736592"/>
          </a:xfrm>
          <a:prstGeom prst="roundRect">
            <a:avLst>
              <a:gd name="adj" fmla="val 212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22.jpg">    </p:cNvPr>
          <p:cNvPicPr>
            <a:picLocks noChangeAspect="1"/>
          </p:cNvPicPr>
          <p:nvPr/>
        </p:nvPicPr>
        <p:blipFill>
          <a:blip r:embed="rId1"/>
          <a:stretch>
            <a:fillRect/>
          </a:stretch>
        </p:blipFill>
        <p:spPr>
          <a:xfrm>
            <a:off x="1444752" y="1371600"/>
            <a:ext cx="241401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Translation at the ribosome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ribosome reads mRNA codons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tRNA delivers matching amino acids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Amino acids link into a polypeptide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Produces the finished protein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Cell Growth and Division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cell cycle and mitosis — how one cell becomes two.</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Cell Cycle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Interphase: G1, S, G2 (growth + DNA copy)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Mitotic phase: cell division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Checkpoints control progression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Cyclins regulate the cycle</a:t>
            </a:r>
            <a:endParaRPr lang="en-US" sz="1500" dirty="0"/>
          </a:p>
        </p:txBody>
      </p:sp>
      <p:sp>
        <p:nvSpPr>
          <p:cNvPr id="5" name="Shape 3"/>
          <p:cNvSpPr/>
          <p:nvPr/>
        </p:nvSpPr>
        <p:spPr>
          <a:xfrm>
            <a:off x="5953768" y="1335024"/>
            <a:ext cx="528318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25.jpg">    </p:cNvPr>
          <p:cNvPicPr>
            <a:picLocks noChangeAspect="1"/>
          </p:cNvPicPr>
          <p:nvPr/>
        </p:nvPicPr>
        <p:blipFill>
          <a:blip r:embed="rId1"/>
          <a:stretch>
            <a:fillRect/>
          </a:stretch>
        </p:blipFill>
        <p:spPr>
          <a:xfrm>
            <a:off x="6036064" y="1417320"/>
            <a:ext cx="511859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cell cycle and its checkpoints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Mitosis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Prophase → metaphase → anaphase → telophase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Chromosomes separate to opposite poles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Cytokinesis splits the cytoplasm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identical daughter cells</a:t>
            </a:r>
            <a:endParaRPr lang="en-US" sz="1500" dirty="0"/>
          </a:p>
        </p:txBody>
      </p:sp>
      <p:sp>
        <p:nvSpPr>
          <p:cNvPr id="5" name="Shape 3"/>
          <p:cNvSpPr/>
          <p:nvPr/>
        </p:nvSpPr>
        <p:spPr>
          <a:xfrm>
            <a:off x="5603612" y="1335024"/>
            <a:ext cx="598349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3/img/img24.jpg">    </p:cNvPr>
          <p:cNvPicPr>
            <a:picLocks noChangeAspect="1"/>
          </p:cNvPicPr>
          <p:nvPr/>
        </p:nvPicPr>
        <p:blipFill>
          <a:blip r:embed="rId1"/>
          <a:stretch>
            <a:fillRect/>
          </a:stretch>
        </p:blipFill>
        <p:spPr>
          <a:xfrm>
            <a:off x="5685908" y="1417320"/>
            <a:ext cx="581890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stages of mitosis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3.6</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Cellular Differentiation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one fertilized egg gives rise to hundreds of specialized cell types.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3.6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Stem Cells &amp; Differentiation</a:t>
            </a:r>
            <a:endParaRPr lang="en-US" sz="2800" dirty="0"/>
          </a:p>
        </p:txBody>
      </p:sp>
      <p:sp>
        <p:nvSpPr>
          <p:cNvPr id="4" name="Shape 2"/>
          <p:cNvSpPr/>
          <p:nvPr/>
        </p:nvSpPr>
        <p:spPr>
          <a:xfrm>
            <a:off x="565328" y="1289304"/>
            <a:ext cx="4172864" cy="4736592"/>
          </a:xfrm>
          <a:prstGeom prst="roundRect">
            <a:avLst>
              <a:gd name="adj" fmla="val 131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3/img/img27.jpg">    </p:cNvPr>
          <p:cNvPicPr>
            <a:picLocks noChangeAspect="1"/>
          </p:cNvPicPr>
          <p:nvPr/>
        </p:nvPicPr>
        <p:blipFill>
          <a:blip r:embed="rId1"/>
          <a:stretch>
            <a:fillRect/>
          </a:stretch>
        </p:blipFill>
        <p:spPr>
          <a:xfrm>
            <a:off x="647624" y="1371600"/>
            <a:ext cx="400827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Stem cell potency and differentiation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Stem cells can become many cell types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Totipotent → pluripotent → multipotent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Differentiation specializes cells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Basis of growth, repair, and therapy</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cell membrane is a selectively permeable bilayer that controls transport.</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Organelles divide the labor: ER and Golgi process proteins, mitochondria make ATP.</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nucleus stores DNA and directs the cell; DNA replicates before division.</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Protein synthesis flows from DNA to RNA to protein.</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regulated cell cycle and mitosis drive growth, repair, and — when uncontrolled — cancer.</a:t>
            </a:r>
            <a:endParaRPr lang="en-US" sz="1550" dirty="0"/>
          </a:p>
        </p:txBody>
      </p:sp>
      <p:sp>
        <p:nvSpPr>
          <p:cNvPr id="15"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3 — The Cellular Level of Organization</a:t>
            </a:r>
            <a:endParaRPr lang="en-US" sz="900" dirty="0"/>
          </a:p>
        </p:txBody>
      </p:sp>
      <p:sp>
        <p:nvSpPr>
          <p:cNvPr id="16"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the Cell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Fluid &amp; Electrolytes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Membrane transport, especially the Na⁺/K⁺ pump, underlies all fluid balance.</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Immune Defense</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Phagocytosis is how white blood cells engulf and destroy pathogens.</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Energy &amp; Fatigue</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Mitochondrial ATP production fuels every active process in the body.</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Cancer</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Failed cell-cycle checkpoints cause uncontrolled cell division.</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Medications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Many drugs act on membrane transport, enzymes, or protein synthesis.</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Tissue Repair</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Mitosis and stem cells drive healing after injury.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2026-06-23T20:04:50Z</dcterms:created>
  <dcterms:modified xsi:type="dcterms:W3CDTF">2026-06-23T20:04:50Z</dcterms:modified>
</cp:coreProperties>
</file>