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Chemical Level of Organization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Atoms, bonds, reactions, and the molecules of life.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536410"/>
            <a:ext cx="4096512" cy="1968060"/>
          </a:xfrm>
          <a:prstGeom prst="roundRect">
            <a:avLst>
              <a:gd name="adj" fmla="val 27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02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618706"/>
            <a:ext cx="3931920" cy="1803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fundamental composition of matter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1858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185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0030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three subatomic particles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15468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four most abundant elements in the body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2734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73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390906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relationship between an atom’s number of electrons and its relative stability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68172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817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466344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ionic bonds, covalent bonds, and hydrogen bonds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4361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436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15568" y="5417820"/>
            <a:ext cx="5943600" cy="754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energy is invested, stored, and released via chemical reactions, particularly those reactions that are critical to life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35051" y="1545336"/>
            <a:ext cx="2932298" cy="4370832"/>
          </a:xfrm>
          <a:prstGeom prst="roundRect">
            <a:avLst>
              <a:gd name="adj" fmla="val 18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24" name="Image 0" descr="/home/claude/all/ch02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7347" y="1627632"/>
            <a:ext cx="2767706" cy="420624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— the building blocks of all matter.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Elements and Atoms: The Building Blocks of Matter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everything is made of — elements, atoms, and isotopes.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Elements in the Human Body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848511" y="1289304"/>
            <a:ext cx="6510217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807" y="1371600"/>
            <a:ext cx="634562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 and trace elements of the body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elements make up ~96% of body mass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Oxygen, carbon, hydrogen, nitrogen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elements are vital in tiny amounts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has mass and takes up space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Structure of an Atom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65276" y="1289304"/>
            <a:ext cx="3172968" cy="4736592"/>
          </a:xfrm>
          <a:prstGeom prst="roundRect">
            <a:avLst>
              <a:gd name="adj" fmla="val 1729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7572" y="1371600"/>
            <a:ext cx="300837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 and electron-cloud models of the atom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Protons, neutrons, and electrons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Nucleus holds protons (+) and neutrons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(–) occupy outer shells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number = number of protons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Periodic Table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all known elements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Arranged by atomic number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share chemical behavior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two dozen elements occur in the body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28479" y="1335024"/>
            <a:ext cx="593376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2/img/img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775" y="1417320"/>
            <a:ext cx="576916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periodic table of the elements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Isotopes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07272" y="1289304"/>
            <a:ext cx="1039269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568" y="1371600"/>
            <a:ext cx="1022810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Isotopes of hydrogen (protium, deuterium, tritium)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element, different neutron count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isotopes are radioactive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Radioisotopes used in imaging and therapy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isotopes of hydrogen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Chemical Bonds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atoms join together — ionic, covalent, and hydrogen bonds.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Ionic Bonds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8992" y="1289304"/>
            <a:ext cx="3145536" cy="4736592"/>
          </a:xfrm>
          <a:prstGeom prst="roundRect">
            <a:avLst>
              <a:gd name="adj" fmla="val 174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371600"/>
            <a:ext cx="29809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 formation and ionic bonding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Electrons are transferred between atoms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charged ions (cations and anions)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Opposite charges attract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Na⁺ and Cl⁻ form salt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Covalent Bonds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share pairs of electrons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Single, double, or triple bonds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and stable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backbone of organic molecules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74796" y="1335024"/>
            <a:ext cx="6241127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2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7092" y="1417320"/>
            <a:ext cx="6076535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and double covalent bonds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Polar Bonds &amp; Water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3713" y="1289304"/>
            <a:ext cx="4416095" cy="4736592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6009" y="1371600"/>
            <a:ext cx="4251503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Polarity of water and hydrogen bonding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Unequal sharing makes water polar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positive and negative regions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Hydrogen bonds link water molecules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water's unique properties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Chemical Reactions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matter is rearranged — synthesis, decomposition, and the role of enzymes.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Chemical Reactions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09923" y="1289304"/>
            <a:ext cx="9387395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19" y="1371600"/>
            <a:ext cx="9222803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Synthesis, decomposition, and exchange reactions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builds larger molecules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breaks molecules apart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reactions swap components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reactions are reversible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Enzymes &amp; Activation Energy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593223" y="1289304"/>
            <a:ext cx="9020794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5519" y="1371600"/>
            <a:ext cx="8856202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lower the activation energy of reactions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Reactions need activation energy to start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 lower that energy barrier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reactions without being used up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are proteins ending in -ase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Inorganic Compounds Essential to Human Functioning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acids, bases, and the pH the body must keep in balance.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as the Body's Solvent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the universal biological solvent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substances dissolve readily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 are surrounded (hydrated)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medium for nearly all reactions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83313" y="1335024"/>
            <a:ext cx="4624093" cy="4645152"/>
          </a:xfrm>
          <a:prstGeom prst="roundRect">
            <a:avLst>
              <a:gd name="adj" fmla="val 118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2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5609" y="1417320"/>
            <a:ext cx="445950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Sodium chloride dissolving in water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 Scale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443152" y="1289304"/>
            <a:ext cx="2417216" cy="4736592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1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5448" y="1371600"/>
            <a:ext cx="225262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 scale with common substances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acidity and alkalinity (0–14)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is acidic; higher is basic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pH held near 7.4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resist pH change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Organic Compounds Essential to Human Functioning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macromolecules of life — carbohydrates, lipids, proteins, and nucleic acids.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Carbohydrates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57881" y="1289304"/>
            <a:ext cx="1049147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2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177" y="1371600"/>
            <a:ext cx="1032688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Polysaccharides: starch, glycogen, and cellulose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of carbon, hydrogen, and oxygen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Monosaccharides build polysaccharides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is the body's main fuel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glycogen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Lipids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7784" y="1440600"/>
            <a:ext cx="11091672" cy="342816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2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22896"/>
            <a:ext cx="10927080" cy="32635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and unsaturated fatty acids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Hydrophobic — do not dissolve in water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Triglycerides store energy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Saturated vs. unsaturated fatty acids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Phospholipids build cell membranes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Proteins — Amino Acids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20 amino acids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 group + carboxyl group + R side chain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by peptide bonds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side chain gives each its identity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51945" y="1335024"/>
            <a:ext cx="6286829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2/img/img2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4241" y="1417320"/>
            <a:ext cx="6122237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general structure of an amino acid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 Structure &amp;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levels: primary to quaternary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determines function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or pH can denature proteins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Enzymes, antibodies, and more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75358" y="1335024"/>
            <a:ext cx="5440003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2/img/img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7654" y="1417320"/>
            <a:ext cx="527541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levels of protein structure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Nucleic Acids — DNA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1289304"/>
            <a:ext cx="3712464" cy="4736592"/>
          </a:xfrm>
          <a:prstGeom prst="roundRect">
            <a:avLst>
              <a:gd name="adj" fmla="val 147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02/img/img2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371600"/>
            <a:ext cx="3547872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DNA double helix and base pairing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and RNA store genetic information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nucleotides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pairing: A–T and G–C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double helix holds the code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ATP — Energy Currency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Adenosine triphosphate powers the cell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stored in phosphate bonds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⇌ ADP releases and stores energy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mainly in mitochondria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5927" y="1335024"/>
            <a:ext cx="5298866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02/img/img3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8223" y="1417320"/>
            <a:ext cx="5134274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ATP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matter is built from elements and atoms; four elements make up most of the body.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join through ionic, covalent, and hydrogen bonds.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Water's polarity makes it the body's solvent and gives it life-supporting properties.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defends a narrow blood pH using buffers, the lungs, and the kidneys.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macromolecules — carbohydrates, lipids, proteins, and nucleic acids — build and run the body.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2 — The Chemical Level of Organization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Chemistry Matters in Practical Nursing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Electrolytes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Ions like Na⁺, K⁺, and Ca²⁺ drive nerve and muscle function — imbalances are dangerous.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196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Acid–Base Balance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pH must stay near 7.4; acidosis and alkalosis are emergencies.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Blood Glucose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is the body's fuel — the center of diabetes care.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264408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3924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Nuclear Medicine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Radioisotopes power PET scans and some cancer treatments.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Carbohydrates, fats, and proteins are the macronutrients you counsel patients 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37176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49651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Enzymes &amp; Fever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40096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fever can denature enzymes — why dangerous temperatures are treated.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2026-06-23T20:04:50Z</dcterms:created>
  <dcterms:modified xsi:type="dcterms:W3CDTF">2026-06-23T20:04:50Z</dcterms:modified>
</cp:coreProperties>
</file>