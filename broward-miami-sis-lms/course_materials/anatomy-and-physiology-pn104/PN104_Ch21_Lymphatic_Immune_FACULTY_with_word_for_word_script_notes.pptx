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faaa1f2289459d" /><Relationship Type="http://schemas.openxmlformats.org/officeDocument/2006/relationships/extended-properties" Target="/docProps/app.xml" Id="Raab22ab8763c448e" /><Relationship Type="http://schemas.openxmlformats.org/officeDocument/2006/relationships/officeDocument" Target="/ppt/presentation.xml" Id="Rf00d971b0c6743ed" /></Relationships>
</file>

<file path=ppt/presentation.xml><?xml version="1.0" encoding="utf-8"?>
<p:presentation xmlns:p="http://schemas.openxmlformats.org/presentationml/2006/main">
  <p:sldMasterIdLst>
    <p:sldMasterId xmlns:r="http://schemas.openxmlformats.org/officeDocument/2006/relationships" id="2147483648" r:id="Rdca325b6e7074bb2"/>
  </p:sldMasterIdLst>
  <p:notesMasterIdLst>
    <p:notesMasterId xmlns:r="http://schemas.openxmlformats.org/officeDocument/2006/relationships" r:id="R94de21f2aaf241cc"/>
  </p:notesMasterIdLst>
  <p:sldIdLst>
    <p:sldId xmlns:r="http://schemas.openxmlformats.org/officeDocument/2006/relationships" id="256" r:id="Rcb51c13bd9964a9c"/>
    <p:sldId xmlns:r="http://schemas.openxmlformats.org/officeDocument/2006/relationships" id="257" r:id="Rf7b4e2235a084fa7"/>
    <p:sldId xmlns:r="http://schemas.openxmlformats.org/officeDocument/2006/relationships" id="258" r:id="R7624377c72ca4b46"/>
    <p:sldId xmlns:r="http://schemas.openxmlformats.org/officeDocument/2006/relationships" id="259" r:id="R28d761fc38c848ca"/>
    <p:sldId xmlns:r="http://schemas.openxmlformats.org/officeDocument/2006/relationships" id="260" r:id="R1570f48acd804f63"/>
    <p:sldId xmlns:r="http://schemas.openxmlformats.org/officeDocument/2006/relationships" id="261" r:id="Re944872454cd4936"/>
    <p:sldId xmlns:r="http://schemas.openxmlformats.org/officeDocument/2006/relationships" id="262" r:id="R5a35e78d48a24275"/>
    <p:sldId xmlns:r="http://schemas.openxmlformats.org/officeDocument/2006/relationships" id="263" r:id="Rb73aec9ed5d34a43"/>
    <p:sldId xmlns:r="http://schemas.openxmlformats.org/officeDocument/2006/relationships" id="264" r:id="Rc5547f679a204d25"/>
    <p:sldId xmlns:r="http://schemas.openxmlformats.org/officeDocument/2006/relationships" id="265" r:id="Rde7a24ea857641a1"/>
    <p:sldId xmlns:r="http://schemas.openxmlformats.org/officeDocument/2006/relationships" id="266" r:id="R93311c6fb7a24f40"/>
    <p:sldId xmlns:r="http://schemas.openxmlformats.org/officeDocument/2006/relationships" id="267" r:id="R050e3950a41946b8"/>
    <p:sldId xmlns:r="http://schemas.openxmlformats.org/officeDocument/2006/relationships" id="268" r:id="R63faa7d50ad248e4"/>
    <p:sldId xmlns:r="http://schemas.openxmlformats.org/officeDocument/2006/relationships" id="269" r:id="R6dc999106e094473"/>
    <p:sldId xmlns:r="http://schemas.openxmlformats.org/officeDocument/2006/relationships" id="270" r:id="Rc6698af5befb46b4"/>
    <p:sldId xmlns:r="http://schemas.openxmlformats.org/officeDocument/2006/relationships" id="271" r:id="Rf8b4d47cde3a4b29"/>
    <p:sldId xmlns:r="http://schemas.openxmlformats.org/officeDocument/2006/relationships" id="272" r:id="Rd0a08ee3bbc14790"/>
    <p:sldId xmlns:r="http://schemas.openxmlformats.org/officeDocument/2006/relationships" id="273" r:id="R4ad2275bdd284973"/>
    <p:sldId xmlns:r="http://schemas.openxmlformats.org/officeDocument/2006/relationships" id="274" r:id="Rba0d424d8e4e41d7"/>
    <p:sldId xmlns:r="http://schemas.openxmlformats.org/officeDocument/2006/relationships" id="275" r:id="R3ef1a20095d249e8"/>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a8666cb9cac4cb4" /><Relationship Type="http://schemas.openxmlformats.org/officeDocument/2006/relationships/slideMaster" Target="/ppt/slideMasters/slideMaster1.xml" Id="Rdca325b6e7074bb2" /><Relationship Type="http://schemas.openxmlformats.org/officeDocument/2006/relationships/notesMaster" Target="/ppt/notesMasters/notesMaster1.xml" Id="R94de21f2aaf241cc" /><Relationship Type="http://schemas.openxmlformats.org/officeDocument/2006/relationships/presProps" Target="/ppt/presProps.xml" Id="R5377f36f46444285" /><Relationship Type="http://schemas.openxmlformats.org/officeDocument/2006/relationships/viewProps" Target="/ppt/viewProps.xml" Id="Rf51438c642e146eb" /><Relationship Type="http://schemas.openxmlformats.org/officeDocument/2006/relationships/tableStyles" Target="/ppt/tableStyles.xml" Id="Rcfd3ac8cc85e4ddb" /><Relationship Type="http://schemas.openxmlformats.org/officeDocument/2006/relationships/slide" Target="/ppt/slides/slide1.xml" Id="Rcb51c13bd9964a9c" /><Relationship Type="http://schemas.openxmlformats.org/officeDocument/2006/relationships/slide" Target="/ppt/slides/slide2.xml" Id="Rf7b4e2235a084fa7" /><Relationship Type="http://schemas.openxmlformats.org/officeDocument/2006/relationships/slide" Target="/ppt/slides/slide3.xml" Id="R7624377c72ca4b46" /><Relationship Type="http://schemas.openxmlformats.org/officeDocument/2006/relationships/slide" Target="/ppt/slides/slide4.xml" Id="R28d761fc38c848ca" /><Relationship Type="http://schemas.openxmlformats.org/officeDocument/2006/relationships/slide" Target="/ppt/slides/slide5.xml" Id="R1570f48acd804f63" /><Relationship Type="http://schemas.openxmlformats.org/officeDocument/2006/relationships/slide" Target="/ppt/slides/slide6.xml" Id="Re944872454cd4936" /><Relationship Type="http://schemas.openxmlformats.org/officeDocument/2006/relationships/slide" Target="/ppt/slides/slide7.xml" Id="R5a35e78d48a24275" /><Relationship Type="http://schemas.openxmlformats.org/officeDocument/2006/relationships/slide" Target="/ppt/slides/slide8.xml" Id="Rb73aec9ed5d34a43" /><Relationship Type="http://schemas.openxmlformats.org/officeDocument/2006/relationships/slide" Target="/ppt/slides/slide9.xml" Id="Rc5547f679a204d25" /><Relationship Type="http://schemas.openxmlformats.org/officeDocument/2006/relationships/slide" Target="/ppt/slides/slide10.xml" Id="Rde7a24ea857641a1" /><Relationship Type="http://schemas.openxmlformats.org/officeDocument/2006/relationships/slide" Target="/ppt/slides/slide11.xml" Id="R93311c6fb7a24f40" /><Relationship Type="http://schemas.openxmlformats.org/officeDocument/2006/relationships/slide" Target="/ppt/slides/slide12.xml" Id="R050e3950a41946b8" /><Relationship Type="http://schemas.openxmlformats.org/officeDocument/2006/relationships/slide" Target="/ppt/slides/slide13.xml" Id="R63faa7d50ad248e4" /><Relationship Type="http://schemas.openxmlformats.org/officeDocument/2006/relationships/slide" Target="/ppt/slides/slide14.xml" Id="R6dc999106e094473" /><Relationship Type="http://schemas.openxmlformats.org/officeDocument/2006/relationships/slide" Target="/ppt/slides/slide15.xml" Id="Rc6698af5befb46b4" /><Relationship Type="http://schemas.openxmlformats.org/officeDocument/2006/relationships/slide" Target="/ppt/slides/slide16.xml" Id="Rf8b4d47cde3a4b29" /><Relationship Type="http://schemas.openxmlformats.org/officeDocument/2006/relationships/slide" Target="/ppt/slides/slide17.xml" Id="Rd0a08ee3bbc14790" /><Relationship Type="http://schemas.openxmlformats.org/officeDocument/2006/relationships/slide" Target="/ppt/slides/slide18.xml" Id="R4ad2275bdd284973" /><Relationship Type="http://schemas.openxmlformats.org/officeDocument/2006/relationships/slide" Target="/ppt/slides/slide19.xml" Id="Rba0d424d8e4e41d7" /><Relationship Type="http://schemas.openxmlformats.org/officeDocument/2006/relationships/slide" Target="/ppt/slides/slide20.xml" Id="R3ef1a20095d249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21ab0f0bd040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7f557b3cd44bff" /><Relationship Type="http://schemas.openxmlformats.org/officeDocument/2006/relationships/notesMaster" Target="/ppt/notesMasters/notesMaster1.xml" Id="Rc1baa52c75c448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0bcbea6f544608" /><Relationship Type="http://schemas.openxmlformats.org/officeDocument/2006/relationships/notesMaster" Target="/ppt/notesMasters/notesMaster1.xml" Id="R9f41b23f5bb647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6bb1d46c0042ad" /><Relationship Type="http://schemas.openxmlformats.org/officeDocument/2006/relationships/notesMaster" Target="/ppt/notesMasters/notesMaster1.xml" Id="Re1a565cfc8ce46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dfc927893e4677" /><Relationship Type="http://schemas.openxmlformats.org/officeDocument/2006/relationships/notesMaster" Target="/ppt/notesMasters/notesMaster1.xml" Id="Rf6e5b97793b74c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4eef9ff5364f16" /><Relationship Type="http://schemas.openxmlformats.org/officeDocument/2006/relationships/notesMaster" Target="/ppt/notesMasters/notesMaster1.xml" Id="R3f2160271e1b42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7dfd190d764913" /><Relationship Type="http://schemas.openxmlformats.org/officeDocument/2006/relationships/notesMaster" Target="/ppt/notesMasters/notesMaster1.xml" Id="R1e5e7345d05540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a5f80a2b014949" /><Relationship Type="http://schemas.openxmlformats.org/officeDocument/2006/relationships/notesMaster" Target="/ppt/notesMasters/notesMaster1.xml" Id="R8a9a50483bc44b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1399211b914f25" /><Relationship Type="http://schemas.openxmlformats.org/officeDocument/2006/relationships/notesMaster" Target="/ppt/notesMasters/notesMaster1.xml" Id="R7f5555d24e314e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06dbb814a34b0a" /><Relationship Type="http://schemas.openxmlformats.org/officeDocument/2006/relationships/notesMaster" Target="/ppt/notesMasters/notesMaster1.xml" Id="R4dbf5d86600540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41ee446bc14ce7" /><Relationship Type="http://schemas.openxmlformats.org/officeDocument/2006/relationships/notesMaster" Target="/ppt/notesMasters/notesMaster1.xml" Id="R03f22a59c37740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48f4838fbc42cd" /><Relationship Type="http://schemas.openxmlformats.org/officeDocument/2006/relationships/notesMaster" Target="/ppt/notesMasters/notesMaster1.xml" Id="R6d60ecb88a7d4ce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a31417054f4d18" /><Relationship Type="http://schemas.openxmlformats.org/officeDocument/2006/relationships/notesMaster" Target="/ppt/notesMasters/notesMaster1.xml" Id="Rbce2e3376b344f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8b75a9a983a4f88" /><Relationship Type="http://schemas.openxmlformats.org/officeDocument/2006/relationships/notesMaster" Target="/ppt/notesMasters/notesMaster1.xml" Id="R450801525ff345d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5e3e28d97b840e6" /><Relationship Type="http://schemas.openxmlformats.org/officeDocument/2006/relationships/notesMaster" Target="/ppt/notesMasters/notesMaster1.xml" Id="R38742ffaecd9469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dc51ab03c5b4741" /><Relationship Type="http://schemas.openxmlformats.org/officeDocument/2006/relationships/notesMaster" Target="/ppt/notesMasters/notesMaster1.xml" Id="Ra789a6f6f3f6456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959fbc50954727" /><Relationship Type="http://schemas.openxmlformats.org/officeDocument/2006/relationships/notesMaster" Target="/ppt/notesMasters/notesMaster1.xml" Id="R3218592e8af044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d7b750d6ae64d57" /><Relationship Type="http://schemas.openxmlformats.org/officeDocument/2006/relationships/notesMaster" Target="/ppt/notesMasters/notesMaster1.xml" Id="R2e6e9bfe52be43b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f893e6b252848a8" /><Relationship Type="http://schemas.openxmlformats.org/officeDocument/2006/relationships/notesMaster" Target="/ppt/notesMasters/notesMaster1.xml" Id="R9ea1cd12ceb142d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af1005e9a3644ac" /><Relationship Type="http://schemas.openxmlformats.org/officeDocument/2006/relationships/notesMaster" Target="/ppt/notesMasters/notesMaster1.xml" Id="R692be8c566d64ae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89390dfec9d4b55" /><Relationship Type="http://schemas.openxmlformats.org/officeDocument/2006/relationships/notesMaster" Target="/ppt/notesMasters/notesMaster1.xml" Id="R3fca3bb567134c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Today we are beginning Chapter 21, the lymphatic and immune systems. In this chapter, we will connect the major structures and processes with their functions and with the observations that matter in practical nursing care. As we move through the slides, focus on how this system supports circulation, perfusion, protection, and patient safety. By the end, you should be able to explain the major concepts in your own words and apply them to a patient-care situation.</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These are our learning objectives for Chapter 21. By the end of the chapter, you should be able to do the following: Identify the components and anatomy of the lymphatic system. Discuss the role of the innate immune response against pathogens. Describe the power of the adaptive immune response to cure disease. Explain immunological deficiencies and over-reactions of the immune system. Discuss the role of the immune response in transplantation and cancer. Do not treat these as isolated facts. Use them as a checklist for what you should be able to identify, explain, and connect to safe practical nursing care.</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Anatomy of the Lymphatic and Immune Systems. The lymphatic vessels and organs that drain fluid and house immune cells.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The Lymphatic System. The lymphatic system. Vessels, nodes, and lymphoid organs. Returns leaked fluid to the blood. Houses and transports immune cells. Includes spleen, thymus, tonsils. Observe for localized swelling, tenderness, skin changes, impaired drainage, and infection, and protect an extremity affected by lymph-node removal or lymphedema. Take a moment to identify the structure on the image and explain how its form supports its function. This is slide 4 of 20.</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Formation of Lymph. How lymph forms and drains. Capillaries leak fluid into tissues. Lymphatic capillaries collect it. The fluid is now called lymph. It returns to the bloodstream. Observe for localized swelling, tenderness, skin changes, impaired drainage, and infection, and protect an extremity affected by lymph-node removal or lymphedema. Take a moment to identify the structure on the image and explain how its form supports its function. This is slide 5 of 20.</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Lymph Nodes. Small filtering organs along the vessels. Trap pathogens and debris. Packed with immune cells. Swell during infection. The structure of a lymph node. Observe for localized swelling, tenderness, skin changes, impaired drainage, and infection, and protect an extremity affected by lymph-node removal or lymphedema. Take a moment to identify the structure on the image and explain how its form supports its function. This is slide 6 of 20.</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Barrier Defenses and the Innate Immune Response. The body's first lines of defense — barriers and the innate response.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Innate vs. Adaptive Immunity. Two arms of defense. Innate: fast, general, present at birth. Adaptive: slower, specific, learned. Barriers are the first line. Innate and adaptive immunity. Connect innate defense and inflammation with redness, warmth, swelling, pain, fever, drainage, and changes in function. Take a moment to identify the structure on the image and explain how its form supports its function. This is slide 8 of 20.</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Inflammation. The inflammatory response. A core innate response to injury. Mast cells release histamine. Vessels dilate and become leaky. Causes redness, heat, swelling, pain. Connect innate defense and inflammation with redness, warmth, swelling, pain, fever, drainage, and changes in function. Take a moment to identify the structure on the image and explain how its form supports its function. This is slide 9 of 20.</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The Adaptive Immune Response: T lymphocytes and Their Functional Types. Adaptive immunity carried out by T lymphocytes.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Antigen Presentation. T cells must be shown the enemy. Antigen-presenting cells display antigens. Displayed on MHC molecules. This activates the matching T cell. Antigen presentation to a T cell. Immune assessment includes temperature, skin and wound findings, respiratory symptoms, lymph-node changes, fatigue, laboratory results, and precautions for infection risk. Take a moment to identify the structure on the image and explain how its form supports its function. This is slide 11 of 20.</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Types of T Cells. Helper T cells coordinate the response. Cytotoxic T cells kill infected cells. Memory T cells remember the pathogen. Central to adaptive immunity. Helper and cytotoxic T cells. Adaptive immunity creates targeted responses and memory; relate this process to vaccination, infection history, immune suppression, and laboratory findings. Take a moment to identify the structure on the image and explain how its form supports its function. This is slide 12 of 20.</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The Adaptive Immune Response: B-lymphocytes and Antibodies. Adaptive immunity carried out by B lymphocytes and antibodies.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Antibody Structure. The structure of an antibody. Y-shaped proteins made by B cells. Two antigen-binding tips. Each binds one specific antigen. Tag pathogens for destruction. Adaptive immunity creates targeted responses and memory; relate this process to vaccination, infection history, immune suppression, and laboratory findings. Take a moment to identify the structure on the image and explain how its form supports its function. This is slide 14 of 20.</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B Cell Activation. B cells make antibodies. Activated B cells become plasma cells. Plasma cells pump out antibodies. Memory B cells remain behind. B cell activation and antibody production. Adaptive immunity creates targeted responses and memory; relate this process to vaccination, infection history, immune suppression, and laboratory findings. Take a moment to identify the structure on the image and explain how its form supports its function. This is slide 15 of 20.</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Primary vs. Secondary Response. First exposure → slow, weak response. Memory cells are formed. Second exposure → fast, strong response. The principle behind vaccines. The primary and secondary immune response. Immune assessment includes temperature, skin and wound findings, respiratory symptoms, lymph-node changes, fatigue, laboratory results, and precautions for infection risk. Take a moment to identify the structure on the image and explain how its form supports its function. This is slide 16 of 20.</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The Immune Response against Pathogens. How the immune defenses work together against an infection.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A Coordinated Immune Response. The defenses work as a team. Barriers and innate cells respond first. Adaptive immunity targets the pathogen. Memory protects against reinfection. A coordinated immune response. Connect innate defense and inflammation with redness, warmth, swelling, pain, fever, drainage, and changes in function. Take a moment to identify the structure on the image and explain how its form supports its function. This is slide 18 of 20.</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Let us review the major takeaways from Chapter 21. The lymphatic system drains tissue fluid and houses the immune system. Innate immunity provides fast, general defense; adaptive immunity is specific and remembers. Inflammation brings defenses to the site of injury or infection. T cells coordinate the response and kill infected cells; B cells make antibodies. Immune memory underlies long-term protection and the success of vaccines. Before moving on, pause and explain each point without reading the slide. If any statement is difficult to explain, mark that topic for review before the quiz.</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This final slide connects Chapter 21 to practical nursing. Vaccination. Builds immune memory without causing the disease. Allergies. An overactive immune response to harmless substances. Autoimmune Disease. The immune system attacks the body's own tissues. HIV/AIDS. The virus destroys helper T cells, crippling immunity. Lymph Node Exam. Swollen nodes can signal infection or, sometimes, cancer. Immunocompromise. Weakened immunity raises infection risk in many patients. Your role is to observe carefully, protect safety, follow orders and precautions, document objectively, and report changes through the appropriate chain of command. Use these examples to connect anatomy with the care you will provide.</a:t>
            </a:r>
            <a:endParaRPr/>
          </a:p>
          <a:p xmlns:a="http://schemas.openxmlformats.org/drawingml/2006/main">
            <a:r>
              <a:t/>
            </a:r>
            <a:endParaRPr/>
          </a:p>
          <a:p xmlns:a="http://schemas.openxmlformats.org/drawingml/2006/main">
            <a:r>
              <a:t>[Sources]</a:t>
            </a:r>
            <a:endParaRPr/>
          </a:p>
          <a:p xmlns:a="http://schemas.openxmlformats.org/drawingml/2006/main">
            <a:r>
              <a:t>- BMHI PN 104 Chapter 21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cf6295b627451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2809dc426844b7" /><Relationship Type="http://schemas.openxmlformats.org/officeDocument/2006/relationships/slideLayout" Target="/ppt/slideLayouts/slideLayout1.xml" Id="R7c9b6da38209401a"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9b6da38209401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000b79cd084e42" /><Relationship Type="http://schemas.openxmlformats.org/officeDocument/2006/relationships/image" Target="/ppt/media/image.jpeg" Id="Re0305c3d57734919" /><Relationship Type="http://schemas.openxmlformats.org/officeDocument/2006/relationships/notesSlide" Target="/ppt/notesSlides/notesSlide1.xml" Id="Ra76d674d26734b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b31ef630c8f4e84" /><Relationship Type="http://schemas.openxmlformats.org/officeDocument/2006/relationships/image" Target="/ppt/media/image2.jpeg" Id="R13341a6186374493" /><Relationship Type="http://schemas.openxmlformats.org/officeDocument/2006/relationships/notesSlide" Target="/ppt/notesSlides/notesSlide2.xml" Id="Rc3f028587a5347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fddb644c734fdf" /><Relationship Type="http://schemas.openxmlformats.org/officeDocument/2006/relationships/notesSlide" Target="/ppt/notesSlides/notesSlide3.xml" Id="Rc843e8873c4e49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db7dbc4daae4de9" /><Relationship Type="http://schemas.openxmlformats.org/officeDocument/2006/relationships/image" Target="/ppt/media/image3.jpeg" Id="Rfb864b9491d3494b" /><Relationship Type="http://schemas.openxmlformats.org/officeDocument/2006/relationships/notesSlide" Target="/ppt/notesSlides/notesSlide4.xml" Id="R87e03b95458945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8aa03015cc4ea2" /><Relationship Type="http://schemas.openxmlformats.org/officeDocument/2006/relationships/image" Target="/ppt/media/image4.jpeg" Id="R200d06ba1f8f4844" /><Relationship Type="http://schemas.openxmlformats.org/officeDocument/2006/relationships/notesSlide" Target="/ppt/notesSlides/notesSlide5.xml" Id="R6658bca0d61c49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65e0760cb4a4648" /><Relationship Type="http://schemas.openxmlformats.org/officeDocument/2006/relationships/image" Target="/ppt/media/image5.jpeg" Id="R34f58abe56f04b3a" /><Relationship Type="http://schemas.openxmlformats.org/officeDocument/2006/relationships/notesSlide" Target="/ppt/notesSlides/notesSlide6.xml" Id="Rba651eb392de4a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ddd3adacbff4c66" /><Relationship Type="http://schemas.openxmlformats.org/officeDocument/2006/relationships/notesSlide" Target="/ppt/notesSlides/notesSlide7.xml" Id="R4fc1d98124784d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08d2843e4124c71" /><Relationship Type="http://schemas.openxmlformats.org/officeDocument/2006/relationships/image" Target="/ppt/media/image6.jpeg" Id="R9890d1ee6cbd4e8b" /><Relationship Type="http://schemas.openxmlformats.org/officeDocument/2006/relationships/notesSlide" Target="/ppt/notesSlides/notesSlide8.xml" Id="Rbd288c4305174c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eed15447850415e" /><Relationship Type="http://schemas.openxmlformats.org/officeDocument/2006/relationships/image" Target="/ppt/media/image7.jpeg" Id="Rba7cd2f9fd8b4694" /><Relationship Type="http://schemas.openxmlformats.org/officeDocument/2006/relationships/notesSlide" Target="/ppt/notesSlides/notesSlide9.xml" Id="R317075358b8f4b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60d16175af04a23" /><Relationship Type="http://schemas.openxmlformats.org/officeDocument/2006/relationships/notesSlide" Target="/ppt/notesSlides/notesSlide10.xml" Id="R373204d6f78049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1109802599d4091" /><Relationship Type="http://schemas.openxmlformats.org/officeDocument/2006/relationships/image" Target="/ppt/media/image8.jpeg" Id="Rae51c467925949f0" /><Relationship Type="http://schemas.openxmlformats.org/officeDocument/2006/relationships/notesSlide" Target="/ppt/notesSlides/notesSlide11.xml" Id="R70d92fe3dd2c4db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00f0e23d8f94bbe" /><Relationship Type="http://schemas.openxmlformats.org/officeDocument/2006/relationships/image" Target="/ppt/media/image9.jpeg" Id="Rbe4a43ca27e8430c" /><Relationship Type="http://schemas.openxmlformats.org/officeDocument/2006/relationships/notesSlide" Target="/ppt/notesSlides/notesSlide12.xml" Id="R0869770ab29b434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cf65116d4f44a18" /><Relationship Type="http://schemas.openxmlformats.org/officeDocument/2006/relationships/notesSlide" Target="/ppt/notesSlides/notesSlide13.xml" Id="R9e19d8d092e442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19aab19984740a3" /><Relationship Type="http://schemas.openxmlformats.org/officeDocument/2006/relationships/image" Target="/ppt/media/image10.jpeg" Id="R23c149ae33c44ccb" /><Relationship Type="http://schemas.openxmlformats.org/officeDocument/2006/relationships/notesSlide" Target="/ppt/notesSlides/notesSlide14.xml" Id="Rcff84c4c78b54c4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1bb710c5e194317" /><Relationship Type="http://schemas.openxmlformats.org/officeDocument/2006/relationships/image" Target="/ppt/media/image11.jpeg" Id="R93f092e3255f4651" /><Relationship Type="http://schemas.openxmlformats.org/officeDocument/2006/relationships/notesSlide" Target="/ppt/notesSlides/notesSlide15.xml" Id="R720b37ebeca94fe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041a299fc0d4ed7" /><Relationship Type="http://schemas.openxmlformats.org/officeDocument/2006/relationships/image" Target="/ppt/media/image12.jpeg" Id="Rc6a9f9496c244ea2" /><Relationship Type="http://schemas.openxmlformats.org/officeDocument/2006/relationships/notesSlide" Target="/ppt/notesSlides/notesSlide16.xml" Id="R346e98c2671c478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ac2e1078f0145bd" /><Relationship Type="http://schemas.openxmlformats.org/officeDocument/2006/relationships/notesSlide" Target="/ppt/notesSlides/notesSlide17.xml" Id="R4f7e14b36c7a43c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e9dfe2f936347b5" /><Relationship Type="http://schemas.openxmlformats.org/officeDocument/2006/relationships/image" Target="/ppt/media/image13.jpeg" Id="Rd231bf6e03e54869" /><Relationship Type="http://schemas.openxmlformats.org/officeDocument/2006/relationships/notesSlide" Target="/ppt/notesSlides/notesSlide18.xml" Id="Rb584023007ce427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70b50e6567a4270" /><Relationship Type="http://schemas.openxmlformats.org/officeDocument/2006/relationships/notesSlide" Target="/ppt/notesSlides/notesSlide19.xml" Id="R33a2c9f4a5dd4a5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35cb10e4f7d40d6" /><Relationship Type="http://schemas.openxmlformats.org/officeDocument/2006/relationships/notesSlide" Target="/ppt/notesSlides/notesSlide20.xml" Id="R07ee579c733d4544" /></Relationships>
</file>

<file path=ppt/slides/slide1.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CA03DA-3345-4587-A5AA-49BF5EF2FC4A}"/>
              </a:ext>
            </a:extLst>
          </p:cNvPr>
          <p:cNvSpPr>
            <a:spLocks xmlns:a="http://schemas.openxmlformats.org/drawingml/2006/main" noGrp="1"/>
          </p:cNvSpPr>
          <p:nvPr/>
        </p:nvSpPr>
        <p:spPr>
          <a:xfrm xmlns:a="http://schemas.openxmlformats.org/drawingml/2006/main">
            <a:off x="731520" y="1325880"/>
            <a:ext cx="6400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E36414"/>
                </a:solidFill>
                <a:latin typeface="Calibri"/>
                <a:ea typeface="Calibri"/>
                <a:cs typeface="Calibri"/>
              </a:rPr>
              <a:t>CHAPTER 21</a:t>
            </a:r>
            <a:endParaRPr sz="1800"/>
          </a:p>
        </p:txBody>
      </p:sp>
      <p:sp>
        <p:nvSpPr>
          <p:cNvPr id="3" name="Text 1">
            <a:extLst xmlns:a="http://schemas.openxmlformats.org/drawingml/2006/main">
              <a:ext uri="{FF2B5EF4-FFF2-40B4-BE49-F238E27FC236}">
                <a16:creationId xmlns:a16="http://schemas.microsoft.com/office/drawing/2014/main" id="{D53F1DDD-7871-49DA-9CA1-090564D2A771}"/>
              </a:ext>
            </a:extLst>
          </p:cNvPr>
          <p:cNvSpPr>
            <a:spLocks xmlns:a="http://schemas.openxmlformats.org/drawingml/2006/main" noGrp="1"/>
          </p:cNvSpPr>
          <p:nvPr/>
        </p:nvSpPr>
        <p:spPr>
          <a:xfrm xmlns:a="http://schemas.openxmlformats.org/drawingml/2006/main">
            <a:off x="713232" y="1783080"/>
            <a:ext cx="6858000" cy="1920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800" b="1">
                <a:solidFill>
                  <a:srgbClr val="FFFFFF"/>
                </a:solidFill>
                <a:latin typeface="Georgia"/>
                <a:ea typeface="Georgia"/>
                <a:cs typeface="Georgia"/>
              </a:rPr>
              <a:t>The Lymphatic and Immune System</a:t>
            </a:r>
            <a:endParaRPr sz="3800"/>
          </a:p>
        </p:txBody>
      </p:sp>
      <p:sp>
        <p:nvSpPr>
          <p:cNvPr id="4" name="Text 2">
            <a:extLst xmlns:a="http://schemas.openxmlformats.org/drawingml/2006/main">
              <a:ext uri="{FF2B5EF4-FFF2-40B4-BE49-F238E27FC236}">
                <a16:creationId xmlns:a16="http://schemas.microsoft.com/office/drawing/2014/main" id="{812A5A0A-2753-4509-BA00-B0112424C104}"/>
              </a:ext>
            </a:extLst>
          </p:cNvPr>
          <p:cNvSpPr>
            <a:spLocks xmlns:a="http://schemas.openxmlformats.org/drawingml/2006/main" noGrp="1"/>
          </p:cNvSpPr>
          <p:nvPr/>
        </p:nvSpPr>
        <p:spPr>
          <a:xfrm xmlns:a="http://schemas.openxmlformats.org/drawingml/2006/main">
            <a:off x="749808" y="3977640"/>
            <a:ext cx="64008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600">
                <a:solidFill>
                  <a:srgbClr val="CFE3E7"/>
                </a:solidFill>
                <a:latin typeface="Calibri"/>
                <a:ea typeface="Calibri"/>
                <a:cs typeface="Calibri"/>
              </a:rPr>
              <a:t>How the body defends itself against infection.</a:t>
            </a:r>
            <a:endParaRPr sz="1600"/>
          </a:p>
        </p:txBody>
      </p:sp>
      <p:sp>
        <p:nvSpPr>
          <p:cNvPr id="5" name="Text 3">
            <a:extLst xmlns:a="http://schemas.openxmlformats.org/drawingml/2006/main">
              <a:ext uri="{FF2B5EF4-FFF2-40B4-BE49-F238E27FC236}">
                <a16:creationId xmlns:a16="http://schemas.microsoft.com/office/drawing/2014/main" id="{295A3DD6-8887-4090-A70F-ECB5D9091117}"/>
              </a:ext>
            </a:extLst>
          </p:cNvPr>
          <p:cNvSpPr>
            <a:spLocks xmlns:a="http://schemas.openxmlformats.org/drawingml/2006/main" noGrp="1"/>
          </p:cNvSpPr>
          <p:nvPr/>
        </p:nvSpPr>
        <p:spPr>
          <a:xfrm xmlns:a="http://schemas.openxmlformats.org/drawingml/2006/main">
            <a:off x="749808" y="5806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9FC2C9"/>
                </a:solidFill>
                <a:latin typeface="Calibri"/>
                <a:ea typeface="Calibri"/>
                <a:cs typeface="Calibri"/>
              </a:rPr>
              <a:t>Anatomy &amp; Physiology  ·  Broward-Miami Health Institute</a:t>
            </a:r>
            <a:endParaRPr sz="1300"/>
          </a:p>
        </p:txBody>
      </p:sp>
      <p:sp>
        <p:nvSpPr>
          <p:cNvPr id="6" name="Text 4">
            <a:extLst xmlns:a="http://schemas.openxmlformats.org/drawingml/2006/main">
              <a:ext uri="{FF2B5EF4-FFF2-40B4-BE49-F238E27FC236}">
                <a16:creationId xmlns:a16="http://schemas.microsoft.com/office/drawing/2014/main" id="{684DD6CB-4048-4F41-8000-237348D0F87F}"/>
              </a:ext>
            </a:extLst>
          </p:cNvPr>
          <p:cNvSpPr>
            <a:spLocks xmlns:a="http://schemas.openxmlformats.org/drawingml/2006/main" noGrp="1"/>
          </p:cNvSpPr>
          <p:nvPr/>
        </p:nvSpPr>
        <p:spPr>
          <a:xfrm xmlns:a="http://schemas.openxmlformats.org/drawingml/2006/main">
            <a:off x="749808" y="6144768"/>
            <a:ext cx="3657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E36414"/>
                </a:solidFill>
                <a:latin typeface="Calibri"/>
                <a:ea typeface="Calibri"/>
                <a:cs typeface="Calibri"/>
              </a:rPr>
              <a:t>FACULTY EDITION</a:t>
            </a:r>
            <a:endParaRPr sz="1100"/>
          </a:p>
        </p:txBody>
      </p:sp>
      <p:sp>
        <p:nvSpPr>
          <p:cNvPr id="7" name="Shape 5">
            <a:extLst xmlns:a="http://schemas.openxmlformats.org/drawingml/2006/main">
              <a:ext uri="{FF2B5EF4-FFF2-40B4-BE49-F238E27FC236}">
                <a16:creationId xmlns:a16="http://schemas.microsoft.com/office/drawing/2014/main" id="{E674A9D0-4AFD-4129-97E0-36358F52B055}"/>
              </a:ext>
            </a:extLst>
          </p:cNvPr>
          <p:cNvSpPr>
            <a:spLocks xmlns:a="http://schemas.openxmlformats.org/drawingml/2006/main" noGrp="1"/>
          </p:cNvSpPr>
          <p:nvPr/>
        </p:nvSpPr>
        <p:spPr>
          <a:xfrm xmlns:a="http://schemas.openxmlformats.org/drawingml/2006/main">
            <a:off x="8231360" y="1380744"/>
            <a:ext cx="3105440" cy="4279392"/>
          </a:xfrm>
          <a:prstGeom xmlns:a="http://schemas.openxmlformats.org/drawingml/2006/main" prst="roundRect">
            <a:avLst>
              <a:gd name="adj" fmla="val 1767"/>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e0305c3d57734919"/>
          <a:stretch xmlns:a="http://schemas.openxmlformats.org/drawingml/2006/main">
            <a:fillRect l="0" t="0" r="0" b="0"/>
          </a:stretch>
        </p:blipFill>
        <p:spPr>
          <a:xfrm xmlns:a="http://schemas.openxmlformats.org/drawingml/2006/main">
            <a:off x="8313656" y="1463040"/>
            <a:ext cx="2940848" cy="4114800"/>
          </a:xfrm>
          <a:prstGeom xmlns:a="http://schemas.openxmlformats.org/drawingml/2006/main" prst="rect">
            <a:avLst/>
          </a:prstGeom>
        </p:spPr>
      </p:pic>
    </p:spTree>
    <p:extLst>
      <p:ext uri="{BB962C8B-B14F-4D97-AF65-F5344CB8AC3E}">
        <p14:creationId xmlns:p14="http://schemas.microsoft.com/office/powerpoint/2010/main" val="10876604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4400FD8-EC7B-4F5D-A9CA-942FFF5C89EC}"/>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21</a:t>
            </a:r>
            <a:endParaRPr sz="1200"/>
          </a:p>
        </p:txBody>
      </p:sp>
      <p:sp>
        <p:nvSpPr>
          <p:cNvPr id="3" name="Text 1">
            <a:extLst xmlns:a="http://schemas.openxmlformats.org/drawingml/2006/main">
              <a:ext uri="{FF2B5EF4-FFF2-40B4-BE49-F238E27FC236}">
                <a16:creationId xmlns:a16="http://schemas.microsoft.com/office/drawing/2014/main" id="{427E7B26-EAA8-48C2-AAAD-8914395753A6}"/>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Learning Objectives</a:t>
            </a:r>
            <a:endParaRPr sz="2800"/>
          </a:p>
        </p:txBody>
      </p:sp>
      <p:sp>
        <p:nvSpPr>
          <p:cNvPr id="4" name="Text 2">
            <a:extLst xmlns:a="http://schemas.openxmlformats.org/drawingml/2006/main">
              <a:ext uri="{FF2B5EF4-FFF2-40B4-BE49-F238E27FC236}">
                <a16:creationId xmlns:a16="http://schemas.microsoft.com/office/drawing/2014/main" id="{A348BD1A-F275-4CE6-8405-F00AE259DC43}"/>
              </a:ext>
            </a:extLst>
          </p:cNvPr>
          <p:cNvSpPr>
            <a:spLocks xmlns:a="http://schemas.openxmlformats.org/drawingml/2006/main" noGrp="1"/>
          </p:cNvSpPr>
          <p:nvPr/>
        </p:nvSpPr>
        <p:spPr>
          <a:xfrm xmlns:a="http://schemas.openxmlformats.org/drawingml/2006/main">
            <a:off x="548640" y="137160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A6B70"/>
                </a:solidFill>
                <a:latin typeface="Calibri"/>
                <a:ea typeface="Calibri"/>
                <a:cs typeface="Calibri"/>
              </a:rPr>
              <a:t>After studying this chapter, students will be able to:</a:t>
            </a:r>
            <a:endParaRPr sz="1200"/>
          </a:p>
        </p:txBody>
      </p:sp>
      <p:sp>
        <p:nvSpPr>
          <p:cNvPr id="5" name="Shape 3">
            <a:extLst xmlns:a="http://schemas.openxmlformats.org/drawingml/2006/main">
              <a:ext uri="{FF2B5EF4-FFF2-40B4-BE49-F238E27FC236}">
                <a16:creationId xmlns:a16="http://schemas.microsoft.com/office/drawing/2014/main" id="{8EF113CB-1D94-43B3-9415-70CF4211CA96}"/>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ellipse">
            <a:avLst/>
          </a:prstGeom>
          <a:solidFill xmlns:a="http://schemas.openxmlformats.org/drawingml/2006/main">
            <a:srgbClr val="0F4C5C"/>
          </a:solidFill>
        </p:spPr>
      </p:sp>
      <p:sp>
        <p:nvSpPr>
          <p:cNvPr id="6" name="Text 4">
            <a:extLst xmlns:a="http://schemas.openxmlformats.org/drawingml/2006/main">
              <a:ext uri="{FF2B5EF4-FFF2-40B4-BE49-F238E27FC236}">
                <a16:creationId xmlns:a16="http://schemas.microsoft.com/office/drawing/2014/main" id="{86812622-BEB4-4DAA-82BB-C2CDACA436B3}"/>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1</a:t>
            </a:r>
            <a:endParaRPr sz="1500"/>
          </a:p>
        </p:txBody>
      </p:sp>
      <p:sp>
        <p:nvSpPr>
          <p:cNvPr id="7" name="Text 5">
            <a:extLst xmlns:a="http://schemas.openxmlformats.org/drawingml/2006/main">
              <a:ext uri="{FF2B5EF4-FFF2-40B4-BE49-F238E27FC236}">
                <a16:creationId xmlns:a16="http://schemas.microsoft.com/office/drawing/2014/main" id="{41139E28-190D-4D36-9473-798D3A2BC399}"/>
              </a:ext>
            </a:extLst>
          </p:cNvPr>
          <p:cNvSpPr>
            <a:spLocks xmlns:a="http://schemas.openxmlformats.org/drawingml/2006/main" noGrp="1"/>
          </p:cNvSpPr>
          <p:nvPr/>
        </p:nvSpPr>
        <p:spPr>
          <a:xfrm xmlns:a="http://schemas.openxmlformats.org/drawingml/2006/main">
            <a:off x="1115568" y="1645920"/>
            <a:ext cx="5943600" cy="8412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Identify the components and anatomy of the lymphatic system</a:t>
            </a:r>
            <a:endParaRPr sz="1400"/>
          </a:p>
        </p:txBody>
      </p:sp>
      <p:sp>
        <p:nvSpPr>
          <p:cNvPr id="8" name="Shape 6">
            <a:extLst xmlns:a="http://schemas.openxmlformats.org/drawingml/2006/main">
              <a:ext uri="{FF2B5EF4-FFF2-40B4-BE49-F238E27FC236}">
                <a16:creationId xmlns:a16="http://schemas.microsoft.com/office/drawing/2014/main" id="{39CDCFEE-5310-4185-97F0-0C436E47E3F4}"/>
              </a:ext>
            </a:extLst>
          </p:cNvPr>
          <p:cNvSpPr>
            <a:spLocks xmlns:a="http://schemas.openxmlformats.org/drawingml/2006/main" noGrp="1"/>
          </p:cNvSpPr>
          <p:nvPr/>
        </p:nvSpPr>
        <p:spPr>
          <a:xfrm xmlns:a="http://schemas.openxmlformats.org/drawingml/2006/main">
            <a:off x="548640" y="2505456"/>
            <a:ext cx="384048" cy="384048"/>
          </a:xfrm>
          <a:prstGeom xmlns:a="http://schemas.openxmlformats.org/drawingml/2006/main" prst="ellipse">
            <a:avLst/>
          </a:prstGeom>
          <a:solidFill xmlns:a="http://schemas.openxmlformats.org/drawingml/2006/main">
            <a:srgbClr val="0F4C5C"/>
          </a:solidFill>
        </p:spPr>
      </p:sp>
      <p:sp>
        <p:nvSpPr>
          <p:cNvPr id="9" name="Text 7">
            <a:extLst xmlns:a="http://schemas.openxmlformats.org/drawingml/2006/main">
              <a:ext uri="{FF2B5EF4-FFF2-40B4-BE49-F238E27FC236}">
                <a16:creationId xmlns:a16="http://schemas.microsoft.com/office/drawing/2014/main" id="{5FE64D51-A14B-4C04-8612-805AA777D803}"/>
              </a:ext>
            </a:extLst>
          </p:cNvPr>
          <p:cNvSpPr>
            <a:spLocks xmlns:a="http://schemas.openxmlformats.org/drawingml/2006/main" noGrp="1"/>
          </p:cNvSpPr>
          <p:nvPr/>
        </p:nvSpPr>
        <p:spPr>
          <a:xfrm xmlns:a="http://schemas.openxmlformats.org/drawingml/2006/main">
            <a:off x="548640" y="2505456"/>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2</a:t>
            </a:r>
            <a:endParaRPr sz="1500"/>
          </a:p>
        </p:txBody>
      </p:sp>
      <p:sp>
        <p:nvSpPr>
          <p:cNvPr id="10" name="Text 8">
            <a:extLst xmlns:a="http://schemas.openxmlformats.org/drawingml/2006/main">
              <a:ext uri="{FF2B5EF4-FFF2-40B4-BE49-F238E27FC236}">
                <a16:creationId xmlns:a16="http://schemas.microsoft.com/office/drawing/2014/main" id="{0FCA393E-0FDB-45AC-8161-706501993C89}"/>
              </a:ext>
            </a:extLst>
          </p:cNvPr>
          <p:cNvSpPr>
            <a:spLocks xmlns:a="http://schemas.openxmlformats.org/drawingml/2006/main" noGrp="1"/>
          </p:cNvSpPr>
          <p:nvPr/>
        </p:nvSpPr>
        <p:spPr>
          <a:xfrm xmlns:a="http://schemas.openxmlformats.org/drawingml/2006/main">
            <a:off x="1115568" y="2487168"/>
            <a:ext cx="5943600" cy="8412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Discuss the role of the innate immune response against pathogens</a:t>
            </a:r>
            <a:endParaRPr sz="1400"/>
          </a:p>
        </p:txBody>
      </p:sp>
      <p:sp>
        <p:nvSpPr>
          <p:cNvPr id="11" name="Shape 9">
            <a:extLst xmlns:a="http://schemas.openxmlformats.org/drawingml/2006/main">
              <a:ext uri="{FF2B5EF4-FFF2-40B4-BE49-F238E27FC236}">
                <a16:creationId xmlns:a16="http://schemas.microsoft.com/office/drawing/2014/main" id="{4E475A89-1D29-43F0-A440-7E6D6632AA81}"/>
              </a:ext>
            </a:extLst>
          </p:cNvPr>
          <p:cNvSpPr>
            <a:spLocks xmlns:a="http://schemas.openxmlformats.org/drawingml/2006/main" noGrp="1"/>
          </p:cNvSpPr>
          <p:nvPr/>
        </p:nvSpPr>
        <p:spPr>
          <a:xfrm xmlns:a="http://schemas.openxmlformats.org/drawingml/2006/main">
            <a:off x="548640" y="3346704"/>
            <a:ext cx="384048" cy="384048"/>
          </a:xfrm>
          <a:prstGeom xmlns:a="http://schemas.openxmlformats.org/drawingml/2006/main" prst="ellipse">
            <a:avLst/>
          </a:prstGeom>
          <a:solidFill xmlns:a="http://schemas.openxmlformats.org/drawingml/2006/main">
            <a:srgbClr val="0F4C5C"/>
          </a:solidFill>
        </p:spPr>
      </p:sp>
      <p:sp>
        <p:nvSpPr>
          <p:cNvPr id="12" name="Text 10">
            <a:extLst xmlns:a="http://schemas.openxmlformats.org/drawingml/2006/main">
              <a:ext uri="{FF2B5EF4-FFF2-40B4-BE49-F238E27FC236}">
                <a16:creationId xmlns:a16="http://schemas.microsoft.com/office/drawing/2014/main" id="{EFC3B07B-5461-45D0-9293-860A0C91B7CA}"/>
              </a:ext>
            </a:extLst>
          </p:cNvPr>
          <p:cNvSpPr>
            <a:spLocks xmlns:a="http://schemas.openxmlformats.org/drawingml/2006/main" noGrp="1"/>
          </p:cNvSpPr>
          <p:nvPr/>
        </p:nvSpPr>
        <p:spPr>
          <a:xfrm xmlns:a="http://schemas.openxmlformats.org/drawingml/2006/main">
            <a:off x="548640" y="3346704"/>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3</a:t>
            </a:r>
            <a:endParaRPr sz="1500"/>
          </a:p>
        </p:txBody>
      </p:sp>
      <p:sp>
        <p:nvSpPr>
          <p:cNvPr id="13" name="Text 11">
            <a:extLst xmlns:a="http://schemas.openxmlformats.org/drawingml/2006/main">
              <a:ext uri="{FF2B5EF4-FFF2-40B4-BE49-F238E27FC236}">
                <a16:creationId xmlns:a16="http://schemas.microsoft.com/office/drawing/2014/main" id="{02091C05-6474-44A9-BABC-E7BA6859B6ED}"/>
              </a:ext>
            </a:extLst>
          </p:cNvPr>
          <p:cNvSpPr>
            <a:spLocks xmlns:a="http://schemas.openxmlformats.org/drawingml/2006/main" noGrp="1"/>
          </p:cNvSpPr>
          <p:nvPr/>
        </p:nvSpPr>
        <p:spPr>
          <a:xfrm xmlns:a="http://schemas.openxmlformats.org/drawingml/2006/main">
            <a:off x="1115568" y="3328416"/>
            <a:ext cx="5943600" cy="8412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Describe the power of the adaptive immune response to cure disease</a:t>
            </a:r>
            <a:endParaRPr sz="1400"/>
          </a:p>
        </p:txBody>
      </p:sp>
      <p:sp>
        <p:nvSpPr>
          <p:cNvPr id="14" name="Shape 12">
            <a:extLst xmlns:a="http://schemas.openxmlformats.org/drawingml/2006/main">
              <a:ext uri="{FF2B5EF4-FFF2-40B4-BE49-F238E27FC236}">
                <a16:creationId xmlns:a16="http://schemas.microsoft.com/office/drawing/2014/main" id="{0715BD20-B7F2-4AD4-A410-CC413F9DD03E}"/>
              </a:ext>
            </a:extLst>
          </p:cNvPr>
          <p:cNvSpPr>
            <a:spLocks xmlns:a="http://schemas.openxmlformats.org/drawingml/2006/main" noGrp="1"/>
          </p:cNvSpPr>
          <p:nvPr/>
        </p:nvSpPr>
        <p:spPr>
          <a:xfrm xmlns:a="http://schemas.openxmlformats.org/drawingml/2006/main">
            <a:off x="548640" y="4187952"/>
            <a:ext cx="384048" cy="384048"/>
          </a:xfrm>
          <a:prstGeom xmlns:a="http://schemas.openxmlformats.org/drawingml/2006/main" prst="ellipse">
            <a:avLst/>
          </a:prstGeom>
          <a:solidFill xmlns:a="http://schemas.openxmlformats.org/drawingml/2006/main">
            <a:srgbClr val="0F4C5C"/>
          </a:solidFill>
        </p:spPr>
      </p:sp>
      <p:sp>
        <p:nvSpPr>
          <p:cNvPr id="15" name="Text 13">
            <a:extLst xmlns:a="http://schemas.openxmlformats.org/drawingml/2006/main">
              <a:ext uri="{FF2B5EF4-FFF2-40B4-BE49-F238E27FC236}">
                <a16:creationId xmlns:a16="http://schemas.microsoft.com/office/drawing/2014/main" id="{681DAFCB-08B1-40CA-B48C-58B644E63F8E}"/>
              </a:ext>
            </a:extLst>
          </p:cNvPr>
          <p:cNvSpPr>
            <a:spLocks xmlns:a="http://schemas.openxmlformats.org/drawingml/2006/main" noGrp="1"/>
          </p:cNvSpPr>
          <p:nvPr/>
        </p:nvSpPr>
        <p:spPr>
          <a:xfrm xmlns:a="http://schemas.openxmlformats.org/drawingml/2006/main">
            <a:off x="548640" y="4187952"/>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4</a:t>
            </a:r>
            <a:endParaRPr sz="1500"/>
          </a:p>
        </p:txBody>
      </p:sp>
      <p:sp>
        <p:nvSpPr>
          <p:cNvPr id="16" name="Text 14">
            <a:extLst xmlns:a="http://schemas.openxmlformats.org/drawingml/2006/main">
              <a:ext uri="{FF2B5EF4-FFF2-40B4-BE49-F238E27FC236}">
                <a16:creationId xmlns:a16="http://schemas.microsoft.com/office/drawing/2014/main" id="{0C8FADF0-4256-4144-9F9F-3335F349319E}"/>
              </a:ext>
            </a:extLst>
          </p:cNvPr>
          <p:cNvSpPr>
            <a:spLocks xmlns:a="http://schemas.openxmlformats.org/drawingml/2006/main" noGrp="1"/>
          </p:cNvSpPr>
          <p:nvPr/>
        </p:nvSpPr>
        <p:spPr>
          <a:xfrm xmlns:a="http://schemas.openxmlformats.org/drawingml/2006/main">
            <a:off x="1115568" y="4169664"/>
            <a:ext cx="5943600" cy="8412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Explain immunological deficiencies and over-reactions of the immune system</a:t>
            </a:r>
            <a:endParaRPr sz="1400"/>
          </a:p>
        </p:txBody>
      </p:sp>
      <p:sp>
        <p:nvSpPr>
          <p:cNvPr id="17" name="Shape 15">
            <a:extLst xmlns:a="http://schemas.openxmlformats.org/drawingml/2006/main">
              <a:ext uri="{FF2B5EF4-FFF2-40B4-BE49-F238E27FC236}">
                <a16:creationId xmlns:a16="http://schemas.microsoft.com/office/drawing/2014/main" id="{1163032E-584C-4351-A06D-E97F1B24ECA7}"/>
              </a:ext>
            </a:extLst>
          </p:cNvPr>
          <p:cNvSpPr>
            <a:spLocks xmlns:a="http://schemas.openxmlformats.org/drawingml/2006/main" noGrp="1"/>
          </p:cNvSpPr>
          <p:nvPr/>
        </p:nvSpPr>
        <p:spPr>
          <a:xfrm xmlns:a="http://schemas.openxmlformats.org/drawingml/2006/main">
            <a:off x="548640" y="5029200"/>
            <a:ext cx="384048" cy="384048"/>
          </a:xfrm>
          <a:prstGeom xmlns:a="http://schemas.openxmlformats.org/drawingml/2006/main" prst="ellipse">
            <a:avLst/>
          </a:prstGeom>
          <a:solidFill xmlns:a="http://schemas.openxmlformats.org/drawingml/2006/main">
            <a:srgbClr val="0F4C5C"/>
          </a:solidFill>
        </p:spPr>
      </p:sp>
      <p:sp>
        <p:nvSpPr>
          <p:cNvPr id="18" name="Text 16">
            <a:extLst xmlns:a="http://schemas.openxmlformats.org/drawingml/2006/main">
              <a:ext uri="{FF2B5EF4-FFF2-40B4-BE49-F238E27FC236}">
                <a16:creationId xmlns:a16="http://schemas.microsoft.com/office/drawing/2014/main" id="{9B0D159A-332D-412A-B336-8B655697657E}"/>
              </a:ext>
            </a:extLst>
          </p:cNvPr>
          <p:cNvSpPr>
            <a:spLocks xmlns:a="http://schemas.openxmlformats.org/drawingml/2006/main" noGrp="1"/>
          </p:cNvSpPr>
          <p:nvPr/>
        </p:nvSpPr>
        <p:spPr>
          <a:xfrm xmlns:a="http://schemas.openxmlformats.org/drawingml/2006/main">
            <a:off x="548640" y="502920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5</a:t>
            </a:r>
            <a:endParaRPr sz="1500"/>
          </a:p>
        </p:txBody>
      </p:sp>
      <p:sp>
        <p:nvSpPr>
          <p:cNvPr id="19" name="Text 17">
            <a:extLst xmlns:a="http://schemas.openxmlformats.org/drawingml/2006/main">
              <a:ext uri="{FF2B5EF4-FFF2-40B4-BE49-F238E27FC236}">
                <a16:creationId xmlns:a16="http://schemas.microsoft.com/office/drawing/2014/main" id="{515DADA8-39B9-413A-8AA2-7F3A8D08CC0F}"/>
              </a:ext>
            </a:extLst>
          </p:cNvPr>
          <p:cNvSpPr>
            <a:spLocks xmlns:a="http://schemas.openxmlformats.org/drawingml/2006/main" noGrp="1"/>
          </p:cNvSpPr>
          <p:nvPr/>
        </p:nvSpPr>
        <p:spPr>
          <a:xfrm xmlns:a="http://schemas.openxmlformats.org/drawingml/2006/main">
            <a:off x="1115568" y="5010912"/>
            <a:ext cx="5943600" cy="8412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Discuss the role of the immune response in transplantation and cancer</a:t>
            </a:r>
            <a:endParaRPr sz="1400"/>
          </a:p>
        </p:txBody>
      </p:sp>
      <p:sp>
        <p:nvSpPr>
          <p:cNvPr id="20" name="Shape 18">
            <a:extLst xmlns:a="http://schemas.openxmlformats.org/drawingml/2006/main">
              <a:ext uri="{FF2B5EF4-FFF2-40B4-BE49-F238E27FC236}">
                <a16:creationId xmlns:a16="http://schemas.microsoft.com/office/drawing/2014/main" id="{A1F1C78B-29AE-450B-958C-CDAB28179BE6}"/>
              </a:ext>
            </a:extLst>
          </p:cNvPr>
          <p:cNvSpPr>
            <a:spLocks xmlns:a="http://schemas.openxmlformats.org/drawingml/2006/main" noGrp="1"/>
          </p:cNvSpPr>
          <p:nvPr/>
        </p:nvSpPr>
        <p:spPr>
          <a:xfrm xmlns:a="http://schemas.openxmlformats.org/drawingml/2006/main">
            <a:off x="7415784" y="1795324"/>
            <a:ext cx="4370832" cy="3870857"/>
          </a:xfrm>
          <a:prstGeom xmlns:a="http://schemas.openxmlformats.org/drawingml/2006/main" prst="roundRect">
            <a:avLst>
              <a:gd name="adj" fmla="val 1417"/>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13341a6186374493"/>
          <a:stretch xmlns:a="http://schemas.openxmlformats.org/drawingml/2006/main">
            <a:fillRect l="0" t="0" r="0" b="0"/>
          </a:stretch>
        </p:blipFill>
        <p:spPr>
          <a:xfrm xmlns:a="http://schemas.openxmlformats.org/drawingml/2006/main">
            <a:off x="7498080" y="1877620"/>
            <a:ext cx="4206240" cy="3706265"/>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F89D7B84-2619-4EEB-A522-2A20D0D67258}"/>
              </a:ext>
            </a:extLst>
          </p:cNvPr>
          <p:cNvSpPr>
            <a:spLocks xmlns:a="http://schemas.openxmlformats.org/drawingml/2006/main" noGrp="1"/>
          </p:cNvSpPr>
          <p:nvPr/>
        </p:nvSpPr>
        <p:spPr>
          <a:xfrm xmlns:a="http://schemas.openxmlformats.org/drawingml/2006/main">
            <a:off x="7498080" y="5943600"/>
            <a:ext cx="4206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body's innate and adaptive defenses.</a:t>
            </a:r>
            <a:endParaRPr sz="1100"/>
          </a:p>
        </p:txBody>
      </p:sp>
      <p:sp>
        <p:nvSpPr>
          <p:cNvPr id="24" name="Text 20">
            <a:extLst xmlns:a="http://schemas.openxmlformats.org/drawingml/2006/main">
              <a:ext uri="{FF2B5EF4-FFF2-40B4-BE49-F238E27FC236}">
                <a16:creationId xmlns:a16="http://schemas.microsoft.com/office/drawing/2014/main" id="{1A8E843B-835A-4A6A-983F-076A5BE00BFA}"/>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21 — The Lymphatic and Immune System</a:t>
            </a:r>
            <a:endParaRPr sz="900"/>
          </a:p>
        </p:txBody>
      </p:sp>
      <p:sp>
        <p:nvSpPr>
          <p:cNvPr id="25" name="Text 21">
            <a:extLst xmlns:a="http://schemas.openxmlformats.org/drawingml/2006/main">
              <a:ext uri="{FF2B5EF4-FFF2-40B4-BE49-F238E27FC236}">
                <a16:creationId xmlns:a16="http://schemas.microsoft.com/office/drawing/2014/main" id="{D69593E9-8CB1-4BC7-BA04-5F139785E4E5}"/>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a:t>
            </a:r>
            <a:endParaRPr sz="900"/>
          </a:p>
        </p:txBody>
      </p:sp>
    </p:spTree>
    <p:extLst>
      <p:ext uri="{BB962C8B-B14F-4D97-AF65-F5344CB8AC3E}">
        <p14:creationId xmlns:p14="http://schemas.microsoft.com/office/powerpoint/2010/main" val="850692381"/>
      </p:ext>
    </p:extLst>
  </p:cSld>
</p:sld>
</file>

<file path=ppt/slides/slide3.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B185F13-9CAC-4B18-A4B3-D668D375203C}"/>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1D2EC699-B313-4782-A367-DE18D8F48A1C}"/>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21.1</a:t>
            </a:r>
            <a:endParaRPr sz="4400"/>
          </a:p>
        </p:txBody>
      </p:sp>
      <p:sp>
        <p:nvSpPr>
          <p:cNvPr id="4" name="Text 2">
            <a:extLst xmlns:a="http://schemas.openxmlformats.org/drawingml/2006/main">
              <a:ext uri="{FF2B5EF4-FFF2-40B4-BE49-F238E27FC236}">
                <a16:creationId xmlns:a16="http://schemas.microsoft.com/office/drawing/2014/main" id="{466F87B3-7EDB-4521-B69C-F842C2ED61B0}"/>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9E60AFB9-DF53-40A4-8728-153C42F489D5}"/>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FFFFFF"/>
                </a:solidFill>
                <a:latin typeface="Georgia"/>
                <a:ea typeface="Georgia"/>
                <a:cs typeface="Georgia"/>
              </a:rPr>
              <a:t>Anatomy of the Lymphatic and Immune Systems</a:t>
            </a:r>
            <a:endParaRPr sz="2800"/>
          </a:p>
        </p:txBody>
      </p:sp>
      <p:sp>
        <p:nvSpPr>
          <p:cNvPr id="6" name="Text 4">
            <a:extLst xmlns:a="http://schemas.openxmlformats.org/drawingml/2006/main">
              <a:ext uri="{FF2B5EF4-FFF2-40B4-BE49-F238E27FC236}">
                <a16:creationId xmlns:a16="http://schemas.microsoft.com/office/drawing/2014/main" id="{47E4AF3F-913B-4457-BE30-E4CBEE031348}"/>
              </a:ext>
            </a:extLst>
          </p:cNvPr>
          <p:cNvSpPr>
            <a:spLocks xmlns:a="http://schemas.openxmlformats.org/drawingml/2006/main" noGrp="1"/>
          </p:cNvSpPr>
          <p:nvPr/>
        </p:nvSpPr>
        <p:spPr>
          <a:xfrm xmlns:a="http://schemas.openxmlformats.org/drawingml/2006/main">
            <a:off x="3200400" y="420624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lymphatic vessels and organs that drain fluid and house immune cells.</a:t>
            </a:r>
            <a:endParaRPr sz="1500"/>
          </a:p>
        </p:txBody>
      </p:sp>
    </p:spTree>
    <p:extLst>
      <p:ext uri="{BB962C8B-B14F-4D97-AF65-F5344CB8AC3E}">
        <p14:creationId xmlns:p14="http://schemas.microsoft.com/office/powerpoint/2010/main" val="4549539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1ED7A63-800E-43C3-B80E-1EB696B37FDA}"/>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21.1</a:t>
            </a:r>
            <a:endParaRPr sz="1200"/>
          </a:p>
        </p:txBody>
      </p:sp>
      <p:sp>
        <p:nvSpPr>
          <p:cNvPr id="3" name="Text 1">
            <a:extLst xmlns:a="http://schemas.openxmlformats.org/drawingml/2006/main">
              <a:ext uri="{FF2B5EF4-FFF2-40B4-BE49-F238E27FC236}">
                <a16:creationId xmlns:a16="http://schemas.microsoft.com/office/drawing/2014/main" id="{6FF91C4E-7B17-44C4-B4CB-1180D55F975B}"/>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Lymphatic System</a:t>
            </a:r>
            <a:endParaRPr sz="2800"/>
          </a:p>
        </p:txBody>
      </p:sp>
      <p:sp>
        <p:nvSpPr>
          <p:cNvPr id="4" name="Shape 2">
            <a:extLst xmlns:a="http://schemas.openxmlformats.org/drawingml/2006/main">
              <a:ext uri="{FF2B5EF4-FFF2-40B4-BE49-F238E27FC236}">
                <a16:creationId xmlns:a16="http://schemas.microsoft.com/office/drawing/2014/main" id="{D092F79D-58FF-4D5E-8E07-27F3A3735243}"/>
              </a:ext>
            </a:extLst>
          </p:cNvPr>
          <p:cNvSpPr>
            <a:spLocks xmlns:a="http://schemas.openxmlformats.org/drawingml/2006/main" noGrp="1"/>
          </p:cNvSpPr>
          <p:nvPr/>
        </p:nvSpPr>
        <p:spPr>
          <a:xfrm xmlns:a="http://schemas.openxmlformats.org/drawingml/2006/main">
            <a:off x="935660" y="1289304"/>
            <a:ext cx="3432200" cy="4736592"/>
          </a:xfrm>
          <a:prstGeom xmlns:a="http://schemas.openxmlformats.org/drawingml/2006/main" prst="roundRect">
            <a:avLst>
              <a:gd name="adj" fmla="val 1599"/>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fb864b9491d3494b"/>
          <a:stretch xmlns:a="http://schemas.openxmlformats.org/drawingml/2006/main">
            <a:fillRect l="0" t="0" r="0" b="0"/>
          </a:stretch>
        </p:blipFill>
        <p:spPr>
          <a:xfrm xmlns:a="http://schemas.openxmlformats.org/drawingml/2006/main">
            <a:off x="1017956" y="1371600"/>
            <a:ext cx="3267608"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3E975AD1-D970-4439-8A77-E13262504DF6}"/>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lymphatic system</a:t>
            </a:r>
            <a:endParaRPr sz="1100"/>
          </a:p>
        </p:txBody>
      </p:sp>
      <p:sp>
        <p:nvSpPr>
          <p:cNvPr id="7" name="Text 4">
            <a:extLst xmlns:a="http://schemas.openxmlformats.org/drawingml/2006/main">
              <a:ext uri="{FF2B5EF4-FFF2-40B4-BE49-F238E27FC236}">
                <a16:creationId xmlns:a16="http://schemas.microsoft.com/office/drawing/2014/main" id="{B6CA5C30-808E-4AC2-9B42-D041357FAFAD}"/>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Vessels, nodes, and lymphoid organs</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Returns leaked fluid to the blood</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Houses and transports immune cells</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Includes spleen, thymus, tonsils</a:t>
            </a:r>
            <a:endParaRPr sz="1600"/>
          </a:p>
        </p:txBody>
      </p:sp>
      <p:sp>
        <p:nvSpPr>
          <p:cNvPr id="9" name="Text 5">
            <a:extLst xmlns:a="http://schemas.openxmlformats.org/drawingml/2006/main">
              <a:ext uri="{FF2B5EF4-FFF2-40B4-BE49-F238E27FC236}">
                <a16:creationId xmlns:a16="http://schemas.microsoft.com/office/drawing/2014/main" id="{84946118-2AB3-499D-AEC9-5F8B48077E6C}"/>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21 — The Lymphatic and Immune System</a:t>
            </a:r>
            <a:endParaRPr sz="900"/>
          </a:p>
        </p:txBody>
      </p:sp>
      <p:sp>
        <p:nvSpPr>
          <p:cNvPr id="10" name="Text 6">
            <a:extLst xmlns:a="http://schemas.openxmlformats.org/drawingml/2006/main">
              <a:ext uri="{FF2B5EF4-FFF2-40B4-BE49-F238E27FC236}">
                <a16:creationId xmlns:a16="http://schemas.microsoft.com/office/drawing/2014/main" id="{18E09550-752A-4676-B5F9-9868AF51AC7C}"/>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4</a:t>
            </a:r>
            <a:endParaRPr sz="900"/>
          </a:p>
        </p:txBody>
      </p:sp>
    </p:spTree>
    <p:extLst>
      <p:ext uri="{BB962C8B-B14F-4D97-AF65-F5344CB8AC3E}">
        <p14:creationId xmlns:p14="http://schemas.microsoft.com/office/powerpoint/2010/main" val="11802869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50BA774-1661-4FDB-86E7-546B3FA3CE47}"/>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21.1</a:t>
            </a:r>
            <a:endParaRPr sz="1200"/>
          </a:p>
        </p:txBody>
      </p:sp>
      <p:sp>
        <p:nvSpPr>
          <p:cNvPr id="3" name="Text 1">
            <a:extLst xmlns:a="http://schemas.openxmlformats.org/drawingml/2006/main">
              <a:ext uri="{FF2B5EF4-FFF2-40B4-BE49-F238E27FC236}">
                <a16:creationId xmlns:a16="http://schemas.microsoft.com/office/drawing/2014/main" id="{8C26F5AA-F0D2-441B-A8F5-3DCC97769D27}"/>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Formation of Lymph</a:t>
            </a:r>
            <a:endParaRPr sz="2800"/>
          </a:p>
        </p:txBody>
      </p:sp>
      <p:sp>
        <p:nvSpPr>
          <p:cNvPr id="4" name="Shape 2">
            <a:extLst xmlns:a="http://schemas.openxmlformats.org/drawingml/2006/main">
              <a:ext uri="{FF2B5EF4-FFF2-40B4-BE49-F238E27FC236}">
                <a16:creationId xmlns:a16="http://schemas.microsoft.com/office/drawing/2014/main" id="{6FED14EF-0E7B-4F9F-9369-0E2816D3D48E}"/>
              </a:ext>
            </a:extLst>
          </p:cNvPr>
          <p:cNvSpPr>
            <a:spLocks xmlns:a="http://schemas.openxmlformats.org/drawingml/2006/main" noGrp="1"/>
          </p:cNvSpPr>
          <p:nvPr/>
        </p:nvSpPr>
        <p:spPr>
          <a:xfrm xmlns:a="http://schemas.openxmlformats.org/drawingml/2006/main">
            <a:off x="2938379" y="1289304"/>
            <a:ext cx="6330483"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200d06ba1f8f4844"/>
          <a:stretch xmlns:a="http://schemas.openxmlformats.org/drawingml/2006/main">
            <a:fillRect l="0" t="0" r="0" b="0"/>
          </a:stretch>
        </p:blipFill>
        <p:spPr>
          <a:xfrm xmlns:a="http://schemas.openxmlformats.org/drawingml/2006/main">
            <a:off x="3020675" y="1371600"/>
            <a:ext cx="6165891"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2ADB2C8F-CDA0-463C-9AEA-EA3C08873F60}"/>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How lymph forms and drains</a:t>
            </a:r>
            <a:endParaRPr sz="1100"/>
          </a:p>
        </p:txBody>
      </p:sp>
      <p:sp>
        <p:nvSpPr>
          <p:cNvPr id="7" name="Text 4">
            <a:extLst xmlns:a="http://schemas.openxmlformats.org/drawingml/2006/main">
              <a:ext uri="{FF2B5EF4-FFF2-40B4-BE49-F238E27FC236}">
                <a16:creationId xmlns:a16="http://schemas.microsoft.com/office/drawing/2014/main" id="{E32FDF8E-DD20-4E23-9906-8A7EC0E4BE75}"/>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Capillaries leak fluid into tissues</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Lymphatic capillaries collect it</a:t>
            </a:r>
            <a:endParaRPr sz="1300"/>
          </a:p>
        </p:txBody>
      </p:sp>
      <p:sp>
        <p:nvSpPr>
          <p:cNvPr id="8" name="Text 5">
            <a:extLst xmlns:a="http://schemas.openxmlformats.org/drawingml/2006/main">
              <a:ext uri="{FF2B5EF4-FFF2-40B4-BE49-F238E27FC236}">
                <a16:creationId xmlns:a16="http://schemas.microsoft.com/office/drawing/2014/main" id="{E688AEB6-3ECE-44DA-96B1-E20B3DBA2706}"/>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The fluid is now called lymph</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It returns to the bloodstream</a:t>
            </a:r>
            <a:endParaRPr sz="1300"/>
          </a:p>
        </p:txBody>
      </p:sp>
      <p:sp>
        <p:nvSpPr>
          <p:cNvPr id="10" name="Text 6">
            <a:extLst xmlns:a="http://schemas.openxmlformats.org/drawingml/2006/main">
              <a:ext uri="{FF2B5EF4-FFF2-40B4-BE49-F238E27FC236}">
                <a16:creationId xmlns:a16="http://schemas.microsoft.com/office/drawing/2014/main" id="{F92890FB-31E0-4D7E-B3D8-2E383012DB26}"/>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21 — The Lymphatic and Immune System</a:t>
            </a:r>
            <a:endParaRPr sz="900"/>
          </a:p>
        </p:txBody>
      </p:sp>
      <p:sp>
        <p:nvSpPr>
          <p:cNvPr id="11" name="Text 7">
            <a:extLst xmlns:a="http://schemas.openxmlformats.org/drawingml/2006/main">
              <a:ext uri="{FF2B5EF4-FFF2-40B4-BE49-F238E27FC236}">
                <a16:creationId xmlns:a16="http://schemas.microsoft.com/office/drawing/2014/main" id="{A3615C5E-3D33-4C77-988F-E6FEB6133F61}"/>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5</a:t>
            </a:r>
            <a:endParaRPr sz="900"/>
          </a:p>
        </p:txBody>
      </p:sp>
    </p:spTree>
    <p:extLst>
      <p:ext uri="{BB962C8B-B14F-4D97-AF65-F5344CB8AC3E}">
        <p14:creationId xmlns:p14="http://schemas.microsoft.com/office/powerpoint/2010/main" val="9036968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4251028-06B6-4B66-90A8-1ADB1D3C5F6B}"/>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21.1</a:t>
            </a:r>
            <a:endParaRPr sz="1200"/>
          </a:p>
        </p:txBody>
      </p:sp>
      <p:sp>
        <p:nvSpPr>
          <p:cNvPr id="3" name="Text 1">
            <a:extLst xmlns:a="http://schemas.openxmlformats.org/drawingml/2006/main">
              <a:ext uri="{FF2B5EF4-FFF2-40B4-BE49-F238E27FC236}">
                <a16:creationId xmlns:a16="http://schemas.microsoft.com/office/drawing/2014/main" id="{12AE8B46-3E66-4F03-B0E0-691676C4A3DD}"/>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Lymph Nodes</a:t>
            </a:r>
            <a:endParaRPr sz="2800"/>
          </a:p>
        </p:txBody>
      </p:sp>
      <p:sp>
        <p:nvSpPr>
          <p:cNvPr id="4" name="Text 2">
            <a:extLst xmlns:a="http://schemas.openxmlformats.org/drawingml/2006/main">
              <a:ext uri="{FF2B5EF4-FFF2-40B4-BE49-F238E27FC236}">
                <a16:creationId xmlns:a16="http://schemas.microsoft.com/office/drawing/2014/main" id="{9F9E7277-A4F5-4C8C-98A4-277E8D9A6DD3}"/>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Small filtering organs along the vessels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Trap pathogens and debris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Packed with immune cells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Swell during infection</a:t>
            </a:r>
            <a:endParaRPr sz="1500"/>
          </a:p>
        </p:txBody>
      </p:sp>
      <p:sp>
        <p:nvSpPr>
          <p:cNvPr id="5" name="Shape 3">
            <a:extLst xmlns:a="http://schemas.openxmlformats.org/drawingml/2006/main">
              <a:ext uri="{FF2B5EF4-FFF2-40B4-BE49-F238E27FC236}">
                <a16:creationId xmlns:a16="http://schemas.microsoft.com/office/drawing/2014/main" id="{E776426C-95CF-4551-93FC-61A678E014A1}"/>
              </a:ext>
            </a:extLst>
          </p:cNvPr>
          <p:cNvSpPr>
            <a:spLocks xmlns:a="http://schemas.openxmlformats.org/drawingml/2006/main" noGrp="1"/>
          </p:cNvSpPr>
          <p:nvPr/>
        </p:nvSpPr>
        <p:spPr>
          <a:xfrm xmlns:a="http://schemas.openxmlformats.org/drawingml/2006/main">
            <a:off x="5404104" y="1395566"/>
            <a:ext cx="6382512" cy="4524068"/>
          </a:xfrm>
          <a:prstGeom xmlns:a="http://schemas.openxmlformats.org/drawingml/2006/main" prst="roundRect">
            <a:avLst>
              <a:gd name="adj" fmla="val 1213"/>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34f58abe56f04b3a"/>
          <a:stretch xmlns:a="http://schemas.openxmlformats.org/drawingml/2006/main">
            <a:fillRect l="0" t="0" r="0" b="0"/>
          </a:stretch>
        </p:blipFill>
        <p:spPr>
          <a:xfrm xmlns:a="http://schemas.openxmlformats.org/drawingml/2006/main">
            <a:off x="5486400" y="1477862"/>
            <a:ext cx="6217920" cy="4359476"/>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0CCCB705-C018-4E9C-B16B-1240D807165E}"/>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structure of a lymph node</a:t>
            </a:r>
            <a:endParaRPr sz="1100"/>
          </a:p>
        </p:txBody>
      </p:sp>
      <p:sp>
        <p:nvSpPr>
          <p:cNvPr id="9" name="Text 5">
            <a:extLst xmlns:a="http://schemas.openxmlformats.org/drawingml/2006/main">
              <a:ext uri="{FF2B5EF4-FFF2-40B4-BE49-F238E27FC236}">
                <a16:creationId xmlns:a16="http://schemas.microsoft.com/office/drawing/2014/main" id="{05083DA3-DA1A-4E28-8A4A-76606F2C587B}"/>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21 — The Lymphatic and Immune System</a:t>
            </a:r>
            <a:endParaRPr sz="900"/>
          </a:p>
        </p:txBody>
      </p:sp>
      <p:sp>
        <p:nvSpPr>
          <p:cNvPr id="10" name="Text 6">
            <a:extLst xmlns:a="http://schemas.openxmlformats.org/drawingml/2006/main">
              <a:ext uri="{FF2B5EF4-FFF2-40B4-BE49-F238E27FC236}">
                <a16:creationId xmlns:a16="http://schemas.microsoft.com/office/drawing/2014/main" id="{E423F522-B1DF-4633-9995-18FA55CCFD7E}"/>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6</a:t>
            </a:r>
            <a:endParaRPr sz="900"/>
          </a:p>
        </p:txBody>
      </p:sp>
    </p:spTree>
    <p:extLst>
      <p:ext uri="{BB962C8B-B14F-4D97-AF65-F5344CB8AC3E}">
        <p14:creationId xmlns:p14="http://schemas.microsoft.com/office/powerpoint/2010/main" val="1630392100"/>
      </p:ext>
    </p:extLst>
  </p:cSld>
</p:sld>
</file>

<file path=ppt/slides/slide7.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6745129-8831-4DE8-A018-109B271D1CA5}"/>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E1B94CF7-CBC6-4826-BE6E-E9A3D0D49D15}"/>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21.2</a:t>
            </a:r>
            <a:endParaRPr sz="4400"/>
          </a:p>
        </p:txBody>
      </p:sp>
      <p:sp>
        <p:nvSpPr>
          <p:cNvPr id="4" name="Text 2">
            <a:extLst xmlns:a="http://schemas.openxmlformats.org/drawingml/2006/main">
              <a:ext uri="{FF2B5EF4-FFF2-40B4-BE49-F238E27FC236}">
                <a16:creationId xmlns:a16="http://schemas.microsoft.com/office/drawing/2014/main" id="{C10B8CBD-5086-4F19-9CD5-339728CC8420}"/>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CAD4A222-4CE6-4358-A193-C54060731F43}"/>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FFFFFF"/>
                </a:solidFill>
                <a:latin typeface="Georgia"/>
                <a:ea typeface="Georgia"/>
                <a:cs typeface="Georgia"/>
              </a:rPr>
              <a:t>Barrier Defenses and the Innate Immune Response</a:t>
            </a:r>
            <a:endParaRPr sz="2800"/>
          </a:p>
        </p:txBody>
      </p:sp>
      <p:sp>
        <p:nvSpPr>
          <p:cNvPr id="6" name="Text 4">
            <a:extLst xmlns:a="http://schemas.openxmlformats.org/drawingml/2006/main">
              <a:ext uri="{FF2B5EF4-FFF2-40B4-BE49-F238E27FC236}">
                <a16:creationId xmlns:a16="http://schemas.microsoft.com/office/drawing/2014/main" id="{835DF31B-D630-46D5-A5FE-8EAF37930FA8}"/>
              </a:ext>
            </a:extLst>
          </p:cNvPr>
          <p:cNvSpPr>
            <a:spLocks xmlns:a="http://schemas.openxmlformats.org/drawingml/2006/main" noGrp="1"/>
          </p:cNvSpPr>
          <p:nvPr/>
        </p:nvSpPr>
        <p:spPr>
          <a:xfrm xmlns:a="http://schemas.openxmlformats.org/drawingml/2006/main">
            <a:off x="3200400" y="420624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body's first lines of defense — barriers and the innate response.</a:t>
            </a:r>
            <a:endParaRPr sz="1500"/>
          </a:p>
        </p:txBody>
      </p:sp>
    </p:spTree>
    <p:extLst>
      <p:ext uri="{BB962C8B-B14F-4D97-AF65-F5344CB8AC3E}">
        <p14:creationId xmlns:p14="http://schemas.microsoft.com/office/powerpoint/2010/main" val="65805411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6D83D2-3676-4ADA-855A-911ECFA1C11E}"/>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21.2</a:t>
            </a:r>
            <a:endParaRPr sz="1200"/>
          </a:p>
        </p:txBody>
      </p:sp>
      <p:sp>
        <p:nvSpPr>
          <p:cNvPr id="3" name="Text 1">
            <a:extLst xmlns:a="http://schemas.openxmlformats.org/drawingml/2006/main">
              <a:ext uri="{FF2B5EF4-FFF2-40B4-BE49-F238E27FC236}">
                <a16:creationId xmlns:a16="http://schemas.microsoft.com/office/drawing/2014/main" id="{D5920EF0-0AA9-44FF-B3D0-3AFB94DBF238}"/>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Innate vs. Adaptive Immunity</a:t>
            </a:r>
            <a:endParaRPr sz="2800"/>
          </a:p>
        </p:txBody>
      </p:sp>
      <p:sp>
        <p:nvSpPr>
          <p:cNvPr id="4" name="Text 2">
            <a:extLst xmlns:a="http://schemas.openxmlformats.org/drawingml/2006/main">
              <a:ext uri="{FF2B5EF4-FFF2-40B4-BE49-F238E27FC236}">
                <a16:creationId xmlns:a16="http://schemas.microsoft.com/office/drawing/2014/main" id="{AC75FBC3-B51D-4B20-B89C-53E501780439}"/>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Two arms of defense</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Innate: fast, general, present at birth</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Adaptive: slower, specific, learned</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Barriers are the first line</a:t>
            </a:r>
            <a:endParaRPr sz="1500"/>
          </a:p>
        </p:txBody>
      </p:sp>
      <p:sp>
        <p:nvSpPr>
          <p:cNvPr id="5" name="Shape 3">
            <a:extLst xmlns:a="http://schemas.openxmlformats.org/drawingml/2006/main">
              <a:ext uri="{FF2B5EF4-FFF2-40B4-BE49-F238E27FC236}">
                <a16:creationId xmlns:a16="http://schemas.microsoft.com/office/drawing/2014/main" id="{4511FC88-DDF8-40F9-9C46-3BD3508469E4}"/>
              </a:ext>
            </a:extLst>
          </p:cNvPr>
          <p:cNvSpPr>
            <a:spLocks xmlns:a="http://schemas.openxmlformats.org/drawingml/2006/main" noGrp="1"/>
          </p:cNvSpPr>
          <p:nvPr/>
        </p:nvSpPr>
        <p:spPr>
          <a:xfrm xmlns:a="http://schemas.openxmlformats.org/drawingml/2006/main">
            <a:off x="5970570" y="1335024"/>
            <a:ext cx="5249580"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9890d1ee6cbd4e8b"/>
          <a:stretch xmlns:a="http://schemas.openxmlformats.org/drawingml/2006/main">
            <a:fillRect l="0" t="0" r="0" b="0"/>
          </a:stretch>
        </p:blipFill>
        <p:spPr>
          <a:xfrm xmlns:a="http://schemas.openxmlformats.org/drawingml/2006/main">
            <a:off x="6052866" y="1417320"/>
            <a:ext cx="5084988"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4D9D9666-3C94-4260-BD6D-EC11E4F5183F}"/>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Innate and adaptive immunity</a:t>
            </a:r>
            <a:endParaRPr sz="1100"/>
          </a:p>
        </p:txBody>
      </p:sp>
      <p:sp>
        <p:nvSpPr>
          <p:cNvPr id="9" name="Text 5">
            <a:extLst xmlns:a="http://schemas.openxmlformats.org/drawingml/2006/main">
              <a:ext uri="{FF2B5EF4-FFF2-40B4-BE49-F238E27FC236}">
                <a16:creationId xmlns:a16="http://schemas.microsoft.com/office/drawing/2014/main" id="{BCC3C482-87B0-40E3-97E0-298E309CE754}"/>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21 — The Lymphatic and Immune System</a:t>
            </a:r>
            <a:endParaRPr sz="900"/>
          </a:p>
        </p:txBody>
      </p:sp>
      <p:sp>
        <p:nvSpPr>
          <p:cNvPr id="10" name="Text 6">
            <a:extLst xmlns:a="http://schemas.openxmlformats.org/drawingml/2006/main">
              <a:ext uri="{FF2B5EF4-FFF2-40B4-BE49-F238E27FC236}">
                <a16:creationId xmlns:a16="http://schemas.microsoft.com/office/drawing/2014/main" id="{0187C4B9-317D-4F4B-8090-F531E947124F}"/>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8</a:t>
            </a:r>
            <a:endParaRPr sz="900"/>
          </a:p>
        </p:txBody>
      </p:sp>
    </p:spTree>
    <p:extLst>
      <p:ext uri="{BB962C8B-B14F-4D97-AF65-F5344CB8AC3E}">
        <p14:creationId xmlns:p14="http://schemas.microsoft.com/office/powerpoint/2010/main" val="21130658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7C6FFA2-3941-4632-8453-10A5CE79A568}"/>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21.2</a:t>
            </a:r>
            <a:endParaRPr sz="1200"/>
          </a:p>
        </p:txBody>
      </p:sp>
      <p:sp>
        <p:nvSpPr>
          <p:cNvPr id="3" name="Text 1">
            <a:extLst xmlns:a="http://schemas.openxmlformats.org/drawingml/2006/main">
              <a:ext uri="{FF2B5EF4-FFF2-40B4-BE49-F238E27FC236}">
                <a16:creationId xmlns:a16="http://schemas.microsoft.com/office/drawing/2014/main" id="{7F34B9A4-5EE3-4F28-A3F6-8B2F2DD9B73E}"/>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Inflammation</a:t>
            </a:r>
            <a:endParaRPr sz="2800"/>
          </a:p>
        </p:txBody>
      </p:sp>
      <p:sp>
        <p:nvSpPr>
          <p:cNvPr id="4" name="Shape 2">
            <a:extLst xmlns:a="http://schemas.openxmlformats.org/drawingml/2006/main">
              <a:ext uri="{FF2B5EF4-FFF2-40B4-BE49-F238E27FC236}">
                <a16:creationId xmlns:a16="http://schemas.microsoft.com/office/drawing/2014/main" id="{6EDD2049-830A-4993-A1BC-A4ADDD51E24F}"/>
              </a:ext>
            </a:extLst>
          </p:cNvPr>
          <p:cNvSpPr>
            <a:spLocks xmlns:a="http://schemas.openxmlformats.org/drawingml/2006/main" noGrp="1"/>
          </p:cNvSpPr>
          <p:nvPr/>
        </p:nvSpPr>
        <p:spPr>
          <a:xfrm xmlns:a="http://schemas.openxmlformats.org/drawingml/2006/main">
            <a:off x="492633" y="1289304"/>
            <a:ext cx="4318254" cy="4736592"/>
          </a:xfrm>
          <a:prstGeom xmlns:a="http://schemas.openxmlformats.org/drawingml/2006/main" prst="roundRect">
            <a:avLst>
              <a:gd name="adj" fmla="val 12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ba7cd2f9fd8b4694"/>
          <a:stretch xmlns:a="http://schemas.openxmlformats.org/drawingml/2006/main">
            <a:fillRect l="0" t="0" r="0" b="0"/>
          </a:stretch>
        </p:blipFill>
        <p:spPr>
          <a:xfrm xmlns:a="http://schemas.openxmlformats.org/drawingml/2006/main">
            <a:off x="574929" y="1371600"/>
            <a:ext cx="4153662"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C278362C-B1B7-469F-BAC0-4A9C88262CBE}"/>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inflammatory response</a:t>
            </a:r>
            <a:endParaRPr sz="1100"/>
          </a:p>
        </p:txBody>
      </p:sp>
      <p:sp>
        <p:nvSpPr>
          <p:cNvPr id="7" name="Text 4">
            <a:extLst xmlns:a="http://schemas.openxmlformats.org/drawingml/2006/main">
              <a:ext uri="{FF2B5EF4-FFF2-40B4-BE49-F238E27FC236}">
                <a16:creationId xmlns:a16="http://schemas.microsoft.com/office/drawing/2014/main" id="{0065F6DF-4353-49F4-9ED3-41DFE086BA28}"/>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A core innate response to injury</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Mast cells release histamine</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Vessels dilate and become leaky</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Causes redness, heat, swelling, pain</a:t>
            </a:r>
            <a:endParaRPr sz="1600"/>
          </a:p>
        </p:txBody>
      </p:sp>
      <p:sp>
        <p:nvSpPr>
          <p:cNvPr id="9" name="Text 5">
            <a:extLst xmlns:a="http://schemas.openxmlformats.org/drawingml/2006/main">
              <a:ext uri="{FF2B5EF4-FFF2-40B4-BE49-F238E27FC236}">
                <a16:creationId xmlns:a16="http://schemas.microsoft.com/office/drawing/2014/main" id="{10B5E538-E0E3-424B-BCC7-366EF28F7AF9}"/>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21 — The Lymphatic and Immune System</a:t>
            </a:r>
            <a:endParaRPr sz="900"/>
          </a:p>
        </p:txBody>
      </p:sp>
      <p:sp>
        <p:nvSpPr>
          <p:cNvPr id="10" name="Text 6">
            <a:extLst xmlns:a="http://schemas.openxmlformats.org/drawingml/2006/main">
              <a:ext uri="{FF2B5EF4-FFF2-40B4-BE49-F238E27FC236}">
                <a16:creationId xmlns:a16="http://schemas.microsoft.com/office/drawing/2014/main" id="{7E05228F-1A14-452C-AF16-92818A21CAD1}"/>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9</a:t>
            </a:r>
            <a:endParaRPr sz="900"/>
          </a:p>
        </p:txBody>
      </p:sp>
    </p:spTree>
    <p:extLst>
      <p:ext uri="{BB962C8B-B14F-4D97-AF65-F5344CB8AC3E}">
        <p14:creationId xmlns:p14="http://schemas.microsoft.com/office/powerpoint/2010/main" val="542895860"/>
      </p:ext>
    </p:extLst>
  </p:cSld>
</p:sld>
</file>

<file path=ppt/slides/slide10.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15BA9D6-2D73-4AA4-89CA-C87262AE7CC8}"/>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56A9D1F0-CE83-4836-8052-081BCBAB1200}"/>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21.3</a:t>
            </a:r>
            <a:endParaRPr sz="4400"/>
          </a:p>
        </p:txBody>
      </p:sp>
      <p:sp>
        <p:nvSpPr>
          <p:cNvPr id="4" name="Text 2">
            <a:extLst xmlns:a="http://schemas.openxmlformats.org/drawingml/2006/main">
              <a:ext uri="{FF2B5EF4-FFF2-40B4-BE49-F238E27FC236}">
                <a16:creationId xmlns:a16="http://schemas.microsoft.com/office/drawing/2014/main" id="{7390E6E9-C9B7-474A-A5B5-BE54615D17DF}"/>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688D313A-9C72-4EFE-82B1-3D10B0C175B9}"/>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FFFFFF"/>
                </a:solidFill>
                <a:latin typeface="Georgia"/>
                <a:ea typeface="Georgia"/>
                <a:cs typeface="Georgia"/>
              </a:rPr>
              <a:t>The Adaptive Immune Response: T lymphocytes and Their Functional Types</a:t>
            </a:r>
            <a:endParaRPr sz="2800"/>
          </a:p>
        </p:txBody>
      </p:sp>
      <p:sp>
        <p:nvSpPr>
          <p:cNvPr id="6" name="Text 4">
            <a:extLst xmlns:a="http://schemas.openxmlformats.org/drawingml/2006/main">
              <a:ext uri="{FF2B5EF4-FFF2-40B4-BE49-F238E27FC236}">
                <a16:creationId xmlns:a16="http://schemas.microsoft.com/office/drawing/2014/main" id="{398F3F3C-A4D2-4D17-B8F8-2054FF826A7A}"/>
              </a:ext>
            </a:extLst>
          </p:cNvPr>
          <p:cNvSpPr>
            <a:spLocks xmlns:a="http://schemas.openxmlformats.org/drawingml/2006/main" noGrp="1"/>
          </p:cNvSpPr>
          <p:nvPr/>
        </p:nvSpPr>
        <p:spPr>
          <a:xfrm xmlns:a="http://schemas.openxmlformats.org/drawingml/2006/main">
            <a:off x="3200400" y="420624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Adaptive immunity carried out by T lymphocytes.</a:t>
            </a:r>
            <a:endParaRPr sz="1500"/>
          </a:p>
        </p:txBody>
      </p:sp>
    </p:spTree>
    <p:extLst>
      <p:ext uri="{BB962C8B-B14F-4D97-AF65-F5344CB8AC3E}">
        <p14:creationId xmlns:p14="http://schemas.microsoft.com/office/powerpoint/2010/main" val="1179050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30C08A3-DCD6-4D0F-863C-33C306958465}"/>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21.3</a:t>
            </a:r>
            <a:endParaRPr sz="1200"/>
          </a:p>
        </p:txBody>
      </p:sp>
      <p:sp>
        <p:nvSpPr>
          <p:cNvPr id="3" name="Text 1">
            <a:extLst xmlns:a="http://schemas.openxmlformats.org/drawingml/2006/main">
              <a:ext uri="{FF2B5EF4-FFF2-40B4-BE49-F238E27FC236}">
                <a16:creationId xmlns:a16="http://schemas.microsoft.com/office/drawing/2014/main" id="{EA0BD8CE-0811-476A-8537-BE0DCB430C6A}"/>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Antigen Presentation</a:t>
            </a:r>
            <a:endParaRPr sz="2800"/>
          </a:p>
        </p:txBody>
      </p:sp>
      <p:sp>
        <p:nvSpPr>
          <p:cNvPr id="4" name="Text 2">
            <a:extLst xmlns:a="http://schemas.openxmlformats.org/drawingml/2006/main">
              <a:ext uri="{FF2B5EF4-FFF2-40B4-BE49-F238E27FC236}">
                <a16:creationId xmlns:a16="http://schemas.microsoft.com/office/drawing/2014/main" id="{B89A6EBA-946D-4A35-8B1B-0098EB3C8EA6}"/>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 cells must be shown the enemy</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Antigen-presenting cells display antigens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Displayed on MHC molecules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This activates the matching T cell</a:t>
            </a:r>
            <a:endParaRPr sz="1500"/>
          </a:p>
        </p:txBody>
      </p:sp>
      <p:sp>
        <p:nvSpPr>
          <p:cNvPr id="5" name="Shape 3">
            <a:extLst xmlns:a="http://schemas.openxmlformats.org/drawingml/2006/main">
              <a:ext uri="{FF2B5EF4-FFF2-40B4-BE49-F238E27FC236}">
                <a16:creationId xmlns:a16="http://schemas.microsoft.com/office/drawing/2014/main" id="{7B1CF170-491E-4DD5-B12F-6FA597418302}"/>
              </a:ext>
            </a:extLst>
          </p:cNvPr>
          <p:cNvSpPr>
            <a:spLocks xmlns:a="http://schemas.openxmlformats.org/drawingml/2006/main" noGrp="1"/>
          </p:cNvSpPr>
          <p:nvPr/>
        </p:nvSpPr>
        <p:spPr>
          <a:xfrm xmlns:a="http://schemas.openxmlformats.org/drawingml/2006/main">
            <a:off x="5751919" y="1335024"/>
            <a:ext cx="5686882"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ae51c467925949f0"/>
          <a:stretch xmlns:a="http://schemas.openxmlformats.org/drawingml/2006/main">
            <a:fillRect l="0" t="0" r="0" b="0"/>
          </a:stretch>
        </p:blipFill>
        <p:spPr>
          <a:xfrm xmlns:a="http://schemas.openxmlformats.org/drawingml/2006/main">
            <a:off x="5834215" y="1417320"/>
            <a:ext cx="5522290"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4F2F0820-5D56-4A9E-B3BD-AAE4A49EA606}"/>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Antigen presentation to a T cell</a:t>
            </a:r>
            <a:endParaRPr sz="1100"/>
          </a:p>
        </p:txBody>
      </p:sp>
      <p:sp>
        <p:nvSpPr>
          <p:cNvPr id="9" name="Text 5">
            <a:extLst xmlns:a="http://schemas.openxmlformats.org/drawingml/2006/main">
              <a:ext uri="{FF2B5EF4-FFF2-40B4-BE49-F238E27FC236}">
                <a16:creationId xmlns:a16="http://schemas.microsoft.com/office/drawing/2014/main" id="{A6404894-AB07-4455-B801-BD36E8262AA5}"/>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21 — The Lymphatic and Immune System</a:t>
            </a:r>
            <a:endParaRPr sz="900"/>
          </a:p>
        </p:txBody>
      </p:sp>
      <p:sp>
        <p:nvSpPr>
          <p:cNvPr id="10" name="Text 6">
            <a:extLst xmlns:a="http://schemas.openxmlformats.org/drawingml/2006/main">
              <a:ext uri="{FF2B5EF4-FFF2-40B4-BE49-F238E27FC236}">
                <a16:creationId xmlns:a16="http://schemas.microsoft.com/office/drawing/2014/main" id="{E7CFB83B-3F3C-4672-9201-90738C3FB76D}"/>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11</a:t>
            </a:r>
            <a:endParaRPr sz="900"/>
          </a:p>
        </p:txBody>
      </p:sp>
    </p:spTree>
    <p:extLst>
      <p:ext uri="{BB962C8B-B14F-4D97-AF65-F5344CB8AC3E}">
        <p14:creationId xmlns:p14="http://schemas.microsoft.com/office/powerpoint/2010/main" val="9484360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B4975F3-015A-4018-AF67-A237310EBAA8}"/>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21.3</a:t>
            </a:r>
            <a:endParaRPr sz="1200"/>
          </a:p>
        </p:txBody>
      </p:sp>
      <p:sp>
        <p:nvSpPr>
          <p:cNvPr id="3" name="Text 1">
            <a:extLst xmlns:a="http://schemas.openxmlformats.org/drawingml/2006/main">
              <a:ext uri="{FF2B5EF4-FFF2-40B4-BE49-F238E27FC236}">
                <a16:creationId xmlns:a16="http://schemas.microsoft.com/office/drawing/2014/main" id="{F31DED99-0D9F-43B7-827C-47564662FF80}"/>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Types of T Cells</a:t>
            </a:r>
            <a:endParaRPr sz="2800"/>
          </a:p>
        </p:txBody>
      </p:sp>
      <p:sp>
        <p:nvSpPr>
          <p:cNvPr id="4" name="Text 2">
            <a:extLst xmlns:a="http://schemas.openxmlformats.org/drawingml/2006/main">
              <a:ext uri="{FF2B5EF4-FFF2-40B4-BE49-F238E27FC236}">
                <a16:creationId xmlns:a16="http://schemas.microsoft.com/office/drawing/2014/main" id="{A68C439B-D4F5-4B66-BB35-579C588A1EF9}"/>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Helper T cells coordinate the response</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Cytotoxic T cells kill infected cells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Memory T cells remember the pathogen</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Central to adaptive immunity</a:t>
            </a:r>
            <a:endParaRPr sz="1500"/>
          </a:p>
        </p:txBody>
      </p:sp>
      <p:sp>
        <p:nvSpPr>
          <p:cNvPr id="5" name="Shape 3">
            <a:extLst xmlns:a="http://schemas.openxmlformats.org/drawingml/2006/main">
              <a:ext uri="{FF2B5EF4-FFF2-40B4-BE49-F238E27FC236}">
                <a16:creationId xmlns:a16="http://schemas.microsoft.com/office/drawing/2014/main" id="{2886FFE3-4244-40BC-880B-601FE50D84C7}"/>
              </a:ext>
            </a:extLst>
          </p:cNvPr>
          <p:cNvSpPr>
            <a:spLocks xmlns:a="http://schemas.openxmlformats.org/drawingml/2006/main" noGrp="1"/>
          </p:cNvSpPr>
          <p:nvPr/>
        </p:nvSpPr>
        <p:spPr>
          <a:xfrm xmlns:a="http://schemas.openxmlformats.org/drawingml/2006/main">
            <a:off x="6178020" y="1335024"/>
            <a:ext cx="4834680"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be4a43ca27e8430c"/>
          <a:stretch xmlns:a="http://schemas.openxmlformats.org/drawingml/2006/main">
            <a:fillRect l="0" t="0" r="0" b="0"/>
          </a:stretch>
        </p:blipFill>
        <p:spPr>
          <a:xfrm xmlns:a="http://schemas.openxmlformats.org/drawingml/2006/main">
            <a:off x="6260316" y="1417320"/>
            <a:ext cx="4670088"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62B36FB1-7507-4D0B-A05E-A84DFF309626}"/>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Helper and cytotoxic T cells</a:t>
            </a:r>
            <a:endParaRPr sz="1100"/>
          </a:p>
        </p:txBody>
      </p:sp>
      <p:sp>
        <p:nvSpPr>
          <p:cNvPr id="9" name="Text 5">
            <a:extLst xmlns:a="http://schemas.openxmlformats.org/drawingml/2006/main">
              <a:ext uri="{FF2B5EF4-FFF2-40B4-BE49-F238E27FC236}">
                <a16:creationId xmlns:a16="http://schemas.microsoft.com/office/drawing/2014/main" id="{DB0A4CBB-9B56-453E-A154-2223FBD909C6}"/>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21 — The Lymphatic and Immune System</a:t>
            </a:r>
            <a:endParaRPr sz="900"/>
          </a:p>
        </p:txBody>
      </p:sp>
      <p:sp>
        <p:nvSpPr>
          <p:cNvPr id="10" name="Text 6">
            <a:extLst xmlns:a="http://schemas.openxmlformats.org/drawingml/2006/main">
              <a:ext uri="{FF2B5EF4-FFF2-40B4-BE49-F238E27FC236}">
                <a16:creationId xmlns:a16="http://schemas.microsoft.com/office/drawing/2014/main" id="{7AA79234-66F3-4D46-A496-3A6A875B24E0}"/>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12</a:t>
            </a:r>
            <a:endParaRPr sz="900"/>
          </a:p>
        </p:txBody>
      </p:sp>
    </p:spTree>
    <p:extLst>
      <p:ext uri="{BB962C8B-B14F-4D97-AF65-F5344CB8AC3E}">
        <p14:creationId xmlns:p14="http://schemas.microsoft.com/office/powerpoint/2010/main" val="1436846547"/>
      </p:ext>
    </p:extLst>
  </p:cSld>
</p:sld>
</file>

<file path=ppt/slides/slide13.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B64388D-CA9D-4A09-ABE4-41924F52750D}"/>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B8A8108C-D2EF-4854-B855-4EDE26AF4BA4}"/>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21.4</a:t>
            </a:r>
            <a:endParaRPr sz="4400"/>
          </a:p>
        </p:txBody>
      </p:sp>
      <p:sp>
        <p:nvSpPr>
          <p:cNvPr id="4" name="Text 2">
            <a:extLst xmlns:a="http://schemas.openxmlformats.org/drawingml/2006/main">
              <a:ext uri="{FF2B5EF4-FFF2-40B4-BE49-F238E27FC236}">
                <a16:creationId xmlns:a16="http://schemas.microsoft.com/office/drawing/2014/main" id="{417588F9-0A8C-4C24-8A3B-AC7CC385BB9C}"/>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E7A255AB-C449-4A25-9833-F749E818C51F}"/>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FFFFFF"/>
                </a:solidFill>
                <a:latin typeface="Georgia"/>
                <a:ea typeface="Georgia"/>
                <a:cs typeface="Georgia"/>
              </a:rPr>
              <a:t>The Adaptive Immune Response: B-lymphocytes and Antibodies</a:t>
            </a:r>
            <a:endParaRPr sz="2800"/>
          </a:p>
        </p:txBody>
      </p:sp>
      <p:sp>
        <p:nvSpPr>
          <p:cNvPr id="6" name="Text 4">
            <a:extLst xmlns:a="http://schemas.openxmlformats.org/drawingml/2006/main">
              <a:ext uri="{FF2B5EF4-FFF2-40B4-BE49-F238E27FC236}">
                <a16:creationId xmlns:a16="http://schemas.microsoft.com/office/drawing/2014/main" id="{6D678416-4181-4C98-B658-68E068C90B2C}"/>
              </a:ext>
            </a:extLst>
          </p:cNvPr>
          <p:cNvSpPr>
            <a:spLocks xmlns:a="http://schemas.openxmlformats.org/drawingml/2006/main" noGrp="1"/>
          </p:cNvSpPr>
          <p:nvPr/>
        </p:nvSpPr>
        <p:spPr>
          <a:xfrm xmlns:a="http://schemas.openxmlformats.org/drawingml/2006/main">
            <a:off x="3200400" y="420624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Adaptive immunity carried out by B lymphocytes and antibodies.</a:t>
            </a:r>
            <a:endParaRPr sz="1500"/>
          </a:p>
        </p:txBody>
      </p:sp>
    </p:spTree>
    <p:extLst>
      <p:ext uri="{BB962C8B-B14F-4D97-AF65-F5344CB8AC3E}">
        <p14:creationId xmlns:p14="http://schemas.microsoft.com/office/powerpoint/2010/main" val="2459311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EDA861C-6257-4217-8FA0-BF1DBD6E4ED2}"/>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21.4</a:t>
            </a:r>
            <a:endParaRPr sz="1200"/>
          </a:p>
        </p:txBody>
      </p:sp>
      <p:sp>
        <p:nvSpPr>
          <p:cNvPr id="3" name="Text 1">
            <a:extLst xmlns:a="http://schemas.openxmlformats.org/drawingml/2006/main">
              <a:ext uri="{FF2B5EF4-FFF2-40B4-BE49-F238E27FC236}">
                <a16:creationId xmlns:a16="http://schemas.microsoft.com/office/drawing/2014/main" id="{CE026E50-177F-45AD-AAF8-5449BB1CD71F}"/>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Antibody Structure</a:t>
            </a:r>
            <a:endParaRPr sz="2800"/>
          </a:p>
        </p:txBody>
      </p:sp>
      <p:sp>
        <p:nvSpPr>
          <p:cNvPr id="4" name="Shape 2">
            <a:extLst xmlns:a="http://schemas.openxmlformats.org/drawingml/2006/main">
              <a:ext uri="{FF2B5EF4-FFF2-40B4-BE49-F238E27FC236}">
                <a16:creationId xmlns:a16="http://schemas.microsoft.com/office/drawing/2014/main" id="{1820F514-6213-4D6C-9190-227E5929785A}"/>
              </a:ext>
            </a:extLst>
          </p:cNvPr>
          <p:cNvSpPr>
            <a:spLocks xmlns:a="http://schemas.openxmlformats.org/drawingml/2006/main" noGrp="1"/>
          </p:cNvSpPr>
          <p:nvPr/>
        </p:nvSpPr>
        <p:spPr>
          <a:xfrm xmlns:a="http://schemas.openxmlformats.org/drawingml/2006/main">
            <a:off x="1540444" y="1289304"/>
            <a:ext cx="9126352"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23c149ae33c44ccb"/>
          <a:stretch xmlns:a="http://schemas.openxmlformats.org/drawingml/2006/main">
            <a:fillRect l="0" t="0" r="0" b="0"/>
          </a:stretch>
        </p:blipFill>
        <p:spPr>
          <a:xfrm xmlns:a="http://schemas.openxmlformats.org/drawingml/2006/main">
            <a:off x="1622740" y="1371600"/>
            <a:ext cx="8961760"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1DACB1CC-A2B8-4D5C-B831-FE2D0401982C}"/>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structure of an antibody</a:t>
            </a:r>
            <a:endParaRPr sz="1100"/>
          </a:p>
        </p:txBody>
      </p:sp>
      <p:sp>
        <p:nvSpPr>
          <p:cNvPr id="7" name="Text 4">
            <a:extLst xmlns:a="http://schemas.openxmlformats.org/drawingml/2006/main">
              <a:ext uri="{FF2B5EF4-FFF2-40B4-BE49-F238E27FC236}">
                <a16:creationId xmlns:a16="http://schemas.microsoft.com/office/drawing/2014/main" id="{4E851CF1-4294-4817-BEA3-E5ED9771AE7C}"/>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Y-shaped proteins made by B cells</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Two antigen-binding tips</a:t>
            </a:r>
            <a:endParaRPr sz="1300"/>
          </a:p>
        </p:txBody>
      </p:sp>
      <p:sp>
        <p:nvSpPr>
          <p:cNvPr id="8" name="Text 5">
            <a:extLst xmlns:a="http://schemas.openxmlformats.org/drawingml/2006/main">
              <a:ext uri="{FF2B5EF4-FFF2-40B4-BE49-F238E27FC236}">
                <a16:creationId xmlns:a16="http://schemas.microsoft.com/office/drawing/2014/main" id="{A6EC5CFB-3897-4BF1-A30C-E1757AE64736}"/>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Each binds one specific antigen</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Tag pathogens for destruction</a:t>
            </a:r>
            <a:endParaRPr sz="1300"/>
          </a:p>
        </p:txBody>
      </p:sp>
      <p:sp>
        <p:nvSpPr>
          <p:cNvPr id="10" name="Text 6">
            <a:extLst xmlns:a="http://schemas.openxmlformats.org/drawingml/2006/main">
              <a:ext uri="{FF2B5EF4-FFF2-40B4-BE49-F238E27FC236}">
                <a16:creationId xmlns:a16="http://schemas.microsoft.com/office/drawing/2014/main" id="{49EAE52C-5CAA-446B-BC8D-5DB851F9273D}"/>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21 — The Lymphatic and Immune System</a:t>
            </a:r>
            <a:endParaRPr sz="900"/>
          </a:p>
        </p:txBody>
      </p:sp>
      <p:sp>
        <p:nvSpPr>
          <p:cNvPr id="11" name="Text 7">
            <a:extLst xmlns:a="http://schemas.openxmlformats.org/drawingml/2006/main">
              <a:ext uri="{FF2B5EF4-FFF2-40B4-BE49-F238E27FC236}">
                <a16:creationId xmlns:a16="http://schemas.microsoft.com/office/drawing/2014/main" id="{4AAC9617-A225-4280-A3F3-212E573E1D22}"/>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14</a:t>
            </a:r>
            <a:endParaRPr sz="900"/>
          </a:p>
        </p:txBody>
      </p:sp>
    </p:spTree>
    <p:extLst>
      <p:ext uri="{BB962C8B-B14F-4D97-AF65-F5344CB8AC3E}">
        <p14:creationId xmlns:p14="http://schemas.microsoft.com/office/powerpoint/2010/main" val="19125568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947A951-FBD9-4A4E-ADFC-08D2740EC2CD}"/>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21.4</a:t>
            </a:r>
            <a:endParaRPr sz="1200"/>
          </a:p>
        </p:txBody>
      </p:sp>
      <p:sp>
        <p:nvSpPr>
          <p:cNvPr id="3" name="Text 1">
            <a:extLst xmlns:a="http://schemas.openxmlformats.org/drawingml/2006/main">
              <a:ext uri="{FF2B5EF4-FFF2-40B4-BE49-F238E27FC236}">
                <a16:creationId xmlns:a16="http://schemas.microsoft.com/office/drawing/2014/main" id="{1FE97DEC-0629-4D20-BC86-17CB704CF8D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B Cell Activation</a:t>
            </a:r>
            <a:endParaRPr sz="2800"/>
          </a:p>
        </p:txBody>
      </p:sp>
      <p:sp>
        <p:nvSpPr>
          <p:cNvPr id="4" name="Text 2">
            <a:extLst xmlns:a="http://schemas.openxmlformats.org/drawingml/2006/main">
              <a:ext uri="{FF2B5EF4-FFF2-40B4-BE49-F238E27FC236}">
                <a16:creationId xmlns:a16="http://schemas.microsoft.com/office/drawing/2014/main" id="{401C774F-E87D-49F5-BBC9-885A833D2AE3}"/>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B cells make antibodies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Activated B cells become plasma cells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Plasma cells pump out antibodies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Memory B cells remain behind</a:t>
            </a:r>
            <a:endParaRPr sz="1500"/>
          </a:p>
        </p:txBody>
      </p:sp>
      <p:sp>
        <p:nvSpPr>
          <p:cNvPr id="5" name="Shape 3">
            <a:extLst xmlns:a="http://schemas.openxmlformats.org/drawingml/2006/main">
              <a:ext uri="{FF2B5EF4-FFF2-40B4-BE49-F238E27FC236}">
                <a16:creationId xmlns:a16="http://schemas.microsoft.com/office/drawing/2014/main" id="{ED4FF4E3-78B8-4246-A63D-7BA961889077}"/>
              </a:ext>
            </a:extLst>
          </p:cNvPr>
          <p:cNvSpPr>
            <a:spLocks xmlns:a="http://schemas.openxmlformats.org/drawingml/2006/main" noGrp="1"/>
          </p:cNvSpPr>
          <p:nvPr/>
        </p:nvSpPr>
        <p:spPr>
          <a:xfrm xmlns:a="http://schemas.openxmlformats.org/drawingml/2006/main">
            <a:off x="6066902" y="1335024"/>
            <a:ext cx="5056915"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93f092e3255f4651"/>
          <a:stretch xmlns:a="http://schemas.openxmlformats.org/drawingml/2006/main">
            <a:fillRect l="0" t="0" r="0" b="0"/>
          </a:stretch>
        </p:blipFill>
        <p:spPr>
          <a:xfrm xmlns:a="http://schemas.openxmlformats.org/drawingml/2006/main">
            <a:off x="6149198" y="1417320"/>
            <a:ext cx="4892323"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49342987-4220-4EEB-8BFC-4AC11FDCCE03}"/>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B cell activation and antibody production</a:t>
            </a:r>
            <a:endParaRPr sz="1100"/>
          </a:p>
        </p:txBody>
      </p:sp>
      <p:sp>
        <p:nvSpPr>
          <p:cNvPr id="9" name="Text 5">
            <a:extLst xmlns:a="http://schemas.openxmlformats.org/drawingml/2006/main">
              <a:ext uri="{FF2B5EF4-FFF2-40B4-BE49-F238E27FC236}">
                <a16:creationId xmlns:a16="http://schemas.microsoft.com/office/drawing/2014/main" id="{84EDF46E-3441-418F-8CC3-E7FC1B4A1F23}"/>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21 — The Lymphatic and Immune System</a:t>
            </a:r>
            <a:endParaRPr sz="900"/>
          </a:p>
        </p:txBody>
      </p:sp>
      <p:sp>
        <p:nvSpPr>
          <p:cNvPr id="10" name="Text 6">
            <a:extLst xmlns:a="http://schemas.openxmlformats.org/drawingml/2006/main">
              <a:ext uri="{FF2B5EF4-FFF2-40B4-BE49-F238E27FC236}">
                <a16:creationId xmlns:a16="http://schemas.microsoft.com/office/drawing/2014/main" id="{EA0031BB-2E00-484F-AC8B-65BE755873F6}"/>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15</a:t>
            </a:r>
            <a:endParaRPr sz="900"/>
          </a:p>
        </p:txBody>
      </p:sp>
    </p:spTree>
    <p:extLst>
      <p:ext uri="{BB962C8B-B14F-4D97-AF65-F5344CB8AC3E}">
        <p14:creationId xmlns:p14="http://schemas.microsoft.com/office/powerpoint/2010/main" val="160326486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9BB4E72-ABA3-419A-9107-4E616F2B364B}"/>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21.4</a:t>
            </a:r>
            <a:endParaRPr sz="1200"/>
          </a:p>
        </p:txBody>
      </p:sp>
      <p:sp>
        <p:nvSpPr>
          <p:cNvPr id="3" name="Text 1">
            <a:extLst xmlns:a="http://schemas.openxmlformats.org/drawingml/2006/main">
              <a:ext uri="{FF2B5EF4-FFF2-40B4-BE49-F238E27FC236}">
                <a16:creationId xmlns:a16="http://schemas.microsoft.com/office/drawing/2014/main" id="{F27C2FD3-B8AA-4755-A385-32D02ACEA21B}"/>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Primary vs. Secondary Response</a:t>
            </a:r>
            <a:endParaRPr sz="2800"/>
          </a:p>
        </p:txBody>
      </p:sp>
      <p:sp>
        <p:nvSpPr>
          <p:cNvPr id="4" name="Text 2">
            <a:extLst xmlns:a="http://schemas.openxmlformats.org/drawingml/2006/main">
              <a:ext uri="{FF2B5EF4-FFF2-40B4-BE49-F238E27FC236}">
                <a16:creationId xmlns:a16="http://schemas.microsoft.com/office/drawing/2014/main" id="{B17B5C5A-05BC-4D84-9F78-DCB944CFA257}"/>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First exposure → slow, weak response</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Memory cells are formed</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Second exposure → fast, strong response</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 principle behind vaccines</a:t>
            </a:r>
            <a:endParaRPr sz="1500"/>
          </a:p>
        </p:txBody>
      </p:sp>
      <p:sp>
        <p:nvSpPr>
          <p:cNvPr id="5" name="Shape 3">
            <a:extLst xmlns:a="http://schemas.openxmlformats.org/drawingml/2006/main">
              <a:ext uri="{FF2B5EF4-FFF2-40B4-BE49-F238E27FC236}">
                <a16:creationId xmlns:a16="http://schemas.microsoft.com/office/drawing/2014/main" id="{525A052C-123B-4C4F-B0E5-A04467231CF0}"/>
              </a:ext>
            </a:extLst>
          </p:cNvPr>
          <p:cNvSpPr>
            <a:spLocks xmlns:a="http://schemas.openxmlformats.org/drawingml/2006/main" noGrp="1"/>
          </p:cNvSpPr>
          <p:nvPr/>
        </p:nvSpPr>
        <p:spPr>
          <a:xfrm xmlns:a="http://schemas.openxmlformats.org/drawingml/2006/main">
            <a:off x="5404104" y="1415104"/>
            <a:ext cx="6382512" cy="4484992"/>
          </a:xfrm>
          <a:prstGeom xmlns:a="http://schemas.openxmlformats.org/drawingml/2006/main" prst="roundRect">
            <a:avLst>
              <a:gd name="adj" fmla="val 1223"/>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c6a9f9496c244ea2"/>
          <a:stretch xmlns:a="http://schemas.openxmlformats.org/drawingml/2006/main">
            <a:fillRect l="0" t="0" r="0" b="0"/>
          </a:stretch>
        </p:blipFill>
        <p:spPr>
          <a:xfrm xmlns:a="http://schemas.openxmlformats.org/drawingml/2006/main">
            <a:off x="5486400" y="1497400"/>
            <a:ext cx="6217920" cy="432040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A1E5837D-7ED2-4838-AE81-B2FF70B21DCA}"/>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primary and secondary immune response</a:t>
            </a:r>
            <a:endParaRPr sz="1100"/>
          </a:p>
        </p:txBody>
      </p:sp>
      <p:sp>
        <p:nvSpPr>
          <p:cNvPr id="9" name="Text 5">
            <a:extLst xmlns:a="http://schemas.openxmlformats.org/drawingml/2006/main">
              <a:ext uri="{FF2B5EF4-FFF2-40B4-BE49-F238E27FC236}">
                <a16:creationId xmlns:a16="http://schemas.microsoft.com/office/drawing/2014/main" id="{2FEEA279-71C7-4C84-A8F9-BF0A13C16423}"/>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21 — The Lymphatic and Immune System</a:t>
            </a:r>
            <a:endParaRPr sz="900"/>
          </a:p>
        </p:txBody>
      </p:sp>
      <p:sp>
        <p:nvSpPr>
          <p:cNvPr id="10" name="Text 6">
            <a:extLst xmlns:a="http://schemas.openxmlformats.org/drawingml/2006/main">
              <a:ext uri="{FF2B5EF4-FFF2-40B4-BE49-F238E27FC236}">
                <a16:creationId xmlns:a16="http://schemas.microsoft.com/office/drawing/2014/main" id="{96CD5D4D-2379-402F-ACEF-8E7D8491B418}"/>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16</a:t>
            </a:r>
            <a:endParaRPr sz="900"/>
          </a:p>
        </p:txBody>
      </p:sp>
    </p:spTree>
    <p:extLst>
      <p:ext uri="{BB962C8B-B14F-4D97-AF65-F5344CB8AC3E}">
        <p14:creationId xmlns:p14="http://schemas.microsoft.com/office/powerpoint/2010/main" val="112268113"/>
      </p:ext>
    </p:extLst>
  </p:cSld>
</p:sld>
</file>

<file path=ppt/slides/slide17.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6786514-FFFA-4C48-80CA-4465D7F89DDA}"/>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6C9858D8-003B-4CB8-BE79-87259AD12182}"/>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21.5</a:t>
            </a:r>
            <a:endParaRPr sz="4400"/>
          </a:p>
        </p:txBody>
      </p:sp>
      <p:sp>
        <p:nvSpPr>
          <p:cNvPr id="4" name="Text 2">
            <a:extLst xmlns:a="http://schemas.openxmlformats.org/drawingml/2006/main">
              <a:ext uri="{FF2B5EF4-FFF2-40B4-BE49-F238E27FC236}">
                <a16:creationId xmlns:a16="http://schemas.microsoft.com/office/drawing/2014/main" id="{54A19938-0C43-4C0B-A3A4-E602FC7498D9}"/>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585C06F8-8BFD-4AAC-AEB1-14A782D523C1}"/>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FFFFFF"/>
                </a:solidFill>
                <a:latin typeface="Georgia"/>
                <a:ea typeface="Georgia"/>
                <a:cs typeface="Georgia"/>
              </a:rPr>
              <a:t>The Immune Response against Pathogens</a:t>
            </a:r>
            <a:endParaRPr sz="2800"/>
          </a:p>
        </p:txBody>
      </p:sp>
      <p:sp>
        <p:nvSpPr>
          <p:cNvPr id="6" name="Text 4">
            <a:extLst xmlns:a="http://schemas.openxmlformats.org/drawingml/2006/main">
              <a:ext uri="{FF2B5EF4-FFF2-40B4-BE49-F238E27FC236}">
                <a16:creationId xmlns:a16="http://schemas.microsoft.com/office/drawing/2014/main" id="{2881D5C5-6CB6-4526-95E8-729E3B6C0C94}"/>
              </a:ext>
            </a:extLst>
          </p:cNvPr>
          <p:cNvSpPr>
            <a:spLocks xmlns:a="http://schemas.openxmlformats.org/drawingml/2006/main" noGrp="1"/>
          </p:cNvSpPr>
          <p:nvPr/>
        </p:nvSpPr>
        <p:spPr>
          <a:xfrm xmlns:a="http://schemas.openxmlformats.org/drawingml/2006/main">
            <a:off x="3200400" y="420624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How the immune defenses work together against an infection.</a:t>
            </a:r>
            <a:endParaRPr sz="1500"/>
          </a:p>
        </p:txBody>
      </p:sp>
    </p:spTree>
    <p:extLst>
      <p:ext uri="{BB962C8B-B14F-4D97-AF65-F5344CB8AC3E}">
        <p14:creationId xmlns:p14="http://schemas.microsoft.com/office/powerpoint/2010/main" val="191310395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9A3982-2ABD-4BB1-8D80-AE757D8D7650}"/>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21.5</a:t>
            </a:r>
            <a:endParaRPr sz="1200"/>
          </a:p>
        </p:txBody>
      </p:sp>
      <p:sp>
        <p:nvSpPr>
          <p:cNvPr id="3" name="Text 1">
            <a:extLst xmlns:a="http://schemas.openxmlformats.org/drawingml/2006/main">
              <a:ext uri="{FF2B5EF4-FFF2-40B4-BE49-F238E27FC236}">
                <a16:creationId xmlns:a16="http://schemas.microsoft.com/office/drawing/2014/main" id="{3BF867BA-22B7-4465-98F3-6E9ADDE48E16}"/>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A Coordinated Immune Response</a:t>
            </a:r>
            <a:endParaRPr sz="2800"/>
          </a:p>
        </p:txBody>
      </p:sp>
      <p:sp>
        <p:nvSpPr>
          <p:cNvPr id="4" name="Text 2">
            <a:extLst xmlns:a="http://schemas.openxmlformats.org/drawingml/2006/main">
              <a:ext uri="{FF2B5EF4-FFF2-40B4-BE49-F238E27FC236}">
                <a16:creationId xmlns:a16="http://schemas.microsoft.com/office/drawing/2014/main" id="{451793DC-C071-46FE-833E-9AD0D025D075}"/>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 defenses work as a team</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Barriers and innate cells respond first</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Adaptive immunity targets the pathogen</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Memory protects against reinfection</a:t>
            </a:r>
            <a:endParaRPr sz="1500"/>
          </a:p>
        </p:txBody>
      </p:sp>
      <p:sp>
        <p:nvSpPr>
          <p:cNvPr id="5" name="Shape 3">
            <a:extLst xmlns:a="http://schemas.openxmlformats.org/drawingml/2006/main">
              <a:ext uri="{FF2B5EF4-FFF2-40B4-BE49-F238E27FC236}">
                <a16:creationId xmlns:a16="http://schemas.microsoft.com/office/drawing/2014/main" id="{F6970573-EC5B-4D9C-874E-B215A83A4FD0}"/>
              </a:ext>
            </a:extLst>
          </p:cNvPr>
          <p:cNvSpPr>
            <a:spLocks xmlns:a="http://schemas.openxmlformats.org/drawingml/2006/main" noGrp="1"/>
          </p:cNvSpPr>
          <p:nvPr/>
        </p:nvSpPr>
        <p:spPr>
          <a:xfrm xmlns:a="http://schemas.openxmlformats.org/drawingml/2006/main">
            <a:off x="6137023" y="1335024"/>
            <a:ext cx="4916674"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d231bf6e03e54869"/>
          <a:stretch xmlns:a="http://schemas.openxmlformats.org/drawingml/2006/main">
            <a:fillRect l="0" t="0" r="0" b="0"/>
          </a:stretch>
        </p:blipFill>
        <p:spPr>
          <a:xfrm xmlns:a="http://schemas.openxmlformats.org/drawingml/2006/main">
            <a:off x="6219319" y="1417320"/>
            <a:ext cx="4752082"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21BB2A85-A080-42DA-ABB7-618F091DCC50}"/>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A coordinated immune response</a:t>
            </a:r>
            <a:endParaRPr sz="1100"/>
          </a:p>
        </p:txBody>
      </p:sp>
      <p:sp>
        <p:nvSpPr>
          <p:cNvPr id="9" name="Text 5">
            <a:extLst xmlns:a="http://schemas.openxmlformats.org/drawingml/2006/main">
              <a:ext uri="{FF2B5EF4-FFF2-40B4-BE49-F238E27FC236}">
                <a16:creationId xmlns:a16="http://schemas.microsoft.com/office/drawing/2014/main" id="{202D2C2F-D3E8-4377-8CDF-4B9B4ABD3AC1}"/>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21 — The Lymphatic and Immune System</a:t>
            </a:r>
            <a:endParaRPr sz="900"/>
          </a:p>
        </p:txBody>
      </p:sp>
      <p:sp>
        <p:nvSpPr>
          <p:cNvPr id="10" name="Text 6">
            <a:extLst xmlns:a="http://schemas.openxmlformats.org/drawingml/2006/main">
              <a:ext uri="{FF2B5EF4-FFF2-40B4-BE49-F238E27FC236}">
                <a16:creationId xmlns:a16="http://schemas.microsoft.com/office/drawing/2014/main" id="{09F9FFDB-ED17-4233-9455-96E9351346F9}"/>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18</a:t>
            </a:r>
            <a:endParaRPr sz="900"/>
          </a:p>
        </p:txBody>
      </p:sp>
    </p:spTree>
    <p:extLst>
      <p:ext uri="{BB962C8B-B14F-4D97-AF65-F5344CB8AC3E}">
        <p14:creationId xmlns:p14="http://schemas.microsoft.com/office/powerpoint/2010/main" val="163762871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E17B632-94A6-4EA6-B249-D07BB6261955}"/>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21</a:t>
            </a:r>
            <a:endParaRPr sz="1200"/>
          </a:p>
        </p:txBody>
      </p:sp>
      <p:sp>
        <p:nvSpPr>
          <p:cNvPr id="3" name="Text 1">
            <a:extLst xmlns:a="http://schemas.openxmlformats.org/drawingml/2006/main">
              <a:ext uri="{FF2B5EF4-FFF2-40B4-BE49-F238E27FC236}">
                <a16:creationId xmlns:a16="http://schemas.microsoft.com/office/drawing/2014/main" id="{C97F76AD-F523-4641-90E2-A31410EF42D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Key Takeaways</a:t>
            </a:r>
            <a:endParaRPr sz="2800"/>
          </a:p>
        </p:txBody>
      </p:sp>
      <p:sp>
        <p:nvSpPr>
          <p:cNvPr id="4" name="Shape 2">
            <a:extLst xmlns:a="http://schemas.openxmlformats.org/drawingml/2006/main">
              <a:ext uri="{FF2B5EF4-FFF2-40B4-BE49-F238E27FC236}">
                <a16:creationId xmlns:a16="http://schemas.microsoft.com/office/drawing/2014/main" id="{EEB168C6-9023-4B5C-A517-FEE5DABAD337}"/>
              </a:ext>
            </a:extLst>
          </p:cNvPr>
          <p:cNvSpPr>
            <a:spLocks xmlns:a="http://schemas.openxmlformats.org/drawingml/2006/main" noGrp="1"/>
          </p:cNvSpPr>
          <p:nvPr/>
        </p:nvSpPr>
        <p:spPr>
          <a:xfrm xmlns:a="http://schemas.openxmlformats.org/drawingml/2006/main">
            <a:off x="548640" y="1819656"/>
            <a:ext cx="237744" cy="237744"/>
          </a:xfrm>
          <a:prstGeom xmlns:a="http://schemas.openxmlformats.org/drawingml/2006/main" prst="ellipse">
            <a:avLst/>
          </a:prstGeom>
          <a:solidFill xmlns:a="http://schemas.openxmlformats.org/drawingml/2006/main">
            <a:srgbClr val="E36414"/>
          </a:solidFill>
        </p:spPr>
      </p:sp>
      <p:sp>
        <p:nvSpPr>
          <p:cNvPr id="5" name="Text 3">
            <a:extLst xmlns:a="http://schemas.openxmlformats.org/drawingml/2006/main">
              <a:ext uri="{FF2B5EF4-FFF2-40B4-BE49-F238E27FC236}">
                <a16:creationId xmlns:a16="http://schemas.microsoft.com/office/drawing/2014/main" id="{F632A62B-E30D-4072-AB55-4ECAB60B1AFC}"/>
              </a:ext>
            </a:extLst>
          </p:cNvPr>
          <p:cNvSpPr>
            <a:spLocks xmlns:a="http://schemas.openxmlformats.org/drawingml/2006/main" noGrp="1"/>
          </p:cNvSpPr>
          <p:nvPr/>
        </p:nvSpPr>
        <p:spPr>
          <a:xfrm xmlns:a="http://schemas.openxmlformats.org/drawingml/2006/main">
            <a:off x="960120" y="1737360"/>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lymphatic system drains tissue fluid and houses the immune system.</a:t>
            </a:r>
            <a:endParaRPr sz="1550"/>
          </a:p>
        </p:txBody>
      </p:sp>
      <p:sp>
        <p:nvSpPr>
          <p:cNvPr id="6" name="Shape 4">
            <a:extLst xmlns:a="http://schemas.openxmlformats.org/drawingml/2006/main">
              <a:ext uri="{FF2B5EF4-FFF2-40B4-BE49-F238E27FC236}">
                <a16:creationId xmlns:a16="http://schemas.microsoft.com/office/drawing/2014/main" id="{FA77EB09-CA0C-4140-903F-BB1EA39DBC38}"/>
              </a:ext>
            </a:extLst>
          </p:cNvPr>
          <p:cNvSpPr>
            <a:spLocks xmlns:a="http://schemas.openxmlformats.org/drawingml/2006/main" noGrp="1"/>
          </p:cNvSpPr>
          <p:nvPr/>
        </p:nvSpPr>
        <p:spPr>
          <a:xfrm xmlns:a="http://schemas.openxmlformats.org/drawingml/2006/main">
            <a:off x="548640" y="2606040"/>
            <a:ext cx="237744" cy="237744"/>
          </a:xfrm>
          <a:prstGeom xmlns:a="http://schemas.openxmlformats.org/drawingml/2006/main" prst="ellipse">
            <a:avLst/>
          </a:prstGeom>
          <a:solidFill xmlns:a="http://schemas.openxmlformats.org/drawingml/2006/main">
            <a:srgbClr val="E36414"/>
          </a:solidFill>
        </p:spPr>
      </p:sp>
      <p:sp>
        <p:nvSpPr>
          <p:cNvPr id="7" name="Text 5">
            <a:extLst xmlns:a="http://schemas.openxmlformats.org/drawingml/2006/main">
              <a:ext uri="{FF2B5EF4-FFF2-40B4-BE49-F238E27FC236}">
                <a16:creationId xmlns:a16="http://schemas.microsoft.com/office/drawing/2014/main" id="{9784FA6F-DAD7-44B0-8CA4-4CEBF052F4AF}"/>
              </a:ext>
            </a:extLst>
          </p:cNvPr>
          <p:cNvSpPr>
            <a:spLocks xmlns:a="http://schemas.openxmlformats.org/drawingml/2006/main" noGrp="1"/>
          </p:cNvSpPr>
          <p:nvPr/>
        </p:nvSpPr>
        <p:spPr>
          <a:xfrm xmlns:a="http://schemas.openxmlformats.org/drawingml/2006/main">
            <a:off x="960120" y="2523744"/>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Innate immunity provides fast, general defense; adaptive immunity is specific and remembers.</a:t>
            </a:r>
            <a:endParaRPr sz="1550"/>
          </a:p>
        </p:txBody>
      </p:sp>
      <p:sp>
        <p:nvSpPr>
          <p:cNvPr id="8" name="Shape 6">
            <a:extLst xmlns:a="http://schemas.openxmlformats.org/drawingml/2006/main">
              <a:ext uri="{FF2B5EF4-FFF2-40B4-BE49-F238E27FC236}">
                <a16:creationId xmlns:a16="http://schemas.microsoft.com/office/drawing/2014/main" id="{682224E3-BC41-4901-BE64-A0AB56597D37}"/>
              </a:ext>
            </a:extLst>
          </p:cNvPr>
          <p:cNvSpPr>
            <a:spLocks xmlns:a="http://schemas.openxmlformats.org/drawingml/2006/main" noGrp="1"/>
          </p:cNvSpPr>
          <p:nvPr/>
        </p:nvSpPr>
        <p:spPr>
          <a:xfrm xmlns:a="http://schemas.openxmlformats.org/drawingml/2006/main">
            <a:off x="548640" y="3392424"/>
            <a:ext cx="237744" cy="237744"/>
          </a:xfrm>
          <a:prstGeom xmlns:a="http://schemas.openxmlformats.org/drawingml/2006/main" prst="ellipse">
            <a:avLst/>
          </a:prstGeom>
          <a:solidFill xmlns:a="http://schemas.openxmlformats.org/drawingml/2006/main">
            <a:srgbClr val="E36414"/>
          </a:solidFill>
        </p:spPr>
      </p:sp>
      <p:sp>
        <p:nvSpPr>
          <p:cNvPr id="9" name="Text 7">
            <a:extLst xmlns:a="http://schemas.openxmlformats.org/drawingml/2006/main">
              <a:ext uri="{FF2B5EF4-FFF2-40B4-BE49-F238E27FC236}">
                <a16:creationId xmlns:a16="http://schemas.microsoft.com/office/drawing/2014/main" id="{C828876F-5130-4B65-91A4-B195F1863934}"/>
              </a:ext>
            </a:extLst>
          </p:cNvPr>
          <p:cNvSpPr>
            <a:spLocks xmlns:a="http://schemas.openxmlformats.org/drawingml/2006/main" noGrp="1"/>
          </p:cNvSpPr>
          <p:nvPr/>
        </p:nvSpPr>
        <p:spPr>
          <a:xfrm xmlns:a="http://schemas.openxmlformats.org/drawingml/2006/main">
            <a:off x="960120" y="3310128"/>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Inflammation brings defenses to the site of injury or infection.</a:t>
            </a:r>
            <a:endParaRPr sz="1550"/>
          </a:p>
        </p:txBody>
      </p:sp>
      <p:sp>
        <p:nvSpPr>
          <p:cNvPr id="10" name="Shape 8">
            <a:extLst xmlns:a="http://schemas.openxmlformats.org/drawingml/2006/main">
              <a:ext uri="{FF2B5EF4-FFF2-40B4-BE49-F238E27FC236}">
                <a16:creationId xmlns:a16="http://schemas.microsoft.com/office/drawing/2014/main" id="{1BC6206A-259F-4C2E-BBEE-75CE4E64BD8C}"/>
              </a:ext>
            </a:extLst>
          </p:cNvPr>
          <p:cNvSpPr>
            <a:spLocks xmlns:a="http://schemas.openxmlformats.org/drawingml/2006/main" noGrp="1"/>
          </p:cNvSpPr>
          <p:nvPr/>
        </p:nvSpPr>
        <p:spPr>
          <a:xfrm xmlns:a="http://schemas.openxmlformats.org/drawingml/2006/main">
            <a:off x="548640" y="4178808"/>
            <a:ext cx="237744" cy="237744"/>
          </a:xfrm>
          <a:prstGeom xmlns:a="http://schemas.openxmlformats.org/drawingml/2006/main" prst="ellipse">
            <a:avLst/>
          </a:prstGeom>
          <a:solidFill xmlns:a="http://schemas.openxmlformats.org/drawingml/2006/main">
            <a:srgbClr val="E36414"/>
          </a:solidFill>
        </p:spPr>
      </p:sp>
      <p:sp>
        <p:nvSpPr>
          <p:cNvPr id="11" name="Text 9">
            <a:extLst xmlns:a="http://schemas.openxmlformats.org/drawingml/2006/main">
              <a:ext uri="{FF2B5EF4-FFF2-40B4-BE49-F238E27FC236}">
                <a16:creationId xmlns:a16="http://schemas.microsoft.com/office/drawing/2014/main" id="{A9BF832F-88BB-47D9-8F08-1FC4AD4C0679}"/>
              </a:ext>
            </a:extLst>
          </p:cNvPr>
          <p:cNvSpPr>
            <a:spLocks xmlns:a="http://schemas.openxmlformats.org/drawingml/2006/main" noGrp="1"/>
          </p:cNvSpPr>
          <p:nvPr/>
        </p:nvSpPr>
        <p:spPr>
          <a:xfrm xmlns:a="http://schemas.openxmlformats.org/drawingml/2006/main">
            <a:off x="960120" y="4096512"/>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 cells coordinate the response and kill infected cells; B cells make antibodies.</a:t>
            </a:r>
            <a:endParaRPr sz="1550"/>
          </a:p>
        </p:txBody>
      </p:sp>
      <p:sp>
        <p:nvSpPr>
          <p:cNvPr id="12" name="Shape 10">
            <a:extLst xmlns:a="http://schemas.openxmlformats.org/drawingml/2006/main">
              <a:ext uri="{FF2B5EF4-FFF2-40B4-BE49-F238E27FC236}">
                <a16:creationId xmlns:a16="http://schemas.microsoft.com/office/drawing/2014/main" id="{B0004A43-49B0-4B5F-BBFF-43821AF8023B}"/>
              </a:ext>
            </a:extLst>
          </p:cNvPr>
          <p:cNvSpPr>
            <a:spLocks xmlns:a="http://schemas.openxmlformats.org/drawingml/2006/main" noGrp="1"/>
          </p:cNvSpPr>
          <p:nvPr/>
        </p:nvSpPr>
        <p:spPr>
          <a:xfrm xmlns:a="http://schemas.openxmlformats.org/drawingml/2006/main">
            <a:off x="548640" y="4965192"/>
            <a:ext cx="237744" cy="237744"/>
          </a:xfrm>
          <a:prstGeom xmlns:a="http://schemas.openxmlformats.org/drawingml/2006/main" prst="ellipse">
            <a:avLst/>
          </a:prstGeom>
          <a:solidFill xmlns:a="http://schemas.openxmlformats.org/drawingml/2006/main">
            <a:srgbClr val="E36414"/>
          </a:solidFill>
        </p:spPr>
      </p:sp>
      <p:sp>
        <p:nvSpPr>
          <p:cNvPr id="13" name="Text 11">
            <a:extLst xmlns:a="http://schemas.openxmlformats.org/drawingml/2006/main">
              <a:ext uri="{FF2B5EF4-FFF2-40B4-BE49-F238E27FC236}">
                <a16:creationId xmlns:a16="http://schemas.microsoft.com/office/drawing/2014/main" id="{BC01854B-F679-43F9-8071-281C2D2A2605}"/>
              </a:ext>
            </a:extLst>
          </p:cNvPr>
          <p:cNvSpPr>
            <a:spLocks xmlns:a="http://schemas.openxmlformats.org/drawingml/2006/main" noGrp="1"/>
          </p:cNvSpPr>
          <p:nvPr/>
        </p:nvSpPr>
        <p:spPr>
          <a:xfrm xmlns:a="http://schemas.openxmlformats.org/drawingml/2006/main">
            <a:off x="960120" y="4882896"/>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Immune memory underlies long-term protection and the success of vaccines.</a:t>
            </a:r>
            <a:endParaRPr sz="1550"/>
          </a:p>
        </p:txBody>
      </p:sp>
      <p:sp>
        <p:nvSpPr>
          <p:cNvPr id="14" name="Text 12">
            <a:extLst xmlns:a="http://schemas.openxmlformats.org/drawingml/2006/main">
              <a:ext uri="{FF2B5EF4-FFF2-40B4-BE49-F238E27FC236}">
                <a16:creationId xmlns:a16="http://schemas.microsoft.com/office/drawing/2014/main" id="{924AFC49-9066-4197-9DC1-7CDA0FD3EAF0}"/>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21 — The Lymphatic and Immune System</a:t>
            </a:r>
            <a:endParaRPr sz="900"/>
          </a:p>
        </p:txBody>
      </p:sp>
      <p:sp>
        <p:nvSpPr>
          <p:cNvPr id="15" name="Text 13">
            <a:extLst xmlns:a="http://schemas.openxmlformats.org/drawingml/2006/main">
              <a:ext uri="{FF2B5EF4-FFF2-40B4-BE49-F238E27FC236}">
                <a16:creationId xmlns:a16="http://schemas.microsoft.com/office/drawing/2014/main" id="{D74A7298-17F0-4F69-A43C-F1E7BC4DCE5A}"/>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19</a:t>
            </a:r>
            <a:endParaRPr sz="900"/>
          </a:p>
        </p:txBody>
      </p:sp>
    </p:spTree>
    <p:extLst>
      <p:ext uri="{BB962C8B-B14F-4D97-AF65-F5344CB8AC3E}">
        <p14:creationId xmlns:p14="http://schemas.microsoft.com/office/powerpoint/2010/main" val="302781699"/>
      </p:ext>
    </p:extLst>
  </p:cSld>
</p:sld>
</file>

<file path=ppt/slides/slide20.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D7F3D56-39CE-46A3-8895-4603B98AB303}"/>
              </a:ext>
            </a:extLst>
          </p:cNvPr>
          <p:cNvSpPr>
            <a:spLocks xmlns:a="http://schemas.openxmlformats.org/drawingml/2006/main" noGrp="1"/>
          </p:cNvSpPr>
          <p:nvPr/>
        </p:nvSpPr>
        <p:spPr>
          <a:xfrm xmlns:a="http://schemas.openxmlformats.org/drawingml/2006/main">
            <a:off x="548640" y="50292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E36414"/>
                </a:solidFill>
                <a:latin typeface="Calibri"/>
                <a:ea typeface="Calibri"/>
                <a:cs typeface="Calibri"/>
              </a:rPr>
              <a:t>CLINICAL CONNECTIONS</a:t>
            </a:r>
            <a:endParaRPr sz="1300"/>
          </a:p>
        </p:txBody>
      </p:sp>
      <p:sp>
        <p:nvSpPr>
          <p:cNvPr id="3" name="Text 1">
            <a:extLst xmlns:a="http://schemas.openxmlformats.org/drawingml/2006/main">
              <a:ext uri="{FF2B5EF4-FFF2-40B4-BE49-F238E27FC236}">
                <a16:creationId xmlns:a16="http://schemas.microsoft.com/office/drawing/2014/main" id="{6294BAF5-0D57-41F0-A9A6-583E7A6737ED}"/>
              </a:ext>
            </a:extLst>
          </p:cNvPr>
          <p:cNvSpPr>
            <a:spLocks xmlns:a="http://schemas.openxmlformats.org/drawingml/2006/main" noGrp="1"/>
          </p:cNvSpPr>
          <p:nvPr/>
        </p:nvSpPr>
        <p:spPr>
          <a:xfrm xmlns:a="http://schemas.openxmlformats.org/drawingml/2006/main">
            <a:off x="530352" y="841248"/>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500" b="1">
                <a:solidFill>
                  <a:srgbClr val="FFFFFF"/>
                </a:solidFill>
                <a:latin typeface="Georgia"/>
                <a:ea typeface="Georgia"/>
                <a:cs typeface="Georgia"/>
              </a:rPr>
              <a:t>Why the Immune System Matters in Practical Nursing</a:t>
            </a:r>
            <a:endParaRPr sz="2500"/>
          </a:p>
        </p:txBody>
      </p:sp>
      <p:sp>
        <p:nvSpPr>
          <p:cNvPr id="4" name="Shape 2">
            <a:extLst xmlns:a="http://schemas.openxmlformats.org/drawingml/2006/main">
              <a:ext uri="{FF2B5EF4-FFF2-40B4-BE49-F238E27FC236}">
                <a16:creationId xmlns:a16="http://schemas.microsoft.com/office/drawing/2014/main" id="{43832B7F-3986-41F5-BBA6-EA6A3AA563F4}"/>
              </a:ext>
            </a:extLst>
          </p:cNvPr>
          <p:cNvSpPr>
            <a:spLocks xmlns:a="http://schemas.openxmlformats.org/drawingml/2006/main" noGrp="1"/>
          </p:cNvSpPr>
          <p:nvPr/>
        </p:nvSpPr>
        <p:spPr>
          <a:xfrm xmlns:a="http://schemas.openxmlformats.org/drawingml/2006/main">
            <a:off x="548640" y="178308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5" name="Text 3">
            <a:extLst xmlns:a="http://schemas.openxmlformats.org/drawingml/2006/main">
              <a:ext uri="{FF2B5EF4-FFF2-40B4-BE49-F238E27FC236}">
                <a16:creationId xmlns:a16="http://schemas.microsoft.com/office/drawing/2014/main" id="{1CEEFE4C-F84E-4B91-B74F-8DCB64D78AE5}"/>
              </a:ext>
            </a:extLst>
          </p:cNvPr>
          <p:cNvSpPr>
            <a:spLocks xmlns:a="http://schemas.openxmlformats.org/drawingml/2006/main" noGrp="1"/>
          </p:cNvSpPr>
          <p:nvPr/>
        </p:nvSpPr>
        <p:spPr>
          <a:xfrm xmlns:a="http://schemas.openxmlformats.org/drawingml/2006/main">
            <a:off x="777240" y="191109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Vaccination</a:t>
            </a:r>
            <a:endParaRPr sz="1600"/>
          </a:p>
        </p:txBody>
      </p:sp>
      <p:sp>
        <p:nvSpPr>
          <p:cNvPr id="6" name="Text 4">
            <a:extLst xmlns:a="http://schemas.openxmlformats.org/drawingml/2006/main">
              <a:ext uri="{FF2B5EF4-FFF2-40B4-BE49-F238E27FC236}">
                <a16:creationId xmlns:a16="http://schemas.microsoft.com/office/drawing/2014/main" id="{AADEDA8B-78DF-42CE-A3B0-706D757EA7EE}"/>
              </a:ext>
            </a:extLst>
          </p:cNvPr>
          <p:cNvSpPr>
            <a:spLocks xmlns:a="http://schemas.openxmlformats.org/drawingml/2006/main" noGrp="1"/>
          </p:cNvSpPr>
          <p:nvPr/>
        </p:nvSpPr>
        <p:spPr>
          <a:xfrm xmlns:a="http://schemas.openxmlformats.org/drawingml/2006/main">
            <a:off x="777240" y="228600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Builds immune memory without causing the disease.</a:t>
            </a:r>
            <a:endParaRPr sz="1250"/>
          </a:p>
        </p:txBody>
      </p:sp>
      <p:sp>
        <p:nvSpPr>
          <p:cNvPr id="7" name="Shape 5">
            <a:extLst xmlns:a="http://schemas.openxmlformats.org/drawingml/2006/main">
              <a:ext uri="{FF2B5EF4-FFF2-40B4-BE49-F238E27FC236}">
                <a16:creationId xmlns:a16="http://schemas.microsoft.com/office/drawing/2014/main" id="{3FE1CBA8-F2CE-41B7-9EE1-44582124EA46}"/>
              </a:ext>
            </a:extLst>
          </p:cNvPr>
          <p:cNvSpPr>
            <a:spLocks xmlns:a="http://schemas.openxmlformats.org/drawingml/2006/main" noGrp="1"/>
          </p:cNvSpPr>
          <p:nvPr/>
        </p:nvSpPr>
        <p:spPr>
          <a:xfrm xmlns:a="http://schemas.openxmlformats.org/drawingml/2006/main">
            <a:off x="6172200" y="178308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8" name="Text 6">
            <a:extLst xmlns:a="http://schemas.openxmlformats.org/drawingml/2006/main">
              <a:ext uri="{FF2B5EF4-FFF2-40B4-BE49-F238E27FC236}">
                <a16:creationId xmlns:a16="http://schemas.microsoft.com/office/drawing/2014/main" id="{04EDA7B2-5BD7-4F52-9609-1973F7E7DF76}"/>
              </a:ext>
            </a:extLst>
          </p:cNvPr>
          <p:cNvSpPr>
            <a:spLocks xmlns:a="http://schemas.openxmlformats.org/drawingml/2006/main" noGrp="1"/>
          </p:cNvSpPr>
          <p:nvPr/>
        </p:nvSpPr>
        <p:spPr>
          <a:xfrm xmlns:a="http://schemas.openxmlformats.org/drawingml/2006/main">
            <a:off x="6400800" y="191109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Allergies</a:t>
            </a:r>
            <a:endParaRPr sz="1600"/>
          </a:p>
        </p:txBody>
      </p:sp>
      <p:sp>
        <p:nvSpPr>
          <p:cNvPr id="9" name="Text 7">
            <a:extLst xmlns:a="http://schemas.openxmlformats.org/drawingml/2006/main">
              <a:ext uri="{FF2B5EF4-FFF2-40B4-BE49-F238E27FC236}">
                <a16:creationId xmlns:a16="http://schemas.microsoft.com/office/drawing/2014/main" id="{FDF7746F-4D38-4436-8D57-A568000E5426}"/>
              </a:ext>
            </a:extLst>
          </p:cNvPr>
          <p:cNvSpPr>
            <a:spLocks xmlns:a="http://schemas.openxmlformats.org/drawingml/2006/main" noGrp="1"/>
          </p:cNvSpPr>
          <p:nvPr/>
        </p:nvSpPr>
        <p:spPr>
          <a:xfrm xmlns:a="http://schemas.openxmlformats.org/drawingml/2006/main">
            <a:off x="6400800" y="228600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An overactive immune response to harmless substances.</a:t>
            </a:r>
            <a:endParaRPr sz="1250"/>
          </a:p>
        </p:txBody>
      </p:sp>
      <p:sp>
        <p:nvSpPr>
          <p:cNvPr id="10" name="Shape 8">
            <a:extLst xmlns:a="http://schemas.openxmlformats.org/drawingml/2006/main">
              <a:ext uri="{FF2B5EF4-FFF2-40B4-BE49-F238E27FC236}">
                <a16:creationId xmlns:a16="http://schemas.microsoft.com/office/drawing/2014/main" id="{5D1867C3-62C4-4448-84E7-4B0F8C20F701}"/>
              </a:ext>
            </a:extLst>
          </p:cNvPr>
          <p:cNvSpPr>
            <a:spLocks xmlns:a="http://schemas.openxmlformats.org/drawingml/2006/main" noGrp="1"/>
          </p:cNvSpPr>
          <p:nvPr/>
        </p:nvSpPr>
        <p:spPr>
          <a:xfrm xmlns:a="http://schemas.openxmlformats.org/drawingml/2006/main">
            <a:off x="548640" y="333756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1" name="Text 9">
            <a:extLst xmlns:a="http://schemas.openxmlformats.org/drawingml/2006/main">
              <a:ext uri="{FF2B5EF4-FFF2-40B4-BE49-F238E27FC236}">
                <a16:creationId xmlns:a16="http://schemas.microsoft.com/office/drawing/2014/main" id="{1154A592-9C7C-4D1C-80AB-ACD5FD405690}"/>
              </a:ext>
            </a:extLst>
          </p:cNvPr>
          <p:cNvSpPr>
            <a:spLocks xmlns:a="http://schemas.openxmlformats.org/drawingml/2006/main" noGrp="1"/>
          </p:cNvSpPr>
          <p:nvPr/>
        </p:nvSpPr>
        <p:spPr>
          <a:xfrm xmlns:a="http://schemas.openxmlformats.org/drawingml/2006/main">
            <a:off x="777240" y="346557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Autoimmune Disease</a:t>
            </a:r>
            <a:endParaRPr sz="1600"/>
          </a:p>
        </p:txBody>
      </p:sp>
      <p:sp>
        <p:nvSpPr>
          <p:cNvPr id="12" name="Text 10">
            <a:extLst xmlns:a="http://schemas.openxmlformats.org/drawingml/2006/main">
              <a:ext uri="{FF2B5EF4-FFF2-40B4-BE49-F238E27FC236}">
                <a16:creationId xmlns:a16="http://schemas.microsoft.com/office/drawing/2014/main" id="{8EFCC011-FDF0-4FB3-BD98-F8C4716A3374}"/>
              </a:ext>
            </a:extLst>
          </p:cNvPr>
          <p:cNvSpPr>
            <a:spLocks xmlns:a="http://schemas.openxmlformats.org/drawingml/2006/main" noGrp="1"/>
          </p:cNvSpPr>
          <p:nvPr/>
        </p:nvSpPr>
        <p:spPr>
          <a:xfrm xmlns:a="http://schemas.openxmlformats.org/drawingml/2006/main">
            <a:off x="777240" y="384048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The immune system attacks the body's own tissues.</a:t>
            </a:r>
            <a:endParaRPr sz="1250"/>
          </a:p>
        </p:txBody>
      </p:sp>
      <p:sp>
        <p:nvSpPr>
          <p:cNvPr id="13" name="Shape 11">
            <a:extLst xmlns:a="http://schemas.openxmlformats.org/drawingml/2006/main">
              <a:ext uri="{FF2B5EF4-FFF2-40B4-BE49-F238E27FC236}">
                <a16:creationId xmlns:a16="http://schemas.microsoft.com/office/drawing/2014/main" id="{FE5C1D8B-6DBD-44EC-A603-D08D08C454C6}"/>
              </a:ext>
            </a:extLst>
          </p:cNvPr>
          <p:cNvSpPr>
            <a:spLocks xmlns:a="http://schemas.openxmlformats.org/drawingml/2006/main" noGrp="1"/>
          </p:cNvSpPr>
          <p:nvPr/>
        </p:nvSpPr>
        <p:spPr>
          <a:xfrm xmlns:a="http://schemas.openxmlformats.org/drawingml/2006/main">
            <a:off x="6172200" y="333756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4" name="Text 12">
            <a:extLst xmlns:a="http://schemas.openxmlformats.org/drawingml/2006/main">
              <a:ext uri="{FF2B5EF4-FFF2-40B4-BE49-F238E27FC236}">
                <a16:creationId xmlns:a16="http://schemas.microsoft.com/office/drawing/2014/main" id="{29C59AA7-FF80-4533-96A4-4FD576FB20C1}"/>
              </a:ext>
            </a:extLst>
          </p:cNvPr>
          <p:cNvSpPr>
            <a:spLocks xmlns:a="http://schemas.openxmlformats.org/drawingml/2006/main" noGrp="1"/>
          </p:cNvSpPr>
          <p:nvPr/>
        </p:nvSpPr>
        <p:spPr>
          <a:xfrm xmlns:a="http://schemas.openxmlformats.org/drawingml/2006/main">
            <a:off x="6400800" y="346557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HIV/AIDS</a:t>
            </a:r>
            <a:endParaRPr sz="1600"/>
          </a:p>
        </p:txBody>
      </p:sp>
      <p:sp>
        <p:nvSpPr>
          <p:cNvPr id="15" name="Text 13">
            <a:extLst xmlns:a="http://schemas.openxmlformats.org/drawingml/2006/main">
              <a:ext uri="{FF2B5EF4-FFF2-40B4-BE49-F238E27FC236}">
                <a16:creationId xmlns:a16="http://schemas.microsoft.com/office/drawing/2014/main" id="{7CAE916A-680D-410D-AC0D-3F333BC1DC35}"/>
              </a:ext>
            </a:extLst>
          </p:cNvPr>
          <p:cNvSpPr>
            <a:spLocks xmlns:a="http://schemas.openxmlformats.org/drawingml/2006/main" noGrp="1"/>
          </p:cNvSpPr>
          <p:nvPr/>
        </p:nvSpPr>
        <p:spPr>
          <a:xfrm xmlns:a="http://schemas.openxmlformats.org/drawingml/2006/main">
            <a:off x="6400800" y="384048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The virus destroys helper T cells, crippling immunity.</a:t>
            </a:r>
            <a:endParaRPr sz="1250"/>
          </a:p>
        </p:txBody>
      </p:sp>
      <p:sp>
        <p:nvSpPr>
          <p:cNvPr id="16" name="Shape 14">
            <a:extLst xmlns:a="http://schemas.openxmlformats.org/drawingml/2006/main">
              <a:ext uri="{FF2B5EF4-FFF2-40B4-BE49-F238E27FC236}">
                <a16:creationId xmlns:a16="http://schemas.microsoft.com/office/drawing/2014/main" id="{71EB81BA-CD2D-40DC-907E-CEFAF260A25C}"/>
              </a:ext>
            </a:extLst>
          </p:cNvPr>
          <p:cNvSpPr>
            <a:spLocks xmlns:a="http://schemas.openxmlformats.org/drawingml/2006/main" noGrp="1"/>
          </p:cNvSpPr>
          <p:nvPr/>
        </p:nvSpPr>
        <p:spPr>
          <a:xfrm xmlns:a="http://schemas.openxmlformats.org/drawingml/2006/main">
            <a:off x="548640" y="489204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7" name="Text 15">
            <a:extLst xmlns:a="http://schemas.openxmlformats.org/drawingml/2006/main">
              <a:ext uri="{FF2B5EF4-FFF2-40B4-BE49-F238E27FC236}">
                <a16:creationId xmlns:a16="http://schemas.microsoft.com/office/drawing/2014/main" id="{D9EF0635-3D12-49CF-B60C-6C762A3577C9}"/>
              </a:ext>
            </a:extLst>
          </p:cNvPr>
          <p:cNvSpPr>
            <a:spLocks xmlns:a="http://schemas.openxmlformats.org/drawingml/2006/main" noGrp="1"/>
          </p:cNvSpPr>
          <p:nvPr/>
        </p:nvSpPr>
        <p:spPr>
          <a:xfrm xmlns:a="http://schemas.openxmlformats.org/drawingml/2006/main">
            <a:off x="777240" y="50200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Lymph Node Exam</a:t>
            </a:r>
            <a:endParaRPr sz="1600"/>
          </a:p>
        </p:txBody>
      </p:sp>
      <p:sp>
        <p:nvSpPr>
          <p:cNvPr id="18" name="Text 16">
            <a:extLst xmlns:a="http://schemas.openxmlformats.org/drawingml/2006/main">
              <a:ext uri="{FF2B5EF4-FFF2-40B4-BE49-F238E27FC236}">
                <a16:creationId xmlns:a16="http://schemas.microsoft.com/office/drawing/2014/main" id="{B696D3C1-A977-47FF-A4DF-877E68A62D1C}"/>
              </a:ext>
            </a:extLst>
          </p:cNvPr>
          <p:cNvSpPr>
            <a:spLocks xmlns:a="http://schemas.openxmlformats.org/drawingml/2006/main" noGrp="1"/>
          </p:cNvSpPr>
          <p:nvPr/>
        </p:nvSpPr>
        <p:spPr>
          <a:xfrm xmlns:a="http://schemas.openxmlformats.org/drawingml/2006/main">
            <a:off x="777240" y="53949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Swollen nodes can signal infection or, sometimes, cancer.</a:t>
            </a:r>
            <a:endParaRPr sz="1250"/>
          </a:p>
        </p:txBody>
      </p:sp>
      <p:sp>
        <p:nvSpPr>
          <p:cNvPr id="19" name="Shape 17">
            <a:extLst xmlns:a="http://schemas.openxmlformats.org/drawingml/2006/main">
              <a:ext uri="{FF2B5EF4-FFF2-40B4-BE49-F238E27FC236}">
                <a16:creationId xmlns:a16="http://schemas.microsoft.com/office/drawing/2014/main" id="{637FF9F7-BE2B-4C0F-BBBB-669C1FFF048C}"/>
              </a:ext>
            </a:extLst>
          </p:cNvPr>
          <p:cNvSpPr>
            <a:spLocks xmlns:a="http://schemas.openxmlformats.org/drawingml/2006/main" noGrp="1"/>
          </p:cNvSpPr>
          <p:nvPr/>
        </p:nvSpPr>
        <p:spPr>
          <a:xfrm xmlns:a="http://schemas.openxmlformats.org/drawingml/2006/main">
            <a:off x="6172200" y="489204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20" name="Text 18">
            <a:extLst xmlns:a="http://schemas.openxmlformats.org/drawingml/2006/main">
              <a:ext uri="{FF2B5EF4-FFF2-40B4-BE49-F238E27FC236}">
                <a16:creationId xmlns:a16="http://schemas.microsoft.com/office/drawing/2014/main" id="{A84E080A-75E8-492E-8BCB-48968323B15B}"/>
              </a:ext>
            </a:extLst>
          </p:cNvPr>
          <p:cNvSpPr>
            <a:spLocks xmlns:a="http://schemas.openxmlformats.org/drawingml/2006/main" noGrp="1"/>
          </p:cNvSpPr>
          <p:nvPr/>
        </p:nvSpPr>
        <p:spPr>
          <a:xfrm xmlns:a="http://schemas.openxmlformats.org/drawingml/2006/main">
            <a:off x="6400800" y="50200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Immunocompromise</a:t>
            </a:r>
            <a:endParaRPr sz="1600"/>
          </a:p>
        </p:txBody>
      </p:sp>
      <p:sp>
        <p:nvSpPr>
          <p:cNvPr id="21" name="Text 19">
            <a:extLst xmlns:a="http://schemas.openxmlformats.org/drawingml/2006/main">
              <a:ext uri="{FF2B5EF4-FFF2-40B4-BE49-F238E27FC236}">
                <a16:creationId xmlns:a16="http://schemas.microsoft.com/office/drawing/2014/main" id="{576313D2-E6F2-43DF-9334-3DC277C7C9CE}"/>
              </a:ext>
            </a:extLst>
          </p:cNvPr>
          <p:cNvSpPr>
            <a:spLocks xmlns:a="http://schemas.openxmlformats.org/drawingml/2006/main" noGrp="1"/>
          </p:cNvSpPr>
          <p:nvPr/>
        </p:nvSpPr>
        <p:spPr>
          <a:xfrm xmlns:a="http://schemas.openxmlformats.org/drawingml/2006/main">
            <a:off x="6400800" y="53949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Weakened immunity raises infection risk in many patients.</a:t>
            </a:r>
            <a:endParaRPr sz="1250"/>
          </a:p>
        </p:txBody>
      </p:sp>
    </p:spTree>
    <p:extLst>
      <p:ext uri="{BB962C8B-B14F-4D97-AF65-F5344CB8AC3E}">
        <p14:creationId xmlns:p14="http://schemas.microsoft.com/office/powerpoint/2010/main" val="25871000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2026-08-11T13:00:16.2140000Z</dcterms:created>
  <dcterms:modified xsi:type="dcterms:W3CDTF">2026-08-11T13:00:16.2140000Z</dcterms:modified>
</coreProperties>
</file>