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reproductive system: the male organs and sperm production, the female organs, egg formation, and the menstrual cycle, and how both systems develop and mature at puberty under hormonal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male reproductive system produces sperm and the hormone testosterone, and delivers sperm to the female tract. The testes (in the scrotum) make sperm; a series of ducts (epididymis, ductus deferens, urethra) transports them; and accessory glands add fluid to form semen.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each testis, sperm are produced in tightly coiled seminiferous tubules, then pass to the epididymis to mature and be stored. The scrotum holds the testes outside the body cavity, keeping them slightly cooler than core temperature — a requirement for healthy sperm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Spermatogenesis is the formation of sperm in the seminiferous tubules, beginning at puberty and continuing for life. Through meiosis, each sperm ends up with half the genetic material (23 chromosomes), so that fertilization restores the full set. Millions are produced daily.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female reproductive system produces eggs, secretes hormones, and supports pregnancy and birth. The ovaries release eggs and make estrogen and progesterone; the uterine (fallopian) tubes carry the egg toward the uterus; and the muscular uterus houses and nourishes a developing fetus. The external genitalia make up the vulva.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Oogenesis, the formation of eggs, begins before birth — a female is born with all her immature eggs. After puberty, typically one matures and is released each menstrual cycle. Like sperm, the mature egg carries half the chromosomes (23), so fertilization restores the full complement.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cycle, several follicles begin developing in the ovary, but usually one matures and releases its egg at ovulation. The ruptured follicle then becomes the corpus luteum, which secretes progesterone to prepare the uterus for a possible pregnancy; if none occurs, it breaks down and the cycle repeats.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menstrual cycle (about 28 days) coordinates ovarian events with the uterine lining under hormonal control. Rising estrogen builds up the endometrium; after ovulation, progesterone maintains it. If no pregnancy occurs, hormone levels fall and the lining is shed as menstruation, beginning a new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Genetic sex is set at fertilization, and the reproductive structures form before birth. They remain immature until puberty, when the hypothalamus signals the pituitary to release FSH and LH, driving the gonads to mature and produce sex hormones. These bring the secondary sex characteristics and the start of fertility.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731520" y="1325880"/>
            <a:ext cx="6400800" cy="457200"/>
          </a:xfrm>
          <a:prstGeom prst="rect">
            <a:avLst/>
          </a:prstGeom>
          <a:noFill/>
          <a:ln/>
        </p:spPr>
        <p:txBody>
          <a:bodyPr wrap="square" rtlCol="0" anchor="ctr"/>
          <a:lstStyle/>
          <a:p>
            <a:pPr indent="0" marL="0">
              <a:buNone/>
            </a:pPr>
            <a:r>
              <a:rPr lang="en-US" sz="1800" b="1" spc="400" kern="0" dirty="0">
                <a:solidFill>
                  <a:srgbClr val="E36414"/>
                </a:solidFill>
                <a:latin typeface="Calibri" pitchFamily="34" charset="0"/>
                <a:ea typeface="Calibri" pitchFamily="34" charset="-122"/>
                <a:cs typeface="Calibri" pitchFamily="34" charset="-120"/>
              </a:rPr>
              <a:t>CHAPTER 27</a:t>
            </a:r>
            <a:endParaRPr lang="en-US" sz="1800" dirty="0"/>
          </a:p>
        </p:txBody>
      </p:sp>
      <p:sp>
        <p:nvSpPr>
          <p:cNvPr id="3" name="Text 1"/>
          <p:cNvSpPr/>
          <p:nvPr/>
        </p:nvSpPr>
        <p:spPr>
          <a:xfrm>
            <a:off x="713232" y="1783080"/>
            <a:ext cx="6858000" cy="1920240"/>
          </a:xfrm>
          <a:prstGeom prst="rect">
            <a:avLst/>
          </a:prstGeom>
          <a:noFill/>
          <a:ln/>
        </p:spPr>
        <p:txBody>
          <a:bodyPr wrap="square" rtlCol="0" anchor="t"/>
          <a:lstStyle/>
          <a:p>
            <a:pPr indent="0" marL="0">
              <a:buNone/>
            </a:pPr>
            <a:r>
              <a:rPr lang="en-US" sz="4400" b="1" dirty="0">
                <a:solidFill>
                  <a:srgbClr val="FFFFFF"/>
                </a:solidFill>
                <a:latin typeface="Georgia" pitchFamily="34" charset="0"/>
                <a:ea typeface="Georgia" pitchFamily="34" charset="-122"/>
                <a:cs typeface="Georgia" pitchFamily="34" charset="-120"/>
              </a:rPr>
              <a:t>The Reproductive System</a:t>
            </a:r>
            <a:endParaRPr lang="en-US" sz="4400" dirty="0"/>
          </a:p>
        </p:txBody>
      </p:sp>
      <p:sp>
        <p:nvSpPr>
          <p:cNvPr id="4" name="Text 2"/>
          <p:cNvSpPr/>
          <p:nvPr/>
        </p:nvSpPr>
        <p:spPr>
          <a:xfrm>
            <a:off x="749808" y="3977640"/>
            <a:ext cx="6400800" cy="822960"/>
          </a:xfrm>
          <a:prstGeom prst="rect">
            <a:avLst/>
          </a:prstGeom>
          <a:noFill/>
          <a:ln/>
        </p:spPr>
        <p:txBody>
          <a:bodyPr wrap="square" rtlCol="0" anchor="ctr"/>
          <a:lstStyle/>
          <a:p>
            <a:pPr indent="0" marL="0">
              <a:lnSpc>
                <a:spcPct val="110000"/>
              </a:lnSpc>
              <a:buNone/>
            </a:pPr>
            <a:r>
              <a:rPr lang="en-US" sz="1600" dirty="0">
                <a:solidFill>
                  <a:srgbClr val="CFE3E7"/>
                </a:solidFill>
                <a:latin typeface="Calibri" pitchFamily="34" charset="0"/>
                <a:ea typeface="Calibri" pitchFamily="34" charset="-122"/>
                <a:cs typeface="Calibri" pitchFamily="34" charset="-120"/>
              </a:rPr>
              <a:t>The organs of reproduction and how new life begins.</a:t>
            </a:r>
            <a:endParaRPr lang="en-US" sz="1600" dirty="0"/>
          </a:p>
        </p:txBody>
      </p:sp>
      <p:sp>
        <p:nvSpPr>
          <p:cNvPr id="5" name="Text 3"/>
          <p:cNvSpPr/>
          <p:nvPr/>
        </p:nvSpPr>
        <p:spPr>
          <a:xfrm>
            <a:off x="749808" y="5806440"/>
            <a:ext cx="8229600" cy="320040"/>
          </a:xfrm>
          <a:prstGeom prst="rect">
            <a:avLst/>
          </a:prstGeom>
          <a:noFill/>
          <a:ln/>
        </p:spPr>
        <p:txBody>
          <a:bodyPr wrap="square" rtlCol="0" anchor="ctr"/>
          <a:lstStyle/>
          <a:p>
            <a:pPr indent="0" marL="0">
              <a:buNone/>
            </a:pPr>
            <a:r>
              <a:rPr lang="en-US" sz="1300" dirty="0">
                <a:solidFill>
                  <a:srgbClr val="9FC2C9"/>
                </a:solidFill>
                <a:latin typeface="Calibri" pitchFamily="34" charset="0"/>
                <a:ea typeface="Calibri" pitchFamily="34" charset="-122"/>
                <a:cs typeface="Calibri" pitchFamily="34" charset="-120"/>
              </a:rPr>
              <a:t>Anatomy &amp; Physiology  ·  Broward-Miami Health Institute</a:t>
            </a:r>
            <a:endParaRPr lang="en-US" sz="1300" dirty="0"/>
          </a:p>
        </p:txBody>
      </p:sp>
      <p:sp>
        <p:nvSpPr>
          <p:cNvPr id="6" name="Text 4"/>
          <p:cNvSpPr/>
          <p:nvPr/>
        </p:nvSpPr>
        <p:spPr>
          <a:xfrm>
            <a:off x="749808" y="6144768"/>
            <a:ext cx="3657600" cy="320040"/>
          </a:xfrm>
          <a:prstGeom prst="rect">
            <a:avLst/>
          </a:prstGeom>
          <a:noFill/>
          <a:ln/>
        </p:spPr>
        <p:txBody>
          <a:bodyPr wrap="square" rtlCol="0" anchor="ctr"/>
          <a:lstStyle/>
          <a:p>
            <a:pPr indent="0" marL="0">
              <a:buNone/>
            </a:pPr>
            <a:r>
              <a:rPr lang="en-US" sz="1100" b="1" spc="300" kern="0" dirty="0">
                <a:solidFill>
                  <a:srgbClr val="E36414"/>
                </a:solidFill>
                <a:latin typeface="Calibri" pitchFamily="34" charset="0"/>
                <a:ea typeface="Calibri" pitchFamily="34" charset="-122"/>
                <a:cs typeface="Calibri" pitchFamily="34" charset="-120"/>
              </a:rPr>
              <a:t>FACULTY EDITION</a:t>
            </a:r>
            <a:endParaRPr lang="en-US" sz="1100" dirty="0"/>
          </a:p>
        </p:txBody>
      </p:sp>
      <p:sp>
        <p:nvSpPr>
          <p:cNvPr id="7" name="Shape 5"/>
          <p:cNvSpPr/>
          <p:nvPr/>
        </p:nvSpPr>
        <p:spPr>
          <a:xfrm>
            <a:off x="8499234" y="1380744"/>
            <a:ext cx="2569693" cy="4279392"/>
          </a:xfrm>
          <a:prstGeom prst="roundRect">
            <a:avLst>
              <a:gd name="adj" fmla="val 2135"/>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8" name="Image 0" descr="/home/claude/all/ch27/img/img13.jpg">    </p:cNvPr>
          <p:cNvPicPr>
            <a:picLocks noChangeAspect="1"/>
          </p:cNvPicPr>
          <p:nvPr/>
        </p:nvPicPr>
        <p:blipFill>
          <a:blip r:embed="rId1"/>
          <a:stretch>
            <a:fillRect/>
          </a:stretch>
        </p:blipFill>
        <p:spPr>
          <a:xfrm>
            <a:off x="8581530" y="1463040"/>
            <a:ext cx="2405101" cy="4114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27</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Learning Objectives</a:t>
            </a:r>
            <a:endParaRPr lang="en-US" sz="2800" dirty="0"/>
          </a:p>
        </p:txBody>
      </p:sp>
      <p:sp>
        <p:nvSpPr>
          <p:cNvPr id="4" name="Text 2"/>
          <p:cNvSpPr/>
          <p:nvPr/>
        </p:nvSpPr>
        <p:spPr>
          <a:xfrm>
            <a:off x="548640" y="1371600"/>
            <a:ext cx="8229600" cy="274320"/>
          </a:xfrm>
          <a:prstGeom prst="rect">
            <a:avLst/>
          </a:prstGeom>
          <a:noFill/>
          <a:ln/>
        </p:spPr>
        <p:txBody>
          <a:bodyPr wrap="square" rtlCol="0" anchor="ctr"/>
          <a:lstStyle/>
          <a:p>
            <a:pPr indent="0" marL="0">
              <a:buNone/>
            </a:pPr>
            <a:r>
              <a:rPr lang="en-US" sz="1200" i="1" dirty="0">
                <a:solidFill>
                  <a:srgbClr val="5A6B70"/>
                </a:solidFill>
                <a:latin typeface="Calibri" pitchFamily="34" charset="0"/>
                <a:ea typeface="Calibri" pitchFamily="34" charset="-122"/>
                <a:cs typeface="Calibri" pitchFamily="34" charset="-120"/>
              </a:rPr>
              <a:t>After studying this chapter, students will be able to:</a:t>
            </a:r>
            <a:endParaRPr lang="en-US" sz="1200" dirty="0"/>
          </a:p>
        </p:txBody>
      </p:sp>
      <p:sp>
        <p:nvSpPr>
          <p:cNvPr id="5" name="Shape 3"/>
          <p:cNvSpPr/>
          <p:nvPr/>
        </p:nvSpPr>
        <p:spPr>
          <a:xfrm>
            <a:off x="548640" y="1664208"/>
            <a:ext cx="384048" cy="384048"/>
          </a:xfrm>
          <a:prstGeom prst="ellipse">
            <a:avLst/>
          </a:prstGeom>
          <a:solidFill>
            <a:srgbClr val="0F4C5C"/>
          </a:solidFill>
          <a:ln/>
        </p:spPr>
      </p:sp>
      <p:sp>
        <p:nvSpPr>
          <p:cNvPr id="6" name="Text 4"/>
          <p:cNvSpPr/>
          <p:nvPr/>
        </p:nvSpPr>
        <p:spPr>
          <a:xfrm>
            <a:off x="548640" y="16642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115568" y="1645920"/>
            <a:ext cx="5943600" cy="841248"/>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Describe the anatomy of the reproductive systems, including their accessory structures</a:t>
            </a:r>
            <a:endParaRPr lang="en-US" sz="1400" dirty="0"/>
          </a:p>
        </p:txBody>
      </p:sp>
      <p:sp>
        <p:nvSpPr>
          <p:cNvPr id="8" name="Shape 6"/>
          <p:cNvSpPr/>
          <p:nvPr/>
        </p:nvSpPr>
        <p:spPr>
          <a:xfrm>
            <a:off x="548640" y="2505456"/>
            <a:ext cx="384048" cy="384048"/>
          </a:xfrm>
          <a:prstGeom prst="ellipse">
            <a:avLst/>
          </a:prstGeom>
          <a:solidFill>
            <a:srgbClr val="0F4C5C"/>
          </a:solidFill>
          <a:ln/>
        </p:spPr>
      </p:sp>
      <p:sp>
        <p:nvSpPr>
          <p:cNvPr id="9" name="Text 7"/>
          <p:cNvSpPr/>
          <p:nvPr/>
        </p:nvSpPr>
        <p:spPr>
          <a:xfrm>
            <a:off x="548640" y="2505456"/>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115568" y="2487168"/>
            <a:ext cx="5943600" cy="841248"/>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Explain the role of hypothalamic and pituitary hormones in reproductive function</a:t>
            </a:r>
            <a:endParaRPr lang="en-US" sz="1400" dirty="0"/>
          </a:p>
        </p:txBody>
      </p:sp>
      <p:sp>
        <p:nvSpPr>
          <p:cNvPr id="11" name="Shape 9"/>
          <p:cNvSpPr/>
          <p:nvPr/>
        </p:nvSpPr>
        <p:spPr>
          <a:xfrm>
            <a:off x="548640" y="3346704"/>
            <a:ext cx="384048" cy="384048"/>
          </a:xfrm>
          <a:prstGeom prst="ellipse">
            <a:avLst/>
          </a:prstGeom>
          <a:solidFill>
            <a:srgbClr val="0F4C5C"/>
          </a:solidFill>
          <a:ln/>
        </p:spPr>
      </p:sp>
      <p:sp>
        <p:nvSpPr>
          <p:cNvPr id="12" name="Text 10"/>
          <p:cNvSpPr/>
          <p:nvPr/>
        </p:nvSpPr>
        <p:spPr>
          <a:xfrm>
            <a:off x="548640" y="3346704"/>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115568" y="3328416"/>
            <a:ext cx="5943600" cy="841248"/>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Trace the path of a sperm cell from its initial production through fertilization of an oocyte</a:t>
            </a:r>
            <a:endParaRPr lang="en-US" sz="1400" dirty="0"/>
          </a:p>
        </p:txBody>
      </p:sp>
      <p:sp>
        <p:nvSpPr>
          <p:cNvPr id="14" name="Shape 12"/>
          <p:cNvSpPr/>
          <p:nvPr/>
        </p:nvSpPr>
        <p:spPr>
          <a:xfrm>
            <a:off x="548640" y="4187952"/>
            <a:ext cx="384048" cy="384048"/>
          </a:xfrm>
          <a:prstGeom prst="ellipse">
            <a:avLst/>
          </a:prstGeom>
          <a:solidFill>
            <a:srgbClr val="0F4C5C"/>
          </a:solidFill>
          <a:ln/>
        </p:spPr>
      </p:sp>
      <p:sp>
        <p:nvSpPr>
          <p:cNvPr id="15" name="Text 13"/>
          <p:cNvSpPr/>
          <p:nvPr/>
        </p:nvSpPr>
        <p:spPr>
          <a:xfrm>
            <a:off x="548640" y="4187952"/>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6" name="Text 14"/>
          <p:cNvSpPr/>
          <p:nvPr/>
        </p:nvSpPr>
        <p:spPr>
          <a:xfrm>
            <a:off x="1115568" y="4169664"/>
            <a:ext cx="5943600" cy="841248"/>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Explain the events in the ovary prior to ovulation</a:t>
            </a:r>
            <a:endParaRPr lang="en-US" sz="1400" dirty="0"/>
          </a:p>
        </p:txBody>
      </p:sp>
      <p:sp>
        <p:nvSpPr>
          <p:cNvPr id="17" name="Shape 15"/>
          <p:cNvSpPr/>
          <p:nvPr/>
        </p:nvSpPr>
        <p:spPr>
          <a:xfrm>
            <a:off x="7415784" y="1698414"/>
            <a:ext cx="4370832" cy="4064675"/>
          </a:xfrm>
          <a:prstGeom prst="roundRect">
            <a:avLst>
              <a:gd name="adj" fmla="val 1350"/>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18" name="Image 0" descr="/home/claude/all/ch27/img/img15.jpg">    </p:cNvPr>
          <p:cNvPicPr>
            <a:picLocks noChangeAspect="1"/>
          </p:cNvPicPr>
          <p:nvPr/>
        </p:nvPicPr>
        <p:blipFill>
          <a:blip r:embed="rId1"/>
          <a:stretch>
            <a:fillRect/>
          </a:stretch>
        </p:blipFill>
        <p:spPr>
          <a:xfrm>
            <a:off x="7498080" y="1780710"/>
            <a:ext cx="4206240" cy="3900083"/>
          </a:xfrm>
          <a:prstGeom prst="rect">
            <a:avLst/>
          </a:prstGeom>
        </p:spPr>
      </p:pic>
      <p:sp>
        <p:nvSpPr>
          <p:cNvPr id="19" name="Text 16"/>
          <p:cNvSpPr/>
          <p:nvPr/>
        </p:nvSpPr>
        <p:spPr>
          <a:xfrm>
            <a:off x="7498080" y="5943600"/>
            <a:ext cx="420624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Reproductive development and its hormones.</a:t>
            </a:r>
            <a:endParaRPr lang="en-US" sz="1100" dirty="0"/>
          </a:p>
        </p:txBody>
      </p:sp>
      <p:sp>
        <p:nvSpPr>
          <p:cNvPr id="21" name="Text 17"/>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27 — The Reproductive System</a:t>
            </a:r>
            <a:endParaRPr lang="en-US" sz="900" dirty="0"/>
          </a:p>
        </p:txBody>
      </p:sp>
      <p:sp>
        <p:nvSpPr>
          <p:cNvPr id="22" name="Text 18"/>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27.1</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600" b="1" dirty="0">
                <a:solidFill>
                  <a:srgbClr val="FFFFFF"/>
                </a:solidFill>
                <a:latin typeface="Georgia" pitchFamily="34" charset="0"/>
                <a:ea typeface="Georgia" pitchFamily="34" charset="-122"/>
                <a:cs typeface="Georgia" pitchFamily="34" charset="-120"/>
              </a:rPr>
              <a:t>Anatomy and Physiology of the Testicular Reproductive System</a:t>
            </a:r>
            <a:endParaRPr lang="en-US" sz="2600" dirty="0"/>
          </a:p>
        </p:txBody>
      </p:sp>
      <p:sp>
        <p:nvSpPr>
          <p:cNvPr id="6" name="Text 4"/>
          <p:cNvSpPr/>
          <p:nvPr/>
        </p:nvSpPr>
        <p:spPr>
          <a:xfrm>
            <a:off x="3200400" y="429768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male reproductive organs and sperm production.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27.1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Male Reproductive System</a:t>
            </a:r>
            <a:endParaRPr lang="en-US" sz="2800" dirty="0"/>
          </a:p>
        </p:txBody>
      </p:sp>
      <p:sp>
        <p:nvSpPr>
          <p:cNvPr id="4" name="Shape 2"/>
          <p:cNvSpPr/>
          <p:nvPr/>
        </p:nvSpPr>
        <p:spPr>
          <a:xfrm>
            <a:off x="457200" y="1289304"/>
            <a:ext cx="4389120" cy="4736592"/>
          </a:xfrm>
          <a:prstGeom prst="roundRect">
            <a:avLst>
              <a:gd name="adj" fmla="val 1250"/>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7/img/img02.jpg">    </p:cNvPr>
          <p:cNvPicPr>
            <a:picLocks noChangeAspect="1"/>
          </p:cNvPicPr>
          <p:nvPr/>
        </p:nvPicPr>
        <p:blipFill>
          <a:blip r:embed="rId1"/>
          <a:stretch>
            <a:fillRect/>
          </a:stretch>
        </p:blipFill>
        <p:spPr>
          <a:xfrm>
            <a:off x="539496" y="1371600"/>
            <a:ext cx="4224528"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male reproductive system</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Produces and delivers sperm</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Testes make sperm and testosterone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Ducts carry sperm out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Glands add seminal fluid</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27 — The Reproductive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27.1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Testis &amp; Epididymis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testes sit in the scrotum</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Sperm form in seminiferous tubules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They mature in the epididymis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scrotum keeps them cool</a:t>
            </a:r>
            <a:endParaRPr lang="en-US" sz="1500" dirty="0"/>
          </a:p>
        </p:txBody>
      </p:sp>
      <p:sp>
        <p:nvSpPr>
          <p:cNvPr id="5" name="Shape 3"/>
          <p:cNvSpPr/>
          <p:nvPr/>
        </p:nvSpPr>
        <p:spPr>
          <a:xfrm>
            <a:off x="6086617" y="1335024"/>
            <a:ext cx="5017487"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7/img/img03.jpg">    </p:cNvPr>
          <p:cNvPicPr>
            <a:picLocks noChangeAspect="1"/>
          </p:cNvPicPr>
          <p:nvPr/>
        </p:nvPicPr>
        <p:blipFill>
          <a:blip r:embed="rId1"/>
          <a:stretch>
            <a:fillRect/>
          </a:stretch>
        </p:blipFill>
        <p:spPr>
          <a:xfrm>
            <a:off x="6168913" y="1417320"/>
            <a:ext cx="4852895"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testis and epididymis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27 — The Reproductive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27.1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Spermatogenesis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making of sperm</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Begins at puberty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Continues throughout life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Each sperm carries half the chromosomes</a:t>
            </a:r>
            <a:endParaRPr lang="en-US" sz="1500" dirty="0"/>
          </a:p>
        </p:txBody>
      </p:sp>
      <p:sp>
        <p:nvSpPr>
          <p:cNvPr id="5" name="Shape 3"/>
          <p:cNvSpPr/>
          <p:nvPr/>
        </p:nvSpPr>
        <p:spPr>
          <a:xfrm>
            <a:off x="5412965" y="1335024"/>
            <a:ext cx="6364791"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7/img/img04.jpg">    </p:cNvPr>
          <p:cNvPicPr>
            <a:picLocks noChangeAspect="1"/>
          </p:cNvPicPr>
          <p:nvPr/>
        </p:nvPicPr>
        <p:blipFill>
          <a:blip r:embed="rId1"/>
          <a:stretch>
            <a:fillRect/>
          </a:stretch>
        </p:blipFill>
        <p:spPr>
          <a:xfrm>
            <a:off x="5495261" y="1417320"/>
            <a:ext cx="6200199"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Spermatogenesis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27 — The Reproductive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27.2</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600" b="1" dirty="0">
                <a:solidFill>
                  <a:srgbClr val="FFFFFF"/>
                </a:solidFill>
                <a:latin typeface="Georgia" pitchFamily="34" charset="0"/>
                <a:ea typeface="Georgia" pitchFamily="34" charset="-122"/>
                <a:cs typeface="Georgia" pitchFamily="34" charset="-120"/>
              </a:rPr>
              <a:t>Anatomy and Physiology of the Ovarian Reproductive System</a:t>
            </a:r>
            <a:endParaRPr lang="en-US" sz="2600" dirty="0"/>
          </a:p>
        </p:txBody>
      </p:sp>
      <p:sp>
        <p:nvSpPr>
          <p:cNvPr id="6" name="Text 4"/>
          <p:cNvSpPr/>
          <p:nvPr/>
        </p:nvSpPr>
        <p:spPr>
          <a:xfrm>
            <a:off x="3200400" y="429768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female reproductive organs, the egg, and the menstrual cycle.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27.2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Female Reproductive System</a:t>
            </a:r>
            <a:endParaRPr lang="en-US" sz="2800" dirty="0"/>
          </a:p>
        </p:txBody>
      </p:sp>
      <p:sp>
        <p:nvSpPr>
          <p:cNvPr id="4" name="Shape 2"/>
          <p:cNvSpPr/>
          <p:nvPr/>
        </p:nvSpPr>
        <p:spPr>
          <a:xfrm>
            <a:off x="961492" y="1289304"/>
            <a:ext cx="3380537" cy="4736592"/>
          </a:xfrm>
          <a:prstGeom prst="roundRect">
            <a:avLst>
              <a:gd name="adj" fmla="val 1623"/>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7/img/img07.jpg">    </p:cNvPr>
          <p:cNvPicPr>
            <a:picLocks noChangeAspect="1"/>
          </p:cNvPicPr>
          <p:nvPr/>
        </p:nvPicPr>
        <p:blipFill>
          <a:blip r:embed="rId1"/>
          <a:stretch>
            <a:fillRect/>
          </a:stretch>
        </p:blipFill>
        <p:spPr>
          <a:xfrm>
            <a:off x="1043788" y="1371600"/>
            <a:ext cx="3215945"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female reproductive system</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Produces eggs and supports pregnancy</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Ovaries make eggs and hormones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Uterine tubes carry the egg</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uterus houses a pregnancy</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27 — The Reproductive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27.2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Oogenesis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making of eggs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Begins before birth</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One egg matures each cycle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Each egg carries half the chromosomes</a:t>
            </a:r>
            <a:endParaRPr lang="en-US" sz="1500" dirty="0"/>
          </a:p>
        </p:txBody>
      </p:sp>
      <p:sp>
        <p:nvSpPr>
          <p:cNvPr id="5" name="Shape 3"/>
          <p:cNvSpPr/>
          <p:nvPr/>
        </p:nvSpPr>
        <p:spPr>
          <a:xfrm>
            <a:off x="5838618" y="1335024"/>
            <a:ext cx="5513485"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7/img/img09.jpg">    </p:cNvPr>
          <p:cNvPicPr>
            <a:picLocks noChangeAspect="1"/>
          </p:cNvPicPr>
          <p:nvPr/>
        </p:nvPicPr>
        <p:blipFill>
          <a:blip r:embed="rId1"/>
          <a:stretch>
            <a:fillRect/>
          </a:stretch>
        </p:blipFill>
        <p:spPr>
          <a:xfrm>
            <a:off x="5920914" y="1417320"/>
            <a:ext cx="5348893"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Oogenesis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27 — The Reproductive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27.2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Ovarian Cycle</a:t>
            </a:r>
            <a:endParaRPr lang="en-US" sz="2800" dirty="0"/>
          </a:p>
        </p:txBody>
      </p:sp>
      <p:sp>
        <p:nvSpPr>
          <p:cNvPr id="4" name="Shape 2"/>
          <p:cNvSpPr/>
          <p:nvPr/>
        </p:nvSpPr>
        <p:spPr>
          <a:xfrm>
            <a:off x="832104" y="1289304"/>
            <a:ext cx="3639312" cy="4736592"/>
          </a:xfrm>
          <a:prstGeom prst="roundRect">
            <a:avLst>
              <a:gd name="adj" fmla="val 1508"/>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7/img/img10.jpg">    </p:cNvPr>
          <p:cNvPicPr>
            <a:picLocks noChangeAspect="1"/>
          </p:cNvPicPr>
          <p:nvPr/>
        </p:nvPicPr>
        <p:blipFill>
          <a:blip r:embed="rId1"/>
          <a:stretch>
            <a:fillRect/>
          </a:stretch>
        </p:blipFill>
        <p:spPr>
          <a:xfrm>
            <a:off x="914400" y="1371600"/>
            <a:ext cx="3474720"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Follicle development in the ovary</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Follicles develop in the ovary</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One matures and ovulates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empty follicle becomes the corpus luteum</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It secretes hormones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27 — The Reproductive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27.2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Menstrual Cycle</a:t>
            </a:r>
            <a:endParaRPr lang="en-US" sz="2800" dirty="0"/>
          </a:p>
        </p:txBody>
      </p:sp>
      <p:sp>
        <p:nvSpPr>
          <p:cNvPr id="4" name="Shape 2"/>
          <p:cNvSpPr/>
          <p:nvPr/>
        </p:nvSpPr>
        <p:spPr>
          <a:xfrm>
            <a:off x="1233297" y="1289304"/>
            <a:ext cx="2836926" cy="4736592"/>
          </a:xfrm>
          <a:prstGeom prst="roundRect">
            <a:avLst>
              <a:gd name="adj" fmla="val 1934"/>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7/img/img13.jpg">    </p:cNvPr>
          <p:cNvPicPr>
            <a:picLocks noChangeAspect="1"/>
          </p:cNvPicPr>
          <p:nvPr/>
        </p:nvPicPr>
        <p:blipFill>
          <a:blip r:embed="rId1"/>
          <a:stretch>
            <a:fillRect/>
          </a:stretch>
        </p:blipFill>
        <p:spPr>
          <a:xfrm>
            <a:off x="1315593" y="1371600"/>
            <a:ext cx="2672334"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ovarian and menstrual cycle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 roughly monthly cycle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Hormones drive ovarian and uterine changes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uterine lining builds up</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It sheds as menstruation if no pregnancy</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27 — The Reproductive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27.3</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600" b="1" dirty="0">
                <a:solidFill>
                  <a:srgbClr val="FFFFFF"/>
                </a:solidFill>
                <a:latin typeface="Georgia" pitchFamily="34" charset="0"/>
                <a:ea typeface="Georgia" pitchFamily="34" charset="-122"/>
                <a:cs typeface="Georgia" pitchFamily="34" charset="-120"/>
              </a:rPr>
              <a:t>Development of the Male and Female Reproductive Systems</a:t>
            </a:r>
            <a:endParaRPr lang="en-US" sz="2600" dirty="0"/>
          </a:p>
        </p:txBody>
      </p:sp>
      <p:sp>
        <p:nvSpPr>
          <p:cNvPr id="6" name="Text 4"/>
          <p:cNvSpPr/>
          <p:nvPr/>
        </p:nvSpPr>
        <p:spPr>
          <a:xfrm>
            <a:off x="3200400" y="429768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the reproductive systems develop and mature at puberty.</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27.3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Reproductive Development &amp; Puberty</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Sex is determined at fertilization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Systems develop before birth</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They mature at puberty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Driven by reproductive hormones</a:t>
            </a:r>
            <a:endParaRPr lang="en-US" sz="1500" dirty="0"/>
          </a:p>
        </p:txBody>
      </p:sp>
      <p:sp>
        <p:nvSpPr>
          <p:cNvPr id="5" name="Shape 3"/>
          <p:cNvSpPr/>
          <p:nvPr/>
        </p:nvSpPr>
        <p:spPr>
          <a:xfrm>
            <a:off x="6096922" y="1335024"/>
            <a:ext cx="4996876"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7/img/img15.jpg">    </p:cNvPr>
          <p:cNvPicPr>
            <a:picLocks noChangeAspect="1"/>
          </p:cNvPicPr>
          <p:nvPr/>
        </p:nvPicPr>
        <p:blipFill>
          <a:blip r:embed="rId1"/>
          <a:stretch>
            <a:fillRect/>
          </a:stretch>
        </p:blipFill>
        <p:spPr>
          <a:xfrm>
            <a:off x="6179218" y="1417320"/>
            <a:ext cx="4832284"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Reproductive development at puberty</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27 — The Reproductive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27</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Key Takeaways</a:t>
            </a:r>
            <a:endParaRPr lang="en-US" sz="2800" dirty="0"/>
          </a:p>
        </p:txBody>
      </p:sp>
      <p:sp>
        <p:nvSpPr>
          <p:cNvPr id="4" name="Shape 2"/>
          <p:cNvSpPr/>
          <p:nvPr/>
        </p:nvSpPr>
        <p:spPr>
          <a:xfrm>
            <a:off x="548640" y="1819656"/>
            <a:ext cx="237744" cy="237744"/>
          </a:xfrm>
          <a:prstGeom prst="ellipse">
            <a:avLst/>
          </a:prstGeom>
          <a:solidFill>
            <a:srgbClr val="E36414"/>
          </a:solidFill>
          <a:ln/>
        </p:spPr>
      </p:sp>
      <p:sp>
        <p:nvSpPr>
          <p:cNvPr id="5" name="Text 3"/>
          <p:cNvSpPr/>
          <p:nvPr/>
        </p:nvSpPr>
        <p:spPr>
          <a:xfrm>
            <a:off x="960120" y="1737360"/>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male system produces and delivers sperm; the female system produces eggs and supports pregnancy.</a:t>
            </a:r>
            <a:endParaRPr lang="en-US" sz="1550" dirty="0"/>
          </a:p>
        </p:txBody>
      </p:sp>
      <p:sp>
        <p:nvSpPr>
          <p:cNvPr id="6" name="Shape 4"/>
          <p:cNvSpPr/>
          <p:nvPr/>
        </p:nvSpPr>
        <p:spPr>
          <a:xfrm>
            <a:off x="548640" y="2606040"/>
            <a:ext cx="237744" cy="237744"/>
          </a:xfrm>
          <a:prstGeom prst="ellipse">
            <a:avLst/>
          </a:prstGeom>
          <a:solidFill>
            <a:srgbClr val="E36414"/>
          </a:solidFill>
          <a:ln/>
        </p:spPr>
      </p:sp>
      <p:sp>
        <p:nvSpPr>
          <p:cNvPr id="7" name="Text 5"/>
          <p:cNvSpPr/>
          <p:nvPr/>
        </p:nvSpPr>
        <p:spPr>
          <a:xfrm>
            <a:off x="960120" y="2523744"/>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Sperm and eggs each carry half the chromosomes, restored to a full set at fertilization.</a:t>
            </a:r>
            <a:endParaRPr lang="en-US" sz="1550" dirty="0"/>
          </a:p>
        </p:txBody>
      </p:sp>
      <p:sp>
        <p:nvSpPr>
          <p:cNvPr id="8" name="Shape 6"/>
          <p:cNvSpPr/>
          <p:nvPr/>
        </p:nvSpPr>
        <p:spPr>
          <a:xfrm>
            <a:off x="548640" y="3392424"/>
            <a:ext cx="237744" cy="237744"/>
          </a:xfrm>
          <a:prstGeom prst="ellipse">
            <a:avLst/>
          </a:prstGeom>
          <a:solidFill>
            <a:srgbClr val="E36414"/>
          </a:solidFill>
          <a:ln/>
        </p:spPr>
      </p:sp>
      <p:sp>
        <p:nvSpPr>
          <p:cNvPr id="9" name="Text 7"/>
          <p:cNvSpPr/>
          <p:nvPr/>
        </p:nvSpPr>
        <p:spPr>
          <a:xfrm>
            <a:off x="960120" y="3310128"/>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testes make sperm and testosterone; the ovaries make eggs, estrogen, and progesterone.</a:t>
            </a:r>
            <a:endParaRPr lang="en-US" sz="1550" dirty="0"/>
          </a:p>
        </p:txBody>
      </p:sp>
      <p:sp>
        <p:nvSpPr>
          <p:cNvPr id="10" name="Shape 8"/>
          <p:cNvSpPr/>
          <p:nvPr/>
        </p:nvSpPr>
        <p:spPr>
          <a:xfrm>
            <a:off x="548640" y="4178808"/>
            <a:ext cx="237744" cy="237744"/>
          </a:xfrm>
          <a:prstGeom prst="ellipse">
            <a:avLst/>
          </a:prstGeom>
          <a:solidFill>
            <a:srgbClr val="E36414"/>
          </a:solidFill>
          <a:ln/>
        </p:spPr>
      </p:sp>
      <p:sp>
        <p:nvSpPr>
          <p:cNvPr id="11" name="Text 9"/>
          <p:cNvSpPr/>
          <p:nvPr/>
        </p:nvSpPr>
        <p:spPr>
          <a:xfrm>
            <a:off x="960120" y="4096512"/>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menstrual cycle coordinates ovulation with the uterine lining each month.</a:t>
            </a:r>
            <a:endParaRPr lang="en-US" sz="1550" dirty="0"/>
          </a:p>
        </p:txBody>
      </p:sp>
      <p:sp>
        <p:nvSpPr>
          <p:cNvPr id="12" name="Shape 10"/>
          <p:cNvSpPr/>
          <p:nvPr/>
        </p:nvSpPr>
        <p:spPr>
          <a:xfrm>
            <a:off x="548640" y="4965192"/>
            <a:ext cx="237744" cy="237744"/>
          </a:xfrm>
          <a:prstGeom prst="ellipse">
            <a:avLst/>
          </a:prstGeom>
          <a:solidFill>
            <a:srgbClr val="E36414"/>
          </a:solidFill>
          <a:ln/>
        </p:spPr>
      </p:sp>
      <p:sp>
        <p:nvSpPr>
          <p:cNvPr id="13" name="Text 11"/>
          <p:cNvSpPr/>
          <p:nvPr/>
        </p:nvSpPr>
        <p:spPr>
          <a:xfrm>
            <a:off x="960120" y="4882896"/>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Reproductive organs mature at puberty under control of the pituitary hormones.</a:t>
            </a:r>
            <a:endParaRPr lang="en-US" sz="1550" dirty="0"/>
          </a:p>
        </p:txBody>
      </p:sp>
      <p:sp>
        <p:nvSpPr>
          <p:cNvPr id="14" name="Text 12"/>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27 — The Reproductive System</a:t>
            </a:r>
            <a:endParaRPr lang="en-US" sz="900" dirty="0"/>
          </a:p>
        </p:txBody>
      </p:sp>
      <p:sp>
        <p:nvSpPr>
          <p:cNvPr id="15" name="Text 13"/>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548640" y="502920"/>
            <a:ext cx="10058400" cy="365760"/>
          </a:xfrm>
          <a:prstGeom prst="rect">
            <a:avLst/>
          </a:prstGeom>
          <a:noFill/>
          <a:ln/>
        </p:spPr>
        <p:txBody>
          <a:bodyPr wrap="square" rtlCol="0" anchor="ctr"/>
          <a:lstStyle/>
          <a:p>
            <a:pPr indent="0" marL="0">
              <a:buNone/>
            </a:pPr>
            <a:r>
              <a:rPr lang="en-US" sz="1300" b="1" spc="300" kern="0" dirty="0">
                <a:solidFill>
                  <a:srgbClr val="E36414"/>
                </a:solidFill>
                <a:latin typeface="Calibri" pitchFamily="34" charset="0"/>
                <a:ea typeface="Calibri" pitchFamily="34" charset="-122"/>
                <a:cs typeface="Calibri" pitchFamily="34" charset="-120"/>
              </a:rPr>
              <a:t>CLINICAL CONNECTIONS</a:t>
            </a:r>
            <a:endParaRPr lang="en-US" sz="1300" dirty="0"/>
          </a:p>
        </p:txBody>
      </p:sp>
      <p:sp>
        <p:nvSpPr>
          <p:cNvPr id="3" name="Text 1"/>
          <p:cNvSpPr/>
          <p:nvPr/>
        </p:nvSpPr>
        <p:spPr>
          <a:xfrm>
            <a:off x="530352" y="841248"/>
            <a:ext cx="10972800" cy="640080"/>
          </a:xfrm>
          <a:prstGeom prst="rect">
            <a:avLst/>
          </a:prstGeom>
          <a:noFill/>
          <a:ln/>
        </p:spPr>
        <p:txBody>
          <a:bodyPr wrap="square" rtlCol="0" anchor="ctr"/>
          <a:lstStyle/>
          <a:p>
            <a:pPr indent="0" marL="0">
              <a:buNone/>
            </a:pPr>
            <a:r>
              <a:rPr lang="en-US" sz="2500" b="1" dirty="0">
                <a:solidFill>
                  <a:srgbClr val="FFFFFF"/>
                </a:solidFill>
                <a:latin typeface="Georgia" pitchFamily="34" charset="0"/>
                <a:ea typeface="Georgia" pitchFamily="34" charset="-122"/>
                <a:cs typeface="Georgia" pitchFamily="34" charset="-120"/>
              </a:rPr>
              <a:t>Why the Reproductive System Matters in Practical Nursing</a:t>
            </a:r>
            <a:endParaRPr lang="en-US" sz="2500" dirty="0"/>
          </a:p>
        </p:txBody>
      </p:sp>
      <p:sp>
        <p:nvSpPr>
          <p:cNvPr id="4" name="Shape 2"/>
          <p:cNvSpPr/>
          <p:nvPr/>
        </p:nvSpPr>
        <p:spPr>
          <a:xfrm>
            <a:off x="548640" y="1783080"/>
            <a:ext cx="5440680" cy="1389888"/>
          </a:xfrm>
          <a:prstGeom prst="roundRect">
            <a:avLst>
              <a:gd name="adj" fmla="val 5263"/>
            </a:avLst>
          </a:prstGeom>
          <a:solidFill>
            <a:srgbClr val="13586A"/>
          </a:solidFill>
          <a:ln w="12700">
            <a:solidFill>
              <a:srgbClr val="2A7A8C"/>
            </a:solidFill>
            <a:prstDash val="solid"/>
          </a:ln>
        </p:spPr>
      </p:sp>
      <p:sp>
        <p:nvSpPr>
          <p:cNvPr id="5" name="Text 3"/>
          <p:cNvSpPr/>
          <p:nvPr/>
        </p:nvSpPr>
        <p:spPr>
          <a:xfrm>
            <a:off x="777240" y="191109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Contraception</a:t>
            </a:r>
            <a:endParaRPr lang="en-US" sz="1600" dirty="0"/>
          </a:p>
        </p:txBody>
      </p:sp>
      <p:sp>
        <p:nvSpPr>
          <p:cNvPr id="6" name="Text 4"/>
          <p:cNvSpPr/>
          <p:nvPr/>
        </p:nvSpPr>
        <p:spPr>
          <a:xfrm>
            <a:off x="777240" y="228600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Methods work at different points in reproduction.</a:t>
            </a:r>
            <a:endParaRPr lang="en-US" sz="1250" dirty="0"/>
          </a:p>
        </p:txBody>
      </p:sp>
      <p:sp>
        <p:nvSpPr>
          <p:cNvPr id="7" name="Shape 5"/>
          <p:cNvSpPr/>
          <p:nvPr/>
        </p:nvSpPr>
        <p:spPr>
          <a:xfrm>
            <a:off x="6172200" y="1783080"/>
            <a:ext cx="5440680" cy="1389888"/>
          </a:xfrm>
          <a:prstGeom prst="roundRect">
            <a:avLst>
              <a:gd name="adj" fmla="val 5263"/>
            </a:avLst>
          </a:prstGeom>
          <a:solidFill>
            <a:srgbClr val="13586A"/>
          </a:solidFill>
          <a:ln w="12700">
            <a:solidFill>
              <a:srgbClr val="2A7A8C"/>
            </a:solidFill>
            <a:prstDash val="solid"/>
          </a:ln>
        </p:spPr>
      </p:sp>
      <p:sp>
        <p:nvSpPr>
          <p:cNvPr id="8" name="Text 6"/>
          <p:cNvSpPr/>
          <p:nvPr/>
        </p:nvSpPr>
        <p:spPr>
          <a:xfrm>
            <a:off x="6400800" y="191109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STIs</a:t>
            </a:r>
            <a:endParaRPr lang="en-US" sz="1600" dirty="0"/>
          </a:p>
        </p:txBody>
      </p:sp>
      <p:sp>
        <p:nvSpPr>
          <p:cNvPr id="9" name="Text 7"/>
          <p:cNvSpPr/>
          <p:nvPr/>
        </p:nvSpPr>
        <p:spPr>
          <a:xfrm>
            <a:off x="6400800" y="228600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Sexually transmitted infections require prevention and treatment.</a:t>
            </a:r>
            <a:endParaRPr lang="en-US" sz="1250" dirty="0"/>
          </a:p>
        </p:txBody>
      </p:sp>
      <p:sp>
        <p:nvSpPr>
          <p:cNvPr id="10" name="Shape 8"/>
          <p:cNvSpPr/>
          <p:nvPr/>
        </p:nvSpPr>
        <p:spPr>
          <a:xfrm>
            <a:off x="548640" y="3337560"/>
            <a:ext cx="5440680" cy="1389888"/>
          </a:xfrm>
          <a:prstGeom prst="roundRect">
            <a:avLst>
              <a:gd name="adj" fmla="val 5263"/>
            </a:avLst>
          </a:prstGeom>
          <a:solidFill>
            <a:srgbClr val="13586A"/>
          </a:solidFill>
          <a:ln w="12700">
            <a:solidFill>
              <a:srgbClr val="2A7A8C"/>
            </a:solidFill>
            <a:prstDash val="solid"/>
          </a:ln>
        </p:spPr>
      </p:sp>
      <p:sp>
        <p:nvSpPr>
          <p:cNvPr id="11" name="Text 9"/>
          <p:cNvSpPr/>
          <p:nvPr/>
        </p:nvSpPr>
        <p:spPr>
          <a:xfrm>
            <a:off x="777240" y="346557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Menstrual Disorders</a:t>
            </a:r>
            <a:endParaRPr lang="en-US" sz="1600" dirty="0"/>
          </a:p>
        </p:txBody>
      </p:sp>
      <p:sp>
        <p:nvSpPr>
          <p:cNvPr id="12" name="Text 10"/>
          <p:cNvSpPr/>
          <p:nvPr/>
        </p:nvSpPr>
        <p:spPr>
          <a:xfrm>
            <a:off x="777240" y="384048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Irregularities can signal hormonal or other issues.</a:t>
            </a:r>
            <a:endParaRPr lang="en-US" sz="1250" dirty="0"/>
          </a:p>
        </p:txBody>
      </p:sp>
      <p:sp>
        <p:nvSpPr>
          <p:cNvPr id="13" name="Shape 11"/>
          <p:cNvSpPr/>
          <p:nvPr/>
        </p:nvSpPr>
        <p:spPr>
          <a:xfrm>
            <a:off x="6172200" y="3337560"/>
            <a:ext cx="5440680" cy="1389888"/>
          </a:xfrm>
          <a:prstGeom prst="roundRect">
            <a:avLst>
              <a:gd name="adj" fmla="val 5263"/>
            </a:avLst>
          </a:prstGeom>
          <a:solidFill>
            <a:srgbClr val="13586A"/>
          </a:solidFill>
          <a:ln w="12700">
            <a:solidFill>
              <a:srgbClr val="2A7A8C"/>
            </a:solidFill>
            <a:prstDash val="solid"/>
          </a:ln>
        </p:spPr>
      </p:sp>
      <p:sp>
        <p:nvSpPr>
          <p:cNvPr id="14" name="Text 12"/>
          <p:cNvSpPr/>
          <p:nvPr/>
        </p:nvSpPr>
        <p:spPr>
          <a:xfrm>
            <a:off x="6400800" y="346557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Menopause</a:t>
            </a:r>
            <a:endParaRPr lang="en-US" sz="1600" dirty="0"/>
          </a:p>
        </p:txBody>
      </p:sp>
      <p:sp>
        <p:nvSpPr>
          <p:cNvPr id="15" name="Text 13"/>
          <p:cNvSpPr/>
          <p:nvPr/>
        </p:nvSpPr>
        <p:spPr>
          <a:xfrm>
            <a:off x="6400800" y="384048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The natural end of the reproductive years.</a:t>
            </a:r>
            <a:endParaRPr lang="en-US" sz="1250" dirty="0"/>
          </a:p>
        </p:txBody>
      </p:sp>
      <p:sp>
        <p:nvSpPr>
          <p:cNvPr id="16" name="Shape 14"/>
          <p:cNvSpPr/>
          <p:nvPr/>
        </p:nvSpPr>
        <p:spPr>
          <a:xfrm>
            <a:off x="548640" y="4892040"/>
            <a:ext cx="5440680" cy="1389888"/>
          </a:xfrm>
          <a:prstGeom prst="roundRect">
            <a:avLst>
              <a:gd name="adj" fmla="val 5263"/>
            </a:avLst>
          </a:prstGeom>
          <a:solidFill>
            <a:srgbClr val="13586A"/>
          </a:solidFill>
          <a:ln w="12700">
            <a:solidFill>
              <a:srgbClr val="2A7A8C"/>
            </a:solidFill>
            <a:prstDash val="solid"/>
          </a:ln>
        </p:spPr>
      </p:sp>
      <p:sp>
        <p:nvSpPr>
          <p:cNvPr id="17" name="Text 15"/>
          <p:cNvSpPr/>
          <p:nvPr/>
        </p:nvSpPr>
        <p:spPr>
          <a:xfrm>
            <a:off x="777240" y="50200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Prostate Health</a:t>
            </a:r>
            <a:endParaRPr lang="en-US" sz="1600" dirty="0"/>
          </a:p>
        </p:txBody>
      </p:sp>
      <p:sp>
        <p:nvSpPr>
          <p:cNvPr id="18" name="Text 16"/>
          <p:cNvSpPr/>
          <p:nvPr/>
        </p:nvSpPr>
        <p:spPr>
          <a:xfrm>
            <a:off x="777240" y="53949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The prostate commonly enlarges with age in men.</a:t>
            </a:r>
            <a:endParaRPr lang="en-US" sz="1250" dirty="0"/>
          </a:p>
        </p:txBody>
      </p:sp>
      <p:sp>
        <p:nvSpPr>
          <p:cNvPr id="19" name="Shape 17"/>
          <p:cNvSpPr/>
          <p:nvPr/>
        </p:nvSpPr>
        <p:spPr>
          <a:xfrm>
            <a:off x="6172200" y="4892040"/>
            <a:ext cx="5440680" cy="1389888"/>
          </a:xfrm>
          <a:prstGeom prst="roundRect">
            <a:avLst>
              <a:gd name="adj" fmla="val 5263"/>
            </a:avLst>
          </a:prstGeom>
          <a:solidFill>
            <a:srgbClr val="13586A"/>
          </a:solidFill>
          <a:ln w="12700">
            <a:solidFill>
              <a:srgbClr val="2A7A8C"/>
            </a:solidFill>
            <a:prstDash val="solid"/>
          </a:ln>
        </p:spPr>
      </p:sp>
      <p:sp>
        <p:nvSpPr>
          <p:cNvPr id="20" name="Text 18"/>
          <p:cNvSpPr/>
          <p:nvPr/>
        </p:nvSpPr>
        <p:spPr>
          <a:xfrm>
            <a:off x="6400800" y="50200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Fertility</a:t>
            </a:r>
            <a:endParaRPr lang="en-US" sz="1600" dirty="0"/>
          </a:p>
        </p:txBody>
      </p:sp>
      <p:sp>
        <p:nvSpPr>
          <p:cNvPr id="21" name="Text 19"/>
          <p:cNvSpPr/>
          <p:nvPr/>
        </p:nvSpPr>
        <p:spPr>
          <a:xfrm>
            <a:off x="6400800" y="53949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Many factors affect the ability to conceive.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2026-06-24T00:29:17Z</dcterms:created>
  <dcterms:modified xsi:type="dcterms:W3CDTF">2026-06-24T00:29:18Z</dcterms:modified>
</cp:coreProperties>
</file>