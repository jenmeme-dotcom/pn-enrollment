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skin as a true organ system: layered structure, accessory structures (hair, nails, glands), and major functions — protection, sensation, temperature regulation, and vitamin D. End with common disorders that you will assess and manage at the bedside.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skin has three layers: a superficial epidermis (avascular stratified squamous epithelium), a deeper dermis of connective tissue holding vessels, nerves, and glands, and the hypodermis (subcutaneous fat) that anchors the skin and insulates. It is the body's largest organ.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epidermis builds from the stratum basale upward through the spinosum, granulosum, lucidum (thick skin only), to the corneum. Keratinocytes are produced at the base, fill with tough keratin, and are shed at the surface, with full turnover in about four to six weeks. Melanocytes and immune (Langerhans) cells live among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Skin color comes mainly from melanin, produced by melanocytes and packaged to shield keratinocyte DNA from UV radiation. People have similar numbers of melanocytes; color differences reflect how much melanin is made and how it is distributed. Albinism (no melanin) and vitiligo (patchy loss) are clinical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Hair grows from follicles rooted in the dermis; the visible shaft is dead keratinized cells while the living root sits in the bulb. The arrector pili muscle erects the hair, producing goosebumps. Hair protects, insulates slightly, and contributes to sensation.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Nails are tightly packed keratinized cells that protect the distal digits and aid fine manipulation. The lunula is the pale crescent and the cuticle seals the proximal edge. Nail color and shape — cyanosis, clubbing, and capillary refill — are quick clinical assessment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Eccrine sweat glands open onto the surface and cool the body through evaporation; apocrine glands in the axilla and groin activate at puberty. Sebaceous glands secrete sebum that lubricates and waterproofs skin and hair. Blockage and overactivity of these glands contribute to acne.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skin is central to temperature control. When the body is hot, dermal vessels dilate and sweat glands release fluid that evaporates and cools; when cold, vessels constrict to conserve core heat and muscles shiver. This homeostasis is what you assess with every temperature reading. The skin also provides protection, sensation, and vitamin D 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common skin cancers are basal cell (most common, least dangerous), squamous cell, and melanoma (most lethal). Teach the ABCDE rule for moles — Asymmetry, Border irregularity, Color variation, Diameter over 6 mm, and Evolving change. UV exposure is the major risk factor, so sun protection is key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Acne develops when a hair follicle is plugged with sebum and shed keratin, bacteria multiply, and inflammation follows. Severity ranges from blackheads and whiteheads to inflamed cysts. It is most common during adolescence and other times of hormonal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Burns are classified by depth — superficial (first degree), partial thickness (second), and full thickness (third) — and by the percent of body surface area affected. The rule of nines divides the body into regions of roughly nine percent to estimate extent, guiding fluid resuscitation and transfer decisions. Major burns disrupt the skin's barrier, temperature control, and fluid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5</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4400" b="1" dirty="0">
                <a:solidFill>
                  <a:srgbClr val="FFFFFF"/>
                </a:solidFill>
                <a:latin typeface="Georgia" pitchFamily="34" charset="0"/>
                <a:ea typeface="Georgia" pitchFamily="34" charset="-122"/>
                <a:cs typeface="Georgia" pitchFamily="34" charset="-120"/>
              </a:rPr>
              <a:t>The Integumentary System</a:t>
            </a:r>
            <a:endParaRPr lang="en-US" sz="4400" dirty="0"/>
          </a:p>
        </p:txBody>
      </p:sp>
      <p:sp>
        <p:nvSpPr>
          <p:cNvPr id="4" name="Text 2"/>
          <p:cNvSpPr/>
          <p:nvPr/>
        </p:nvSpPr>
        <p:spPr>
          <a:xfrm>
            <a:off x="749808" y="388620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The skin, its accessory structures, functions, and disorders.</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7735824" y="2798870"/>
            <a:ext cx="4096512" cy="1443140"/>
          </a:xfrm>
          <a:prstGeom prst="roundRect">
            <a:avLst>
              <a:gd name="adj" fmla="val 380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05/img/img01.jpg">    </p:cNvPr>
          <p:cNvPicPr>
            <a:picLocks noChangeAspect="1"/>
          </p:cNvPicPr>
          <p:nvPr/>
        </p:nvPicPr>
        <p:blipFill>
          <a:blip r:embed="rId1"/>
          <a:stretch>
            <a:fillRect/>
          </a:stretch>
        </p:blipFill>
        <p:spPr>
          <a:xfrm>
            <a:off x="7818120" y="2881166"/>
            <a:ext cx="3931920" cy="12785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integumentary system and the role it plays in homeostasis</a:t>
            </a:r>
            <a:endParaRPr lang="en-US" sz="1400" dirty="0"/>
          </a:p>
        </p:txBody>
      </p:sp>
      <p:sp>
        <p:nvSpPr>
          <p:cNvPr id="8" name="Shape 6"/>
          <p:cNvSpPr/>
          <p:nvPr/>
        </p:nvSpPr>
        <p:spPr>
          <a:xfrm>
            <a:off x="548640" y="2450592"/>
            <a:ext cx="384048" cy="384048"/>
          </a:xfrm>
          <a:prstGeom prst="ellipse">
            <a:avLst/>
          </a:prstGeom>
          <a:solidFill>
            <a:srgbClr val="0F4C5C"/>
          </a:solidFill>
          <a:ln/>
        </p:spPr>
      </p:sp>
      <p:sp>
        <p:nvSpPr>
          <p:cNvPr id="9" name="Text 7"/>
          <p:cNvSpPr/>
          <p:nvPr/>
        </p:nvSpPr>
        <p:spPr>
          <a:xfrm>
            <a:off x="548640" y="245059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32304"/>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layers of the skin and the functions of each layer</a:t>
            </a:r>
            <a:endParaRPr lang="en-US" sz="1400" dirty="0"/>
          </a:p>
        </p:txBody>
      </p:sp>
      <p:sp>
        <p:nvSpPr>
          <p:cNvPr id="11" name="Shape 9"/>
          <p:cNvSpPr/>
          <p:nvPr/>
        </p:nvSpPr>
        <p:spPr>
          <a:xfrm>
            <a:off x="548640" y="3236976"/>
            <a:ext cx="384048" cy="384048"/>
          </a:xfrm>
          <a:prstGeom prst="ellipse">
            <a:avLst/>
          </a:prstGeom>
          <a:solidFill>
            <a:srgbClr val="0F4C5C"/>
          </a:solidFill>
          <a:ln/>
        </p:spPr>
      </p:sp>
      <p:sp>
        <p:nvSpPr>
          <p:cNvPr id="12" name="Text 10"/>
          <p:cNvSpPr/>
          <p:nvPr/>
        </p:nvSpPr>
        <p:spPr>
          <a:xfrm>
            <a:off x="548640" y="323697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218688"/>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accessory structures of the skin and the functions of each</a:t>
            </a:r>
            <a:endParaRPr lang="en-US" sz="1400" dirty="0"/>
          </a:p>
        </p:txBody>
      </p:sp>
      <p:sp>
        <p:nvSpPr>
          <p:cNvPr id="14" name="Shape 12"/>
          <p:cNvSpPr/>
          <p:nvPr/>
        </p:nvSpPr>
        <p:spPr>
          <a:xfrm>
            <a:off x="548640" y="4023360"/>
            <a:ext cx="384048" cy="384048"/>
          </a:xfrm>
          <a:prstGeom prst="ellipse">
            <a:avLst/>
          </a:prstGeom>
          <a:solidFill>
            <a:srgbClr val="0F4C5C"/>
          </a:solidFill>
          <a:ln/>
        </p:spPr>
      </p:sp>
      <p:sp>
        <p:nvSpPr>
          <p:cNvPr id="15" name="Text 13"/>
          <p:cNvSpPr/>
          <p:nvPr/>
        </p:nvSpPr>
        <p:spPr>
          <a:xfrm>
            <a:off x="548640" y="402336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005072"/>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Describe the changes that occur in the integumentary system during the aging process</a:t>
            </a:r>
            <a:endParaRPr lang="en-US" sz="1400" dirty="0"/>
          </a:p>
        </p:txBody>
      </p:sp>
      <p:sp>
        <p:nvSpPr>
          <p:cNvPr id="17" name="Shape 15"/>
          <p:cNvSpPr/>
          <p:nvPr/>
        </p:nvSpPr>
        <p:spPr>
          <a:xfrm>
            <a:off x="548640" y="4809744"/>
            <a:ext cx="384048" cy="384048"/>
          </a:xfrm>
          <a:prstGeom prst="ellipse">
            <a:avLst/>
          </a:prstGeom>
          <a:solidFill>
            <a:srgbClr val="0F4C5C"/>
          </a:solidFill>
          <a:ln/>
        </p:spPr>
      </p:sp>
      <p:sp>
        <p:nvSpPr>
          <p:cNvPr id="18" name="Text 16"/>
          <p:cNvSpPr/>
          <p:nvPr/>
        </p:nvSpPr>
        <p:spPr>
          <a:xfrm>
            <a:off x="548640" y="480974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4791456"/>
            <a:ext cx="5943600" cy="786384"/>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Discuss several common diseases, disorders, and injuries that affect the integumentary system</a:t>
            </a:r>
            <a:endParaRPr lang="en-US" sz="1400" dirty="0"/>
          </a:p>
        </p:txBody>
      </p:sp>
      <p:sp>
        <p:nvSpPr>
          <p:cNvPr id="20" name="Shape 18"/>
          <p:cNvSpPr/>
          <p:nvPr/>
        </p:nvSpPr>
        <p:spPr>
          <a:xfrm>
            <a:off x="7415784" y="2001017"/>
            <a:ext cx="4370832" cy="3459469"/>
          </a:xfrm>
          <a:prstGeom prst="roundRect">
            <a:avLst>
              <a:gd name="adj" fmla="val 1586"/>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05/img/img02.jpg">    </p:cNvPr>
          <p:cNvPicPr>
            <a:picLocks noChangeAspect="1"/>
          </p:cNvPicPr>
          <p:nvPr/>
        </p:nvPicPr>
        <p:blipFill>
          <a:blip r:embed="rId1"/>
          <a:stretch>
            <a:fillRect/>
          </a:stretch>
        </p:blipFill>
        <p:spPr>
          <a:xfrm>
            <a:off x="7498080" y="2083313"/>
            <a:ext cx="4206240" cy="3294877"/>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skin — the body's largest organ.</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5.1</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Layers of the Skin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epidermis, dermis, and hypodermis — the layered structure of the skin.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Structure of the Skin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Three layers: epidermis, dermis, hypodermis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Epidermis is avascular epithelium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Dermis holds vessels, nerves, glands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Hypodermis stores fat and anchors skin</a:t>
            </a:r>
            <a:endParaRPr lang="en-US" sz="1500" dirty="0"/>
          </a:p>
        </p:txBody>
      </p:sp>
      <p:sp>
        <p:nvSpPr>
          <p:cNvPr id="5" name="Shape 3"/>
          <p:cNvSpPr/>
          <p:nvPr/>
        </p:nvSpPr>
        <p:spPr>
          <a:xfrm>
            <a:off x="5653123" y="1335024"/>
            <a:ext cx="5884475"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5/img/img02.jpg">    </p:cNvPr>
          <p:cNvPicPr>
            <a:picLocks noChangeAspect="1"/>
          </p:cNvPicPr>
          <p:nvPr/>
        </p:nvPicPr>
        <p:blipFill>
          <a:blip r:embed="rId1"/>
          <a:stretch>
            <a:fillRect/>
          </a:stretch>
        </p:blipFill>
        <p:spPr>
          <a:xfrm>
            <a:off x="5735419" y="1417320"/>
            <a:ext cx="5719883"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layers of the skin and underlying tissue</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Layers of the Epidermis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Up to five layers in thick skin</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Stratum basale up to stratum corneum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Keratinocytes fill with keratin and shed</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Melanocytes and immune cells reside here</a:t>
            </a:r>
            <a:endParaRPr lang="en-US" sz="1500" dirty="0"/>
          </a:p>
        </p:txBody>
      </p:sp>
      <p:sp>
        <p:nvSpPr>
          <p:cNvPr id="5" name="Shape 3"/>
          <p:cNvSpPr/>
          <p:nvPr/>
        </p:nvSpPr>
        <p:spPr>
          <a:xfrm>
            <a:off x="5680006" y="1335024"/>
            <a:ext cx="5830708"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5/img/img04.jpg">    </p:cNvPr>
          <p:cNvPicPr>
            <a:picLocks noChangeAspect="1"/>
          </p:cNvPicPr>
          <p:nvPr/>
        </p:nvPicPr>
        <p:blipFill>
          <a:blip r:embed="rId1"/>
          <a:stretch>
            <a:fillRect/>
          </a:stretch>
        </p:blipFill>
        <p:spPr>
          <a:xfrm>
            <a:off x="5762302" y="1417320"/>
            <a:ext cx="5666116"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strata of the epidermis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Skin Pigmentation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Melanin determines skin color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Made by melanocytes in the basale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Protects DNA from UV damage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Everyone has similar melanocyte numbers</a:t>
            </a:r>
            <a:endParaRPr lang="en-US" sz="1500" dirty="0"/>
          </a:p>
        </p:txBody>
      </p:sp>
      <p:sp>
        <p:nvSpPr>
          <p:cNvPr id="5" name="Shape 3"/>
          <p:cNvSpPr/>
          <p:nvPr/>
        </p:nvSpPr>
        <p:spPr>
          <a:xfrm>
            <a:off x="5673957" y="1335024"/>
            <a:ext cx="5842806"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5/img/img07.jpg">    </p:cNvPr>
          <p:cNvPicPr>
            <a:picLocks noChangeAspect="1"/>
          </p:cNvPicPr>
          <p:nvPr/>
        </p:nvPicPr>
        <p:blipFill>
          <a:blip r:embed="rId1"/>
          <a:stretch>
            <a:fillRect/>
          </a:stretch>
        </p:blipFill>
        <p:spPr>
          <a:xfrm>
            <a:off x="5756253" y="1417320"/>
            <a:ext cx="5678214"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Melanin production and skin color</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5.2</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Accessory Structures of the Skin</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Hair, nails, and glands — the structures that arise from the skin.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Hair and the Hair Follicle</a:t>
            </a:r>
            <a:endParaRPr lang="en-US" sz="2800" dirty="0"/>
          </a:p>
        </p:txBody>
      </p:sp>
      <p:sp>
        <p:nvSpPr>
          <p:cNvPr id="4" name="Shape 2"/>
          <p:cNvSpPr/>
          <p:nvPr/>
        </p:nvSpPr>
        <p:spPr>
          <a:xfrm>
            <a:off x="695401" y="1289304"/>
            <a:ext cx="3912718" cy="4736592"/>
          </a:xfrm>
          <a:prstGeom prst="roundRect">
            <a:avLst>
              <a:gd name="adj" fmla="val 1402"/>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5/img/img10.jpg">    </p:cNvPr>
          <p:cNvPicPr>
            <a:picLocks noChangeAspect="1"/>
          </p:cNvPicPr>
          <p:nvPr/>
        </p:nvPicPr>
        <p:blipFill>
          <a:blip r:embed="rId1"/>
          <a:stretch>
            <a:fillRect/>
          </a:stretch>
        </p:blipFill>
        <p:spPr>
          <a:xfrm>
            <a:off x="777697" y="1371600"/>
            <a:ext cx="374812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Structure of a hair and its follicle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Hair grows from follicles in the dermis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Shaft is visible; root is embedded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Arrector pili muscle causes goosebumps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Provides protection and sensation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Nails</a:t>
            </a:r>
            <a:endParaRPr lang="en-US" sz="2800" dirty="0"/>
          </a:p>
        </p:txBody>
      </p:sp>
      <p:sp>
        <p:nvSpPr>
          <p:cNvPr id="4" name="Shape 2"/>
          <p:cNvSpPr/>
          <p:nvPr/>
        </p:nvSpPr>
        <p:spPr>
          <a:xfrm>
            <a:off x="1086650" y="1289304"/>
            <a:ext cx="10033940"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5/img/img11.jpg">    </p:cNvPr>
          <p:cNvPicPr>
            <a:picLocks noChangeAspect="1"/>
          </p:cNvPicPr>
          <p:nvPr/>
        </p:nvPicPr>
        <p:blipFill>
          <a:blip r:embed="rId1"/>
          <a:stretch>
            <a:fillRect/>
          </a:stretch>
        </p:blipFill>
        <p:spPr>
          <a:xfrm>
            <a:off x="1168946" y="1371600"/>
            <a:ext cx="9869348"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Structure of a nail</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Keratinized plates over the digits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Protect fingertips and toes</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Nail bed, lunula, and cuticle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Useful in clinical assessment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Glands of the Skin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Eccrine sweat glands cool the body</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Sweat evaporates to lose heat</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Sebaceous glands secrete oily sebum</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Sebum lubricates skin and hair</a:t>
            </a:r>
            <a:endParaRPr lang="en-US" sz="1500" dirty="0"/>
          </a:p>
        </p:txBody>
      </p:sp>
      <p:sp>
        <p:nvSpPr>
          <p:cNvPr id="5" name="Shape 3"/>
          <p:cNvSpPr/>
          <p:nvPr/>
        </p:nvSpPr>
        <p:spPr>
          <a:xfrm>
            <a:off x="6186309" y="1335024"/>
            <a:ext cx="4818102"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5/img/img12.jpg">    </p:cNvPr>
          <p:cNvPicPr>
            <a:picLocks noChangeAspect="1"/>
          </p:cNvPicPr>
          <p:nvPr/>
        </p:nvPicPr>
        <p:blipFill>
          <a:blip r:embed="rId1"/>
          <a:stretch>
            <a:fillRect/>
          </a:stretch>
        </p:blipFill>
        <p:spPr>
          <a:xfrm>
            <a:off x="6268605" y="1417320"/>
            <a:ext cx="4653510"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Sweat and sebaceous glands of the skin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5.3</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Functions of the Integumentary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Protection, sensation, thermoregulation, and vitamin D — what the skin does.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Thermoregulation</a:t>
            </a:r>
            <a:endParaRPr lang="en-US" sz="2800" dirty="0"/>
          </a:p>
        </p:txBody>
      </p:sp>
      <p:sp>
        <p:nvSpPr>
          <p:cNvPr id="4" name="Shape 2"/>
          <p:cNvSpPr/>
          <p:nvPr/>
        </p:nvSpPr>
        <p:spPr>
          <a:xfrm>
            <a:off x="1989602" y="1289304"/>
            <a:ext cx="8228036"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5/img/img14.jpg">    </p:cNvPr>
          <p:cNvPicPr>
            <a:picLocks noChangeAspect="1"/>
          </p:cNvPicPr>
          <p:nvPr/>
        </p:nvPicPr>
        <p:blipFill>
          <a:blip r:embed="rId1"/>
          <a:stretch>
            <a:fillRect/>
          </a:stretch>
        </p:blipFill>
        <p:spPr>
          <a:xfrm>
            <a:off x="2071898" y="1371600"/>
            <a:ext cx="8063444"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skin's role in thermoregulation</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skin helps control body temperature</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Sweating and evaporation cool the body</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Vasodilation releases heat</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Vasoconstriction conserves heat</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5.4</a:t>
            </a:r>
            <a:endParaRPr lang="en-US" sz="48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3000" b="1" dirty="0">
                <a:solidFill>
                  <a:srgbClr val="FFFFFF"/>
                </a:solidFill>
                <a:latin typeface="Georgia" pitchFamily="34" charset="0"/>
                <a:ea typeface="Georgia" pitchFamily="34" charset="-122"/>
                <a:cs typeface="Georgia" pitchFamily="34" charset="-120"/>
              </a:rPr>
              <a:t>Diseases, Disorders, and Injuries of the Integumentary System</a:t>
            </a:r>
            <a:endParaRPr lang="en-US" sz="3000" dirty="0"/>
          </a:p>
        </p:txBody>
      </p:sp>
      <p:sp>
        <p:nvSpPr>
          <p:cNvPr id="6" name="Text 4"/>
          <p:cNvSpPr/>
          <p:nvPr/>
        </p:nvSpPr>
        <p:spPr>
          <a:xfrm>
            <a:off x="3200400" y="416052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Burns, skin cancer, acne, and other disorders of the skin.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Skin Cancer &amp; the ABCDE Rule</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Three main types of skin cancer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Basal cell, squamous cell, melanoma</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Melanoma is the most dangerous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Watch moles for ABCDE changes</a:t>
            </a:r>
            <a:endParaRPr lang="en-US" sz="1500" dirty="0"/>
          </a:p>
        </p:txBody>
      </p:sp>
      <p:sp>
        <p:nvSpPr>
          <p:cNvPr id="5" name="Shape 3"/>
          <p:cNvSpPr/>
          <p:nvPr/>
        </p:nvSpPr>
        <p:spPr>
          <a:xfrm>
            <a:off x="6167043" y="1335024"/>
            <a:ext cx="4856634"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05/img/img08.jpg">    </p:cNvPr>
          <p:cNvPicPr>
            <a:picLocks noChangeAspect="1"/>
          </p:cNvPicPr>
          <p:nvPr/>
        </p:nvPicPr>
        <p:blipFill>
          <a:blip r:embed="rId1"/>
          <a:stretch>
            <a:fillRect/>
          </a:stretch>
        </p:blipFill>
        <p:spPr>
          <a:xfrm>
            <a:off x="6249339" y="1417320"/>
            <a:ext cx="4692042"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Moles and the ABCDE signs of melanoma</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Acne</a:t>
            </a:r>
            <a:endParaRPr lang="en-US" sz="2800" dirty="0"/>
          </a:p>
        </p:txBody>
      </p:sp>
      <p:sp>
        <p:nvSpPr>
          <p:cNvPr id="4" name="Shape 2"/>
          <p:cNvSpPr/>
          <p:nvPr/>
        </p:nvSpPr>
        <p:spPr>
          <a:xfrm>
            <a:off x="2742953" y="1289304"/>
            <a:ext cx="672133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5/img/img20.jpg">    </p:cNvPr>
          <p:cNvPicPr>
            <a:picLocks noChangeAspect="1"/>
          </p:cNvPicPr>
          <p:nvPr/>
        </p:nvPicPr>
        <p:blipFill>
          <a:blip r:embed="rId1"/>
          <a:stretch>
            <a:fillRect/>
          </a:stretch>
        </p:blipFill>
        <p:spPr>
          <a:xfrm>
            <a:off x="2825249" y="1371600"/>
            <a:ext cx="655674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development of acne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 follicle becomes plugged with sebum</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Bacteria multiply and inflame it</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Ranges from comedones to cysts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Common during hormonal changes</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5.4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Burns and the Rule of Nines</a:t>
            </a:r>
            <a:endParaRPr lang="en-US" sz="2800" dirty="0"/>
          </a:p>
        </p:txBody>
      </p:sp>
      <p:sp>
        <p:nvSpPr>
          <p:cNvPr id="4" name="Shape 2"/>
          <p:cNvSpPr/>
          <p:nvPr/>
        </p:nvSpPr>
        <p:spPr>
          <a:xfrm>
            <a:off x="529666" y="1289304"/>
            <a:ext cx="4244188" cy="4736592"/>
          </a:xfrm>
          <a:prstGeom prst="roundRect">
            <a:avLst>
              <a:gd name="adj" fmla="val 1293"/>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05/img/img21.jpg">    </p:cNvPr>
          <p:cNvPicPr>
            <a:picLocks noChangeAspect="1"/>
          </p:cNvPicPr>
          <p:nvPr/>
        </p:nvPicPr>
        <p:blipFill>
          <a:blip r:embed="rId1"/>
          <a:stretch>
            <a:fillRect/>
          </a:stretch>
        </p:blipFill>
        <p:spPr>
          <a:xfrm>
            <a:off x="611962" y="1371600"/>
            <a:ext cx="4079596"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rule of nines for estimating burn area</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Classified by depth and extent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Superficial, partial, and full thickness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Rule of nines estimates body area</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Guides fluid resuscitation</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skin has three layers — epidermis, dermis, and hypodermis — and is the body's largest organ.</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Keratinocytes and melanin give the epidermis its protection and color.</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Hair, nails, and glands are accessory structures that arise from the skin.</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The skin protects, senses, makes vitamin D, and regulates temperature.</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Burns, skin cancers, and infections are common, clinically important disorders.</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5 — The Integumentary System</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the Skin Matters in Practical Nursing</a:t>
            </a:r>
            <a:endParaRPr lang="en-US" sz="2600" dirty="0"/>
          </a:p>
        </p:txBody>
      </p:sp>
      <p:sp>
        <p:nvSpPr>
          <p:cNvPr id="4" name="Shape 2"/>
          <p:cNvSpPr/>
          <p:nvPr/>
        </p:nvSpPr>
        <p:spPr>
          <a:xfrm>
            <a:off x="548640" y="1691640"/>
            <a:ext cx="5440680" cy="1417320"/>
          </a:xfrm>
          <a:prstGeom prst="roundRect">
            <a:avLst>
              <a:gd name="adj" fmla="val 5161"/>
            </a:avLst>
          </a:prstGeom>
          <a:solidFill>
            <a:srgbClr val="13586A"/>
          </a:solidFill>
          <a:ln w="12700">
            <a:solidFill>
              <a:srgbClr val="2A7A8C"/>
            </a:solidFill>
            <a:prstDash val="solid"/>
          </a:ln>
        </p:spPr>
      </p:sp>
      <p:sp>
        <p:nvSpPr>
          <p:cNvPr id="5" name="Text 3"/>
          <p:cNvSpPr/>
          <p:nvPr/>
        </p:nvSpPr>
        <p:spPr>
          <a:xfrm>
            <a:off x="77724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Skin Assessment</a:t>
            </a:r>
            <a:endParaRPr lang="en-US" sz="1600" dirty="0"/>
          </a:p>
        </p:txBody>
      </p:sp>
      <p:sp>
        <p:nvSpPr>
          <p:cNvPr id="6" name="Text 4"/>
          <p:cNvSpPr/>
          <p:nvPr/>
        </p:nvSpPr>
        <p:spPr>
          <a:xfrm>
            <a:off x="77724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Color, temperature, turgor, and lesions reveal a patient's overall status.</a:t>
            </a:r>
            <a:endParaRPr lang="en-US" sz="1250" dirty="0"/>
          </a:p>
        </p:txBody>
      </p:sp>
      <p:sp>
        <p:nvSpPr>
          <p:cNvPr id="7" name="Shape 5"/>
          <p:cNvSpPr/>
          <p:nvPr/>
        </p:nvSpPr>
        <p:spPr>
          <a:xfrm>
            <a:off x="6172200" y="1691640"/>
            <a:ext cx="5440680" cy="1417320"/>
          </a:xfrm>
          <a:prstGeom prst="roundRect">
            <a:avLst>
              <a:gd name="adj" fmla="val 5161"/>
            </a:avLst>
          </a:prstGeom>
          <a:solidFill>
            <a:srgbClr val="13586A"/>
          </a:solidFill>
          <a:ln w="12700">
            <a:solidFill>
              <a:srgbClr val="2A7A8C"/>
            </a:solidFill>
            <a:prstDash val="solid"/>
          </a:ln>
        </p:spPr>
      </p:sp>
      <p:sp>
        <p:nvSpPr>
          <p:cNvPr id="8" name="Text 6"/>
          <p:cNvSpPr/>
          <p:nvPr/>
        </p:nvSpPr>
        <p:spPr>
          <a:xfrm>
            <a:off x="6400800" y="18196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Pressure Injuries</a:t>
            </a:r>
            <a:endParaRPr lang="en-US" sz="1600" dirty="0"/>
          </a:p>
        </p:txBody>
      </p:sp>
      <p:sp>
        <p:nvSpPr>
          <p:cNvPr id="9" name="Text 7"/>
          <p:cNvSpPr/>
          <p:nvPr/>
        </p:nvSpPr>
        <p:spPr>
          <a:xfrm>
            <a:off x="6400800" y="21945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Prolonged pressure breaks down skin — prevention is vital in immobile patients.</a:t>
            </a:r>
            <a:endParaRPr lang="en-US" sz="1250" dirty="0"/>
          </a:p>
        </p:txBody>
      </p:sp>
      <p:sp>
        <p:nvSpPr>
          <p:cNvPr id="10" name="Shape 8"/>
          <p:cNvSpPr/>
          <p:nvPr/>
        </p:nvSpPr>
        <p:spPr>
          <a:xfrm>
            <a:off x="548640" y="3264408"/>
            <a:ext cx="5440680" cy="1417320"/>
          </a:xfrm>
          <a:prstGeom prst="roundRect">
            <a:avLst>
              <a:gd name="adj" fmla="val 5161"/>
            </a:avLst>
          </a:prstGeom>
          <a:solidFill>
            <a:srgbClr val="13586A"/>
          </a:solidFill>
          <a:ln w="12700">
            <a:solidFill>
              <a:srgbClr val="2A7A8C"/>
            </a:solidFill>
            <a:prstDash val="solid"/>
          </a:ln>
        </p:spPr>
      </p:sp>
      <p:sp>
        <p:nvSpPr>
          <p:cNvPr id="11" name="Text 9"/>
          <p:cNvSpPr/>
          <p:nvPr/>
        </p:nvSpPr>
        <p:spPr>
          <a:xfrm>
            <a:off x="77724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Burn Care</a:t>
            </a:r>
            <a:endParaRPr lang="en-US" sz="1600" dirty="0"/>
          </a:p>
        </p:txBody>
      </p:sp>
      <p:sp>
        <p:nvSpPr>
          <p:cNvPr id="12" name="Text 10"/>
          <p:cNvSpPr/>
          <p:nvPr/>
        </p:nvSpPr>
        <p:spPr>
          <a:xfrm>
            <a:off x="77724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Depth and the rule of nines guide fluid resuscitation and treatment.</a:t>
            </a:r>
            <a:endParaRPr lang="en-US" sz="1250" dirty="0"/>
          </a:p>
        </p:txBody>
      </p:sp>
      <p:sp>
        <p:nvSpPr>
          <p:cNvPr id="13" name="Shape 11"/>
          <p:cNvSpPr/>
          <p:nvPr/>
        </p:nvSpPr>
        <p:spPr>
          <a:xfrm>
            <a:off x="6172200" y="3264408"/>
            <a:ext cx="5440680" cy="1417320"/>
          </a:xfrm>
          <a:prstGeom prst="roundRect">
            <a:avLst>
              <a:gd name="adj" fmla="val 5161"/>
            </a:avLst>
          </a:prstGeom>
          <a:solidFill>
            <a:srgbClr val="13586A"/>
          </a:solidFill>
          <a:ln w="12700">
            <a:solidFill>
              <a:srgbClr val="2A7A8C"/>
            </a:solidFill>
            <a:prstDash val="solid"/>
          </a:ln>
        </p:spPr>
      </p:sp>
      <p:sp>
        <p:nvSpPr>
          <p:cNvPr id="14" name="Text 12"/>
          <p:cNvSpPr/>
          <p:nvPr/>
        </p:nvSpPr>
        <p:spPr>
          <a:xfrm>
            <a:off x="6400800" y="3392424"/>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Infection Barrier</a:t>
            </a:r>
            <a:endParaRPr lang="en-US" sz="1600" dirty="0"/>
          </a:p>
        </p:txBody>
      </p:sp>
      <p:sp>
        <p:nvSpPr>
          <p:cNvPr id="15" name="Text 13"/>
          <p:cNvSpPr/>
          <p:nvPr/>
        </p:nvSpPr>
        <p:spPr>
          <a:xfrm>
            <a:off x="6400800" y="3767328"/>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Intact skin is the body's first defense against pathogens.</a:t>
            </a:r>
            <a:endParaRPr lang="en-US" sz="1250" dirty="0"/>
          </a:p>
        </p:txBody>
      </p:sp>
      <p:sp>
        <p:nvSpPr>
          <p:cNvPr id="16" name="Shape 14"/>
          <p:cNvSpPr/>
          <p:nvPr/>
        </p:nvSpPr>
        <p:spPr>
          <a:xfrm>
            <a:off x="548640" y="4837176"/>
            <a:ext cx="5440680" cy="1417320"/>
          </a:xfrm>
          <a:prstGeom prst="roundRect">
            <a:avLst>
              <a:gd name="adj" fmla="val 5161"/>
            </a:avLst>
          </a:prstGeom>
          <a:solidFill>
            <a:srgbClr val="13586A"/>
          </a:solidFill>
          <a:ln w="12700">
            <a:solidFill>
              <a:srgbClr val="2A7A8C"/>
            </a:solidFill>
            <a:prstDash val="solid"/>
          </a:ln>
        </p:spPr>
      </p:sp>
      <p:sp>
        <p:nvSpPr>
          <p:cNvPr id="17" name="Text 15"/>
          <p:cNvSpPr/>
          <p:nvPr/>
        </p:nvSpPr>
        <p:spPr>
          <a:xfrm>
            <a:off x="77724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Skin Cancer</a:t>
            </a:r>
            <a:endParaRPr lang="en-US" sz="1600" dirty="0"/>
          </a:p>
        </p:txBody>
      </p:sp>
      <p:sp>
        <p:nvSpPr>
          <p:cNvPr id="18" name="Text 16"/>
          <p:cNvSpPr/>
          <p:nvPr/>
        </p:nvSpPr>
        <p:spPr>
          <a:xfrm>
            <a:off x="77724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Teach the ABCDE rule and the importance of sun protection.</a:t>
            </a:r>
            <a:endParaRPr lang="en-US" sz="1250" dirty="0"/>
          </a:p>
        </p:txBody>
      </p:sp>
      <p:sp>
        <p:nvSpPr>
          <p:cNvPr id="19" name="Shape 17"/>
          <p:cNvSpPr/>
          <p:nvPr/>
        </p:nvSpPr>
        <p:spPr>
          <a:xfrm>
            <a:off x="6172200" y="4837176"/>
            <a:ext cx="5440680" cy="1417320"/>
          </a:xfrm>
          <a:prstGeom prst="roundRect">
            <a:avLst>
              <a:gd name="adj" fmla="val 5161"/>
            </a:avLst>
          </a:prstGeom>
          <a:solidFill>
            <a:srgbClr val="13586A"/>
          </a:solidFill>
          <a:ln w="12700">
            <a:solidFill>
              <a:srgbClr val="2A7A8C"/>
            </a:solidFill>
            <a:prstDash val="solid"/>
          </a:ln>
        </p:spPr>
      </p:sp>
      <p:sp>
        <p:nvSpPr>
          <p:cNvPr id="20" name="Text 18"/>
          <p:cNvSpPr/>
          <p:nvPr/>
        </p:nvSpPr>
        <p:spPr>
          <a:xfrm>
            <a:off x="6400800" y="4965192"/>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Thermoregulation</a:t>
            </a:r>
            <a:endParaRPr lang="en-US" sz="1600" dirty="0"/>
          </a:p>
        </p:txBody>
      </p:sp>
      <p:sp>
        <p:nvSpPr>
          <p:cNvPr id="21" name="Text 19"/>
          <p:cNvSpPr/>
          <p:nvPr/>
        </p:nvSpPr>
        <p:spPr>
          <a:xfrm>
            <a:off x="6400800" y="5340096"/>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Sweating and skin blood flow help control body temperature.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2026-06-23T20:13:17Z</dcterms:created>
  <dcterms:modified xsi:type="dcterms:W3CDTF">2026-06-23T20:13:17Z</dcterms:modified>
</cp:coreProperties>
</file>