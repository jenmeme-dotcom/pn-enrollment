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autonomic nervous system: its sympathetic ("fight-or-flight") and parasympathetic ("rest-and-digest") divisions, how autonomic reflexes maintain homeostasis, how the hypothalamus and brainstem control it, and how drugs target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sympathetic division mobilizes the body for stress or activity — the "fight-or-flight" response. It speeds the heart, dilates airways and pupils, and shifts blood to muscles while pausing digestion. Its neurons exit the thoracic and lumbar spinal cord and use ganglia near the 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parasympathetic division handles "rest-and-digest" functions, conserving energy: it slows the heart, promotes digestion, and constricts the pupils. Its neurons emerge from the brainstem (notably the vagus nerve) and the sacral cord, with ganglia near the target organs.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Autonomic signals pass through a two-neuron chain. All preganglionic neurons release acetylcholine; parasympathetic postganglionic neurons also use acetylcholine, while most sympathetic ones release norepinephrine. The receptor type on the target (muscarinic, nicotinic, alpha, beta) decides the response — and is the target of many medications.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organs receive both sympathetic and parasympathetic input, which generally act in opposition — one speeds the heart, the other slows it. The balance between them continuously adjusts organ activity to meet the body's needs, maintaining homeostasis without conscious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Autonomic reflexes regulate internal functions automatically. Sensory signals reach the CNS (long reflexes) or local ganglia (short reflexes), triggering autonomic motor output to organs. Examples include the baroreceptor reflex that adjusts blood pressure and reflexes controlling digestion and bladder emptying.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hypothalamus is the master regulator of the autonomic system, coordinating it with the endocrine system to control temperature, hunger, and the stress response. Brainstem centers run vital reflexes (heart rate, blood pressure, breathing), and connections to the limbic system link emotion to autonomic responses like blushing or a racing heart.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autonomic system controls so many organs, it is a major drug target. Agonists mimic and antagonists block its neurotransmitters. For example, beta-blockers slow the heart and lower blood pressure, while drugs acting on the vagus or its receptors alter heart rate — central to cardiac and many other therapies.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pupil clearly shows autonomic drug effects. Sympathetic stimulation, or blocking parasympathetic input (as with atropine), dilates the pupil — mydriasis; parasympathetic stimulation constricts it — miosis. Clinicians use such drops in eye exams, and pupil size is a useful diagnostic and assessment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15</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Autonomic Nervous System</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Involuntary control of the body's organs and internal balance.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7732"/>
            <a:ext cx="4096512" cy="1965416"/>
          </a:xfrm>
          <a:prstGeom prst="roundRect">
            <a:avLst>
              <a:gd name="adj" fmla="val 279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5/img/img01.jpg">    </p:cNvPr>
          <p:cNvPicPr>
            <a:picLocks noChangeAspect="1"/>
          </p:cNvPicPr>
          <p:nvPr/>
        </p:nvPicPr>
        <p:blipFill>
          <a:blip r:embed="rId1"/>
          <a:stretch>
            <a:fillRect/>
          </a:stretch>
        </p:blipFill>
        <p:spPr>
          <a:xfrm>
            <a:off x="7818120" y="2620028"/>
            <a:ext cx="3931920" cy="1800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components of the autonomic nervous system</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Differentiate between the structures of the sympathetic and parasympathetic divisions in the autonomic nervous system</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Name the components of a visceral reflex specific to the autonomic division to which it belongs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Predict the response of a target effector to autonomic input on the basis of the released signaling molecule</a:t>
            </a:r>
            <a:endParaRPr lang="en-US" sz="1400" dirty="0"/>
          </a:p>
        </p:txBody>
      </p:sp>
      <p:sp>
        <p:nvSpPr>
          <p:cNvPr id="17" name="Shape 15"/>
          <p:cNvSpPr/>
          <p:nvPr/>
        </p:nvSpPr>
        <p:spPr>
          <a:xfrm>
            <a:off x="8091516" y="1545336"/>
            <a:ext cx="3019367" cy="4370832"/>
          </a:xfrm>
          <a:prstGeom prst="roundRect">
            <a:avLst>
              <a:gd name="adj" fmla="val 181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18" name="Image 0" descr="/home/claude/all/ch15/img/img02.jpg">    </p:cNvPr>
          <p:cNvPicPr>
            <a:picLocks noChangeAspect="1"/>
          </p:cNvPicPr>
          <p:nvPr/>
        </p:nvPicPr>
        <p:blipFill>
          <a:blip r:embed="rId1"/>
          <a:stretch>
            <a:fillRect/>
          </a:stretch>
        </p:blipFill>
        <p:spPr>
          <a:xfrm>
            <a:off x="8173812" y="1627632"/>
            <a:ext cx="2854775" cy="4206240"/>
          </a:xfrm>
          <a:prstGeom prst="rect">
            <a:avLst/>
          </a:prstGeom>
        </p:spPr>
      </p:pic>
      <p:sp>
        <p:nvSpPr>
          <p:cNvPr id="19" name="Text 16"/>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autonomic nervous system: involuntary control.</a:t>
            </a:r>
            <a:endParaRPr lang="en-US" sz="1100" dirty="0"/>
          </a:p>
        </p:txBody>
      </p:sp>
      <p:sp>
        <p:nvSpPr>
          <p:cNvPr id="21" name="Text 17"/>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22" name="Text 18"/>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15.1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Divisions of the Autonomic Nervous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sympathetic and parasympathetic divisions of the autonomic system.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Sympathetic Division</a:t>
            </a:r>
            <a:endParaRPr lang="en-US" sz="2800" dirty="0"/>
          </a:p>
        </p:txBody>
      </p:sp>
      <p:sp>
        <p:nvSpPr>
          <p:cNvPr id="4" name="Shape 2"/>
          <p:cNvSpPr/>
          <p:nvPr/>
        </p:nvSpPr>
        <p:spPr>
          <a:xfrm>
            <a:off x="1017956" y="1289304"/>
            <a:ext cx="3267608" cy="4736592"/>
          </a:xfrm>
          <a:prstGeom prst="roundRect">
            <a:avLst>
              <a:gd name="adj" fmla="val 167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5/img/img02.jpg">    </p:cNvPr>
          <p:cNvPicPr>
            <a:picLocks noChangeAspect="1"/>
          </p:cNvPicPr>
          <p:nvPr/>
        </p:nvPicPr>
        <p:blipFill>
          <a:blip r:embed="rId1"/>
          <a:stretch>
            <a:fillRect/>
          </a:stretch>
        </p:blipFill>
        <p:spPr>
          <a:xfrm>
            <a:off x="1100252" y="1371600"/>
            <a:ext cx="310301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sympathetic division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"fight-or-flight" system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Prepares the body for action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Raises heart rate and breathing</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Arises from the thoracolumbar cord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Parasympathetic Division</a:t>
            </a:r>
            <a:endParaRPr lang="en-US" sz="2800" dirty="0"/>
          </a:p>
        </p:txBody>
      </p:sp>
      <p:sp>
        <p:nvSpPr>
          <p:cNvPr id="4" name="Shape 2"/>
          <p:cNvSpPr/>
          <p:nvPr/>
        </p:nvSpPr>
        <p:spPr>
          <a:xfrm>
            <a:off x="1083564" y="1289304"/>
            <a:ext cx="3136392" cy="4736592"/>
          </a:xfrm>
          <a:prstGeom prst="roundRect">
            <a:avLst>
              <a:gd name="adj" fmla="val 174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5/img/img04.jpg">    </p:cNvPr>
          <p:cNvPicPr>
            <a:picLocks noChangeAspect="1"/>
          </p:cNvPicPr>
          <p:nvPr/>
        </p:nvPicPr>
        <p:blipFill>
          <a:blip r:embed="rId1"/>
          <a:stretch>
            <a:fillRect/>
          </a:stretch>
        </p:blipFill>
        <p:spPr>
          <a:xfrm>
            <a:off x="1165860" y="1371600"/>
            <a:ext cx="297180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parasympathetic division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"rest-and-digest" system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Conserves energy at rest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Slows the heart, aids digestion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Arises from cranial and sacral regions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Autonomic Neurotransmitters</a:t>
            </a:r>
            <a:endParaRPr lang="en-US" sz="2800" dirty="0"/>
          </a:p>
        </p:txBody>
      </p:sp>
      <p:sp>
        <p:nvSpPr>
          <p:cNvPr id="4" name="Shape 2"/>
          <p:cNvSpPr/>
          <p:nvPr/>
        </p:nvSpPr>
        <p:spPr>
          <a:xfrm>
            <a:off x="1861755" y="1289304"/>
            <a:ext cx="848373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5/img/img05.jpg">    </p:cNvPr>
          <p:cNvPicPr>
            <a:picLocks noChangeAspect="1"/>
          </p:cNvPicPr>
          <p:nvPr/>
        </p:nvPicPr>
        <p:blipFill>
          <a:blip r:embed="rId1"/>
          <a:stretch>
            <a:fillRect/>
          </a:stretch>
        </p:blipFill>
        <p:spPr>
          <a:xfrm>
            <a:off x="1944051" y="1371600"/>
            <a:ext cx="831913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Neurotransmitters of the autonomic system</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two-neuron pathway to the target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Acetylcholine and norepinephrine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Receptor type determines the effect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basis of many drug actions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15.2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Autonomic Reflexes and Homeostasis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autonomic reflexes keep internal conditions stable.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Dual Innervation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Most organs get both divisions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two usually oppose each other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Balance fine-tunes organ activity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Maintains homeostasis</a:t>
            </a:r>
            <a:endParaRPr lang="en-US" sz="1500" dirty="0"/>
          </a:p>
        </p:txBody>
      </p:sp>
      <p:sp>
        <p:nvSpPr>
          <p:cNvPr id="5" name="Shape 3"/>
          <p:cNvSpPr/>
          <p:nvPr/>
        </p:nvSpPr>
        <p:spPr>
          <a:xfrm>
            <a:off x="5404104" y="1394955"/>
            <a:ext cx="6382512" cy="4525291"/>
          </a:xfrm>
          <a:prstGeom prst="roundRect">
            <a:avLst>
              <a:gd name="adj" fmla="val 121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5/img/img07.jpg">    </p:cNvPr>
          <p:cNvPicPr>
            <a:picLocks noChangeAspect="1"/>
          </p:cNvPicPr>
          <p:nvPr/>
        </p:nvPicPr>
        <p:blipFill>
          <a:blip r:embed="rId1"/>
          <a:stretch>
            <a:fillRect/>
          </a:stretch>
        </p:blipFill>
        <p:spPr>
          <a:xfrm>
            <a:off x="5486400" y="1477251"/>
            <a:ext cx="6217920" cy="4360699"/>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Sympathetic and parasympathetic effects on organs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Autonomic Reflexes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Automatic responses to stimuli</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Sensory input → CNS → autonomic output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Control heart rate, BP, digestion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Operate without awareness</a:t>
            </a:r>
            <a:endParaRPr lang="en-US" sz="1500" dirty="0"/>
          </a:p>
        </p:txBody>
      </p:sp>
      <p:sp>
        <p:nvSpPr>
          <p:cNvPr id="5" name="Shape 3"/>
          <p:cNvSpPr/>
          <p:nvPr/>
        </p:nvSpPr>
        <p:spPr>
          <a:xfrm>
            <a:off x="6189222" y="1335024"/>
            <a:ext cx="481227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5/img/img08.jpg">    </p:cNvPr>
          <p:cNvPicPr>
            <a:picLocks noChangeAspect="1"/>
          </p:cNvPicPr>
          <p:nvPr/>
        </p:nvPicPr>
        <p:blipFill>
          <a:blip r:embed="rId1"/>
          <a:stretch>
            <a:fillRect/>
          </a:stretch>
        </p:blipFill>
        <p:spPr>
          <a:xfrm>
            <a:off x="6271518" y="1417320"/>
            <a:ext cx="464768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Long and short autonomic reflexes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15.3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Central Control</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brain oversees the autonomic nervous system.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Central Control</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hypothalamus is the main controller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Integrates autonomic and endocrine output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Brainstem centers run vital reflexes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Linked to emotion and stress</a:t>
            </a:r>
            <a:endParaRPr lang="en-US" sz="1500" dirty="0"/>
          </a:p>
        </p:txBody>
      </p:sp>
      <p:sp>
        <p:nvSpPr>
          <p:cNvPr id="5" name="Shape 3"/>
          <p:cNvSpPr/>
          <p:nvPr/>
        </p:nvSpPr>
        <p:spPr>
          <a:xfrm>
            <a:off x="6009103" y="1335024"/>
            <a:ext cx="517251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5/img/img11.jpg">    </p:cNvPr>
          <p:cNvPicPr>
            <a:picLocks noChangeAspect="1"/>
          </p:cNvPicPr>
          <p:nvPr/>
        </p:nvPicPr>
        <p:blipFill>
          <a:blip r:embed="rId1"/>
          <a:stretch>
            <a:fillRect/>
          </a:stretch>
        </p:blipFill>
        <p:spPr>
          <a:xfrm>
            <a:off x="6091399" y="1417320"/>
            <a:ext cx="500792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Central control of the autonomic system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15.4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Drugs that Affect the Autonomic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drugs act on the autonomic system to treat disease.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Autonomic Drug Targets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Drugs mimic or block autonomic signals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Affect the heart, vessels, lungs, eyes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Beta-blockers slow the heart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Many common medications act here</a:t>
            </a:r>
            <a:endParaRPr lang="en-US" sz="1500" dirty="0"/>
          </a:p>
        </p:txBody>
      </p:sp>
      <p:sp>
        <p:nvSpPr>
          <p:cNvPr id="5" name="Shape 3"/>
          <p:cNvSpPr/>
          <p:nvPr/>
        </p:nvSpPr>
        <p:spPr>
          <a:xfrm>
            <a:off x="5924196" y="1335024"/>
            <a:ext cx="534232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5/img/img13.jpg">    </p:cNvPr>
          <p:cNvPicPr>
            <a:picLocks noChangeAspect="1"/>
          </p:cNvPicPr>
          <p:nvPr/>
        </p:nvPicPr>
        <p:blipFill>
          <a:blip r:embed="rId1"/>
          <a:stretch>
            <a:fillRect/>
          </a:stretch>
        </p:blipFill>
        <p:spPr>
          <a:xfrm>
            <a:off x="6006492" y="1417320"/>
            <a:ext cx="517773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Autonomic control of the heart — a drug target</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Drug Effects on the Pupil</a:t>
            </a:r>
            <a:endParaRPr lang="en-US" sz="2800" dirty="0"/>
          </a:p>
        </p:txBody>
      </p:sp>
      <p:sp>
        <p:nvSpPr>
          <p:cNvPr id="4" name="Shape 2"/>
          <p:cNvSpPr/>
          <p:nvPr/>
        </p:nvSpPr>
        <p:spPr>
          <a:xfrm>
            <a:off x="897465" y="1289304"/>
            <a:ext cx="10412309"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5/img/img14.jpg">    </p:cNvPr>
          <p:cNvPicPr>
            <a:picLocks noChangeAspect="1"/>
          </p:cNvPicPr>
          <p:nvPr/>
        </p:nvPicPr>
        <p:blipFill>
          <a:blip r:embed="rId1"/>
          <a:stretch>
            <a:fillRect/>
          </a:stretch>
        </p:blipFill>
        <p:spPr>
          <a:xfrm>
            <a:off x="979761" y="1371600"/>
            <a:ext cx="10247717"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Autonomic drug effects on the pupil</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Autonomic drugs change pupil size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Sympathetic action dilates (mydriasis)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Parasympathetic action constricts (miosis)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Used in eye exams and diagnosis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autonomic nervous system controls involuntary functions of organs, glands, and vessels.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sympathetic division drives "fight-or-flight"; the parasympathetic handles "rest-and-digest."</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A two-neuron pathway uses acetylcholine and norepinephrine, with receptor type setting the effect.</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Most organs receive both divisions, whose balance maintains homeostasis.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hypothalamus and brainstem control the system, a major target for drugs.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15 — The Autonomic Nervous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Autonomic System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Blood Pressure</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Autonomic reflexes regulate BP and are altered by many drugs.</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Beta-Blockers</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Block sympathetic signals to slow the heart and lower BP.</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Fight-or-Flight</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stress response explains symptoms of anxiety and shock.</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Pupil Assessment</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Pupil size and reactivity reveal autonomic and brain function.</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Bladder &amp; Bowel</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Autonomic control underlies continence and digestion.</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Atropine</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Blocks parasympathetic effects to speed the heart and dry secretions.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2026-06-23T21:03:36Z</dcterms:created>
  <dcterms:modified xsi:type="dcterms:W3CDTF">2026-06-23T21:03:36Z</dcterms:modified>
</cp:coreProperties>
</file>