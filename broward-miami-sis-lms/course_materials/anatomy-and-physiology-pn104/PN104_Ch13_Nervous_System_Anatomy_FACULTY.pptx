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anatomy of the nervous system: how it develops, the major regions of the brain and the spinal cord, the protective meninges and CSF and the blood supply, and the cranial and spinal nerves of the peripheral nervous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CNS forms from the embryonic neural tube. Its anterior end enlarges into three primary vesicles — forebrain, midbrain, and hindbrain — that further divide into the structures of the adult brain (cerebrum, diencephalon, brainstem, cerebellum). The rest of the tube becomes the spinal cord. Incomplete closure causes neural tube defects such as spina bifida.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cerebrum, the largest brain region, is divided into four lobes: frontal (movement, judgment, personality), parietal (sensation), temporal (hearing, memory), and occipital (vision). Its folded outer cortex of gray matter carries out conscious thought, sensation, and voluntary movement. The central sulcus separates motor from sensory cortex.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Beneath the cortex lie the basal ganglia — including the caudate, putamen, and globus pallidus — which help initiate and smooth voluntary movement and regulate muscle tone. Their degeneration is central to movement disorders such as Parkinson's and Huntington's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diencephalon contains the thalamus, the relay station that routes nearly all sensory input to the cortex, and the hypothalamus, the master regulator of homeostasis — temperature, hunger, thirst — controlling the autonomic and endocrine systems via the pituitary 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brainstem — midbrain, pons, and medulla oblongata — links the brain to the spinal cord and controls vital involuntary functions: the medulla governs heart rate, breathing, and blood pressure. Most cranial nerves arise here, and all signals between brain and body pass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cerebellum ("little brain") coordinates voluntary movement, balance, posture, and muscle coordination, comparing intended movements with actual ones to keep them smooth. Damage causes clumsiness, tremor, and balance problems (ataxia) — relevant in alcohol intoxication and stroke.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spinal cord carries signals between brain and body and processes many reflexes. In cross-section, central H-shaped gray matter (cell bodies and synapses) is surrounded by white matter tracts (myelinated axons) carrying ascending sensory and descending motor information. It exits the skull through the foramen magnum.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demands a constant blood supply, delivered by the internal carotid and vertebral arteries. These join at the base of the brain in the Circle of Willis, an arterial ring that provides alternate routes if one vessel is blocked. Interruption of flow causes a stroke within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connective-tissue membranes — the tough dura mater, the web-like arachnoid mater, and the delicate pia mater on the brain surface — protect the CNS. The subarachnoid space between arachnoid and pia holds cerebrospinal fluid. Infection here is meningitis; bleeding between layers forms hematomas.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interconnected ventricles contain choroid plexuses that make cerebrospinal fluid. CSF circulates through the ventricles and subarachnoid space, cushioning the brain, supporting its weight, and removing waste. Blocked flow causes hydrocephalus; CSF is sampled in a lumbar puncture.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peripheral nerve is a cable of many axons bundled into fascicles, each wrapped in connective tissue (endoneurium around axons, perineurium around fascicles, epineurium around the whole nerve). Nerves may be sensory, motor, or mixed, and the sheaths protect and guide regenerating fibers.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pairs of cranial nerves emerge mainly from the brainstem, serving the head and neck (and, for the vagus, the thorax and abdomen). They handle smell, vision, eye movement, facial sensation and expression, hearing, balance, taste, and more. Testing them is a core part of the neurological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Thirty-one pairs of spinal nerves branch from the cord, each a mixed nerve carrying sensory and motor fibers to a region of the body. Many interweave into networks (plexuses) — cervical, brachial, lumbar, and sacral — that supply the neck and limbs. Each supplies a specific skin area, or dermatome.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13</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Anatomy of the Nervous System</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brain, spinal cord, their coverings, and the peripheral nerves.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5914"/>
            <a:ext cx="4096512" cy="1969053"/>
          </a:xfrm>
          <a:prstGeom prst="roundRect">
            <a:avLst>
              <a:gd name="adj" fmla="val 278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3/img/img01.jpg">    </p:cNvPr>
          <p:cNvPicPr>
            <a:picLocks noChangeAspect="1"/>
          </p:cNvPicPr>
          <p:nvPr/>
        </p:nvPicPr>
        <p:blipFill>
          <a:blip r:embed="rId1"/>
          <a:stretch>
            <a:fillRect/>
          </a:stretch>
        </p:blipFill>
        <p:spPr>
          <a:xfrm>
            <a:off x="7818120" y="2618210"/>
            <a:ext cx="3931920" cy="18044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Relate the developmental processes of the embryonic nervous system to the adult structures</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Name the major regions of the adult nervous system</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Locate regions of the cerebral cortex on the basis of anatomical landmarks common to all human brains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regions of the spinal cord in cross-section</a:t>
            </a:r>
            <a:endParaRPr lang="en-US" sz="1400" dirty="0"/>
          </a:p>
        </p:txBody>
      </p:sp>
      <p:sp>
        <p:nvSpPr>
          <p:cNvPr id="17" name="Shape 15"/>
          <p:cNvSpPr/>
          <p:nvPr/>
        </p:nvSpPr>
        <p:spPr>
          <a:xfrm>
            <a:off x="548640" y="4809744"/>
            <a:ext cx="384048" cy="384048"/>
          </a:xfrm>
          <a:prstGeom prst="ellipse">
            <a:avLst/>
          </a:prstGeom>
          <a:solidFill>
            <a:srgbClr val="0F4C5C"/>
          </a:solidFill>
          <a:ln/>
        </p:spPr>
      </p:sp>
      <p:sp>
        <p:nvSpPr>
          <p:cNvPr id="18" name="Text 16"/>
          <p:cNvSpPr/>
          <p:nvPr/>
        </p:nvSpPr>
        <p:spPr>
          <a:xfrm>
            <a:off x="548640" y="480974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791456"/>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List the cranial nerves in order of anatomical location and provide the central and peripheral connections</a:t>
            </a:r>
            <a:endParaRPr lang="en-US" sz="1400" dirty="0"/>
          </a:p>
        </p:txBody>
      </p:sp>
      <p:sp>
        <p:nvSpPr>
          <p:cNvPr id="20" name="Shape 18"/>
          <p:cNvSpPr/>
          <p:nvPr/>
        </p:nvSpPr>
        <p:spPr>
          <a:xfrm>
            <a:off x="7415784" y="1866755"/>
            <a:ext cx="4370832" cy="3727994"/>
          </a:xfrm>
          <a:prstGeom prst="roundRect">
            <a:avLst>
              <a:gd name="adj" fmla="val 147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13/img/img07.jpg">    </p:cNvPr>
          <p:cNvPicPr>
            <a:picLocks noChangeAspect="1"/>
          </p:cNvPicPr>
          <p:nvPr/>
        </p:nvPicPr>
        <p:blipFill>
          <a:blip r:embed="rId1"/>
          <a:stretch>
            <a:fillRect/>
          </a:stretch>
        </p:blipFill>
        <p:spPr>
          <a:xfrm>
            <a:off x="7498080" y="1949051"/>
            <a:ext cx="4206240" cy="3563402"/>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lobes and landmarks of the cerebrum.</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13.1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Embryologic Perspective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brain and spinal cord develop from the embryonic neural tube.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Development of the Brain</a:t>
            </a:r>
            <a:endParaRPr lang="en-US" sz="2800" dirty="0"/>
          </a:p>
        </p:txBody>
      </p:sp>
      <p:sp>
        <p:nvSpPr>
          <p:cNvPr id="4" name="Shape 2"/>
          <p:cNvSpPr/>
          <p:nvPr/>
        </p:nvSpPr>
        <p:spPr>
          <a:xfrm>
            <a:off x="1040290" y="1289304"/>
            <a:ext cx="1012666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03.jpg">    </p:cNvPr>
          <p:cNvPicPr>
            <a:picLocks noChangeAspect="1"/>
          </p:cNvPicPr>
          <p:nvPr/>
        </p:nvPicPr>
        <p:blipFill>
          <a:blip r:embed="rId1"/>
          <a:stretch>
            <a:fillRect/>
          </a:stretch>
        </p:blipFill>
        <p:spPr>
          <a:xfrm>
            <a:off x="1122586" y="1371600"/>
            <a:ext cx="996206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Brain vesicles and the developing CNS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CNS begins as a neural tube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Its front end forms brain vesicles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These become forebrain, midbrain, hindbrain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rest becomes the spinal cord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13.2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Central Nervous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brain and spinal cord — the body's control and integration center.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Lobes of the Cerebrum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largest part of the brain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Four lobes per hemisphere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Frontal, parietal, temporal, occipital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Cortex handles higher functions</a:t>
            </a:r>
            <a:endParaRPr lang="en-US" sz="1500" dirty="0"/>
          </a:p>
        </p:txBody>
      </p:sp>
      <p:sp>
        <p:nvSpPr>
          <p:cNvPr id="5" name="Shape 3"/>
          <p:cNvSpPr/>
          <p:nvPr/>
        </p:nvSpPr>
        <p:spPr>
          <a:xfrm>
            <a:off x="5868637" y="1335024"/>
            <a:ext cx="545344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3/img/img07.jpg">    </p:cNvPr>
          <p:cNvPicPr>
            <a:picLocks noChangeAspect="1"/>
          </p:cNvPicPr>
          <p:nvPr/>
        </p:nvPicPr>
        <p:blipFill>
          <a:blip r:embed="rId1"/>
          <a:stretch>
            <a:fillRect/>
          </a:stretch>
        </p:blipFill>
        <p:spPr>
          <a:xfrm>
            <a:off x="5950933" y="1417320"/>
            <a:ext cx="528885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lobes of the cerebrum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Basal Ganglia</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Deep gray-matter nuclei</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Help control movement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Regulate posture and muscle tone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Affected in Parkinson's disease</a:t>
            </a:r>
            <a:endParaRPr lang="en-US" sz="1500" dirty="0"/>
          </a:p>
        </p:txBody>
      </p:sp>
      <p:sp>
        <p:nvSpPr>
          <p:cNvPr id="5" name="Shape 3"/>
          <p:cNvSpPr/>
          <p:nvPr/>
        </p:nvSpPr>
        <p:spPr>
          <a:xfrm>
            <a:off x="5648866" y="1335024"/>
            <a:ext cx="589298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3/img/img09.jpg">    </p:cNvPr>
          <p:cNvPicPr>
            <a:picLocks noChangeAspect="1"/>
          </p:cNvPicPr>
          <p:nvPr/>
        </p:nvPicPr>
        <p:blipFill>
          <a:blip r:embed="rId1"/>
          <a:stretch>
            <a:fillRect/>
          </a:stretch>
        </p:blipFill>
        <p:spPr>
          <a:xfrm>
            <a:off x="5731162" y="1417320"/>
            <a:ext cx="572839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basal ganglia (frontal section)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Diencephalon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Sits between cerebrum and brainstem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Thalamus relays sensory signals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Hypothalamus controls homeostasis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Links to the pituitary gland</a:t>
            </a:r>
            <a:endParaRPr lang="en-US" sz="1500" dirty="0"/>
          </a:p>
        </p:txBody>
      </p:sp>
      <p:sp>
        <p:nvSpPr>
          <p:cNvPr id="5" name="Shape 3"/>
          <p:cNvSpPr/>
          <p:nvPr/>
        </p:nvSpPr>
        <p:spPr>
          <a:xfrm>
            <a:off x="5687623" y="1335024"/>
            <a:ext cx="581547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3/img/img10.jpg">    </p:cNvPr>
          <p:cNvPicPr>
            <a:picLocks noChangeAspect="1"/>
          </p:cNvPicPr>
          <p:nvPr/>
        </p:nvPicPr>
        <p:blipFill>
          <a:blip r:embed="rId1"/>
          <a:stretch>
            <a:fillRect/>
          </a:stretch>
        </p:blipFill>
        <p:spPr>
          <a:xfrm>
            <a:off x="5769919" y="1417320"/>
            <a:ext cx="565088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diencephalon: thalamus and hypothalamus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Brainstem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Connects brain to spinal cord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Midbrain, pons, and medulla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Controls vital automatic functions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Passage for nerve tracts</a:t>
            </a:r>
            <a:endParaRPr lang="en-US" sz="1500" dirty="0"/>
          </a:p>
        </p:txBody>
      </p:sp>
      <p:sp>
        <p:nvSpPr>
          <p:cNvPr id="5" name="Shape 3"/>
          <p:cNvSpPr/>
          <p:nvPr/>
        </p:nvSpPr>
        <p:spPr>
          <a:xfrm>
            <a:off x="5550070" y="1335024"/>
            <a:ext cx="609058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3/img/img11.jpg">    </p:cNvPr>
          <p:cNvPicPr>
            <a:picLocks noChangeAspect="1"/>
          </p:cNvPicPr>
          <p:nvPr/>
        </p:nvPicPr>
        <p:blipFill>
          <a:blip r:embed="rId1"/>
          <a:stretch>
            <a:fillRect/>
          </a:stretch>
        </p:blipFill>
        <p:spPr>
          <a:xfrm>
            <a:off x="5632366" y="1417320"/>
            <a:ext cx="592598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brainstem: midbrain, pons, medulla</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Cerebellum</a:t>
            </a:r>
            <a:endParaRPr lang="en-US" sz="2800" dirty="0"/>
          </a:p>
        </p:txBody>
      </p:sp>
      <p:sp>
        <p:nvSpPr>
          <p:cNvPr id="4" name="Shape 2"/>
          <p:cNvSpPr/>
          <p:nvPr/>
        </p:nvSpPr>
        <p:spPr>
          <a:xfrm>
            <a:off x="717347" y="1289304"/>
            <a:ext cx="3868826" cy="4736592"/>
          </a:xfrm>
          <a:prstGeom prst="roundRect">
            <a:avLst>
              <a:gd name="adj" fmla="val 141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12.jpg">    </p:cNvPr>
          <p:cNvPicPr>
            <a:picLocks noChangeAspect="1"/>
          </p:cNvPicPr>
          <p:nvPr/>
        </p:nvPicPr>
        <p:blipFill>
          <a:blip r:embed="rId1"/>
          <a:stretch>
            <a:fillRect/>
          </a:stretch>
        </p:blipFill>
        <p:spPr>
          <a:xfrm>
            <a:off x="799643" y="1371600"/>
            <a:ext cx="370423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cerebellum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Sits behind the brainstem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Coordinates movement and balance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Fine-tunes posture and timing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Enables smooth, accurate motion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Spinal Cord</a:t>
            </a:r>
            <a:endParaRPr lang="en-US" sz="2800" dirty="0"/>
          </a:p>
        </p:txBody>
      </p:sp>
      <p:sp>
        <p:nvSpPr>
          <p:cNvPr id="4" name="Shape 2"/>
          <p:cNvSpPr/>
          <p:nvPr/>
        </p:nvSpPr>
        <p:spPr>
          <a:xfrm>
            <a:off x="576072" y="1289304"/>
            <a:ext cx="4151376" cy="4736592"/>
          </a:xfrm>
          <a:prstGeom prst="roundRect">
            <a:avLst>
              <a:gd name="adj" fmla="val 132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13.jpg">    </p:cNvPr>
          <p:cNvPicPr>
            <a:picLocks noChangeAspect="1"/>
          </p:cNvPicPr>
          <p:nvPr/>
        </p:nvPicPr>
        <p:blipFill>
          <a:blip r:embed="rId1"/>
          <a:stretch>
            <a:fillRect/>
          </a:stretch>
        </p:blipFill>
        <p:spPr>
          <a:xfrm>
            <a:off x="658368" y="1371600"/>
            <a:ext cx="398678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Cross-section of the spinal cord</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Continuous with the brainstem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Gray matter (H-shaped) inside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White matter tracts outside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Relays signals and runs reflexes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13.3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Circulation and the Central Nervous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Blood supply, the protective meninges, and cerebrospinal fluid.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Blood Supply — Circle of Willis</a:t>
            </a:r>
            <a:endParaRPr lang="en-US" sz="2800" dirty="0"/>
          </a:p>
        </p:txBody>
      </p:sp>
      <p:sp>
        <p:nvSpPr>
          <p:cNvPr id="4" name="Shape 2"/>
          <p:cNvSpPr/>
          <p:nvPr/>
        </p:nvSpPr>
        <p:spPr>
          <a:xfrm>
            <a:off x="1212723" y="1289304"/>
            <a:ext cx="2878074" cy="4736592"/>
          </a:xfrm>
          <a:prstGeom prst="roundRect">
            <a:avLst>
              <a:gd name="adj" fmla="val 190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14.jpg">    </p:cNvPr>
          <p:cNvPicPr>
            <a:picLocks noChangeAspect="1"/>
          </p:cNvPicPr>
          <p:nvPr/>
        </p:nvPicPr>
        <p:blipFill>
          <a:blip r:embed="rId1"/>
          <a:stretch>
            <a:fillRect/>
          </a:stretch>
        </p:blipFill>
        <p:spPr>
          <a:xfrm>
            <a:off x="1295019" y="1371600"/>
            <a:ext cx="271348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cerebral arterial circle (Circle of Willis)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brain needs constant blood flow</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Fed by carotid and vertebral arteries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They join in the Circle of Willis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Provides backup circulation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Meninges</a:t>
            </a:r>
            <a:endParaRPr lang="en-US" sz="2800" dirty="0"/>
          </a:p>
        </p:txBody>
      </p:sp>
      <p:sp>
        <p:nvSpPr>
          <p:cNvPr id="4" name="Shape 2"/>
          <p:cNvSpPr/>
          <p:nvPr/>
        </p:nvSpPr>
        <p:spPr>
          <a:xfrm>
            <a:off x="2735642" y="1289304"/>
            <a:ext cx="673595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16.jpg">    </p:cNvPr>
          <p:cNvPicPr>
            <a:picLocks noChangeAspect="1"/>
          </p:cNvPicPr>
          <p:nvPr/>
        </p:nvPicPr>
        <p:blipFill>
          <a:blip r:embed="rId1"/>
          <a:stretch>
            <a:fillRect/>
          </a:stretch>
        </p:blipFill>
        <p:spPr>
          <a:xfrm>
            <a:off x="2817938" y="1371600"/>
            <a:ext cx="657136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cranial meninges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Three protective membranes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Dura, arachnoid, and pia mater</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Cushion the brain and spinal cord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Site of meningitis and bleeds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Ventricles &amp; Cerebrospinal Fluid</a:t>
            </a:r>
            <a:endParaRPr lang="en-US" sz="2800" dirty="0"/>
          </a:p>
        </p:txBody>
      </p:sp>
      <p:sp>
        <p:nvSpPr>
          <p:cNvPr id="4" name="Shape 2"/>
          <p:cNvSpPr/>
          <p:nvPr/>
        </p:nvSpPr>
        <p:spPr>
          <a:xfrm>
            <a:off x="3281087" y="1289304"/>
            <a:ext cx="564506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17.jpg">    </p:cNvPr>
          <p:cNvPicPr>
            <a:picLocks noChangeAspect="1"/>
          </p:cNvPicPr>
          <p:nvPr/>
        </p:nvPicPr>
        <p:blipFill>
          <a:blip r:embed="rId1"/>
          <a:stretch>
            <a:fillRect/>
          </a:stretch>
        </p:blipFill>
        <p:spPr>
          <a:xfrm>
            <a:off x="3363383" y="1371600"/>
            <a:ext cx="548047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ventricles and CSF circulation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Hollow ventricles inside the brain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Produce cerebrospinal fluid (CSF)</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CSF cushions and nourishes the CNS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Circulates and is reabsorbed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13.4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Peripheral Nervous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nerves and ganglia that connect the CNS to the body.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Structure of a Nerve</a:t>
            </a:r>
            <a:endParaRPr lang="en-US" sz="2800" dirty="0"/>
          </a:p>
        </p:txBody>
      </p:sp>
      <p:sp>
        <p:nvSpPr>
          <p:cNvPr id="4" name="Shape 2"/>
          <p:cNvSpPr/>
          <p:nvPr/>
        </p:nvSpPr>
        <p:spPr>
          <a:xfrm>
            <a:off x="568528" y="1289304"/>
            <a:ext cx="4166464" cy="4736592"/>
          </a:xfrm>
          <a:prstGeom prst="roundRect">
            <a:avLst>
              <a:gd name="adj" fmla="val 131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20.jpg">    </p:cNvPr>
          <p:cNvPicPr>
            <a:picLocks noChangeAspect="1"/>
          </p:cNvPicPr>
          <p:nvPr/>
        </p:nvPicPr>
        <p:blipFill>
          <a:blip r:embed="rId1"/>
          <a:stretch>
            <a:fillRect/>
          </a:stretch>
        </p:blipFill>
        <p:spPr>
          <a:xfrm>
            <a:off x="650824" y="1371600"/>
            <a:ext cx="400187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peripheral nerve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nerve is a bundle of axons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Axons grouped into fascicles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Wrapped in connective-tissue sheaths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Carry sensory and/or motor fibers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Cranial Nerves</a:t>
            </a:r>
            <a:endParaRPr lang="en-US" sz="2800" dirty="0"/>
          </a:p>
        </p:txBody>
      </p:sp>
      <p:sp>
        <p:nvSpPr>
          <p:cNvPr id="4" name="Shape 2"/>
          <p:cNvSpPr/>
          <p:nvPr/>
        </p:nvSpPr>
        <p:spPr>
          <a:xfrm>
            <a:off x="3174280" y="1289304"/>
            <a:ext cx="585868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22.jpg">    </p:cNvPr>
          <p:cNvPicPr>
            <a:picLocks noChangeAspect="1"/>
          </p:cNvPicPr>
          <p:nvPr/>
        </p:nvPicPr>
        <p:blipFill>
          <a:blip r:embed="rId1"/>
          <a:stretch>
            <a:fillRect/>
          </a:stretch>
        </p:blipFill>
        <p:spPr>
          <a:xfrm>
            <a:off x="3256576" y="1371600"/>
            <a:ext cx="569408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twelve cranial nerves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12 pairs arise from the brain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Numbered I through XII</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Serve mainly the head and neck</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Sensory, motor, or both</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Spinal Nerves &amp; Plexuses</a:t>
            </a:r>
            <a:endParaRPr lang="en-US" sz="2800" dirty="0"/>
          </a:p>
        </p:txBody>
      </p:sp>
      <p:sp>
        <p:nvSpPr>
          <p:cNvPr id="4" name="Shape 2"/>
          <p:cNvSpPr/>
          <p:nvPr/>
        </p:nvSpPr>
        <p:spPr>
          <a:xfrm>
            <a:off x="1193292" y="1289304"/>
            <a:ext cx="2916936" cy="4736592"/>
          </a:xfrm>
          <a:prstGeom prst="roundRect">
            <a:avLst>
              <a:gd name="adj" fmla="val 18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3/img/img23.jpg">    </p:cNvPr>
          <p:cNvPicPr>
            <a:picLocks noChangeAspect="1"/>
          </p:cNvPicPr>
          <p:nvPr/>
        </p:nvPicPr>
        <p:blipFill>
          <a:blip r:embed="rId1"/>
          <a:stretch>
            <a:fillRect/>
          </a:stretch>
        </p:blipFill>
        <p:spPr>
          <a:xfrm>
            <a:off x="1275588" y="1371600"/>
            <a:ext cx="27523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spinal nerves and plexuses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31 pairs of spinal nerves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Exit between the vertebrae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Mixed sensory and motor fibers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Merge into plexuses for the limbs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brain and spinal cord develop from the embryonic neural tube.</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cerebrum, diencephalon, brainstem, and cerebellum each have distinct roles.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spinal cord relays signals and runs reflexes, with gray matter inside and white matter outside.</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brain is protected by meninges, cushioned by CSF, and supplied by the Circle of Willis.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PNS connects the CNS to the body through 12 cranial and 31 spinal nerve pairs.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13 — Anatomy of the Nervous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Nervous System Anatomy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Stroke</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Interrupted brain blood flow causes rapid, lasting damage.</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Meningitis</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Infection of the meninges is a medical emergency.</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Spinal Cord Injury</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Damage causes loss of function below the level of injury.</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Neuro Exam</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Cranial-nerve and reflex testing helps localize problems.</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Hydrocephalus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Blocked CSF flow raises pressure inside the skull.</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Parkinson's Disease</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Basal ganglia degeneration impairs movement.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2026-06-23T20:42:49Z</dcterms:created>
  <dcterms:modified xsi:type="dcterms:W3CDTF">2026-06-23T20:42:49Z</dcterms:modified>
</cp:coreProperties>
</file>