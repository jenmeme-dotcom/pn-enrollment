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be63ffa23347d0" /><Relationship Type="http://schemas.openxmlformats.org/officeDocument/2006/relationships/extended-properties" Target="/docProps/app.xml" Id="R0c84c1d4994849b4" /><Relationship Type="http://schemas.openxmlformats.org/officeDocument/2006/relationships/officeDocument" Target="/ppt/presentation.xml" Id="Rb43cc1103f7043b1" /></Relationships>
</file>

<file path=ppt/presentation.xml><?xml version="1.0" encoding="utf-8"?>
<p:presentation xmlns:p="http://schemas.openxmlformats.org/presentationml/2006/main">
  <p:sldMasterIdLst>
    <p:sldMasterId xmlns:r="http://schemas.openxmlformats.org/officeDocument/2006/relationships" id="2147483648" r:id="Rb15dc177274348d3"/>
  </p:sldMasterIdLst>
  <p:notesMasterIdLst>
    <p:notesMasterId xmlns:r="http://schemas.openxmlformats.org/officeDocument/2006/relationships" r:id="Re0b3b346cf604889"/>
  </p:notesMasterIdLst>
  <p:sldIdLst>
    <p:sldId xmlns:r="http://schemas.openxmlformats.org/officeDocument/2006/relationships" id="256" r:id="R3ab87cb739b94b4f"/>
    <p:sldId xmlns:r="http://schemas.openxmlformats.org/officeDocument/2006/relationships" id="257" r:id="R7fed5eb2e1734a83"/>
    <p:sldId xmlns:r="http://schemas.openxmlformats.org/officeDocument/2006/relationships" id="258" r:id="R4f9468e313ab4880"/>
    <p:sldId xmlns:r="http://schemas.openxmlformats.org/officeDocument/2006/relationships" id="259" r:id="R7b06f87d1bc2417d"/>
    <p:sldId xmlns:r="http://schemas.openxmlformats.org/officeDocument/2006/relationships" id="260" r:id="R98204a71671b4cfe"/>
    <p:sldId xmlns:r="http://schemas.openxmlformats.org/officeDocument/2006/relationships" id="261" r:id="Ra1ec40a41cd44b8c"/>
    <p:sldId xmlns:r="http://schemas.openxmlformats.org/officeDocument/2006/relationships" id="262" r:id="R291d45a2cd2949e0"/>
    <p:sldId xmlns:r="http://schemas.openxmlformats.org/officeDocument/2006/relationships" id="263" r:id="R66c2eee344a44485"/>
    <p:sldId xmlns:r="http://schemas.openxmlformats.org/officeDocument/2006/relationships" id="264" r:id="Rc8a779dd27e14213"/>
    <p:sldId xmlns:r="http://schemas.openxmlformats.org/officeDocument/2006/relationships" id="265" r:id="Ra2d9533cd6894f46"/>
    <p:sldId xmlns:r="http://schemas.openxmlformats.org/officeDocument/2006/relationships" id="266" r:id="R1fdcfcaea7584323"/>
    <p:sldId xmlns:r="http://schemas.openxmlformats.org/officeDocument/2006/relationships" id="267" r:id="R0d584180de8743f1"/>
    <p:sldId xmlns:r="http://schemas.openxmlformats.org/officeDocument/2006/relationships" id="268" r:id="R7e76c21ea85f4335"/>
    <p:sldId xmlns:r="http://schemas.openxmlformats.org/officeDocument/2006/relationships" id="269" r:id="Rf3146466d71442df"/>
    <p:sldId xmlns:r="http://schemas.openxmlformats.org/officeDocument/2006/relationships" id="270" r:id="R41e9fc109b724a6b"/>
    <p:sldId xmlns:r="http://schemas.openxmlformats.org/officeDocument/2006/relationships" id="271" r:id="R4a97f8dcb05a49ce"/>
    <p:sldId xmlns:r="http://schemas.openxmlformats.org/officeDocument/2006/relationships" id="272" r:id="R7d4c486de0c94ea8"/>
    <p:sldId xmlns:r="http://schemas.openxmlformats.org/officeDocument/2006/relationships" id="273" r:id="R2474c626969f42d4"/>
    <p:sldId xmlns:r="http://schemas.openxmlformats.org/officeDocument/2006/relationships" id="274" r:id="R387e55c0be9a4bcf"/>
    <p:sldId xmlns:r="http://schemas.openxmlformats.org/officeDocument/2006/relationships" id="275" r:id="Rbeecf764e99d4d35"/>
    <p:sldId xmlns:r="http://schemas.openxmlformats.org/officeDocument/2006/relationships" id="276" r:id="R12ccd68a12814a25"/>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c8c62a65f1c4ae3" /><Relationship Type="http://schemas.openxmlformats.org/officeDocument/2006/relationships/slideMaster" Target="/ppt/slideMasters/slideMaster1.xml" Id="Rb15dc177274348d3" /><Relationship Type="http://schemas.openxmlformats.org/officeDocument/2006/relationships/notesMaster" Target="/ppt/notesMasters/notesMaster1.xml" Id="Re0b3b346cf604889" /><Relationship Type="http://schemas.openxmlformats.org/officeDocument/2006/relationships/presProps" Target="/ppt/presProps.xml" Id="Rccf61c79e9334ffc" /><Relationship Type="http://schemas.openxmlformats.org/officeDocument/2006/relationships/viewProps" Target="/ppt/viewProps.xml" Id="R5fbd24d85f9a4501" /><Relationship Type="http://schemas.openxmlformats.org/officeDocument/2006/relationships/tableStyles" Target="/ppt/tableStyles.xml" Id="Ra1639217b2f04863" /><Relationship Type="http://schemas.openxmlformats.org/officeDocument/2006/relationships/slide" Target="/ppt/slides/slide1.xml" Id="R3ab87cb739b94b4f" /><Relationship Type="http://schemas.openxmlformats.org/officeDocument/2006/relationships/slide" Target="/ppt/slides/slide2.xml" Id="R7fed5eb2e1734a83" /><Relationship Type="http://schemas.openxmlformats.org/officeDocument/2006/relationships/slide" Target="/ppt/slides/slide3.xml" Id="R4f9468e313ab4880" /><Relationship Type="http://schemas.openxmlformats.org/officeDocument/2006/relationships/slide" Target="/ppt/slides/slide4.xml" Id="R7b06f87d1bc2417d" /><Relationship Type="http://schemas.openxmlformats.org/officeDocument/2006/relationships/slide" Target="/ppt/slides/slide5.xml" Id="R98204a71671b4cfe" /><Relationship Type="http://schemas.openxmlformats.org/officeDocument/2006/relationships/slide" Target="/ppt/slides/slide6.xml" Id="Ra1ec40a41cd44b8c" /><Relationship Type="http://schemas.openxmlformats.org/officeDocument/2006/relationships/slide" Target="/ppt/slides/slide7.xml" Id="R291d45a2cd2949e0" /><Relationship Type="http://schemas.openxmlformats.org/officeDocument/2006/relationships/slide" Target="/ppt/slides/slide8.xml" Id="R66c2eee344a44485" /><Relationship Type="http://schemas.openxmlformats.org/officeDocument/2006/relationships/slide" Target="/ppt/slides/slide9.xml" Id="Rc8a779dd27e14213" /><Relationship Type="http://schemas.openxmlformats.org/officeDocument/2006/relationships/slide" Target="/ppt/slides/slide10.xml" Id="Ra2d9533cd6894f46" /><Relationship Type="http://schemas.openxmlformats.org/officeDocument/2006/relationships/slide" Target="/ppt/slides/slide11.xml" Id="R1fdcfcaea7584323" /><Relationship Type="http://schemas.openxmlformats.org/officeDocument/2006/relationships/slide" Target="/ppt/slides/slide12.xml" Id="R0d584180de8743f1" /><Relationship Type="http://schemas.openxmlformats.org/officeDocument/2006/relationships/slide" Target="/ppt/slides/slide13.xml" Id="R7e76c21ea85f4335" /><Relationship Type="http://schemas.openxmlformats.org/officeDocument/2006/relationships/slide" Target="/ppt/slides/slide14.xml" Id="Rf3146466d71442df" /><Relationship Type="http://schemas.openxmlformats.org/officeDocument/2006/relationships/slide" Target="/ppt/slides/slide15.xml" Id="R41e9fc109b724a6b" /><Relationship Type="http://schemas.openxmlformats.org/officeDocument/2006/relationships/slide" Target="/ppt/slides/slide16.xml" Id="R4a97f8dcb05a49ce" /><Relationship Type="http://schemas.openxmlformats.org/officeDocument/2006/relationships/slide" Target="/ppt/slides/slide17.xml" Id="R7d4c486de0c94ea8" /><Relationship Type="http://schemas.openxmlformats.org/officeDocument/2006/relationships/slide" Target="/ppt/slides/slide18.xml" Id="R2474c626969f42d4" /><Relationship Type="http://schemas.openxmlformats.org/officeDocument/2006/relationships/slide" Target="/ppt/slides/slide19.xml" Id="R387e55c0be9a4bcf" /><Relationship Type="http://schemas.openxmlformats.org/officeDocument/2006/relationships/slide" Target="/ppt/slides/slide20.xml" Id="Rbeecf764e99d4d35" /><Relationship Type="http://schemas.openxmlformats.org/officeDocument/2006/relationships/slide" Target="/ppt/slides/slide21.xml" Id="R12ccd68a12814a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91b939597844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47b46003474b90" /><Relationship Type="http://schemas.openxmlformats.org/officeDocument/2006/relationships/notesMaster" Target="/ppt/notesMasters/notesMaster1.xml" Id="Ref162106823a49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10f0c585184828" /><Relationship Type="http://schemas.openxmlformats.org/officeDocument/2006/relationships/notesMaster" Target="/ppt/notesMasters/notesMaster1.xml" Id="R5bf57390bbdf49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c2aff1bbb443ec" /><Relationship Type="http://schemas.openxmlformats.org/officeDocument/2006/relationships/notesMaster" Target="/ppt/notesMasters/notesMaster1.xml" Id="R3b9e2a51e6284f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e4cfabb6534675" /><Relationship Type="http://schemas.openxmlformats.org/officeDocument/2006/relationships/notesMaster" Target="/ppt/notesMasters/notesMaster1.xml" Id="R63507530539345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6c06d4dcaf4b55" /><Relationship Type="http://schemas.openxmlformats.org/officeDocument/2006/relationships/notesMaster" Target="/ppt/notesMasters/notesMaster1.xml" Id="Rf1c086e8a9114b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9725dc83c043d5" /><Relationship Type="http://schemas.openxmlformats.org/officeDocument/2006/relationships/notesMaster" Target="/ppt/notesMasters/notesMaster1.xml" Id="R26c8caf842e844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f04e9493464828" /><Relationship Type="http://schemas.openxmlformats.org/officeDocument/2006/relationships/notesMaster" Target="/ppt/notesMasters/notesMaster1.xml" Id="R29b7762be9fd4d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b7e1883abf42a6" /><Relationship Type="http://schemas.openxmlformats.org/officeDocument/2006/relationships/notesMaster" Target="/ppt/notesMasters/notesMaster1.xml" Id="R6a47ca69ad0746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367ee7b3974c62" /><Relationship Type="http://schemas.openxmlformats.org/officeDocument/2006/relationships/notesMaster" Target="/ppt/notesMasters/notesMaster1.xml" Id="R6614f1cc667e45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2ad55d4ec94cd5" /><Relationship Type="http://schemas.openxmlformats.org/officeDocument/2006/relationships/notesMaster" Target="/ppt/notesMasters/notesMaster1.xml" Id="R84ac7d3133f44c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c3f7a5d94e46f0" /><Relationship Type="http://schemas.openxmlformats.org/officeDocument/2006/relationships/notesMaster" Target="/ppt/notesMasters/notesMaster1.xml" Id="Raa05577ae27a40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88108591c2405f" /><Relationship Type="http://schemas.openxmlformats.org/officeDocument/2006/relationships/notesMaster" Target="/ppt/notesMasters/notesMaster1.xml" Id="R9adf3efbaab042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50162cc6de4d98" /><Relationship Type="http://schemas.openxmlformats.org/officeDocument/2006/relationships/notesMaster" Target="/ppt/notesMasters/notesMaster1.xml" Id="R5d57d61fc73c44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0b5db208204ece" /><Relationship Type="http://schemas.openxmlformats.org/officeDocument/2006/relationships/notesMaster" Target="/ppt/notesMasters/notesMaster1.xml" Id="Re0909e99525b45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423aa4378a4c1b" /><Relationship Type="http://schemas.openxmlformats.org/officeDocument/2006/relationships/notesMaster" Target="/ppt/notesMasters/notesMaster1.xml" Id="R15496091ae8e4a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7633a4a06c84441" /><Relationship Type="http://schemas.openxmlformats.org/officeDocument/2006/relationships/notesMaster" Target="/ppt/notesMasters/notesMaster1.xml" Id="R1346febe458b41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a10040326b4fa9" /><Relationship Type="http://schemas.openxmlformats.org/officeDocument/2006/relationships/notesMaster" Target="/ppt/notesMasters/notesMaster1.xml" Id="R1d90455e697c4d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97a3d093c54482" /><Relationship Type="http://schemas.openxmlformats.org/officeDocument/2006/relationships/notesMaster" Target="/ppt/notesMasters/notesMaster1.xml" Id="R6aa45d9830324d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83ab83f85164af1" /><Relationship Type="http://schemas.openxmlformats.org/officeDocument/2006/relationships/notesMaster" Target="/ppt/notesMasters/notesMaster1.xml" Id="Raae1eb5d4874497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446f3a6b84460a" /><Relationship Type="http://schemas.openxmlformats.org/officeDocument/2006/relationships/notesMaster" Target="/ppt/notesMasters/notesMaster1.xml" Id="Ra4c83c13c9b24b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475c90c1fe45ba" /><Relationship Type="http://schemas.openxmlformats.org/officeDocument/2006/relationships/notesMaster" Target="/ppt/notesMasters/notesMaster1.xml" Id="R1b84689fa77146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Today we are beginning Chapter 8, the appendicular skeleton. In this chapter, we will connect the names and locations of skeletal structures with their functions and with the observations that matter in practical nursing care. As we move through the slides, focus on how structure supports protection, movement, stability, mineral balance, and patient safety. By the end, you should be able to explain the major concepts in your own words and apply them to a patient-care situation.</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These are our learning objectives for Chapter 8. By the end of the chapter, you should be able to do the following: Discuss the bones of the pectoral and pelvic girdles, and describe how these unite the limbs with the axial skeleton. Describe the bones of the upper limb, including the bones of the arm, forearm, wrist, and hand. Identify the features of the pelvis and explain how these differ between the adult male and female pelvis. Describe the bones of the lower limb, including the bones of the thigh, leg, ankle, and foot. Describe the embryonic formation and growth of the limb bones Your skeleton provides the internal supporting structure of the body. Do not treat these as isolated facts. Use them as a checklist for what you should be able to identify, explain, and connect to safe practical nursing care.</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The Pectoral Girdle. The clavicle and scapula that anchor the arm to the body.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Pectoral Girdle. The pectoral girdle (clavicle and scapula). Clavicle and scapula on each side. Attaches the arm to the axial skeleton. Highly mobile but less stable. The clavicle is commonly fractured. Connect these bones with safe transfers, ambulation, weight-bearing orders, range of motion, and neurovascular assessment. Take a moment to identify the structure on the image and explain how its form supports its function. This is slide 4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Bones of the Upper Limb. The humerus, radius, ulna, and the bones of the wrist and hand.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Humerus. The humerus (arm bone). The single bone of the arm. Head fits the scapula's glenoid cavity. Articulates with radius and ulna. Many muscle attachment sites. Connect these bones with safe transfers, ambulation, weight-bearing orders, range of motion, and neurovascular assessment. Take a moment to identify the structure on the image and explain how its form supports its function. This is slide 6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Radius and Ulna. The radius and ulna (forearm). The two bones of the forearm. Ulna is medial (little-finger side). Radius is lateral (thumb side). They cross during pronation. Connect these bones with safe transfers, ambulation, weight-bearing orders, range of motion, and neurovascular assessment. Take a moment to identify the structure on the image and explain how its form supports its function. This is slide 7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Bones of the Hand. carpals form the wrist. metacarpals form the palm. phalanges form the fingers. Built for fine, precise movement. The bones of the wrist and hand. Median-nerve compression can cause numbness, tingling, weakness, and reduced hand function, especially on the thumb side of the hand. Take a moment to identify the structure on the image and explain how its form supports its function. This is slide 8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Carpal Tunnel. A passage at the front of the wrist. Formed by carpals + flexor retinaculum. Carries the median nerve and tendons. Compression causes carpal tunnel syndrome. The carpal tunnel and median nerve. Median-nerve compression can cause numbness, tingling, weakness, and reduced hand function, especially on the thumb side of the hand. Take a moment to identify the structure on the image and explain how its form supports its function. This is slide 9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The Pelvic Girdle and Pelvis. The hip bones, the sacrum, and the pelvis they form.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Pelvis. Two hip bones + sacrum + coccyx. Bears the body's weight. Protects the pelvic organs. A stable, weight-bearing girdle. The pelvis. Hip and pelvic injuries can cause major pain, blood loss, and loss of mobility, especially in older adults, so avoid unnecessary movement and report findings promptly. Take a moment to identify the structure on the image and explain how its form supports its function. This is slide 11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Hip Bone. Three fused bones: ilium, ischium, pubis. Meet at the acetabulum (hip socket). Ilium is the broad flaring blade. Many muscle attachments. The hip bone (os coxae). Hip and pelvic injuries can cause major pain, blood loss, and loss of mobility, especially in older adults, so avoid unnecessary movement and report findings promptly. Take a moment to identify the structure on the image and explain how its form supports its function. This is slide 12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Male vs. Female Pelvis. Differences between the male and female pelvis. Female pelvis is wider and shallower. Larger outlet for childbirth. Male pelvis is narrower and heavier. Sex differences aid identification. Hip and pelvic injuries can cause major pain, blood loss, and loss of mobility, especially in older adults, so avoid unnecessary movement and report findings promptly. Take a moment to identify the structure on the image and explain how its form supports its function. This is slide 13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Bones of the Lower Limb. The femur, tibia, fibula, and the bones of the foot.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Femur. The femur (thigh bone). The thigh bone — longest, strongest bone. Head fits into the acetabulum. Meets the tibia at the knee. Bears great mechanical loads. Hip and pelvic injuries can cause major pain, blood loss, and loss of mobility, especially in older adults, so avoid unnecessary movement and report findings promptly. Take a moment to identify the structure on the image and explain how its form supports its function. This is slide 15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Tibia and Fibula. The tibia and fibula (lower leg). The two bones of the lower leg. Tibia (shinbone) bears the weight. Fibula stabilizes the ankle. They form the malleoli of the ankle. After lower-limb injury or immobilization, compare color, temperature, pulses, capillary refill, sensation, movement, pain, and swelling on both sides. Take a moment to identify the structure on the image and explain how its form supports its function. This is slide 16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Bones of the Foot. tarsals form the ankle and heel. metatarsals form the sole. phalanges form the toes. Arches support and absorb shock. The bones of the foot. After lower-limb injury or immobilization, compare color, temperature, pulses, capillary refill, sensation, movement, pain, and swelling on both sides. Take a moment to identify the structure on the image and explain how its form supports its function. This is slide 17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Development of the Appendicular Skeleton. How the limbs form before birth, and common congenital differences.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Limb Development &amp; Clubfoot. Clubfoot, a congenital foot condition. Limbs form early in the embryo. Bones develop from limb buds. Clubfoot is a common congenital condition. Early treatment improves outcomes. After lower-limb injury or immobilization, compare color, temperature, pulses, capillary refill, sensation, movement, pain, and swelling on both sides. Take a moment to identify the structure on the image and explain how its form supports its function. This is slide 19 of 21.</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Let us review the major takeaways from Chapter 8. The appendicular skeleton is the limbs plus the girdles that attach them. The mobile pectoral girdle anchors the arm; humerus, radius, ulna, and hand bones complete the upper limb. The stable pelvic girdle bears weight and differs between the sexes. The femur, tibia, fibula, and foot bones support the body and enable walking. The limbs form early in development; congenital conditions like clubfoot are treatable. Before moving on, pause and explain each point without reading the slide. If any statement is difficult to explain, mark that topic for review before the quiz.</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This final slide connects Chapter 8 to practical nursing. Fracture Sites. The clavicle, wrist, and hip are common fracture locations. Carpal Tunnel. Median-nerve compression at the wrist causes numbness and weakness. Hip Fractures. Femoral-neck fractures are a major risk in older adults. Obstetrics. The female pelvis shape is central to childbirth. Mobility. Limb bones support transfers, ambulation, and weight-bearing. Pediatrics. Congenital limb conditions like clubfoot need early intervention. Your role is to observe carefully, protect safety, follow orders and precautions, document objectively, and report changes through the appropriate chain of command. Use these examples to connect anatomy with the care you will provide.</a:t>
            </a:r>
          </a:p>
          <a:p xmlns:a="http://schemas.openxmlformats.org/drawingml/2006/main">
            <a:r>
              <a:t/>
            </a:r>
          </a:p>
          <a:p xmlns:a="http://schemas.openxmlformats.org/drawingml/2006/main">
            <a:r>
              <a:t>[Sources]</a:t>
            </a:r>
          </a:p>
          <a:p xmlns:a="http://schemas.openxmlformats.org/drawingml/2006/main">
            <a:r>
              <a:t>- BMHI PN 104 Chapter 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23f162890e407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f1793fdc7d46b5" /><Relationship Type="http://schemas.openxmlformats.org/officeDocument/2006/relationships/slideLayout" Target="/ppt/slideLayouts/slideLayout1.xml" Id="R37dcb8dec7004b94"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dcb8dec7004b9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e2f1edc35b42a5" /><Relationship Type="http://schemas.openxmlformats.org/officeDocument/2006/relationships/image" Target="/ppt/media/image.jpeg" Id="R3bd25d23ed3f4ce3" /><Relationship Type="http://schemas.openxmlformats.org/officeDocument/2006/relationships/notesSlide" Target="/ppt/notesSlides/notesSlide1.xml" Id="Rda3213abd2264d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383b7f653848e7" /><Relationship Type="http://schemas.openxmlformats.org/officeDocument/2006/relationships/image" Target="/ppt/media/image2.jpeg" Id="Rbc3dd285c3ad4b6d" /><Relationship Type="http://schemas.openxmlformats.org/officeDocument/2006/relationships/notesSlide" Target="/ppt/notesSlides/notesSlide2.xml" Id="R3d0666e10fb74e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fb2905101642ad" /><Relationship Type="http://schemas.openxmlformats.org/officeDocument/2006/relationships/notesSlide" Target="/ppt/notesSlides/notesSlide3.xml" Id="Rad1b0522625a46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0a4e67d7f145d0" /><Relationship Type="http://schemas.openxmlformats.org/officeDocument/2006/relationships/image" Target="/ppt/media/image3.jpeg" Id="Rcd4aa88c07f74dd8" /><Relationship Type="http://schemas.openxmlformats.org/officeDocument/2006/relationships/notesSlide" Target="/ppt/notesSlides/notesSlide4.xml" Id="R044bd98748d04f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5bdc6e98b049cf" /><Relationship Type="http://schemas.openxmlformats.org/officeDocument/2006/relationships/notesSlide" Target="/ppt/notesSlides/notesSlide5.xml" Id="R541b66848dc64d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e18f510da846ce" /><Relationship Type="http://schemas.openxmlformats.org/officeDocument/2006/relationships/image" Target="/ppt/media/image4.jpeg" Id="R15c82841a237464a" /><Relationship Type="http://schemas.openxmlformats.org/officeDocument/2006/relationships/notesSlide" Target="/ppt/notesSlides/notesSlide6.xml" Id="Rbccad204e8e648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cb151767564864" /><Relationship Type="http://schemas.openxmlformats.org/officeDocument/2006/relationships/image" Target="/ppt/media/image5.jpeg" Id="Re99f44385b404944" /><Relationship Type="http://schemas.openxmlformats.org/officeDocument/2006/relationships/notesSlide" Target="/ppt/notesSlides/notesSlide7.xml" Id="R4764b0b47d974d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68dd3e586048cc" /><Relationship Type="http://schemas.openxmlformats.org/officeDocument/2006/relationships/image" Target="/ppt/media/image6.jpeg" Id="R90a48978c6f14323" /><Relationship Type="http://schemas.openxmlformats.org/officeDocument/2006/relationships/notesSlide" Target="/ppt/notesSlides/notesSlide8.xml" Id="Rce69122aba124c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c0079b801a4f61" /><Relationship Type="http://schemas.openxmlformats.org/officeDocument/2006/relationships/image" Target="/ppt/media/image7.jpeg" Id="Re09fb2d40add4e80" /><Relationship Type="http://schemas.openxmlformats.org/officeDocument/2006/relationships/notesSlide" Target="/ppt/notesSlides/notesSlide9.xml" Id="R896e75af4cbc4e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e9eece3ca684dd7" /><Relationship Type="http://schemas.openxmlformats.org/officeDocument/2006/relationships/notesSlide" Target="/ppt/notesSlides/notesSlide10.xml" Id="Re8c7f39d32ee47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58a46bf6fac405a" /><Relationship Type="http://schemas.openxmlformats.org/officeDocument/2006/relationships/image" Target="/ppt/media/image8.jpeg" Id="R3b08a96c50134498" /><Relationship Type="http://schemas.openxmlformats.org/officeDocument/2006/relationships/notesSlide" Target="/ppt/notesSlides/notesSlide11.xml" Id="Rdb6b881239ee47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124463f45745c7" /><Relationship Type="http://schemas.openxmlformats.org/officeDocument/2006/relationships/image" Target="/ppt/media/image9.jpeg" Id="R04a9b37afa5a4553" /><Relationship Type="http://schemas.openxmlformats.org/officeDocument/2006/relationships/notesSlide" Target="/ppt/notesSlides/notesSlide12.xml" Id="R63122cc3791544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7ea4709f5e342f2" /><Relationship Type="http://schemas.openxmlformats.org/officeDocument/2006/relationships/image" Target="/ppt/media/image10.jpeg" Id="R701344f77d094ab7" /><Relationship Type="http://schemas.openxmlformats.org/officeDocument/2006/relationships/notesSlide" Target="/ppt/notesSlides/notesSlide13.xml" Id="Rce6014e349a641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9b744ca3d948a8" /><Relationship Type="http://schemas.openxmlformats.org/officeDocument/2006/relationships/notesSlide" Target="/ppt/notesSlides/notesSlide14.xml" Id="Raa650beb51ae4b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531e79f50784028" /><Relationship Type="http://schemas.openxmlformats.org/officeDocument/2006/relationships/image" Target="/ppt/media/image11.jpeg" Id="Rd08b048165bb40be" /><Relationship Type="http://schemas.openxmlformats.org/officeDocument/2006/relationships/notesSlide" Target="/ppt/notesSlides/notesSlide15.xml" Id="Rc18e7fe70fd348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60dbc2eb71e4a15" /><Relationship Type="http://schemas.openxmlformats.org/officeDocument/2006/relationships/image" Target="/ppt/media/image12.jpeg" Id="R87974c31276c445f" /><Relationship Type="http://schemas.openxmlformats.org/officeDocument/2006/relationships/notesSlide" Target="/ppt/notesSlides/notesSlide16.xml" Id="Re0978fec556241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b3e96d4489444bf" /><Relationship Type="http://schemas.openxmlformats.org/officeDocument/2006/relationships/image" Target="/ppt/media/image13.jpeg" Id="R73d81563d27245b4" /><Relationship Type="http://schemas.openxmlformats.org/officeDocument/2006/relationships/notesSlide" Target="/ppt/notesSlides/notesSlide17.xml" Id="Rfd0a53dfd9434e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4ddddd5873e433c" /><Relationship Type="http://schemas.openxmlformats.org/officeDocument/2006/relationships/notesSlide" Target="/ppt/notesSlides/notesSlide18.xml" Id="Rc67e1bb782ae48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c8a0c4ea22a4ed9" /><Relationship Type="http://schemas.openxmlformats.org/officeDocument/2006/relationships/image" Target="/ppt/media/image14.jpeg" Id="Rf39f494fedf44389" /><Relationship Type="http://schemas.openxmlformats.org/officeDocument/2006/relationships/notesSlide" Target="/ppt/notesSlides/notesSlide19.xml" Id="R14be3fca5568425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fb9f9e87e534659" /><Relationship Type="http://schemas.openxmlformats.org/officeDocument/2006/relationships/notesSlide" Target="/ppt/notesSlides/notesSlide20.xml" Id="R62af384421264b7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5c41053e67443a" /><Relationship Type="http://schemas.openxmlformats.org/officeDocument/2006/relationships/notesSlide" Target="/ppt/notesSlides/notesSlide21.xml" Id="R1966edc28ce54f27"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1A7D50-08AD-4ECA-BC19-D97DB5220251}"/>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8</a:t>
            </a:r>
          </a:p>
        </p:txBody>
      </p:sp>
      <p:sp>
        <p:nvSpPr>
          <p:cNvPr id="3" name="Text 1">
            <a:extLst xmlns:a="http://schemas.openxmlformats.org/drawingml/2006/main">
              <a:ext uri="{FF2B5EF4-FFF2-40B4-BE49-F238E27FC236}">
                <a16:creationId xmlns:a16="http://schemas.microsoft.com/office/drawing/2014/main" id="{BFBC8765-6CDF-4CBF-AAFD-900D04CC6252}"/>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4400" b="1">
                <a:solidFill>
                  <a:srgbClr val="FFFFFF"/>
                </a:solidFill>
                <a:latin typeface="Georgia"/>
                <a:ea typeface="Georgia"/>
                <a:cs typeface="Georgia"/>
              </a:rPr>
              <a:t>The Appendicular Skeleton</a:t>
            </a:r>
          </a:p>
        </p:txBody>
      </p:sp>
      <p:sp>
        <p:nvSpPr>
          <p:cNvPr id="4" name="Text 2">
            <a:extLst xmlns:a="http://schemas.openxmlformats.org/drawingml/2006/main">
              <a:ext uri="{FF2B5EF4-FFF2-40B4-BE49-F238E27FC236}">
                <a16:creationId xmlns:a16="http://schemas.microsoft.com/office/drawing/2014/main" id="{A9D689EA-5142-42DA-8EE9-2A8EDDA483C5}"/>
              </a:ext>
            </a:extLst>
          </p:cNvPr>
          <p:cNvSpPr>
            <a:spLocks xmlns:a="http://schemas.openxmlformats.org/drawingml/2006/main" noGrp="1"/>
          </p:cNvSpPr>
          <p:nvPr/>
        </p:nvSpPr>
        <p:spPr>
          <a:xfrm xmlns:a="http://schemas.openxmlformats.org/drawingml/2006/main">
            <a:off x="749808" y="388620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The limbs and the girdles that attach them to the body.</a:t>
            </a:r>
          </a:p>
        </p:txBody>
      </p:sp>
      <p:sp>
        <p:nvSpPr>
          <p:cNvPr id="5" name="Text 3">
            <a:extLst xmlns:a="http://schemas.openxmlformats.org/drawingml/2006/main">
              <a:ext uri="{FF2B5EF4-FFF2-40B4-BE49-F238E27FC236}">
                <a16:creationId xmlns:a16="http://schemas.microsoft.com/office/drawing/2014/main" id="{5C4519CD-3F62-4B77-9EAC-AE36271C3A90}"/>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p>
        </p:txBody>
      </p:sp>
      <p:sp>
        <p:nvSpPr>
          <p:cNvPr id="6" name="Text 4">
            <a:extLst xmlns:a="http://schemas.openxmlformats.org/drawingml/2006/main">
              <a:ext uri="{FF2B5EF4-FFF2-40B4-BE49-F238E27FC236}">
                <a16:creationId xmlns:a16="http://schemas.microsoft.com/office/drawing/2014/main" id="{568F143C-9D03-4E69-809E-608DE2ECF422}"/>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p>
        </p:txBody>
      </p:sp>
      <p:sp>
        <p:nvSpPr>
          <p:cNvPr id="7" name="Shape 5">
            <a:extLst xmlns:a="http://schemas.openxmlformats.org/drawingml/2006/main">
              <a:ext uri="{FF2B5EF4-FFF2-40B4-BE49-F238E27FC236}">
                <a16:creationId xmlns:a16="http://schemas.microsoft.com/office/drawing/2014/main" id="{B1A7B6ED-9152-412A-8966-BEEFDC0140BD}"/>
              </a:ext>
            </a:extLst>
          </p:cNvPr>
          <p:cNvSpPr>
            <a:spLocks xmlns:a="http://schemas.openxmlformats.org/drawingml/2006/main" noGrp="1"/>
          </p:cNvSpPr>
          <p:nvPr/>
        </p:nvSpPr>
        <p:spPr>
          <a:xfrm xmlns:a="http://schemas.openxmlformats.org/drawingml/2006/main">
            <a:off x="7735824" y="2637313"/>
            <a:ext cx="4096512" cy="1766254"/>
          </a:xfrm>
          <a:prstGeom xmlns:a="http://schemas.openxmlformats.org/drawingml/2006/main" prst="roundRect">
            <a:avLst>
              <a:gd name="adj" fmla="val 310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3bd25d23ed3f4ce3"/>
          <a:stretch xmlns:a="http://schemas.openxmlformats.org/drawingml/2006/main">
            <a:fillRect l="0" t="0" r="0" b="0"/>
          </a:stretch>
        </p:blipFill>
        <p:spPr>
          <a:xfrm xmlns:a="http://schemas.openxmlformats.org/drawingml/2006/main">
            <a:off x="7818120" y="2719609"/>
            <a:ext cx="3931920" cy="1601662"/>
          </a:xfrm>
          <a:prstGeom xmlns:a="http://schemas.openxmlformats.org/drawingml/2006/main" prst="rect">
            <a:avLst/>
          </a:prstGeom>
        </p:spPr>
      </p:pic>
    </p:spTree>
    <p:extLst>
      <p:ext uri="{BB962C8B-B14F-4D97-AF65-F5344CB8AC3E}">
        <p14:creationId xmlns:p14="http://schemas.microsoft.com/office/powerpoint/2010/main" val="4161708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3B790EC-791E-49C0-8E29-2A653DC3BB14}"/>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8</a:t>
            </a:r>
          </a:p>
        </p:txBody>
      </p:sp>
      <p:sp>
        <p:nvSpPr>
          <p:cNvPr id="3" name="Text 1">
            <a:extLst xmlns:a="http://schemas.openxmlformats.org/drawingml/2006/main">
              <a:ext uri="{FF2B5EF4-FFF2-40B4-BE49-F238E27FC236}">
                <a16:creationId xmlns:a16="http://schemas.microsoft.com/office/drawing/2014/main" id="{10EF448D-6C1B-4DEF-A150-C135465E145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p>
        </p:txBody>
      </p:sp>
      <p:sp>
        <p:nvSpPr>
          <p:cNvPr id="4" name="Text 2">
            <a:extLst xmlns:a="http://schemas.openxmlformats.org/drawingml/2006/main">
              <a:ext uri="{FF2B5EF4-FFF2-40B4-BE49-F238E27FC236}">
                <a16:creationId xmlns:a16="http://schemas.microsoft.com/office/drawing/2014/main" id="{2077170D-41AA-46C4-99F4-EE2AE19DB634}"/>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p>
        </p:txBody>
      </p:sp>
      <p:sp>
        <p:nvSpPr>
          <p:cNvPr id="5" name="Shape 3">
            <a:extLst xmlns:a="http://schemas.openxmlformats.org/drawingml/2006/main">
              <a:ext uri="{FF2B5EF4-FFF2-40B4-BE49-F238E27FC236}">
                <a16:creationId xmlns:a16="http://schemas.microsoft.com/office/drawing/2014/main" id="{7FCF5D77-FFC2-45FA-B869-5723AA59D9C1}"/>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865DC75C-A3BC-486A-9BE6-D19C286CBE6D}"/>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p>
        </p:txBody>
      </p:sp>
      <p:sp>
        <p:nvSpPr>
          <p:cNvPr id="7" name="Text 5">
            <a:extLst xmlns:a="http://schemas.openxmlformats.org/drawingml/2006/main">
              <a:ext uri="{FF2B5EF4-FFF2-40B4-BE49-F238E27FC236}">
                <a16:creationId xmlns:a16="http://schemas.microsoft.com/office/drawing/2014/main" id="{67C8DAC0-4EA3-4C81-8510-853346F04549}"/>
              </a:ext>
            </a:extLst>
          </p:cNvPr>
          <p:cNvSpPr>
            <a:spLocks xmlns:a="http://schemas.openxmlformats.org/drawingml/2006/main" noGrp="1"/>
          </p:cNvSpPr>
          <p:nvPr/>
        </p:nvSpPr>
        <p:spPr>
          <a:xfrm xmlns:a="http://schemas.openxmlformats.org/drawingml/2006/main">
            <a:off x="1115568" y="1645920"/>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Discuss the bones of the pectoral and pelvic girdles, and describe how these unite the limbs with the axial skeleton</a:t>
            </a:r>
          </a:p>
        </p:txBody>
      </p:sp>
      <p:sp>
        <p:nvSpPr>
          <p:cNvPr id="8" name="Shape 6">
            <a:extLst xmlns:a="http://schemas.openxmlformats.org/drawingml/2006/main">
              <a:ext uri="{FF2B5EF4-FFF2-40B4-BE49-F238E27FC236}">
                <a16:creationId xmlns:a16="http://schemas.microsoft.com/office/drawing/2014/main" id="{51B9089B-48A7-44DF-AAF1-FD2DEB58F29B}"/>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D866C9C5-D183-4430-B2FC-B06580D2218A}"/>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p>
        </p:txBody>
      </p:sp>
      <p:sp>
        <p:nvSpPr>
          <p:cNvPr id="10" name="Text 8">
            <a:extLst xmlns:a="http://schemas.openxmlformats.org/drawingml/2006/main">
              <a:ext uri="{FF2B5EF4-FFF2-40B4-BE49-F238E27FC236}">
                <a16:creationId xmlns:a16="http://schemas.microsoft.com/office/drawing/2014/main" id="{E54AD8BB-E089-40FC-ACD6-52AF798BB869}"/>
              </a:ext>
            </a:extLst>
          </p:cNvPr>
          <p:cNvSpPr>
            <a:spLocks xmlns:a="http://schemas.openxmlformats.org/drawingml/2006/main" noGrp="1"/>
          </p:cNvSpPr>
          <p:nvPr/>
        </p:nvSpPr>
        <p:spPr>
          <a:xfrm xmlns:a="http://schemas.openxmlformats.org/drawingml/2006/main">
            <a:off x="1115568" y="2432304"/>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bones of the upper limb, including the bones of the arm, forearm, wrist, and hand</a:t>
            </a:r>
          </a:p>
        </p:txBody>
      </p:sp>
      <p:sp>
        <p:nvSpPr>
          <p:cNvPr id="11" name="Shape 9">
            <a:extLst xmlns:a="http://schemas.openxmlformats.org/drawingml/2006/main">
              <a:ext uri="{FF2B5EF4-FFF2-40B4-BE49-F238E27FC236}">
                <a16:creationId xmlns:a16="http://schemas.microsoft.com/office/drawing/2014/main" id="{6049622E-37D6-4ACD-BBEE-121681820396}"/>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78145789-F8A6-4246-9841-EAB4C01F0EDE}"/>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p>
        </p:txBody>
      </p:sp>
      <p:sp>
        <p:nvSpPr>
          <p:cNvPr id="13" name="Text 11">
            <a:extLst xmlns:a="http://schemas.openxmlformats.org/drawingml/2006/main">
              <a:ext uri="{FF2B5EF4-FFF2-40B4-BE49-F238E27FC236}">
                <a16:creationId xmlns:a16="http://schemas.microsoft.com/office/drawing/2014/main" id="{53F7E065-143F-4F6E-8128-FA61A9BB9A4E}"/>
              </a:ext>
            </a:extLst>
          </p:cNvPr>
          <p:cNvSpPr>
            <a:spLocks xmlns:a="http://schemas.openxmlformats.org/drawingml/2006/main" noGrp="1"/>
          </p:cNvSpPr>
          <p:nvPr/>
        </p:nvSpPr>
        <p:spPr>
          <a:xfrm xmlns:a="http://schemas.openxmlformats.org/drawingml/2006/main">
            <a:off x="1115568" y="3218688"/>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Identify the features of the pelvis and explain how these differ between the adult male and female pelvis</a:t>
            </a:r>
          </a:p>
        </p:txBody>
      </p:sp>
      <p:sp>
        <p:nvSpPr>
          <p:cNvPr id="14" name="Shape 12">
            <a:extLst xmlns:a="http://schemas.openxmlformats.org/drawingml/2006/main">
              <a:ext uri="{FF2B5EF4-FFF2-40B4-BE49-F238E27FC236}">
                <a16:creationId xmlns:a16="http://schemas.microsoft.com/office/drawing/2014/main" id="{44F72493-B857-4C5B-9EAD-83AD077DAB5B}"/>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6BD7B424-8C3E-4BFB-B3DE-6DC4AE3E22D8}"/>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p>
        </p:txBody>
      </p:sp>
      <p:sp>
        <p:nvSpPr>
          <p:cNvPr id="16" name="Text 14">
            <a:extLst xmlns:a="http://schemas.openxmlformats.org/drawingml/2006/main">
              <a:ext uri="{FF2B5EF4-FFF2-40B4-BE49-F238E27FC236}">
                <a16:creationId xmlns:a16="http://schemas.microsoft.com/office/drawing/2014/main" id="{A2CD65C1-FE0E-4418-85D1-8ABE612A92F1}"/>
              </a:ext>
            </a:extLst>
          </p:cNvPr>
          <p:cNvSpPr>
            <a:spLocks xmlns:a="http://schemas.openxmlformats.org/drawingml/2006/main" noGrp="1"/>
          </p:cNvSpPr>
          <p:nvPr/>
        </p:nvSpPr>
        <p:spPr>
          <a:xfrm xmlns:a="http://schemas.openxmlformats.org/drawingml/2006/main">
            <a:off x="1115568" y="4005072"/>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bones of the lower limb, including the bones of the thigh, leg, ankle, and foot</a:t>
            </a:r>
          </a:p>
        </p:txBody>
      </p:sp>
      <p:sp>
        <p:nvSpPr>
          <p:cNvPr id="17" name="Shape 15">
            <a:extLst xmlns:a="http://schemas.openxmlformats.org/drawingml/2006/main">
              <a:ext uri="{FF2B5EF4-FFF2-40B4-BE49-F238E27FC236}">
                <a16:creationId xmlns:a16="http://schemas.microsoft.com/office/drawing/2014/main" id="{06DB51CA-10A6-42CA-A6DA-66216065B3AF}"/>
              </a:ext>
            </a:extLst>
          </p:cNvPr>
          <p:cNvSpPr>
            <a:spLocks xmlns:a="http://schemas.openxmlformats.org/drawingml/2006/main" noGrp="1"/>
          </p:cNvSpPr>
          <p:nvPr/>
        </p:nvSpPr>
        <p:spPr>
          <a:xfrm xmlns:a="http://schemas.openxmlformats.org/drawingml/2006/main">
            <a:off x="548640" y="4809744"/>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D7BCD5BD-67B2-46CA-8060-F4E85207E3D2}"/>
              </a:ext>
            </a:extLst>
          </p:cNvPr>
          <p:cNvSpPr>
            <a:spLocks xmlns:a="http://schemas.openxmlformats.org/drawingml/2006/main" noGrp="1"/>
          </p:cNvSpPr>
          <p:nvPr/>
        </p:nvSpPr>
        <p:spPr>
          <a:xfrm xmlns:a="http://schemas.openxmlformats.org/drawingml/2006/main">
            <a:off x="548640" y="4809744"/>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p>
        </p:txBody>
      </p:sp>
      <p:sp>
        <p:nvSpPr>
          <p:cNvPr id="19" name="Text 17">
            <a:extLst xmlns:a="http://schemas.openxmlformats.org/drawingml/2006/main">
              <a:ext uri="{FF2B5EF4-FFF2-40B4-BE49-F238E27FC236}">
                <a16:creationId xmlns:a16="http://schemas.microsoft.com/office/drawing/2014/main" id="{1B0A599E-A61D-4122-992E-CE922B4F42B8}"/>
              </a:ext>
            </a:extLst>
          </p:cNvPr>
          <p:cNvSpPr>
            <a:spLocks xmlns:a="http://schemas.openxmlformats.org/drawingml/2006/main" noGrp="1"/>
          </p:cNvSpPr>
          <p:nvPr/>
        </p:nvSpPr>
        <p:spPr>
          <a:xfrm xmlns:a="http://schemas.openxmlformats.org/drawingml/2006/main">
            <a:off x="1115568" y="4791456"/>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embryonic formation and growth of the limb bones Your skeleton provides the internal supporting structure of the body</a:t>
            </a:r>
          </a:p>
        </p:txBody>
      </p:sp>
      <p:sp>
        <p:nvSpPr>
          <p:cNvPr id="20" name="Shape 18">
            <a:extLst xmlns:a="http://schemas.openxmlformats.org/drawingml/2006/main">
              <a:ext uri="{FF2B5EF4-FFF2-40B4-BE49-F238E27FC236}">
                <a16:creationId xmlns:a16="http://schemas.microsoft.com/office/drawing/2014/main" id="{46C2BD04-8C2B-472F-8E1E-4A7A66823731}"/>
              </a:ext>
            </a:extLst>
          </p:cNvPr>
          <p:cNvSpPr>
            <a:spLocks xmlns:a="http://schemas.openxmlformats.org/drawingml/2006/main" noGrp="1"/>
          </p:cNvSpPr>
          <p:nvPr/>
        </p:nvSpPr>
        <p:spPr>
          <a:xfrm xmlns:a="http://schemas.openxmlformats.org/drawingml/2006/main">
            <a:off x="7452168" y="1545336"/>
            <a:ext cx="4298064" cy="4370832"/>
          </a:xfrm>
          <a:prstGeom xmlns:a="http://schemas.openxmlformats.org/drawingml/2006/main" prst="roundRect">
            <a:avLst>
              <a:gd name="adj" fmla="val 127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bc3dd285c3ad4b6d"/>
          <a:stretch xmlns:a="http://schemas.openxmlformats.org/drawingml/2006/main">
            <a:fillRect l="0" t="0" r="0" b="0"/>
          </a:stretch>
        </p:blipFill>
        <p:spPr>
          <a:xfrm xmlns:a="http://schemas.openxmlformats.org/drawingml/2006/main">
            <a:off x="7534464" y="1627632"/>
            <a:ext cx="4133472" cy="4206240"/>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C33628ED-71A1-45AE-ADBC-F3E35490C2AA}"/>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appendicular skeleton — the limbs and their girdles.</a:t>
            </a:r>
          </a:p>
        </p:txBody>
      </p:sp>
      <p:sp>
        <p:nvSpPr>
          <p:cNvPr id="24" name="Text 20">
            <a:extLst xmlns:a="http://schemas.openxmlformats.org/drawingml/2006/main">
              <a:ext uri="{FF2B5EF4-FFF2-40B4-BE49-F238E27FC236}">
                <a16:creationId xmlns:a16="http://schemas.microsoft.com/office/drawing/2014/main" id="{047EF447-E1D0-4A30-8952-58C2C03EDFF1}"/>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25" name="Text 21">
            <a:extLst xmlns:a="http://schemas.openxmlformats.org/drawingml/2006/main">
              <a:ext uri="{FF2B5EF4-FFF2-40B4-BE49-F238E27FC236}">
                <a16:creationId xmlns:a16="http://schemas.microsoft.com/office/drawing/2014/main" id="{5DCA33AB-3BEA-4586-BE93-2866BE05929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p>
        </p:txBody>
      </p:sp>
    </p:spTree>
    <p:extLst>
      <p:ext uri="{BB962C8B-B14F-4D97-AF65-F5344CB8AC3E}">
        <p14:creationId xmlns:p14="http://schemas.microsoft.com/office/powerpoint/2010/main" val="1604277510"/>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C92E404-0EA5-4029-BC63-5BC81EF0F3A2}"/>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5CB0CB5B-8DEF-4F9F-A0F2-C1EDCE72E0A6}"/>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8.1</a:t>
            </a:r>
          </a:p>
        </p:txBody>
      </p:sp>
      <p:sp>
        <p:nvSpPr>
          <p:cNvPr id="4" name="Text 2">
            <a:extLst xmlns:a="http://schemas.openxmlformats.org/drawingml/2006/main">
              <a:ext uri="{FF2B5EF4-FFF2-40B4-BE49-F238E27FC236}">
                <a16:creationId xmlns:a16="http://schemas.microsoft.com/office/drawing/2014/main" id="{BF935E75-F67A-46E8-8157-45AF78C935A5}"/>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2AA1E502-1F04-4FDB-87E0-EA7777F54A93}"/>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The Pectoral Girdle</a:t>
            </a:r>
          </a:p>
        </p:txBody>
      </p:sp>
      <p:sp>
        <p:nvSpPr>
          <p:cNvPr id="6" name="Text 4">
            <a:extLst xmlns:a="http://schemas.openxmlformats.org/drawingml/2006/main">
              <a:ext uri="{FF2B5EF4-FFF2-40B4-BE49-F238E27FC236}">
                <a16:creationId xmlns:a16="http://schemas.microsoft.com/office/drawing/2014/main" id="{293EFB82-23C0-40E8-9CD8-1276D6F8C2DD}"/>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clavicle and scapula that anchor the arm to the body.</a:t>
            </a:r>
          </a:p>
        </p:txBody>
      </p:sp>
    </p:spTree>
    <p:extLst>
      <p:ext uri="{BB962C8B-B14F-4D97-AF65-F5344CB8AC3E}">
        <p14:creationId xmlns:p14="http://schemas.microsoft.com/office/powerpoint/2010/main" val="3375543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85C49BA-2A59-4DFA-BE31-2C2327CD855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8.1</a:t>
            </a:r>
          </a:p>
        </p:txBody>
      </p:sp>
      <p:sp>
        <p:nvSpPr>
          <p:cNvPr id="3" name="Text 1">
            <a:extLst xmlns:a="http://schemas.openxmlformats.org/drawingml/2006/main">
              <a:ext uri="{FF2B5EF4-FFF2-40B4-BE49-F238E27FC236}">
                <a16:creationId xmlns:a16="http://schemas.microsoft.com/office/drawing/2014/main" id="{4FADF5A4-B99C-43A6-815B-E786D3D1EB0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Pectoral Girdle</a:t>
            </a:r>
          </a:p>
        </p:txBody>
      </p:sp>
      <p:sp>
        <p:nvSpPr>
          <p:cNvPr id="4" name="Shape 2">
            <a:extLst xmlns:a="http://schemas.openxmlformats.org/drawingml/2006/main">
              <a:ext uri="{FF2B5EF4-FFF2-40B4-BE49-F238E27FC236}">
                <a16:creationId xmlns:a16="http://schemas.microsoft.com/office/drawing/2014/main" id="{7788B078-63A1-4DE3-98CD-B5EF8FDC660F}"/>
              </a:ext>
            </a:extLst>
          </p:cNvPr>
          <p:cNvSpPr>
            <a:spLocks xmlns:a="http://schemas.openxmlformats.org/drawingml/2006/main" noGrp="1"/>
          </p:cNvSpPr>
          <p:nvPr/>
        </p:nvSpPr>
        <p:spPr>
          <a:xfrm xmlns:a="http://schemas.openxmlformats.org/drawingml/2006/main">
            <a:off x="911428" y="1289304"/>
            <a:ext cx="3480664" cy="4736592"/>
          </a:xfrm>
          <a:prstGeom xmlns:a="http://schemas.openxmlformats.org/drawingml/2006/main" prst="roundRect">
            <a:avLst>
              <a:gd name="adj" fmla="val 157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cd4aa88c07f74dd8"/>
          <a:stretch xmlns:a="http://schemas.openxmlformats.org/drawingml/2006/main">
            <a:fillRect l="0" t="0" r="0" b="0"/>
          </a:stretch>
        </p:blipFill>
        <p:spPr>
          <a:xfrm xmlns:a="http://schemas.openxmlformats.org/drawingml/2006/main">
            <a:off x="993724" y="1371600"/>
            <a:ext cx="3316072"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1F0CB7C7-FB62-4A08-8961-CF4E0B756B55}"/>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pectoral girdle (clavicle and scapula)</a:t>
            </a:r>
          </a:p>
        </p:txBody>
      </p:sp>
      <p:sp>
        <p:nvSpPr>
          <p:cNvPr id="7" name="Text 4">
            <a:extLst xmlns:a="http://schemas.openxmlformats.org/drawingml/2006/main">
              <a:ext uri="{FF2B5EF4-FFF2-40B4-BE49-F238E27FC236}">
                <a16:creationId xmlns:a16="http://schemas.microsoft.com/office/drawing/2014/main" id="{FB79E26D-7A3E-4FB2-B673-01FB91669173}"/>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Clavicle and scapula on each side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Attaches the arm to the axial skeleton</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Highly mobile but less stable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clavicle is commonly fractured</a:t>
            </a:r>
          </a:p>
        </p:txBody>
      </p:sp>
      <p:sp>
        <p:nvSpPr>
          <p:cNvPr id="9" name="Text 5">
            <a:extLst xmlns:a="http://schemas.openxmlformats.org/drawingml/2006/main">
              <a:ext uri="{FF2B5EF4-FFF2-40B4-BE49-F238E27FC236}">
                <a16:creationId xmlns:a16="http://schemas.microsoft.com/office/drawing/2014/main" id="{11944683-5F0E-4611-A211-418B950D5599}"/>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7406CC4D-74EF-41DC-9FC7-B34F5759757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p>
        </p:txBody>
      </p:sp>
    </p:spTree>
    <p:extLst>
      <p:ext uri="{BB962C8B-B14F-4D97-AF65-F5344CB8AC3E}">
        <p14:creationId xmlns:p14="http://schemas.microsoft.com/office/powerpoint/2010/main" val="1225877508"/>
      </p:ext>
    </p:extLst>
  </p:cSld>
</p:sld>
</file>

<file path=ppt/slides/slide5.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7DFF896-9282-432B-89AE-4CE727A10357}"/>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C5D469C6-54DA-4A62-BB45-70B6E40942A1}"/>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8.2</a:t>
            </a:r>
          </a:p>
        </p:txBody>
      </p:sp>
      <p:sp>
        <p:nvSpPr>
          <p:cNvPr id="4" name="Text 2">
            <a:extLst xmlns:a="http://schemas.openxmlformats.org/drawingml/2006/main">
              <a:ext uri="{FF2B5EF4-FFF2-40B4-BE49-F238E27FC236}">
                <a16:creationId xmlns:a16="http://schemas.microsoft.com/office/drawing/2014/main" id="{6BF782A0-D7D2-438E-BD5E-13EAC864A4BB}"/>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3191460A-D40C-45EA-8063-8A3FFB123932}"/>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Bones of the Upper Limb</a:t>
            </a:r>
          </a:p>
        </p:txBody>
      </p:sp>
      <p:sp>
        <p:nvSpPr>
          <p:cNvPr id="6" name="Text 4">
            <a:extLst xmlns:a="http://schemas.openxmlformats.org/drawingml/2006/main">
              <a:ext uri="{FF2B5EF4-FFF2-40B4-BE49-F238E27FC236}">
                <a16:creationId xmlns:a16="http://schemas.microsoft.com/office/drawing/2014/main" id="{4BFA2575-297B-4243-82CF-2E38D721569B}"/>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humerus, radius, ulna, and the bones of the wrist and hand.</a:t>
            </a:r>
          </a:p>
        </p:txBody>
      </p:sp>
    </p:spTree>
    <p:extLst>
      <p:ext uri="{BB962C8B-B14F-4D97-AF65-F5344CB8AC3E}">
        <p14:creationId xmlns:p14="http://schemas.microsoft.com/office/powerpoint/2010/main" val="1098712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88DE6D-A993-4845-BA0C-56649863FCA2}"/>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8.2</a:t>
            </a:r>
          </a:p>
        </p:txBody>
      </p:sp>
      <p:sp>
        <p:nvSpPr>
          <p:cNvPr id="3" name="Text 1">
            <a:extLst xmlns:a="http://schemas.openxmlformats.org/drawingml/2006/main">
              <a:ext uri="{FF2B5EF4-FFF2-40B4-BE49-F238E27FC236}">
                <a16:creationId xmlns:a16="http://schemas.microsoft.com/office/drawing/2014/main" id="{41707EF0-70F8-4A3D-90A9-347F355FA63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Humerus</a:t>
            </a:r>
          </a:p>
        </p:txBody>
      </p:sp>
      <p:sp>
        <p:nvSpPr>
          <p:cNvPr id="4" name="Shape 2">
            <a:extLst xmlns:a="http://schemas.openxmlformats.org/drawingml/2006/main">
              <a:ext uri="{FF2B5EF4-FFF2-40B4-BE49-F238E27FC236}">
                <a16:creationId xmlns:a16="http://schemas.microsoft.com/office/drawing/2014/main" id="{0EA45F58-5FAB-4151-9C74-3ADC0B67F14F}"/>
              </a:ext>
            </a:extLst>
          </p:cNvPr>
          <p:cNvSpPr>
            <a:spLocks xmlns:a="http://schemas.openxmlformats.org/drawingml/2006/main" noGrp="1"/>
          </p:cNvSpPr>
          <p:nvPr/>
        </p:nvSpPr>
        <p:spPr>
          <a:xfrm xmlns:a="http://schemas.openxmlformats.org/drawingml/2006/main">
            <a:off x="757809" y="1289304"/>
            <a:ext cx="3787902" cy="4736592"/>
          </a:xfrm>
          <a:prstGeom xmlns:a="http://schemas.openxmlformats.org/drawingml/2006/main" prst="roundRect">
            <a:avLst>
              <a:gd name="adj" fmla="val 144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15c82841a237464a"/>
          <a:stretch xmlns:a="http://schemas.openxmlformats.org/drawingml/2006/main">
            <a:fillRect l="0" t="0" r="0" b="0"/>
          </a:stretch>
        </p:blipFill>
        <p:spPr>
          <a:xfrm xmlns:a="http://schemas.openxmlformats.org/drawingml/2006/main">
            <a:off x="840105" y="1371600"/>
            <a:ext cx="3623310"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AEBDF34-8E57-4402-B4A4-4C4BD0943846}"/>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humerus (arm bone)</a:t>
            </a:r>
          </a:p>
        </p:txBody>
      </p:sp>
      <p:sp>
        <p:nvSpPr>
          <p:cNvPr id="7" name="Text 4">
            <a:extLst xmlns:a="http://schemas.openxmlformats.org/drawingml/2006/main">
              <a:ext uri="{FF2B5EF4-FFF2-40B4-BE49-F238E27FC236}">
                <a16:creationId xmlns:a16="http://schemas.microsoft.com/office/drawing/2014/main" id="{FCB5667B-65C8-4BBD-9E1B-6BF5C3F2B713}"/>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single bone of the arm</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Head fits the scapula's glenoid cavity</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Articulates with radius and ulna</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Many muscle attachment sites</a:t>
            </a:r>
          </a:p>
        </p:txBody>
      </p:sp>
      <p:sp>
        <p:nvSpPr>
          <p:cNvPr id="9" name="Text 5">
            <a:extLst xmlns:a="http://schemas.openxmlformats.org/drawingml/2006/main">
              <a:ext uri="{FF2B5EF4-FFF2-40B4-BE49-F238E27FC236}">
                <a16:creationId xmlns:a16="http://schemas.microsoft.com/office/drawing/2014/main" id="{AA5985FE-D25B-4509-BCA2-CF6A7CB5FA2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353D208E-4494-4C44-AB3C-78CBD807E9BB}"/>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p>
        </p:txBody>
      </p:sp>
    </p:spTree>
    <p:extLst>
      <p:ext uri="{BB962C8B-B14F-4D97-AF65-F5344CB8AC3E}">
        <p14:creationId xmlns:p14="http://schemas.microsoft.com/office/powerpoint/2010/main" val="6526727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D0077B3-A3AA-4F83-ACD8-541A2665524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8.2</a:t>
            </a:r>
          </a:p>
        </p:txBody>
      </p:sp>
      <p:sp>
        <p:nvSpPr>
          <p:cNvPr id="3" name="Text 1">
            <a:extLst xmlns:a="http://schemas.openxmlformats.org/drawingml/2006/main">
              <a:ext uri="{FF2B5EF4-FFF2-40B4-BE49-F238E27FC236}">
                <a16:creationId xmlns:a16="http://schemas.microsoft.com/office/drawing/2014/main" id="{F6736084-15AE-416E-90BE-C337E06E6503}"/>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Radius and Ulna</a:t>
            </a:r>
          </a:p>
        </p:txBody>
      </p:sp>
      <p:sp>
        <p:nvSpPr>
          <p:cNvPr id="4" name="Shape 2">
            <a:extLst xmlns:a="http://schemas.openxmlformats.org/drawingml/2006/main">
              <a:ext uri="{FF2B5EF4-FFF2-40B4-BE49-F238E27FC236}">
                <a16:creationId xmlns:a16="http://schemas.microsoft.com/office/drawing/2014/main" id="{B6EE62ED-A463-490C-867B-0C91FC8795AD}"/>
              </a:ext>
            </a:extLst>
          </p:cNvPr>
          <p:cNvSpPr>
            <a:spLocks xmlns:a="http://schemas.openxmlformats.org/drawingml/2006/main" noGrp="1"/>
          </p:cNvSpPr>
          <p:nvPr/>
        </p:nvSpPr>
        <p:spPr>
          <a:xfrm xmlns:a="http://schemas.openxmlformats.org/drawingml/2006/main">
            <a:off x="880796" y="1289304"/>
            <a:ext cx="3541928" cy="4736592"/>
          </a:xfrm>
          <a:prstGeom xmlns:a="http://schemas.openxmlformats.org/drawingml/2006/main" prst="roundRect">
            <a:avLst>
              <a:gd name="adj" fmla="val 1549"/>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e99f44385b404944"/>
          <a:stretch xmlns:a="http://schemas.openxmlformats.org/drawingml/2006/main">
            <a:fillRect l="0" t="0" r="0" b="0"/>
          </a:stretch>
        </p:blipFill>
        <p:spPr>
          <a:xfrm xmlns:a="http://schemas.openxmlformats.org/drawingml/2006/main">
            <a:off x="963092" y="1371600"/>
            <a:ext cx="3377336"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A026F820-EA08-4CFF-96ED-07A6D5D3FF3D}"/>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radius and ulna (forearm)</a:t>
            </a:r>
          </a:p>
        </p:txBody>
      </p:sp>
      <p:sp>
        <p:nvSpPr>
          <p:cNvPr id="7" name="Text 4">
            <a:extLst xmlns:a="http://schemas.openxmlformats.org/drawingml/2006/main">
              <a:ext uri="{FF2B5EF4-FFF2-40B4-BE49-F238E27FC236}">
                <a16:creationId xmlns:a16="http://schemas.microsoft.com/office/drawing/2014/main" id="{BF687D98-A17F-49BC-B454-2349894F7336}"/>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two bones of the forearm</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Ulna is medial (little-finger side)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Radius is lateral (thumb side)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They cross during pronation</a:t>
            </a:r>
          </a:p>
        </p:txBody>
      </p:sp>
      <p:sp>
        <p:nvSpPr>
          <p:cNvPr id="9" name="Text 5">
            <a:extLst xmlns:a="http://schemas.openxmlformats.org/drawingml/2006/main">
              <a:ext uri="{FF2B5EF4-FFF2-40B4-BE49-F238E27FC236}">
                <a16:creationId xmlns:a16="http://schemas.microsoft.com/office/drawing/2014/main" id="{E65B0531-2A36-49EA-9EE3-CAE0C9B948C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B00C3CC7-8707-4E7B-8B60-27AD80BC7EE5}"/>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7</a:t>
            </a:r>
          </a:p>
        </p:txBody>
      </p:sp>
    </p:spTree>
    <p:extLst>
      <p:ext uri="{BB962C8B-B14F-4D97-AF65-F5344CB8AC3E}">
        <p14:creationId xmlns:p14="http://schemas.microsoft.com/office/powerpoint/2010/main" val="15005767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E5D325D-C1D4-4619-B181-8174B37394D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8.2</a:t>
            </a:r>
          </a:p>
        </p:txBody>
      </p:sp>
      <p:sp>
        <p:nvSpPr>
          <p:cNvPr id="3" name="Text 1">
            <a:extLst xmlns:a="http://schemas.openxmlformats.org/drawingml/2006/main">
              <a:ext uri="{FF2B5EF4-FFF2-40B4-BE49-F238E27FC236}">
                <a16:creationId xmlns:a16="http://schemas.microsoft.com/office/drawing/2014/main" id="{F235B1B0-F889-4321-B951-FD690EB261E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Bones of the Hand</a:t>
            </a:r>
          </a:p>
        </p:txBody>
      </p:sp>
      <p:sp>
        <p:nvSpPr>
          <p:cNvPr id="4" name="Text 2">
            <a:extLst xmlns:a="http://schemas.openxmlformats.org/drawingml/2006/main">
              <a:ext uri="{FF2B5EF4-FFF2-40B4-BE49-F238E27FC236}">
                <a16:creationId xmlns:a16="http://schemas.microsoft.com/office/drawing/2014/main" id="{47CAC936-ECA0-4188-AE53-8DA6519E9C53}"/>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8 carpals form the wrist</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5 metacarpals form the palm</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14 phalanges form the fingers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Built for fine, precise movement</a:t>
            </a:r>
          </a:p>
        </p:txBody>
      </p:sp>
      <p:sp>
        <p:nvSpPr>
          <p:cNvPr id="5" name="Shape 3">
            <a:extLst xmlns:a="http://schemas.openxmlformats.org/drawingml/2006/main">
              <a:ext uri="{FF2B5EF4-FFF2-40B4-BE49-F238E27FC236}">
                <a16:creationId xmlns:a16="http://schemas.microsoft.com/office/drawing/2014/main" id="{C986103F-505F-42B2-8C50-3C1A6D1E2086}"/>
              </a:ext>
            </a:extLst>
          </p:cNvPr>
          <p:cNvSpPr>
            <a:spLocks xmlns:a="http://schemas.openxmlformats.org/drawingml/2006/main" noGrp="1"/>
          </p:cNvSpPr>
          <p:nvPr/>
        </p:nvSpPr>
        <p:spPr>
          <a:xfrm xmlns:a="http://schemas.openxmlformats.org/drawingml/2006/main">
            <a:off x="5728844" y="1335024"/>
            <a:ext cx="5733032"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90a48978c6f14323"/>
          <a:stretch xmlns:a="http://schemas.openxmlformats.org/drawingml/2006/main">
            <a:fillRect l="0" t="0" r="0" b="0"/>
          </a:stretch>
        </p:blipFill>
        <p:spPr>
          <a:xfrm xmlns:a="http://schemas.openxmlformats.org/drawingml/2006/main">
            <a:off x="5811140" y="1417320"/>
            <a:ext cx="5568440"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053AF1F-97C5-4B92-B80B-A15263171DD1}"/>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bones of the wrist and hand</a:t>
            </a:r>
          </a:p>
        </p:txBody>
      </p:sp>
      <p:sp>
        <p:nvSpPr>
          <p:cNvPr id="9" name="Text 5">
            <a:extLst xmlns:a="http://schemas.openxmlformats.org/drawingml/2006/main">
              <a:ext uri="{FF2B5EF4-FFF2-40B4-BE49-F238E27FC236}">
                <a16:creationId xmlns:a16="http://schemas.microsoft.com/office/drawing/2014/main" id="{1B09EFE9-C114-4C88-B05B-4725BF5EA96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8EC70F01-3685-4938-9C85-384A8BCBDB0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p>
        </p:txBody>
      </p:sp>
    </p:spTree>
    <p:extLst>
      <p:ext uri="{BB962C8B-B14F-4D97-AF65-F5344CB8AC3E}">
        <p14:creationId xmlns:p14="http://schemas.microsoft.com/office/powerpoint/2010/main" val="2072491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D55BBD-D6A7-488D-A2D0-C932F55A3A0F}"/>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8.2</a:t>
            </a:r>
          </a:p>
        </p:txBody>
      </p:sp>
      <p:sp>
        <p:nvSpPr>
          <p:cNvPr id="3" name="Text 1">
            <a:extLst xmlns:a="http://schemas.openxmlformats.org/drawingml/2006/main">
              <a:ext uri="{FF2B5EF4-FFF2-40B4-BE49-F238E27FC236}">
                <a16:creationId xmlns:a16="http://schemas.microsoft.com/office/drawing/2014/main" id="{86C77228-6748-4022-864F-10DA0B41F2FE}"/>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Carpal Tunnel</a:t>
            </a:r>
          </a:p>
        </p:txBody>
      </p:sp>
      <p:sp>
        <p:nvSpPr>
          <p:cNvPr id="4" name="Text 2">
            <a:extLst xmlns:a="http://schemas.openxmlformats.org/drawingml/2006/main">
              <a:ext uri="{FF2B5EF4-FFF2-40B4-BE49-F238E27FC236}">
                <a16:creationId xmlns:a16="http://schemas.microsoft.com/office/drawing/2014/main" id="{14386D84-8132-4F90-8150-45F4983E6F6C}"/>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 passage at the front of the wrist</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Formed by carpals + flexor retinaculum</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Carries the median nerve and tendons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Compression causes carpal tunnel syndrome</a:t>
            </a:r>
          </a:p>
        </p:txBody>
      </p:sp>
      <p:sp>
        <p:nvSpPr>
          <p:cNvPr id="5" name="Shape 3">
            <a:extLst xmlns:a="http://schemas.openxmlformats.org/drawingml/2006/main">
              <a:ext uri="{FF2B5EF4-FFF2-40B4-BE49-F238E27FC236}">
                <a16:creationId xmlns:a16="http://schemas.microsoft.com/office/drawing/2014/main" id="{D5EF2979-B50C-49EA-BE36-69DB3E8FF8BE}"/>
              </a:ext>
            </a:extLst>
          </p:cNvPr>
          <p:cNvSpPr>
            <a:spLocks xmlns:a="http://schemas.openxmlformats.org/drawingml/2006/main" noGrp="1"/>
          </p:cNvSpPr>
          <p:nvPr/>
        </p:nvSpPr>
        <p:spPr>
          <a:xfrm xmlns:a="http://schemas.openxmlformats.org/drawingml/2006/main">
            <a:off x="5404104" y="1401206"/>
            <a:ext cx="6382512" cy="4512788"/>
          </a:xfrm>
          <a:prstGeom xmlns:a="http://schemas.openxmlformats.org/drawingml/2006/main" prst="roundRect">
            <a:avLst>
              <a:gd name="adj" fmla="val 121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e09fb2d40add4e80"/>
          <a:stretch xmlns:a="http://schemas.openxmlformats.org/drawingml/2006/main">
            <a:fillRect l="0" t="0" r="0" b="0"/>
          </a:stretch>
        </p:blipFill>
        <p:spPr>
          <a:xfrm xmlns:a="http://schemas.openxmlformats.org/drawingml/2006/main">
            <a:off x="5486400" y="1483502"/>
            <a:ext cx="6217920" cy="4348196"/>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22E59D12-4171-44D4-BB0B-98E7CE056FAC}"/>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carpal tunnel and median nerve</a:t>
            </a:r>
          </a:p>
        </p:txBody>
      </p:sp>
      <p:sp>
        <p:nvSpPr>
          <p:cNvPr id="9" name="Text 5">
            <a:extLst xmlns:a="http://schemas.openxmlformats.org/drawingml/2006/main">
              <a:ext uri="{FF2B5EF4-FFF2-40B4-BE49-F238E27FC236}">
                <a16:creationId xmlns:a16="http://schemas.microsoft.com/office/drawing/2014/main" id="{9FD74F3F-D181-4684-83DC-700E78AEE71E}"/>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42E4C8A9-7F92-486A-BC31-8E27A11024A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p>
        </p:txBody>
      </p:sp>
    </p:spTree>
    <p:extLst>
      <p:ext uri="{BB962C8B-B14F-4D97-AF65-F5344CB8AC3E}">
        <p14:creationId xmlns:p14="http://schemas.microsoft.com/office/powerpoint/2010/main" val="1569920272"/>
      </p:ext>
    </p:extLst>
  </p:cSld>
</p:sld>
</file>

<file path=ppt/slides/slide1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E81C32-A072-41D7-A40F-625EDB3490A7}"/>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BDD9128C-E93F-45C4-8234-E5F3C0883A05}"/>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8.3</a:t>
            </a:r>
          </a:p>
        </p:txBody>
      </p:sp>
      <p:sp>
        <p:nvSpPr>
          <p:cNvPr id="4" name="Text 2">
            <a:extLst xmlns:a="http://schemas.openxmlformats.org/drawingml/2006/main">
              <a:ext uri="{FF2B5EF4-FFF2-40B4-BE49-F238E27FC236}">
                <a16:creationId xmlns:a16="http://schemas.microsoft.com/office/drawing/2014/main" id="{D59C53E6-F62C-49AD-A222-28FC2C8BA8FA}"/>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2EEA7034-BF91-4888-BEF7-E0565C6AA510}"/>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The Pelvic Girdle and Pelvis</a:t>
            </a:r>
          </a:p>
        </p:txBody>
      </p:sp>
      <p:sp>
        <p:nvSpPr>
          <p:cNvPr id="6" name="Text 4">
            <a:extLst xmlns:a="http://schemas.openxmlformats.org/drawingml/2006/main">
              <a:ext uri="{FF2B5EF4-FFF2-40B4-BE49-F238E27FC236}">
                <a16:creationId xmlns:a16="http://schemas.microsoft.com/office/drawing/2014/main" id="{A3B2294D-5325-4B99-84AA-7B3D9140EEFC}"/>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hip bones, the sacrum, and the pelvis they form.</a:t>
            </a:r>
          </a:p>
        </p:txBody>
      </p:sp>
    </p:spTree>
    <p:extLst>
      <p:ext uri="{BB962C8B-B14F-4D97-AF65-F5344CB8AC3E}">
        <p14:creationId xmlns:p14="http://schemas.microsoft.com/office/powerpoint/2010/main" val="16418729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65ECC67-107F-4F47-87E1-4CA5AF04FC8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8.3</a:t>
            </a:r>
          </a:p>
        </p:txBody>
      </p:sp>
      <p:sp>
        <p:nvSpPr>
          <p:cNvPr id="3" name="Text 1">
            <a:extLst xmlns:a="http://schemas.openxmlformats.org/drawingml/2006/main">
              <a:ext uri="{FF2B5EF4-FFF2-40B4-BE49-F238E27FC236}">
                <a16:creationId xmlns:a16="http://schemas.microsoft.com/office/drawing/2014/main" id="{08A01499-B654-4537-8D56-EC499F475CA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Pelvis</a:t>
            </a:r>
          </a:p>
        </p:txBody>
      </p:sp>
      <p:sp>
        <p:nvSpPr>
          <p:cNvPr id="4" name="Text 2">
            <a:extLst xmlns:a="http://schemas.openxmlformats.org/drawingml/2006/main">
              <a:ext uri="{FF2B5EF4-FFF2-40B4-BE49-F238E27FC236}">
                <a16:creationId xmlns:a16="http://schemas.microsoft.com/office/drawing/2014/main" id="{C4834648-1CD2-4189-A3CB-08995FB5C7B6}"/>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Two hip bones + sacrum + coccyx</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Bears the body's weight</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Protects the pelvic organs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 stable, weight-bearing girdle</a:t>
            </a:r>
          </a:p>
        </p:txBody>
      </p:sp>
      <p:sp>
        <p:nvSpPr>
          <p:cNvPr id="5" name="Shape 3">
            <a:extLst xmlns:a="http://schemas.openxmlformats.org/drawingml/2006/main">
              <a:ext uri="{FF2B5EF4-FFF2-40B4-BE49-F238E27FC236}">
                <a16:creationId xmlns:a16="http://schemas.microsoft.com/office/drawing/2014/main" id="{52826A5E-B407-4C7E-9E2A-3472E4EE355F}"/>
              </a:ext>
            </a:extLst>
          </p:cNvPr>
          <p:cNvSpPr>
            <a:spLocks xmlns:a="http://schemas.openxmlformats.org/drawingml/2006/main" noGrp="1"/>
          </p:cNvSpPr>
          <p:nvPr/>
        </p:nvSpPr>
        <p:spPr>
          <a:xfrm xmlns:a="http://schemas.openxmlformats.org/drawingml/2006/main">
            <a:off x="5404104" y="1458637"/>
            <a:ext cx="6382512" cy="4397925"/>
          </a:xfrm>
          <a:prstGeom xmlns:a="http://schemas.openxmlformats.org/drawingml/2006/main" prst="roundRect">
            <a:avLst>
              <a:gd name="adj" fmla="val 1247"/>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b08a96c50134498"/>
          <a:stretch xmlns:a="http://schemas.openxmlformats.org/drawingml/2006/main">
            <a:fillRect l="0" t="0" r="0" b="0"/>
          </a:stretch>
        </p:blipFill>
        <p:spPr>
          <a:xfrm xmlns:a="http://schemas.openxmlformats.org/drawingml/2006/main">
            <a:off x="5486400" y="1540933"/>
            <a:ext cx="6217920" cy="4233333"/>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BA62990-FAC6-42F1-B4B2-015033322D01}"/>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pelvis</a:t>
            </a:r>
          </a:p>
        </p:txBody>
      </p:sp>
      <p:sp>
        <p:nvSpPr>
          <p:cNvPr id="9" name="Text 5">
            <a:extLst xmlns:a="http://schemas.openxmlformats.org/drawingml/2006/main">
              <a:ext uri="{FF2B5EF4-FFF2-40B4-BE49-F238E27FC236}">
                <a16:creationId xmlns:a16="http://schemas.microsoft.com/office/drawing/2014/main" id="{E22C47DB-D16E-4B5E-A303-CF7D9A27375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951559EA-B635-446E-9CCE-FD45FE2CF9F9}"/>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11</a:t>
            </a:r>
          </a:p>
        </p:txBody>
      </p:sp>
    </p:spTree>
    <p:extLst>
      <p:ext uri="{BB962C8B-B14F-4D97-AF65-F5344CB8AC3E}">
        <p14:creationId xmlns:p14="http://schemas.microsoft.com/office/powerpoint/2010/main" val="15493034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BE27AAB-0E43-4B3B-803B-F850712DF80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8.3</a:t>
            </a:r>
          </a:p>
        </p:txBody>
      </p:sp>
      <p:sp>
        <p:nvSpPr>
          <p:cNvPr id="3" name="Text 1">
            <a:extLst xmlns:a="http://schemas.openxmlformats.org/drawingml/2006/main">
              <a:ext uri="{FF2B5EF4-FFF2-40B4-BE49-F238E27FC236}">
                <a16:creationId xmlns:a16="http://schemas.microsoft.com/office/drawing/2014/main" id="{44C61132-DEDE-42B5-A935-4AED979D8CC1}"/>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Hip Bone</a:t>
            </a:r>
          </a:p>
        </p:txBody>
      </p:sp>
      <p:sp>
        <p:nvSpPr>
          <p:cNvPr id="4" name="Text 2">
            <a:extLst xmlns:a="http://schemas.openxmlformats.org/drawingml/2006/main">
              <a:ext uri="{FF2B5EF4-FFF2-40B4-BE49-F238E27FC236}">
                <a16:creationId xmlns:a16="http://schemas.microsoft.com/office/drawing/2014/main" id="{B968D7C2-9439-4013-B37A-65810E21F107}"/>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Three fused bones: ilium, ischium, pubis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Meet at the acetabulum (hip socket)</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Ilium is the broad flaring blade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Many muscle attachments</a:t>
            </a:r>
          </a:p>
        </p:txBody>
      </p:sp>
      <p:sp>
        <p:nvSpPr>
          <p:cNvPr id="5" name="Shape 3">
            <a:extLst xmlns:a="http://schemas.openxmlformats.org/drawingml/2006/main">
              <a:ext uri="{FF2B5EF4-FFF2-40B4-BE49-F238E27FC236}">
                <a16:creationId xmlns:a16="http://schemas.microsoft.com/office/drawing/2014/main" id="{D0EE946E-B7C9-4B43-8718-D27D3E5ADB51}"/>
              </a:ext>
            </a:extLst>
          </p:cNvPr>
          <p:cNvSpPr>
            <a:spLocks xmlns:a="http://schemas.openxmlformats.org/drawingml/2006/main" noGrp="1"/>
          </p:cNvSpPr>
          <p:nvPr/>
        </p:nvSpPr>
        <p:spPr>
          <a:xfrm xmlns:a="http://schemas.openxmlformats.org/drawingml/2006/main">
            <a:off x="5404104" y="1340893"/>
            <a:ext cx="6382512" cy="4633415"/>
          </a:xfrm>
          <a:prstGeom xmlns:a="http://schemas.openxmlformats.org/drawingml/2006/main" prst="roundRect">
            <a:avLst>
              <a:gd name="adj" fmla="val 1184"/>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4a9b37afa5a4553"/>
          <a:stretch xmlns:a="http://schemas.openxmlformats.org/drawingml/2006/main">
            <a:fillRect l="0" t="0" r="0" b="0"/>
          </a:stretch>
        </p:blipFill>
        <p:spPr>
          <a:xfrm xmlns:a="http://schemas.openxmlformats.org/drawingml/2006/main">
            <a:off x="5486400" y="1423189"/>
            <a:ext cx="6217920" cy="4468823"/>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7428D83-6D5E-4B50-B7E4-790C9704916B}"/>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hip bone (os coxae)</a:t>
            </a:r>
          </a:p>
        </p:txBody>
      </p:sp>
      <p:sp>
        <p:nvSpPr>
          <p:cNvPr id="9" name="Text 5">
            <a:extLst xmlns:a="http://schemas.openxmlformats.org/drawingml/2006/main">
              <a:ext uri="{FF2B5EF4-FFF2-40B4-BE49-F238E27FC236}">
                <a16:creationId xmlns:a16="http://schemas.microsoft.com/office/drawing/2014/main" id="{295C3407-85AB-455A-8A03-4131974D9DC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5FEADBA1-9F20-40E1-856E-3301FB75FB3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12</a:t>
            </a:r>
          </a:p>
        </p:txBody>
      </p:sp>
    </p:spTree>
    <p:extLst>
      <p:ext uri="{BB962C8B-B14F-4D97-AF65-F5344CB8AC3E}">
        <p14:creationId xmlns:p14="http://schemas.microsoft.com/office/powerpoint/2010/main" val="8974812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DFBC32-59AF-4930-8A84-4EC84C74B9C1}"/>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8.3</a:t>
            </a:r>
          </a:p>
        </p:txBody>
      </p:sp>
      <p:sp>
        <p:nvSpPr>
          <p:cNvPr id="3" name="Text 1">
            <a:extLst xmlns:a="http://schemas.openxmlformats.org/drawingml/2006/main">
              <a:ext uri="{FF2B5EF4-FFF2-40B4-BE49-F238E27FC236}">
                <a16:creationId xmlns:a16="http://schemas.microsoft.com/office/drawing/2014/main" id="{99F6E753-3EC0-4160-BB6D-DC272C65E82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Male vs. Female Pelvis</a:t>
            </a:r>
          </a:p>
        </p:txBody>
      </p:sp>
      <p:sp>
        <p:nvSpPr>
          <p:cNvPr id="4" name="Shape 2">
            <a:extLst xmlns:a="http://schemas.openxmlformats.org/drawingml/2006/main">
              <a:ext uri="{FF2B5EF4-FFF2-40B4-BE49-F238E27FC236}">
                <a16:creationId xmlns:a16="http://schemas.microsoft.com/office/drawing/2014/main" id="{5C2BE221-56C1-40F6-A9CD-6CF13890DA9F}"/>
              </a:ext>
            </a:extLst>
          </p:cNvPr>
          <p:cNvSpPr>
            <a:spLocks xmlns:a="http://schemas.openxmlformats.org/drawingml/2006/main" noGrp="1"/>
          </p:cNvSpPr>
          <p:nvPr/>
        </p:nvSpPr>
        <p:spPr>
          <a:xfrm xmlns:a="http://schemas.openxmlformats.org/drawingml/2006/main">
            <a:off x="2216410" y="1289304"/>
            <a:ext cx="7774421"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01344f77d094ab7"/>
          <a:stretch xmlns:a="http://schemas.openxmlformats.org/drawingml/2006/main">
            <a:fillRect l="0" t="0" r="0" b="0"/>
          </a:stretch>
        </p:blipFill>
        <p:spPr>
          <a:xfrm xmlns:a="http://schemas.openxmlformats.org/drawingml/2006/main">
            <a:off x="2298706" y="1371600"/>
            <a:ext cx="7609829"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4370C727-E80A-49A0-81A4-B59363884FB1}"/>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Differences between the male and female pelvis</a:t>
            </a:r>
          </a:p>
        </p:txBody>
      </p:sp>
      <p:sp>
        <p:nvSpPr>
          <p:cNvPr id="7" name="Text 4">
            <a:extLst xmlns:a="http://schemas.openxmlformats.org/drawingml/2006/main">
              <a:ext uri="{FF2B5EF4-FFF2-40B4-BE49-F238E27FC236}">
                <a16:creationId xmlns:a16="http://schemas.microsoft.com/office/drawing/2014/main" id="{1D89980A-E5E1-449C-A50F-2EA67EFA517D}"/>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Female pelvis is wider and shallower</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Larger outlet for childbirth</a:t>
            </a:r>
          </a:p>
        </p:txBody>
      </p:sp>
      <p:sp>
        <p:nvSpPr>
          <p:cNvPr id="8" name="Text 5">
            <a:extLst xmlns:a="http://schemas.openxmlformats.org/drawingml/2006/main">
              <a:ext uri="{FF2B5EF4-FFF2-40B4-BE49-F238E27FC236}">
                <a16:creationId xmlns:a16="http://schemas.microsoft.com/office/drawing/2014/main" id="{59EF406A-C400-43EA-963B-99207E410288}"/>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Male pelvis is narrower and heavier</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Sex differences aid identification</a:t>
            </a:r>
          </a:p>
        </p:txBody>
      </p:sp>
      <p:sp>
        <p:nvSpPr>
          <p:cNvPr id="10" name="Text 6">
            <a:extLst xmlns:a="http://schemas.openxmlformats.org/drawingml/2006/main">
              <a:ext uri="{FF2B5EF4-FFF2-40B4-BE49-F238E27FC236}">
                <a16:creationId xmlns:a16="http://schemas.microsoft.com/office/drawing/2014/main" id="{B41D62BC-E3B2-4D09-BCF5-DFC902C3B5EF}"/>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1" name="Text 7">
            <a:extLst xmlns:a="http://schemas.openxmlformats.org/drawingml/2006/main">
              <a:ext uri="{FF2B5EF4-FFF2-40B4-BE49-F238E27FC236}">
                <a16:creationId xmlns:a16="http://schemas.microsoft.com/office/drawing/2014/main" id="{AF9417CE-9348-43D4-95B1-BF7BDEA97CB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13</a:t>
            </a:r>
          </a:p>
        </p:txBody>
      </p:sp>
    </p:spTree>
    <p:extLst>
      <p:ext uri="{BB962C8B-B14F-4D97-AF65-F5344CB8AC3E}">
        <p14:creationId xmlns:p14="http://schemas.microsoft.com/office/powerpoint/2010/main" val="1769087743"/>
      </p:ext>
    </p:extLst>
  </p:cSld>
</p:sld>
</file>

<file path=ppt/slides/slide14.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EB4E21-6C00-40CF-BAC0-C3045AAE619B}"/>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5204B571-44EF-458A-89C9-9B40BA74C9F6}"/>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8.4</a:t>
            </a:r>
          </a:p>
        </p:txBody>
      </p:sp>
      <p:sp>
        <p:nvSpPr>
          <p:cNvPr id="4" name="Text 2">
            <a:extLst xmlns:a="http://schemas.openxmlformats.org/drawingml/2006/main">
              <a:ext uri="{FF2B5EF4-FFF2-40B4-BE49-F238E27FC236}">
                <a16:creationId xmlns:a16="http://schemas.microsoft.com/office/drawing/2014/main" id="{7016FAD3-126A-4BF3-A9B3-8710FCB011AF}"/>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DC63BC58-5BAD-4945-92B0-FC76CA0DB216}"/>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Bones of the Lower Limb</a:t>
            </a:r>
          </a:p>
        </p:txBody>
      </p:sp>
      <p:sp>
        <p:nvSpPr>
          <p:cNvPr id="6" name="Text 4">
            <a:extLst xmlns:a="http://schemas.openxmlformats.org/drawingml/2006/main">
              <a:ext uri="{FF2B5EF4-FFF2-40B4-BE49-F238E27FC236}">
                <a16:creationId xmlns:a16="http://schemas.microsoft.com/office/drawing/2014/main" id="{2FAB2D05-8CC7-45B2-9FBA-D36BA6F1A985}"/>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femur, tibia, fibula, and the bones of the foot.</a:t>
            </a:r>
          </a:p>
        </p:txBody>
      </p:sp>
    </p:spTree>
    <p:extLst>
      <p:ext uri="{BB962C8B-B14F-4D97-AF65-F5344CB8AC3E}">
        <p14:creationId xmlns:p14="http://schemas.microsoft.com/office/powerpoint/2010/main" val="14770030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F46F05-26FC-482E-BF0C-9F426379EC07}"/>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8.4</a:t>
            </a:r>
          </a:p>
        </p:txBody>
      </p:sp>
      <p:sp>
        <p:nvSpPr>
          <p:cNvPr id="3" name="Text 1">
            <a:extLst xmlns:a="http://schemas.openxmlformats.org/drawingml/2006/main">
              <a:ext uri="{FF2B5EF4-FFF2-40B4-BE49-F238E27FC236}">
                <a16:creationId xmlns:a16="http://schemas.microsoft.com/office/drawing/2014/main" id="{B54A21D3-81F1-448C-92C1-5530C12F908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Femur</a:t>
            </a:r>
          </a:p>
        </p:txBody>
      </p:sp>
      <p:sp>
        <p:nvSpPr>
          <p:cNvPr id="4" name="Shape 2">
            <a:extLst xmlns:a="http://schemas.openxmlformats.org/drawingml/2006/main">
              <a:ext uri="{FF2B5EF4-FFF2-40B4-BE49-F238E27FC236}">
                <a16:creationId xmlns:a16="http://schemas.microsoft.com/office/drawing/2014/main" id="{25D85CBF-9CD7-4EDA-B3DD-815B8F0B39AC}"/>
              </a:ext>
            </a:extLst>
          </p:cNvPr>
          <p:cNvSpPr>
            <a:spLocks xmlns:a="http://schemas.openxmlformats.org/drawingml/2006/main" noGrp="1"/>
          </p:cNvSpPr>
          <p:nvPr/>
        </p:nvSpPr>
        <p:spPr>
          <a:xfrm xmlns:a="http://schemas.openxmlformats.org/drawingml/2006/main">
            <a:off x="1108024" y="1289304"/>
            <a:ext cx="3087472" cy="4736592"/>
          </a:xfrm>
          <a:prstGeom xmlns:a="http://schemas.openxmlformats.org/drawingml/2006/main" prst="roundRect">
            <a:avLst>
              <a:gd name="adj" fmla="val 1777"/>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d08b048165bb40be"/>
          <a:stretch xmlns:a="http://schemas.openxmlformats.org/drawingml/2006/main">
            <a:fillRect l="0" t="0" r="0" b="0"/>
          </a:stretch>
        </p:blipFill>
        <p:spPr>
          <a:xfrm xmlns:a="http://schemas.openxmlformats.org/drawingml/2006/main">
            <a:off x="1190320" y="1371600"/>
            <a:ext cx="2922880"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14918108-2635-454C-9E4D-E64D7264B6B5}"/>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femur (thigh bone)</a:t>
            </a:r>
          </a:p>
        </p:txBody>
      </p:sp>
      <p:sp>
        <p:nvSpPr>
          <p:cNvPr id="7" name="Text 4">
            <a:extLst xmlns:a="http://schemas.openxmlformats.org/drawingml/2006/main">
              <a:ext uri="{FF2B5EF4-FFF2-40B4-BE49-F238E27FC236}">
                <a16:creationId xmlns:a16="http://schemas.microsoft.com/office/drawing/2014/main" id="{1FC932FE-A062-42E7-99F9-2AD61DA72AD4}"/>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thigh bone — longest, strongest bone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Head fits into the acetabulum</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Meets the tibia at the knee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Bears great mechanical loads</a:t>
            </a:r>
          </a:p>
        </p:txBody>
      </p:sp>
      <p:sp>
        <p:nvSpPr>
          <p:cNvPr id="9" name="Text 5">
            <a:extLst xmlns:a="http://schemas.openxmlformats.org/drawingml/2006/main">
              <a:ext uri="{FF2B5EF4-FFF2-40B4-BE49-F238E27FC236}">
                <a16:creationId xmlns:a16="http://schemas.microsoft.com/office/drawing/2014/main" id="{F247B5AD-21B6-4770-8965-ABDD9479488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795ED93B-19E2-4586-B236-33EB59BA10C4}"/>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p>
        </p:txBody>
      </p:sp>
    </p:spTree>
    <p:extLst>
      <p:ext uri="{BB962C8B-B14F-4D97-AF65-F5344CB8AC3E}">
        <p14:creationId xmlns:p14="http://schemas.microsoft.com/office/powerpoint/2010/main" val="145534971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DA3ACE-E76B-4AE0-BC3B-FD4A5C99FF47}"/>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8.4</a:t>
            </a:r>
          </a:p>
        </p:txBody>
      </p:sp>
      <p:sp>
        <p:nvSpPr>
          <p:cNvPr id="3" name="Text 1">
            <a:extLst xmlns:a="http://schemas.openxmlformats.org/drawingml/2006/main">
              <a:ext uri="{FF2B5EF4-FFF2-40B4-BE49-F238E27FC236}">
                <a16:creationId xmlns:a16="http://schemas.microsoft.com/office/drawing/2014/main" id="{BA420930-5142-4769-8620-2F51CF72D83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Tibia and Fibula</a:t>
            </a:r>
          </a:p>
        </p:txBody>
      </p:sp>
      <p:sp>
        <p:nvSpPr>
          <p:cNvPr id="4" name="Shape 2">
            <a:extLst xmlns:a="http://schemas.openxmlformats.org/drawingml/2006/main">
              <a:ext uri="{FF2B5EF4-FFF2-40B4-BE49-F238E27FC236}">
                <a16:creationId xmlns:a16="http://schemas.microsoft.com/office/drawing/2014/main" id="{8CE1A6E1-30C7-4BCB-B778-636265876FF3}"/>
              </a:ext>
            </a:extLst>
          </p:cNvPr>
          <p:cNvSpPr>
            <a:spLocks xmlns:a="http://schemas.openxmlformats.org/drawingml/2006/main" noGrp="1"/>
          </p:cNvSpPr>
          <p:nvPr/>
        </p:nvSpPr>
        <p:spPr>
          <a:xfrm xmlns:a="http://schemas.openxmlformats.org/drawingml/2006/main">
            <a:off x="722376" y="1289304"/>
            <a:ext cx="3858768" cy="4736592"/>
          </a:xfrm>
          <a:prstGeom xmlns:a="http://schemas.openxmlformats.org/drawingml/2006/main" prst="roundRect">
            <a:avLst>
              <a:gd name="adj" fmla="val 1422"/>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87974c31276c445f"/>
          <a:stretch xmlns:a="http://schemas.openxmlformats.org/drawingml/2006/main">
            <a:fillRect l="0" t="0" r="0" b="0"/>
          </a:stretch>
        </p:blipFill>
        <p:spPr>
          <a:xfrm xmlns:a="http://schemas.openxmlformats.org/drawingml/2006/main">
            <a:off x="804672" y="1371600"/>
            <a:ext cx="3694176"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FF1DBA19-C822-4FC7-A21B-294DF4C3A4AD}"/>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tibia and fibula (lower leg)</a:t>
            </a:r>
          </a:p>
        </p:txBody>
      </p:sp>
      <p:sp>
        <p:nvSpPr>
          <p:cNvPr id="7" name="Text 4">
            <a:extLst xmlns:a="http://schemas.openxmlformats.org/drawingml/2006/main">
              <a:ext uri="{FF2B5EF4-FFF2-40B4-BE49-F238E27FC236}">
                <a16:creationId xmlns:a16="http://schemas.microsoft.com/office/drawing/2014/main" id="{0242A1C8-7A28-4D30-A443-6164FA55AD25}"/>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two bones of the lower leg</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Tibia (shinbone) bears the weight</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Fibula stabilizes the ankle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They form the malleoli of the ankle</a:t>
            </a:r>
          </a:p>
        </p:txBody>
      </p:sp>
      <p:sp>
        <p:nvSpPr>
          <p:cNvPr id="9" name="Text 5">
            <a:extLst xmlns:a="http://schemas.openxmlformats.org/drawingml/2006/main">
              <a:ext uri="{FF2B5EF4-FFF2-40B4-BE49-F238E27FC236}">
                <a16:creationId xmlns:a16="http://schemas.microsoft.com/office/drawing/2014/main" id="{55844A8C-3B39-446B-85F1-0C283E96BE6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08881122-ECF8-4D7E-B23B-64249A73446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16</a:t>
            </a:r>
          </a:p>
        </p:txBody>
      </p:sp>
    </p:spTree>
    <p:extLst>
      <p:ext uri="{BB962C8B-B14F-4D97-AF65-F5344CB8AC3E}">
        <p14:creationId xmlns:p14="http://schemas.microsoft.com/office/powerpoint/2010/main" val="10449032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40B5DC-CFF4-41C9-B0C5-B64121E38AC1}"/>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8.4</a:t>
            </a:r>
          </a:p>
        </p:txBody>
      </p:sp>
      <p:sp>
        <p:nvSpPr>
          <p:cNvPr id="3" name="Text 1">
            <a:extLst xmlns:a="http://schemas.openxmlformats.org/drawingml/2006/main">
              <a:ext uri="{FF2B5EF4-FFF2-40B4-BE49-F238E27FC236}">
                <a16:creationId xmlns:a16="http://schemas.microsoft.com/office/drawing/2014/main" id="{78FFA006-263D-4E70-8B53-D4EF0663C183}"/>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Bones of the Foot</a:t>
            </a:r>
          </a:p>
        </p:txBody>
      </p:sp>
      <p:sp>
        <p:nvSpPr>
          <p:cNvPr id="4" name="Text 2">
            <a:extLst xmlns:a="http://schemas.openxmlformats.org/drawingml/2006/main">
              <a:ext uri="{FF2B5EF4-FFF2-40B4-BE49-F238E27FC236}">
                <a16:creationId xmlns:a16="http://schemas.microsoft.com/office/drawing/2014/main" id="{61E501D4-62E0-4788-A27F-A647ED4C0D5C}"/>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7 tarsals form the ankle and heel</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5 metatarsals form the sole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14 phalanges form the toes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Arches support and absorb shock</a:t>
            </a:r>
          </a:p>
        </p:txBody>
      </p:sp>
      <p:sp>
        <p:nvSpPr>
          <p:cNvPr id="5" name="Shape 3">
            <a:extLst xmlns:a="http://schemas.openxmlformats.org/drawingml/2006/main">
              <a:ext uri="{FF2B5EF4-FFF2-40B4-BE49-F238E27FC236}">
                <a16:creationId xmlns:a16="http://schemas.microsoft.com/office/drawing/2014/main" id="{CF7919A1-10AD-4154-AB45-04D6A13F570D}"/>
              </a:ext>
            </a:extLst>
          </p:cNvPr>
          <p:cNvSpPr>
            <a:spLocks xmlns:a="http://schemas.openxmlformats.org/drawingml/2006/main" noGrp="1"/>
          </p:cNvSpPr>
          <p:nvPr/>
        </p:nvSpPr>
        <p:spPr>
          <a:xfrm xmlns:a="http://schemas.openxmlformats.org/drawingml/2006/main">
            <a:off x="5463595" y="1335024"/>
            <a:ext cx="6263530"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3d81563d27245b4"/>
          <a:stretch xmlns:a="http://schemas.openxmlformats.org/drawingml/2006/main">
            <a:fillRect l="0" t="0" r="0" b="0"/>
          </a:stretch>
        </p:blipFill>
        <p:spPr>
          <a:xfrm xmlns:a="http://schemas.openxmlformats.org/drawingml/2006/main">
            <a:off x="5545891" y="1417320"/>
            <a:ext cx="6098938"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3100CA4-E327-42B5-A2E3-31601172B0C8}"/>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bones of the foot</a:t>
            </a:r>
          </a:p>
        </p:txBody>
      </p:sp>
      <p:sp>
        <p:nvSpPr>
          <p:cNvPr id="9" name="Text 5">
            <a:extLst xmlns:a="http://schemas.openxmlformats.org/drawingml/2006/main">
              <a:ext uri="{FF2B5EF4-FFF2-40B4-BE49-F238E27FC236}">
                <a16:creationId xmlns:a16="http://schemas.microsoft.com/office/drawing/2014/main" id="{71E7645C-359C-4800-80A1-A8666A9B2F2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94F290E9-60A5-4819-A649-51003E67C9E9}"/>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17</a:t>
            </a:r>
          </a:p>
        </p:txBody>
      </p:sp>
    </p:spTree>
    <p:extLst>
      <p:ext uri="{BB962C8B-B14F-4D97-AF65-F5344CB8AC3E}">
        <p14:creationId xmlns:p14="http://schemas.microsoft.com/office/powerpoint/2010/main" val="1018683048"/>
      </p:ext>
    </p:extLst>
  </p:cSld>
</p:sld>
</file>

<file path=ppt/slides/slide18.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D1184DD-A22C-4FE4-9CA9-A95673C5F48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00431070-3AD0-442B-B740-8A768205BE90}"/>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8.5</a:t>
            </a:r>
          </a:p>
        </p:txBody>
      </p:sp>
      <p:sp>
        <p:nvSpPr>
          <p:cNvPr id="4" name="Text 2">
            <a:extLst xmlns:a="http://schemas.openxmlformats.org/drawingml/2006/main">
              <a:ext uri="{FF2B5EF4-FFF2-40B4-BE49-F238E27FC236}">
                <a16:creationId xmlns:a16="http://schemas.microsoft.com/office/drawing/2014/main" id="{34E3F53F-F3CF-455B-ADA1-2A16C44BDED4}"/>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C2C07284-47C2-4295-903E-3EDF6D7241D5}"/>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Development of the Appendicular Skeleton</a:t>
            </a:r>
          </a:p>
        </p:txBody>
      </p:sp>
      <p:sp>
        <p:nvSpPr>
          <p:cNvPr id="6" name="Text 4">
            <a:extLst xmlns:a="http://schemas.openxmlformats.org/drawingml/2006/main">
              <a:ext uri="{FF2B5EF4-FFF2-40B4-BE49-F238E27FC236}">
                <a16:creationId xmlns:a16="http://schemas.microsoft.com/office/drawing/2014/main" id="{BBF35938-DD25-4CFB-B631-D776F514EFAB}"/>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the limbs form before birth, and common congenital differences.</a:t>
            </a:r>
          </a:p>
        </p:txBody>
      </p:sp>
    </p:spTree>
    <p:extLst>
      <p:ext uri="{BB962C8B-B14F-4D97-AF65-F5344CB8AC3E}">
        <p14:creationId xmlns:p14="http://schemas.microsoft.com/office/powerpoint/2010/main" val="8231455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2B3D26-8339-461E-B1A9-18DA858156A0}"/>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8.5</a:t>
            </a:r>
          </a:p>
        </p:txBody>
      </p:sp>
      <p:sp>
        <p:nvSpPr>
          <p:cNvPr id="3" name="Text 1">
            <a:extLst xmlns:a="http://schemas.openxmlformats.org/drawingml/2006/main">
              <a:ext uri="{FF2B5EF4-FFF2-40B4-BE49-F238E27FC236}">
                <a16:creationId xmlns:a16="http://schemas.microsoft.com/office/drawing/2014/main" id="{7AB96FCD-D59F-4F0B-9551-E207E559CFB7}"/>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Limb Development &amp; Clubfoot</a:t>
            </a:r>
          </a:p>
        </p:txBody>
      </p:sp>
      <p:sp>
        <p:nvSpPr>
          <p:cNvPr id="4" name="Shape 2">
            <a:extLst xmlns:a="http://schemas.openxmlformats.org/drawingml/2006/main">
              <a:ext uri="{FF2B5EF4-FFF2-40B4-BE49-F238E27FC236}">
                <a16:creationId xmlns:a16="http://schemas.microsoft.com/office/drawing/2014/main" id="{ADB10E95-15DD-4822-BD0C-26DE925FC71B}"/>
              </a:ext>
            </a:extLst>
          </p:cNvPr>
          <p:cNvSpPr>
            <a:spLocks xmlns:a="http://schemas.openxmlformats.org/drawingml/2006/main" noGrp="1"/>
          </p:cNvSpPr>
          <p:nvPr/>
        </p:nvSpPr>
        <p:spPr>
          <a:xfrm xmlns:a="http://schemas.openxmlformats.org/drawingml/2006/main">
            <a:off x="957148" y="1289304"/>
            <a:ext cx="3389224" cy="4736592"/>
          </a:xfrm>
          <a:prstGeom xmlns:a="http://schemas.openxmlformats.org/drawingml/2006/main" prst="roundRect">
            <a:avLst>
              <a:gd name="adj" fmla="val 1619"/>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f39f494fedf44389"/>
          <a:stretch xmlns:a="http://schemas.openxmlformats.org/drawingml/2006/main">
            <a:fillRect l="0" t="0" r="0" b="0"/>
          </a:stretch>
        </p:blipFill>
        <p:spPr>
          <a:xfrm xmlns:a="http://schemas.openxmlformats.org/drawingml/2006/main">
            <a:off x="1039444" y="1371600"/>
            <a:ext cx="3224632"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A9CEE3E4-59EB-46CF-A917-657C20FA2C23}"/>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Clubfoot, a congenital foot condition</a:t>
            </a:r>
          </a:p>
        </p:txBody>
      </p:sp>
      <p:sp>
        <p:nvSpPr>
          <p:cNvPr id="7" name="Text 4">
            <a:extLst xmlns:a="http://schemas.openxmlformats.org/drawingml/2006/main">
              <a:ext uri="{FF2B5EF4-FFF2-40B4-BE49-F238E27FC236}">
                <a16:creationId xmlns:a16="http://schemas.microsoft.com/office/drawing/2014/main" id="{0AF59DD2-771A-4579-B18D-57180696B874}"/>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Limbs form early in the embryo</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Bones develop from limb buds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Clubfoot is a common congenital condition</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Early treatment improves outcomes</a:t>
            </a:r>
          </a:p>
        </p:txBody>
      </p:sp>
      <p:sp>
        <p:nvSpPr>
          <p:cNvPr id="9" name="Text 5">
            <a:extLst xmlns:a="http://schemas.openxmlformats.org/drawingml/2006/main">
              <a:ext uri="{FF2B5EF4-FFF2-40B4-BE49-F238E27FC236}">
                <a16:creationId xmlns:a16="http://schemas.microsoft.com/office/drawing/2014/main" id="{9654AD67-8590-4D7E-AAC9-D9C0B8B73440}"/>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0" name="Text 6">
            <a:extLst xmlns:a="http://schemas.openxmlformats.org/drawingml/2006/main">
              <a:ext uri="{FF2B5EF4-FFF2-40B4-BE49-F238E27FC236}">
                <a16:creationId xmlns:a16="http://schemas.microsoft.com/office/drawing/2014/main" id="{C170FDDC-E338-4E3A-8AD6-1EBED533BB4B}"/>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19</a:t>
            </a:r>
          </a:p>
        </p:txBody>
      </p:sp>
    </p:spTree>
    <p:extLst>
      <p:ext uri="{BB962C8B-B14F-4D97-AF65-F5344CB8AC3E}">
        <p14:creationId xmlns:p14="http://schemas.microsoft.com/office/powerpoint/2010/main" val="14139802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6EE903-4CBB-494A-AFBD-9C3595B423C7}"/>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8</a:t>
            </a:r>
          </a:p>
        </p:txBody>
      </p:sp>
      <p:sp>
        <p:nvSpPr>
          <p:cNvPr id="3" name="Text 1">
            <a:extLst xmlns:a="http://schemas.openxmlformats.org/drawingml/2006/main">
              <a:ext uri="{FF2B5EF4-FFF2-40B4-BE49-F238E27FC236}">
                <a16:creationId xmlns:a16="http://schemas.microsoft.com/office/drawing/2014/main" id="{9962BC5C-6CBB-4212-BC4A-A237FC445B29}"/>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p>
        </p:txBody>
      </p:sp>
      <p:sp>
        <p:nvSpPr>
          <p:cNvPr id="4" name="Shape 2">
            <a:extLst xmlns:a="http://schemas.openxmlformats.org/drawingml/2006/main">
              <a:ext uri="{FF2B5EF4-FFF2-40B4-BE49-F238E27FC236}">
                <a16:creationId xmlns:a16="http://schemas.microsoft.com/office/drawing/2014/main" id="{B2FEC3CC-8D8E-450B-8627-722704381AB6}"/>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80D03C8F-058B-4D31-9AA1-0CEFD9FF9D1E}"/>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appendicular skeleton is the limbs plus the girdles that attach them.</a:t>
            </a:r>
          </a:p>
        </p:txBody>
      </p:sp>
      <p:sp>
        <p:nvSpPr>
          <p:cNvPr id="6" name="Shape 4">
            <a:extLst xmlns:a="http://schemas.openxmlformats.org/drawingml/2006/main">
              <a:ext uri="{FF2B5EF4-FFF2-40B4-BE49-F238E27FC236}">
                <a16:creationId xmlns:a16="http://schemas.microsoft.com/office/drawing/2014/main" id="{A911F9A9-BE71-475D-B2A9-DBAB57F30199}"/>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657210DA-B3D4-4F0A-8E5B-7366134900D6}"/>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mobile pectoral girdle anchors the arm; humerus, radius, ulna, and hand bones complete the upper limb.</a:t>
            </a:r>
          </a:p>
        </p:txBody>
      </p:sp>
      <p:sp>
        <p:nvSpPr>
          <p:cNvPr id="8" name="Shape 6">
            <a:extLst xmlns:a="http://schemas.openxmlformats.org/drawingml/2006/main">
              <a:ext uri="{FF2B5EF4-FFF2-40B4-BE49-F238E27FC236}">
                <a16:creationId xmlns:a16="http://schemas.microsoft.com/office/drawing/2014/main" id="{000C46DF-7AE3-43F7-A0FA-5A840ECCA0A3}"/>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CCAA7BDA-8C0E-42F2-A22E-7F98AB222809}"/>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stable pelvic girdle bears weight and differs between the sexes.</a:t>
            </a:r>
          </a:p>
        </p:txBody>
      </p:sp>
      <p:sp>
        <p:nvSpPr>
          <p:cNvPr id="10" name="Shape 8">
            <a:extLst xmlns:a="http://schemas.openxmlformats.org/drawingml/2006/main">
              <a:ext uri="{FF2B5EF4-FFF2-40B4-BE49-F238E27FC236}">
                <a16:creationId xmlns:a16="http://schemas.microsoft.com/office/drawing/2014/main" id="{61E43F5C-C996-44E0-BEF2-0CEA2C767DA4}"/>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1D1B569C-150A-4875-8FB7-8CB031C1D7C9}"/>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femur, tibia, fibula, and foot bones support the body and enable walking.</a:t>
            </a:r>
          </a:p>
        </p:txBody>
      </p:sp>
      <p:sp>
        <p:nvSpPr>
          <p:cNvPr id="12" name="Shape 10">
            <a:extLst xmlns:a="http://schemas.openxmlformats.org/drawingml/2006/main">
              <a:ext uri="{FF2B5EF4-FFF2-40B4-BE49-F238E27FC236}">
                <a16:creationId xmlns:a16="http://schemas.microsoft.com/office/drawing/2014/main" id="{362DA254-FEB0-4558-8929-4C829A17642A}"/>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1EECD103-0349-4FE7-B50D-8F8D45FC8B6D}"/>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limbs form early in development; congenital conditions like clubfoot are treatable.</a:t>
            </a:r>
          </a:p>
        </p:txBody>
      </p:sp>
      <p:sp>
        <p:nvSpPr>
          <p:cNvPr id="14" name="Text 12">
            <a:extLst xmlns:a="http://schemas.openxmlformats.org/drawingml/2006/main">
              <a:ext uri="{FF2B5EF4-FFF2-40B4-BE49-F238E27FC236}">
                <a16:creationId xmlns:a16="http://schemas.microsoft.com/office/drawing/2014/main" id="{FB318642-13CE-4AE3-B5E3-8565E05836F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8 — The Appendicular Skeleton</a:t>
            </a:r>
          </a:p>
        </p:txBody>
      </p:sp>
      <p:sp>
        <p:nvSpPr>
          <p:cNvPr id="15" name="Text 13">
            <a:extLst xmlns:a="http://schemas.openxmlformats.org/drawingml/2006/main">
              <a:ext uri="{FF2B5EF4-FFF2-40B4-BE49-F238E27FC236}">
                <a16:creationId xmlns:a16="http://schemas.microsoft.com/office/drawing/2014/main" id="{B88221F5-A5BA-4297-9C17-9A3CF89F9FB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20</a:t>
            </a:r>
          </a:p>
        </p:txBody>
      </p:sp>
    </p:spTree>
    <p:extLst>
      <p:ext uri="{BB962C8B-B14F-4D97-AF65-F5344CB8AC3E}">
        <p14:creationId xmlns:p14="http://schemas.microsoft.com/office/powerpoint/2010/main" val="579566647"/>
      </p:ext>
    </p:extLst>
  </p:cSld>
</p:sld>
</file>

<file path=ppt/slides/slide2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4CED17-2C19-413C-8988-090163C5184D}"/>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p>
        </p:txBody>
      </p:sp>
      <p:sp>
        <p:nvSpPr>
          <p:cNvPr id="3" name="Text 1">
            <a:extLst xmlns:a="http://schemas.openxmlformats.org/drawingml/2006/main">
              <a:ext uri="{FF2B5EF4-FFF2-40B4-BE49-F238E27FC236}">
                <a16:creationId xmlns:a16="http://schemas.microsoft.com/office/drawing/2014/main" id="{A9A93F94-4947-44F9-8FC4-D5C6F513BF69}"/>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Georgia"/>
                <a:ea typeface="Georgia"/>
                <a:cs typeface="Georgia"/>
              </a:rPr>
              <a:t>Why the Appendicular Skeleton Matters in Practical Nursing</a:t>
            </a:r>
          </a:p>
        </p:txBody>
      </p:sp>
      <p:sp>
        <p:nvSpPr>
          <p:cNvPr id="4" name="Shape 2">
            <a:extLst xmlns:a="http://schemas.openxmlformats.org/drawingml/2006/main">
              <a:ext uri="{FF2B5EF4-FFF2-40B4-BE49-F238E27FC236}">
                <a16:creationId xmlns:a16="http://schemas.microsoft.com/office/drawing/2014/main" id="{B3CFE0DE-DE3A-4D0F-91A9-813264DC41D9}"/>
              </a:ext>
            </a:extLst>
          </p:cNvPr>
          <p:cNvSpPr>
            <a:spLocks xmlns:a="http://schemas.openxmlformats.org/drawingml/2006/main" noGrp="1"/>
          </p:cNvSpPr>
          <p:nvPr/>
        </p:nvSpPr>
        <p:spPr>
          <a:xfrm xmlns:a="http://schemas.openxmlformats.org/drawingml/2006/main">
            <a:off x="54864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702F76EF-6104-4249-8B5B-BA4BF6D82A95}"/>
              </a:ext>
            </a:extLst>
          </p:cNvPr>
          <p:cNvSpPr>
            <a:spLocks xmlns:a="http://schemas.openxmlformats.org/drawingml/2006/main" noGrp="1"/>
          </p:cNvSpPr>
          <p:nvPr/>
        </p:nvSpPr>
        <p:spPr>
          <a:xfrm xmlns:a="http://schemas.openxmlformats.org/drawingml/2006/main">
            <a:off x="77724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Fracture Sites</a:t>
            </a:r>
          </a:p>
        </p:txBody>
      </p:sp>
      <p:sp>
        <p:nvSpPr>
          <p:cNvPr id="6" name="Text 4">
            <a:extLst xmlns:a="http://schemas.openxmlformats.org/drawingml/2006/main">
              <a:ext uri="{FF2B5EF4-FFF2-40B4-BE49-F238E27FC236}">
                <a16:creationId xmlns:a16="http://schemas.microsoft.com/office/drawing/2014/main" id="{0DB92DA7-9E9C-40B5-B36D-D8FCE754EEB4}"/>
              </a:ext>
            </a:extLst>
          </p:cNvPr>
          <p:cNvSpPr>
            <a:spLocks xmlns:a="http://schemas.openxmlformats.org/drawingml/2006/main" noGrp="1"/>
          </p:cNvSpPr>
          <p:nvPr/>
        </p:nvSpPr>
        <p:spPr>
          <a:xfrm xmlns:a="http://schemas.openxmlformats.org/drawingml/2006/main">
            <a:off x="77724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The clavicle, wrist, and hip are common fracture locations.</a:t>
            </a:r>
          </a:p>
        </p:txBody>
      </p:sp>
      <p:sp>
        <p:nvSpPr>
          <p:cNvPr id="7" name="Shape 5">
            <a:extLst xmlns:a="http://schemas.openxmlformats.org/drawingml/2006/main">
              <a:ext uri="{FF2B5EF4-FFF2-40B4-BE49-F238E27FC236}">
                <a16:creationId xmlns:a16="http://schemas.microsoft.com/office/drawing/2014/main" id="{B6DFC448-B662-4185-BFF3-133D1D9683BB}"/>
              </a:ext>
            </a:extLst>
          </p:cNvPr>
          <p:cNvSpPr>
            <a:spLocks xmlns:a="http://schemas.openxmlformats.org/drawingml/2006/main" noGrp="1"/>
          </p:cNvSpPr>
          <p:nvPr/>
        </p:nvSpPr>
        <p:spPr>
          <a:xfrm xmlns:a="http://schemas.openxmlformats.org/drawingml/2006/main">
            <a:off x="617220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2A083EF1-EA0B-47DF-BEFC-81B9AE5E823F}"/>
              </a:ext>
            </a:extLst>
          </p:cNvPr>
          <p:cNvSpPr>
            <a:spLocks xmlns:a="http://schemas.openxmlformats.org/drawingml/2006/main" noGrp="1"/>
          </p:cNvSpPr>
          <p:nvPr/>
        </p:nvSpPr>
        <p:spPr>
          <a:xfrm xmlns:a="http://schemas.openxmlformats.org/drawingml/2006/main">
            <a:off x="640080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Carpal Tunnel</a:t>
            </a:r>
          </a:p>
        </p:txBody>
      </p:sp>
      <p:sp>
        <p:nvSpPr>
          <p:cNvPr id="9" name="Text 7">
            <a:extLst xmlns:a="http://schemas.openxmlformats.org/drawingml/2006/main">
              <a:ext uri="{FF2B5EF4-FFF2-40B4-BE49-F238E27FC236}">
                <a16:creationId xmlns:a16="http://schemas.microsoft.com/office/drawing/2014/main" id="{BE6159F6-7B22-4F85-A244-AC7C54880F3F}"/>
              </a:ext>
            </a:extLst>
          </p:cNvPr>
          <p:cNvSpPr>
            <a:spLocks xmlns:a="http://schemas.openxmlformats.org/drawingml/2006/main" noGrp="1"/>
          </p:cNvSpPr>
          <p:nvPr/>
        </p:nvSpPr>
        <p:spPr>
          <a:xfrm xmlns:a="http://schemas.openxmlformats.org/drawingml/2006/main">
            <a:off x="640080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Median-nerve compression at the wrist causes numbness and weakness.</a:t>
            </a:r>
          </a:p>
        </p:txBody>
      </p:sp>
      <p:sp>
        <p:nvSpPr>
          <p:cNvPr id="10" name="Shape 8">
            <a:extLst xmlns:a="http://schemas.openxmlformats.org/drawingml/2006/main">
              <a:ext uri="{FF2B5EF4-FFF2-40B4-BE49-F238E27FC236}">
                <a16:creationId xmlns:a16="http://schemas.microsoft.com/office/drawing/2014/main" id="{F2661FC3-0EFC-494D-A358-F164F1DF46E9}"/>
              </a:ext>
            </a:extLst>
          </p:cNvPr>
          <p:cNvSpPr>
            <a:spLocks xmlns:a="http://schemas.openxmlformats.org/drawingml/2006/main" noGrp="1"/>
          </p:cNvSpPr>
          <p:nvPr/>
        </p:nvSpPr>
        <p:spPr>
          <a:xfrm xmlns:a="http://schemas.openxmlformats.org/drawingml/2006/main">
            <a:off x="54864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9DDA053B-0525-4408-BC0C-04CB9DC2A466}"/>
              </a:ext>
            </a:extLst>
          </p:cNvPr>
          <p:cNvSpPr>
            <a:spLocks xmlns:a="http://schemas.openxmlformats.org/drawingml/2006/main" noGrp="1"/>
          </p:cNvSpPr>
          <p:nvPr/>
        </p:nvSpPr>
        <p:spPr>
          <a:xfrm xmlns:a="http://schemas.openxmlformats.org/drawingml/2006/main">
            <a:off x="77724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Hip Fractures</a:t>
            </a:r>
          </a:p>
        </p:txBody>
      </p:sp>
      <p:sp>
        <p:nvSpPr>
          <p:cNvPr id="12" name="Text 10">
            <a:extLst xmlns:a="http://schemas.openxmlformats.org/drawingml/2006/main">
              <a:ext uri="{FF2B5EF4-FFF2-40B4-BE49-F238E27FC236}">
                <a16:creationId xmlns:a16="http://schemas.microsoft.com/office/drawing/2014/main" id="{F1C43CC1-276A-4B76-AEC9-2A540622749D}"/>
              </a:ext>
            </a:extLst>
          </p:cNvPr>
          <p:cNvSpPr>
            <a:spLocks xmlns:a="http://schemas.openxmlformats.org/drawingml/2006/main" noGrp="1"/>
          </p:cNvSpPr>
          <p:nvPr/>
        </p:nvSpPr>
        <p:spPr>
          <a:xfrm xmlns:a="http://schemas.openxmlformats.org/drawingml/2006/main">
            <a:off x="77724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Femoral-neck fractures are a major risk in older adults.</a:t>
            </a:r>
          </a:p>
        </p:txBody>
      </p:sp>
      <p:sp>
        <p:nvSpPr>
          <p:cNvPr id="13" name="Shape 11">
            <a:extLst xmlns:a="http://schemas.openxmlformats.org/drawingml/2006/main">
              <a:ext uri="{FF2B5EF4-FFF2-40B4-BE49-F238E27FC236}">
                <a16:creationId xmlns:a16="http://schemas.microsoft.com/office/drawing/2014/main" id="{F422D18D-ECAC-4EAD-A8F8-25F84D99FCBA}"/>
              </a:ext>
            </a:extLst>
          </p:cNvPr>
          <p:cNvSpPr>
            <a:spLocks xmlns:a="http://schemas.openxmlformats.org/drawingml/2006/main" noGrp="1"/>
          </p:cNvSpPr>
          <p:nvPr/>
        </p:nvSpPr>
        <p:spPr>
          <a:xfrm xmlns:a="http://schemas.openxmlformats.org/drawingml/2006/main">
            <a:off x="617220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EA89EBB3-95EB-4C6E-838F-02137FE04B10}"/>
              </a:ext>
            </a:extLst>
          </p:cNvPr>
          <p:cNvSpPr>
            <a:spLocks xmlns:a="http://schemas.openxmlformats.org/drawingml/2006/main" noGrp="1"/>
          </p:cNvSpPr>
          <p:nvPr/>
        </p:nvSpPr>
        <p:spPr>
          <a:xfrm xmlns:a="http://schemas.openxmlformats.org/drawingml/2006/main">
            <a:off x="640080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Obstetrics</a:t>
            </a:r>
          </a:p>
        </p:txBody>
      </p:sp>
      <p:sp>
        <p:nvSpPr>
          <p:cNvPr id="15" name="Text 13">
            <a:extLst xmlns:a="http://schemas.openxmlformats.org/drawingml/2006/main">
              <a:ext uri="{FF2B5EF4-FFF2-40B4-BE49-F238E27FC236}">
                <a16:creationId xmlns:a16="http://schemas.microsoft.com/office/drawing/2014/main" id="{17EDAFA6-5202-4A67-9019-4107AA7E5D76}"/>
              </a:ext>
            </a:extLst>
          </p:cNvPr>
          <p:cNvSpPr>
            <a:spLocks xmlns:a="http://schemas.openxmlformats.org/drawingml/2006/main" noGrp="1"/>
          </p:cNvSpPr>
          <p:nvPr/>
        </p:nvSpPr>
        <p:spPr>
          <a:xfrm xmlns:a="http://schemas.openxmlformats.org/drawingml/2006/main">
            <a:off x="640080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The female pelvis shape is central to childbirth.</a:t>
            </a:r>
          </a:p>
        </p:txBody>
      </p:sp>
      <p:sp>
        <p:nvSpPr>
          <p:cNvPr id="16" name="Shape 14">
            <a:extLst xmlns:a="http://schemas.openxmlformats.org/drawingml/2006/main">
              <a:ext uri="{FF2B5EF4-FFF2-40B4-BE49-F238E27FC236}">
                <a16:creationId xmlns:a16="http://schemas.microsoft.com/office/drawing/2014/main" id="{AFC69B9C-3FD4-4030-AA24-DF487475C83C}"/>
              </a:ext>
            </a:extLst>
          </p:cNvPr>
          <p:cNvSpPr>
            <a:spLocks xmlns:a="http://schemas.openxmlformats.org/drawingml/2006/main" noGrp="1"/>
          </p:cNvSpPr>
          <p:nvPr/>
        </p:nvSpPr>
        <p:spPr>
          <a:xfrm xmlns:a="http://schemas.openxmlformats.org/drawingml/2006/main">
            <a:off x="54864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41F6ACC7-1738-4006-A711-B136ECFE1B6C}"/>
              </a:ext>
            </a:extLst>
          </p:cNvPr>
          <p:cNvSpPr>
            <a:spLocks xmlns:a="http://schemas.openxmlformats.org/drawingml/2006/main" noGrp="1"/>
          </p:cNvSpPr>
          <p:nvPr/>
        </p:nvSpPr>
        <p:spPr>
          <a:xfrm xmlns:a="http://schemas.openxmlformats.org/drawingml/2006/main">
            <a:off x="77724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Mobility</a:t>
            </a:r>
          </a:p>
        </p:txBody>
      </p:sp>
      <p:sp>
        <p:nvSpPr>
          <p:cNvPr id="18" name="Text 16">
            <a:extLst xmlns:a="http://schemas.openxmlformats.org/drawingml/2006/main">
              <a:ext uri="{FF2B5EF4-FFF2-40B4-BE49-F238E27FC236}">
                <a16:creationId xmlns:a16="http://schemas.microsoft.com/office/drawing/2014/main" id="{8C6BA519-7718-470A-94E9-D4FD81AC655A}"/>
              </a:ext>
            </a:extLst>
          </p:cNvPr>
          <p:cNvSpPr>
            <a:spLocks xmlns:a="http://schemas.openxmlformats.org/drawingml/2006/main" noGrp="1"/>
          </p:cNvSpPr>
          <p:nvPr/>
        </p:nvSpPr>
        <p:spPr>
          <a:xfrm xmlns:a="http://schemas.openxmlformats.org/drawingml/2006/main">
            <a:off x="77724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Limb bones support transfers, ambulation, and weight-bearing.</a:t>
            </a:r>
          </a:p>
        </p:txBody>
      </p:sp>
      <p:sp>
        <p:nvSpPr>
          <p:cNvPr id="19" name="Shape 17">
            <a:extLst xmlns:a="http://schemas.openxmlformats.org/drawingml/2006/main">
              <a:ext uri="{FF2B5EF4-FFF2-40B4-BE49-F238E27FC236}">
                <a16:creationId xmlns:a16="http://schemas.microsoft.com/office/drawing/2014/main" id="{96639DB8-813D-4FCE-8DFD-9D96BE53D1C6}"/>
              </a:ext>
            </a:extLst>
          </p:cNvPr>
          <p:cNvSpPr>
            <a:spLocks xmlns:a="http://schemas.openxmlformats.org/drawingml/2006/main" noGrp="1"/>
          </p:cNvSpPr>
          <p:nvPr/>
        </p:nvSpPr>
        <p:spPr>
          <a:xfrm xmlns:a="http://schemas.openxmlformats.org/drawingml/2006/main">
            <a:off x="617220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0DCB1E76-54A2-46A2-A142-47C2BEDB4FF1}"/>
              </a:ext>
            </a:extLst>
          </p:cNvPr>
          <p:cNvSpPr>
            <a:spLocks xmlns:a="http://schemas.openxmlformats.org/drawingml/2006/main" noGrp="1"/>
          </p:cNvSpPr>
          <p:nvPr/>
        </p:nvSpPr>
        <p:spPr>
          <a:xfrm xmlns:a="http://schemas.openxmlformats.org/drawingml/2006/main">
            <a:off x="640080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Pediatrics</a:t>
            </a:r>
          </a:p>
        </p:txBody>
      </p:sp>
      <p:sp>
        <p:nvSpPr>
          <p:cNvPr id="21" name="Text 19">
            <a:extLst xmlns:a="http://schemas.openxmlformats.org/drawingml/2006/main">
              <a:ext uri="{FF2B5EF4-FFF2-40B4-BE49-F238E27FC236}">
                <a16:creationId xmlns:a16="http://schemas.microsoft.com/office/drawing/2014/main" id="{6D9D9039-6221-4FB7-94D4-D30D971B72BF}"/>
              </a:ext>
            </a:extLst>
          </p:cNvPr>
          <p:cNvSpPr>
            <a:spLocks xmlns:a="http://schemas.openxmlformats.org/drawingml/2006/main" noGrp="1"/>
          </p:cNvSpPr>
          <p:nvPr/>
        </p:nvSpPr>
        <p:spPr>
          <a:xfrm xmlns:a="http://schemas.openxmlformats.org/drawingml/2006/main">
            <a:off x="640080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Congenital limb conditions like clubfoot need early intervention.</a:t>
            </a:r>
          </a:p>
        </p:txBody>
      </p:sp>
    </p:spTree>
    <p:extLst>
      <p:ext uri="{BB962C8B-B14F-4D97-AF65-F5344CB8AC3E}">
        <p14:creationId xmlns:p14="http://schemas.microsoft.com/office/powerpoint/2010/main" val="108479278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2026-08-04T21:56:48.2360000Z</dcterms:created>
  <dcterms:modified xsi:type="dcterms:W3CDTF">2026-08-04T21:56:48.2360000Z</dcterms:modified>
</coreProperties>
</file>