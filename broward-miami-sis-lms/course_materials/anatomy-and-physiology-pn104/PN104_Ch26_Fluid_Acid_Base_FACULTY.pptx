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Preview fluid, electrolyte, and acid-base balance: where body water is held, how water intake and loss are balanced, the electrolytes that drive function, how blood pH is defended, and what happens when acid-base balance fails.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 makes up roughly 55 to 60 percent of adult body weight — more in lean people and infants, less in those with more body fat or older age. Different tissues hold different amounts: muscle is very watery, fat is not. This water is the medium for every chemical reaction in the body.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Body fluid is divided into the intracellular fluid (ICF) inside cells, about two-thirds of the total, and the extracellular fluid (ECF) outside them — including the plasma in blood vessels and the interstitial fluid bathing the tissues. Water and solutes move between these compartments to keep them 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body balances water gained (from drink, food, and metabolism) against water lost (in urine, sweat, breath, and feces). When fluid is low, the hypothalamus triggers thirst and releases ADH, which makes the kidneys conserve water. The kidneys are the main organ for adjusting water balance.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Dehydration occurs when water loss outpaces intake — often from vomiting, diarrhea, fever, or sweating. Signs include thirst, dark urine, dry mouth, and poor skin turgor (skin that "tents" when pinched). The young and elderly are especially vulnerable, and severe cases threaten blood pressure and organ function.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Electrolytes are dissolved ions — sodium, potassium, chloride, calcium, and others — that carry charge. Their concentrations differ sharply between compartments: sodium is the main ECF ion, potassium the main ICF ion. These differences drive nerve impulses, muscle contraction, and the movement of water by osmosis.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Sodium and potassium levels are tightly regulated, largely by aldosterone, which makes the kidneys retain sodium and excrete potassium. Because these ions govern nerve and muscle function, imbalances are dangerous — abnormal potassium especially can cause life-threatening heart arrhythmias.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 measures how acidic or basic a fluid is, from 0 to 14. Blood pH is held in a very narrow range around 7.4; below 7.35 is acidosis, above 7.45 is alkalosis. Even small deviations disrupt enzymes and cell function, so the body defends pH closely.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lines of defense control pH. Chemical buffers like bicarbonate neutralize acids instantly; the lungs adjust pH within minutes by changing how much carbon dioxide is exhaled; and the kidneys make the slowest but most powerful correction by excreting hydrogen ions and reclaiming bicarbonate. Together they keep blood pH stable.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pH control fails, the effects are body-wide. Acidosis (low pH) depresses the nervous system, causing confusion and eventually coma; alkalosis (high pH) overexcites it, causing tingling, muscle twitching, and spasms. Each can be respiratory (a carbon dioxide problem) or metabolic (a bicarbonate problem), and identifying the cause guides treatment.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731520" y="1325880"/>
            <a:ext cx="6400800" cy="457200"/>
          </a:xfrm>
          <a:prstGeom prst="rect">
            <a:avLst/>
          </a:prstGeom>
          <a:noFill/>
          <a:ln/>
        </p:spPr>
        <p:txBody>
          <a:bodyPr wrap="square" rtlCol="0" anchor="ctr"/>
          <a:lstStyle/>
          <a:p>
            <a:pPr indent="0" marL="0">
              <a:buNone/>
            </a:pPr>
            <a:r>
              <a:rPr lang="en-US" sz="1800" b="1" spc="400" kern="0" dirty="0">
                <a:solidFill>
                  <a:srgbClr val="E36414"/>
                </a:solidFill>
                <a:latin typeface="Calibri" pitchFamily="34" charset="0"/>
                <a:ea typeface="Calibri" pitchFamily="34" charset="-122"/>
                <a:cs typeface="Calibri" pitchFamily="34" charset="-120"/>
              </a:rPr>
              <a:t>CHAPTER 26</a:t>
            </a:r>
            <a:endParaRPr lang="en-US" sz="1800" dirty="0"/>
          </a:p>
        </p:txBody>
      </p:sp>
      <p:sp>
        <p:nvSpPr>
          <p:cNvPr id="3" name="Text 1"/>
          <p:cNvSpPr/>
          <p:nvPr/>
        </p:nvSpPr>
        <p:spPr>
          <a:xfrm>
            <a:off x="713232" y="1783080"/>
            <a:ext cx="6858000" cy="1920240"/>
          </a:xfrm>
          <a:prstGeom prst="rect">
            <a:avLst/>
          </a:prstGeom>
          <a:noFill/>
          <a:ln/>
        </p:spPr>
        <p:txBody>
          <a:bodyPr wrap="square" rtlCol="0" anchor="t"/>
          <a:lstStyle/>
          <a:p>
            <a:pPr indent="0" marL="0">
              <a:buNone/>
            </a:pPr>
            <a:r>
              <a:rPr lang="en-US" sz="3800" b="1" dirty="0">
                <a:solidFill>
                  <a:srgbClr val="FFFFFF"/>
                </a:solidFill>
                <a:latin typeface="Georgia" pitchFamily="34" charset="0"/>
                <a:ea typeface="Georgia" pitchFamily="34" charset="-122"/>
                <a:cs typeface="Georgia" pitchFamily="34" charset="-120"/>
              </a:rPr>
              <a:t>Fluid, Electrolyte, and Acid-Base Balance</a:t>
            </a:r>
            <a:endParaRPr lang="en-US" sz="3800" dirty="0"/>
          </a:p>
        </p:txBody>
      </p:sp>
      <p:sp>
        <p:nvSpPr>
          <p:cNvPr id="4" name="Text 2"/>
          <p:cNvSpPr/>
          <p:nvPr/>
        </p:nvSpPr>
        <p:spPr>
          <a:xfrm>
            <a:off x="749808" y="3977640"/>
            <a:ext cx="6400800" cy="822960"/>
          </a:xfrm>
          <a:prstGeom prst="rect">
            <a:avLst/>
          </a:prstGeom>
          <a:noFill/>
          <a:ln/>
        </p:spPr>
        <p:txBody>
          <a:bodyPr wrap="square" rtlCol="0" anchor="ctr"/>
          <a:lstStyle/>
          <a:p>
            <a:pPr indent="0" marL="0">
              <a:lnSpc>
                <a:spcPct val="110000"/>
              </a:lnSpc>
              <a:buNone/>
            </a:pPr>
            <a:r>
              <a:rPr lang="en-US" sz="1600" dirty="0">
                <a:solidFill>
                  <a:srgbClr val="CFE3E7"/>
                </a:solidFill>
                <a:latin typeface="Calibri" pitchFamily="34" charset="0"/>
                <a:ea typeface="Calibri" pitchFamily="34" charset="-122"/>
                <a:cs typeface="Calibri" pitchFamily="34" charset="-120"/>
              </a:rPr>
              <a:t>Keeping the body's water, ions, and pH in balance.</a:t>
            </a:r>
            <a:endParaRPr lang="en-US" sz="1600" dirty="0"/>
          </a:p>
        </p:txBody>
      </p:sp>
      <p:sp>
        <p:nvSpPr>
          <p:cNvPr id="5" name="Text 3"/>
          <p:cNvSpPr/>
          <p:nvPr/>
        </p:nvSpPr>
        <p:spPr>
          <a:xfrm>
            <a:off x="749808" y="5806440"/>
            <a:ext cx="8229600" cy="320040"/>
          </a:xfrm>
          <a:prstGeom prst="rect">
            <a:avLst/>
          </a:prstGeom>
          <a:noFill/>
          <a:ln/>
        </p:spPr>
        <p:txBody>
          <a:bodyPr wrap="square" rtlCol="0" anchor="ctr"/>
          <a:lstStyle/>
          <a:p>
            <a:pPr indent="0" marL="0">
              <a:buNone/>
            </a:pPr>
            <a:r>
              <a:rPr lang="en-US" sz="1300" dirty="0">
                <a:solidFill>
                  <a:srgbClr val="9FC2C9"/>
                </a:solidFill>
                <a:latin typeface="Calibri" pitchFamily="34" charset="0"/>
                <a:ea typeface="Calibri" pitchFamily="34" charset="-122"/>
                <a:cs typeface="Calibri" pitchFamily="34" charset="-120"/>
              </a:rPr>
              <a:t>Anatomy &amp; Physiology  ·  Broward-Miami Health Institute</a:t>
            </a:r>
            <a:endParaRPr lang="en-US" sz="1300" dirty="0"/>
          </a:p>
        </p:txBody>
      </p:sp>
      <p:sp>
        <p:nvSpPr>
          <p:cNvPr id="6" name="Text 4"/>
          <p:cNvSpPr/>
          <p:nvPr/>
        </p:nvSpPr>
        <p:spPr>
          <a:xfrm>
            <a:off x="749808" y="6144768"/>
            <a:ext cx="3657600" cy="320040"/>
          </a:xfrm>
          <a:prstGeom prst="rect">
            <a:avLst/>
          </a:prstGeom>
          <a:noFill/>
          <a:ln/>
        </p:spPr>
        <p:txBody>
          <a:bodyPr wrap="square" rtlCol="0" anchor="ctr"/>
          <a:lstStyle/>
          <a:p>
            <a:pPr indent="0" marL="0">
              <a:buNone/>
            </a:pPr>
            <a:r>
              <a:rPr lang="en-US" sz="1100" b="1" spc="300" kern="0" dirty="0">
                <a:solidFill>
                  <a:srgbClr val="E36414"/>
                </a:solidFill>
                <a:latin typeface="Calibri" pitchFamily="34" charset="0"/>
                <a:ea typeface="Calibri" pitchFamily="34" charset="-122"/>
                <a:cs typeface="Calibri" pitchFamily="34" charset="-120"/>
              </a:rPr>
              <a:t>FACULTY EDITION</a:t>
            </a:r>
            <a:endParaRPr lang="en-US" sz="1100" dirty="0"/>
          </a:p>
        </p:txBody>
      </p:sp>
      <p:sp>
        <p:nvSpPr>
          <p:cNvPr id="7" name="Shape 5"/>
          <p:cNvSpPr/>
          <p:nvPr/>
        </p:nvSpPr>
        <p:spPr>
          <a:xfrm>
            <a:off x="8250700" y="1380744"/>
            <a:ext cx="3066760" cy="4279392"/>
          </a:xfrm>
          <a:prstGeom prst="roundRect">
            <a:avLst>
              <a:gd name="adj" fmla="val 178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8" name="Image 0" descr="/home/claude/all/ch26/img/img02.jpg">    </p:cNvPr>
          <p:cNvPicPr>
            <a:picLocks noChangeAspect="1"/>
          </p:cNvPicPr>
          <p:nvPr/>
        </p:nvPicPr>
        <p:blipFill>
          <a:blip r:embed="rId1"/>
          <a:stretch>
            <a:fillRect/>
          </a:stretch>
        </p:blipFill>
        <p:spPr>
          <a:xfrm>
            <a:off x="8332996" y="1463040"/>
            <a:ext cx="2902168" cy="4114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Learning Objectives</a:t>
            </a:r>
            <a:endParaRPr lang="en-US" sz="2800" dirty="0"/>
          </a:p>
        </p:txBody>
      </p:sp>
      <p:sp>
        <p:nvSpPr>
          <p:cNvPr id="4" name="Text 2"/>
          <p:cNvSpPr/>
          <p:nvPr/>
        </p:nvSpPr>
        <p:spPr>
          <a:xfrm>
            <a:off x="548640" y="1371600"/>
            <a:ext cx="8229600" cy="274320"/>
          </a:xfrm>
          <a:prstGeom prst="rect">
            <a:avLst/>
          </a:prstGeom>
          <a:noFill/>
          <a:ln/>
        </p:spPr>
        <p:txBody>
          <a:bodyPr wrap="square" rtlCol="0" anchor="ctr"/>
          <a:lstStyle/>
          <a:p>
            <a:pPr indent="0" marL="0">
              <a:buNone/>
            </a:pPr>
            <a:r>
              <a:rPr lang="en-US" sz="1200" i="1" dirty="0">
                <a:solidFill>
                  <a:srgbClr val="5A6B70"/>
                </a:solidFill>
                <a:latin typeface="Calibri" pitchFamily="34" charset="0"/>
                <a:ea typeface="Calibri" pitchFamily="34" charset="-122"/>
                <a:cs typeface="Calibri" pitchFamily="34" charset="-120"/>
              </a:rPr>
              <a:t>After studying this chapter, students will be able to:</a:t>
            </a:r>
            <a:endParaRPr lang="en-US" sz="1200" dirty="0"/>
          </a:p>
        </p:txBody>
      </p:sp>
      <p:sp>
        <p:nvSpPr>
          <p:cNvPr id="5" name="Shape 3"/>
          <p:cNvSpPr/>
          <p:nvPr/>
        </p:nvSpPr>
        <p:spPr>
          <a:xfrm>
            <a:off x="548640" y="1664208"/>
            <a:ext cx="384048" cy="384048"/>
          </a:xfrm>
          <a:prstGeom prst="ellipse">
            <a:avLst/>
          </a:prstGeom>
          <a:solidFill>
            <a:srgbClr val="0F4C5C"/>
          </a:solidFill>
          <a:ln/>
        </p:spPr>
      </p:sp>
      <p:sp>
        <p:nvSpPr>
          <p:cNvPr id="6" name="Text 4"/>
          <p:cNvSpPr/>
          <p:nvPr/>
        </p:nvSpPr>
        <p:spPr>
          <a:xfrm>
            <a:off x="548640" y="1664208"/>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7" name="Text 5"/>
          <p:cNvSpPr/>
          <p:nvPr/>
        </p:nvSpPr>
        <p:spPr>
          <a:xfrm>
            <a:off x="1115568" y="1645920"/>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Identify the body’s main fluid compartments</a:t>
            </a:r>
            <a:endParaRPr lang="en-US" sz="1400" dirty="0"/>
          </a:p>
        </p:txBody>
      </p:sp>
      <p:sp>
        <p:nvSpPr>
          <p:cNvPr id="8" name="Shape 6"/>
          <p:cNvSpPr/>
          <p:nvPr/>
        </p:nvSpPr>
        <p:spPr>
          <a:xfrm>
            <a:off x="548640" y="2505456"/>
            <a:ext cx="384048" cy="384048"/>
          </a:xfrm>
          <a:prstGeom prst="ellipse">
            <a:avLst/>
          </a:prstGeom>
          <a:solidFill>
            <a:srgbClr val="0F4C5C"/>
          </a:solidFill>
          <a:ln/>
        </p:spPr>
      </p:sp>
      <p:sp>
        <p:nvSpPr>
          <p:cNvPr id="9" name="Text 7"/>
          <p:cNvSpPr/>
          <p:nvPr/>
        </p:nvSpPr>
        <p:spPr>
          <a:xfrm>
            <a:off x="548640" y="2505456"/>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0" name="Text 8"/>
          <p:cNvSpPr/>
          <p:nvPr/>
        </p:nvSpPr>
        <p:spPr>
          <a:xfrm>
            <a:off x="1115568" y="2487168"/>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Define plasma osmolality and identify two ways in which plasma osmolality is maintained</a:t>
            </a:r>
            <a:endParaRPr lang="en-US" sz="1400" dirty="0"/>
          </a:p>
        </p:txBody>
      </p:sp>
      <p:sp>
        <p:nvSpPr>
          <p:cNvPr id="11" name="Shape 9"/>
          <p:cNvSpPr/>
          <p:nvPr/>
        </p:nvSpPr>
        <p:spPr>
          <a:xfrm>
            <a:off x="548640" y="3346704"/>
            <a:ext cx="384048" cy="384048"/>
          </a:xfrm>
          <a:prstGeom prst="ellipse">
            <a:avLst/>
          </a:prstGeom>
          <a:solidFill>
            <a:srgbClr val="0F4C5C"/>
          </a:solidFill>
          <a:ln/>
        </p:spPr>
      </p:sp>
      <p:sp>
        <p:nvSpPr>
          <p:cNvPr id="12" name="Text 10"/>
          <p:cNvSpPr/>
          <p:nvPr/>
        </p:nvSpPr>
        <p:spPr>
          <a:xfrm>
            <a:off x="548640" y="3346704"/>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13" name="Text 11"/>
          <p:cNvSpPr/>
          <p:nvPr/>
        </p:nvSpPr>
        <p:spPr>
          <a:xfrm>
            <a:off x="1115568" y="3328416"/>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Identify the six ions most important to the function of the body</a:t>
            </a:r>
            <a:endParaRPr lang="en-US" sz="1400" dirty="0"/>
          </a:p>
        </p:txBody>
      </p:sp>
      <p:sp>
        <p:nvSpPr>
          <p:cNvPr id="14" name="Shape 12"/>
          <p:cNvSpPr/>
          <p:nvPr/>
        </p:nvSpPr>
        <p:spPr>
          <a:xfrm>
            <a:off x="548640" y="4187952"/>
            <a:ext cx="384048" cy="384048"/>
          </a:xfrm>
          <a:prstGeom prst="ellipse">
            <a:avLst/>
          </a:prstGeom>
          <a:solidFill>
            <a:srgbClr val="0F4C5C"/>
          </a:solidFill>
          <a:ln/>
        </p:spPr>
      </p:sp>
      <p:sp>
        <p:nvSpPr>
          <p:cNvPr id="15" name="Text 13"/>
          <p:cNvSpPr/>
          <p:nvPr/>
        </p:nvSpPr>
        <p:spPr>
          <a:xfrm>
            <a:off x="548640" y="4187952"/>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16" name="Text 14"/>
          <p:cNvSpPr/>
          <p:nvPr/>
        </p:nvSpPr>
        <p:spPr>
          <a:xfrm>
            <a:off x="1115568" y="4169664"/>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Define buffer and discuss the role of buffers in the body</a:t>
            </a:r>
            <a:endParaRPr lang="en-US" sz="1400" dirty="0"/>
          </a:p>
        </p:txBody>
      </p:sp>
      <p:sp>
        <p:nvSpPr>
          <p:cNvPr id="17" name="Shape 15"/>
          <p:cNvSpPr/>
          <p:nvPr/>
        </p:nvSpPr>
        <p:spPr>
          <a:xfrm>
            <a:off x="548640" y="5029200"/>
            <a:ext cx="384048" cy="384048"/>
          </a:xfrm>
          <a:prstGeom prst="ellipse">
            <a:avLst/>
          </a:prstGeom>
          <a:solidFill>
            <a:srgbClr val="0F4C5C"/>
          </a:solidFill>
          <a:ln/>
        </p:spPr>
      </p:sp>
      <p:sp>
        <p:nvSpPr>
          <p:cNvPr id="18" name="Text 16"/>
          <p:cNvSpPr/>
          <p:nvPr/>
        </p:nvSpPr>
        <p:spPr>
          <a:xfrm>
            <a:off x="548640" y="5029200"/>
            <a:ext cx="384048" cy="384048"/>
          </a:xfrm>
          <a:prstGeom prst="rect">
            <a:avLst/>
          </a:prstGeom>
          <a:noFill/>
          <a:ln/>
        </p:spPr>
        <p:txBody>
          <a:bodyPr wrap="square"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19" name="Text 17"/>
          <p:cNvSpPr/>
          <p:nvPr/>
        </p:nvSpPr>
        <p:spPr>
          <a:xfrm>
            <a:off x="1115568" y="5010912"/>
            <a:ext cx="5943600" cy="841248"/>
          </a:xfrm>
          <a:prstGeom prst="rect">
            <a:avLst/>
          </a:prstGeom>
          <a:noFill/>
          <a:ln/>
        </p:spPr>
        <p:txBody>
          <a:bodyPr wrap="square" rtlCol="0" anchor="t"/>
          <a:lstStyle/>
          <a:p>
            <a:pPr indent="0" marL="0">
              <a:buNone/>
            </a:pPr>
            <a:r>
              <a:rPr lang="en-US" sz="1400" dirty="0">
                <a:solidFill>
                  <a:srgbClr val="23363B"/>
                </a:solidFill>
                <a:latin typeface="Calibri" pitchFamily="34" charset="0"/>
                <a:ea typeface="Calibri" pitchFamily="34" charset="-122"/>
                <a:cs typeface="Calibri" pitchFamily="34" charset="-120"/>
              </a:rPr>
              <a:t>Explain why bicarbonate must be conserved rather than reabsorbed in the kidney</a:t>
            </a:r>
            <a:endParaRPr lang="en-US" sz="1400" dirty="0"/>
          </a:p>
        </p:txBody>
      </p:sp>
      <p:sp>
        <p:nvSpPr>
          <p:cNvPr id="20" name="Shape 18"/>
          <p:cNvSpPr/>
          <p:nvPr/>
        </p:nvSpPr>
        <p:spPr>
          <a:xfrm>
            <a:off x="7415784" y="2231832"/>
            <a:ext cx="4370832" cy="2997840"/>
          </a:xfrm>
          <a:prstGeom prst="roundRect">
            <a:avLst>
              <a:gd name="adj" fmla="val 183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21" name="Image 0" descr="/home/claude/all/ch26/img/img03.jpg">    </p:cNvPr>
          <p:cNvPicPr>
            <a:picLocks noChangeAspect="1"/>
          </p:cNvPicPr>
          <p:nvPr/>
        </p:nvPicPr>
        <p:blipFill>
          <a:blip r:embed="rId1"/>
          <a:stretch>
            <a:fillRect/>
          </a:stretch>
        </p:blipFill>
        <p:spPr>
          <a:xfrm>
            <a:off x="7498080" y="2314128"/>
            <a:ext cx="4206240" cy="2833248"/>
          </a:xfrm>
          <a:prstGeom prst="rect">
            <a:avLst/>
          </a:prstGeom>
        </p:spPr>
      </p:pic>
      <p:sp>
        <p:nvSpPr>
          <p:cNvPr id="22" name="Text 19"/>
          <p:cNvSpPr/>
          <p:nvPr/>
        </p:nvSpPr>
        <p:spPr>
          <a:xfrm>
            <a:off x="7498080" y="5943600"/>
            <a:ext cx="420624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body's fluid compartments.</a:t>
            </a:r>
            <a:endParaRPr lang="en-US" sz="1100" dirty="0"/>
          </a:p>
        </p:txBody>
      </p:sp>
      <p:sp>
        <p:nvSpPr>
          <p:cNvPr id="24" name="Text 20"/>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26 — Fluid, Electrolyte, and Acid-Base Balance</a:t>
            </a:r>
            <a:endParaRPr lang="en-US" sz="900" dirty="0"/>
          </a:p>
        </p:txBody>
      </p:sp>
      <p:sp>
        <p:nvSpPr>
          <p:cNvPr id="25" name="Text 21"/>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26.1</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Body Fluids and Fluid Compartments</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Where the body's water is and how it is distributed.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26.1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Body Water Content</a:t>
            </a:r>
            <a:endParaRPr lang="en-US" sz="2800" dirty="0"/>
          </a:p>
        </p:txBody>
      </p:sp>
      <p:sp>
        <p:nvSpPr>
          <p:cNvPr id="4" name="Shape 2"/>
          <p:cNvSpPr/>
          <p:nvPr/>
        </p:nvSpPr>
        <p:spPr>
          <a:xfrm>
            <a:off x="957148" y="1289304"/>
            <a:ext cx="3389224" cy="4736592"/>
          </a:xfrm>
          <a:prstGeom prst="roundRect">
            <a:avLst>
              <a:gd name="adj" fmla="val 1619"/>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6/img/img02.jpg">    </p:cNvPr>
          <p:cNvPicPr>
            <a:picLocks noChangeAspect="1"/>
          </p:cNvPicPr>
          <p:nvPr/>
        </p:nvPicPr>
        <p:blipFill>
          <a:blip r:embed="rId1"/>
          <a:stretch>
            <a:fillRect/>
          </a:stretch>
        </p:blipFill>
        <p:spPr>
          <a:xfrm>
            <a:off x="1039444" y="1371600"/>
            <a:ext cx="322463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Body water content</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Water is most of the body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About 55-60% of body weight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Varies by tissue and age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Highest in muscle, lowest in fat</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26 — Fluid, Electrolyte, and Acid-Base Balance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26.1</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Fluid Compartments</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Body fluid sits in two compartments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Intracellular fluid (inside cells)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Extracellular fluid (outside cells)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ECF = plasma + interstitial fluid</a:t>
            </a:r>
            <a:endParaRPr lang="en-US" sz="1500" dirty="0"/>
          </a:p>
        </p:txBody>
      </p:sp>
      <p:sp>
        <p:nvSpPr>
          <p:cNvPr id="5" name="Shape 3"/>
          <p:cNvSpPr/>
          <p:nvPr/>
        </p:nvSpPr>
        <p:spPr>
          <a:xfrm>
            <a:off x="5404104" y="1481164"/>
            <a:ext cx="6382512" cy="4352872"/>
          </a:xfrm>
          <a:prstGeom prst="roundRect">
            <a:avLst>
              <a:gd name="adj" fmla="val 126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6/img/img03.jpg">    </p:cNvPr>
          <p:cNvPicPr>
            <a:picLocks noChangeAspect="1"/>
          </p:cNvPicPr>
          <p:nvPr/>
        </p:nvPicPr>
        <p:blipFill>
          <a:blip r:embed="rId1"/>
          <a:stretch>
            <a:fillRect/>
          </a:stretch>
        </p:blipFill>
        <p:spPr>
          <a:xfrm>
            <a:off x="5486400" y="1563460"/>
            <a:ext cx="6217920" cy="418828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body's fluid compartments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26 — Fluid, Electrolyte, and Acid-Base Balance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26.2</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Water Balance</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body keeps water intake and loss in balance.</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26.2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Water Balance</a:t>
            </a:r>
            <a:endParaRPr lang="en-US" sz="2800" dirty="0"/>
          </a:p>
        </p:txBody>
      </p:sp>
      <p:sp>
        <p:nvSpPr>
          <p:cNvPr id="4" name="Shape 2"/>
          <p:cNvSpPr/>
          <p:nvPr/>
        </p:nvSpPr>
        <p:spPr>
          <a:xfrm>
            <a:off x="1185748" y="1289304"/>
            <a:ext cx="2932024" cy="4736592"/>
          </a:xfrm>
          <a:prstGeom prst="roundRect">
            <a:avLst>
              <a:gd name="adj" fmla="val 18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6/img/img08.jpg">    </p:cNvPr>
          <p:cNvPicPr>
            <a:picLocks noChangeAspect="1"/>
          </p:cNvPicPr>
          <p:nvPr/>
        </p:nvPicPr>
        <p:blipFill>
          <a:blip r:embed="rId1"/>
          <a:stretch>
            <a:fillRect/>
          </a:stretch>
        </p:blipFill>
        <p:spPr>
          <a:xfrm>
            <a:off x="1268044" y="1371600"/>
            <a:ext cx="2767432"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Regulation of water balance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Intake must match output</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Thirst drives intake</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ADH reduces water loss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The kidneys are the main regulator</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26 — Fluid, Electrolyte, and Acid-Base Balance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26.2</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Dehydration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Fluid loss exceeds intake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Common with vomiting, diarrhea, fever</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Signs: poor skin turgor, dark urine</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Dangerous if severe</a:t>
            </a:r>
            <a:endParaRPr lang="en-US" sz="1500" dirty="0"/>
          </a:p>
        </p:txBody>
      </p:sp>
      <p:sp>
        <p:nvSpPr>
          <p:cNvPr id="5" name="Shape 3"/>
          <p:cNvSpPr/>
          <p:nvPr/>
        </p:nvSpPr>
        <p:spPr>
          <a:xfrm>
            <a:off x="5641025" y="1335024"/>
            <a:ext cx="5908670"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6/img/img07.jpg">    </p:cNvPr>
          <p:cNvPicPr>
            <a:picLocks noChangeAspect="1"/>
          </p:cNvPicPr>
          <p:nvPr/>
        </p:nvPicPr>
        <p:blipFill>
          <a:blip r:embed="rId1"/>
          <a:stretch>
            <a:fillRect/>
          </a:stretch>
        </p:blipFill>
        <p:spPr>
          <a:xfrm>
            <a:off x="5723321" y="1417320"/>
            <a:ext cx="5744078"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Signs of dehydration</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26 — Fluid, Electrolyte, and Acid-Base Balance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26.3</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Electrolyte Balance</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The electrolytes that drive nerve, muscle, and fluid balance.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26.3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Electrolyte Composition</a:t>
            </a:r>
            <a:endParaRPr lang="en-US" sz="2800" dirty="0"/>
          </a:p>
        </p:txBody>
      </p:sp>
      <p:sp>
        <p:nvSpPr>
          <p:cNvPr id="4" name="Text 2"/>
          <p:cNvSpPr/>
          <p:nvPr/>
        </p:nvSpPr>
        <p:spPr>
          <a:xfrm>
            <a:off x="548640" y="1783080"/>
            <a:ext cx="4663440" cy="4206240"/>
          </a:xfrm>
          <a:prstGeom prst="rect">
            <a:avLst/>
          </a:prstGeom>
          <a:noFill/>
          <a:ln/>
        </p:spPr>
        <p:txBody>
          <a:bodyPr wrap="square" rtlCol="0" anchor="t"/>
          <a:lstStyle/>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Electrolytes are charged ions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Concentrations differ between compartments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Sodium dominates outside cells</a:t>
            </a:r>
            <a:endParaRPr lang="en-US" sz="1500" dirty="0"/>
          </a:p>
          <a:p>
            <a:pPr marL="177800" indent="-177800">
              <a:lnSpc>
                <a:spcPct val="102000"/>
              </a:lnSpc>
              <a:spcAft>
                <a:spcPts val="800"/>
              </a:spcAft>
              <a:buSzPct val="100000"/>
              <a:buChar char="•"/>
            </a:pPr>
            <a:r>
              <a:rPr lang="en-US" sz="1500" dirty="0">
                <a:solidFill>
                  <a:srgbClr val="23363B"/>
                </a:solidFill>
                <a:latin typeface="Calibri" pitchFamily="34" charset="0"/>
                <a:ea typeface="Calibri" pitchFamily="34" charset="-122"/>
                <a:cs typeface="Calibri" pitchFamily="34" charset="-120"/>
              </a:rPr>
              <a:t>Potassium dominates inside cells</a:t>
            </a:r>
            <a:endParaRPr lang="en-US" sz="1500" dirty="0"/>
          </a:p>
        </p:txBody>
      </p:sp>
      <p:sp>
        <p:nvSpPr>
          <p:cNvPr id="5" name="Shape 3"/>
          <p:cNvSpPr/>
          <p:nvPr/>
        </p:nvSpPr>
        <p:spPr>
          <a:xfrm>
            <a:off x="6245901" y="1335024"/>
            <a:ext cx="4698919" cy="4645152"/>
          </a:xfrm>
          <a:prstGeom prst="roundRect">
            <a:avLst>
              <a:gd name="adj" fmla="val 118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6" name="Image 0" descr="/home/claude/all/ch26/img/img04.jpg">    </p:cNvPr>
          <p:cNvPicPr>
            <a:picLocks noChangeAspect="1"/>
          </p:cNvPicPr>
          <p:nvPr/>
        </p:nvPicPr>
        <p:blipFill>
          <a:blip r:embed="rId1"/>
          <a:stretch>
            <a:fillRect/>
          </a:stretch>
        </p:blipFill>
        <p:spPr>
          <a:xfrm>
            <a:off x="6328197" y="1417320"/>
            <a:ext cx="4534327" cy="4480560"/>
          </a:xfrm>
          <a:prstGeom prst="rect">
            <a:avLst/>
          </a:prstGeom>
        </p:spPr>
      </p:pic>
      <p:sp>
        <p:nvSpPr>
          <p:cNvPr id="7" name="Text 4"/>
          <p:cNvSpPr/>
          <p:nvPr/>
        </p:nvSpPr>
        <p:spPr>
          <a:xfrm>
            <a:off x="5486400" y="5943600"/>
            <a:ext cx="621792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Electrolyte composition of body fluids</a:t>
            </a:r>
            <a:endParaRPr lang="en-US" sz="11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26 — Fluid, Electrolyte, and Acid-Base Balance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26.3</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Sodium &amp; Potassium Balance</a:t>
            </a:r>
            <a:endParaRPr lang="en-US" sz="2800" dirty="0"/>
          </a:p>
        </p:txBody>
      </p:sp>
      <p:sp>
        <p:nvSpPr>
          <p:cNvPr id="4" name="Shape 2"/>
          <p:cNvSpPr/>
          <p:nvPr/>
        </p:nvSpPr>
        <p:spPr>
          <a:xfrm>
            <a:off x="1057046" y="1289304"/>
            <a:ext cx="3189427" cy="4736592"/>
          </a:xfrm>
          <a:prstGeom prst="roundRect">
            <a:avLst>
              <a:gd name="adj" fmla="val 172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6/img/img11.jpg">    </p:cNvPr>
          <p:cNvPicPr>
            <a:picLocks noChangeAspect="1"/>
          </p:cNvPicPr>
          <p:nvPr/>
        </p:nvPicPr>
        <p:blipFill>
          <a:blip r:embed="rId1"/>
          <a:stretch>
            <a:fillRect/>
          </a:stretch>
        </p:blipFill>
        <p:spPr>
          <a:xfrm>
            <a:off x="1139342" y="1371600"/>
            <a:ext cx="3024835"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Aldosterone and sodium-potassium balance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Sodium and potassium are tightly controlled</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Aldosterone retains sodium</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And promotes potassium loss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Imbalances affect the heart and nerves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26 — Fluid, Electrolyte, and Acid-Base Balance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26.4</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Acid-Base Balance</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How the body keeps blood pH within a narrow safe range.</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26.4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The pH Scale</a:t>
            </a:r>
            <a:endParaRPr lang="en-US" sz="2800" dirty="0"/>
          </a:p>
        </p:txBody>
      </p:sp>
      <p:sp>
        <p:nvSpPr>
          <p:cNvPr id="4" name="Shape 2"/>
          <p:cNvSpPr/>
          <p:nvPr/>
        </p:nvSpPr>
        <p:spPr>
          <a:xfrm>
            <a:off x="1237412" y="1289304"/>
            <a:ext cx="2828696" cy="4736592"/>
          </a:xfrm>
          <a:prstGeom prst="roundRect">
            <a:avLst>
              <a:gd name="adj" fmla="val 1940"/>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6/img/img13.jpg">    </p:cNvPr>
          <p:cNvPicPr>
            <a:picLocks noChangeAspect="1"/>
          </p:cNvPicPr>
          <p:nvPr/>
        </p:nvPicPr>
        <p:blipFill>
          <a:blip r:embed="rId1"/>
          <a:stretch>
            <a:fillRect/>
          </a:stretch>
        </p:blipFill>
        <p:spPr>
          <a:xfrm>
            <a:off x="1319708" y="1371600"/>
            <a:ext cx="2664104" cy="4572000"/>
          </a:xfrm>
          <a:prstGeom prst="rect">
            <a:avLst/>
          </a:prstGeom>
        </p:spPr>
      </p:pic>
      <p:sp>
        <p:nvSpPr>
          <p:cNvPr id="6" name="Text 3"/>
          <p:cNvSpPr/>
          <p:nvPr/>
        </p:nvSpPr>
        <p:spPr>
          <a:xfrm>
            <a:off x="502920" y="5989320"/>
            <a:ext cx="42976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pH scale</a:t>
            </a:r>
            <a:endParaRPr lang="en-US" sz="1100" dirty="0"/>
          </a:p>
        </p:txBody>
      </p:sp>
      <p:sp>
        <p:nvSpPr>
          <p:cNvPr id="7" name="Text 4"/>
          <p:cNvSpPr/>
          <p:nvPr/>
        </p:nvSpPr>
        <p:spPr>
          <a:xfrm>
            <a:off x="5074920" y="1828800"/>
            <a:ext cx="6583680" cy="4023360"/>
          </a:xfrm>
          <a:prstGeom prst="rect">
            <a:avLst/>
          </a:prstGeom>
          <a:noFill/>
          <a:ln/>
        </p:spPr>
        <p:txBody>
          <a:bodyPr wrap="square" rtlCol="0" anchor="t"/>
          <a:lstStyle/>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pH measures acidity</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Blood is kept near 7.4</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Below 7.35 is acidosis</a:t>
            </a:r>
            <a:endParaRPr lang="en-US" sz="1600" dirty="0"/>
          </a:p>
          <a:p>
            <a:pPr marL="177800" indent="-177800">
              <a:lnSpc>
                <a:spcPct val="102000"/>
              </a:lnSpc>
              <a:spcAft>
                <a:spcPts val="800"/>
              </a:spcAft>
              <a:buSzPct val="100000"/>
              <a:buChar char="•"/>
            </a:pPr>
            <a:r>
              <a:rPr lang="en-US" sz="1600" dirty="0">
                <a:solidFill>
                  <a:srgbClr val="23363B"/>
                </a:solidFill>
                <a:latin typeface="Calibri" pitchFamily="34" charset="0"/>
                <a:ea typeface="Calibri" pitchFamily="34" charset="-122"/>
                <a:cs typeface="Calibri" pitchFamily="34" charset="-120"/>
              </a:rPr>
              <a:t>Above 7.45 is alkalosis</a:t>
            </a:r>
            <a:endParaRPr lang="en-US" sz="1600" dirty="0"/>
          </a:p>
        </p:txBody>
      </p:sp>
      <p:sp>
        <p:nvSpPr>
          <p:cNvPr id="9" name="Text 5"/>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26 — Fluid, Electrolyte, and Acid-Base Balance</a:t>
            </a:r>
            <a:endParaRPr lang="en-US" sz="900" dirty="0"/>
          </a:p>
        </p:txBody>
      </p:sp>
      <p:sp>
        <p:nvSpPr>
          <p:cNvPr id="10" name="Text 6"/>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26.4</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Regulating pH</a:t>
            </a:r>
            <a:endParaRPr lang="en-US" sz="2800" dirty="0"/>
          </a:p>
        </p:txBody>
      </p:sp>
      <p:sp>
        <p:nvSpPr>
          <p:cNvPr id="4" name="Shape 2"/>
          <p:cNvSpPr/>
          <p:nvPr/>
        </p:nvSpPr>
        <p:spPr>
          <a:xfrm>
            <a:off x="2989018" y="1289304"/>
            <a:ext cx="6229204"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6/img/img14.jpg">    </p:cNvPr>
          <p:cNvPicPr>
            <a:picLocks noChangeAspect="1"/>
          </p:cNvPicPr>
          <p:nvPr/>
        </p:nvPicPr>
        <p:blipFill>
          <a:blip r:embed="rId1"/>
          <a:stretch>
            <a:fillRect/>
          </a:stretch>
        </p:blipFill>
        <p:spPr>
          <a:xfrm>
            <a:off x="3071314" y="1371600"/>
            <a:ext cx="6064612"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The kidneys and acid-base balance</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Three systems defend blood pH</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Buffers act instantly</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lungs adjust CO2</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The kidneys adjust bicarbonate and H+</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26 — Fluid, Electrolyte, and Acid-Base Balance</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4C5C"/>
        </a:solidFill>
      </p:bgPr>
    </p:bg>
    <p:spTree>
      <p:nvGrpSpPr>
        <p:cNvPr id="1" name=""/>
        <p:cNvGrpSpPr/>
        <p:nvPr/>
      </p:nvGrpSpPr>
      <p:grpSpPr>
        <a:xfrm>
          <a:off x="0" y="0"/>
          <a:ext cx="0" cy="0"/>
          <a:chOff x="0" y="0"/>
          <a:chExt cx="0" cy="0"/>
        </a:xfrm>
      </p:grpSpPr>
      <p:sp>
        <p:nvSpPr>
          <p:cNvPr id="2" name="Shape 0"/>
          <p:cNvSpPr/>
          <p:nvPr/>
        </p:nvSpPr>
        <p:spPr>
          <a:xfrm>
            <a:off x="822960" y="2331720"/>
            <a:ext cx="2011680" cy="2011680"/>
          </a:xfrm>
          <a:prstGeom prst="ellipse">
            <a:avLst/>
          </a:prstGeom>
          <a:solidFill>
            <a:srgbClr val="E36414"/>
          </a:solidFill>
          <a:ln/>
        </p:spPr>
      </p:sp>
      <p:sp>
        <p:nvSpPr>
          <p:cNvPr id="3" name="Text 1"/>
          <p:cNvSpPr/>
          <p:nvPr/>
        </p:nvSpPr>
        <p:spPr>
          <a:xfrm>
            <a:off x="822960" y="2331720"/>
            <a:ext cx="2011680" cy="2011680"/>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26.5</a:t>
            </a:r>
            <a:endParaRPr lang="en-US" sz="4400" dirty="0"/>
          </a:p>
        </p:txBody>
      </p:sp>
      <p:sp>
        <p:nvSpPr>
          <p:cNvPr id="4" name="Text 2"/>
          <p:cNvSpPr/>
          <p:nvPr/>
        </p:nvSpPr>
        <p:spPr>
          <a:xfrm>
            <a:off x="3200400" y="2468880"/>
            <a:ext cx="7315200" cy="365760"/>
          </a:xfrm>
          <a:prstGeom prst="rect">
            <a:avLst/>
          </a:prstGeom>
          <a:noFill/>
          <a:ln/>
        </p:spPr>
        <p:txBody>
          <a:bodyPr wrap="square" rtlCol="0" anchor="ctr"/>
          <a:lstStyle/>
          <a:p>
            <a:pPr indent="0" marL="0">
              <a:buNone/>
            </a:pPr>
            <a:r>
              <a:rPr lang="en-US" sz="1400" b="1" spc="400" kern="0" dirty="0">
                <a:solidFill>
                  <a:srgbClr val="9FC2C9"/>
                </a:solidFill>
                <a:latin typeface="Calibri" pitchFamily="34" charset="0"/>
                <a:ea typeface="Calibri" pitchFamily="34" charset="-122"/>
                <a:cs typeface="Calibri" pitchFamily="34" charset="-120"/>
              </a:rPr>
              <a:t>SECTION</a:t>
            </a:r>
            <a:endParaRPr lang="en-US" sz="1400" dirty="0"/>
          </a:p>
        </p:txBody>
      </p:sp>
      <p:sp>
        <p:nvSpPr>
          <p:cNvPr id="5" name="Text 3"/>
          <p:cNvSpPr/>
          <p:nvPr/>
        </p:nvSpPr>
        <p:spPr>
          <a:xfrm>
            <a:off x="3154680" y="2788920"/>
            <a:ext cx="8412480" cy="1463040"/>
          </a:xfrm>
          <a:prstGeom prst="rect">
            <a:avLst/>
          </a:prstGeom>
          <a:noFill/>
          <a:ln/>
        </p:spPr>
        <p:txBody>
          <a:bodyPr wrap="square" rtlCol="0" anchor="t"/>
          <a:lstStyle/>
          <a:p>
            <a:pPr indent="0" marL="0">
              <a:buNone/>
            </a:pPr>
            <a:r>
              <a:rPr lang="en-US" sz="2800" b="1" dirty="0">
                <a:solidFill>
                  <a:srgbClr val="FFFFFF"/>
                </a:solidFill>
                <a:latin typeface="Georgia" pitchFamily="34" charset="0"/>
                <a:ea typeface="Georgia" pitchFamily="34" charset="-122"/>
                <a:cs typeface="Georgia" pitchFamily="34" charset="-120"/>
              </a:rPr>
              <a:t>Disorders of Acid-Base Balance</a:t>
            </a:r>
            <a:endParaRPr lang="en-US" sz="2800" dirty="0"/>
          </a:p>
        </p:txBody>
      </p:sp>
      <p:sp>
        <p:nvSpPr>
          <p:cNvPr id="6" name="Text 4"/>
          <p:cNvSpPr/>
          <p:nvPr/>
        </p:nvSpPr>
        <p:spPr>
          <a:xfrm>
            <a:off x="3200400" y="4206240"/>
            <a:ext cx="8138160" cy="822960"/>
          </a:xfrm>
          <a:prstGeom prst="rect">
            <a:avLst/>
          </a:prstGeom>
          <a:noFill/>
          <a:ln/>
        </p:spPr>
        <p:txBody>
          <a:bodyPr wrap="square" rtlCol="0" anchor="ctr"/>
          <a:lstStyle/>
          <a:p>
            <a:pPr indent="0" marL="0">
              <a:lnSpc>
                <a:spcPct val="110000"/>
              </a:lnSpc>
              <a:buNone/>
            </a:pPr>
            <a:r>
              <a:rPr lang="en-US" sz="1500" dirty="0">
                <a:solidFill>
                  <a:srgbClr val="CFE3E7"/>
                </a:solidFill>
                <a:latin typeface="Calibri" pitchFamily="34" charset="0"/>
                <a:ea typeface="Calibri" pitchFamily="34" charset="-122"/>
                <a:cs typeface="Calibri" pitchFamily="34" charset="-120"/>
              </a:rPr>
              <a:t>What happens when acid-base balance breaks down.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SECTION 26.5</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Acidosis &amp; Alkalosis</a:t>
            </a:r>
            <a:endParaRPr lang="en-US" sz="2800" dirty="0"/>
          </a:p>
        </p:txBody>
      </p:sp>
      <p:sp>
        <p:nvSpPr>
          <p:cNvPr id="4" name="Shape 2"/>
          <p:cNvSpPr/>
          <p:nvPr/>
        </p:nvSpPr>
        <p:spPr>
          <a:xfrm>
            <a:off x="3273241" y="1289304"/>
            <a:ext cx="5660758" cy="3730752"/>
          </a:xfrm>
          <a:prstGeom prst="roundRect">
            <a:avLst>
              <a:gd name="adj" fmla="val 1471"/>
            </a:avLst>
          </a:prstGeom>
          <a:solidFill>
            <a:srgbClr val="FFFFFF"/>
          </a:solidFill>
          <a:ln w="12700">
            <a:solidFill>
              <a:srgbClr val="D7E2E6"/>
            </a:solidFill>
            <a:prstDash val="solid"/>
          </a:ln>
          <a:effectLst>
            <a:outerShdw sx="100000" sy="100000" kx="0" ky="0" algn="bl" rotWithShape="0" blurRad="76200" dist="25400" dir="5400000">
              <a:srgbClr val="9AA9AE">
                <a:alpha val="45000"/>
              </a:srgbClr>
            </a:outerShdw>
          </a:effectLst>
        </p:spPr>
      </p:sp>
      <p:pic>
        <p:nvPicPr>
          <p:cNvPr id="5" name="Image 0" descr="/home/claude/all/ch26/img/img15.jpg">    </p:cNvPr>
          <p:cNvPicPr>
            <a:picLocks noChangeAspect="1"/>
          </p:cNvPicPr>
          <p:nvPr/>
        </p:nvPicPr>
        <p:blipFill>
          <a:blip r:embed="rId1"/>
          <a:stretch>
            <a:fillRect/>
          </a:stretch>
        </p:blipFill>
        <p:spPr>
          <a:xfrm>
            <a:off x="3355537" y="1371600"/>
            <a:ext cx="5496166" cy="3566160"/>
          </a:xfrm>
          <a:prstGeom prst="rect">
            <a:avLst/>
          </a:prstGeom>
        </p:spPr>
      </p:pic>
      <p:sp>
        <p:nvSpPr>
          <p:cNvPr id="6" name="Text 3"/>
          <p:cNvSpPr/>
          <p:nvPr/>
        </p:nvSpPr>
        <p:spPr>
          <a:xfrm>
            <a:off x="640080" y="4983480"/>
            <a:ext cx="10927080" cy="274320"/>
          </a:xfrm>
          <a:prstGeom prst="rect">
            <a:avLst/>
          </a:prstGeom>
          <a:noFill/>
          <a:ln/>
        </p:spPr>
        <p:txBody>
          <a:bodyPr wrap="square" rtlCol="0" anchor="ctr"/>
          <a:lstStyle/>
          <a:p>
            <a:pPr algn="ctr" indent="0" marL="0">
              <a:buNone/>
            </a:pPr>
            <a:r>
              <a:rPr lang="en-US" sz="1100" i="1" dirty="0">
                <a:solidFill>
                  <a:srgbClr val="5A6B70"/>
                </a:solidFill>
                <a:latin typeface="Calibri" pitchFamily="34" charset="0"/>
                <a:ea typeface="Calibri" pitchFamily="34" charset="-122"/>
                <a:cs typeface="Calibri" pitchFamily="34" charset="-120"/>
              </a:rPr>
              <a:t>Symptoms of acidosis and alkalosis</a:t>
            </a:r>
            <a:endParaRPr lang="en-US" sz="1100" dirty="0"/>
          </a:p>
        </p:txBody>
      </p:sp>
      <p:sp>
        <p:nvSpPr>
          <p:cNvPr id="7" name="Text 4"/>
          <p:cNvSpPr/>
          <p:nvPr/>
        </p:nvSpPr>
        <p:spPr>
          <a:xfrm>
            <a:off x="73152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Imbalance affects the whole body</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Acidosis: low pH (confusion, coma)</a:t>
            </a:r>
            <a:endParaRPr lang="en-US" sz="1300" dirty="0"/>
          </a:p>
        </p:txBody>
      </p:sp>
      <p:sp>
        <p:nvSpPr>
          <p:cNvPr id="8" name="Text 5"/>
          <p:cNvSpPr/>
          <p:nvPr/>
        </p:nvSpPr>
        <p:spPr>
          <a:xfrm>
            <a:off x="6263640" y="5349240"/>
            <a:ext cx="5349240" cy="1097280"/>
          </a:xfrm>
          <a:prstGeom prst="rect">
            <a:avLst/>
          </a:prstGeom>
          <a:noFill/>
          <a:ln/>
        </p:spPr>
        <p:txBody>
          <a:bodyPr wrap="square" rtlCol="0" anchor="t"/>
          <a:lstStyle/>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Alkalosis: high pH (tingling, spasms)</a:t>
            </a:r>
            <a:endParaRPr lang="en-US" sz="1300" dirty="0"/>
          </a:p>
          <a:p>
            <a:pPr marL="177800" indent="-177800">
              <a:lnSpc>
                <a:spcPct val="102000"/>
              </a:lnSpc>
              <a:spcAft>
                <a:spcPts val="800"/>
              </a:spcAft>
              <a:buSzPct val="100000"/>
              <a:buChar char="•"/>
            </a:pPr>
            <a:r>
              <a:rPr lang="en-US" sz="1300" dirty="0">
                <a:solidFill>
                  <a:srgbClr val="23363B"/>
                </a:solidFill>
                <a:latin typeface="Calibri" pitchFamily="34" charset="0"/>
                <a:ea typeface="Calibri" pitchFamily="34" charset="-122"/>
                <a:cs typeface="Calibri" pitchFamily="34" charset="-120"/>
              </a:rPr>
              <a:t>Can be respiratory or metabolic</a:t>
            </a:r>
            <a:endParaRPr lang="en-US" sz="1300" dirty="0"/>
          </a:p>
        </p:txBody>
      </p:sp>
      <p:sp>
        <p:nvSpPr>
          <p:cNvPr id="10" name="Text 6"/>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26 — Fluid, Electrolyte, and Acid-Base Balance</a:t>
            </a:r>
            <a:endParaRPr lang="en-US" sz="900" dirty="0"/>
          </a:p>
        </p:txBody>
      </p:sp>
      <p:sp>
        <p:nvSpPr>
          <p:cNvPr id="11" name="Text 7"/>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84048"/>
            <a:ext cx="10972800" cy="292608"/>
          </a:xfrm>
          <a:prstGeom prst="rect">
            <a:avLst/>
          </a:prstGeom>
          <a:noFill/>
          <a:ln/>
        </p:spPr>
        <p:txBody>
          <a:bodyPr wrap="square" rtlCol="0" anchor="ctr"/>
          <a:lstStyle/>
          <a:p>
            <a:pPr indent="0" marL="0">
              <a:buNone/>
            </a:pPr>
            <a:r>
              <a:rPr lang="en-US" sz="1200" b="1" spc="200" kern="0" dirty="0">
                <a:solidFill>
                  <a:srgbClr val="E36414"/>
                </a:solidFill>
                <a:latin typeface="Calibri" pitchFamily="34" charset="0"/>
                <a:ea typeface="Calibri" pitchFamily="34" charset="-122"/>
                <a:cs typeface="Calibri" pitchFamily="34" charset="-120"/>
              </a:rPr>
              <a:t>CHAPTER 26</a:t>
            </a:r>
            <a:endParaRPr lang="en-US" sz="1200" dirty="0"/>
          </a:p>
        </p:txBody>
      </p:sp>
      <p:sp>
        <p:nvSpPr>
          <p:cNvPr id="3" name="Text 1"/>
          <p:cNvSpPr/>
          <p:nvPr/>
        </p:nvSpPr>
        <p:spPr>
          <a:xfrm>
            <a:off x="475488" y="658368"/>
            <a:ext cx="11247120" cy="777240"/>
          </a:xfrm>
          <a:prstGeom prst="rect">
            <a:avLst/>
          </a:prstGeom>
          <a:noFill/>
          <a:ln/>
        </p:spPr>
        <p:txBody>
          <a:bodyPr wrap="square" rtlCol="0" anchor="t"/>
          <a:lstStyle/>
          <a:p>
            <a:pPr indent="0" marL="0">
              <a:buNone/>
            </a:pPr>
            <a:r>
              <a:rPr lang="en-US" sz="2800" b="1" dirty="0">
                <a:solidFill>
                  <a:srgbClr val="0F4C5C"/>
                </a:solidFill>
                <a:latin typeface="Georgia" pitchFamily="34" charset="0"/>
                <a:ea typeface="Georgia" pitchFamily="34" charset="-122"/>
                <a:cs typeface="Georgia" pitchFamily="34" charset="-120"/>
              </a:rPr>
              <a:t>Key Takeaways</a:t>
            </a:r>
            <a:endParaRPr lang="en-US" sz="2800" dirty="0"/>
          </a:p>
        </p:txBody>
      </p:sp>
      <p:sp>
        <p:nvSpPr>
          <p:cNvPr id="4" name="Shape 2"/>
          <p:cNvSpPr/>
          <p:nvPr/>
        </p:nvSpPr>
        <p:spPr>
          <a:xfrm>
            <a:off x="548640" y="1819656"/>
            <a:ext cx="237744" cy="237744"/>
          </a:xfrm>
          <a:prstGeom prst="ellipse">
            <a:avLst/>
          </a:prstGeom>
          <a:solidFill>
            <a:srgbClr val="E36414"/>
          </a:solidFill>
          <a:ln/>
        </p:spPr>
      </p:sp>
      <p:sp>
        <p:nvSpPr>
          <p:cNvPr id="5" name="Text 3"/>
          <p:cNvSpPr/>
          <p:nvPr/>
        </p:nvSpPr>
        <p:spPr>
          <a:xfrm>
            <a:off x="960120" y="1737360"/>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Body water is split between intracellular and extracellular compartments.</a:t>
            </a:r>
            <a:endParaRPr lang="en-US" sz="1550" dirty="0"/>
          </a:p>
        </p:txBody>
      </p:sp>
      <p:sp>
        <p:nvSpPr>
          <p:cNvPr id="6" name="Shape 4"/>
          <p:cNvSpPr/>
          <p:nvPr/>
        </p:nvSpPr>
        <p:spPr>
          <a:xfrm>
            <a:off x="548640" y="2606040"/>
            <a:ext cx="237744" cy="237744"/>
          </a:xfrm>
          <a:prstGeom prst="ellipse">
            <a:avLst/>
          </a:prstGeom>
          <a:solidFill>
            <a:srgbClr val="E36414"/>
          </a:solidFill>
          <a:ln/>
        </p:spPr>
      </p:sp>
      <p:sp>
        <p:nvSpPr>
          <p:cNvPr id="7" name="Text 5"/>
          <p:cNvSpPr/>
          <p:nvPr/>
        </p:nvSpPr>
        <p:spPr>
          <a:xfrm>
            <a:off x="960120" y="2523744"/>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Water balance matches intake to output, regulated mainly by the kidneys and ADH.</a:t>
            </a:r>
            <a:endParaRPr lang="en-US" sz="1550" dirty="0"/>
          </a:p>
        </p:txBody>
      </p:sp>
      <p:sp>
        <p:nvSpPr>
          <p:cNvPr id="8" name="Shape 6"/>
          <p:cNvSpPr/>
          <p:nvPr/>
        </p:nvSpPr>
        <p:spPr>
          <a:xfrm>
            <a:off x="548640" y="3392424"/>
            <a:ext cx="237744" cy="237744"/>
          </a:xfrm>
          <a:prstGeom prst="ellipse">
            <a:avLst/>
          </a:prstGeom>
          <a:solidFill>
            <a:srgbClr val="E36414"/>
          </a:solidFill>
          <a:ln/>
        </p:spPr>
      </p:sp>
      <p:sp>
        <p:nvSpPr>
          <p:cNvPr id="9" name="Text 7"/>
          <p:cNvSpPr/>
          <p:nvPr/>
        </p:nvSpPr>
        <p:spPr>
          <a:xfrm>
            <a:off x="960120" y="3310128"/>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Electrolytes differ between compartments and drive nerve, muscle, and fluid function.</a:t>
            </a:r>
            <a:endParaRPr lang="en-US" sz="1550" dirty="0"/>
          </a:p>
        </p:txBody>
      </p:sp>
      <p:sp>
        <p:nvSpPr>
          <p:cNvPr id="10" name="Shape 8"/>
          <p:cNvSpPr/>
          <p:nvPr/>
        </p:nvSpPr>
        <p:spPr>
          <a:xfrm>
            <a:off x="548640" y="4178808"/>
            <a:ext cx="237744" cy="237744"/>
          </a:xfrm>
          <a:prstGeom prst="ellipse">
            <a:avLst/>
          </a:prstGeom>
          <a:solidFill>
            <a:srgbClr val="E36414"/>
          </a:solidFill>
          <a:ln/>
        </p:spPr>
      </p:sp>
      <p:sp>
        <p:nvSpPr>
          <p:cNvPr id="11" name="Text 9"/>
          <p:cNvSpPr/>
          <p:nvPr/>
        </p:nvSpPr>
        <p:spPr>
          <a:xfrm>
            <a:off x="960120" y="4096512"/>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Blood pH is held near 7.4 by buffers, the lungs, and the kidneys.</a:t>
            </a:r>
            <a:endParaRPr lang="en-US" sz="1550" dirty="0"/>
          </a:p>
        </p:txBody>
      </p:sp>
      <p:sp>
        <p:nvSpPr>
          <p:cNvPr id="12" name="Shape 10"/>
          <p:cNvSpPr/>
          <p:nvPr/>
        </p:nvSpPr>
        <p:spPr>
          <a:xfrm>
            <a:off x="548640" y="4965192"/>
            <a:ext cx="237744" cy="237744"/>
          </a:xfrm>
          <a:prstGeom prst="ellipse">
            <a:avLst/>
          </a:prstGeom>
          <a:solidFill>
            <a:srgbClr val="E36414"/>
          </a:solidFill>
          <a:ln/>
        </p:spPr>
      </p:sp>
      <p:sp>
        <p:nvSpPr>
          <p:cNvPr id="13" name="Text 11"/>
          <p:cNvSpPr/>
          <p:nvPr/>
        </p:nvSpPr>
        <p:spPr>
          <a:xfrm>
            <a:off x="960120" y="4882896"/>
            <a:ext cx="10607040" cy="548640"/>
          </a:xfrm>
          <a:prstGeom prst="rect">
            <a:avLst/>
          </a:prstGeom>
          <a:noFill/>
          <a:ln/>
        </p:spPr>
        <p:txBody>
          <a:bodyPr wrap="square" rtlCol="0" anchor="ctr"/>
          <a:lstStyle/>
          <a:p>
            <a:pPr indent="0" marL="0">
              <a:buNone/>
            </a:pPr>
            <a:r>
              <a:rPr lang="en-US" sz="1550" dirty="0">
                <a:solidFill>
                  <a:srgbClr val="23363B"/>
                </a:solidFill>
                <a:latin typeface="Calibri" pitchFamily="34" charset="0"/>
                <a:ea typeface="Calibri" pitchFamily="34" charset="-122"/>
                <a:cs typeface="Calibri" pitchFamily="34" charset="-120"/>
              </a:rPr>
              <a:t>Acidosis and alkalosis disrupt the whole body and may be respiratory or metabolic.</a:t>
            </a:r>
            <a:endParaRPr lang="en-US" sz="1550" dirty="0"/>
          </a:p>
        </p:txBody>
      </p:sp>
      <p:sp>
        <p:nvSpPr>
          <p:cNvPr id="14" name="Text 12"/>
          <p:cNvSpPr/>
          <p:nvPr/>
        </p:nvSpPr>
        <p:spPr>
          <a:xfrm>
            <a:off x="457200" y="6473952"/>
            <a:ext cx="9144000" cy="274320"/>
          </a:xfrm>
          <a:prstGeom prst="rect">
            <a:avLst/>
          </a:prstGeom>
          <a:noFill/>
          <a:ln/>
        </p:spPr>
        <p:txBody>
          <a:bodyPr wrap="square" rtlCol="0" anchor="ctr"/>
          <a:lstStyle/>
          <a:p>
            <a:pPr indent="0" marL="0">
              <a:buNone/>
            </a:pPr>
            <a:r>
              <a:rPr lang="en-US" sz="900" dirty="0">
                <a:solidFill>
                  <a:srgbClr val="5A6B70"/>
                </a:solidFill>
                <a:latin typeface="Calibri" pitchFamily="34" charset="0"/>
                <a:ea typeface="Calibri" pitchFamily="34" charset="-122"/>
                <a:cs typeface="Calibri" pitchFamily="34" charset="-120"/>
              </a:rPr>
              <a:t>PN 104 · Ch 26 — Fluid, Electrolyte, and Acid-Base Balance</a:t>
            </a:r>
            <a:endParaRPr lang="en-US" sz="900" dirty="0"/>
          </a:p>
        </p:txBody>
      </p:sp>
      <p:sp>
        <p:nvSpPr>
          <p:cNvPr id="15" name="Text 13"/>
          <p:cNvSpPr/>
          <p:nvPr/>
        </p:nvSpPr>
        <p:spPr>
          <a:xfrm>
            <a:off x="11338560" y="6473952"/>
            <a:ext cx="457200" cy="274320"/>
          </a:xfrm>
          <a:prstGeom prst="rect">
            <a:avLst/>
          </a:prstGeom>
          <a:noFill/>
          <a:ln/>
        </p:spPr>
        <p:txBody>
          <a:bodyPr wrap="square" rtlCol="0" anchor="ctr"/>
          <a:lstStyle/>
          <a:p>
            <a:pPr algn="r" indent="0" marL="0">
              <a:buNone/>
            </a:pPr>
            <a:r>
              <a:rPr lang="en-US" sz="900" dirty="0">
                <a:solidFill>
                  <a:srgbClr val="5A6B70"/>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5C"/>
        </a:solidFill>
      </p:bgPr>
    </p:bg>
    <p:spTree>
      <p:nvGrpSpPr>
        <p:cNvPr id="1" name=""/>
        <p:cNvGrpSpPr/>
        <p:nvPr/>
      </p:nvGrpSpPr>
      <p:grpSpPr>
        <a:xfrm>
          <a:off x="0" y="0"/>
          <a:ext cx="0" cy="0"/>
          <a:chOff x="0" y="0"/>
          <a:chExt cx="0" cy="0"/>
        </a:xfrm>
      </p:grpSpPr>
      <p:sp>
        <p:nvSpPr>
          <p:cNvPr id="2" name="Text 0"/>
          <p:cNvSpPr/>
          <p:nvPr/>
        </p:nvSpPr>
        <p:spPr>
          <a:xfrm>
            <a:off x="548640" y="502920"/>
            <a:ext cx="10058400" cy="365760"/>
          </a:xfrm>
          <a:prstGeom prst="rect">
            <a:avLst/>
          </a:prstGeom>
          <a:noFill/>
          <a:ln/>
        </p:spPr>
        <p:txBody>
          <a:bodyPr wrap="square" rtlCol="0" anchor="ctr"/>
          <a:lstStyle/>
          <a:p>
            <a:pPr indent="0" marL="0">
              <a:buNone/>
            </a:pPr>
            <a:r>
              <a:rPr lang="en-US" sz="1300" b="1" spc="300" kern="0" dirty="0">
                <a:solidFill>
                  <a:srgbClr val="E36414"/>
                </a:solidFill>
                <a:latin typeface="Calibri" pitchFamily="34" charset="0"/>
                <a:ea typeface="Calibri" pitchFamily="34" charset="-122"/>
                <a:cs typeface="Calibri" pitchFamily="34" charset="-120"/>
              </a:rPr>
              <a:t>CLINICAL CONNECTIONS</a:t>
            </a:r>
            <a:endParaRPr lang="en-US" sz="1300" dirty="0"/>
          </a:p>
        </p:txBody>
      </p:sp>
      <p:sp>
        <p:nvSpPr>
          <p:cNvPr id="3" name="Text 1"/>
          <p:cNvSpPr/>
          <p:nvPr/>
        </p:nvSpPr>
        <p:spPr>
          <a:xfrm>
            <a:off x="530352" y="841248"/>
            <a:ext cx="10972800" cy="640080"/>
          </a:xfrm>
          <a:prstGeom prst="rect">
            <a:avLst/>
          </a:prstGeom>
          <a:noFill/>
          <a:ln/>
        </p:spPr>
        <p:txBody>
          <a:bodyPr wrap="square" rtlCol="0" anchor="ctr"/>
          <a:lstStyle/>
          <a:p>
            <a:pPr indent="0" marL="0">
              <a:buNone/>
            </a:pPr>
            <a:r>
              <a:rPr lang="en-US" sz="2500" b="1" dirty="0">
                <a:solidFill>
                  <a:srgbClr val="FFFFFF"/>
                </a:solidFill>
                <a:latin typeface="Georgia" pitchFamily="34" charset="0"/>
                <a:ea typeface="Georgia" pitchFamily="34" charset="-122"/>
                <a:cs typeface="Georgia" pitchFamily="34" charset="-120"/>
              </a:rPr>
              <a:t>Why Fluid &amp; Acid-Base Balance Matter in Practical Nursing</a:t>
            </a:r>
            <a:endParaRPr lang="en-US" sz="2500" dirty="0"/>
          </a:p>
        </p:txBody>
      </p:sp>
      <p:sp>
        <p:nvSpPr>
          <p:cNvPr id="4" name="Shape 2"/>
          <p:cNvSpPr/>
          <p:nvPr/>
        </p:nvSpPr>
        <p:spPr>
          <a:xfrm>
            <a:off x="548640" y="1783080"/>
            <a:ext cx="5440680" cy="1389888"/>
          </a:xfrm>
          <a:prstGeom prst="roundRect">
            <a:avLst>
              <a:gd name="adj" fmla="val 5263"/>
            </a:avLst>
          </a:prstGeom>
          <a:solidFill>
            <a:srgbClr val="13586A"/>
          </a:solidFill>
          <a:ln w="12700">
            <a:solidFill>
              <a:srgbClr val="2A7A8C"/>
            </a:solidFill>
            <a:prstDash val="solid"/>
          </a:ln>
        </p:spPr>
      </p:sp>
      <p:sp>
        <p:nvSpPr>
          <p:cNvPr id="5" name="Text 3"/>
          <p:cNvSpPr/>
          <p:nvPr/>
        </p:nvSpPr>
        <p:spPr>
          <a:xfrm>
            <a:off x="77724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Dehydration</a:t>
            </a:r>
            <a:endParaRPr lang="en-US" sz="1600" dirty="0"/>
          </a:p>
        </p:txBody>
      </p:sp>
      <p:sp>
        <p:nvSpPr>
          <p:cNvPr id="6" name="Text 4"/>
          <p:cNvSpPr/>
          <p:nvPr/>
        </p:nvSpPr>
        <p:spPr>
          <a:xfrm>
            <a:off x="77724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Fluid loss from vomiting, diarrhea, or fever needs prompt replacement.</a:t>
            </a:r>
            <a:endParaRPr lang="en-US" sz="1250" dirty="0"/>
          </a:p>
        </p:txBody>
      </p:sp>
      <p:sp>
        <p:nvSpPr>
          <p:cNvPr id="7" name="Shape 5"/>
          <p:cNvSpPr/>
          <p:nvPr/>
        </p:nvSpPr>
        <p:spPr>
          <a:xfrm>
            <a:off x="6172200" y="1783080"/>
            <a:ext cx="5440680" cy="1389888"/>
          </a:xfrm>
          <a:prstGeom prst="roundRect">
            <a:avLst>
              <a:gd name="adj" fmla="val 5263"/>
            </a:avLst>
          </a:prstGeom>
          <a:solidFill>
            <a:srgbClr val="13586A"/>
          </a:solidFill>
          <a:ln w="12700">
            <a:solidFill>
              <a:srgbClr val="2A7A8C"/>
            </a:solidFill>
            <a:prstDash val="solid"/>
          </a:ln>
        </p:spPr>
      </p:sp>
      <p:sp>
        <p:nvSpPr>
          <p:cNvPr id="8" name="Text 6"/>
          <p:cNvSpPr/>
          <p:nvPr/>
        </p:nvSpPr>
        <p:spPr>
          <a:xfrm>
            <a:off x="6400800" y="191109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Electrolyte Imbalance</a:t>
            </a:r>
            <a:endParaRPr lang="en-US" sz="1600" dirty="0"/>
          </a:p>
        </p:txBody>
      </p:sp>
      <p:sp>
        <p:nvSpPr>
          <p:cNvPr id="9" name="Text 7"/>
          <p:cNvSpPr/>
          <p:nvPr/>
        </p:nvSpPr>
        <p:spPr>
          <a:xfrm>
            <a:off x="6400800" y="228600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Abnormal sodium or potassium can be life-threatening.</a:t>
            </a:r>
            <a:endParaRPr lang="en-US" sz="1250" dirty="0"/>
          </a:p>
        </p:txBody>
      </p:sp>
      <p:sp>
        <p:nvSpPr>
          <p:cNvPr id="10" name="Shape 8"/>
          <p:cNvSpPr/>
          <p:nvPr/>
        </p:nvSpPr>
        <p:spPr>
          <a:xfrm>
            <a:off x="548640" y="3337560"/>
            <a:ext cx="5440680" cy="1389888"/>
          </a:xfrm>
          <a:prstGeom prst="roundRect">
            <a:avLst>
              <a:gd name="adj" fmla="val 5263"/>
            </a:avLst>
          </a:prstGeom>
          <a:solidFill>
            <a:srgbClr val="13586A"/>
          </a:solidFill>
          <a:ln w="12700">
            <a:solidFill>
              <a:srgbClr val="2A7A8C"/>
            </a:solidFill>
            <a:prstDash val="solid"/>
          </a:ln>
        </p:spPr>
      </p:sp>
      <p:sp>
        <p:nvSpPr>
          <p:cNvPr id="11" name="Text 9"/>
          <p:cNvSpPr/>
          <p:nvPr/>
        </p:nvSpPr>
        <p:spPr>
          <a:xfrm>
            <a:off x="77724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IV Fluids</a:t>
            </a:r>
            <a:endParaRPr lang="en-US" sz="1600" dirty="0"/>
          </a:p>
        </p:txBody>
      </p:sp>
      <p:sp>
        <p:nvSpPr>
          <p:cNvPr id="12" name="Text 10"/>
          <p:cNvSpPr/>
          <p:nvPr/>
        </p:nvSpPr>
        <p:spPr>
          <a:xfrm>
            <a:off x="77724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Replace fluid and electrolytes when patients can't maintain balance.</a:t>
            </a:r>
            <a:endParaRPr lang="en-US" sz="1250" dirty="0"/>
          </a:p>
        </p:txBody>
      </p:sp>
      <p:sp>
        <p:nvSpPr>
          <p:cNvPr id="13" name="Shape 11"/>
          <p:cNvSpPr/>
          <p:nvPr/>
        </p:nvSpPr>
        <p:spPr>
          <a:xfrm>
            <a:off x="6172200" y="3337560"/>
            <a:ext cx="5440680" cy="1389888"/>
          </a:xfrm>
          <a:prstGeom prst="roundRect">
            <a:avLst>
              <a:gd name="adj" fmla="val 5263"/>
            </a:avLst>
          </a:prstGeom>
          <a:solidFill>
            <a:srgbClr val="13586A"/>
          </a:solidFill>
          <a:ln w="12700">
            <a:solidFill>
              <a:srgbClr val="2A7A8C"/>
            </a:solidFill>
            <a:prstDash val="solid"/>
          </a:ln>
        </p:spPr>
      </p:sp>
      <p:sp>
        <p:nvSpPr>
          <p:cNvPr id="14" name="Text 12"/>
          <p:cNvSpPr/>
          <p:nvPr/>
        </p:nvSpPr>
        <p:spPr>
          <a:xfrm>
            <a:off x="6400800" y="346557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Acid-Base Disorders</a:t>
            </a:r>
            <a:endParaRPr lang="en-US" sz="1600" dirty="0"/>
          </a:p>
        </p:txBody>
      </p:sp>
      <p:sp>
        <p:nvSpPr>
          <p:cNvPr id="15" name="Text 13"/>
          <p:cNvSpPr/>
          <p:nvPr/>
        </p:nvSpPr>
        <p:spPr>
          <a:xfrm>
            <a:off x="6400800" y="384048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Respiratory and metabolic causes guide treatment.</a:t>
            </a:r>
            <a:endParaRPr lang="en-US" sz="1250" dirty="0"/>
          </a:p>
        </p:txBody>
      </p:sp>
      <p:sp>
        <p:nvSpPr>
          <p:cNvPr id="16" name="Shape 14"/>
          <p:cNvSpPr/>
          <p:nvPr/>
        </p:nvSpPr>
        <p:spPr>
          <a:xfrm>
            <a:off x="548640" y="4892040"/>
            <a:ext cx="5440680" cy="1389888"/>
          </a:xfrm>
          <a:prstGeom prst="roundRect">
            <a:avLst>
              <a:gd name="adj" fmla="val 5263"/>
            </a:avLst>
          </a:prstGeom>
          <a:solidFill>
            <a:srgbClr val="13586A"/>
          </a:solidFill>
          <a:ln w="12700">
            <a:solidFill>
              <a:srgbClr val="2A7A8C"/>
            </a:solidFill>
            <a:prstDash val="solid"/>
          </a:ln>
        </p:spPr>
      </p:sp>
      <p:sp>
        <p:nvSpPr>
          <p:cNvPr id="17" name="Text 15"/>
          <p:cNvSpPr/>
          <p:nvPr/>
        </p:nvSpPr>
        <p:spPr>
          <a:xfrm>
            <a:off x="77724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Potassium &amp; the Heart</a:t>
            </a:r>
            <a:endParaRPr lang="en-US" sz="1600" dirty="0"/>
          </a:p>
        </p:txBody>
      </p:sp>
      <p:sp>
        <p:nvSpPr>
          <p:cNvPr id="18" name="Text 16"/>
          <p:cNvSpPr/>
          <p:nvPr/>
        </p:nvSpPr>
        <p:spPr>
          <a:xfrm>
            <a:off x="77724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High or low potassium causes dangerous arrhythmias.</a:t>
            </a:r>
            <a:endParaRPr lang="en-US" sz="1250" dirty="0"/>
          </a:p>
        </p:txBody>
      </p:sp>
      <p:sp>
        <p:nvSpPr>
          <p:cNvPr id="19" name="Shape 17"/>
          <p:cNvSpPr/>
          <p:nvPr/>
        </p:nvSpPr>
        <p:spPr>
          <a:xfrm>
            <a:off x="6172200" y="4892040"/>
            <a:ext cx="5440680" cy="1389888"/>
          </a:xfrm>
          <a:prstGeom prst="roundRect">
            <a:avLst>
              <a:gd name="adj" fmla="val 5263"/>
            </a:avLst>
          </a:prstGeom>
          <a:solidFill>
            <a:srgbClr val="13586A"/>
          </a:solidFill>
          <a:ln w="12700">
            <a:solidFill>
              <a:srgbClr val="2A7A8C"/>
            </a:solidFill>
            <a:prstDash val="solid"/>
          </a:ln>
        </p:spPr>
      </p:sp>
      <p:sp>
        <p:nvSpPr>
          <p:cNvPr id="20" name="Text 18"/>
          <p:cNvSpPr/>
          <p:nvPr/>
        </p:nvSpPr>
        <p:spPr>
          <a:xfrm>
            <a:off x="6400800" y="5020056"/>
            <a:ext cx="5029200" cy="320040"/>
          </a:xfrm>
          <a:prstGeom prst="rect">
            <a:avLst/>
          </a:prstGeom>
          <a:noFill/>
          <a:ln/>
        </p:spPr>
        <p:txBody>
          <a:bodyPr wrap="square" rtlCol="0" anchor="ctr"/>
          <a:lstStyle/>
          <a:p>
            <a:pPr indent="0" marL="0">
              <a:buNone/>
            </a:pPr>
            <a:r>
              <a:rPr lang="en-US" sz="1600" b="1" dirty="0">
                <a:solidFill>
                  <a:srgbClr val="7FD0C8"/>
                </a:solidFill>
                <a:latin typeface="Georgia" pitchFamily="34" charset="0"/>
                <a:ea typeface="Georgia" pitchFamily="34" charset="-122"/>
                <a:cs typeface="Georgia" pitchFamily="34" charset="-120"/>
              </a:rPr>
              <a:t>Edema</a:t>
            </a:r>
            <a:endParaRPr lang="en-US" sz="1600" dirty="0"/>
          </a:p>
        </p:txBody>
      </p:sp>
      <p:sp>
        <p:nvSpPr>
          <p:cNvPr id="21" name="Text 19"/>
          <p:cNvSpPr/>
          <p:nvPr/>
        </p:nvSpPr>
        <p:spPr>
          <a:xfrm>
            <a:off x="6400800" y="5394960"/>
            <a:ext cx="5029200" cy="822960"/>
          </a:xfrm>
          <a:prstGeom prst="rect">
            <a:avLst/>
          </a:prstGeom>
          <a:noFill/>
          <a:ln/>
        </p:spPr>
        <p:txBody>
          <a:bodyPr wrap="square" rtlCol="0" anchor="t"/>
          <a:lstStyle/>
          <a:p>
            <a:pPr indent="0" marL="0">
              <a:lnSpc>
                <a:spcPct val="102000"/>
              </a:lnSpc>
              <a:buNone/>
            </a:pPr>
            <a:r>
              <a:rPr lang="en-US" sz="1250" dirty="0">
                <a:solidFill>
                  <a:srgbClr val="E6F1F3"/>
                </a:solidFill>
                <a:latin typeface="Calibri" pitchFamily="34" charset="0"/>
                <a:ea typeface="Calibri" pitchFamily="34" charset="-122"/>
                <a:cs typeface="Calibri" pitchFamily="34" charset="-120"/>
              </a:rPr>
              <a:t>Excess fluid in tissues signals a balance problem.</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2026-06-23T22:09:32Z</dcterms:created>
  <dcterms:modified xsi:type="dcterms:W3CDTF">2026-06-23T22:09:32Z</dcterms:modified>
</cp:coreProperties>
</file>