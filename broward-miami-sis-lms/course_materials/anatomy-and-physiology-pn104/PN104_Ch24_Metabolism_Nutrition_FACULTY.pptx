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metabolism and nutrition: how the body extracts energy from carbohydrates, fats, and proteins, stores and mobilizes fuel between meals, balances energy and heat, and meets its nutritional needs through a balanced diet.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ATP (adenosine triphosphate) is the body's energy currency. Energy released by breaking down food is captured in ATP's high-energy bonds; when ATP is split to ADP, that energy powers muscle contraction, nerve signals, and synthesis. Cells continuously recycle between ATP and ADP.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Metabolism is the sum of all chemical reactions in the body, split into two types: catabolism breaks large molecules into smaller ones, releasing energy (like digesting food), and anabolism uses energy to build complex molecules (like making proteins). Nutrients feed both, and the balance shifts with feeding and fasting.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Cells extract energy from glucose in stages: glycolysis splits glucose in the cytoplasm, the Krebs (citric acid) cycle processes the products in the mitochondria, and the electron transport chain uses oxygen to generate the bulk of the ATP. The waste products are carbon dioxide and water. Glucose is the body's preferred fuel.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fats can't dissolve in watery blood, they travel wrapped in lipoproteins. Low-density lipoprotein (LDL, "bad" cholesterol) delivers cholesterol to tissues and can build up in artery walls; high-density lipoprotein (HDL, "good" cholesterol) carries it back to the liver. Their balance affects cardiovascular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a meal, the body is in the absorptive state: blood glucose rises and insulin signals tissues to take it up. The liver and muscles store glucose as glycogen, excess is converted to fat, and amino acids build protein. The body uses incoming nutrients for energy and stores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Between meals, in the postabsorptive state, blood glucose tends to fall, so glucagon and other hormones mobilize stored fuel: the liver breaks down glycogen and makes new glucose, and fat is released for energy. This keeps blood glucose steady to supply the brain, which depends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Metabolic reactions generate heat, and the body holds its core near 37 degrees Celsius. The hypothalamus acts as a thermostat: when too warm, it triggers sweating and skin vasodilation to lose heat; when too cold, it drives vasoconstriction and shivering to conserve and generate heat. Fever resets this set point during illness.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healthy diet provides the right balance of macronutrients (carbohydrates, fats, proteins) for energy and building blocks, plus micronutrients (vitamins and minerals) needed in small amounts, and water. The USDA's MyPlate is a simple visual guide to balanced portions of fruits, vegetables, grains, protein, and dairy — useful for patient teaching.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5C"/>
        </a:solidFill>
      </p:bgPr>
    </p:bg>
    <p:spTree>
      <p:nvGrpSpPr>
        <p:cNvPr id="1" name=""/>
        <p:cNvGrpSpPr/>
        <p:nvPr/>
      </p:nvGrpSpPr>
      <p:grpSpPr>
        <a:xfrm>
          <a:off x="0" y="0"/>
          <a:ext cx="0" cy="0"/>
          <a:chOff x="0" y="0"/>
          <a:chExt cx="0" cy="0"/>
        </a:xfrm>
      </p:grpSpPr>
      <p:sp>
        <p:nvSpPr>
          <p:cNvPr id="2" name="Text 0"/>
          <p:cNvSpPr/>
          <p:nvPr/>
        </p:nvSpPr>
        <p:spPr>
          <a:xfrm>
            <a:off x="731520" y="1325880"/>
            <a:ext cx="6400800" cy="457200"/>
          </a:xfrm>
          <a:prstGeom prst="rect">
            <a:avLst/>
          </a:prstGeom>
          <a:noFill/>
          <a:ln/>
        </p:spPr>
        <p:txBody>
          <a:bodyPr wrap="square" rtlCol="0" anchor="ctr"/>
          <a:lstStyle/>
          <a:p>
            <a:pPr indent="0" marL="0">
              <a:buNone/>
            </a:pPr>
            <a:r>
              <a:rPr lang="en-US" sz="1800" b="1" spc="400" kern="0" dirty="0">
                <a:solidFill>
                  <a:srgbClr val="E36414"/>
                </a:solidFill>
                <a:latin typeface="Calibri" pitchFamily="34" charset="0"/>
                <a:ea typeface="Calibri" pitchFamily="34" charset="-122"/>
                <a:cs typeface="Calibri" pitchFamily="34" charset="-120"/>
              </a:rPr>
              <a:t>CHAPTER 24</a:t>
            </a:r>
            <a:endParaRPr lang="en-US" sz="1800" dirty="0"/>
          </a:p>
        </p:txBody>
      </p:sp>
      <p:sp>
        <p:nvSpPr>
          <p:cNvPr id="3" name="Text 1"/>
          <p:cNvSpPr/>
          <p:nvPr/>
        </p:nvSpPr>
        <p:spPr>
          <a:xfrm>
            <a:off x="713232" y="1783080"/>
            <a:ext cx="6858000" cy="1920240"/>
          </a:xfrm>
          <a:prstGeom prst="rect">
            <a:avLst/>
          </a:prstGeom>
          <a:noFill/>
          <a:ln/>
        </p:spPr>
        <p:txBody>
          <a:bodyPr wrap="square" rtlCol="0" anchor="t"/>
          <a:lstStyle/>
          <a:p>
            <a:pPr indent="0" marL="0">
              <a:buNone/>
            </a:pPr>
            <a:r>
              <a:rPr lang="en-US" sz="4400" b="1" dirty="0">
                <a:solidFill>
                  <a:srgbClr val="FFFFFF"/>
                </a:solidFill>
                <a:latin typeface="Georgia" pitchFamily="34" charset="0"/>
                <a:ea typeface="Georgia" pitchFamily="34" charset="-122"/>
                <a:cs typeface="Georgia" pitchFamily="34" charset="-120"/>
              </a:rPr>
              <a:t>Metabolism and Nutrition</a:t>
            </a:r>
            <a:endParaRPr lang="en-US" sz="4400" dirty="0"/>
          </a:p>
        </p:txBody>
      </p:sp>
      <p:sp>
        <p:nvSpPr>
          <p:cNvPr id="4" name="Text 2"/>
          <p:cNvSpPr/>
          <p:nvPr/>
        </p:nvSpPr>
        <p:spPr>
          <a:xfrm>
            <a:off x="749808" y="3977640"/>
            <a:ext cx="6400800" cy="822960"/>
          </a:xfrm>
          <a:prstGeom prst="rect">
            <a:avLst/>
          </a:prstGeom>
          <a:noFill/>
          <a:ln/>
        </p:spPr>
        <p:txBody>
          <a:bodyPr wrap="square" rtlCol="0" anchor="ctr"/>
          <a:lstStyle/>
          <a:p>
            <a:pPr indent="0" marL="0">
              <a:lnSpc>
                <a:spcPct val="110000"/>
              </a:lnSpc>
              <a:buNone/>
            </a:pPr>
            <a:r>
              <a:rPr lang="en-US" sz="1600" dirty="0">
                <a:solidFill>
                  <a:srgbClr val="CFE3E7"/>
                </a:solidFill>
                <a:latin typeface="Calibri" pitchFamily="34" charset="0"/>
                <a:ea typeface="Calibri" pitchFamily="34" charset="-122"/>
                <a:cs typeface="Calibri" pitchFamily="34" charset="-120"/>
              </a:rPr>
              <a:t>How the body turns food into energy and building blocks.</a:t>
            </a:r>
            <a:endParaRPr lang="en-US" sz="1600" dirty="0"/>
          </a:p>
        </p:txBody>
      </p:sp>
      <p:sp>
        <p:nvSpPr>
          <p:cNvPr id="5" name="Text 3"/>
          <p:cNvSpPr/>
          <p:nvPr/>
        </p:nvSpPr>
        <p:spPr>
          <a:xfrm>
            <a:off x="749808" y="5806440"/>
            <a:ext cx="8229600" cy="320040"/>
          </a:xfrm>
          <a:prstGeom prst="rect">
            <a:avLst/>
          </a:prstGeom>
          <a:noFill/>
          <a:ln/>
        </p:spPr>
        <p:txBody>
          <a:bodyPr wrap="square" rtlCol="0" anchor="ctr"/>
          <a:lstStyle/>
          <a:p>
            <a:pPr indent="0" marL="0">
              <a:buNone/>
            </a:pPr>
            <a:r>
              <a:rPr lang="en-US" sz="1300" dirty="0">
                <a:solidFill>
                  <a:srgbClr val="9FC2C9"/>
                </a:solidFill>
                <a:latin typeface="Calibri" pitchFamily="34" charset="0"/>
                <a:ea typeface="Calibri" pitchFamily="34" charset="-122"/>
                <a:cs typeface="Calibri" pitchFamily="34" charset="-120"/>
              </a:rPr>
              <a:t>Anatomy &amp; Physiology  ·  Broward-Miami Health Institute</a:t>
            </a:r>
            <a:endParaRPr lang="en-US" sz="1300" dirty="0"/>
          </a:p>
        </p:txBody>
      </p:sp>
      <p:sp>
        <p:nvSpPr>
          <p:cNvPr id="6" name="Text 4"/>
          <p:cNvSpPr/>
          <p:nvPr/>
        </p:nvSpPr>
        <p:spPr>
          <a:xfrm>
            <a:off x="749808" y="6144768"/>
            <a:ext cx="3657600" cy="320040"/>
          </a:xfrm>
          <a:prstGeom prst="rect">
            <a:avLst/>
          </a:prstGeom>
          <a:noFill/>
          <a:ln/>
        </p:spPr>
        <p:txBody>
          <a:bodyPr wrap="square" rtlCol="0" anchor="ctr"/>
          <a:lstStyle/>
          <a:p>
            <a:pPr indent="0" marL="0">
              <a:buNone/>
            </a:pPr>
            <a:r>
              <a:rPr lang="en-US" sz="1100" b="1" spc="300" kern="0" dirty="0">
                <a:solidFill>
                  <a:srgbClr val="E36414"/>
                </a:solidFill>
                <a:latin typeface="Calibri" pitchFamily="34" charset="0"/>
                <a:ea typeface="Calibri" pitchFamily="34" charset="-122"/>
                <a:cs typeface="Calibri" pitchFamily="34" charset="-120"/>
              </a:rPr>
              <a:t>FACULTY EDITION</a:t>
            </a:r>
            <a:endParaRPr lang="en-US" sz="1100" dirty="0"/>
          </a:p>
        </p:txBody>
      </p:sp>
      <p:sp>
        <p:nvSpPr>
          <p:cNvPr id="7" name="Shape 5"/>
          <p:cNvSpPr/>
          <p:nvPr/>
        </p:nvSpPr>
        <p:spPr>
          <a:xfrm>
            <a:off x="7735824" y="2536410"/>
            <a:ext cx="4096512" cy="1968060"/>
          </a:xfrm>
          <a:prstGeom prst="roundRect">
            <a:avLst>
              <a:gd name="adj" fmla="val 2788"/>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8" name="Image 0" descr="/home/claude/all/ch24/img/img01.jpg">    </p:cNvPr>
          <p:cNvPicPr>
            <a:picLocks noChangeAspect="1"/>
          </p:cNvPicPr>
          <p:nvPr/>
        </p:nvPicPr>
        <p:blipFill>
          <a:blip r:embed="rId1"/>
          <a:stretch>
            <a:fillRect/>
          </a:stretch>
        </p:blipFill>
        <p:spPr>
          <a:xfrm>
            <a:off x="7818120" y="2618706"/>
            <a:ext cx="3931920" cy="18034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CHAPTER 24</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Learning Objectives</a:t>
            </a:r>
            <a:endParaRPr lang="en-US" sz="2800" dirty="0"/>
          </a:p>
        </p:txBody>
      </p:sp>
      <p:sp>
        <p:nvSpPr>
          <p:cNvPr id="4" name="Text 2"/>
          <p:cNvSpPr/>
          <p:nvPr/>
        </p:nvSpPr>
        <p:spPr>
          <a:xfrm>
            <a:off x="548640" y="1371600"/>
            <a:ext cx="8229600" cy="274320"/>
          </a:xfrm>
          <a:prstGeom prst="rect">
            <a:avLst/>
          </a:prstGeom>
          <a:noFill/>
          <a:ln/>
        </p:spPr>
        <p:txBody>
          <a:bodyPr wrap="square" rtlCol="0" anchor="ctr"/>
          <a:lstStyle/>
          <a:p>
            <a:pPr indent="0" marL="0">
              <a:buNone/>
            </a:pPr>
            <a:r>
              <a:rPr lang="en-US" sz="1200" i="1" dirty="0">
                <a:solidFill>
                  <a:srgbClr val="5A6B70"/>
                </a:solidFill>
                <a:latin typeface="Calibri" pitchFamily="34" charset="0"/>
                <a:ea typeface="Calibri" pitchFamily="34" charset="-122"/>
                <a:cs typeface="Calibri" pitchFamily="34" charset="-120"/>
              </a:rPr>
              <a:t>After studying this chapter, students will be able to:</a:t>
            </a:r>
            <a:endParaRPr lang="en-US" sz="1200" dirty="0"/>
          </a:p>
        </p:txBody>
      </p:sp>
      <p:sp>
        <p:nvSpPr>
          <p:cNvPr id="5" name="Shape 3"/>
          <p:cNvSpPr/>
          <p:nvPr/>
        </p:nvSpPr>
        <p:spPr>
          <a:xfrm>
            <a:off x="548640" y="1664208"/>
            <a:ext cx="384048" cy="384048"/>
          </a:xfrm>
          <a:prstGeom prst="ellipse">
            <a:avLst/>
          </a:prstGeom>
          <a:solidFill>
            <a:srgbClr val="0F4C5C"/>
          </a:solidFill>
          <a:ln/>
        </p:spPr>
      </p:sp>
      <p:sp>
        <p:nvSpPr>
          <p:cNvPr id="6" name="Text 4"/>
          <p:cNvSpPr/>
          <p:nvPr/>
        </p:nvSpPr>
        <p:spPr>
          <a:xfrm>
            <a:off x="548640" y="166420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7" name="Text 5"/>
          <p:cNvSpPr/>
          <p:nvPr/>
        </p:nvSpPr>
        <p:spPr>
          <a:xfrm>
            <a:off x="1115568" y="1645920"/>
            <a:ext cx="5943600" cy="841248"/>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Describe the processes involved in anabolic and catabolic reactions</a:t>
            </a:r>
            <a:endParaRPr lang="en-US" sz="1400" dirty="0"/>
          </a:p>
        </p:txBody>
      </p:sp>
      <p:sp>
        <p:nvSpPr>
          <p:cNvPr id="8" name="Shape 6"/>
          <p:cNvSpPr/>
          <p:nvPr/>
        </p:nvSpPr>
        <p:spPr>
          <a:xfrm>
            <a:off x="548640" y="2505456"/>
            <a:ext cx="384048" cy="384048"/>
          </a:xfrm>
          <a:prstGeom prst="ellipse">
            <a:avLst/>
          </a:prstGeom>
          <a:solidFill>
            <a:srgbClr val="0F4C5C"/>
          </a:solidFill>
          <a:ln/>
        </p:spPr>
      </p:sp>
      <p:sp>
        <p:nvSpPr>
          <p:cNvPr id="9" name="Text 7"/>
          <p:cNvSpPr/>
          <p:nvPr/>
        </p:nvSpPr>
        <p:spPr>
          <a:xfrm>
            <a:off x="548640" y="2505456"/>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0" name="Text 8"/>
          <p:cNvSpPr/>
          <p:nvPr/>
        </p:nvSpPr>
        <p:spPr>
          <a:xfrm>
            <a:off x="1115568" y="2487168"/>
            <a:ext cx="5943600" cy="841248"/>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List and describe the steps necessary for carbohydrate, lipid, and protein metabolism</a:t>
            </a:r>
            <a:endParaRPr lang="en-US" sz="1400" dirty="0"/>
          </a:p>
        </p:txBody>
      </p:sp>
      <p:sp>
        <p:nvSpPr>
          <p:cNvPr id="11" name="Shape 9"/>
          <p:cNvSpPr/>
          <p:nvPr/>
        </p:nvSpPr>
        <p:spPr>
          <a:xfrm>
            <a:off x="548640" y="3346704"/>
            <a:ext cx="384048" cy="384048"/>
          </a:xfrm>
          <a:prstGeom prst="ellipse">
            <a:avLst/>
          </a:prstGeom>
          <a:solidFill>
            <a:srgbClr val="0F4C5C"/>
          </a:solidFill>
          <a:ln/>
        </p:spPr>
      </p:sp>
      <p:sp>
        <p:nvSpPr>
          <p:cNvPr id="12" name="Text 10"/>
          <p:cNvSpPr/>
          <p:nvPr/>
        </p:nvSpPr>
        <p:spPr>
          <a:xfrm>
            <a:off x="548640" y="3346704"/>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13" name="Text 11"/>
          <p:cNvSpPr/>
          <p:nvPr/>
        </p:nvSpPr>
        <p:spPr>
          <a:xfrm>
            <a:off x="1115568" y="3328416"/>
            <a:ext cx="5943600" cy="841248"/>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Explain the processes that regulate glucose levels during the absorptive and postabsorptive states</a:t>
            </a:r>
            <a:endParaRPr lang="en-US" sz="1400" dirty="0"/>
          </a:p>
        </p:txBody>
      </p:sp>
      <p:sp>
        <p:nvSpPr>
          <p:cNvPr id="14" name="Shape 12"/>
          <p:cNvSpPr/>
          <p:nvPr/>
        </p:nvSpPr>
        <p:spPr>
          <a:xfrm>
            <a:off x="548640" y="4187952"/>
            <a:ext cx="384048" cy="384048"/>
          </a:xfrm>
          <a:prstGeom prst="ellipse">
            <a:avLst/>
          </a:prstGeom>
          <a:solidFill>
            <a:srgbClr val="0F4C5C"/>
          </a:solidFill>
          <a:ln/>
        </p:spPr>
      </p:sp>
      <p:sp>
        <p:nvSpPr>
          <p:cNvPr id="15" name="Text 13"/>
          <p:cNvSpPr/>
          <p:nvPr/>
        </p:nvSpPr>
        <p:spPr>
          <a:xfrm>
            <a:off x="548640" y="4187952"/>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16" name="Text 14"/>
          <p:cNvSpPr/>
          <p:nvPr/>
        </p:nvSpPr>
        <p:spPr>
          <a:xfrm>
            <a:off x="1115568" y="4169664"/>
            <a:ext cx="5943600" cy="841248"/>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Explain how metabolism is essential to maintaining body temperature (thermoregulation)</a:t>
            </a:r>
            <a:endParaRPr lang="en-US" sz="1400" dirty="0"/>
          </a:p>
        </p:txBody>
      </p:sp>
      <p:sp>
        <p:nvSpPr>
          <p:cNvPr id="17" name="Shape 15"/>
          <p:cNvSpPr/>
          <p:nvPr/>
        </p:nvSpPr>
        <p:spPr>
          <a:xfrm>
            <a:off x="548640" y="5029200"/>
            <a:ext cx="384048" cy="384048"/>
          </a:xfrm>
          <a:prstGeom prst="ellipse">
            <a:avLst/>
          </a:prstGeom>
          <a:solidFill>
            <a:srgbClr val="0F4C5C"/>
          </a:solidFill>
          <a:ln/>
        </p:spPr>
      </p:sp>
      <p:sp>
        <p:nvSpPr>
          <p:cNvPr id="18" name="Text 16"/>
          <p:cNvSpPr/>
          <p:nvPr/>
        </p:nvSpPr>
        <p:spPr>
          <a:xfrm>
            <a:off x="548640" y="5029200"/>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19" name="Text 17"/>
          <p:cNvSpPr/>
          <p:nvPr/>
        </p:nvSpPr>
        <p:spPr>
          <a:xfrm>
            <a:off x="1115568" y="5010912"/>
            <a:ext cx="5943600" cy="841248"/>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Summarize the importance of vitamins and minerals in the diet Eating is essential to life</a:t>
            </a:r>
            <a:endParaRPr lang="en-US" sz="1400" dirty="0"/>
          </a:p>
        </p:txBody>
      </p:sp>
      <p:sp>
        <p:nvSpPr>
          <p:cNvPr id="20" name="Shape 18"/>
          <p:cNvSpPr/>
          <p:nvPr/>
        </p:nvSpPr>
        <p:spPr>
          <a:xfrm>
            <a:off x="7415784" y="1716329"/>
            <a:ext cx="4370832" cy="4028846"/>
          </a:xfrm>
          <a:prstGeom prst="roundRect">
            <a:avLst>
              <a:gd name="adj" fmla="val 1362"/>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21" name="Image 0" descr="/home/claude/all/ch24/img/img03.jpg">    </p:cNvPr>
          <p:cNvPicPr>
            <a:picLocks noChangeAspect="1"/>
          </p:cNvPicPr>
          <p:nvPr/>
        </p:nvPicPr>
        <p:blipFill>
          <a:blip r:embed="rId1"/>
          <a:stretch>
            <a:fillRect/>
          </a:stretch>
        </p:blipFill>
        <p:spPr>
          <a:xfrm>
            <a:off x="7498080" y="1798625"/>
            <a:ext cx="4206240" cy="3864254"/>
          </a:xfrm>
          <a:prstGeom prst="rect">
            <a:avLst/>
          </a:prstGeom>
        </p:spPr>
      </p:pic>
      <p:sp>
        <p:nvSpPr>
          <p:cNvPr id="22" name="Text 19"/>
          <p:cNvSpPr/>
          <p:nvPr/>
        </p:nvSpPr>
        <p:spPr>
          <a:xfrm>
            <a:off x="7498080" y="5943600"/>
            <a:ext cx="420624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Metabolism: building up and breaking down.</a:t>
            </a:r>
            <a:endParaRPr lang="en-US" sz="1100" dirty="0"/>
          </a:p>
        </p:txBody>
      </p:sp>
      <p:sp>
        <p:nvSpPr>
          <p:cNvPr id="24" name="Text 20"/>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24 — Metabolism and Nutrition</a:t>
            </a:r>
            <a:endParaRPr lang="en-US" sz="900" dirty="0"/>
          </a:p>
        </p:txBody>
      </p:sp>
      <p:sp>
        <p:nvSpPr>
          <p:cNvPr id="25" name="Text 21"/>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24.1</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2800" b="1" dirty="0">
                <a:solidFill>
                  <a:srgbClr val="FFFFFF"/>
                </a:solidFill>
                <a:latin typeface="Georgia" pitchFamily="34" charset="0"/>
                <a:ea typeface="Georgia" pitchFamily="34" charset="-122"/>
                <a:cs typeface="Georgia" pitchFamily="34" charset="-120"/>
              </a:rPr>
              <a:t>Overview of Metabolic Reactions</a:t>
            </a:r>
            <a:endParaRPr lang="en-US" sz="2800" dirty="0"/>
          </a:p>
        </p:txBody>
      </p:sp>
      <p:sp>
        <p:nvSpPr>
          <p:cNvPr id="6" name="Text 4"/>
          <p:cNvSpPr/>
          <p:nvPr/>
        </p:nvSpPr>
        <p:spPr>
          <a:xfrm>
            <a:off x="3200400" y="420624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Metabolism — the chemical reactions that power the body.</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24.1</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ATP — The Energy Currency</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ATP stores and delivers energy</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Made by breaking down nutrients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Releases energy when split to ADP</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Powers nearly all cell work</a:t>
            </a:r>
            <a:endParaRPr lang="en-US" sz="1500" dirty="0"/>
          </a:p>
        </p:txBody>
      </p:sp>
      <p:sp>
        <p:nvSpPr>
          <p:cNvPr id="5" name="Shape 3"/>
          <p:cNvSpPr/>
          <p:nvPr/>
        </p:nvSpPr>
        <p:spPr>
          <a:xfrm>
            <a:off x="5660515" y="1335024"/>
            <a:ext cx="5869689"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24/img/img02.jpg">    </p:cNvPr>
          <p:cNvPicPr>
            <a:picLocks noChangeAspect="1"/>
          </p:cNvPicPr>
          <p:nvPr/>
        </p:nvPicPr>
        <p:blipFill>
          <a:blip r:embed="rId1"/>
          <a:stretch>
            <a:fillRect/>
          </a:stretch>
        </p:blipFill>
        <p:spPr>
          <a:xfrm>
            <a:off x="5742811" y="1417320"/>
            <a:ext cx="5705097"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ATP–ADP energy cycle</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24 — Metabolism and Nutrition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24.1</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Anabolism &amp; Catabolism</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Metabolism = all chemical reactions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Catabolism breaks molecules down</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Anabolism builds molecules up</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Food fuels both</a:t>
            </a:r>
            <a:endParaRPr lang="en-US" sz="1500" dirty="0"/>
          </a:p>
        </p:txBody>
      </p:sp>
      <p:sp>
        <p:nvSpPr>
          <p:cNvPr id="5" name="Shape 3"/>
          <p:cNvSpPr/>
          <p:nvPr/>
        </p:nvSpPr>
        <p:spPr>
          <a:xfrm>
            <a:off x="6074519" y="1335024"/>
            <a:ext cx="5041682"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24/img/img03.jpg">    </p:cNvPr>
          <p:cNvPicPr>
            <a:picLocks noChangeAspect="1"/>
          </p:cNvPicPr>
          <p:nvPr/>
        </p:nvPicPr>
        <p:blipFill>
          <a:blip r:embed="rId1"/>
          <a:stretch>
            <a:fillRect/>
          </a:stretch>
        </p:blipFill>
        <p:spPr>
          <a:xfrm>
            <a:off x="6156815" y="1417320"/>
            <a:ext cx="4877090"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Catabolic and anabolic reactions</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24 — Metabolism and Nutrition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24.2</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2800" b="1" dirty="0">
                <a:solidFill>
                  <a:srgbClr val="FFFFFF"/>
                </a:solidFill>
                <a:latin typeface="Georgia" pitchFamily="34" charset="0"/>
                <a:ea typeface="Georgia" pitchFamily="34" charset="-122"/>
                <a:cs typeface="Georgia" pitchFamily="34" charset="-120"/>
              </a:rPr>
              <a:t>Carbohydrate Metabolism</a:t>
            </a:r>
            <a:endParaRPr lang="en-US" sz="2800" dirty="0"/>
          </a:p>
        </p:txBody>
      </p:sp>
      <p:sp>
        <p:nvSpPr>
          <p:cNvPr id="6" name="Text 4"/>
          <p:cNvSpPr/>
          <p:nvPr/>
        </p:nvSpPr>
        <p:spPr>
          <a:xfrm>
            <a:off x="3200400" y="420624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How the body extracts energy from carbohydrates.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24.2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Cellular Respiration</a:t>
            </a:r>
            <a:endParaRPr lang="en-US" sz="2800" dirty="0"/>
          </a:p>
        </p:txBody>
      </p:sp>
      <p:sp>
        <p:nvSpPr>
          <p:cNvPr id="4" name="Shape 2"/>
          <p:cNvSpPr/>
          <p:nvPr/>
        </p:nvSpPr>
        <p:spPr>
          <a:xfrm>
            <a:off x="522351" y="1289304"/>
            <a:ext cx="4258818" cy="4736592"/>
          </a:xfrm>
          <a:prstGeom prst="roundRect">
            <a:avLst>
              <a:gd name="adj" fmla="val 1288"/>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24/img/img04.jpg">    </p:cNvPr>
          <p:cNvPicPr>
            <a:picLocks noChangeAspect="1"/>
          </p:cNvPicPr>
          <p:nvPr/>
        </p:nvPicPr>
        <p:blipFill>
          <a:blip r:embed="rId1"/>
          <a:stretch>
            <a:fillRect/>
          </a:stretch>
        </p:blipFill>
        <p:spPr>
          <a:xfrm>
            <a:off x="604647" y="1371600"/>
            <a:ext cx="4094226"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An overview of cellular respiration</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Glucose is broken down for ATP</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Glycolysis splits glucose</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The Krebs cycle extracts energy</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The electron transport chain makes most ATP</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24 — Metabolism and Nutrition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24.3</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2800" b="1" dirty="0">
                <a:solidFill>
                  <a:srgbClr val="FFFFFF"/>
                </a:solidFill>
                <a:latin typeface="Georgia" pitchFamily="34" charset="0"/>
                <a:ea typeface="Georgia" pitchFamily="34" charset="-122"/>
                <a:cs typeface="Georgia" pitchFamily="34" charset="-120"/>
              </a:rPr>
              <a:t>Lipid Metabolism</a:t>
            </a:r>
            <a:endParaRPr lang="en-US" sz="2800" dirty="0"/>
          </a:p>
        </p:txBody>
      </p:sp>
      <p:sp>
        <p:nvSpPr>
          <p:cNvPr id="6" name="Text 4"/>
          <p:cNvSpPr/>
          <p:nvPr/>
        </p:nvSpPr>
        <p:spPr>
          <a:xfrm>
            <a:off x="3200400" y="420624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How the body uses and transports fats.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24.3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Lipoproteins</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Fats don't dissolve in blood</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Carried in lipoprotein packages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LDL delivers cholesterol to tissues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HDL returns it to the liver</a:t>
            </a:r>
            <a:endParaRPr lang="en-US" sz="1500" dirty="0"/>
          </a:p>
        </p:txBody>
      </p:sp>
      <p:sp>
        <p:nvSpPr>
          <p:cNvPr id="5" name="Shape 3"/>
          <p:cNvSpPr/>
          <p:nvPr/>
        </p:nvSpPr>
        <p:spPr>
          <a:xfrm>
            <a:off x="5708681" y="1335024"/>
            <a:ext cx="5773357"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24/img/img12.jpg">    </p:cNvPr>
          <p:cNvPicPr>
            <a:picLocks noChangeAspect="1"/>
          </p:cNvPicPr>
          <p:nvPr/>
        </p:nvPicPr>
        <p:blipFill>
          <a:blip r:embed="rId1"/>
          <a:stretch>
            <a:fillRect/>
          </a:stretch>
        </p:blipFill>
        <p:spPr>
          <a:xfrm>
            <a:off x="5790977" y="1417320"/>
            <a:ext cx="5608765"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Lipoprotein structure</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24 — Metabolism and Nutrition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24.5</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2800" b="1" dirty="0">
                <a:solidFill>
                  <a:srgbClr val="FFFFFF"/>
                </a:solidFill>
                <a:latin typeface="Georgia" pitchFamily="34" charset="0"/>
                <a:ea typeface="Georgia" pitchFamily="34" charset="-122"/>
                <a:cs typeface="Georgia" pitchFamily="34" charset="-120"/>
              </a:rPr>
              <a:t>Metabolic States of the Body</a:t>
            </a:r>
            <a:endParaRPr lang="en-US" sz="2800" dirty="0"/>
          </a:p>
        </p:txBody>
      </p:sp>
      <p:sp>
        <p:nvSpPr>
          <p:cNvPr id="6" name="Text 4"/>
          <p:cNvSpPr/>
          <p:nvPr/>
        </p:nvSpPr>
        <p:spPr>
          <a:xfrm>
            <a:off x="3200400" y="420624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How metabolism shifts between the fed and fasting states.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24.5</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Absorptive State</a:t>
            </a:r>
            <a:endParaRPr lang="en-US" sz="2800" dirty="0"/>
          </a:p>
        </p:txBody>
      </p:sp>
      <p:sp>
        <p:nvSpPr>
          <p:cNvPr id="4" name="Shape 2"/>
          <p:cNvSpPr/>
          <p:nvPr/>
        </p:nvSpPr>
        <p:spPr>
          <a:xfrm>
            <a:off x="737692" y="1289304"/>
            <a:ext cx="3828136" cy="4736592"/>
          </a:xfrm>
          <a:prstGeom prst="roundRect">
            <a:avLst>
              <a:gd name="adj" fmla="val 1433"/>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24/img/img21.jpg">    </p:cNvPr>
          <p:cNvPicPr>
            <a:picLocks noChangeAspect="1"/>
          </p:cNvPicPr>
          <p:nvPr/>
        </p:nvPicPr>
        <p:blipFill>
          <a:blip r:embed="rId1"/>
          <a:stretch>
            <a:fillRect/>
          </a:stretch>
        </p:blipFill>
        <p:spPr>
          <a:xfrm>
            <a:off x="819988" y="1371600"/>
            <a:ext cx="3663544"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absorptive (fed) state</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The "fed" state after a meal</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Blood glucose is high</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Insulin drives storage</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Glucose, fat, and protein are stored</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24 — Metabolism and Nutrition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24.5</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Postabsorptive State</a:t>
            </a:r>
            <a:endParaRPr lang="en-US" sz="2800" dirty="0"/>
          </a:p>
        </p:txBody>
      </p:sp>
      <p:sp>
        <p:nvSpPr>
          <p:cNvPr id="4" name="Shape 2"/>
          <p:cNvSpPr/>
          <p:nvPr/>
        </p:nvSpPr>
        <p:spPr>
          <a:xfrm>
            <a:off x="821360" y="1289304"/>
            <a:ext cx="3660800" cy="4736592"/>
          </a:xfrm>
          <a:prstGeom prst="roundRect">
            <a:avLst>
              <a:gd name="adj" fmla="val 1499"/>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24/img/img22.jpg">    </p:cNvPr>
          <p:cNvPicPr>
            <a:picLocks noChangeAspect="1"/>
          </p:cNvPicPr>
          <p:nvPr/>
        </p:nvPicPr>
        <p:blipFill>
          <a:blip r:embed="rId1"/>
          <a:stretch>
            <a:fillRect/>
          </a:stretch>
        </p:blipFill>
        <p:spPr>
          <a:xfrm>
            <a:off x="903656" y="1371600"/>
            <a:ext cx="3496208"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postabsorptive (fasting) state</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The fasting state between meals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Blood glucose tends to fall</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Glucagon mobilizes stores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Glycogen and fat are broken down</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24 — Metabolism and Nutrition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24.6</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2800" b="1" dirty="0">
                <a:solidFill>
                  <a:srgbClr val="FFFFFF"/>
                </a:solidFill>
                <a:latin typeface="Georgia" pitchFamily="34" charset="0"/>
                <a:ea typeface="Georgia" pitchFamily="34" charset="-122"/>
                <a:cs typeface="Georgia" pitchFamily="34" charset="-120"/>
              </a:rPr>
              <a:t>Energy and Heat Balance</a:t>
            </a:r>
            <a:endParaRPr lang="en-US" sz="2800" dirty="0"/>
          </a:p>
        </p:txBody>
      </p:sp>
      <p:sp>
        <p:nvSpPr>
          <p:cNvPr id="6" name="Text 4"/>
          <p:cNvSpPr/>
          <p:nvPr/>
        </p:nvSpPr>
        <p:spPr>
          <a:xfrm>
            <a:off x="3200400" y="420624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How the body balances energy and regulates temperature.</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24.6</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Heat Balance &amp; Thermoregulation</a:t>
            </a:r>
            <a:endParaRPr lang="en-US" sz="2800" dirty="0"/>
          </a:p>
        </p:txBody>
      </p:sp>
      <p:sp>
        <p:nvSpPr>
          <p:cNvPr id="4" name="Shape 2"/>
          <p:cNvSpPr/>
          <p:nvPr/>
        </p:nvSpPr>
        <p:spPr>
          <a:xfrm>
            <a:off x="1213180" y="1289304"/>
            <a:ext cx="2877160" cy="4736592"/>
          </a:xfrm>
          <a:prstGeom prst="roundRect">
            <a:avLst>
              <a:gd name="adj" fmla="val 1907"/>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24/img/img23.jpg">    </p:cNvPr>
          <p:cNvPicPr>
            <a:picLocks noChangeAspect="1"/>
          </p:cNvPicPr>
          <p:nvPr/>
        </p:nvPicPr>
        <p:blipFill>
          <a:blip r:embed="rId1"/>
          <a:stretch>
            <a:fillRect/>
          </a:stretch>
        </p:blipFill>
        <p:spPr>
          <a:xfrm>
            <a:off x="1295476" y="1371600"/>
            <a:ext cx="2712568"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Heat balance and thermoregulation</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Metabolism produces heat</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The hypothalamus is the thermostat</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Sweating and blood flow lose heat</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Shivering generates heat</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24 — Metabolism and Nutrition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24.7</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2800" b="1" dirty="0">
                <a:solidFill>
                  <a:srgbClr val="FFFFFF"/>
                </a:solidFill>
                <a:latin typeface="Georgia" pitchFamily="34" charset="0"/>
                <a:ea typeface="Georgia" pitchFamily="34" charset="-122"/>
                <a:cs typeface="Georgia" pitchFamily="34" charset="-120"/>
              </a:rPr>
              <a:t>Nutrition and Diet</a:t>
            </a:r>
            <a:endParaRPr lang="en-US" sz="2800" dirty="0"/>
          </a:p>
        </p:txBody>
      </p:sp>
      <p:sp>
        <p:nvSpPr>
          <p:cNvPr id="6" name="Text 4"/>
          <p:cNvSpPr/>
          <p:nvPr/>
        </p:nvSpPr>
        <p:spPr>
          <a:xfrm>
            <a:off x="3200400" y="420624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The nutrients the body needs and a balanced diet.</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24.7</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Nutrition &amp; MyPlate</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A balanced diet supplies all nutrients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Carbohydrates, fats, proteins for energy</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Vitamins and minerals in small amounts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MyPlate guides healthy portions</a:t>
            </a:r>
            <a:endParaRPr lang="en-US" sz="1500" dirty="0"/>
          </a:p>
        </p:txBody>
      </p:sp>
      <p:sp>
        <p:nvSpPr>
          <p:cNvPr id="5" name="Shape 3"/>
          <p:cNvSpPr/>
          <p:nvPr/>
        </p:nvSpPr>
        <p:spPr>
          <a:xfrm>
            <a:off x="5704425" y="1335024"/>
            <a:ext cx="5781870"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24/img/img24.jpg">    </p:cNvPr>
          <p:cNvPicPr>
            <a:picLocks noChangeAspect="1"/>
          </p:cNvPicPr>
          <p:nvPr/>
        </p:nvPicPr>
        <p:blipFill>
          <a:blip r:embed="rId1"/>
          <a:stretch>
            <a:fillRect/>
          </a:stretch>
        </p:blipFill>
        <p:spPr>
          <a:xfrm>
            <a:off x="5786721" y="1417320"/>
            <a:ext cx="5617278"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MyPlate dietary guidelines</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24 — Metabolism and Nutrition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CHAPTER 24</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Key Takeaways</a:t>
            </a:r>
            <a:endParaRPr lang="en-US" sz="2800" dirty="0"/>
          </a:p>
        </p:txBody>
      </p:sp>
      <p:sp>
        <p:nvSpPr>
          <p:cNvPr id="4" name="Shape 2"/>
          <p:cNvSpPr/>
          <p:nvPr/>
        </p:nvSpPr>
        <p:spPr>
          <a:xfrm>
            <a:off x="548640" y="1819656"/>
            <a:ext cx="237744" cy="237744"/>
          </a:xfrm>
          <a:prstGeom prst="ellipse">
            <a:avLst/>
          </a:prstGeom>
          <a:solidFill>
            <a:srgbClr val="E36414"/>
          </a:solidFill>
          <a:ln/>
        </p:spPr>
      </p:sp>
      <p:sp>
        <p:nvSpPr>
          <p:cNvPr id="5" name="Text 3"/>
          <p:cNvSpPr/>
          <p:nvPr/>
        </p:nvSpPr>
        <p:spPr>
          <a:xfrm>
            <a:off x="960120" y="1737360"/>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Metabolism is all the body's chemical reactions — catabolism releasing energy, anabolism using it.</a:t>
            </a:r>
            <a:endParaRPr lang="en-US" sz="1550" dirty="0"/>
          </a:p>
        </p:txBody>
      </p:sp>
      <p:sp>
        <p:nvSpPr>
          <p:cNvPr id="6" name="Shape 4"/>
          <p:cNvSpPr/>
          <p:nvPr/>
        </p:nvSpPr>
        <p:spPr>
          <a:xfrm>
            <a:off x="548640" y="2606040"/>
            <a:ext cx="237744" cy="237744"/>
          </a:xfrm>
          <a:prstGeom prst="ellipse">
            <a:avLst/>
          </a:prstGeom>
          <a:solidFill>
            <a:srgbClr val="E36414"/>
          </a:solidFill>
          <a:ln/>
        </p:spPr>
      </p:sp>
      <p:sp>
        <p:nvSpPr>
          <p:cNvPr id="7" name="Text 5"/>
          <p:cNvSpPr/>
          <p:nvPr/>
        </p:nvSpPr>
        <p:spPr>
          <a:xfrm>
            <a:off x="960120" y="2523744"/>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ATP is the energy currency that powers cellular work.</a:t>
            </a:r>
            <a:endParaRPr lang="en-US" sz="1550" dirty="0"/>
          </a:p>
        </p:txBody>
      </p:sp>
      <p:sp>
        <p:nvSpPr>
          <p:cNvPr id="8" name="Shape 6"/>
          <p:cNvSpPr/>
          <p:nvPr/>
        </p:nvSpPr>
        <p:spPr>
          <a:xfrm>
            <a:off x="548640" y="3392424"/>
            <a:ext cx="237744" cy="237744"/>
          </a:xfrm>
          <a:prstGeom prst="ellipse">
            <a:avLst/>
          </a:prstGeom>
          <a:solidFill>
            <a:srgbClr val="E36414"/>
          </a:solidFill>
          <a:ln/>
        </p:spPr>
      </p:sp>
      <p:sp>
        <p:nvSpPr>
          <p:cNvPr id="9" name="Text 7"/>
          <p:cNvSpPr/>
          <p:nvPr/>
        </p:nvSpPr>
        <p:spPr>
          <a:xfrm>
            <a:off x="960120" y="3310128"/>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Cells extract energy from glucose through cellular respiration.</a:t>
            </a:r>
            <a:endParaRPr lang="en-US" sz="1550" dirty="0"/>
          </a:p>
        </p:txBody>
      </p:sp>
      <p:sp>
        <p:nvSpPr>
          <p:cNvPr id="10" name="Shape 8"/>
          <p:cNvSpPr/>
          <p:nvPr/>
        </p:nvSpPr>
        <p:spPr>
          <a:xfrm>
            <a:off x="548640" y="4178808"/>
            <a:ext cx="237744" cy="237744"/>
          </a:xfrm>
          <a:prstGeom prst="ellipse">
            <a:avLst/>
          </a:prstGeom>
          <a:solidFill>
            <a:srgbClr val="E36414"/>
          </a:solidFill>
          <a:ln/>
        </p:spPr>
      </p:sp>
      <p:sp>
        <p:nvSpPr>
          <p:cNvPr id="11" name="Text 9"/>
          <p:cNvSpPr/>
          <p:nvPr/>
        </p:nvSpPr>
        <p:spPr>
          <a:xfrm>
            <a:off x="960120" y="4096512"/>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Metabolism shifts between storing fuel after meals and mobilizing it while fasting.</a:t>
            </a:r>
            <a:endParaRPr lang="en-US" sz="1550" dirty="0"/>
          </a:p>
        </p:txBody>
      </p:sp>
      <p:sp>
        <p:nvSpPr>
          <p:cNvPr id="12" name="Shape 10"/>
          <p:cNvSpPr/>
          <p:nvPr/>
        </p:nvSpPr>
        <p:spPr>
          <a:xfrm>
            <a:off x="548640" y="4965192"/>
            <a:ext cx="237744" cy="237744"/>
          </a:xfrm>
          <a:prstGeom prst="ellipse">
            <a:avLst/>
          </a:prstGeom>
          <a:solidFill>
            <a:srgbClr val="E36414"/>
          </a:solidFill>
          <a:ln/>
        </p:spPr>
      </p:sp>
      <p:sp>
        <p:nvSpPr>
          <p:cNvPr id="13" name="Text 11"/>
          <p:cNvSpPr/>
          <p:nvPr/>
        </p:nvSpPr>
        <p:spPr>
          <a:xfrm>
            <a:off x="960120" y="4882896"/>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The body balances energy intake, heat, and nutrient needs through diet.</a:t>
            </a:r>
            <a:endParaRPr lang="en-US" sz="1550" dirty="0"/>
          </a:p>
        </p:txBody>
      </p:sp>
      <p:sp>
        <p:nvSpPr>
          <p:cNvPr id="14" name="Text 12"/>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24 — Metabolism and Nutrition</a:t>
            </a:r>
            <a:endParaRPr lang="en-US" sz="900" dirty="0"/>
          </a:p>
        </p:txBody>
      </p:sp>
      <p:sp>
        <p:nvSpPr>
          <p:cNvPr id="15" name="Text 13"/>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4C5C"/>
        </a:solidFill>
      </p:bgPr>
    </p:bg>
    <p:spTree>
      <p:nvGrpSpPr>
        <p:cNvPr id="1" name=""/>
        <p:cNvGrpSpPr/>
        <p:nvPr/>
      </p:nvGrpSpPr>
      <p:grpSpPr>
        <a:xfrm>
          <a:off x="0" y="0"/>
          <a:ext cx="0" cy="0"/>
          <a:chOff x="0" y="0"/>
          <a:chExt cx="0" cy="0"/>
        </a:xfrm>
      </p:grpSpPr>
      <p:sp>
        <p:nvSpPr>
          <p:cNvPr id="2" name="Text 0"/>
          <p:cNvSpPr/>
          <p:nvPr/>
        </p:nvSpPr>
        <p:spPr>
          <a:xfrm>
            <a:off x="548640" y="502920"/>
            <a:ext cx="10058400" cy="365760"/>
          </a:xfrm>
          <a:prstGeom prst="rect">
            <a:avLst/>
          </a:prstGeom>
          <a:noFill/>
          <a:ln/>
        </p:spPr>
        <p:txBody>
          <a:bodyPr wrap="square" rtlCol="0" anchor="ctr"/>
          <a:lstStyle/>
          <a:p>
            <a:pPr indent="0" marL="0">
              <a:buNone/>
            </a:pPr>
            <a:r>
              <a:rPr lang="en-US" sz="1300" b="1" spc="300" kern="0" dirty="0">
                <a:solidFill>
                  <a:srgbClr val="E36414"/>
                </a:solidFill>
                <a:latin typeface="Calibri" pitchFamily="34" charset="0"/>
                <a:ea typeface="Calibri" pitchFamily="34" charset="-122"/>
                <a:cs typeface="Calibri" pitchFamily="34" charset="-120"/>
              </a:rPr>
              <a:t>CLINICAL CONNECTIONS</a:t>
            </a:r>
            <a:endParaRPr lang="en-US" sz="1300" dirty="0"/>
          </a:p>
        </p:txBody>
      </p:sp>
      <p:sp>
        <p:nvSpPr>
          <p:cNvPr id="3" name="Text 1"/>
          <p:cNvSpPr/>
          <p:nvPr/>
        </p:nvSpPr>
        <p:spPr>
          <a:xfrm>
            <a:off x="530352" y="841248"/>
            <a:ext cx="10972800" cy="640080"/>
          </a:xfrm>
          <a:prstGeom prst="rect">
            <a:avLst/>
          </a:prstGeom>
          <a:noFill/>
          <a:ln/>
        </p:spPr>
        <p:txBody>
          <a:bodyPr wrap="square" rtlCol="0" anchor="ctr"/>
          <a:lstStyle/>
          <a:p>
            <a:pPr indent="0" marL="0">
              <a:buNone/>
            </a:pPr>
            <a:r>
              <a:rPr lang="en-US" sz="2500" b="1" dirty="0">
                <a:solidFill>
                  <a:srgbClr val="FFFFFF"/>
                </a:solidFill>
                <a:latin typeface="Georgia" pitchFamily="34" charset="0"/>
                <a:ea typeface="Georgia" pitchFamily="34" charset="-122"/>
                <a:cs typeface="Georgia" pitchFamily="34" charset="-120"/>
              </a:rPr>
              <a:t>Why Metabolism &amp; Nutrition Matter in Practical Nursing</a:t>
            </a:r>
            <a:endParaRPr lang="en-US" sz="2500" dirty="0"/>
          </a:p>
        </p:txBody>
      </p:sp>
      <p:sp>
        <p:nvSpPr>
          <p:cNvPr id="4" name="Shape 2"/>
          <p:cNvSpPr/>
          <p:nvPr/>
        </p:nvSpPr>
        <p:spPr>
          <a:xfrm>
            <a:off x="548640" y="1783080"/>
            <a:ext cx="5440680" cy="1389888"/>
          </a:xfrm>
          <a:prstGeom prst="roundRect">
            <a:avLst>
              <a:gd name="adj" fmla="val 5263"/>
            </a:avLst>
          </a:prstGeom>
          <a:solidFill>
            <a:srgbClr val="13586A"/>
          </a:solidFill>
          <a:ln w="12700">
            <a:solidFill>
              <a:srgbClr val="2A7A8C"/>
            </a:solidFill>
            <a:prstDash val="solid"/>
          </a:ln>
        </p:spPr>
      </p:sp>
      <p:sp>
        <p:nvSpPr>
          <p:cNvPr id="5" name="Text 3"/>
          <p:cNvSpPr/>
          <p:nvPr/>
        </p:nvSpPr>
        <p:spPr>
          <a:xfrm>
            <a:off x="777240" y="191109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Diabetes</a:t>
            </a:r>
            <a:endParaRPr lang="en-US" sz="1600" dirty="0"/>
          </a:p>
        </p:txBody>
      </p:sp>
      <p:sp>
        <p:nvSpPr>
          <p:cNvPr id="6" name="Text 4"/>
          <p:cNvSpPr/>
          <p:nvPr/>
        </p:nvSpPr>
        <p:spPr>
          <a:xfrm>
            <a:off x="777240" y="228600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Disrupted glucose metabolism affects energy and many organs.</a:t>
            </a:r>
            <a:endParaRPr lang="en-US" sz="1250" dirty="0"/>
          </a:p>
        </p:txBody>
      </p:sp>
      <p:sp>
        <p:nvSpPr>
          <p:cNvPr id="7" name="Shape 5"/>
          <p:cNvSpPr/>
          <p:nvPr/>
        </p:nvSpPr>
        <p:spPr>
          <a:xfrm>
            <a:off x="6172200" y="1783080"/>
            <a:ext cx="5440680" cy="1389888"/>
          </a:xfrm>
          <a:prstGeom prst="roundRect">
            <a:avLst>
              <a:gd name="adj" fmla="val 5263"/>
            </a:avLst>
          </a:prstGeom>
          <a:solidFill>
            <a:srgbClr val="13586A"/>
          </a:solidFill>
          <a:ln w="12700">
            <a:solidFill>
              <a:srgbClr val="2A7A8C"/>
            </a:solidFill>
            <a:prstDash val="solid"/>
          </a:ln>
        </p:spPr>
      </p:sp>
      <p:sp>
        <p:nvSpPr>
          <p:cNvPr id="8" name="Text 6"/>
          <p:cNvSpPr/>
          <p:nvPr/>
        </p:nvSpPr>
        <p:spPr>
          <a:xfrm>
            <a:off x="6400800" y="191109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Cholesterol</a:t>
            </a:r>
            <a:endParaRPr lang="en-US" sz="1600" dirty="0"/>
          </a:p>
        </p:txBody>
      </p:sp>
      <p:sp>
        <p:nvSpPr>
          <p:cNvPr id="9" name="Text 7"/>
          <p:cNvSpPr/>
          <p:nvPr/>
        </p:nvSpPr>
        <p:spPr>
          <a:xfrm>
            <a:off x="6400800" y="228600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The LDL and HDL balance shapes cardiovascular risk.</a:t>
            </a:r>
            <a:endParaRPr lang="en-US" sz="1250" dirty="0"/>
          </a:p>
        </p:txBody>
      </p:sp>
      <p:sp>
        <p:nvSpPr>
          <p:cNvPr id="10" name="Shape 8"/>
          <p:cNvSpPr/>
          <p:nvPr/>
        </p:nvSpPr>
        <p:spPr>
          <a:xfrm>
            <a:off x="548640" y="3337560"/>
            <a:ext cx="5440680" cy="1389888"/>
          </a:xfrm>
          <a:prstGeom prst="roundRect">
            <a:avLst>
              <a:gd name="adj" fmla="val 5263"/>
            </a:avLst>
          </a:prstGeom>
          <a:solidFill>
            <a:srgbClr val="13586A"/>
          </a:solidFill>
          <a:ln w="12700">
            <a:solidFill>
              <a:srgbClr val="2A7A8C"/>
            </a:solidFill>
            <a:prstDash val="solid"/>
          </a:ln>
        </p:spPr>
      </p:sp>
      <p:sp>
        <p:nvSpPr>
          <p:cNvPr id="11" name="Text 9"/>
          <p:cNvSpPr/>
          <p:nvPr/>
        </p:nvSpPr>
        <p:spPr>
          <a:xfrm>
            <a:off x="777240" y="346557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Nutrition Teaching</a:t>
            </a:r>
            <a:endParaRPr lang="en-US" sz="1600" dirty="0"/>
          </a:p>
        </p:txBody>
      </p:sp>
      <p:sp>
        <p:nvSpPr>
          <p:cNvPr id="12" name="Text 10"/>
          <p:cNvSpPr/>
          <p:nvPr/>
        </p:nvSpPr>
        <p:spPr>
          <a:xfrm>
            <a:off x="777240" y="384048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Balanced-diet guidance supports patient health.</a:t>
            </a:r>
            <a:endParaRPr lang="en-US" sz="1250" dirty="0"/>
          </a:p>
        </p:txBody>
      </p:sp>
      <p:sp>
        <p:nvSpPr>
          <p:cNvPr id="13" name="Shape 11"/>
          <p:cNvSpPr/>
          <p:nvPr/>
        </p:nvSpPr>
        <p:spPr>
          <a:xfrm>
            <a:off x="6172200" y="3337560"/>
            <a:ext cx="5440680" cy="1389888"/>
          </a:xfrm>
          <a:prstGeom prst="roundRect">
            <a:avLst>
              <a:gd name="adj" fmla="val 5263"/>
            </a:avLst>
          </a:prstGeom>
          <a:solidFill>
            <a:srgbClr val="13586A"/>
          </a:solidFill>
          <a:ln w="12700">
            <a:solidFill>
              <a:srgbClr val="2A7A8C"/>
            </a:solidFill>
            <a:prstDash val="solid"/>
          </a:ln>
        </p:spPr>
      </p:sp>
      <p:sp>
        <p:nvSpPr>
          <p:cNvPr id="14" name="Text 12"/>
          <p:cNvSpPr/>
          <p:nvPr/>
        </p:nvSpPr>
        <p:spPr>
          <a:xfrm>
            <a:off x="6400800" y="346557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Fever</a:t>
            </a:r>
            <a:endParaRPr lang="en-US" sz="1600" dirty="0"/>
          </a:p>
        </p:txBody>
      </p:sp>
      <p:sp>
        <p:nvSpPr>
          <p:cNvPr id="15" name="Text 13"/>
          <p:cNvSpPr/>
          <p:nvPr/>
        </p:nvSpPr>
        <p:spPr>
          <a:xfrm>
            <a:off x="6400800" y="384048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A raised hypothalamic set point during illness.</a:t>
            </a:r>
            <a:endParaRPr lang="en-US" sz="1250" dirty="0"/>
          </a:p>
        </p:txBody>
      </p:sp>
      <p:sp>
        <p:nvSpPr>
          <p:cNvPr id="16" name="Shape 14"/>
          <p:cNvSpPr/>
          <p:nvPr/>
        </p:nvSpPr>
        <p:spPr>
          <a:xfrm>
            <a:off x="548640" y="4892040"/>
            <a:ext cx="5440680" cy="1389888"/>
          </a:xfrm>
          <a:prstGeom prst="roundRect">
            <a:avLst>
              <a:gd name="adj" fmla="val 5263"/>
            </a:avLst>
          </a:prstGeom>
          <a:solidFill>
            <a:srgbClr val="13586A"/>
          </a:solidFill>
          <a:ln w="12700">
            <a:solidFill>
              <a:srgbClr val="2A7A8C"/>
            </a:solidFill>
            <a:prstDash val="solid"/>
          </a:ln>
        </p:spPr>
      </p:sp>
      <p:sp>
        <p:nvSpPr>
          <p:cNvPr id="17" name="Text 15"/>
          <p:cNvSpPr/>
          <p:nvPr/>
        </p:nvSpPr>
        <p:spPr>
          <a:xfrm>
            <a:off x="777240" y="502005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Malnutrition</a:t>
            </a:r>
            <a:endParaRPr lang="en-US" sz="1600" dirty="0"/>
          </a:p>
        </p:txBody>
      </p:sp>
      <p:sp>
        <p:nvSpPr>
          <p:cNvPr id="18" name="Text 16"/>
          <p:cNvSpPr/>
          <p:nvPr/>
        </p:nvSpPr>
        <p:spPr>
          <a:xfrm>
            <a:off x="777240" y="539496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Nutrient deficiencies impair healing and immunity.</a:t>
            </a:r>
            <a:endParaRPr lang="en-US" sz="1250" dirty="0"/>
          </a:p>
        </p:txBody>
      </p:sp>
      <p:sp>
        <p:nvSpPr>
          <p:cNvPr id="19" name="Shape 17"/>
          <p:cNvSpPr/>
          <p:nvPr/>
        </p:nvSpPr>
        <p:spPr>
          <a:xfrm>
            <a:off x="6172200" y="4892040"/>
            <a:ext cx="5440680" cy="1389888"/>
          </a:xfrm>
          <a:prstGeom prst="roundRect">
            <a:avLst>
              <a:gd name="adj" fmla="val 5263"/>
            </a:avLst>
          </a:prstGeom>
          <a:solidFill>
            <a:srgbClr val="13586A"/>
          </a:solidFill>
          <a:ln w="12700">
            <a:solidFill>
              <a:srgbClr val="2A7A8C"/>
            </a:solidFill>
            <a:prstDash val="solid"/>
          </a:ln>
        </p:spPr>
      </p:sp>
      <p:sp>
        <p:nvSpPr>
          <p:cNvPr id="20" name="Text 18"/>
          <p:cNvSpPr/>
          <p:nvPr/>
        </p:nvSpPr>
        <p:spPr>
          <a:xfrm>
            <a:off x="6400800" y="502005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Obesity</a:t>
            </a:r>
            <a:endParaRPr lang="en-US" sz="1600" dirty="0"/>
          </a:p>
        </p:txBody>
      </p:sp>
      <p:sp>
        <p:nvSpPr>
          <p:cNvPr id="21" name="Text 19"/>
          <p:cNvSpPr/>
          <p:nvPr/>
        </p:nvSpPr>
        <p:spPr>
          <a:xfrm>
            <a:off x="6400800" y="539496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Chronic energy surplus stored as fat raises health risks.</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2026-06-23T22:09:32Z</dcterms:created>
  <dcterms:modified xsi:type="dcterms:W3CDTF">2026-06-23T22:09:32Z</dcterms:modified>
</cp:coreProperties>
</file>