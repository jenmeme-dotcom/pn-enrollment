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development and inheritance: fertilization, the stages of embryonic and fetal development, the changes of pregnancy and birth, the newborn's adjustment and lactation, and the basic patterns by which traits are inherited.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Fertilization usually occurs in the uterine tube. Many sperm reach the egg, but only one penetrates its outer layers; the egg then blocks others. The sperm and egg nuclei fuse, combining their chromosomes into a full set, and form a zygote — the first cell of a new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fertilization, the zygote undergoes cleavage — rapid cell divisions without growth — passing through 2-, 4-, and 8-cell stages to a solid ball (morula) and then a fluid-filled blastocyst. This all happens as the developing embryo travels down the uterine tube toward the uterus over several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week after fertilization, the blastocyst reaches the uterus and burrows into the prepared endometrium — implantation. This anchors the embryo and begins forming the connections that will become the placenta. Implantation marks the true establishment of pregnancy.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in development the embryo organizes into three primary germ layers, each giving rise to specific tissues: ectoderm forms the skin and nervous system; mesoderm forms muscle, bone, blood, and the heart; and endoderm forms the lining of the digestive and respiratory tracts and many glands. Every organ traces back to these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placenta is the organ of exchange between mother and fetus, formed from both embryonic and maternal tissue. Across it, oxygen, nutrients, and antibodies pass to the fetus and wastes pass back to the mother — without their blood directly mixing. The umbilical cord connects the fetus to the placenta.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embryos have identical, unspecialized reproductive structures. During the fetal period, the genetic sex (set at fertilization) directs these to develop into male or female organs — under the influence of hormones in males. The fetal period overall is mainly one of growth and maturation of organs formed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Pregnancy is divided into three trimesters, during which the mother's body changes dramatically. The uterus expands from fist-sized to filling the abdomen, blood volume rises, and the heart, lungs, and other systems adapt to support the growing fetus. These changes reverse after birth.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Pregnancy is sustained by hormones. Human chorionic gonadotropin (hCG), made by the early embryo, maintains the corpus luteum and is the hormone detected by pregnancy tests. Estrogen and progesterone rise throughout, supporting the uterus and breasts and preventing further ovulation.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 proceeds in three stages: the cervix dilates and effaces (the longest stage), the baby is pushed out through the birth canal (delivery), and finally the placenta is expelled (afterbirth). Powerful uterine contractions, driven by oxytocin, accomplish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birth the newborn must suddenly breathe and circulate blood on its own. The first breaths inflate the lungs, and the fetal shunts that bypassed them (the foramen ovale and ductus arteriosus) close, rerouting blood through the lungs. The newborn also begins regulating its own temperature and feeding.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birth, the breasts produce milk to feed the infant. The hormone prolactin stimulates milk production, while oxytocin causes the letdown (ejection) of milk during nursing. The infant's suckling keeps both hormones flowing, so demand maintains supply. The first milk, colostrum, is rich in protective antibodies.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karyotype displays a person's chromosomes — 46 arranged in 23 pairs. Twenty-two pairs are autosomes; the last pair are the sex chromosomes (XX in females, XY in males). Errors in chromosome number, like an extra chromosome 21 in Down syndrome, can be seen on a karyotype.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inherit two copies of each gene, one from each parent, and these can be different versions (alleles). A dominant allele shows its effect even with one copy; a recessive allele needs two. A Punnett square charts the possible combinations, predicting the odds of a trait appearing in the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Genes on the X chromosome follow special inheritance patterns. Because males have only one X, a single recessive allele there will show — so X-linked recessive conditions like hemophilia and red-green color blindness are far more common in males, while females are often unaffected carriers.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28</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Development and Inheritance</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From fertilization to birth, and how traits are passed on.</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455950"/>
            <a:ext cx="4096512" cy="2128980"/>
          </a:xfrm>
          <a:prstGeom prst="roundRect">
            <a:avLst>
              <a:gd name="adj" fmla="val 257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8/img/img01.jpg">    </p:cNvPr>
          <p:cNvPicPr>
            <a:picLocks noChangeAspect="1"/>
          </p:cNvPicPr>
          <p:nvPr/>
        </p:nvPicPr>
        <p:blipFill>
          <a:blip r:embed="rId1"/>
          <a:stretch>
            <a:fillRect/>
          </a:stretch>
        </p:blipFill>
        <p:spPr>
          <a:xfrm>
            <a:off x="7818120" y="2538246"/>
            <a:ext cx="3931920" cy="19643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and explain the steps involved in fertilization</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major events in embryonic development</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major events in fetal development</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the adaptations of the body to pregnancy</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physiologic adjustments that the newborn must make in the first hours of extrauterine life</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Summarize the physiology of lactation</a:t>
            </a:r>
            <a:endParaRPr lang="en-US" sz="1300" dirty="0"/>
          </a:p>
        </p:txBody>
      </p:sp>
      <p:sp>
        <p:nvSpPr>
          <p:cNvPr id="23" name="Shape 21"/>
          <p:cNvSpPr/>
          <p:nvPr/>
        </p:nvSpPr>
        <p:spPr>
          <a:xfrm>
            <a:off x="7415784" y="1803290"/>
            <a:ext cx="4370832" cy="3854924"/>
          </a:xfrm>
          <a:prstGeom prst="roundRect">
            <a:avLst>
              <a:gd name="adj" fmla="val 142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28/img/img04.jpg">    </p:cNvPr>
          <p:cNvPicPr>
            <a:picLocks noChangeAspect="1"/>
          </p:cNvPicPr>
          <p:nvPr/>
        </p:nvPicPr>
        <p:blipFill>
          <a:blip r:embed="rId1"/>
          <a:stretch>
            <a:fillRect/>
          </a:stretch>
        </p:blipFill>
        <p:spPr>
          <a:xfrm>
            <a:off x="7498080" y="1885586"/>
            <a:ext cx="4206240" cy="3690332"/>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Early cleavage of the fertilized egg.</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Fertilization</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sperm and egg unite to begin a new life.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Fertilization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Sperm meets egg in the uterine tube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One sperm penetrates the egg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Their chromosomes combine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Forms a single-celled zygote</a:t>
            </a:r>
            <a:endParaRPr lang="en-US" sz="1500" dirty="0"/>
          </a:p>
        </p:txBody>
      </p:sp>
      <p:sp>
        <p:nvSpPr>
          <p:cNvPr id="5" name="Shape 3"/>
          <p:cNvSpPr/>
          <p:nvPr/>
        </p:nvSpPr>
        <p:spPr>
          <a:xfrm>
            <a:off x="5404104" y="1430158"/>
            <a:ext cx="6382512" cy="4454884"/>
          </a:xfrm>
          <a:prstGeom prst="roundRect">
            <a:avLst>
              <a:gd name="adj" fmla="val 123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02.jpg">    </p:cNvPr>
          <p:cNvPicPr>
            <a:picLocks noChangeAspect="1"/>
          </p:cNvPicPr>
          <p:nvPr/>
        </p:nvPicPr>
        <p:blipFill>
          <a:blip r:embed="rId1"/>
          <a:stretch>
            <a:fillRect/>
          </a:stretch>
        </p:blipFill>
        <p:spPr>
          <a:xfrm>
            <a:off x="5486400" y="1512454"/>
            <a:ext cx="6217920" cy="4290292"/>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Fertilization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Embryonic Development</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From a single cell to an implanted embryo with three germ layers.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Cleavage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zygote divides repeatedly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2-cell, 4-cell, 8-cell stages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Becomes a solid morula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Then a hollow blastocyst</a:t>
            </a:r>
            <a:endParaRPr lang="en-US" sz="1500" dirty="0"/>
          </a:p>
        </p:txBody>
      </p:sp>
      <p:sp>
        <p:nvSpPr>
          <p:cNvPr id="5" name="Shape 3"/>
          <p:cNvSpPr/>
          <p:nvPr/>
        </p:nvSpPr>
        <p:spPr>
          <a:xfrm>
            <a:off x="5959593" y="1335024"/>
            <a:ext cx="527153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04.jpg">    </p:cNvPr>
          <p:cNvPicPr>
            <a:picLocks noChangeAspect="1"/>
          </p:cNvPicPr>
          <p:nvPr/>
        </p:nvPicPr>
        <p:blipFill>
          <a:blip r:embed="rId1"/>
          <a:stretch>
            <a:fillRect/>
          </a:stretch>
        </p:blipFill>
        <p:spPr>
          <a:xfrm>
            <a:off x="6041889" y="1417320"/>
            <a:ext cx="510694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Cleavage of the zygote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Implantation</a:t>
            </a:r>
            <a:endParaRPr lang="en-US" sz="2800" dirty="0"/>
          </a:p>
        </p:txBody>
      </p:sp>
      <p:sp>
        <p:nvSpPr>
          <p:cNvPr id="4" name="Shape 2"/>
          <p:cNvSpPr/>
          <p:nvPr/>
        </p:nvSpPr>
        <p:spPr>
          <a:xfrm>
            <a:off x="743636" y="1289304"/>
            <a:ext cx="3816248" cy="4736592"/>
          </a:xfrm>
          <a:prstGeom prst="roundRect">
            <a:avLst>
              <a:gd name="adj" fmla="val 143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06.jpg">    </p:cNvPr>
          <p:cNvPicPr>
            <a:picLocks noChangeAspect="1"/>
          </p:cNvPicPr>
          <p:nvPr/>
        </p:nvPicPr>
        <p:blipFill>
          <a:blip r:embed="rId1"/>
          <a:stretch>
            <a:fillRect/>
          </a:stretch>
        </p:blipFill>
        <p:spPr>
          <a:xfrm>
            <a:off x="825932" y="1371600"/>
            <a:ext cx="365165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Implantation in the uterus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blastocyst reaches the uterus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It embeds in the uterine lining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This is implantation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It establishes the pregnancy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Germ Layers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embryo forms three layers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Ectoderm: skin and nervous system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Mesoderm: muscle, bone, heart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Endoderm: gut and glands</a:t>
            </a:r>
            <a:endParaRPr lang="en-US" sz="1500" dirty="0"/>
          </a:p>
        </p:txBody>
      </p:sp>
      <p:sp>
        <p:nvSpPr>
          <p:cNvPr id="5" name="Shape 3"/>
          <p:cNvSpPr/>
          <p:nvPr/>
        </p:nvSpPr>
        <p:spPr>
          <a:xfrm>
            <a:off x="5923748" y="1335024"/>
            <a:ext cx="534322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10.jpg">    </p:cNvPr>
          <p:cNvPicPr>
            <a:picLocks noChangeAspect="1"/>
          </p:cNvPicPr>
          <p:nvPr/>
        </p:nvPicPr>
        <p:blipFill>
          <a:blip r:embed="rId1"/>
          <a:stretch>
            <a:fillRect/>
          </a:stretch>
        </p:blipFill>
        <p:spPr>
          <a:xfrm>
            <a:off x="6006044" y="1417320"/>
            <a:ext cx="517863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three primary germ layers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Placenta</a:t>
            </a:r>
            <a:endParaRPr lang="en-US" sz="2800" dirty="0"/>
          </a:p>
        </p:txBody>
      </p:sp>
      <p:sp>
        <p:nvSpPr>
          <p:cNvPr id="4" name="Shape 2"/>
          <p:cNvSpPr/>
          <p:nvPr/>
        </p:nvSpPr>
        <p:spPr>
          <a:xfrm>
            <a:off x="2583546" y="1289304"/>
            <a:ext cx="704014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11.jpg">    </p:cNvPr>
          <p:cNvPicPr>
            <a:picLocks noChangeAspect="1"/>
          </p:cNvPicPr>
          <p:nvPr/>
        </p:nvPicPr>
        <p:blipFill>
          <a:blip r:embed="rId1"/>
          <a:stretch>
            <a:fillRect/>
          </a:stretch>
        </p:blipFill>
        <p:spPr>
          <a:xfrm>
            <a:off x="2665842" y="1371600"/>
            <a:ext cx="687555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placenta</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lifeline between mother and fetus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Forms from embryo and uterus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Exchanges oxygen and nutrients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Removes fetal wastes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Fetal Development</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growth and maturation of the fetus.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Sexual Differentiation</a:t>
            </a:r>
            <a:endParaRPr lang="en-US" sz="2800" dirty="0"/>
          </a:p>
        </p:txBody>
      </p:sp>
      <p:sp>
        <p:nvSpPr>
          <p:cNvPr id="4" name="Shape 2"/>
          <p:cNvSpPr/>
          <p:nvPr/>
        </p:nvSpPr>
        <p:spPr>
          <a:xfrm>
            <a:off x="1356284" y="1289304"/>
            <a:ext cx="2590952" cy="4736592"/>
          </a:xfrm>
          <a:prstGeom prst="roundRect">
            <a:avLst>
              <a:gd name="adj" fmla="val 211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16.jpg">    </p:cNvPr>
          <p:cNvPicPr>
            <a:picLocks noChangeAspect="1"/>
          </p:cNvPicPr>
          <p:nvPr/>
        </p:nvPicPr>
        <p:blipFill>
          <a:blip r:embed="rId1"/>
          <a:stretch>
            <a:fillRect/>
          </a:stretch>
        </p:blipFill>
        <p:spPr>
          <a:xfrm>
            <a:off x="1438580" y="1371600"/>
            <a:ext cx="242636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Development of the reproductive structures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Early structures are the same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Sex develops over the fetal period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Determined by the sex chromosomes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Male or female structures form</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Changes During Pregnancy, Labor, and Birth</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mother's body changes through pregnancy and birth.</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Changes During Pregnancy</a:t>
            </a:r>
            <a:endParaRPr lang="en-US" sz="2800" dirty="0"/>
          </a:p>
        </p:txBody>
      </p:sp>
      <p:sp>
        <p:nvSpPr>
          <p:cNvPr id="4" name="Shape 2"/>
          <p:cNvSpPr/>
          <p:nvPr/>
        </p:nvSpPr>
        <p:spPr>
          <a:xfrm>
            <a:off x="856564" y="1289304"/>
            <a:ext cx="3590392" cy="4736592"/>
          </a:xfrm>
          <a:prstGeom prst="roundRect">
            <a:avLst>
              <a:gd name="adj" fmla="val 152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18.jpg">    </p:cNvPr>
          <p:cNvPicPr>
            <a:picLocks noChangeAspect="1"/>
          </p:cNvPicPr>
          <p:nvPr/>
        </p:nvPicPr>
        <p:blipFill>
          <a:blip r:embed="rId1"/>
          <a:stretch>
            <a:fillRect/>
          </a:stretch>
        </p:blipFill>
        <p:spPr>
          <a:xfrm>
            <a:off x="938860" y="1371600"/>
            <a:ext cx="342580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Maternal changes by trimester</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body adapts to support the fetus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uterus expands greatly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Trimesters mark the stages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Many systems adjust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Hormones of Pregnancy</a:t>
            </a:r>
            <a:endParaRPr lang="en-US" sz="2800" dirty="0"/>
          </a:p>
        </p:txBody>
      </p:sp>
      <p:sp>
        <p:nvSpPr>
          <p:cNvPr id="4" name="Shape 2"/>
          <p:cNvSpPr/>
          <p:nvPr/>
        </p:nvSpPr>
        <p:spPr>
          <a:xfrm>
            <a:off x="2844767" y="1289304"/>
            <a:ext cx="651770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20.jpg">    </p:cNvPr>
          <p:cNvPicPr>
            <a:picLocks noChangeAspect="1"/>
          </p:cNvPicPr>
          <p:nvPr/>
        </p:nvPicPr>
        <p:blipFill>
          <a:blip r:embed="rId1"/>
          <a:stretch>
            <a:fillRect/>
          </a:stretch>
        </p:blipFill>
        <p:spPr>
          <a:xfrm>
            <a:off x="2927063" y="1371600"/>
            <a:ext cx="635311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Hormone levels during pregnancy</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Hormones maintain the pregnancy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hCG signals early pregnancy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Estrogen and progesterone rise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hCG is what pregnancy tests detect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Labor &amp; Birth</a:t>
            </a:r>
            <a:endParaRPr lang="en-US" sz="2800" dirty="0"/>
          </a:p>
        </p:txBody>
      </p:sp>
      <p:sp>
        <p:nvSpPr>
          <p:cNvPr id="4" name="Shape 2"/>
          <p:cNvSpPr/>
          <p:nvPr/>
        </p:nvSpPr>
        <p:spPr>
          <a:xfrm>
            <a:off x="1109396" y="1289304"/>
            <a:ext cx="3084728" cy="4736592"/>
          </a:xfrm>
          <a:prstGeom prst="roundRect">
            <a:avLst>
              <a:gd name="adj" fmla="val 177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21.jpg">    </p:cNvPr>
          <p:cNvPicPr>
            <a:picLocks noChangeAspect="1"/>
          </p:cNvPicPr>
          <p:nvPr/>
        </p:nvPicPr>
        <p:blipFill>
          <a:blip r:embed="rId1"/>
          <a:stretch>
            <a:fillRect/>
          </a:stretch>
        </p:blipFill>
        <p:spPr>
          <a:xfrm>
            <a:off x="1191692" y="1371600"/>
            <a:ext cx="292013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stages of labor</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Labor delivers the baby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Stage 1: the cervix dilates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Stage 2: the baby is born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Stage 3: the placenta is delivered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Adjustments of the Infant at Birth and Postnatal Stages</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newborn's body adjusts to life outside the womb.</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Adjustments at Birth</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Big changes at the first breath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lungs inflate and take over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Fetal circulation shunts close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newborn becomes independent</a:t>
            </a:r>
            <a:endParaRPr lang="en-US" sz="1500" dirty="0"/>
          </a:p>
        </p:txBody>
      </p:sp>
      <p:sp>
        <p:nvSpPr>
          <p:cNvPr id="5" name="Shape 3"/>
          <p:cNvSpPr/>
          <p:nvPr/>
        </p:nvSpPr>
        <p:spPr>
          <a:xfrm>
            <a:off x="5867069" y="1335024"/>
            <a:ext cx="545658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22.jpg">    </p:cNvPr>
          <p:cNvPicPr>
            <a:picLocks noChangeAspect="1"/>
          </p:cNvPicPr>
          <p:nvPr/>
        </p:nvPicPr>
        <p:blipFill>
          <a:blip r:embed="rId1"/>
          <a:stretch>
            <a:fillRect/>
          </a:stretch>
        </p:blipFill>
        <p:spPr>
          <a:xfrm>
            <a:off x="5949365" y="1417320"/>
            <a:ext cx="529198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Circulatory changes at birth</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28.6</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Lactation</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breasts produce milk to nourish the newborn.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Lactation</a:t>
            </a:r>
            <a:endParaRPr lang="en-US" sz="2800" dirty="0"/>
          </a:p>
        </p:txBody>
      </p:sp>
      <p:sp>
        <p:nvSpPr>
          <p:cNvPr id="4" name="Shape 2"/>
          <p:cNvSpPr/>
          <p:nvPr/>
        </p:nvSpPr>
        <p:spPr>
          <a:xfrm>
            <a:off x="781812" y="1289304"/>
            <a:ext cx="3739896" cy="4736592"/>
          </a:xfrm>
          <a:prstGeom prst="roundRect">
            <a:avLst>
              <a:gd name="adj" fmla="val 146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8/img/img23.jpg">    </p:cNvPr>
          <p:cNvPicPr>
            <a:picLocks noChangeAspect="1"/>
          </p:cNvPicPr>
          <p:nvPr/>
        </p:nvPicPr>
        <p:blipFill>
          <a:blip r:embed="rId1"/>
          <a:stretch>
            <a:fillRect/>
          </a:stretch>
        </p:blipFill>
        <p:spPr>
          <a:xfrm>
            <a:off x="864108" y="1371600"/>
            <a:ext cx="357530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Lactation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breasts make milk after birth</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Prolactin drives milk production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Oxytocin triggers milk letdown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Suckling sustains the supply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28.7</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Patterns of Inheritance</a:t>
            </a:r>
            <a:endParaRPr lang="en-US" sz="2600" dirty="0"/>
          </a:p>
        </p:txBody>
      </p:sp>
      <p:sp>
        <p:nvSpPr>
          <p:cNvPr id="6" name="Text 4"/>
          <p:cNvSpPr/>
          <p:nvPr/>
        </p:nvSpPr>
        <p:spPr>
          <a:xfrm>
            <a:off x="3200400" y="429768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traits are passed from parents to children.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Karyotype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Traits are carried on chromosomes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46 chromosomes in 23 pairs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22 pairs plus the sex chromosomes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XX is female, XY is male</a:t>
            </a:r>
            <a:endParaRPr lang="en-US" sz="1500" dirty="0"/>
          </a:p>
        </p:txBody>
      </p:sp>
      <p:sp>
        <p:nvSpPr>
          <p:cNvPr id="5" name="Shape 3"/>
          <p:cNvSpPr/>
          <p:nvPr/>
        </p:nvSpPr>
        <p:spPr>
          <a:xfrm>
            <a:off x="5583226" y="1335024"/>
            <a:ext cx="602426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24.jpg">    </p:cNvPr>
          <p:cNvPicPr>
            <a:picLocks noChangeAspect="1"/>
          </p:cNvPicPr>
          <p:nvPr/>
        </p:nvPicPr>
        <p:blipFill>
          <a:blip r:embed="rId1"/>
          <a:stretch>
            <a:fillRect/>
          </a:stretch>
        </p:blipFill>
        <p:spPr>
          <a:xfrm>
            <a:off x="5665522" y="1417320"/>
            <a:ext cx="585967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human karyotype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Patterns of Inheritance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Genes come in alternate forms (alleles)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Dominant alleles mask recessive ones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Punnett square predicts offspring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Explains many inherited traits</a:t>
            </a:r>
            <a:endParaRPr lang="en-US" sz="1500" dirty="0"/>
          </a:p>
        </p:txBody>
      </p:sp>
      <p:sp>
        <p:nvSpPr>
          <p:cNvPr id="5" name="Shape 3"/>
          <p:cNvSpPr/>
          <p:nvPr/>
        </p:nvSpPr>
        <p:spPr>
          <a:xfrm>
            <a:off x="5843994" y="1335024"/>
            <a:ext cx="550273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25.jpg">    </p:cNvPr>
          <p:cNvPicPr>
            <a:picLocks noChangeAspect="1"/>
          </p:cNvPicPr>
          <p:nvPr/>
        </p:nvPicPr>
        <p:blipFill>
          <a:blip r:embed="rId1"/>
          <a:stretch>
            <a:fillRect/>
          </a:stretch>
        </p:blipFill>
        <p:spPr>
          <a:xfrm>
            <a:off x="5926290" y="1417320"/>
            <a:ext cx="533813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Punnett square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28.7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Sex-Linked Inheritance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Some genes sit on the X chromosome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These show different patterns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More common in males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Examples: hemophilia, color blindness</a:t>
            </a:r>
            <a:endParaRPr lang="en-US" sz="1500" dirty="0"/>
          </a:p>
        </p:txBody>
      </p:sp>
      <p:sp>
        <p:nvSpPr>
          <p:cNvPr id="5" name="Shape 3"/>
          <p:cNvSpPr/>
          <p:nvPr/>
        </p:nvSpPr>
        <p:spPr>
          <a:xfrm>
            <a:off x="5648866" y="1335024"/>
            <a:ext cx="589298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8/img/img29.jpg">    </p:cNvPr>
          <p:cNvPicPr>
            <a:picLocks noChangeAspect="1"/>
          </p:cNvPicPr>
          <p:nvPr/>
        </p:nvPicPr>
        <p:blipFill>
          <a:blip r:embed="rId1"/>
          <a:stretch>
            <a:fillRect/>
          </a:stretch>
        </p:blipFill>
        <p:spPr>
          <a:xfrm>
            <a:off x="5731162" y="1417320"/>
            <a:ext cx="572839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X-linked inheritance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Fertilization unites sperm and egg into a zygote with a full set of chromosomes.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embryo develops through cleavage, implantation, and the three germ layers.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placenta exchanges nutrients, oxygen, and wastes between mother and fetus.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Labor delivers the baby in three stages, and the newborn adjusts to breathing on its own.</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Traits are inherited through chromosomes and genes following predictable patterns.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28 — Development and Inheritance</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Development &amp; Inheritance Matter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Prenatal Care</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Monitoring supports a healthy pregnancy and fetus.</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Labor &amp; Delivery</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Understanding the stages guides safe nursing care.</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Newborn Assessment</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first checks confirm a healthy transition.</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Breastfeeding</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Supports infant nutrition and immunity.</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Genetic Disorders</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Inherited and chromosomal conditions affect care.</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Congenital Conditions</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Some problems arise during development.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2026-06-24T00:29:18Z</dcterms:created>
  <dcterms:modified xsi:type="dcterms:W3CDTF">2026-06-24T00:29:18Z</dcterms:modified>
</cp:coreProperties>
</file>