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nervous system: its central and peripheral divisions and sensory/motor, somatic/autonomic organization; the neurons and glial cells of nervous tissue; the reflex arc; and how neurons signal electrically (action potentials) and chemically (synapses).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nervous system has two anatomical divisions: the central nervous system (CNS) — the brain and spinal cord, which integrate and process information — and the peripheral nervous system (PNS) — the nerves and ganglia that carry signals between the CNS and the rest of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Functionally, the PNS has a sensory (afferent) division bringing information in and a motor (efferent) division carrying commands out. The motor division splits into the somatic nervous system (voluntary control of skeletal muscle) and the autonomic nervous system (involuntary control of organs, glands, smooth and cardiac muscle).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neuron is the signaling cell. Dendrites receive incoming signals, the cell body (soma) houses the nucleus and integrates input, and the single axon conducts the impulse away toward other cells. Many axons are wrapped in a myelin sheath that speeds conduction.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Neurons are classed by the number of processes from the cell body: multipolar (one axon, many dendrites — most neurons), bipolar (one axon and one dendrite — in the retina and olfactory system), and unipolar (a single process — most sensory neurons).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Glial cells outnumber neurons and support them. In the CNS, astrocytes regulate the chemical environment and blood-brain barrier, microglia act as immune cells, ependymal cells line the ventricles and make CSF, and oligodendrocytes form myelin around CNS axons.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PNS, Schwann cells wrap peripheral axons to form myelin (one cell per segment, with nodes of Ranvier between), and satellite cells surround and support neuron cell bodies in ganglia. Schwann cells also help peripheral nerves regenerate after injury — something CNS axons do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reflex arc is the simplest functional circuit: a receptor detects a stimulus, a sensory neuron carries it to the CNS, where it synapses (directly or through an interneuron) onto a motor neuron that triggers an effector. The withdrawal reflex — pulling a hand from something hot — is faster than conscious thought because it is processed in the spinal 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rest, a neuron's inside is about –70 mV relative to the outside, maintained by the sodium-potassium pump and selective ion channels. This stored electrical charge is the "ready" state; a sufficient stimulus changes membrane permeability and can trigger a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stimulus brings the membrane to threshold (about –55 mV), voltage-gated sodium channels open and the cell rapidly depolarizes; then potassium channels open to repolarize it. This all-or-nothing action potential regenerates itself down the axon, and myelin lets it jump node to node for faster conduction.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chemical synapse, the arriving action potential triggers calcium entry, causing vesicles to release neurotransmitter into the synaptic cleft. The neurotransmitter diffuses across and binds receptors on the postsynaptic cell, passing the message on. Most drugs that affect the nervous system act at synapses.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neuron receives thousands of inputs at once. Excitatory signals (EPSPs) depolarize the membrane toward threshold, while inhibitory signals (IPSPs) hyperpolarize it away. The neuron sums these inputs at the axon hillock and fires only if the net effect reaches threshold — this integration is the basis of nervous system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12</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The Nervous System and Nervous Tissue</a:t>
            </a:r>
            <a:endParaRPr lang="en-US" sz="40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Neurons, glia, and how nerve signals are generated and passed.</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4213"/>
            <a:ext cx="4096512" cy="1972454"/>
          </a:xfrm>
          <a:prstGeom prst="roundRect">
            <a:avLst>
              <a:gd name="adj" fmla="val 278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2/img/img01.jpg">    </p:cNvPr>
          <p:cNvPicPr>
            <a:picLocks noChangeAspect="1"/>
          </p:cNvPicPr>
          <p:nvPr/>
        </p:nvPicPr>
        <p:blipFill>
          <a:blip r:embed="rId1"/>
          <a:stretch>
            <a:fillRect/>
          </a:stretch>
        </p:blipFill>
        <p:spPr>
          <a:xfrm>
            <a:off x="7818120" y="2616509"/>
            <a:ext cx="3931920" cy="18078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Name the major divisions of the nervous system, both anatomical and functional</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functional and structural differences between gray matter and white matter structures</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Name the parts of the multipolar neuron in order of polarity</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the types of glial cells and assign each to the proper division of the nervous system, along with their function(s)</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Distinguish the major functions of the nervous system: sensation, integration, and response</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components of the membrane that establish the resting membrane potential</a:t>
            </a:r>
            <a:endParaRPr lang="en-US" sz="1300" dirty="0"/>
          </a:p>
        </p:txBody>
      </p:sp>
      <p:sp>
        <p:nvSpPr>
          <p:cNvPr id="23" name="Shape 21"/>
          <p:cNvSpPr/>
          <p:nvPr/>
        </p:nvSpPr>
        <p:spPr>
          <a:xfrm>
            <a:off x="7415784" y="1747932"/>
            <a:ext cx="4370832" cy="3965640"/>
          </a:xfrm>
          <a:prstGeom prst="roundRect">
            <a:avLst>
              <a:gd name="adj" fmla="val 138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12/img/img02.jpg">    </p:cNvPr>
          <p:cNvPicPr>
            <a:picLocks noChangeAspect="1"/>
          </p:cNvPicPr>
          <p:nvPr/>
        </p:nvPicPr>
        <p:blipFill>
          <a:blip r:embed="rId1"/>
          <a:stretch>
            <a:fillRect/>
          </a:stretch>
        </p:blipFill>
        <p:spPr>
          <a:xfrm>
            <a:off x="7498080" y="1830228"/>
            <a:ext cx="4206240" cy="3801048"/>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nervous system: central and peripheral divisions.</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12.1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Basic Structure and Function of the Nervous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organization of the nervous system into central and peripheral divisions.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Central &amp; Peripheral Nervous Systems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main anatomical divisions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CNS = brain and spinal cord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PNS = nerves and ganglia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CNS integrates, PNS connects</a:t>
            </a:r>
            <a:endParaRPr lang="en-US" sz="1500" dirty="0"/>
          </a:p>
        </p:txBody>
      </p:sp>
      <p:sp>
        <p:nvSpPr>
          <p:cNvPr id="5" name="Shape 3"/>
          <p:cNvSpPr/>
          <p:nvPr/>
        </p:nvSpPr>
        <p:spPr>
          <a:xfrm>
            <a:off x="6033970" y="1335024"/>
            <a:ext cx="512278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2/img/img02.jpg">    </p:cNvPr>
          <p:cNvPicPr>
            <a:picLocks noChangeAspect="1"/>
          </p:cNvPicPr>
          <p:nvPr/>
        </p:nvPicPr>
        <p:blipFill>
          <a:blip r:embed="rId1"/>
          <a:stretch>
            <a:fillRect/>
          </a:stretch>
        </p:blipFill>
        <p:spPr>
          <a:xfrm>
            <a:off x="6116266" y="1417320"/>
            <a:ext cx="495818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central and peripheral nervous systems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Functional Divisions</a:t>
            </a:r>
            <a:endParaRPr lang="en-US" sz="2800" dirty="0"/>
          </a:p>
        </p:txBody>
      </p:sp>
      <p:sp>
        <p:nvSpPr>
          <p:cNvPr id="4" name="Shape 2"/>
          <p:cNvSpPr/>
          <p:nvPr/>
        </p:nvSpPr>
        <p:spPr>
          <a:xfrm>
            <a:off x="2778436" y="1289304"/>
            <a:ext cx="665036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2/img/img06.jpg">    </p:cNvPr>
          <p:cNvPicPr>
            <a:picLocks noChangeAspect="1"/>
          </p:cNvPicPr>
          <p:nvPr/>
        </p:nvPicPr>
        <p:blipFill>
          <a:blip r:embed="rId1"/>
          <a:stretch>
            <a:fillRect/>
          </a:stretch>
        </p:blipFill>
        <p:spPr>
          <a:xfrm>
            <a:off x="2860732" y="1371600"/>
            <a:ext cx="648577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functional divisions of the nervous system</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Sensory (afferent) input to the CNS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Motor (efferent) output from the CNS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Somatic controls voluntary muscle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Autonomic controls involuntary functions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12.2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Nervous Tissue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Neurons and the supporting glial cells that make up nervous tissue.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Neuron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signaling cell of the system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Dendrites receive incoming signals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Cell body (soma) integrates them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Axon carries the signal away</a:t>
            </a:r>
            <a:endParaRPr lang="en-US" sz="1500" dirty="0"/>
          </a:p>
        </p:txBody>
      </p:sp>
      <p:sp>
        <p:nvSpPr>
          <p:cNvPr id="5" name="Shape 3"/>
          <p:cNvSpPr/>
          <p:nvPr/>
        </p:nvSpPr>
        <p:spPr>
          <a:xfrm>
            <a:off x="5404104" y="1495176"/>
            <a:ext cx="6382512" cy="4324849"/>
          </a:xfrm>
          <a:prstGeom prst="roundRect">
            <a:avLst>
              <a:gd name="adj" fmla="val 126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2/img/img07.jpg">    </p:cNvPr>
          <p:cNvPicPr>
            <a:picLocks noChangeAspect="1"/>
          </p:cNvPicPr>
          <p:nvPr/>
        </p:nvPicPr>
        <p:blipFill>
          <a:blip r:embed="rId1"/>
          <a:stretch>
            <a:fillRect/>
          </a:stretch>
        </p:blipFill>
        <p:spPr>
          <a:xfrm>
            <a:off x="5486400" y="1577472"/>
            <a:ext cx="6217920" cy="4160257"/>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neuron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Neurons</a:t>
            </a:r>
            <a:endParaRPr lang="en-US" sz="2800" dirty="0"/>
          </a:p>
        </p:txBody>
      </p:sp>
      <p:sp>
        <p:nvSpPr>
          <p:cNvPr id="4" name="Shape 2"/>
          <p:cNvSpPr/>
          <p:nvPr/>
        </p:nvSpPr>
        <p:spPr>
          <a:xfrm>
            <a:off x="3208159" y="1289304"/>
            <a:ext cx="5790923"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2/img/img08.jpg">    </p:cNvPr>
          <p:cNvPicPr>
            <a:picLocks noChangeAspect="1"/>
          </p:cNvPicPr>
          <p:nvPr/>
        </p:nvPicPr>
        <p:blipFill>
          <a:blip r:embed="rId1"/>
          <a:stretch>
            <a:fillRect/>
          </a:stretch>
        </p:blipFill>
        <p:spPr>
          <a:xfrm>
            <a:off x="3290455" y="1371600"/>
            <a:ext cx="562633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Structural classes of neurons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Classified by shape (processes)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Multipolar — most common (CNS)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Bipolar — in special senses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Unipolar — most sensory neurons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Glial Cells of the CNS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Glia support and protect neurons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Astrocytes maintain the environment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Microglia are immune defenders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Oligodendrocytes myelinate CNS axons</a:t>
            </a:r>
            <a:endParaRPr lang="en-US" sz="1500" dirty="0"/>
          </a:p>
        </p:txBody>
      </p:sp>
      <p:sp>
        <p:nvSpPr>
          <p:cNvPr id="5" name="Shape 3"/>
          <p:cNvSpPr/>
          <p:nvPr/>
        </p:nvSpPr>
        <p:spPr>
          <a:xfrm>
            <a:off x="5611677" y="1335024"/>
            <a:ext cx="596736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2/img/img10.jpg">    </p:cNvPr>
          <p:cNvPicPr>
            <a:picLocks noChangeAspect="1"/>
          </p:cNvPicPr>
          <p:nvPr/>
        </p:nvPicPr>
        <p:blipFill>
          <a:blip r:embed="rId1"/>
          <a:stretch>
            <a:fillRect/>
          </a:stretch>
        </p:blipFill>
        <p:spPr>
          <a:xfrm>
            <a:off x="5693973" y="1417320"/>
            <a:ext cx="580277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glial cells of the CNS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Glial Cells of the PNS</a:t>
            </a:r>
            <a:endParaRPr lang="en-US" sz="2800" dirty="0"/>
          </a:p>
        </p:txBody>
      </p:sp>
      <p:sp>
        <p:nvSpPr>
          <p:cNvPr id="4" name="Shape 2"/>
          <p:cNvSpPr/>
          <p:nvPr/>
        </p:nvSpPr>
        <p:spPr>
          <a:xfrm>
            <a:off x="3169822" y="1289304"/>
            <a:ext cx="586759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2/img/img11.jpg">    </p:cNvPr>
          <p:cNvPicPr>
            <a:picLocks noChangeAspect="1"/>
          </p:cNvPicPr>
          <p:nvPr/>
        </p:nvPicPr>
        <p:blipFill>
          <a:blip r:embed="rId1"/>
          <a:stretch>
            <a:fillRect/>
          </a:stretch>
        </p:blipFill>
        <p:spPr>
          <a:xfrm>
            <a:off x="3252118" y="1371600"/>
            <a:ext cx="570300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Schwann cells and satellite cells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Schwann cells myelinate PNS axons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One Schwann cell per segment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Satellite cells support cell bodies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Aid repair of peripheral nerves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12.3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Function of Nervous Tissue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neurons detect stimuli and carry signals — the reflex arc.</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Reflex Arc</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simplest neural pathway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Receptor → sensory neuron → CNS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Motor neuron → effector response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Produces fast, automatic reflexes</a:t>
            </a:r>
            <a:endParaRPr lang="en-US" sz="1500" dirty="0"/>
          </a:p>
        </p:txBody>
      </p:sp>
      <p:sp>
        <p:nvSpPr>
          <p:cNvPr id="5" name="Shape 3"/>
          <p:cNvSpPr/>
          <p:nvPr/>
        </p:nvSpPr>
        <p:spPr>
          <a:xfrm>
            <a:off x="5611677" y="1335024"/>
            <a:ext cx="596736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2/img/img14.jpg">    </p:cNvPr>
          <p:cNvPicPr>
            <a:picLocks noChangeAspect="1"/>
          </p:cNvPicPr>
          <p:nvPr/>
        </p:nvPicPr>
        <p:blipFill>
          <a:blip r:embed="rId1"/>
          <a:stretch>
            <a:fillRect/>
          </a:stretch>
        </p:blipFill>
        <p:spPr>
          <a:xfrm>
            <a:off x="5693973" y="1417320"/>
            <a:ext cx="580277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withdrawal reflex arc</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12.4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Action Potential</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electrical signal — how neurons generate and conduct impulses.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Resting Membrane Potential</a:t>
            </a:r>
            <a:endParaRPr lang="en-US" sz="2800" dirty="0"/>
          </a:p>
        </p:txBody>
      </p:sp>
      <p:sp>
        <p:nvSpPr>
          <p:cNvPr id="4" name="Shape 2"/>
          <p:cNvSpPr/>
          <p:nvPr/>
        </p:nvSpPr>
        <p:spPr>
          <a:xfrm>
            <a:off x="2333201" y="1289304"/>
            <a:ext cx="754083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2/img/img20.jpg">    </p:cNvPr>
          <p:cNvPicPr>
            <a:picLocks noChangeAspect="1"/>
          </p:cNvPicPr>
          <p:nvPr/>
        </p:nvPicPr>
        <p:blipFill>
          <a:blip r:embed="rId1"/>
          <a:stretch>
            <a:fillRect/>
          </a:stretch>
        </p:blipFill>
        <p:spPr>
          <a:xfrm>
            <a:off x="2415497" y="1371600"/>
            <a:ext cx="737624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Measuring the resting membrane potential</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Neurons are electrically polarized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Inside is negative (about –70 mV)</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Maintained by pumps and channels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Ready to fire when stimulated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Action Potential</a:t>
            </a:r>
            <a:endParaRPr lang="en-US" sz="2800" dirty="0"/>
          </a:p>
        </p:txBody>
      </p:sp>
      <p:sp>
        <p:nvSpPr>
          <p:cNvPr id="4" name="Shape 2"/>
          <p:cNvSpPr/>
          <p:nvPr/>
        </p:nvSpPr>
        <p:spPr>
          <a:xfrm>
            <a:off x="2992049" y="1289304"/>
            <a:ext cx="622314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2/img/img21.jpg">    </p:cNvPr>
          <p:cNvPicPr>
            <a:picLocks noChangeAspect="1"/>
          </p:cNvPicPr>
          <p:nvPr/>
        </p:nvPicPr>
        <p:blipFill>
          <a:blip r:embed="rId1"/>
          <a:stretch>
            <a:fillRect/>
          </a:stretch>
        </p:blipFill>
        <p:spPr>
          <a:xfrm>
            <a:off x="3074345" y="1371600"/>
            <a:ext cx="605854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phases of an action potential</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An all-or-nothing electrical impulse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Threshold triggers depolarization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Sodium in, then potassium out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Self-propagates along the axon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12.5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Communication Between Neurons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neurons pass signals to other cells — the synapse.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Synapse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Neurons communicate at synapses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Impulse triggers neurotransmitter release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Chemical crosses the synaptic cleft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Binds receptors on the next cell</a:t>
            </a:r>
            <a:endParaRPr lang="en-US" sz="1500" dirty="0"/>
          </a:p>
        </p:txBody>
      </p:sp>
      <p:sp>
        <p:nvSpPr>
          <p:cNvPr id="5" name="Shape 3"/>
          <p:cNvSpPr/>
          <p:nvPr/>
        </p:nvSpPr>
        <p:spPr>
          <a:xfrm>
            <a:off x="6092217" y="1335024"/>
            <a:ext cx="500628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2/img/img24.jpg">    </p:cNvPr>
          <p:cNvPicPr>
            <a:picLocks noChangeAspect="1"/>
          </p:cNvPicPr>
          <p:nvPr/>
        </p:nvPicPr>
        <p:blipFill>
          <a:blip r:embed="rId1"/>
          <a:stretch>
            <a:fillRect/>
          </a:stretch>
        </p:blipFill>
        <p:spPr>
          <a:xfrm>
            <a:off x="6174513" y="1417320"/>
            <a:ext cx="484169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Structure of a chemical synapse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Synaptic Integration</a:t>
            </a:r>
            <a:endParaRPr lang="en-US" sz="2800" dirty="0"/>
          </a:p>
        </p:txBody>
      </p:sp>
      <p:sp>
        <p:nvSpPr>
          <p:cNvPr id="4" name="Shape 2"/>
          <p:cNvSpPr/>
          <p:nvPr/>
        </p:nvSpPr>
        <p:spPr>
          <a:xfrm>
            <a:off x="3243999" y="1289304"/>
            <a:ext cx="5719243"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2/img/img23.jpg">    </p:cNvPr>
          <p:cNvPicPr>
            <a:picLocks noChangeAspect="1"/>
          </p:cNvPicPr>
          <p:nvPr/>
        </p:nvPicPr>
        <p:blipFill>
          <a:blip r:embed="rId1"/>
          <a:stretch>
            <a:fillRect/>
          </a:stretch>
        </p:blipFill>
        <p:spPr>
          <a:xfrm>
            <a:off x="3326295" y="1371600"/>
            <a:ext cx="555465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Summation of excitatory and inhibitory signals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Inputs can excite or inhibit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EPSPs push toward firing</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IPSPs push away from firing</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Summation decides the outcome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nervous system divides into the CNS (brain and spinal cord) and the PNS (nerves and ganglia).</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Neurons carry signals; glial cells support, protect, and myelinate them.</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reflex arc is the simplest functional pathway, producing fast automatic responses.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Neurons signal electrically through resting and action potentials.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Neurons communicate at synapses, integrating excitatory and inhibitory input.</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12 — The Nervous System and Nervous Tissue</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Nervous Tissue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Multiple Sclerosis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Loss of CNS myelin slows or blocks nerve signals.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Neuropathy</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Peripheral nerve damage causes numbness, tingling, and weakness.</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Reflex Testing</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Reflexes are a quick window into nervous system function.</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Anesthetics</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Local anesthetics block sodium channels to stop pain signals.</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Synaptic Drugs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Many medications act on neurotransmitters at synapses.</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Nerve Injury</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Peripheral nerves can regenerate; CNS neurons largely cannot.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2026-06-23T20:42:49Z</dcterms:created>
  <dcterms:modified xsi:type="dcterms:W3CDTF">2026-06-23T20:42:49Z</dcterms:modified>
</cp:coreProperties>
</file>