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appendicular skeleton: the 126 bones of the upper and lower limbs plus the pectoral and pelvic girdles that anchor them. Emphasize the mobility-versus-stability contrast between the shoulder and hip and the clinical relevance of common fracture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pectoral (shoulder) girdle is the clavicle and scapula. It anchors the upper limb to the axial skeleton at only one bony joint, trading stability for a wide range of motion. The clavicle is the most commonly fractured bone in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humerus is the long bone of the upper arm. Its rounded head fits the shallow glenoid cavity of the scapula at the shoulder, and its distal end articulates with the radius and ulna at the elbow. Its many landmarks are muscle attachment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forearm has two bones: the ulna (medial, dominant at the elbow) and the radius (lateral, dominant at the wrist). The radius rotates over the ulna during pronation and supination, turning the palm down and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 has 27 bones: eight carpals in the wrist, five metacarpals in the palm, and fourteen phalanges in the fingers and thumb. This arrangement allows the precise, dexterous movements unique to the human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carpal tunnel is a narrow passage on the palm side of the wrist, bounded by carpal bones and the flexor retinaculum, through which the median nerve and finger-flexor tendons pass. Swelling here compresses the nerve, causing carpal tunnel syndrome — numbness, tingling, and thumb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pelvis is formed by the two hip bones joined to the sacrum behind and at the pubic symphysis in front. Unlike the mobile shoulder, it is built for stability — transferring the upper body's weight to the legs and protecting the pelvic organs.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hip bone forms from three bones that fuse during growth — the ilium (the broad upper blade), the ischium (the lower-back part you sit on), and the pubis (the front). They meet at the acetabulum, the deep socket for the head of the femur.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female pelvis is adapted for childbirth — wider and shallower, with a broader pubic angle and larger outlet — while the male pelvis is narrower and heavier. These differences matter in obstetrics and are useful in forensic identification.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femur is the longest and strongest bone in the body. Its head fits the acetabulum at the hip; its distal condyles meet the tibia at the knee. The angled neck is a common fracture site in older adults — a "broken 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lower leg has two bones: the thick tibia (shinbone), which bears the body's weight, and the thin fibula, which adds stability and muscle attachment but bears little weight. Their distal ends form the malleoli — the bony bumps of the ankle.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foot has 26 bones: seven tarsals (including the heel bone, the calcaneus), five metatarsals, and fourteen phalanges. They form arches that support body weight, aid balance, and absorb the shock of walking.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limbs develop from limb buds early in embryonic life, with bones forming by endochondral ossification. Clubfoot (talipes), in which the foot is turned inward and downward, is a common congenital condition that responds well to early treatment such as 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8</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Appendicular Skeleton</a:t>
            </a:r>
            <a:endParaRPr lang="en-US" sz="44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The limbs and the girdles that attach them to the body.</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637313"/>
            <a:ext cx="4096512" cy="1766254"/>
          </a:xfrm>
          <a:prstGeom prst="roundRect">
            <a:avLst>
              <a:gd name="adj" fmla="val 310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08/img/img01.jpg">    </p:cNvPr>
          <p:cNvPicPr>
            <a:picLocks noChangeAspect="1"/>
          </p:cNvPicPr>
          <p:nvPr/>
        </p:nvPicPr>
        <p:blipFill>
          <a:blip r:embed="rId1"/>
          <a:stretch>
            <a:fillRect/>
          </a:stretch>
        </p:blipFill>
        <p:spPr>
          <a:xfrm>
            <a:off x="7818120" y="2719609"/>
            <a:ext cx="3931920" cy="16016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8</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Discuss the bones of the pectoral and pelvic girdles, and describe how these unite the limbs with the axial skeleton</a:t>
            </a:r>
            <a:endParaRPr lang="en-US" sz="1400" dirty="0"/>
          </a:p>
        </p:txBody>
      </p:sp>
      <p:sp>
        <p:nvSpPr>
          <p:cNvPr id="8" name="Shape 6"/>
          <p:cNvSpPr/>
          <p:nvPr/>
        </p:nvSpPr>
        <p:spPr>
          <a:xfrm>
            <a:off x="548640" y="2450592"/>
            <a:ext cx="384048" cy="384048"/>
          </a:xfrm>
          <a:prstGeom prst="ellipse">
            <a:avLst/>
          </a:prstGeom>
          <a:solidFill>
            <a:srgbClr val="0F4C5C"/>
          </a:solidFill>
          <a:ln/>
        </p:spPr>
      </p:sp>
      <p:sp>
        <p:nvSpPr>
          <p:cNvPr id="9" name="Text 7"/>
          <p:cNvSpPr/>
          <p:nvPr/>
        </p:nvSpPr>
        <p:spPr>
          <a:xfrm>
            <a:off x="548640" y="245059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32304"/>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bones of the upper limb, including the bones of the arm, forearm, wrist, and hand</a:t>
            </a:r>
            <a:endParaRPr lang="en-US" sz="1400" dirty="0"/>
          </a:p>
        </p:txBody>
      </p:sp>
      <p:sp>
        <p:nvSpPr>
          <p:cNvPr id="11" name="Shape 9"/>
          <p:cNvSpPr/>
          <p:nvPr/>
        </p:nvSpPr>
        <p:spPr>
          <a:xfrm>
            <a:off x="548640" y="3236976"/>
            <a:ext cx="384048" cy="384048"/>
          </a:xfrm>
          <a:prstGeom prst="ellipse">
            <a:avLst/>
          </a:prstGeom>
          <a:solidFill>
            <a:srgbClr val="0F4C5C"/>
          </a:solidFill>
          <a:ln/>
        </p:spPr>
      </p:sp>
      <p:sp>
        <p:nvSpPr>
          <p:cNvPr id="12" name="Text 10"/>
          <p:cNvSpPr/>
          <p:nvPr/>
        </p:nvSpPr>
        <p:spPr>
          <a:xfrm>
            <a:off x="548640" y="323697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218688"/>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Identify the features of the pelvis and explain how these differ between the adult male and female pelvis</a:t>
            </a:r>
            <a:endParaRPr lang="en-US" sz="1400" dirty="0"/>
          </a:p>
        </p:txBody>
      </p:sp>
      <p:sp>
        <p:nvSpPr>
          <p:cNvPr id="14" name="Shape 12"/>
          <p:cNvSpPr/>
          <p:nvPr/>
        </p:nvSpPr>
        <p:spPr>
          <a:xfrm>
            <a:off x="548640" y="4023360"/>
            <a:ext cx="384048" cy="384048"/>
          </a:xfrm>
          <a:prstGeom prst="ellipse">
            <a:avLst/>
          </a:prstGeom>
          <a:solidFill>
            <a:srgbClr val="0F4C5C"/>
          </a:solidFill>
          <a:ln/>
        </p:spPr>
      </p:sp>
      <p:sp>
        <p:nvSpPr>
          <p:cNvPr id="15" name="Text 13"/>
          <p:cNvSpPr/>
          <p:nvPr/>
        </p:nvSpPr>
        <p:spPr>
          <a:xfrm>
            <a:off x="548640" y="4023360"/>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4005072"/>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bones of the lower limb, including the bones of the thigh, leg, ankle, and foot</a:t>
            </a:r>
            <a:endParaRPr lang="en-US" sz="1400" dirty="0"/>
          </a:p>
        </p:txBody>
      </p:sp>
      <p:sp>
        <p:nvSpPr>
          <p:cNvPr id="17" name="Shape 15"/>
          <p:cNvSpPr/>
          <p:nvPr/>
        </p:nvSpPr>
        <p:spPr>
          <a:xfrm>
            <a:off x="548640" y="4809744"/>
            <a:ext cx="384048" cy="384048"/>
          </a:xfrm>
          <a:prstGeom prst="ellipse">
            <a:avLst/>
          </a:prstGeom>
          <a:solidFill>
            <a:srgbClr val="0F4C5C"/>
          </a:solidFill>
          <a:ln/>
        </p:spPr>
      </p:sp>
      <p:sp>
        <p:nvSpPr>
          <p:cNvPr id="18" name="Text 16"/>
          <p:cNvSpPr/>
          <p:nvPr/>
        </p:nvSpPr>
        <p:spPr>
          <a:xfrm>
            <a:off x="548640" y="4809744"/>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791456"/>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embryonic formation and growth of the limb bones Your skeleton provides the internal supporting structure of the body</a:t>
            </a:r>
            <a:endParaRPr lang="en-US" sz="1400" dirty="0"/>
          </a:p>
        </p:txBody>
      </p:sp>
      <p:sp>
        <p:nvSpPr>
          <p:cNvPr id="20" name="Shape 18"/>
          <p:cNvSpPr/>
          <p:nvPr/>
        </p:nvSpPr>
        <p:spPr>
          <a:xfrm>
            <a:off x="7452168" y="1545336"/>
            <a:ext cx="4298064" cy="4370832"/>
          </a:xfrm>
          <a:prstGeom prst="roundRect">
            <a:avLst>
              <a:gd name="adj" fmla="val 127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1" name="Image 0" descr="/home/claude/all/ch08/img/img02.jpg">    </p:cNvPr>
          <p:cNvPicPr>
            <a:picLocks noChangeAspect="1"/>
          </p:cNvPicPr>
          <p:nvPr/>
        </p:nvPicPr>
        <p:blipFill>
          <a:blip r:embed="rId1"/>
          <a:stretch>
            <a:fillRect/>
          </a:stretch>
        </p:blipFill>
        <p:spPr>
          <a:xfrm>
            <a:off x="7534464" y="1627632"/>
            <a:ext cx="4133472" cy="4206240"/>
          </a:xfrm>
          <a:prstGeom prst="rect">
            <a:avLst/>
          </a:prstGeom>
        </p:spPr>
      </p:pic>
      <p:sp>
        <p:nvSpPr>
          <p:cNvPr id="22" name="Text 19"/>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appendicular skeleton — the limbs and their girdles.</a:t>
            </a:r>
            <a:endParaRPr lang="en-US" sz="1100" dirty="0"/>
          </a:p>
        </p:txBody>
      </p:sp>
      <p:sp>
        <p:nvSpPr>
          <p:cNvPr id="24" name="Text 20"/>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25" name="Text 21"/>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8.1</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Pectoral Girdle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clavicle and scapula that anchor the arm to the body.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8.1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Pectoral Girdle</a:t>
            </a:r>
            <a:endParaRPr lang="en-US" sz="2800" dirty="0"/>
          </a:p>
        </p:txBody>
      </p:sp>
      <p:sp>
        <p:nvSpPr>
          <p:cNvPr id="4" name="Shape 2"/>
          <p:cNvSpPr/>
          <p:nvPr/>
        </p:nvSpPr>
        <p:spPr>
          <a:xfrm>
            <a:off x="911428" y="1289304"/>
            <a:ext cx="3480664" cy="4736592"/>
          </a:xfrm>
          <a:prstGeom prst="roundRect">
            <a:avLst>
              <a:gd name="adj" fmla="val 157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8/img/img03.jpg">    </p:cNvPr>
          <p:cNvPicPr>
            <a:picLocks noChangeAspect="1"/>
          </p:cNvPicPr>
          <p:nvPr/>
        </p:nvPicPr>
        <p:blipFill>
          <a:blip r:embed="rId1"/>
          <a:stretch>
            <a:fillRect/>
          </a:stretch>
        </p:blipFill>
        <p:spPr>
          <a:xfrm>
            <a:off x="993724" y="1371600"/>
            <a:ext cx="331607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pectoral girdle (clavicle and scapula)</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Clavicle and scapula on each side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Attaches the arm to the axial skeleton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Highly mobile but less stable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clavicle is commonly fractured</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8.2</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Bones of the Upper Limb</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humerus, radius, ulna, and the bones of the wrist and hand.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8.2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Humerus</a:t>
            </a:r>
            <a:endParaRPr lang="en-US" sz="2800" dirty="0"/>
          </a:p>
        </p:txBody>
      </p:sp>
      <p:sp>
        <p:nvSpPr>
          <p:cNvPr id="4" name="Shape 2"/>
          <p:cNvSpPr/>
          <p:nvPr/>
        </p:nvSpPr>
        <p:spPr>
          <a:xfrm>
            <a:off x="757809" y="1289304"/>
            <a:ext cx="3787902" cy="4736592"/>
          </a:xfrm>
          <a:prstGeom prst="roundRect">
            <a:avLst>
              <a:gd name="adj" fmla="val 144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8/img/img05.jpg">    </p:cNvPr>
          <p:cNvPicPr>
            <a:picLocks noChangeAspect="1"/>
          </p:cNvPicPr>
          <p:nvPr/>
        </p:nvPicPr>
        <p:blipFill>
          <a:blip r:embed="rId1"/>
          <a:stretch>
            <a:fillRect/>
          </a:stretch>
        </p:blipFill>
        <p:spPr>
          <a:xfrm>
            <a:off x="840105" y="1371600"/>
            <a:ext cx="362331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humerus (arm bone)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single bone of the arm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Head fits the scapula's glenoid cavity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Articulates with radius and ulna</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Many muscle attachment sites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8.2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Radius and Ulna</a:t>
            </a:r>
            <a:endParaRPr lang="en-US" sz="2800" dirty="0"/>
          </a:p>
        </p:txBody>
      </p:sp>
      <p:sp>
        <p:nvSpPr>
          <p:cNvPr id="4" name="Shape 2"/>
          <p:cNvSpPr/>
          <p:nvPr/>
        </p:nvSpPr>
        <p:spPr>
          <a:xfrm>
            <a:off x="880796" y="1289304"/>
            <a:ext cx="3541928" cy="4736592"/>
          </a:xfrm>
          <a:prstGeom prst="roundRect">
            <a:avLst>
              <a:gd name="adj" fmla="val 154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8/img/img06.jpg">    </p:cNvPr>
          <p:cNvPicPr>
            <a:picLocks noChangeAspect="1"/>
          </p:cNvPicPr>
          <p:nvPr/>
        </p:nvPicPr>
        <p:blipFill>
          <a:blip r:embed="rId1"/>
          <a:stretch>
            <a:fillRect/>
          </a:stretch>
        </p:blipFill>
        <p:spPr>
          <a:xfrm>
            <a:off x="963092" y="1371600"/>
            <a:ext cx="337733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radius and ulna (forearm)</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two bones of the forearm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Ulna is medial (little-finger side)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Radius is lateral (thumb side)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They cross during pronation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8.2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Bones of the Hand</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8 carpals form the wrist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5 metacarpals form the palm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14 phalanges form the fingers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Built for fine, precise movement</a:t>
            </a:r>
            <a:endParaRPr lang="en-US" sz="1500" dirty="0"/>
          </a:p>
        </p:txBody>
      </p:sp>
      <p:sp>
        <p:nvSpPr>
          <p:cNvPr id="5" name="Shape 3"/>
          <p:cNvSpPr/>
          <p:nvPr/>
        </p:nvSpPr>
        <p:spPr>
          <a:xfrm>
            <a:off x="5728844" y="1335024"/>
            <a:ext cx="5733032"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8/img/img07.jpg">    </p:cNvPr>
          <p:cNvPicPr>
            <a:picLocks noChangeAspect="1"/>
          </p:cNvPicPr>
          <p:nvPr/>
        </p:nvPicPr>
        <p:blipFill>
          <a:blip r:embed="rId1"/>
          <a:stretch>
            <a:fillRect/>
          </a:stretch>
        </p:blipFill>
        <p:spPr>
          <a:xfrm>
            <a:off x="5811140" y="1417320"/>
            <a:ext cx="556844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bones of the wrist and hand</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8.2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Carpal Tunnel</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passage at the front of the wrist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Formed by carpals + flexor retinaculum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Carries the median nerve and tendons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Compression causes carpal tunnel syndrome</a:t>
            </a:r>
            <a:endParaRPr lang="en-US" sz="1500" dirty="0"/>
          </a:p>
        </p:txBody>
      </p:sp>
      <p:sp>
        <p:nvSpPr>
          <p:cNvPr id="5" name="Shape 3"/>
          <p:cNvSpPr/>
          <p:nvPr/>
        </p:nvSpPr>
        <p:spPr>
          <a:xfrm>
            <a:off x="5404104" y="1401206"/>
            <a:ext cx="6382512" cy="4512788"/>
          </a:xfrm>
          <a:prstGeom prst="roundRect">
            <a:avLst>
              <a:gd name="adj" fmla="val 121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8/img/img09.jpg">    </p:cNvPr>
          <p:cNvPicPr>
            <a:picLocks noChangeAspect="1"/>
          </p:cNvPicPr>
          <p:nvPr/>
        </p:nvPicPr>
        <p:blipFill>
          <a:blip r:embed="rId1"/>
          <a:stretch>
            <a:fillRect/>
          </a:stretch>
        </p:blipFill>
        <p:spPr>
          <a:xfrm>
            <a:off x="5486400" y="1483502"/>
            <a:ext cx="6217920" cy="4348196"/>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carpal tunnel and median nerve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8.3</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Pelvic Girdle and Pelvis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hip bones, the sacrum, and the pelvis they form.</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8.3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Pelvis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Two hip bones + sacrum + coccyx</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Bears the body's weight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Protects the pelvic organs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stable, weight-bearing girdle</a:t>
            </a:r>
            <a:endParaRPr lang="en-US" sz="1500" dirty="0"/>
          </a:p>
        </p:txBody>
      </p:sp>
      <p:sp>
        <p:nvSpPr>
          <p:cNvPr id="5" name="Shape 3"/>
          <p:cNvSpPr/>
          <p:nvPr/>
        </p:nvSpPr>
        <p:spPr>
          <a:xfrm>
            <a:off x="5404104" y="1458637"/>
            <a:ext cx="6382512" cy="4397925"/>
          </a:xfrm>
          <a:prstGeom prst="roundRect">
            <a:avLst>
              <a:gd name="adj" fmla="val 124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8/img/img11.jpg">    </p:cNvPr>
          <p:cNvPicPr>
            <a:picLocks noChangeAspect="1"/>
          </p:cNvPicPr>
          <p:nvPr/>
        </p:nvPicPr>
        <p:blipFill>
          <a:blip r:embed="rId1"/>
          <a:stretch>
            <a:fillRect/>
          </a:stretch>
        </p:blipFill>
        <p:spPr>
          <a:xfrm>
            <a:off x="5486400" y="1540933"/>
            <a:ext cx="6217920" cy="4233333"/>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pelvis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8.3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Hip Bone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Three fused bones: ilium, ischium, pubis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Meet at the acetabulum (hip socket)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Ilium is the broad flaring blade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Many muscle attachments</a:t>
            </a:r>
            <a:endParaRPr lang="en-US" sz="1500" dirty="0"/>
          </a:p>
        </p:txBody>
      </p:sp>
      <p:sp>
        <p:nvSpPr>
          <p:cNvPr id="5" name="Shape 3"/>
          <p:cNvSpPr/>
          <p:nvPr/>
        </p:nvSpPr>
        <p:spPr>
          <a:xfrm>
            <a:off x="5404104" y="1340893"/>
            <a:ext cx="6382512" cy="4633415"/>
          </a:xfrm>
          <a:prstGeom prst="roundRect">
            <a:avLst>
              <a:gd name="adj" fmla="val 1184"/>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8/img/img12.jpg">    </p:cNvPr>
          <p:cNvPicPr>
            <a:picLocks noChangeAspect="1"/>
          </p:cNvPicPr>
          <p:nvPr/>
        </p:nvPicPr>
        <p:blipFill>
          <a:blip r:embed="rId1"/>
          <a:stretch>
            <a:fillRect/>
          </a:stretch>
        </p:blipFill>
        <p:spPr>
          <a:xfrm>
            <a:off x="5486400" y="1423189"/>
            <a:ext cx="6217920" cy="4468823"/>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hip bone (os coxae)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8.3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Male vs. Female Pelvis</a:t>
            </a:r>
            <a:endParaRPr lang="en-US" sz="2800" dirty="0"/>
          </a:p>
        </p:txBody>
      </p:sp>
      <p:sp>
        <p:nvSpPr>
          <p:cNvPr id="4" name="Shape 2"/>
          <p:cNvSpPr/>
          <p:nvPr/>
        </p:nvSpPr>
        <p:spPr>
          <a:xfrm>
            <a:off x="2216410" y="1289304"/>
            <a:ext cx="7774421"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8/img/img14.jpg">    </p:cNvPr>
          <p:cNvPicPr>
            <a:picLocks noChangeAspect="1"/>
          </p:cNvPicPr>
          <p:nvPr/>
        </p:nvPicPr>
        <p:blipFill>
          <a:blip r:embed="rId1"/>
          <a:stretch>
            <a:fillRect/>
          </a:stretch>
        </p:blipFill>
        <p:spPr>
          <a:xfrm>
            <a:off x="2298706" y="1371600"/>
            <a:ext cx="7609829"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Differences between the male and female pelvis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Female pelvis is wider and shallower</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Larger outlet for childbirth</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Male pelvis is narrower and heavier</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Sex differences aid identification</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8.4</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Bones of the Lower Limb</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femur, tibia, fibula, and the bones of the foot.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8.4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Femur</a:t>
            </a:r>
            <a:endParaRPr lang="en-US" sz="2800" dirty="0"/>
          </a:p>
        </p:txBody>
      </p:sp>
      <p:sp>
        <p:nvSpPr>
          <p:cNvPr id="4" name="Shape 2"/>
          <p:cNvSpPr/>
          <p:nvPr/>
        </p:nvSpPr>
        <p:spPr>
          <a:xfrm>
            <a:off x="1108024" y="1289304"/>
            <a:ext cx="3087472" cy="4736592"/>
          </a:xfrm>
          <a:prstGeom prst="roundRect">
            <a:avLst>
              <a:gd name="adj" fmla="val 177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8/img/img15.jpg">    </p:cNvPr>
          <p:cNvPicPr>
            <a:picLocks noChangeAspect="1"/>
          </p:cNvPicPr>
          <p:nvPr/>
        </p:nvPicPr>
        <p:blipFill>
          <a:blip r:embed="rId1"/>
          <a:stretch>
            <a:fillRect/>
          </a:stretch>
        </p:blipFill>
        <p:spPr>
          <a:xfrm>
            <a:off x="1190320" y="1371600"/>
            <a:ext cx="292288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femur (thigh bone)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thigh bone — longest, strongest bone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Head fits into the acetabulum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Meets the tibia at the knee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Bears great mechanical loads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8.4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Tibia and Fibula</a:t>
            </a:r>
            <a:endParaRPr lang="en-US" sz="2800" dirty="0"/>
          </a:p>
        </p:txBody>
      </p:sp>
      <p:sp>
        <p:nvSpPr>
          <p:cNvPr id="4" name="Shape 2"/>
          <p:cNvSpPr/>
          <p:nvPr/>
        </p:nvSpPr>
        <p:spPr>
          <a:xfrm>
            <a:off x="722376" y="1289304"/>
            <a:ext cx="3858768" cy="4736592"/>
          </a:xfrm>
          <a:prstGeom prst="roundRect">
            <a:avLst>
              <a:gd name="adj" fmla="val 142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8/img/img16.jpg">    </p:cNvPr>
          <p:cNvPicPr>
            <a:picLocks noChangeAspect="1"/>
          </p:cNvPicPr>
          <p:nvPr/>
        </p:nvPicPr>
        <p:blipFill>
          <a:blip r:embed="rId1"/>
          <a:stretch>
            <a:fillRect/>
          </a:stretch>
        </p:blipFill>
        <p:spPr>
          <a:xfrm>
            <a:off x="804672" y="1371600"/>
            <a:ext cx="369417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tibia and fibula (lower leg)</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two bones of the lower leg</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Tibia (shinbone) bears the weight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Fibula stabilizes the ankle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They form the malleoli of the ankle</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8.4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Bones of the Foot</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7 tarsals form the ankle and heel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5 metatarsals form the sole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14 phalanges form the toes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Arches support and absorb shock</a:t>
            </a:r>
            <a:endParaRPr lang="en-US" sz="1500" dirty="0"/>
          </a:p>
        </p:txBody>
      </p:sp>
      <p:sp>
        <p:nvSpPr>
          <p:cNvPr id="5" name="Shape 3"/>
          <p:cNvSpPr/>
          <p:nvPr/>
        </p:nvSpPr>
        <p:spPr>
          <a:xfrm>
            <a:off x="5463595" y="1335024"/>
            <a:ext cx="6263530"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8/img/img17.jpg">    </p:cNvPr>
          <p:cNvPicPr>
            <a:picLocks noChangeAspect="1"/>
          </p:cNvPicPr>
          <p:nvPr/>
        </p:nvPicPr>
        <p:blipFill>
          <a:blip r:embed="rId1"/>
          <a:stretch>
            <a:fillRect/>
          </a:stretch>
        </p:blipFill>
        <p:spPr>
          <a:xfrm>
            <a:off x="5545891" y="1417320"/>
            <a:ext cx="6098938"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bones of the foot</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8.5</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Development of the Appendicular Skeleton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limbs form before birth, and common congenital differences.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8.5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Limb Development &amp; Clubfoot</a:t>
            </a:r>
            <a:endParaRPr lang="en-US" sz="2800" dirty="0"/>
          </a:p>
        </p:txBody>
      </p:sp>
      <p:sp>
        <p:nvSpPr>
          <p:cNvPr id="4" name="Shape 2"/>
          <p:cNvSpPr/>
          <p:nvPr/>
        </p:nvSpPr>
        <p:spPr>
          <a:xfrm>
            <a:off x="957148" y="1289304"/>
            <a:ext cx="3389224" cy="4736592"/>
          </a:xfrm>
          <a:prstGeom prst="roundRect">
            <a:avLst>
              <a:gd name="adj" fmla="val 161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8/img/img19.jpg">    </p:cNvPr>
          <p:cNvPicPr>
            <a:picLocks noChangeAspect="1"/>
          </p:cNvPicPr>
          <p:nvPr/>
        </p:nvPicPr>
        <p:blipFill>
          <a:blip r:embed="rId1"/>
          <a:stretch>
            <a:fillRect/>
          </a:stretch>
        </p:blipFill>
        <p:spPr>
          <a:xfrm>
            <a:off x="1039444" y="1371600"/>
            <a:ext cx="322463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Clubfoot, a congenital foot condition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Limbs form early in the embryo</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Bones develop from limb buds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Clubfoot is a common congenital condition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Early treatment improves outcomes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8</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appendicular skeleton is the limbs plus the girdles that attach them.</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mobile pectoral girdle anchors the arm; humerus, radius, ulna, and hand bones complete the upper limb.</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stable pelvic girdle bears weight and differs between the sexes.</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femur, tibia, fibula, and foot bones support the body and enable walking.</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limbs form early in development; congenital conditions like clubfoot are treatable.</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8 — The Appendicular Skeleton</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the Appendicular Skeleton Matters in Practical Nursing</a:t>
            </a:r>
            <a:endParaRPr lang="en-US" sz="26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sp>
      <p:sp>
        <p:nvSpPr>
          <p:cNvPr id="5" name="Text 3"/>
          <p:cNvSpPr/>
          <p:nvPr/>
        </p:nvSpPr>
        <p:spPr>
          <a:xfrm>
            <a:off x="77724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Fracture Sites</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clavicle, wrist, and hip are common fracture locations.</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sp>
      <p:sp>
        <p:nvSpPr>
          <p:cNvPr id="8" name="Text 6"/>
          <p:cNvSpPr/>
          <p:nvPr/>
        </p:nvSpPr>
        <p:spPr>
          <a:xfrm>
            <a:off x="640080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Carpal Tunnel</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Median-nerve compression at the wrist causes numbness and weakness.</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sp>
      <p:sp>
        <p:nvSpPr>
          <p:cNvPr id="11" name="Text 9"/>
          <p:cNvSpPr/>
          <p:nvPr/>
        </p:nvSpPr>
        <p:spPr>
          <a:xfrm>
            <a:off x="77724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Hip Fractures</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Femoral-neck fractures are a major risk in older adults.</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sp>
      <p:sp>
        <p:nvSpPr>
          <p:cNvPr id="14" name="Text 12"/>
          <p:cNvSpPr/>
          <p:nvPr/>
        </p:nvSpPr>
        <p:spPr>
          <a:xfrm>
            <a:off x="640080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Obstetrics</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female pelvis shape is central to childbirth.</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sp>
      <p:sp>
        <p:nvSpPr>
          <p:cNvPr id="17" name="Text 15"/>
          <p:cNvSpPr/>
          <p:nvPr/>
        </p:nvSpPr>
        <p:spPr>
          <a:xfrm>
            <a:off x="77724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Mobility</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Limb bones support transfers, ambulation, and weight-bearing.</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sp>
      <p:sp>
        <p:nvSpPr>
          <p:cNvPr id="20" name="Text 18"/>
          <p:cNvSpPr/>
          <p:nvPr/>
        </p:nvSpPr>
        <p:spPr>
          <a:xfrm>
            <a:off x="640080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Pediatrics</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Congenital limb conditions like clubfoot need early intervention.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2026-06-23T20:31:45Z</dcterms:created>
  <dcterms:modified xsi:type="dcterms:W3CDTF">2026-06-23T20:31:45Z</dcterms:modified>
</cp:coreProperties>
</file>