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four tissue types — epithelial, connective, muscle, and nervous — and how they combine into organs and membranes. End with how tissues respond to injury and change with age, which underlies wound care and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tissue is a group of similar cells working together. The four primary types are epithelial (covers and lines), connective (supports and binds), muscle (produces movement), and nervous (communicates). Organs are built from combinations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Epithelial membranes pair epithelium with connective tissue. Mucous membranes line cavities open to the exterior (respiratory, GI); serous membranes line closed cavities and reduce friction; the cutaneous membrane is the skin; synovial membranes (connective only) line joints.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Epithelial cells are tightly bound. Tight junctions form leak-proof seals (as in the bladder); desmosomes rivet cells against mechanical stress (as in skin); gap junctions let small molecules and signals pass directly between cells (as in cardiac muscle).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Epithelium is named by cell shape — squamous (flat), cuboidal (cube), columnar (tall) — and layering — simple (one layer, for absorption or diffusion) versus stratified (many layers, for protection). Pseudostratified and transitional are special cases. Form follows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Glands derive from epithelium. Exocrine glands release products through ducts in three ways: merocrine (sweat glands, by exocytosis), apocrine (some sweat glands), and holocrine (sebaceous glands, where the whole cell breaks down). Endocrine glands instead release hormones into the blood.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Connective tissue is defined by abundant extracellular matrix — ground substance plus protein fibers (collagen, elastic, reticular) — with relatively few cells. It binds, supports, protects, and stores. It includes loose and dense CT, cartilage, bone, blood, and fat.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Adipose is loose connective tissue specialized for energy storage; it also insulates, cushions, and secretes hormones such as leptin that regulate appetite. Its amount and distribution carry major clinical and metabolic significance.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Dense connective tissue is rich in collagen for strength. Dense regular tissue has parallel fibers and forms tendons and ligaments that resist pull in one direction; dense irregular tissue has woven fibers and forms the dermis and organ capsules, resisting stress from many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Cartilage is a tough, flexible connective tissue with chondrocytes in lacunae. Hyaline cushions joints and forms the fetal skeleton; fibrocartilage absorbs shock (intervertebral discs); elastic cartilage gives flexible shape (the ear). It heals slowly because it lacks a blood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is classified as connective tissue because its cells sit in an extracellular matrix — plasma. Erythrocytes transport oxygen, leukocytes provide immune defense, and platelets enable clotting. Blood links every tissue in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muscle types: skeletal (attached to bone, voluntary, striated), cardiac (heart only, involuntary, striated with intercalated discs), and smooth (in walls of organs and vessels, involuntary, non-striated). Each is specialized for its role — a preview of the muscle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Nervous tissue enables rapid communication. A neuron receives signals through its dendrites, integrates them in the cell body, and sends impulses down its axon to other cells. Glial cells protect, nourish, and insulate neurons — a preview of the nervous-system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injury, inflammation — redness, heat, swelling, pain — brings blood and immune cells to clear debris and fight infection. New granulation tissue forms, and the wound heals by regeneration (same tissue) or fibrosis (scar). This underlies all wound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age, cell division slows, tissues thin, and repair becomes less efficient. When division escapes control, abnormal growths (neoplasms or tumors) form; malignant ones invade nearby tissue and metastasize. Connect this to cancer screening and skin-integrity assessment in older adults.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chapter and reconnect each idea to patient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chapter's concepts to bedside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4</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Tissue Level of Organization</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The four primary tissues, their membranes, and how tissues heal.</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6410"/>
            <a:ext cx="4096512" cy="1968060"/>
          </a:xfrm>
          <a:prstGeom prst="roundRect">
            <a:avLst>
              <a:gd name="adj" fmla="val 27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04/img/img01.jpg">    </p:cNvPr>
          <p:cNvPicPr>
            <a:picLocks noChangeAspect="1"/>
          </p:cNvPicPr>
          <p:nvPr/>
        </p:nvPicPr>
        <p:blipFill>
          <a:blip r:embed="rId1"/>
          <a:stretch>
            <a:fillRect/>
          </a:stretch>
        </p:blipFill>
        <p:spPr>
          <a:xfrm>
            <a:off x="7818120" y="2618706"/>
            <a:ext cx="3931920" cy="1803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Identify the main tissue types and discuss their roles in the human body</a:t>
            </a:r>
            <a:endParaRPr lang="en-US" sz="1400" dirty="0"/>
          </a:p>
        </p:txBody>
      </p:sp>
      <p:sp>
        <p:nvSpPr>
          <p:cNvPr id="8" name="Shape 6"/>
          <p:cNvSpPr/>
          <p:nvPr/>
        </p:nvSpPr>
        <p:spPr>
          <a:xfrm>
            <a:off x="548640" y="2450592"/>
            <a:ext cx="384048" cy="384048"/>
          </a:xfrm>
          <a:prstGeom prst="ellipse">
            <a:avLst/>
          </a:prstGeom>
          <a:solidFill>
            <a:srgbClr val="0F4C5C"/>
          </a:solidFill>
          <a:ln/>
        </p:spPr>
      </p:sp>
      <p:sp>
        <p:nvSpPr>
          <p:cNvPr id="9" name="Text 7"/>
          <p:cNvSpPr/>
          <p:nvPr/>
        </p:nvSpPr>
        <p:spPr>
          <a:xfrm>
            <a:off x="548640" y="24505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32304"/>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Identify the four types of tissue membranes and the characteristics of each that make them functional</a:t>
            </a:r>
            <a:endParaRPr lang="en-US" sz="1400" dirty="0"/>
          </a:p>
        </p:txBody>
      </p:sp>
      <p:sp>
        <p:nvSpPr>
          <p:cNvPr id="11" name="Shape 9"/>
          <p:cNvSpPr/>
          <p:nvPr/>
        </p:nvSpPr>
        <p:spPr>
          <a:xfrm>
            <a:off x="548640" y="3236976"/>
            <a:ext cx="384048" cy="384048"/>
          </a:xfrm>
          <a:prstGeom prst="ellipse">
            <a:avLst/>
          </a:prstGeom>
          <a:solidFill>
            <a:srgbClr val="0F4C5C"/>
          </a:solidFill>
          <a:ln/>
        </p:spPr>
      </p:sp>
      <p:sp>
        <p:nvSpPr>
          <p:cNvPr id="12" name="Text 10"/>
          <p:cNvSpPr/>
          <p:nvPr/>
        </p:nvSpPr>
        <p:spPr>
          <a:xfrm>
            <a:off x="548640" y="323697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218688"/>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Explain the functions of various epithelial tissues and how their forms enable their functions</a:t>
            </a:r>
            <a:endParaRPr lang="en-US" sz="1400" dirty="0"/>
          </a:p>
        </p:txBody>
      </p:sp>
      <p:sp>
        <p:nvSpPr>
          <p:cNvPr id="14" name="Shape 12"/>
          <p:cNvSpPr/>
          <p:nvPr/>
        </p:nvSpPr>
        <p:spPr>
          <a:xfrm>
            <a:off x="548640" y="4023360"/>
            <a:ext cx="384048" cy="384048"/>
          </a:xfrm>
          <a:prstGeom prst="ellipse">
            <a:avLst/>
          </a:prstGeom>
          <a:solidFill>
            <a:srgbClr val="0F4C5C"/>
          </a:solidFill>
          <a:ln/>
        </p:spPr>
      </p:sp>
      <p:sp>
        <p:nvSpPr>
          <p:cNvPr id="15" name="Text 13"/>
          <p:cNvSpPr/>
          <p:nvPr/>
        </p:nvSpPr>
        <p:spPr>
          <a:xfrm>
            <a:off x="548640" y="402336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005072"/>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Explain the functions of various connective tissues and how their forms enable their functions</a:t>
            </a:r>
            <a:endParaRPr lang="en-US" sz="1400" dirty="0"/>
          </a:p>
        </p:txBody>
      </p:sp>
      <p:sp>
        <p:nvSpPr>
          <p:cNvPr id="17" name="Shape 15"/>
          <p:cNvSpPr/>
          <p:nvPr/>
        </p:nvSpPr>
        <p:spPr>
          <a:xfrm>
            <a:off x="548640" y="4809744"/>
            <a:ext cx="384048" cy="384048"/>
          </a:xfrm>
          <a:prstGeom prst="ellipse">
            <a:avLst/>
          </a:prstGeom>
          <a:solidFill>
            <a:srgbClr val="0F4C5C"/>
          </a:solidFill>
          <a:ln/>
        </p:spPr>
      </p:sp>
      <p:sp>
        <p:nvSpPr>
          <p:cNvPr id="18" name="Text 16"/>
          <p:cNvSpPr/>
          <p:nvPr/>
        </p:nvSpPr>
        <p:spPr>
          <a:xfrm>
            <a:off x="548640" y="480974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791456"/>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characteristics of muscle tissue and how these enable function</a:t>
            </a:r>
            <a:endParaRPr lang="en-US" sz="1400" dirty="0"/>
          </a:p>
        </p:txBody>
      </p:sp>
      <p:sp>
        <p:nvSpPr>
          <p:cNvPr id="20" name="Shape 18"/>
          <p:cNvSpPr/>
          <p:nvPr/>
        </p:nvSpPr>
        <p:spPr>
          <a:xfrm>
            <a:off x="7569943" y="1545336"/>
            <a:ext cx="4062515" cy="4370832"/>
          </a:xfrm>
          <a:prstGeom prst="roundRect">
            <a:avLst>
              <a:gd name="adj" fmla="val 135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1" name="Image 0" descr="/home/claude/all/ch04/img/img02.jpg">    </p:cNvPr>
          <p:cNvPicPr>
            <a:picLocks noChangeAspect="1"/>
          </p:cNvPicPr>
          <p:nvPr/>
        </p:nvPicPr>
        <p:blipFill>
          <a:blip r:embed="rId1"/>
          <a:stretch>
            <a:fillRect/>
          </a:stretch>
        </p:blipFill>
        <p:spPr>
          <a:xfrm>
            <a:off x="7652239" y="1627632"/>
            <a:ext cx="3897923" cy="4206240"/>
          </a:xfrm>
          <a:prstGeom prst="rect">
            <a:avLst/>
          </a:prstGeom>
        </p:spPr>
      </p:pic>
      <p:sp>
        <p:nvSpPr>
          <p:cNvPr id="22" name="Text 19"/>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Four primary tissue types build every organ.</a:t>
            </a:r>
            <a:endParaRPr lang="en-US" sz="1100" dirty="0"/>
          </a:p>
        </p:txBody>
      </p:sp>
      <p:sp>
        <p:nvSpPr>
          <p:cNvPr id="24" name="Text 2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25" name="Text 21"/>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4.1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Types of Tissues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four primary tissues and the membranes they form.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Four Tissue Types</a:t>
            </a:r>
            <a:endParaRPr lang="en-US" sz="2800" dirty="0"/>
          </a:p>
        </p:txBody>
      </p:sp>
      <p:sp>
        <p:nvSpPr>
          <p:cNvPr id="4" name="Shape 2"/>
          <p:cNvSpPr/>
          <p:nvPr/>
        </p:nvSpPr>
        <p:spPr>
          <a:xfrm>
            <a:off x="451028" y="1289304"/>
            <a:ext cx="4401464" cy="4736592"/>
          </a:xfrm>
          <a:prstGeom prst="roundRect">
            <a:avLst>
              <a:gd name="adj" fmla="val 124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02.jpg">    </p:cNvPr>
          <p:cNvPicPr>
            <a:picLocks noChangeAspect="1"/>
          </p:cNvPicPr>
          <p:nvPr/>
        </p:nvPicPr>
        <p:blipFill>
          <a:blip r:embed="rId1"/>
          <a:stretch>
            <a:fillRect/>
          </a:stretch>
        </p:blipFill>
        <p:spPr>
          <a:xfrm>
            <a:off x="533324" y="1371600"/>
            <a:ext cx="423687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four primary tissue types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Epithelial, connective, muscle, nervous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Tissue = similar cells + their matrix</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Tissues combine to form organs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Each type has distinct functions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Body Membranes</a:t>
            </a:r>
            <a:endParaRPr lang="en-US" sz="2800" dirty="0"/>
          </a:p>
        </p:txBody>
      </p:sp>
      <p:sp>
        <p:nvSpPr>
          <p:cNvPr id="4" name="Shape 2"/>
          <p:cNvSpPr/>
          <p:nvPr/>
        </p:nvSpPr>
        <p:spPr>
          <a:xfrm>
            <a:off x="1003554" y="1289304"/>
            <a:ext cx="3296412" cy="4736592"/>
          </a:xfrm>
          <a:prstGeom prst="roundRect">
            <a:avLst>
              <a:gd name="adj" fmla="val 1664"/>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04.jpg">    </p:cNvPr>
          <p:cNvPicPr>
            <a:picLocks noChangeAspect="1"/>
          </p:cNvPicPr>
          <p:nvPr/>
        </p:nvPicPr>
        <p:blipFill>
          <a:blip r:embed="rId1"/>
          <a:stretch>
            <a:fillRect/>
          </a:stretch>
        </p:blipFill>
        <p:spPr>
          <a:xfrm>
            <a:off x="1085850" y="1371600"/>
            <a:ext cx="313182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body's epithelial membranes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Membranes line and cover surfaces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Mucous membranes line passages to the outside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Serous membranes line closed cavities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cutaneous membrane is the skin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4.2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Epithelial Tissue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Covering and lining tissue — classified by cell shape and layering.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Cell Junctions</a:t>
            </a:r>
            <a:endParaRPr lang="en-US" sz="2800" dirty="0"/>
          </a:p>
        </p:txBody>
      </p:sp>
      <p:sp>
        <p:nvSpPr>
          <p:cNvPr id="4" name="Shape 2"/>
          <p:cNvSpPr/>
          <p:nvPr/>
        </p:nvSpPr>
        <p:spPr>
          <a:xfrm>
            <a:off x="609905" y="1289304"/>
            <a:ext cx="4083710" cy="4736592"/>
          </a:xfrm>
          <a:prstGeom prst="roundRect">
            <a:avLst>
              <a:gd name="adj" fmla="val 134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05.jpg">    </p:cNvPr>
          <p:cNvPicPr>
            <a:picLocks noChangeAspect="1"/>
          </p:cNvPicPr>
          <p:nvPr/>
        </p:nvPicPr>
        <p:blipFill>
          <a:blip r:embed="rId1"/>
          <a:stretch>
            <a:fillRect/>
          </a:stretch>
        </p:blipFill>
        <p:spPr>
          <a:xfrm>
            <a:off x="692201" y="1371600"/>
            <a:ext cx="391911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Types of cell junctions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Bind epithelial cells together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Tight junctions seal gaps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Desmosomes anchor cells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Gap junctions allow communication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Classifying Epithelium</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Named by cell shape and number of layers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Shapes: squamous, cuboidal, columnar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Simple (one layer) vs. stratified (many)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Structure matches function</a:t>
            </a:r>
            <a:endParaRPr lang="en-US" sz="1500" dirty="0"/>
          </a:p>
        </p:txBody>
      </p:sp>
      <p:sp>
        <p:nvSpPr>
          <p:cNvPr id="5" name="Shape 3"/>
          <p:cNvSpPr/>
          <p:nvPr/>
        </p:nvSpPr>
        <p:spPr>
          <a:xfrm>
            <a:off x="5720779" y="1335024"/>
            <a:ext cx="574916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4/img/img06.jpg">    </p:cNvPr>
          <p:cNvPicPr>
            <a:picLocks noChangeAspect="1"/>
          </p:cNvPicPr>
          <p:nvPr/>
        </p:nvPicPr>
        <p:blipFill>
          <a:blip r:embed="rId1"/>
          <a:stretch>
            <a:fillRect/>
          </a:stretch>
        </p:blipFill>
        <p:spPr>
          <a:xfrm>
            <a:off x="5803075" y="1417320"/>
            <a:ext cx="558457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Classification of epithelial tissues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Modes of Glandular Secretion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Exocrine glands secrete onto surfaces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Merocrine: released by exocytosis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Apocrine: part of the cell pinches off</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Holocrine: the whole cell ruptures</a:t>
            </a:r>
            <a:endParaRPr lang="en-US" sz="1500" dirty="0"/>
          </a:p>
        </p:txBody>
      </p:sp>
      <p:sp>
        <p:nvSpPr>
          <p:cNvPr id="5" name="Shape 3"/>
          <p:cNvSpPr/>
          <p:nvPr/>
        </p:nvSpPr>
        <p:spPr>
          <a:xfrm>
            <a:off x="6311541" y="1335024"/>
            <a:ext cx="4567638" cy="4645152"/>
          </a:xfrm>
          <a:prstGeom prst="roundRect">
            <a:avLst>
              <a:gd name="adj" fmla="val 120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4/img/img11.jpg">    </p:cNvPr>
          <p:cNvPicPr>
            <a:picLocks noChangeAspect="1"/>
          </p:cNvPicPr>
          <p:nvPr/>
        </p:nvPicPr>
        <p:blipFill>
          <a:blip r:embed="rId1"/>
          <a:stretch>
            <a:fillRect/>
          </a:stretch>
        </p:blipFill>
        <p:spPr>
          <a:xfrm>
            <a:off x="6393837" y="1417320"/>
            <a:ext cx="440304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Merocrine, apocrine, and holocrine secretion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4.3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Connective Tissue Supports and Protects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body's most diverse tissue — binding, supporting, and transporting.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Connective Tissue Overview</a:t>
            </a:r>
            <a:endParaRPr lang="en-US" sz="2800" dirty="0"/>
          </a:p>
        </p:txBody>
      </p:sp>
      <p:sp>
        <p:nvSpPr>
          <p:cNvPr id="4" name="Shape 2"/>
          <p:cNvSpPr/>
          <p:nvPr/>
        </p:nvSpPr>
        <p:spPr>
          <a:xfrm>
            <a:off x="557784" y="1381932"/>
            <a:ext cx="11091672" cy="3545495"/>
          </a:xfrm>
          <a:prstGeom prst="roundRect">
            <a:avLst>
              <a:gd name="adj" fmla="val 154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13.jpg">    </p:cNvPr>
          <p:cNvPicPr>
            <a:picLocks noChangeAspect="1"/>
          </p:cNvPicPr>
          <p:nvPr/>
        </p:nvPicPr>
        <p:blipFill>
          <a:blip r:embed="rId1"/>
          <a:stretch>
            <a:fillRect/>
          </a:stretch>
        </p:blipFill>
        <p:spPr>
          <a:xfrm>
            <a:off x="640080" y="1464228"/>
            <a:ext cx="10927080" cy="3380903"/>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Loose connective tissue and its components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Cells scattered in an extracellular matrix</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Matrix = ground substance + fibers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Fibroblasts and immune cells reside here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most abundant, diverse tissue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Adipose Tissue</a:t>
            </a:r>
            <a:endParaRPr lang="en-US" sz="2800" dirty="0"/>
          </a:p>
        </p:txBody>
      </p:sp>
      <p:sp>
        <p:nvSpPr>
          <p:cNvPr id="4" name="Shape 2"/>
          <p:cNvSpPr/>
          <p:nvPr/>
        </p:nvSpPr>
        <p:spPr>
          <a:xfrm>
            <a:off x="1578424" y="1289304"/>
            <a:ext cx="9050393"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14.jpg">    </p:cNvPr>
          <p:cNvPicPr>
            <a:picLocks noChangeAspect="1"/>
          </p:cNvPicPr>
          <p:nvPr/>
        </p:nvPicPr>
        <p:blipFill>
          <a:blip r:embed="rId1"/>
          <a:stretch>
            <a:fillRect/>
          </a:stretch>
        </p:blipFill>
        <p:spPr>
          <a:xfrm>
            <a:off x="1660720" y="1371600"/>
            <a:ext cx="8885801"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Adipose (fat) tissue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Stores energy as fat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Cushions and insulates organs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Cells are filled with lipid droplets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An active endocrine tissue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Dense Connective Tissue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Packed with collagen fibers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Dense regular: tendons and ligaments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Dense irregular: dermis and capsules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Provides tensile strength</a:t>
            </a:r>
            <a:endParaRPr lang="en-US" sz="1500" dirty="0"/>
          </a:p>
        </p:txBody>
      </p:sp>
      <p:sp>
        <p:nvSpPr>
          <p:cNvPr id="5" name="Shape 3"/>
          <p:cNvSpPr/>
          <p:nvPr/>
        </p:nvSpPr>
        <p:spPr>
          <a:xfrm>
            <a:off x="5404104" y="1413602"/>
            <a:ext cx="6382512" cy="4487996"/>
          </a:xfrm>
          <a:prstGeom prst="roundRect">
            <a:avLst>
              <a:gd name="adj" fmla="val 122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4/img/img16.jpg">    </p:cNvPr>
          <p:cNvPicPr>
            <a:picLocks noChangeAspect="1"/>
          </p:cNvPicPr>
          <p:nvPr/>
        </p:nvPicPr>
        <p:blipFill>
          <a:blip r:embed="rId1"/>
          <a:stretch>
            <a:fillRect/>
          </a:stretch>
        </p:blipFill>
        <p:spPr>
          <a:xfrm>
            <a:off x="5486400" y="1495898"/>
            <a:ext cx="6217920" cy="4323404"/>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Dense regular and irregular connective tissue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Cartilage</a:t>
            </a:r>
            <a:endParaRPr lang="en-US" sz="2800" dirty="0"/>
          </a:p>
        </p:txBody>
      </p:sp>
      <p:sp>
        <p:nvSpPr>
          <p:cNvPr id="4" name="Shape 2"/>
          <p:cNvSpPr/>
          <p:nvPr/>
        </p:nvSpPr>
        <p:spPr>
          <a:xfrm>
            <a:off x="638480" y="1289304"/>
            <a:ext cx="4026560" cy="4736592"/>
          </a:xfrm>
          <a:prstGeom prst="roundRect">
            <a:avLst>
              <a:gd name="adj" fmla="val 136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17.jpg">    </p:cNvPr>
          <p:cNvPicPr>
            <a:picLocks noChangeAspect="1"/>
          </p:cNvPicPr>
          <p:nvPr/>
        </p:nvPicPr>
        <p:blipFill>
          <a:blip r:embed="rId1"/>
          <a:stretch>
            <a:fillRect/>
          </a:stretch>
        </p:blipFill>
        <p:spPr>
          <a:xfrm>
            <a:off x="720776" y="1371600"/>
            <a:ext cx="386196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Hyaline, fibrocartilage, and elastic cartilage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Firm but flexible matrix</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Hyaline: joints, nose, trachea</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Fibrocartilage: discs and menisci</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Elastic: ear and epiglottis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Blood</a:t>
            </a:r>
            <a:endParaRPr lang="en-US" sz="2800" dirty="0"/>
          </a:p>
        </p:txBody>
      </p:sp>
      <p:sp>
        <p:nvSpPr>
          <p:cNvPr id="4" name="Shape 2"/>
          <p:cNvSpPr/>
          <p:nvPr/>
        </p:nvSpPr>
        <p:spPr>
          <a:xfrm>
            <a:off x="2645240" y="1289304"/>
            <a:ext cx="6916759"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18.jpg">    </p:cNvPr>
          <p:cNvPicPr>
            <a:picLocks noChangeAspect="1"/>
          </p:cNvPicPr>
          <p:nvPr/>
        </p:nvPicPr>
        <p:blipFill>
          <a:blip r:embed="rId1"/>
          <a:stretch>
            <a:fillRect/>
          </a:stretch>
        </p:blipFill>
        <p:spPr>
          <a:xfrm>
            <a:off x="2727536" y="1371600"/>
            <a:ext cx="6752167"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Blood: erythrocytes and leukocytes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fluid connective tissue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Plasma is the liquid matrix</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Red cells carry oxygen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White cells defend; platelets clot</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4.4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Muscle Tissue and Motion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three muscle types that generate movement.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Three Muscle Tissues</a:t>
            </a:r>
            <a:endParaRPr lang="en-US" sz="2800" dirty="0"/>
          </a:p>
        </p:txBody>
      </p:sp>
      <p:sp>
        <p:nvSpPr>
          <p:cNvPr id="4" name="Shape 2"/>
          <p:cNvSpPr/>
          <p:nvPr/>
        </p:nvSpPr>
        <p:spPr>
          <a:xfrm>
            <a:off x="1210208" y="1289304"/>
            <a:ext cx="2883103" cy="4736592"/>
          </a:xfrm>
          <a:prstGeom prst="roundRect">
            <a:avLst>
              <a:gd name="adj" fmla="val 190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19.jpg">    </p:cNvPr>
          <p:cNvPicPr>
            <a:picLocks noChangeAspect="1"/>
          </p:cNvPicPr>
          <p:nvPr/>
        </p:nvPicPr>
        <p:blipFill>
          <a:blip r:embed="rId1"/>
          <a:stretch>
            <a:fillRect/>
          </a:stretch>
        </p:blipFill>
        <p:spPr>
          <a:xfrm>
            <a:off x="1292504" y="1371600"/>
            <a:ext cx="2718511"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Skeletal, cardiac, and smooth muscle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Skeletal: voluntary, striated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Cardiac: involuntary, striated, branched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Smooth: involuntary, non-striated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All convert energy into movement</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4.5</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Nervous Tissue Mediates Perception and Response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communication tissue — neurons and their supporting cells.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Nervous Tissue</a:t>
            </a:r>
            <a:endParaRPr lang="en-US" sz="2800" dirty="0"/>
          </a:p>
        </p:txBody>
      </p:sp>
      <p:sp>
        <p:nvSpPr>
          <p:cNvPr id="4" name="Shape 2"/>
          <p:cNvSpPr/>
          <p:nvPr/>
        </p:nvSpPr>
        <p:spPr>
          <a:xfrm>
            <a:off x="3277342" y="1289304"/>
            <a:ext cx="5652556"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20.jpg">    </p:cNvPr>
          <p:cNvPicPr>
            <a:picLocks noChangeAspect="1"/>
          </p:cNvPicPr>
          <p:nvPr/>
        </p:nvPicPr>
        <p:blipFill>
          <a:blip r:embed="rId1"/>
          <a:stretch>
            <a:fillRect/>
          </a:stretch>
        </p:blipFill>
        <p:spPr>
          <a:xfrm>
            <a:off x="3359638" y="1371600"/>
            <a:ext cx="5487964"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neuron of nervous tissue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Neurons transmit electrical signals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Cell body, dendrites, and axon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Dendrites receive; axons send</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Glial cells support neurons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4.6</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Tissue Injury and Aging</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tissues respond to damage, repair themselves, and change with age.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Tissue Injury &amp; Repair</a:t>
            </a:r>
            <a:endParaRPr lang="en-US" sz="2800" dirty="0"/>
          </a:p>
        </p:txBody>
      </p:sp>
      <p:sp>
        <p:nvSpPr>
          <p:cNvPr id="4" name="Shape 2"/>
          <p:cNvSpPr/>
          <p:nvPr/>
        </p:nvSpPr>
        <p:spPr>
          <a:xfrm>
            <a:off x="1290634" y="1289304"/>
            <a:ext cx="9625971"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21.jpg">    </p:cNvPr>
          <p:cNvPicPr>
            <a:picLocks noChangeAspect="1"/>
          </p:cNvPicPr>
          <p:nvPr/>
        </p:nvPicPr>
        <p:blipFill>
          <a:blip r:embed="rId1"/>
          <a:stretch>
            <a:fillRect/>
          </a:stretch>
        </p:blipFill>
        <p:spPr>
          <a:xfrm>
            <a:off x="1372930" y="1371600"/>
            <a:ext cx="9461379"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tissue inflammation and repair process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Inflammation is the first response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clot forms and immune cells arrive</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Granulation tissue rebuilds the area</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Healing by regeneration or scarring</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4.6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Tissue Aging &amp; Neoplasia</a:t>
            </a:r>
            <a:endParaRPr lang="en-US" sz="2800" dirty="0"/>
          </a:p>
        </p:txBody>
      </p:sp>
      <p:sp>
        <p:nvSpPr>
          <p:cNvPr id="4" name="Shape 2"/>
          <p:cNvSpPr/>
          <p:nvPr/>
        </p:nvSpPr>
        <p:spPr>
          <a:xfrm>
            <a:off x="1495958" y="1289304"/>
            <a:ext cx="2311603" cy="4736592"/>
          </a:xfrm>
          <a:prstGeom prst="roundRect">
            <a:avLst>
              <a:gd name="adj" fmla="val 237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4/img/img23.jpg">    </p:cNvPr>
          <p:cNvPicPr>
            <a:picLocks noChangeAspect="1"/>
          </p:cNvPicPr>
          <p:nvPr/>
        </p:nvPicPr>
        <p:blipFill>
          <a:blip r:embed="rId1"/>
          <a:stretch>
            <a:fillRect/>
          </a:stretch>
        </p:blipFill>
        <p:spPr>
          <a:xfrm>
            <a:off x="1578254" y="1371600"/>
            <a:ext cx="2147011"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Abnormal cell division and tissue change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Tissues lose efficiency with age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Repair slows and tissues thin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Uncontrolled division → neoplasia</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Malignant tumors invade and spread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Four primary tissues — epithelial, connective, muscle, and nervous — build every organ.</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Epithelium covers and lines, classified by cell shape and layering.</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Connective tissue is the most diverse, defined by its extracellular matrix.</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Muscle generates movement; nervous tissue enables communication.</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Tissues respond to injury through inflammation and repair, and change with age.</a:t>
            </a:r>
            <a:endParaRPr lang="en-US" sz="1550" dirty="0"/>
          </a:p>
        </p:txBody>
      </p:sp>
      <p:sp>
        <p:nvSpPr>
          <p:cNvPr id="15"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4 — The Tissue Level of Organization</a:t>
            </a:r>
            <a:endParaRPr lang="en-US" sz="900" dirty="0"/>
          </a:p>
        </p:txBody>
      </p:sp>
      <p:sp>
        <p:nvSpPr>
          <p:cNvPr id="16"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Tissues Matter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Wound Care</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Inflammation and repair guide every dressing change and healing assessment.</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Skin Integrity</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Epithelial membranes are the body's first barrier against infection.</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Mobility</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three muscle types underlie movement, heartbeat, and organ function.</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Mucous Membranes</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Assessing moist linings reveals hydration status and infection.</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Cancer Awareness</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Uncontrolled cell division produces tumors that invade and spread.</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Aging Patients</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Slower tissue repair raises the risk of pressure injuries and delayed healing.</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2026-06-23T20:04:51Z</dcterms:created>
  <dcterms:modified xsi:type="dcterms:W3CDTF">2026-06-23T20:04:51Z</dcterms:modified>
</cp:coreProperties>
</file>