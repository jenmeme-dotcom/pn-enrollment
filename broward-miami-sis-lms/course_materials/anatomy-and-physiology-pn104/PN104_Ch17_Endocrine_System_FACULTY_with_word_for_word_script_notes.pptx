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f6bd3174ef74d49" /><Relationship Type="http://schemas.openxmlformats.org/officeDocument/2006/relationships/extended-properties" Target="/docProps/app.xml" Id="R568737a2dcf24a6e" /><Relationship Type="http://schemas.openxmlformats.org/officeDocument/2006/relationships/officeDocument" Target="/ppt/presentation.xml" Id="R69c9a4b7544e415d" /></Relationships>
</file>

<file path=ppt/presentation.xml><?xml version="1.0" encoding="utf-8"?>
<p:presentation xmlns:p="http://schemas.openxmlformats.org/presentationml/2006/main">
  <p:sldMasterIdLst>
    <p:sldMasterId xmlns:r="http://schemas.openxmlformats.org/officeDocument/2006/relationships" id="2147483648" r:id="R42c0ff28ac944dd1"/>
  </p:sldMasterIdLst>
  <p:notesMasterIdLst>
    <p:notesMasterId xmlns:r="http://schemas.openxmlformats.org/officeDocument/2006/relationships" r:id="R011930c355c1496c"/>
  </p:notesMasterIdLst>
  <p:sldIdLst>
    <p:sldId xmlns:r="http://schemas.openxmlformats.org/officeDocument/2006/relationships" id="256" r:id="R8bc0bb1dcae94649"/>
    <p:sldId xmlns:r="http://schemas.openxmlformats.org/officeDocument/2006/relationships" id="257" r:id="Re93346443abf45c7"/>
    <p:sldId xmlns:r="http://schemas.openxmlformats.org/officeDocument/2006/relationships" id="258" r:id="Re88fc6347b444dcb"/>
    <p:sldId xmlns:r="http://schemas.openxmlformats.org/officeDocument/2006/relationships" id="259" r:id="Rbb1f4e774de44ccc"/>
    <p:sldId xmlns:r="http://schemas.openxmlformats.org/officeDocument/2006/relationships" id="260" r:id="Ra4e55587e2a546d2"/>
    <p:sldId xmlns:r="http://schemas.openxmlformats.org/officeDocument/2006/relationships" id="261" r:id="R8bc0dbc4fea742db"/>
    <p:sldId xmlns:r="http://schemas.openxmlformats.org/officeDocument/2006/relationships" id="262" r:id="Rb89e8d084d834ac2"/>
    <p:sldId xmlns:r="http://schemas.openxmlformats.org/officeDocument/2006/relationships" id="263" r:id="R3fc25ab421ad4732"/>
    <p:sldId xmlns:r="http://schemas.openxmlformats.org/officeDocument/2006/relationships" id="264" r:id="R426762672a964fa8"/>
    <p:sldId xmlns:r="http://schemas.openxmlformats.org/officeDocument/2006/relationships" id="265" r:id="R33f2dfd8e7eb4848"/>
    <p:sldId xmlns:r="http://schemas.openxmlformats.org/officeDocument/2006/relationships" id="266" r:id="Ra4fa9406fa72444c"/>
    <p:sldId xmlns:r="http://schemas.openxmlformats.org/officeDocument/2006/relationships" id="267" r:id="R8ab0f40e6f4b4db9"/>
    <p:sldId xmlns:r="http://schemas.openxmlformats.org/officeDocument/2006/relationships" id="268" r:id="Ra858d53cabb94817"/>
    <p:sldId xmlns:r="http://schemas.openxmlformats.org/officeDocument/2006/relationships" id="269" r:id="R94a60495774e4193"/>
    <p:sldId xmlns:r="http://schemas.openxmlformats.org/officeDocument/2006/relationships" id="270" r:id="R54a5f7e521ef4a3a"/>
    <p:sldId xmlns:r="http://schemas.openxmlformats.org/officeDocument/2006/relationships" id="271" r:id="R01f739cb67b74763"/>
    <p:sldId xmlns:r="http://schemas.openxmlformats.org/officeDocument/2006/relationships" id="272" r:id="R87ad62e25bf543ee"/>
    <p:sldId xmlns:r="http://schemas.openxmlformats.org/officeDocument/2006/relationships" id="273" r:id="Rf511cef0e8f5468d"/>
    <p:sldId xmlns:r="http://schemas.openxmlformats.org/officeDocument/2006/relationships" id="274" r:id="Rdfe4a0d3941c49e5"/>
    <p:sldId xmlns:r="http://schemas.openxmlformats.org/officeDocument/2006/relationships" id="275" r:id="R9f4f6a49eb2040fd"/>
    <p:sldId xmlns:r="http://schemas.openxmlformats.org/officeDocument/2006/relationships" id="276" r:id="R4ebbd9851b7a41ad"/>
    <p:sldId xmlns:r="http://schemas.openxmlformats.org/officeDocument/2006/relationships" id="277" r:id="R853bfd0acbcd4636"/>
    <p:sldId xmlns:r="http://schemas.openxmlformats.org/officeDocument/2006/relationships" id="278" r:id="R9aa1ccd12c3d4bd9"/>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48ff1e0116b40e2" /><Relationship Type="http://schemas.openxmlformats.org/officeDocument/2006/relationships/slideMaster" Target="/ppt/slideMasters/slideMaster1.xml" Id="R42c0ff28ac944dd1" /><Relationship Type="http://schemas.openxmlformats.org/officeDocument/2006/relationships/notesMaster" Target="/ppt/notesMasters/notesMaster1.xml" Id="R011930c355c1496c" /><Relationship Type="http://schemas.openxmlformats.org/officeDocument/2006/relationships/presProps" Target="/ppt/presProps.xml" Id="R998d33a2d75248dd" /><Relationship Type="http://schemas.openxmlformats.org/officeDocument/2006/relationships/viewProps" Target="/ppt/viewProps.xml" Id="Rc18813c0bdec4157" /><Relationship Type="http://schemas.openxmlformats.org/officeDocument/2006/relationships/tableStyles" Target="/ppt/tableStyles.xml" Id="R89db5184e6864aea" /><Relationship Type="http://schemas.openxmlformats.org/officeDocument/2006/relationships/slide" Target="/ppt/slides/slide1.xml" Id="R8bc0bb1dcae94649" /><Relationship Type="http://schemas.openxmlformats.org/officeDocument/2006/relationships/slide" Target="/ppt/slides/slide2.xml" Id="Re93346443abf45c7" /><Relationship Type="http://schemas.openxmlformats.org/officeDocument/2006/relationships/slide" Target="/ppt/slides/slide3.xml" Id="Re88fc6347b444dcb" /><Relationship Type="http://schemas.openxmlformats.org/officeDocument/2006/relationships/slide" Target="/ppt/slides/slide4.xml" Id="Rbb1f4e774de44ccc" /><Relationship Type="http://schemas.openxmlformats.org/officeDocument/2006/relationships/slide" Target="/ppt/slides/slide5.xml" Id="Ra4e55587e2a546d2" /><Relationship Type="http://schemas.openxmlformats.org/officeDocument/2006/relationships/slide" Target="/ppt/slides/slide6.xml" Id="R8bc0dbc4fea742db" /><Relationship Type="http://schemas.openxmlformats.org/officeDocument/2006/relationships/slide" Target="/ppt/slides/slide7.xml" Id="Rb89e8d084d834ac2" /><Relationship Type="http://schemas.openxmlformats.org/officeDocument/2006/relationships/slide" Target="/ppt/slides/slide8.xml" Id="R3fc25ab421ad4732" /><Relationship Type="http://schemas.openxmlformats.org/officeDocument/2006/relationships/slide" Target="/ppt/slides/slide9.xml" Id="R426762672a964fa8" /><Relationship Type="http://schemas.openxmlformats.org/officeDocument/2006/relationships/slide" Target="/ppt/slides/slide10.xml" Id="R33f2dfd8e7eb4848" /><Relationship Type="http://schemas.openxmlformats.org/officeDocument/2006/relationships/slide" Target="/ppt/slides/slide11.xml" Id="Ra4fa9406fa72444c" /><Relationship Type="http://schemas.openxmlformats.org/officeDocument/2006/relationships/slide" Target="/ppt/slides/slide12.xml" Id="R8ab0f40e6f4b4db9" /><Relationship Type="http://schemas.openxmlformats.org/officeDocument/2006/relationships/slide" Target="/ppt/slides/slide13.xml" Id="Ra858d53cabb94817" /><Relationship Type="http://schemas.openxmlformats.org/officeDocument/2006/relationships/slide" Target="/ppt/slides/slide14.xml" Id="R94a60495774e4193" /><Relationship Type="http://schemas.openxmlformats.org/officeDocument/2006/relationships/slide" Target="/ppt/slides/slide15.xml" Id="R54a5f7e521ef4a3a" /><Relationship Type="http://schemas.openxmlformats.org/officeDocument/2006/relationships/slide" Target="/ppt/slides/slide16.xml" Id="R01f739cb67b74763" /><Relationship Type="http://schemas.openxmlformats.org/officeDocument/2006/relationships/slide" Target="/ppt/slides/slide17.xml" Id="R87ad62e25bf543ee" /><Relationship Type="http://schemas.openxmlformats.org/officeDocument/2006/relationships/slide" Target="/ppt/slides/slide18.xml" Id="Rf511cef0e8f5468d" /><Relationship Type="http://schemas.openxmlformats.org/officeDocument/2006/relationships/slide" Target="/ppt/slides/slide19.xml" Id="Rdfe4a0d3941c49e5" /><Relationship Type="http://schemas.openxmlformats.org/officeDocument/2006/relationships/slide" Target="/ppt/slides/slide20.xml" Id="R9f4f6a49eb2040fd" /><Relationship Type="http://schemas.openxmlformats.org/officeDocument/2006/relationships/slide" Target="/ppt/slides/slide21.xml" Id="R4ebbd9851b7a41ad" /><Relationship Type="http://schemas.openxmlformats.org/officeDocument/2006/relationships/slide" Target="/ppt/slides/slide22.xml" Id="R853bfd0acbcd4636" /><Relationship Type="http://schemas.openxmlformats.org/officeDocument/2006/relationships/slide" Target="/ppt/slides/slide23.xml" Id="R9aa1ccd12c3d4b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f3717680f9452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06248b633b48f9" /><Relationship Type="http://schemas.openxmlformats.org/officeDocument/2006/relationships/notesMaster" Target="/ppt/notesMasters/notesMaster1.xml" Id="R33a238d6dc2343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11b5143f1d24893" /><Relationship Type="http://schemas.openxmlformats.org/officeDocument/2006/relationships/notesMaster" Target="/ppt/notesMasters/notesMaster1.xml" Id="R435579fc217545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e98d3563124816" /><Relationship Type="http://schemas.openxmlformats.org/officeDocument/2006/relationships/notesMaster" Target="/ppt/notesMasters/notesMaster1.xml" Id="R199186e4041649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de3acd9f5b4fe7" /><Relationship Type="http://schemas.openxmlformats.org/officeDocument/2006/relationships/notesMaster" Target="/ppt/notesMasters/notesMaster1.xml" Id="Rf62d034d7a434a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c2706eaceb414a" /><Relationship Type="http://schemas.openxmlformats.org/officeDocument/2006/relationships/notesMaster" Target="/ppt/notesMasters/notesMaster1.xml" Id="Rbfe28964638f442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31736532a074574" /><Relationship Type="http://schemas.openxmlformats.org/officeDocument/2006/relationships/notesMaster" Target="/ppt/notesMasters/notesMaster1.xml" Id="Rd98634b5e5d84f64"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c2e20605bf4006" /><Relationship Type="http://schemas.openxmlformats.org/officeDocument/2006/relationships/notesMaster" Target="/ppt/notesMasters/notesMaster1.xml" Id="Rd9839771200e43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fc78efcb35654da5" /><Relationship Type="http://schemas.openxmlformats.org/officeDocument/2006/relationships/notesMaster" Target="/ppt/notesMasters/notesMaster1.xml" Id="Rf5251c2a115441a7" /></Relationships>
</file>

<file path=ppt/notesSlides/_rels/notesSlide9.xml.rels>&#65279;<?xml version="1.0" encoding="utf-8"?><Relationships xmlns="http://schemas.openxmlformats.org/package/2006/relationships"><Relationship Type="http://schemas.openxmlformats.org/officeDocument/2006/relationships/slide" Target="/ppt/slides/slide9.xml" Id="Rdcc2415fd7784480" /><Relationship Type="http://schemas.openxmlformats.org/officeDocument/2006/relationships/notesMaster" Target="/ppt/notesMasters/notesMaster1.xml" Id="Re3cbbafa77cb4fc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5f4753623a4c22" /><Relationship Type="http://schemas.openxmlformats.org/officeDocument/2006/relationships/notesMaster" Target="/ppt/notesMasters/notesMaster1.xml" Id="R2e48df2c4c214ae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b4370c0b304812" /><Relationship Type="http://schemas.openxmlformats.org/officeDocument/2006/relationships/notesMaster" Target="/ppt/notesMasters/notesMaster1.xml" Id="R9436c4f9fa414c7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77a6baaf5d64267" /><Relationship Type="http://schemas.openxmlformats.org/officeDocument/2006/relationships/notesMaster" Target="/ppt/notesMasters/notesMaster1.xml" Id="Rb9532111ec68495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8b01644cda041ed" /><Relationship Type="http://schemas.openxmlformats.org/officeDocument/2006/relationships/notesMaster" Target="/ppt/notesMasters/notesMaster1.xml" Id="R217a0ef5f9e144d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b2724ff6e024292" /><Relationship Type="http://schemas.openxmlformats.org/officeDocument/2006/relationships/notesMaster" Target="/ppt/notesMasters/notesMaster1.xml" Id="R544d1000a3854d3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ea002f0cbce48a0" /><Relationship Type="http://schemas.openxmlformats.org/officeDocument/2006/relationships/notesMaster" Target="/ppt/notesMasters/notesMaster1.xml" Id="R29cf01086f78449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512f09dc1c749db" /><Relationship Type="http://schemas.openxmlformats.org/officeDocument/2006/relationships/notesMaster" Target="/ppt/notesMasters/notesMaster1.xml" Id="R0513adfbffce4ea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9e862ee980d48e2" /><Relationship Type="http://schemas.openxmlformats.org/officeDocument/2006/relationships/notesMaster" Target="/ppt/notesMasters/notesMaster1.xml" Id="Rb8c304b3835840d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13e14fe72f343ce" /><Relationship Type="http://schemas.openxmlformats.org/officeDocument/2006/relationships/notesMaster" Target="/ppt/notesMasters/notesMaster1.xml" Id="R3f4124c3d7c443e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fbe8bd7c5d34993" /><Relationship Type="http://schemas.openxmlformats.org/officeDocument/2006/relationships/notesMaster" Target="/ppt/notesMasters/notesMaster1.xml" Id="Rd9534413291b433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c743c6a8bd5460a" /><Relationship Type="http://schemas.openxmlformats.org/officeDocument/2006/relationships/notesMaster" Target="/ppt/notesMasters/notesMaster1.xml" Id="Rbadee0e4c111422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82408e860c741ae" /><Relationship Type="http://schemas.openxmlformats.org/officeDocument/2006/relationships/notesMaster" Target="/ppt/notesMasters/notesMaster1.xml" Id="Rb8a543ce0d1c43b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77d7766c9ad435f" /><Relationship Type="http://schemas.openxmlformats.org/officeDocument/2006/relationships/notesMaster" Target="/ppt/notesMasters/notesMaster1.xml" Id="R051da827c9f8467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fcd9ada8f3d489d" /><Relationship Type="http://schemas.openxmlformats.org/officeDocument/2006/relationships/notesMaster" Target="/ppt/notesMasters/notesMaster1.xml" Id="R3ed93101d6ea41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Today we are beginning Chapter 17, the endocrine system. In this chapter, we will connect the names and locations of skeletal structures with their functions and with the observations that matter in practical nursing care. As we move through the slides, focus on how structure supports protection, movement, stability, mineral balance, and patient safety. By the end, you should be able to explain the major concepts in your own words and apply them to a patient-care situation.</a:t>
            </a:r>
          </a:p>
          <a:p xmlns:a="http://schemas.openxmlformats.org/drawingml/2006/main">
            <a:r>
              <a:t/>
            </a:r>
          </a:p>
          <a:p xmlns:a="http://schemas.openxmlformats.org/drawingml/2006/main">
            <a:r>
              <a:t>[Sources]</a:t>
            </a:r>
          </a:p>
          <a:p xmlns:a="http://schemas.openxmlformats.org/drawingml/2006/main">
            <a:r>
              <a:t>- BMHI PN 104 Chapter 17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These are our learning objectives for Chapter 17. By the end of the chapter, you should be able to do the following: Identify the contributions of the endocrine system to homeostasis. Discuss the chemical composition of hormones and the mechanisms of hormone action. Discuss the hormonal regulation of the reproductive system. Explain the role of the pancreatic endocrine cells in the regulation of blood glucose. Identify the hormones released by the heart, kidneys, and other organs with secondary endocrine functions. Do not treat these as isolated facts. Use them as a checklist for what you should be able to identify, explain, and connect to safe practical nursing care.</a:t>
            </a:r>
          </a:p>
          <a:p xmlns:a="http://schemas.openxmlformats.org/drawingml/2006/main">
            <a:r>
              <a:t/>
            </a:r>
          </a:p>
          <a:p xmlns:a="http://schemas.openxmlformats.org/drawingml/2006/main">
            <a:r>
              <a:t>[Sources]</a:t>
            </a:r>
          </a:p>
          <a:p xmlns:a="http://schemas.openxmlformats.org/drawingml/2006/main">
            <a:r>
              <a:t>- BMHI PN 104 Chapter 17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An Overview of the Endocrine System. The endocrine system — chemical control through hormones.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17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The Endocrine Glands. Glands secrete hormones into the blood. Hormones travel to distant targets. Control slow, widespread processes. Work alongside the nervous system. The major endocrine glands. Endocrine disorders often develop gradually, so compare current findings with the patient's baseline and recognize patterns across multiple body systems. Take a moment to identify the structure on the image and explain how its form supports its function. This is slide 4 of 23.</a:t>
            </a:r>
          </a:p>
          <a:p xmlns:a="http://schemas.openxmlformats.org/drawingml/2006/main">
            <a:r>
              <a:t/>
            </a:r>
          </a:p>
          <a:p xmlns:a="http://schemas.openxmlformats.org/drawingml/2006/main">
            <a:r>
              <a:t>[Sources]</a:t>
            </a:r>
          </a:p>
          <a:p xmlns:a="http://schemas.openxmlformats.org/drawingml/2006/main">
            <a:r>
              <a:t>- BMHI PN 104 Chapter 17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Hormones. What hormones are and how they act on target cells.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17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Steroid Hormone Action. Lipid-soluble hormones enter the cell. They pass through the membrane. Bind receptors inside. Switch genes on or off. How a lipid-soluble (steroid) hormone acts. Endocrine disorders often develop gradually, so compare current findings with the patient's baseline and recognize patterns across multiple body systems. Take a moment to identify the structure on the image and explain how its form supports its function. This is slide 6 of 23.</a:t>
            </a:r>
          </a:p>
          <a:p xmlns:a="http://schemas.openxmlformats.org/drawingml/2006/main">
            <a:r>
              <a:t/>
            </a:r>
          </a:p>
          <a:p xmlns:a="http://schemas.openxmlformats.org/drawingml/2006/main">
            <a:r>
              <a:t>[Sources]</a:t>
            </a:r>
          </a:p>
          <a:p xmlns:a="http://schemas.openxmlformats.org/drawingml/2006/main">
            <a:r>
              <a:t>- BMHI PN 104 Chapter 17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Water-Soluble Hormone Action. Water-soluble hormones can't enter the cell. They bind receptors on the surface. Trigger a second messenger (cAMP). Produce rapid responses. How a water-soluble hormone acts. Endocrine disorders often develop gradually, so compare current findings with the patient's baseline and recognize patterns across multiple body systems. Take a moment to identify the structure on the image and explain how its form supports its function. This is slide 7 of 23.</a:t>
            </a:r>
          </a:p>
          <a:p xmlns:a="http://schemas.openxmlformats.org/drawingml/2006/main">
            <a:r>
              <a:t/>
            </a:r>
          </a:p>
          <a:p xmlns:a="http://schemas.openxmlformats.org/drawingml/2006/main">
            <a:r>
              <a:t>[Sources]</a:t>
            </a:r>
          </a:p>
          <a:p xmlns:a="http://schemas.openxmlformats.org/drawingml/2006/main">
            <a:r>
              <a:t>- BMHI PN 104 Chapter 17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Negative Feedback. Most hormones are feedback-controlled. A change triggers a correcting response. The response shuts off the signal. Keeps levels in a stable range. Negative feedback control of hormones. Endocrine disorders often develop gradually, so compare current findings with the patient's baseline and recognize patterns across multiple body systems. Take a moment to identify the structure on the image and explain how its form supports its function. This is slide 8 of 23.</a:t>
            </a:r>
          </a:p>
          <a:p xmlns:a="http://schemas.openxmlformats.org/drawingml/2006/main">
            <a:r>
              <a:t/>
            </a:r>
          </a:p>
          <a:p xmlns:a="http://schemas.openxmlformats.org/drawingml/2006/main">
            <a:r>
              <a:t>[Sources]</a:t>
            </a:r>
          </a:p>
          <a:p xmlns:a="http://schemas.openxmlformats.org/drawingml/2006/main">
            <a:r>
              <a:t>- BMHI PN 104 Chapter 17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The Pituitary Gland and Hypothalamus. The pituitary and hypothalamus — the hormonal command center.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17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The Pituitary Gland. The pituitary gland and hypothalamus. Sits beneath the hypothalamus. Has anterior and posterior lobes. Controlled by the hypothalamus. Often called the "master gland". The hypothalamus and pituitary coordinate many other endocrine glands, which is why one disorder may produce findings in several body systems. Take a moment to identify the structure on the image and explain how its form supports its function. This is slide 10 of 23.</a:t>
            </a:r>
          </a:p>
          <a:p xmlns:a="http://schemas.openxmlformats.org/drawingml/2006/main">
            <a:r>
              <a:t/>
            </a:r>
          </a:p>
          <a:p xmlns:a="http://schemas.openxmlformats.org/drawingml/2006/main">
            <a:r>
              <a:t>[Sources]</a:t>
            </a:r>
          </a:p>
          <a:p xmlns:a="http://schemas.openxmlformats.org/drawingml/2006/main">
            <a:r>
              <a:t>- BMHI PN 104 Chapter 17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Pituitary Hormones. Pituitary hormones and their targets. Anterior lobe makes tropic hormones. Control the thyroid, adrenals, and gonads. Plus growth hormone and prolactin. Posterior releases ADH and oxytocin. Thyroid imbalance may affect energy, temperature tolerance, heart rate, weight, bowel function, skin, and mental status. Take a moment to identify the structure on the image and explain how its form supports its function. This is slide 11 of 23.</a:t>
            </a:r>
          </a:p>
          <a:p xmlns:a="http://schemas.openxmlformats.org/drawingml/2006/main">
            <a:r>
              <a:t/>
            </a:r>
          </a:p>
          <a:p xmlns:a="http://schemas.openxmlformats.org/drawingml/2006/main">
            <a:r>
              <a:t>[Sources]</a:t>
            </a:r>
          </a:p>
          <a:p xmlns:a="http://schemas.openxmlformats.org/drawingml/2006/main">
            <a:r>
              <a:t>- BMHI PN 104 Chapter 17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The Thyroid Gland. The thyroid gland and its role in metabolism.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17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The Thyroid Gland. The thyroid gland. Located in the front of the neck. Wraps around the trachea. Makes thyroid hormone (T3, T4). Requires iodine. Thyroid imbalance may affect energy, temperature tolerance, heart rate, weight, bowel function, skin, and mental status. Take a moment to identify the structure on the image and explain how its form supports its function. This is slide 13 of 23.</a:t>
            </a:r>
          </a:p>
          <a:p xmlns:a="http://schemas.openxmlformats.org/drawingml/2006/main">
            <a:r>
              <a:t/>
            </a:r>
          </a:p>
          <a:p xmlns:a="http://schemas.openxmlformats.org/drawingml/2006/main">
            <a:r>
              <a:t>[Sources]</a:t>
            </a:r>
          </a:p>
          <a:p xmlns:a="http://schemas.openxmlformats.org/drawingml/2006/main">
            <a:r>
              <a:t>- BMHI PN 104 Chapter 17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Thyroid Function &amp; Feedback. TSH from the pituitary drives it. T3 and T4 raise metabolic rate. Feedback keeps levels balanced. Imbalance causes disease. Control of thyroid hormone. Thyroid imbalance may affect energy, temperature tolerance, heart rate, weight, bowel function, skin, and mental status. Take a moment to identify the structure on the image and explain how its form supports its function. This is slide 14 of 23.</a:t>
            </a:r>
          </a:p>
          <a:p xmlns:a="http://schemas.openxmlformats.org/drawingml/2006/main">
            <a:r>
              <a:t/>
            </a:r>
          </a:p>
          <a:p xmlns:a="http://schemas.openxmlformats.org/drawingml/2006/main">
            <a:r>
              <a:t>[Sources]</a:t>
            </a:r>
          </a:p>
          <a:p xmlns:a="http://schemas.openxmlformats.org/drawingml/2006/main">
            <a:r>
              <a:t>- BMHI PN 104 Chapter 17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Goiter. An enlarged thyroid gland. Often from iodine deficiency. Can occur with over- or underactivity. A visible neck swelling. Goiter (enlarged thyroid). Thyroid imbalance may affect energy, temperature tolerance, heart rate, weight, bowel function, skin, and mental status. Take a moment to identify the structure on the image and explain how its form supports its function. This is slide 15 of 23.</a:t>
            </a:r>
          </a:p>
          <a:p xmlns:a="http://schemas.openxmlformats.org/drawingml/2006/main">
            <a:r>
              <a:t/>
            </a:r>
          </a:p>
          <a:p xmlns:a="http://schemas.openxmlformats.org/drawingml/2006/main">
            <a:r>
              <a:t>[Sources]</a:t>
            </a:r>
          </a:p>
          <a:p xmlns:a="http://schemas.openxmlformats.org/drawingml/2006/main">
            <a:r>
              <a:t>- BMHI PN 104 Chapter 17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The Parathyroid Glands. The parathyroid glands and calcium balance.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17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The Parathyroid Glands. The parathyroid glands. Four small glands behind the thyroid. Make parathyroid hormone (PTH). Tiny but essential. Regulate blood calcium. Thyroid imbalance may affect energy, temperature tolerance, heart rate, weight, bowel function, skin, and mental status. Take a moment to identify the structure on the image and explain how its form supports its function. This is slide 17 of 23.</a:t>
            </a:r>
          </a:p>
          <a:p xmlns:a="http://schemas.openxmlformats.org/drawingml/2006/main">
            <a:r>
              <a:t/>
            </a:r>
          </a:p>
          <a:p xmlns:a="http://schemas.openxmlformats.org/drawingml/2006/main">
            <a:r>
              <a:t>[Sources]</a:t>
            </a:r>
          </a:p>
          <a:p xmlns:a="http://schemas.openxmlformats.org/drawingml/2006/main">
            <a:r>
              <a:t>- BMHI PN 104 Chapter 17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Calcium Regulation. Hormonal control of blood calcium. PTH raises blood calcium. Acts on bone, kidney, and intestine. Calcitonin lowers calcium. Balance is tightly controlled. Endocrine disorders often develop gradually, so compare current findings with the patient's baseline and recognize patterns across multiple body systems. Take a moment to identify the structure on the image and explain how its form supports its function. This is slide 18 of 23.</a:t>
            </a:r>
          </a:p>
          <a:p xmlns:a="http://schemas.openxmlformats.org/drawingml/2006/main">
            <a:r>
              <a:t/>
            </a:r>
          </a:p>
          <a:p xmlns:a="http://schemas.openxmlformats.org/drawingml/2006/main">
            <a:r>
              <a:t>[Sources]</a:t>
            </a:r>
          </a:p>
          <a:p xmlns:a="http://schemas.openxmlformats.org/drawingml/2006/main">
            <a:r>
              <a:t>- BMHI PN 104 Chapter 17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We are now moving into The Endocrine Pancreas. The pancreas and the control of blood sugar. As we begin this section, listen for the major structures, their locations, and the functions they perform. Then ask yourself what a change in this area might look like during patient care.</a:t>
            </a:r>
          </a:p>
          <a:p xmlns:a="http://schemas.openxmlformats.org/drawingml/2006/main">
            <a:r>
              <a:t/>
            </a:r>
          </a:p>
          <a:p xmlns:a="http://schemas.openxmlformats.org/drawingml/2006/main">
            <a:r>
              <a:t>[Sources]</a:t>
            </a:r>
          </a:p>
          <a:p xmlns:a="http://schemas.openxmlformats.org/drawingml/2006/main">
            <a:r>
              <a:t>- BMHI PN 104 Chapter 17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The Endocrine Pancreas. The endocrine pancreas and its islets. Islets scattered in the pancreas. Alpha cells make glucagon. Beta cells make insulin. Both regulate blood glucose. Monitor for signs of hypo- or hyperglycemia, verify glucose results, follow medication and meal timing, and report significant changes promptly. Take a moment to identify the structure on the image and explain how its form supports its function. This is slide 20 of 23.</a:t>
            </a:r>
          </a:p>
          <a:p xmlns:a="http://schemas.openxmlformats.org/drawingml/2006/main">
            <a:r>
              <a:t/>
            </a:r>
          </a:p>
          <a:p xmlns:a="http://schemas.openxmlformats.org/drawingml/2006/main">
            <a:r>
              <a:t>[Sources]</a:t>
            </a:r>
          </a:p>
          <a:p xmlns:a="http://schemas.openxmlformats.org/drawingml/2006/main">
            <a:r>
              <a:t>- BMHI PN 104 Chapter 17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Now let's focus on Blood Glucose Regulation. Insulin, glucagon, and blood glucose. Insulin lowers blood glucose. Glucagon raises it. The two oppose to keep balance. Failure causes diabetes. Monitor for signs of hypo- or hyperglycemia, verify glucose results, follow medication and meal timing, and report significant changes promptly. Take a moment to identify the structure on the image and explain how its form supports its function. This is slide 21 of 23.</a:t>
            </a:r>
          </a:p>
          <a:p xmlns:a="http://schemas.openxmlformats.org/drawingml/2006/main">
            <a:r>
              <a:t/>
            </a:r>
          </a:p>
          <a:p xmlns:a="http://schemas.openxmlformats.org/drawingml/2006/main">
            <a:r>
              <a:t>[Sources]</a:t>
            </a:r>
          </a:p>
          <a:p xmlns:a="http://schemas.openxmlformats.org/drawingml/2006/main">
            <a:r>
              <a:t>- BMHI PN 104 Chapter 17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Let us review the major takeaways from Chapter 17. The endocrine system uses hormones in the blood to control slow, widespread body processes. Lipid-soluble hormones act on genes inside the cell; water-soluble ones use surface receptors. Negative feedback keeps most hormone levels in a stable range. The pituitary and hypothalamus direct the thyroid, adrenal glands, and gonads. The thyroid, parathyroids, and pancreas control metabolism, calcium, and blood sugar. Before moving on, pause and explain each point without reading the slide. If any statement is difficult to explain, mark that topic for review before the quiz.</a:t>
            </a:r>
          </a:p>
          <a:p xmlns:a="http://schemas.openxmlformats.org/drawingml/2006/main">
            <a:r>
              <a:t/>
            </a:r>
          </a:p>
          <a:p xmlns:a="http://schemas.openxmlformats.org/drawingml/2006/main">
            <a:r>
              <a:t>[Sources]</a:t>
            </a:r>
          </a:p>
          <a:p xmlns:a="http://schemas.openxmlformats.org/drawingml/2006/main">
            <a:r>
              <a:t>- BMHI PN 104 Chapter 17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ALOUD SCRIPT</a:t>
            </a:r>
          </a:p>
          <a:p xmlns:a="http://schemas.openxmlformats.org/drawingml/2006/main">
            <a:r>
              <a:t/>
            </a:r>
          </a:p>
          <a:p xmlns:a="http://schemas.openxmlformats.org/drawingml/2006/main">
            <a:r>
              <a:t>This final slide connects Chapter 17 to practical nursing. Diabetes Mellitus. Insulin problems disrupt blood sugar — a major focus of nursing care. Thyroid Disorders. Hypo- and hyperthyroidism are common and very treatable. Hormone Feedback. Many endocrine diseases stem from broken feedback loops. Calcium Balance. Parathyroid problems disturb calcium and nerve/muscle function. The Stress Response. Cortisol and the HPA axis shape illness and recovery. Growth &amp; Development. Pituitary hormones affect growth across the lifespan. Your role is to observe carefully, protect safety, follow orders and precautions, document objectively, and report changes through the appropriate chain of command. Use these examples to connect anatomy with the care you will provide.</a:t>
            </a:r>
          </a:p>
          <a:p xmlns:a="http://schemas.openxmlformats.org/drawingml/2006/main">
            <a:r>
              <a:t/>
            </a:r>
          </a:p>
          <a:p xmlns:a="http://schemas.openxmlformats.org/drawingml/2006/main">
            <a:r>
              <a:t>[Sources]</a:t>
            </a:r>
          </a:p>
          <a:p xmlns:a="http://schemas.openxmlformats.org/drawingml/2006/main">
            <a:r>
              <a:t>- BMHI PN 104 Chapter 17 faculty PowerPoint slide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d4fed2030c742b7"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f8981827da4937" /><Relationship Type="http://schemas.openxmlformats.org/officeDocument/2006/relationships/slideLayout" Target="/ppt/slideLayouts/slideLayout1.xml" Id="R4e79ea39bfe84882"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79ea39bfe84882"/>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1ef28dd758415a" /><Relationship Type="http://schemas.openxmlformats.org/officeDocument/2006/relationships/image" Target="/ppt/media/image.jpeg" Id="R5b2dbbe198d941c1" /><Relationship Type="http://schemas.openxmlformats.org/officeDocument/2006/relationships/notesSlide" Target="/ppt/notesSlides/notesSlide1.xml" Id="R2b741eb4709641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c8e1dcb1ea94d59" /><Relationship Type="http://schemas.openxmlformats.org/officeDocument/2006/relationships/image" Target="/ppt/media/image2.jpeg" Id="R0526ba9a95d24e0d" /><Relationship Type="http://schemas.openxmlformats.org/officeDocument/2006/relationships/notesSlide" Target="/ppt/notesSlides/notesSlide2.xml" Id="Reb52084cb34f425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cb47dd2d7d04330" /><Relationship Type="http://schemas.openxmlformats.org/officeDocument/2006/relationships/notesSlide" Target="/ppt/notesSlides/notesSlide3.xml" Id="R9de255726bf246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a339d9e2c724d25" /><Relationship Type="http://schemas.openxmlformats.org/officeDocument/2006/relationships/image" Target="/ppt/media/image3.jpeg" Id="R7997f5b7eb3e4e54" /><Relationship Type="http://schemas.openxmlformats.org/officeDocument/2006/relationships/notesSlide" Target="/ppt/notesSlides/notesSlide4.xml" Id="Ra9fd0f8fd6c44cc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16c315c6ae645c7" /><Relationship Type="http://schemas.openxmlformats.org/officeDocument/2006/relationships/notesSlide" Target="/ppt/notesSlides/notesSlide5.xml" Id="Ra5bfbf8da26e47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64708004af645e5" /><Relationship Type="http://schemas.openxmlformats.org/officeDocument/2006/relationships/image" Target="/ppt/media/image4.jpeg" Id="R85bbd078acce4f05" /><Relationship Type="http://schemas.openxmlformats.org/officeDocument/2006/relationships/notesSlide" Target="/ppt/notesSlides/notesSlide6.xml" Id="R101f58650d1a415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5b4d263356b4ff3" /><Relationship Type="http://schemas.openxmlformats.org/officeDocument/2006/relationships/image" Target="/ppt/media/image5.jpeg" Id="R308bd5b1376d491b" /><Relationship Type="http://schemas.openxmlformats.org/officeDocument/2006/relationships/notesSlide" Target="/ppt/notesSlides/notesSlide7.xml" Id="Rc78952a993434bf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66ea01207384d81" /><Relationship Type="http://schemas.openxmlformats.org/officeDocument/2006/relationships/image" Target="/ppt/media/image6.jpeg" Id="Rae7b20631e1a4fd9" /><Relationship Type="http://schemas.openxmlformats.org/officeDocument/2006/relationships/notesSlide" Target="/ppt/notesSlides/notesSlide8.xml" Id="R3679ac5e38b743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fa5982af42643df" /><Relationship Type="http://schemas.openxmlformats.org/officeDocument/2006/relationships/notesSlide" Target="/ppt/notesSlides/notesSlide9.xml" Id="Rf511891f2f6d457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3ed6ff26aa24fb0" /><Relationship Type="http://schemas.openxmlformats.org/officeDocument/2006/relationships/image" Target="/ppt/media/image7.jpeg" Id="R4640c0f6eb8742f2" /><Relationship Type="http://schemas.openxmlformats.org/officeDocument/2006/relationships/notesSlide" Target="/ppt/notesSlides/notesSlide10.xml" Id="Rf4fccd2844464f1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d95c80460ad4036" /><Relationship Type="http://schemas.openxmlformats.org/officeDocument/2006/relationships/image" Target="/ppt/media/image8.jpeg" Id="R3ae85fcf0dfd4b37" /><Relationship Type="http://schemas.openxmlformats.org/officeDocument/2006/relationships/notesSlide" Target="/ppt/notesSlides/notesSlide11.xml" Id="Rc514dfb98bdc471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aa785f9a3f246c9" /><Relationship Type="http://schemas.openxmlformats.org/officeDocument/2006/relationships/notesSlide" Target="/ppt/notesSlides/notesSlide12.xml" Id="Rbc44a9e9ecef40e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f953eca375a4ece" /><Relationship Type="http://schemas.openxmlformats.org/officeDocument/2006/relationships/image" Target="/ppt/media/image9.jpeg" Id="R567069bd4add4f80" /><Relationship Type="http://schemas.openxmlformats.org/officeDocument/2006/relationships/notesSlide" Target="/ppt/notesSlides/notesSlide13.xml" Id="R943bcc7d7f1a42a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b88c7f76ac647a1" /><Relationship Type="http://schemas.openxmlformats.org/officeDocument/2006/relationships/image" Target="/ppt/media/image10.jpeg" Id="R5c8337ff6b934b7b" /><Relationship Type="http://schemas.openxmlformats.org/officeDocument/2006/relationships/notesSlide" Target="/ppt/notesSlides/notesSlide14.xml" Id="R012bf0617f014e7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c747514bc5c4ca0" /><Relationship Type="http://schemas.openxmlformats.org/officeDocument/2006/relationships/image" Target="/ppt/media/image11.jpeg" Id="Rbd605992a5b04159" /><Relationship Type="http://schemas.openxmlformats.org/officeDocument/2006/relationships/notesSlide" Target="/ppt/notesSlides/notesSlide15.xml" Id="R609ffb9ace624a5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b67c77fb6dd490d" /><Relationship Type="http://schemas.openxmlformats.org/officeDocument/2006/relationships/notesSlide" Target="/ppt/notesSlides/notesSlide16.xml" Id="Re4ffc7bf35024a5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72acc3681754046" /><Relationship Type="http://schemas.openxmlformats.org/officeDocument/2006/relationships/image" Target="/ppt/media/image12.jpeg" Id="Rbbc5228489344862" /><Relationship Type="http://schemas.openxmlformats.org/officeDocument/2006/relationships/notesSlide" Target="/ppt/notesSlides/notesSlide17.xml" Id="R64d9284d1e2f452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529e82c12284713" /><Relationship Type="http://schemas.openxmlformats.org/officeDocument/2006/relationships/image" Target="/ppt/media/image13.jpeg" Id="Rf4cd1179608a44c5" /><Relationship Type="http://schemas.openxmlformats.org/officeDocument/2006/relationships/notesSlide" Target="/ppt/notesSlides/notesSlide18.xml" Id="R316c6c33ad4c489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2a8298893d041ee" /><Relationship Type="http://schemas.openxmlformats.org/officeDocument/2006/relationships/notesSlide" Target="/ppt/notesSlides/notesSlide19.xml" Id="R78b92099e7e544e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27b233b401e47fb" /><Relationship Type="http://schemas.openxmlformats.org/officeDocument/2006/relationships/image" Target="/ppt/media/image14.jpeg" Id="R507457e15dbd410c" /><Relationship Type="http://schemas.openxmlformats.org/officeDocument/2006/relationships/notesSlide" Target="/ppt/notesSlides/notesSlide20.xml" Id="R0cb29709aa66438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c54b594c7cb4a3b" /><Relationship Type="http://schemas.openxmlformats.org/officeDocument/2006/relationships/image" Target="/ppt/media/image15.jpeg" Id="Ra2348a2d320f4914" /><Relationship Type="http://schemas.openxmlformats.org/officeDocument/2006/relationships/notesSlide" Target="/ppt/notesSlides/notesSlide21.xml" Id="Raed797ae8b1044c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7d24b5a1a06c4c6d" /><Relationship Type="http://schemas.openxmlformats.org/officeDocument/2006/relationships/notesSlide" Target="/ppt/notesSlides/notesSlide22.xml" Id="Re7339e29e94b4e7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961c7f94e4e483b" /><Relationship Type="http://schemas.openxmlformats.org/officeDocument/2006/relationships/notesSlide" Target="/ppt/notesSlides/notesSlide23.xml" Id="R8371979513ff4d17" /></Relationships>
</file>

<file path=ppt/slides/slide1.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4DCDB79-F9B6-42B1-921E-AC736F3C6DF2}"/>
              </a:ext>
            </a:extLst>
          </p:cNvPr>
          <p:cNvSpPr>
            <a:spLocks xmlns:a="http://schemas.openxmlformats.org/drawingml/2006/main" noGrp="1"/>
          </p:cNvSpPr>
          <p:nvPr/>
        </p:nvSpPr>
        <p:spPr>
          <a:xfrm xmlns:a="http://schemas.openxmlformats.org/drawingml/2006/main">
            <a:off x="731520" y="1325880"/>
            <a:ext cx="640080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800" b="1">
                <a:solidFill>
                  <a:srgbClr val="E36414"/>
                </a:solidFill>
                <a:latin typeface="Calibri"/>
                <a:ea typeface="Calibri"/>
                <a:cs typeface="Calibri"/>
              </a:rPr>
              <a:t>CHAPTER 17</a:t>
            </a:r>
          </a:p>
        </p:txBody>
      </p:sp>
      <p:sp>
        <p:nvSpPr>
          <p:cNvPr id="3" name="Text 1">
            <a:extLst xmlns:a="http://schemas.openxmlformats.org/drawingml/2006/main">
              <a:ext uri="{FF2B5EF4-FFF2-40B4-BE49-F238E27FC236}">
                <a16:creationId xmlns:a16="http://schemas.microsoft.com/office/drawing/2014/main" id="{743549AA-A6BC-44AB-A346-DB5875250F1B}"/>
              </a:ext>
            </a:extLst>
          </p:cNvPr>
          <p:cNvSpPr>
            <a:spLocks xmlns:a="http://schemas.openxmlformats.org/drawingml/2006/main" noGrp="1"/>
          </p:cNvSpPr>
          <p:nvPr/>
        </p:nvSpPr>
        <p:spPr>
          <a:xfrm xmlns:a="http://schemas.openxmlformats.org/drawingml/2006/main">
            <a:off x="713232" y="1783080"/>
            <a:ext cx="6858000" cy="1920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4400" b="1">
                <a:solidFill>
                  <a:srgbClr val="FFFFFF"/>
                </a:solidFill>
                <a:latin typeface="Georgia"/>
                <a:ea typeface="Georgia"/>
                <a:cs typeface="Georgia"/>
              </a:rPr>
              <a:t>The Endocrine System</a:t>
            </a:r>
          </a:p>
        </p:txBody>
      </p:sp>
      <p:sp>
        <p:nvSpPr>
          <p:cNvPr id="4" name="Text 2">
            <a:extLst xmlns:a="http://schemas.openxmlformats.org/drawingml/2006/main">
              <a:ext uri="{FF2B5EF4-FFF2-40B4-BE49-F238E27FC236}">
                <a16:creationId xmlns:a16="http://schemas.microsoft.com/office/drawing/2014/main" id="{C1954448-7B18-4AA5-9064-4406091227B8}"/>
              </a:ext>
            </a:extLst>
          </p:cNvPr>
          <p:cNvSpPr>
            <a:spLocks xmlns:a="http://schemas.openxmlformats.org/drawingml/2006/main" noGrp="1"/>
          </p:cNvSpPr>
          <p:nvPr/>
        </p:nvSpPr>
        <p:spPr>
          <a:xfrm xmlns:a="http://schemas.openxmlformats.org/drawingml/2006/main">
            <a:off x="749808" y="3886200"/>
            <a:ext cx="640080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600">
                <a:solidFill>
                  <a:srgbClr val="CFE3E7"/>
                </a:solidFill>
                <a:latin typeface="Calibri"/>
                <a:ea typeface="Calibri"/>
                <a:cs typeface="Calibri"/>
              </a:rPr>
              <a:t>Chemical control of the body through hormones.</a:t>
            </a:r>
          </a:p>
        </p:txBody>
      </p:sp>
      <p:sp>
        <p:nvSpPr>
          <p:cNvPr id="5" name="Text 3">
            <a:extLst xmlns:a="http://schemas.openxmlformats.org/drawingml/2006/main">
              <a:ext uri="{FF2B5EF4-FFF2-40B4-BE49-F238E27FC236}">
                <a16:creationId xmlns:a16="http://schemas.microsoft.com/office/drawing/2014/main" id="{F5BA137B-094F-4137-A46D-1D6A784E02D7}"/>
              </a:ext>
            </a:extLst>
          </p:cNvPr>
          <p:cNvSpPr>
            <a:spLocks xmlns:a="http://schemas.openxmlformats.org/drawingml/2006/main" noGrp="1"/>
          </p:cNvSpPr>
          <p:nvPr/>
        </p:nvSpPr>
        <p:spPr>
          <a:xfrm xmlns:a="http://schemas.openxmlformats.org/drawingml/2006/main">
            <a:off x="749808" y="5806440"/>
            <a:ext cx="8229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a:solidFill>
                  <a:srgbClr val="9FC2C9"/>
                </a:solidFill>
                <a:latin typeface="Calibri"/>
                <a:ea typeface="Calibri"/>
                <a:cs typeface="Calibri"/>
              </a:rPr>
              <a:t>Anatomy &amp; Physiology  ·  Broward-Miami Health Institute</a:t>
            </a:r>
          </a:p>
        </p:txBody>
      </p:sp>
      <p:sp>
        <p:nvSpPr>
          <p:cNvPr id="6" name="Text 4">
            <a:extLst xmlns:a="http://schemas.openxmlformats.org/drawingml/2006/main">
              <a:ext uri="{FF2B5EF4-FFF2-40B4-BE49-F238E27FC236}">
                <a16:creationId xmlns:a16="http://schemas.microsoft.com/office/drawing/2014/main" id="{1A0CF083-374F-472E-A2AA-A071B09BF938}"/>
              </a:ext>
            </a:extLst>
          </p:cNvPr>
          <p:cNvSpPr>
            <a:spLocks xmlns:a="http://schemas.openxmlformats.org/drawingml/2006/main" noGrp="1"/>
          </p:cNvSpPr>
          <p:nvPr/>
        </p:nvSpPr>
        <p:spPr>
          <a:xfrm xmlns:a="http://schemas.openxmlformats.org/drawingml/2006/main">
            <a:off x="749808" y="6144768"/>
            <a:ext cx="36576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100" b="1">
                <a:solidFill>
                  <a:srgbClr val="E36414"/>
                </a:solidFill>
                <a:latin typeface="Calibri"/>
                <a:ea typeface="Calibri"/>
                <a:cs typeface="Calibri"/>
              </a:rPr>
              <a:t>FACULTY EDITION</a:t>
            </a:r>
          </a:p>
        </p:txBody>
      </p:sp>
      <p:sp>
        <p:nvSpPr>
          <p:cNvPr id="7" name="Shape 5">
            <a:extLst xmlns:a="http://schemas.openxmlformats.org/drawingml/2006/main">
              <a:ext uri="{FF2B5EF4-FFF2-40B4-BE49-F238E27FC236}">
                <a16:creationId xmlns:a16="http://schemas.microsoft.com/office/drawing/2014/main" id="{FC8C66AA-62AA-4B31-A056-55CDD510F646}"/>
              </a:ext>
            </a:extLst>
          </p:cNvPr>
          <p:cNvSpPr>
            <a:spLocks xmlns:a="http://schemas.openxmlformats.org/drawingml/2006/main" noGrp="1"/>
          </p:cNvSpPr>
          <p:nvPr/>
        </p:nvSpPr>
        <p:spPr>
          <a:xfrm xmlns:a="http://schemas.openxmlformats.org/drawingml/2006/main">
            <a:off x="7735824" y="2536410"/>
            <a:ext cx="4096512" cy="1968060"/>
          </a:xfrm>
          <a:prstGeom xmlns:a="http://schemas.openxmlformats.org/drawingml/2006/main" prst="roundRect">
            <a:avLst>
              <a:gd name="adj" fmla="val 2788"/>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5b2dbbe198d941c1"/>
          <a:stretch xmlns:a="http://schemas.openxmlformats.org/drawingml/2006/main">
            <a:fillRect l="0" t="0" r="0" b="0"/>
          </a:stretch>
        </p:blipFill>
        <p:spPr>
          <a:xfrm xmlns:a="http://schemas.openxmlformats.org/drawingml/2006/main">
            <a:off x="7818120" y="2618706"/>
            <a:ext cx="3931920" cy="1803468"/>
          </a:xfrm>
          <a:prstGeom xmlns:a="http://schemas.openxmlformats.org/drawingml/2006/main" prst="rect">
            <a:avLst/>
          </a:prstGeom>
        </p:spPr>
      </p:pic>
    </p:spTree>
    <p:extLst>
      <p:ext uri="{BB962C8B-B14F-4D97-AF65-F5344CB8AC3E}">
        <p14:creationId xmlns:p14="http://schemas.microsoft.com/office/powerpoint/2010/main" val="11928551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E04125C-781F-4C64-9839-1EE8A724B0EF}"/>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CHAPTER 17</a:t>
            </a:r>
          </a:p>
        </p:txBody>
      </p:sp>
      <p:sp>
        <p:nvSpPr>
          <p:cNvPr id="3" name="Text 1">
            <a:extLst xmlns:a="http://schemas.openxmlformats.org/drawingml/2006/main">
              <a:ext uri="{FF2B5EF4-FFF2-40B4-BE49-F238E27FC236}">
                <a16:creationId xmlns:a16="http://schemas.microsoft.com/office/drawing/2014/main" id="{00B1FD25-957C-415C-8C12-FD2304DFC54F}"/>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Learning Objectives</a:t>
            </a:r>
          </a:p>
        </p:txBody>
      </p:sp>
      <p:sp>
        <p:nvSpPr>
          <p:cNvPr id="4" name="Text 2">
            <a:extLst xmlns:a="http://schemas.openxmlformats.org/drawingml/2006/main">
              <a:ext uri="{FF2B5EF4-FFF2-40B4-BE49-F238E27FC236}">
                <a16:creationId xmlns:a16="http://schemas.microsoft.com/office/drawing/2014/main" id="{E5D1C4B1-E63D-41ED-B135-2B876E90F491}"/>
              </a:ext>
            </a:extLst>
          </p:cNvPr>
          <p:cNvSpPr>
            <a:spLocks xmlns:a="http://schemas.openxmlformats.org/drawingml/2006/main" noGrp="1"/>
          </p:cNvSpPr>
          <p:nvPr/>
        </p:nvSpPr>
        <p:spPr>
          <a:xfrm xmlns:a="http://schemas.openxmlformats.org/drawingml/2006/main">
            <a:off x="548640" y="1371600"/>
            <a:ext cx="82296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i="1">
                <a:solidFill>
                  <a:srgbClr val="5A6B70"/>
                </a:solidFill>
                <a:latin typeface="Calibri"/>
                <a:ea typeface="Calibri"/>
                <a:cs typeface="Calibri"/>
              </a:rPr>
              <a:t>After studying this chapter, students will be able to:</a:t>
            </a:r>
          </a:p>
        </p:txBody>
      </p:sp>
      <p:sp>
        <p:nvSpPr>
          <p:cNvPr id="5" name="Shape 3">
            <a:extLst xmlns:a="http://schemas.openxmlformats.org/drawingml/2006/main">
              <a:ext uri="{FF2B5EF4-FFF2-40B4-BE49-F238E27FC236}">
                <a16:creationId xmlns:a16="http://schemas.microsoft.com/office/drawing/2014/main" id="{544E0852-F84F-4931-BDDB-3B1A0BEF785A}"/>
              </a:ext>
            </a:extLst>
          </p:cNvPr>
          <p:cNvSpPr>
            <a:spLocks xmlns:a="http://schemas.openxmlformats.org/drawingml/2006/main" noGrp="1"/>
          </p:cNvSpPr>
          <p:nvPr/>
        </p:nvSpPr>
        <p:spPr>
          <a:xfrm xmlns:a="http://schemas.openxmlformats.org/drawingml/2006/main">
            <a:off x="548640" y="1664208"/>
            <a:ext cx="384048" cy="384048"/>
          </a:xfrm>
          <a:prstGeom xmlns:a="http://schemas.openxmlformats.org/drawingml/2006/main" prst="ellipse">
            <a:avLst/>
          </a:prstGeom>
          <a:solidFill xmlns:a="http://schemas.openxmlformats.org/drawingml/2006/main">
            <a:srgbClr val="0F4C5C"/>
          </a:solidFill>
        </p:spPr>
      </p:sp>
      <p:sp>
        <p:nvSpPr>
          <p:cNvPr id="6" name="Text 4">
            <a:extLst xmlns:a="http://schemas.openxmlformats.org/drawingml/2006/main">
              <a:ext uri="{FF2B5EF4-FFF2-40B4-BE49-F238E27FC236}">
                <a16:creationId xmlns:a16="http://schemas.microsoft.com/office/drawing/2014/main" id="{B8649D10-AF18-47FB-8E86-98C9912383D5}"/>
              </a:ext>
            </a:extLst>
          </p:cNvPr>
          <p:cNvSpPr>
            <a:spLocks xmlns:a="http://schemas.openxmlformats.org/drawingml/2006/main" noGrp="1"/>
          </p:cNvSpPr>
          <p:nvPr/>
        </p:nvSpPr>
        <p:spPr>
          <a:xfrm xmlns:a="http://schemas.openxmlformats.org/drawingml/2006/main">
            <a:off x="548640" y="166420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1</a:t>
            </a:r>
          </a:p>
        </p:txBody>
      </p:sp>
      <p:sp>
        <p:nvSpPr>
          <p:cNvPr id="7" name="Text 5">
            <a:extLst xmlns:a="http://schemas.openxmlformats.org/drawingml/2006/main">
              <a:ext uri="{FF2B5EF4-FFF2-40B4-BE49-F238E27FC236}">
                <a16:creationId xmlns:a16="http://schemas.microsoft.com/office/drawing/2014/main" id="{F918376E-65F4-4272-B059-082B116B518D}"/>
              </a:ext>
            </a:extLst>
          </p:cNvPr>
          <p:cNvSpPr>
            <a:spLocks xmlns:a="http://schemas.openxmlformats.org/drawingml/2006/main" noGrp="1"/>
          </p:cNvSpPr>
          <p:nvPr/>
        </p:nvSpPr>
        <p:spPr>
          <a:xfrm xmlns:a="http://schemas.openxmlformats.org/drawingml/2006/main">
            <a:off x="1115568" y="164592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Identify the contributions of the endocrine system to homeostasis</a:t>
            </a:r>
          </a:p>
        </p:txBody>
      </p:sp>
      <p:sp>
        <p:nvSpPr>
          <p:cNvPr id="8" name="Shape 6">
            <a:extLst xmlns:a="http://schemas.openxmlformats.org/drawingml/2006/main">
              <a:ext uri="{FF2B5EF4-FFF2-40B4-BE49-F238E27FC236}">
                <a16:creationId xmlns:a16="http://schemas.microsoft.com/office/drawing/2014/main" id="{14FC1235-9E2C-4B1A-9D67-B5AC11A8653B}"/>
              </a:ext>
            </a:extLst>
          </p:cNvPr>
          <p:cNvSpPr>
            <a:spLocks xmlns:a="http://schemas.openxmlformats.org/drawingml/2006/main" noGrp="1"/>
          </p:cNvSpPr>
          <p:nvPr/>
        </p:nvSpPr>
        <p:spPr>
          <a:xfrm xmlns:a="http://schemas.openxmlformats.org/drawingml/2006/main">
            <a:off x="548640" y="2418588"/>
            <a:ext cx="384048" cy="384048"/>
          </a:xfrm>
          <a:prstGeom xmlns:a="http://schemas.openxmlformats.org/drawingml/2006/main" prst="ellipse">
            <a:avLst/>
          </a:prstGeom>
          <a:solidFill xmlns:a="http://schemas.openxmlformats.org/drawingml/2006/main">
            <a:srgbClr val="0F4C5C"/>
          </a:solidFill>
        </p:spPr>
      </p:sp>
      <p:sp>
        <p:nvSpPr>
          <p:cNvPr id="9" name="Text 7">
            <a:extLst xmlns:a="http://schemas.openxmlformats.org/drawingml/2006/main">
              <a:ext uri="{FF2B5EF4-FFF2-40B4-BE49-F238E27FC236}">
                <a16:creationId xmlns:a16="http://schemas.microsoft.com/office/drawing/2014/main" id="{EEC822EC-6F0B-49B6-9057-6E697B0934FA}"/>
              </a:ext>
            </a:extLst>
          </p:cNvPr>
          <p:cNvSpPr>
            <a:spLocks xmlns:a="http://schemas.openxmlformats.org/drawingml/2006/main" noGrp="1"/>
          </p:cNvSpPr>
          <p:nvPr/>
        </p:nvSpPr>
        <p:spPr>
          <a:xfrm xmlns:a="http://schemas.openxmlformats.org/drawingml/2006/main">
            <a:off x="548640" y="241858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2</a:t>
            </a:r>
          </a:p>
        </p:txBody>
      </p:sp>
      <p:sp>
        <p:nvSpPr>
          <p:cNvPr id="10" name="Text 8">
            <a:extLst xmlns:a="http://schemas.openxmlformats.org/drawingml/2006/main">
              <a:ext uri="{FF2B5EF4-FFF2-40B4-BE49-F238E27FC236}">
                <a16:creationId xmlns:a16="http://schemas.microsoft.com/office/drawing/2014/main" id="{C4B72E7D-77EB-44F6-AC5E-4F14397D21E9}"/>
              </a:ext>
            </a:extLst>
          </p:cNvPr>
          <p:cNvSpPr>
            <a:spLocks xmlns:a="http://schemas.openxmlformats.org/drawingml/2006/main" noGrp="1"/>
          </p:cNvSpPr>
          <p:nvPr/>
        </p:nvSpPr>
        <p:spPr>
          <a:xfrm xmlns:a="http://schemas.openxmlformats.org/drawingml/2006/main">
            <a:off x="1115568" y="240030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Discuss the chemical composition of hormones and the mechanisms of hormone action</a:t>
            </a:r>
          </a:p>
        </p:txBody>
      </p:sp>
      <p:sp>
        <p:nvSpPr>
          <p:cNvPr id="11" name="Shape 9">
            <a:extLst xmlns:a="http://schemas.openxmlformats.org/drawingml/2006/main">
              <a:ext uri="{FF2B5EF4-FFF2-40B4-BE49-F238E27FC236}">
                <a16:creationId xmlns:a16="http://schemas.microsoft.com/office/drawing/2014/main" id="{729A7A96-48CD-425F-8116-AC3C92F38CA4}"/>
              </a:ext>
            </a:extLst>
          </p:cNvPr>
          <p:cNvSpPr>
            <a:spLocks xmlns:a="http://schemas.openxmlformats.org/drawingml/2006/main" noGrp="1"/>
          </p:cNvSpPr>
          <p:nvPr/>
        </p:nvSpPr>
        <p:spPr>
          <a:xfrm xmlns:a="http://schemas.openxmlformats.org/drawingml/2006/main">
            <a:off x="548640" y="3172968"/>
            <a:ext cx="384048" cy="384048"/>
          </a:xfrm>
          <a:prstGeom xmlns:a="http://schemas.openxmlformats.org/drawingml/2006/main" prst="ellipse">
            <a:avLst/>
          </a:prstGeom>
          <a:solidFill xmlns:a="http://schemas.openxmlformats.org/drawingml/2006/main">
            <a:srgbClr val="0F4C5C"/>
          </a:solidFill>
        </p:spPr>
      </p:sp>
      <p:sp>
        <p:nvSpPr>
          <p:cNvPr id="12" name="Text 10">
            <a:extLst xmlns:a="http://schemas.openxmlformats.org/drawingml/2006/main">
              <a:ext uri="{FF2B5EF4-FFF2-40B4-BE49-F238E27FC236}">
                <a16:creationId xmlns:a16="http://schemas.microsoft.com/office/drawing/2014/main" id="{227A292C-1A0F-484B-B588-8872AA2CA6B1}"/>
              </a:ext>
            </a:extLst>
          </p:cNvPr>
          <p:cNvSpPr>
            <a:spLocks xmlns:a="http://schemas.openxmlformats.org/drawingml/2006/main" noGrp="1"/>
          </p:cNvSpPr>
          <p:nvPr/>
        </p:nvSpPr>
        <p:spPr>
          <a:xfrm xmlns:a="http://schemas.openxmlformats.org/drawingml/2006/main">
            <a:off x="548640" y="317296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3</a:t>
            </a:r>
          </a:p>
        </p:txBody>
      </p:sp>
      <p:sp>
        <p:nvSpPr>
          <p:cNvPr id="13" name="Text 11">
            <a:extLst xmlns:a="http://schemas.openxmlformats.org/drawingml/2006/main">
              <a:ext uri="{FF2B5EF4-FFF2-40B4-BE49-F238E27FC236}">
                <a16:creationId xmlns:a16="http://schemas.microsoft.com/office/drawing/2014/main" id="{104E3566-2B49-4844-A220-C371FB8C2E21}"/>
              </a:ext>
            </a:extLst>
          </p:cNvPr>
          <p:cNvSpPr>
            <a:spLocks xmlns:a="http://schemas.openxmlformats.org/drawingml/2006/main" noGrp="1"/>
          </p:cNvSpPr>
          <p:nvPr/>
        </p:nvSpPr>
        <p:spPr>
          <a:xfrm xmlns:a="http://schemas.openxmlformats.org/drawingml/2006/main">
            <a:off x="1115568" y="315468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Discuss the hormonal regulation of the reproductive system</a:t>
            </a:r>
          </a:p>
        </p:txBody>
      </p:sp>
      <p:sp>
        <p:nvSpPr>
          <p:cNvPr id="14" name="Shape 12">
            <a:extLst xmlns:a="http://schemas.openxmlformats.org/drawingml/2006/main">
              <a:ext uri="{FF2B5EF4-FFF2-40B4-BE49-F238E27FC236}">
                <a16:creationId xmlns:a16="http://schemas.microsoft.com/office/drawing/2014/main" id="{B22EAD93-47A4-483C-9007-DB46573178E4}"/>
              </a:ext>
            </a:extLst>
          </p:cNvPr>
          <p:cNvSpPr>
            <a:spLocks xmlns:a="http://schemas.openxmlformats.org/drawingml/2006/main" noGrp="1"/>
          </p:cNvSpPr>
          <p:nvPr/>
        </p:nvSpPr>
        <p:spPr>
          <a:xfrm xmlns:a="http://schemas.openxmlformats.org/drawingml/2006/main">
            <a:off x="548640" y="3927348"/>
            <a:ext cx="384048" cy="384048"/>
          </a:xfrm>
          <a:prstGeom xmlns:a="http://schemas.openxmlformats.org/drawingml/2006/main" prst="ellipse">
            <a:avLst/>
          </a:prstGeom>
          <a:solidFill xmlns:a="http://schemas.openxmlformats.org/drawingml/2006/main">
            <a:srgbClr val="0F4C5C"/>
          </a:solidFill>
        </p:spPr>
      </p:sp>
      <p:sp>
        <p:nvSpPr>
          <p:cNvPr id="15" name="Text 13">
            <a:extLst xmlns:a="http://schemas.openxmlformats.org/drawingml/2006/main">
              <a:ext uri="{FF2B5EF4-FFF2-40B4-BE49-F238E27FC236}">
                <a16:creationId xmlns:a16="http://schemas.microsoft.com/office/drawing/2014/main" id="{5AB71FDC-33C5-4B3E-BE44-A69B693E2007}"/>
              </a:ext>
            </a:extLst>
          </p:cNvPr>
          <p:cNvSpPr>
            <a:spLocks xmlns:a="http://schemas.openxmlformats.org/drawingml/2006/main" noGrp="1"/>
          </p:cNvSpPr>
          <p:nvPr/>
        </p:nvSpPr>
        <p:spPr>
          <a:xfrm xmlns:a="http://schemas.openxmlformats.org/drawingml/2006/main">
            <a:off x="548640" y="392734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4</a:t>
            </a:r>
          </a:p>
        </p:txBody>
      </p:sp>
      <p:sp>
        <p:nvSpPr>
          <p:cNvPr id="16" name="Text 14">
            <a:extLst xmlns:a="http://schemas.openxmlformats.org/drawingml/2006/main">
              <a:ext uri="{FF2B5EF4-FFF2-40B4-BE49-F238E27FC236}">
                <a16:creationId xmlns:a16="http://schemas.microsoft.com/office/drawing/2014/main" id="{C7A83E58-306C-48C0-B7FB-F6C3876E5105}"/>
              </a:ext>
            </a:extLst>
          </p:cNvPr>
          <p:cNvSpPr>
            <a:spLocks xmlns:a="http://schemas.openxmlformats.org/drawingml/2006/main" noGrp="1"/>
          </p:cNvSpPr>
          <p:nvPr/>
        </p:nvSpPr>
        <p:spPr>
          <a:xfrm xmlns:a="http://schemas.openxmlformats.org/drawingml/2006/main">
            <a:off x="1115568" y="390906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Explain the role of the pancreatic endocrine cells in the regulation of blood glucose</a:t>
            </a:r>
          </a:p>
        </p:txBody>
      </p:sp>
      <p:sp>
        <p:nvSpPr>
          <p:cNvPr id="17" name="Shape 15">
            <a:extLst xmlns:a="http://schemas.openxmlformats.org/drawingml/2006/main">
              <a:ext uri="{FF2B5EF4-FFF2-40B4-BE49-F238E27FC236}">
                <a16:creationId xmlns:a16="http://schemas.microsoft.com/office/drawing/2014/main" id="{F412D1CF-A3C8-42DE-B81D-417D78C3A824}"/>
              </a:ext>
            </a:extLst>
          </p:cNvPr>
          <p:cNvSpPr>
            <a:spLocks xmlns:a="http://schemas.openxmlformats.org/drawingml/2006/main" noGrp="1"/>
          </p:cNvSpPr>
          <p:nvPr/>
        </p:nvSpPr>
        <p:spPr>
          <a:xfrm xmlns:a="http://schemas.openxmlformats.org/drawingml/2006/main">
            <a:off x="548640" y="4681728"/>
            <a:ext cx="384048" cy="384048"/>
          </a:xfrm>
          <a:prstGeom xmlns:a="http://schemas.openxmlformats.org/drawingml/2006/main" prst="ellipse">
            <a:avLst/>
          </a:prstGeom>
          <a:solidFill xmlns:a="http://schemas.openxmlformats.org/drawingml/2006/main">
            <a:srgbClr val="0F4C5C"/>
          </a:solidFill>
        </p:spPr>
      </p:sp>
      <p:sp>
        <p:nvSpPr>
          <p:cNvPr id="18" name="Text 16">
            <a:extLst xmlns:a="http://schemas.openxmlformats.org/drawingml/2006/main">
              <a:ext uri="{FF2B5EF4-FFF2-40B4-BE49-F238E27FC236}">
                <a16:creationId xmlns:a16="http://schemas.microsoft.com/office/drawing/2014/main" id="{617BF87E-B10A-416C-A4A1-B1F48DD675CD}"/>
              </a:ext>
            </a:extLst>
          </p:cNvPr>
          <p:cNvSpPr>
            <a:spLocks xmlns:a="http://schemas.openxmlformats.org/drawingml/2006/main" noGrp="1"/>
          </p:cNvSpPr>
          <p:nvPr/>
        </p:nvSpPr>
        <p:spPr>
          <a:xfrm xmlns:a="http://schemas.openxmlformats.org/drawingml/2006/main">
            <a:off x="548640" y="468172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5</a:t>
            </a:r>
          </a:p>
        </p:txBody>
      </p:sp>
      <p:sp>
        <p:nvSpPr>
          <p:cNvPr id="19" name="Text 17">
            <a:extLst xmlns:a="http://schemas.openxmlformats.org/drawingml/2006/main">
              <a:ext uri="{FF2B5EF4-FFF2-40B4-BE49-F238E27FC236}">
                <a16:creationId xmlns:a16="http://schemas.microsoft.com/office/drawing/2014/main" id="{CB0BC143-7727-4F9B-9F78-D6C6B5F5EE30}"/>
              </a:ext>
            </a:extLst>
          </p:cNvPr>
          <p:cNvSpPr>
            <a:spLocks xmlns:a="http://schemas.openxmlformats.org/drawingml/2006/main" noGrp="1"/>
          </p:cNvSpPr>
          <p:nvPr/>
        </p:nvSpPr>
        <p:spPr>
          <a:xfrm xmlns:a="http://schemas.openxmlformats.org/drawingml/2006/main">
            <a:off x="1115568" y="466344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Identify the hormones released by the heart, kidneys, and other organs with secondary endocrine functions</a:t>
            </a:r>
          </a:p>
        </p:txBody>
      </p:sp>
      <p:sp>
        <p:nvSpPr>
          <p:cNvPr id="20" name="Shape 18">
            <a:extLst xmlns:a="http://schemas.openxmlformats.org/drawingml/2006/main">
              <a:ext uri="{FF2B5EF4-FFF2-40B4-BE49-F238E27FC236}">
                <a16:creationId xmlns:a16="http://schemas.microsoft.com/office/drawing/2014/main" id="{DB41DD5B-44D2-47A7-9C0F-16E34C208CC9}"/>
              </a:ext>
            </a:extLst>
          </p:cNvPr>
          <p:cNvSpPr>
            <a:spLocks xmlns:a="http://schemas.openxmlformats.org/drawingml/2006/main" noGrp="1"/>
          </p:cNvSpPr>
          <p:nvPr/>
        </p:nvSpPr>
        <p:spPr>
          <a:xfrm xmlns:a="http://schemas.openxmlformats.org/drawingml/2006/main">
            <a:off x="548640" y="5436108"/>
            <a:ext cx="384048" cy="384048"/>
          </a:xfrm>
          <a:prstGeom xmlns:a="http://schemas.openxmlformats.org/drawingml/2006/main" prst="ellipse">
            <a:avLst/>
          </a:prstGeom>
          <a:solidFill xmlns:a="http://schemas.openxmlformats.org/drawingml/2006/main">
            <a:srgbClr val="0F4C5C"/>
          </a:solidFill>
        </p:spPr>
      </p:sp>
      <p:sp>
        <p:nvSpPr>
          <p:cNvPr id="21" name="Text 19">
            <a:extLst xmlns:a="http://schemas.openxmlformats.org/drawingml/2006/main">
              <a:ext uri="{FF2B5EF4-FFF2-40B4-BE49-F238E27FC236}">
                <a16:creationId xmlns:a16="http://schemas.microsoft.com/office/drawing/2014/main" id="{777863BB-D861-44D8-B16B-80ECA7DE8D7A}"/>
              </a:ext>
            </a:extLst>
          </p:cNvPr>
          <p:cNvSpPr>
            <a:spLocks xmlns:a="http://schemas.openxmlformats.org/drawingml/2006/main" noGrp="1"/>
          </p:cNvSpPr>
          <p:nvPr/>
        </p:nvSpPr>
        <p:spPr>
          <a:xfrm xmlns:a="http://schemas.openxmlformats.org/drawingml/2006/main">
            <a:off x="548640" y="5436108"/>
            <a:ext cx="384048" cy="38404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500" b="1">
                <a:solidFill>
                  <a:srgbClr val="FFFFFF"/>
                </a:solidFill>
                <a:latin typeface="Georgia"/>
                <a:ea typeface="Georgia"/>
                <a:cs typeface="Georgia"/>
              </a:rPr>
              <a:t>6</a:t>
            </a:r>
          </a:p>
        </p:txBody>
      </p:sp>
      <p:sp>
        <p:nvSpPr>
          <p:cNvPr id="22" name="Text 20">
            <a:extLst xmlns:a="http://schemas.openxmlformats.org/drawingml/2006/main">
              <a:ext uri="{FF2B5EF4-FFF2-40B4-BE49-F238E27FC236}">
                <a16:creationId xmlns:a16="http://schemas.microsoft.com/office/drawing/2014/main" id="{B8945F7F-6FD5-46BA-B260-013C8203F509}"/>
              </a:ext>
            </a:extLst>
          </p:cNvPr>
          <p:cNvSpPr>
            <a:spLocks xmlns:a="http://schemas.openxmlformats.org/drawingml/2006/main" noGrp="1"/>
          </p:cNvSpPr>
          <p:nvPr/>
        </p:nvSpPr>
        <p:spPr>
          <a:xfrm xmlns:a="http://schemas.openxmlformats.org/drawingml/2006/main">
            <a:off x="1115568" y="5417820"/>
            <a:ext cx="5943600" cy="7543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300">
                <a:solidFill>
                  <a:srgbClr val="23363B"/>
                </a:solidFill>
                <a:latin typeface="Calibri"/>
                <a:ea typeface="Calibri"/>
                <a:cs typeface="Calibri"/>
              </a:rPr>
              <a:t>Discuss several common diseases associated with endocrine system dysfunction</a:t>
            </a:r>
          </a:p>
        </p:txBody>
      </p:sp>
      <p:sp>
        <p:nvSpPr>
          <p:cNvPr id="23" name="Shape 21">
            <a:extLst xmlns:a="http://schemas.openxmlformats.org/drawingml/2006/main">
              <a:ext uri="{FF2B5EF4-FFF2-40B4-BE49-F238E27FC236}">
                <a16:creationId xmlns:a16="http://schemas.microsoft.com/office/drawing/2014/main" id="{38AC549E-576C-4C44-9B4F-8295A1EF3F6A}"/>
              </a:ext>
            </a:extLst>
          </p:cNvPr>
          <p:cNvSpPr>
            <a:spLocks xmlns:a="http://schemas.openxmlformats.org/drawingml/2006/main" noGrp="1"/>
          </p:cNvSpPr>
          <p:nvPr/>
        </p:nvSpPr>
        <p:spPr>
          <a:xfrm xmlns:a="http://schemas.openxmlformats.org/drawingml/2006/main">
            <a:off x="7415784" y="1686956"/>
            <a:ext cx="4370832" cy="4087591"/>
          </a:xfrm>
          <a:prstGeom xmlns:a="http://schemas.openxmlformats.org/drawingml/2006/main" prst="roundRect">
            <a:avLst>
              <a:gd name="adj" fmla="val 1342"/>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52" name="Image 0"/>
          <p:cNvPicPr>
            <a:picLocks xmlns:a="http://schemas.openxmlformats.org/drawingml/2006/main" noChangeAspect="1"/>
          </p:cNvPicPr>
          <p:nvPr/>
        </p:nvPicPr>
        <p:blipFill>
          <a:blip xmlns:r="http://schemas.openxmlformats.org/officeDocument/2006/relationships" xmlns:a="http://schemas.openxmlformats.org/drawingml/2006/main" r:embed="R0526ba9a95d24e0d"/>
          <a:stretch xmlns:a="http://schemas.openxmlformats.org/drawingml/2006/main">
            <a:fillRect l="0" t="0" r="0" b="0"/>
          </a:stretch>
        </p:blipFill>
        <p:spPr>
          <a:xfrm xmlns:a="http://schemas.openxmlformats.org/drawingml/2006/main">
            <a:off x="7498080" y="1769252"/>
            <a:ext cx="4206240" cy="3922999"/>
          </a:xfrm>
          <a:prstGeom xmlns:a="http://schemas.openxmlformats.org/drawingml/2006/main" prst="rect">
            <a:avLst/>
          </a:prstGeom>
        </p:spPr>
      </p:pic>
      <p:sp>
        <p:nvSpPr>
          <p:cNvPr id="25" name="Text 22">
            <a:extLst xmlns:a="http://schemas.openxmlformats.org/drawingml/2006/main">
              <a:ext uri="{FF2B5EF4-FFF2-40B4-BE49-F238E27FC236}">
                <a16:creationId xmlns:a16="http://schemas.microsoft.com/office/drawing/2014/main" id="{FF867916-F838-4E25-8C40-CFBFF760B02E}"/>
              </a:ext>
            </a:extLst>
          </p:cNvPr>
          <p:cNvSpPr>
            <a:spLocks xmlns:a="http://schemas.openxmlformats.org/drawingml/2006/main" noGrp="1"/>
          </p:cNvSpPr>
          <p:nvPr/>
        </p:nvSpPr>
        <p:spPr>
          <a:xfrm xmlns:a="http://schemas.openxmlformats.org/drawingml/2006/main">
            <a:off x="7498080" y="5943600"/>
            <a:ext cx="42062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major endocrine glands of the body.</a:t>
            </a:r>
          </a:p>
        </p:txBody>
      </p:sp>
      <p:sp>
        <p:nvSpPr>
          <p:cNvPr id="27" name="Text 23">
            <a:extLst xmlns:a="http://schemas.openxmlformats.org/drawingml/2006/main">
              <a:ext uri="{FF2B5EF4-FFF2-40B4-BE49-F238E27FC236}">
                <a16:creationId xmlns:a16="http://schemas.microsoft.com/office/drawing/2014/main" id="{925B007A-1B78-4950-8361-F15E5CD3F38F}"/>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17 — The Endocrine System</a:t>
            </a:r>
          </a:p>
        </p:txBody>
      </p:sp>
      <p:sp>
        <p:nvSpPr>
          <p:cNvPr id="28" name="Text 24">
            <a:extLst xmlns:a="http://schemas.openxmlformats.org/drawingml/2006/main">
              <a:ext uri="{FF2B5EF4-FFF2-40B4-BE49-F238E27FC236}">
                <a16:creationId xmlns:a16="http://schemas.microsoft.com/office/drawing/2014/main" id="{BAA9604E-C1D5-4A16-BBE4-0680F6CD145D}"/>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a:t>
            </a:r>
          </a:p>
        </p:txBody>
      </p:sp>
    </p:spTree>
    <p:extLst>
      <p:ext uri="{BB962C8B-B14F-4D97-AF65-F5344CB8AC3E}">
        <p14:creationId xmlns:p14="http://schemas.microsoft.com/office/powerpoint/2010/main" val="944031157"/>
      </p:ext>
    </p:extLst>
  </p:cSld>
</p:sld>
</file>

<file path=ppt/slides/slide3.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8B615BA-3EB0-4F48-A8F7-0942723676BA}"/>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80FFB55A-C7BE-4A41-ADE6-23BD01817BC5}"/>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17.1</a:t>
            </a:r>
          </a:p>
        </p:txBody>
      </p:sp>
      <p:sp>
        <p:nvSpPr>
          <p:cNvPr id="4" name="Text 2">
            <a:extLst xmlns:a="http://schemas.openxmlformats.org/drawingml/2006/main">
              <a:ext uri="{FF2B5EF4-FFF2-40B4-BE49-F238E27FC236}">
                <a16:creationId xmlns:a16="http://schemas.microsoft.com/office/drawing/2014/main" id="{83D12914-4E91-40AD-8871-B92C58EE75F6}"/>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3C5081FF-FC0E-4AE9-85B6-2414856837A9}"/>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An Overview of the Endocrine System</a:t>
            </a:r>
          </a:p>
        </p:txBody>
      </p:sp>
      <p:sp>
        <p:nvSpPr>
          <p:cNvPr id="6" name="Text 4">
            <a:extLst xmlns:a="http://schemas.openxmlformats.org/drawingml/2006/main">
              <a:ext uri="{FF2B5EF4-FFF2-40B4-BE49-F238E27FC236}">
                <a16:creationId xmlns:a16="http://schemas.microsoft.com/office/drawing/2014/main" id="{BA28F0AA-5F6C-4F61-BF94-D98946A9B685}"/>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The endocrine system — chemical control through hormones.</a:t>
            </a:r>
          </a:p>
        </p:txBody>
      </p:sp>
    </p:spTree>
    <p:extLst>
      <p:ext uri="{BB962C8B-B14F-4D97-AF65-F5344CB8AC3E}">
        <p14:creationId xmlns:p14="http://schemas.microsoft.com/office/powerpoint/2010/main" val="18191777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7C8D94F-E821-45E2-8838-5417158E7E9E}"/>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17.1</a:t>
            </a:r>
          </a:p>
        </p:txBody>
      </p:sp>
      <p:sp>
        <p:nvSpPr>
          <p:cNvPr id="3" name="Text 1">
            <a:extLst xmlns:a="http://schemas.openxmlformats.org/drawingml/2006/main">
              <a:ext uri="{FF2B5EF4-FFF2-40B4-BE49-F238E27FC236}">
                <a16:creationId xmlns:a16="http://schemas.microsoft.com/office/drawing/2014/main" id="{F065A24F-EA52-4C53-9F8F-AD26C7D92ED2}"/>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Endocrine Glands</a:t>
            </a:r>
          </a:p>
        </p:txBody>
      </p:sp>
      <p:sp>
        <p:nvSpPr>
          <p:cNvPr id="4" name="Text 2">
            <a:extLst xmlns:a="http://schemas.openxmlformats.org/drawingml/2006/main">
              <a:ext uri="{FF2B5EF4-FFF2-40B4-BE49-F238E27FC236}">
                <a16:creationId xmlns:a16="http://schemas.microsoft.com/office/drawing/2014/main" id="{1DF544AB-62DA-4EE8-98E8-5AD48E4E7B98}"/>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Glands secrete hormones into the blood</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Hormones travel to distant targets</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Control slow, widespread processes</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Work alongside the nervous system</a:t>
            </a:r>
          </a:p>
        </p:txBody>
      </p:sp>
      <p:sp>
        <p:nvSpPr>
          <p:cNvPr id="5" name="Shape 3">
            <a:extLst xmlns:a="http://schemas.openxmlformats.org/drawingml/2006/main">
              <a:ext uri="{FF2B5EF4-FFF2-40B4-BE49-F238E27FC236}">
                <a16:creationId xmlns:a16="http://schemas.microsoft.com/office/drawing/2014/main" id="{2BABC696-924D-44CB-B6B0-45BEE683631C}"/>
              </a:ext>
            </a:extLst>
          </p:cNvPr>
          <p:cNvSpPr>
            <a:spLocks xmlns:a="http://schemas.openxmlformats.org/drawingml/2006/main" noGrp="1"/>
          </p:cNvSpPr>
          <p:nvPr/>
        </p:nvSpPr>
        <p:spPr>
          <a:xfrm xmlns:a="http://schemas.openxmlformats.org/drawingml/2006/main">
            <a:off x="6111036" y="1335024"/>
            <a:ext cx="4968648"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7997f5b7eb3e4e54"/>
          <a:stretch xmlns:a="http://schemas.openxmlformats.org/drawingml/2006/main">
            <a:fillRect l="0" t="0" r="0" b="0"/>
          </a:stretch>
        </p:blipFill>
        <p:spPr>
          <a:xfrm xmlns:a="http://schemas.openxmlformats.org/drawingml/2006/main">
            <a:off x="6193332" y="1417320"/>
            <a:ext cx="4804056"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26E4AD7B-AD5F-4DFE-8E37-1C53CB12FEF5}"/>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major endocrine glands</a:t>
            </a:r>
          </a:p>
        </p:txBody>
      </p:sp>
      <p:sp>
        <p:nvSpPr>
          <p:cNvPr id="9" name="Text 5">
            <a:extLst xmlns:a="http://schemas.openxmlformats.org/drawingml/2006/main">
              <a:ext uri="{FF2B5EF4-FFF2-40B4-BE49-F238E27FC236}">
                <a16:creationId xmlns:a16="http://schemas.microsoft.com/office/drawing/2014/main" id="{38BA731E-8CDE-4567-8704-9943D9EF2C02}"/>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17 — The Endocrine System</a:t>
            </a:r>
          </a:p>
        </p:txBody>
      </p:sp>
      <p:sp>
        <p:nvSpPr>
          <p:cNvPr id="10" name="Text 6">
            <a:extLst xmlns:a="http://schemas.openxmlformats.org/drawingml/2006/main">
              <a:ext uri="{FF2B5EF4-FFF2-40B4-BE49-F238E27FC236}">
                <a16:creationId xmlns:a16="http://schemas.microsoft.com/office/drawing/2014/main" id="{B6861728-BF0E-4285-BD29-31B240D035E9}"/>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4</a:t>
            </a:r>
          </a:p>
        </p:txBody>
      </p:sp>
    </p:spTree>
    <p:extLst>
      <p:ext uri="{BB962C8B-B14F-4D97-AF65-F5344CB8AC3E}">
        <p14:creationId xmlns:p14="http://schemas.microsoft.com/office/powerpoint/2010/main" val="429985946"/>
      </p:ext>
    </p:extLst>
  </p:cSld>
</p:sld>
</file>

<file path=ppt/slides/slide5.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BF2E244-611C-45BC-A41F-539DE537425F}"/>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1FBC7F58-4BA5-4663-90CC-0C9E79BA2178}"/>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17.2</a:t>
            </a:r>
          </a:p>
        </p:txBody>
      </p:sp>
      <p:sp>
        <p:nvSpPr>
          <p:cNvPr id="4" name="Text 2">
            <a:extLst xmlns:a="http://schemas.openxmlformats.org/drawingml/2006/main">
              <a:ext uri="{FF2B5EF4-FFF2-40B4-BE49-F238E27FC236}">
                <a16:creationId xmlns:a16="http://schemas.microsoft.com/office/drawing/2014/main" id="{3C521546-F7DD-4D57-B933-5ECCFB2C99E5}"/>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2D92B8C0-4C51-4D79-B4E5-F1596E5198CB}"/>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Hormones</a:t>
            </a:r>
          </a:p>
        </p:txBody>
      </p:sp>
      <p:sp>
        <p:nvSpPr>
          <p:cNvPr id="6" name="Text 4">
            <a:extLst xmlns:a="http://schemas.openxmlformats.org/drawingml/2006/main">
              <a:ext uri="{FF2B5EF4-FFF2-40B4-BE49-F238E27FC236}">
                <a16:creationId xmlns:a16="http://schemas.microsoft.com/office/drawing/2014/main" id="{5CBED0B1-BDF2-4F26-BFBB-44F017CBC04D}"/>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What hormones are and how they act on target cells.</a:t>
            </a:r>
          </a:p>
        </p:txBody>
      </p:sp>
    </p:spTree>
    <p:extLst>
      <p:ext uri="{BB962C8B-B14F-4D97-AF65-F5344CB8AC3E}">
        <p14:creationId xmlns:p14="http://schemas.microsoft.com/office/powerpoint/2010/main" val="32824929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6223646-09A9-4223-BC27-4752844B8539}"/>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17.2</a:t>
            </a:r>
          </a:p>
        </p:txBody>
      </p:sp>
      <p:sp>
        <p:nvSpPr>
          <p:cNvPr id="3" name="Text 1">
            <a:extLst xmlns:a="http://schemas.openxmlformats.org/drawingml/2006/main">
              <a:ext uri="{FF2B5EF4-FFF2-40B4-BE49-F238E27FC236}">
                <a16:creationId xmlns:a16="http://schemas.microsoft.com/office/drawing/2014/main" id="{4CC34F77-5773-4DF4-873C-6DE34B355E22}"/>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Steroid Hormone Action</a:t>
            </a:r>
          </a:p>
        </p:txBody>
      </p:sp>
      <p:sp>
        <p:nvSpPr>
          <p:cNvPr id="4" name="Text 2">
            <a:extLst xmlns:a="http://schemas.openxmlformats.org/drawingml/2006/main">
              <a:ext uri="{FF2B5EF4-FFF2-40B4-BE49-F238E27FC236}">
                <a16:creationId xmlns:a16="http://schemas.microsoft.com/office/drawing/2014/main" id="{03B63490-549A-424C-A397-3E6F31673BFA}"/>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Lipid-soluble hormones enter the cell</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They pass through the membrane</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Bind receptors inside</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Switch genes on or off</a:t>
            </a:r>
          </a:p>
        </p:txBody>
      </p:sp>
      <p:sp>
        <p:nvSpPr>
          <p:cNvPr id="5" name="Shape 3">
            <a:extLst xmlns:a="http://schemas.openxmlformats.org/drawingml/2006/main">
              <a:ext uri="{FF2B5EF4-FFF2-40B4-BE49-F238E27FC236}">
                <a16:creationId xmlns:a16="http://schemas.microsoft.com/office/drawing/2014/main" id="{17B9305A-2382-4EF8-8159-099BDB21B769}"/>
              </a:ext>
            </a:extLst>
          </p:cNvPr>
          <p:cNvSpPr>
            <a:spLocks xmlns:a="http://schemas.openxmlformats.org/drawingml/2006/main" noGrp="1"/>
          </p:cNvSpPr>
          <p:nvPr/>
        </p:nvSpPr>
        <p:spPr>
          <a:xfrm xmlns:a="http://schemas.openxmlformats.org/drawingml/2006/main">
            <a:off x="5404104" y="1498510"/>
            <a:ext cx="6382512" cy="4318179"/>
          </a:xfrm>
          <a:prstGeom xmlns:a="http://schemas.openxmlformats.org/drawingml/2006/main" prst="roundRect">
            <a:avLst>
              <a:gd name="adj" fmla="val 12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85bbd078acce4f05"/>
          <a:stretch xmlns:a="http://schemas.openxmlformats.org/drawingml/2006/main">
            <a:fillRect l="0" t="0" r="0" b="0"/>
          </a:stretch>
        </p:blipFill>
        <p:spPr>
          <a:xfrm xmlns:a="http://schemas.openxmlformats.org/drawingml/2006/main">
            <a:off x="5486400" y="1580806"/>
            <a:ext cx="6217920" cy="4153587"/>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31D29C64-5FD9-45CF-8D34-C53622DA55D1}"/>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How a lipid-soluble (steroid) hormone acts</a:t>
            </a:r>
          </a:p>
        </p:txBody>
      </p:sp>
      <p:sp>
        <p:nvSpPr>
          <p:cNvPr id="9" name="Text 5">
            <a:extLst xmlns:a="http://schemas.openxmlformats.org/drawingml/2006/main">
              <a:ext uri="{FF2B5EF4-FFF2-40B4-BE49-F238E27FC236}">
                <a16:creationId xmlns:a16="http://schemas.microsoft.com/office/drawing/2014/main" id="{3FD78636-70A0-41AE-B713-CED150609125}"/>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17 — The Endocrine System</a:t>
            </a:r>
          </a:p>
        </p:txBody>
      </p:sp>
      <p:sp>
        <p:nvSpPr>
          <p:cNvPr id="10" name="Text 6">
            <a:extLst xmlns:a="http://schemas.openxmlformats.org/drawingml/2006/main">
              <a:ext uri="{FF2B5EF4-FFF2-40B4-BE49-F238E27FC236}">
                <a16:creationId xmlns:a16="http://schemas.microsoft.com/office/drawing/2014/main" id="{10196B38-DEA3-458D-BB16-47804EE063F0}"/>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6</a:t>
            </a:r>
          </a:p>
        </p:txBody>
      </p:sp>
    </p:spTree>
    <p:extLst>
      <p:ext uri="{BB962C8B-B14F-4D97-AF65-F5344CB8AC3E}">
        <p14:creationId xmlns:p14="http://schemas.microsoft.com/office/powerpoint/2010/main" val="178336761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25ABA99-95F4-4E3D-9A3F-2EAFC33AC917}"/>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17.2</a:t>
            </a:r>
          </a:p>
        </p:txBody>
      </p:sp>
      <p:sp>
        <p:nvSpPr>
          <p:cNvPr id="3" name="Text 1">
            <a:extLst xmlns:a="http://schemas.openxmlformats.org/drawingml/2006/main">
              <a:ext uri="{FF2B5EF4-FFF2-40B4-BE49-F238E27FC236}">
                <a16:creationId xmlns:a16="http://schemas.microsoft.com/office/drawing/2014/main" id="{B5F2839A-420C-4884-B92D-3596D1A4CED0}"/>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Water-Soluble Hormone Action</a:t>
            </a:r>
          </a:p>
        </p:txBody>
      </p:sp>
      <p:sp>
        <p:nvSpPr>
          <p:cNvPr id="4" name="Text 2">
            <a:extLst xmlns:a="http://schemas.openxmlformats.org/drawingml/2006/main">
              <a:ext uri="{FF2B5EF4-FFF2-40B4-BE49-F238E27FC236}">
                <a16:creationId xmlns:a16="http://schemas.microsoft.com/office/drawing/2014/main" id="{0D703B39-B4C7-4D34-89B4-902E049156BA}"/>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Water-soluble hormones can't enter the cell</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They bind receptors on the surface</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Trigger a second messenger (cAMP)</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Produce rapid responses</a:t>
            </a:r>
          </a:p>
        </p:txBody>
      </p:sp>
      <p:sp>
        <p:nvSpPr>
          <p:cNvPr id="5" name="Shape 3">
            <a:extLst xmlns:a="http://schemas.openxmlformats.org/drawingml/2006/main">
              <a:ext uri="{FF2B5EF4-FFF2-40B4-BE49-F238E27FC236}">
                <a16:creationId xmlns:a16="http://schemas.microsoft.com/office/drawing/2014/main" id="{A06C2160-9F5B-424C-9EAA-EDE034CC3E66}"/>
              </a:ext>
            </a:extLst>
          </p:cNvPr>
          <p:cNvSpPr>
            <a:spLocks xmlns:a="http://schemas.openxmlformats.org/drawingml/2006/main" noGrp="1"/>
          </p:cNvSpPr>
          <p:nvPr/>
        </p:nvSpPr>
        <p:spPr>
          <a:xfrm xmlns:a="http://schemas.openxmlformats.org/drawingml/2006/main">
            <a:off x="5555670" y="1335024"/>
            <a:ext cx="6079379"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308bd5b1376d491b"/>
          <a:stretch xmlns:a="http://schemas.openxmlformats.org/drawingml/2006/main">
            <a:fillRect l="0" t="0" r="0" b="0"/>
          </a:stretch>
        </p:blipFill>
        <p:spPr>
          <a:xfrm xmlns:a="http://schemas.openxmlformats.org/drawingml/2006/main">
            <a:off x="5637966" y="1417320"/>
            <a:ext cx="5914787"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B1CF1A5B-E359-4032-ACEB-CE5B052ECBCE}"/>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How a water-soluble hormone acts</a:t>
            </a:r>
          </a:p>
        </p:txBody>
      </p:sp>
      <p:sp>
        <p:nvSpPr>
          <p:cNvPr id="9" name="Text 5">
            <a:extLst xmlns:a="http://schemas.openxmlformats.org/drawingml/2006/main">
              <a:ext uri="{FF2B5EF4-FFF2-40B4-BE49-F238E27FC236}">
                <a16:creationId xmlns:a16="http://schemas.microsoft.com/office/drawing/2014/main" id="{905E4935-4B8F-4526-BD5E-43A26976A85B}"/>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17 — The Endocrine System</a:t>
            </a:r>
          </a:p>
        </p:txBody>
      </p:sp>
      <p:sp>
        <p:nvSpPr>
          <p:cNvPr id="10" name="Text 6">
            <a:extLst xmlns:a="http://schemas.openxmlformats.org/drawingml/2006/main">
              <a:ext uri="{FF2B5EF4-FFF2-40B4-BE49-F238E27FC236}">
                <a16:creationId xmlns:a16="http://schemas.microsoft.com/office/drawing/2014/main" id="{899D017A-6CAB-4E59-A92D-3D4321DAD926}"/>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7</a:t>
            </a:r>
          </a:p>
        </p:txBody>
      </p:sp>
    </p:spTree>
    <p:extLst>
      <p:ext uri="{BB962C8B-B14F-4D97-AF65-F5344CB8AC3E}">
        <p14:creationId xmlns:p14="http://schemas.microsoft.com/office/powerpoint/2010/main" val="17375480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3E8EED3-4AE0-4366-8B71-F1DB95840AA1}"/>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17.2</a:t>
            </a:r>
          </a:p>
        </p:txBody>
      </p:sp>
      <p:sp>
        <p:nvSpPr>
          <p:cNvPr id="3" name="Text 1">
            <a:extLst xmlns:a="http://schemas.openxmlformats.org/drawingml/2006/main">
              <a:ext uri="{FF2B5EF4-FFF2-40B4-BE49-F238E27FC236}">
                <a16:creationId xmlns:a16="http://schemas.microsoft.com/office/drawing/2014/main" id="{A0C8A7CF-DEEC-40B9-BE12-EF6D50C0CCAD}"/>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Negative Feedback</a:t>
            </a:r>
          </a:p>
        </p:txBody>
      </p:sp>
      <p:sp>
        <p:nvSpPr>
          <p:cNvPr id="4" name="Text 2">
            <a:extLst xmlns:a="http://schemas.openxmlformats.org/drawingml/2006/main">
              <a:ext uri="{FF2B5EF4-FFF2-40B4-BE49-F238E27FC236}">
                <a16:creationId xmlns:a16="http://schemas.microsoft.com/office/drawing/2014/main" id="{CAAEEC06-EEE8-4CB4-A9AA-3849D64B06E5}"/>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Most hormones are feedback-controlled</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 change triggers a correcting response</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The response shuts off the signal</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Keeps levels in a stable range</a:t>
            </a:r>
          </a:p>
        </p:txBody>
      </p:sp>
      <p:sp>
        <p:nvSpPr>
          <p:cNvPr id="5" name="Shape 3">
            <a:extLst xmlns:a="http://schemas.openxmlformats.org/drawingml/2006/main">
              <a:ext uri="{FF2B5EF4-FFF2-40B4-BE49-F238E27FC236}">
                <a16:creationId xmlns:a16="http://schemas.microsoft.com/office/drawing/2014/main" id="{654935D6-BE0A-4230-A2EF-3532FB2D8D53}"/>
              </a:ext>
            </a:extLst>
          </p:cNvPr>
          <p:cNvSpPr>
            <a:spLocks xmlns:a="http://schemas.openxmlformats.org/drawingml/2006/main" noGrp="1"/>
          </p:cNvSpPr>
          <p:nvPr/>
        </p:nvSpPr>
        <p:spPr>
          <a:xfrm xmlns:a="http://schemas.openxmlformats.org/drawingml/2006/main">
            <a:off x="6225738" y="1335024"/>
            <a:ext cx="4739244"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ae7b20631e1a4fd9"/>
          <a:stretch xmlns:a="http://schemas.openxmlformats.org/drawingml/2006/main">
            <a:fillRect l="0" t="0" r="0" b="0"/>
          </a:stretch>
        </p:blipFill>
        <p:spPr>
          <a:xfrm xmlns:a="http://schemas.openxmlformats.org/drawingml/2006/main">
            <a:off x="6308034" y="1417320"/>
            <a:ext cx="4574652"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AF495DD2-936B-415C-B32B-8F6D92BBED88}"/>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Negative feedback control of hormones</a:t>
            </a:r>
          </a:p>
        </p:txBody>
      </p:sp>
      <p:sp>
        <p:nvSpPr>
          <p:cNvPr id="9" name="Text 5">
            <a:extLst xmlns:a="http://schemas.openxmlformats.org/drawingml/2006/main">
              <a:ext uri="{FF2B5EF4-FFF2-40B4-BE49-F238E27FC236}">
                <a16:creationId xmlns:a16="http://schemas.microsoft.com/office/drawing/2014/main" id="{75C75954-0B76-42F7-89AF-8BDD10F39AE3}"/>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17 — The Endocrine System</a:t>
            </a:r>
          </a:p>
        </p:txBody>
      </p:sp>
      <p:sp>
        <p:nvSpPr>
          <p:cNvPr id="10" name="Text 6">
            <a:extLst xmlns:a="http://schemas.openxmlformats.org/drawingml/2006/main">
              <a:ext uri="{FF2B5EF4-FFF2-40B4-BE49-F238E27FC236}">
                <a16:creationId xmlns:a16="http://schemas.microsoft.com/office/drawing/2014/main" id="{1B388DFA-207A-4E51-A7B5-B6A0CEDA79A3}"/>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8</a:t>
            </a:r>
          </a:p>
        </p:txBody>
      </p:sp>
    </p:spTree>
    <p:extLst>
      <p:ext uri="{BB962C8B-B14F-4D97-AF65-F5344CB8AC3E}">
        <p14:creationId xmlns:p14="http://schemas.microsoft.com/office/powerpoint/2010/main" val="1118623390"/>
      </p:ext>
    </p:extLst>
  </p:cSld>
</p:sld>
</file>

<file path=ppt/slides/slide9.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E295C8D-4291-430C-9F66-3B7680EB1790}"/>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FE39425C-CC81-4299-BB0C-C620E29FF53E}"/>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17.3</a:t>
            </a:r>
          </a:p>
        </p:txBody>
      </p:sp>
      <p:sp>
        <p:nvSpPr>
          <p:cNvPr id="4" name="Text 2">
            <a:extLst xmlns:a="http://schemas.openxmlformats.org/drawingml/2006/main">
              <a:ext uri="{FF2B5EF4-FFF2-40B4-BE49-F238E27FC236}">
                <a16:creationId xmlns:a16="http://schemas.microsoft.com/office/drawing/2014/main" id="{1285EF51-D805-417A-8D64-EF79ECF20BFA}"/>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191C346C-8249-40CE-B8B9-D9260DF960B7}"/>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The Pituitary Gland and Hypothalamus</a:t>
            </a:r>
          </a:p>
        </p:txBody>
      </p:sp>
      <p:sp>
        <p:nvSpPr>
          <p:cNvPr id="6" name="Text 4">
            <a:extLst xmlns:a="http://schemas.openxmlformats.org/drawingml/2006/main">
              <a:ext uri="{FF2B5EF4-FFF2-40B4-BE49-F238E27FC236}">
                <a16:creationId xmlns:a16="http://schemas.microsoft.com/office/drawing/2014/main" id="{2DFE927A-B1D6-44D5-8A05-BE99EF97B214}"/>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The pituitary and hypothalamus — the hormonal command center.</a:t>
            </a:r>
          </a:p>
        </p:txBody>
      </p:sp>
    </p:spTree>
    <p:extLst>
      <p:ext uri="{BB962C8B-B14F-4D97-AF65-F5344CB8AC3E}">
        <p14:creationId xmlns:p14="http://schemas.microsoft.com/office/powerpoint/2010/main" val="17804471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CAB9AB3-9F88-4716-A6E2-9D8098F62A33}"/>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17.3</a:t>
            </a:r>
          </a:p>
        </p:txBody>
      </p:sp>
      <p:sp>
        <p:nvSpPr>
          <p:cNvPr id="3" name="Text 1">
            <a:extLst xmlns:a="http://schemas.openxmlformats.org/drawingml/2006/main">
              <a:ext uri="{FF2B5EF4-FFF2-40B4-BE49-F238E27FC236}">
                <a16:creationId xmlns:a16="http://schemas.microsoft.com/office/drawing/2014/main" id="{3EA19305-7647-48C9-8917-E2BFBBD2C532}"/>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Pituitary Gland</a:t>
            </a:r>
          </a:p>
        </p:txBody>
      </p:sp>
      <p:sp>
        <p:nvSpPr>
          <p:cNvPr id="4" name="Shape 2">
            <a:extLst xmlns:a="http://schemas.openxmlformats.org/drawingml/2006/main">
              <a:ext uri="{FF2B5EF4-FFF2-40B4-BE49-F238E27FC236}">
                <a16:creationId xmlns:a16="http://schemas.microsoft.com/office/drawing/2014/main" id="{FE09D008-792E-42B5-B1F4-2EA72357EA73}"/>
              </a:ext>
            </a:extLst>
          </p:cNvPr>
          <p:cNvSpPr>
            <a:spLocks xmlns:a="http://schemas.openxmlformats.org/drawingml/2006/main" noGrp="1"/>
          </p:cNvSpPr>
          <p:nvPr/>
        </p:nvSpPr>
        <p:spPr>
          <a:xfrm xmlns:a="http://schemas.openxmlformats.org/drawingml/2006/main">
            <a:off x="2953713" y="1289304"/>
            <a:ext cx="6299814"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4640c0f6eb8742f2"/>
          <a:stretch xmlns:a="http://schemas.openxmlformats.org/drawingml/2006/main">
            <a:fillRect l="0" t="0" r="0" b="0"/>
          </a:stretch>
        </p:blipFill>
        <p:spPr>
          <a:xfrm xmlns:a="http://schemas.openxmlformats.org/drawingml/2006/main">
            <a:off x="3036009" y="1371600"/>
            <a:ext cx="6135222"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8EE31C68-DAF7-42FD-AD33-7795EA4C8C23}"/>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pituitary gland and hypothalamus</a:t>
            </a:r>
          </a:p>
        </p:txBody>
      </p:sp>
      <p:sp>
        <p:nvSpPr>
          <p:cNvPr id="7" name="Text 4">
            <a:extLst xmlns:a="http://schemas.openxmlformats.org/drawingml/2006/main">
              <a:ext uri="{FF2B5EF4-FFF2-40B4-BE49-F238E27FC236}">
                <a16:creationId xmlns:a16="http://schemas.microsoft.com/office/drawing/2014/main" id="{90ACC39A-D68B-4080-83E3-C94360E9B226}"/>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Sits beneath the hypothalamus</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Has anterior and posterior lobes</a:t>
            </a:r>
          </a:p>
        </p:txBody>
      </p:sp>
      <p:sp>
        <p:nvSpPr>
          <p:cNvPr id="8" name="Text 5">
            <a:extLst xmlns:a="http://schemas.openxmlformats.org/drawingml/2006/main">
              <a:ext uri="{FF2B5EF4-FFF2-40B4-BE49-F238E27FC236}">
                <a16:creationId xmlns:a16="http://schemas.microsoft.com/office/drawing/2014/main" id="{94196F21-A18E-4755-8DA2-A0A2ACC943E7}"/>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Controlled by the hypothalamus</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Often called the "master gland"</a:t>
            </a:r>
          </a:p>
        </p:txBody>
      </p:sp>
      <p:sp>
        <p:nvSpPr>
          <p:cNvPr id="10" name="Text 6">
            <a:extLst xmlns:a="http://schemas.openxmlformats.org/drawingml/2006/main">
              <a:ext uri="{FF2B5EF4-FFF2-40B4-BE49-F238E27FC236}">
                <a16:creationId xmlns:a16="http://schemas.microsoft.com/office/drawing/2014/main" id="{1461F4B8-C9FB-4FF5-8B3C-DBA623DC3A2F}"/>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17 — The Endocrine System</a:t>
            </a:r>
          </a:p>
        </p:txBody>
      </p:sp>
      <p:sp>
        <p:nvSpPr>
          <p:cNvPr id="11" name="Text 7">
            <a:extLst xmlns:a="http://schemas.openxmlformats.org/drawingml/2006/main">
              <a:ext uri="{FF2B5EF4-FFF2-40B4-BE49-F238E27FC236}">
                <a16:creationId xmlns:a16="http://schemas.microsoft.com/office/drawing/2014/main" id="{4FE19D96-E099-469B-BDAD-3EEBA5555FBC}"/>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10</a:t>
            </a:r>
          </a:p>
        </p:txBody>
      </p:sp>
    </p:spTree>
    <p:extLst>
      <p:ext uri="{BB962C8B-B14F-4D97-AF65-F5344CB8AC3E}">
        <p14:creationId xmlns:p14="http://schemas.microsoft.com/office/powerpoint/2010/main" val="47111767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EA46DB2-06B9-4A29-95FE-E3AC200DAD59}"/>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17.3</a:t>
            </a:r>
          </a:p>
        </p:txBody>
      </p:sp>
      <p:sp>
        <p:nvSpPr>
          <p:cNvPr id="3" name="Text 1">
            <a:extLst xmlns:a="http://schemas.openxmlformats.org/drawingml/2006/main">
              <a:ext uri="{FF2B5EF4-FFF2-40B4-BE49-F238E27FC236}">
                <a16:creationId xmlns:a16="http://schemas.microsoft.com/office/drawing/2014/main" id="{A7D95232-3273-4C59-9275-465BAEB84D8F}"/>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Pituitary Hormones</a:t>
            </a:r>
          </a:p>
        </p:txBody>
      </p:sp>
      <p:sp>
        <p:nvSpPr>
          <p:cNvPr id="4" name="Shape 2">
            <a:extLst xmlns:a="http://schemas.openxmlformats.org/drawingml/2006/main">
              <a:ext uri="{FF2B5EF4-FFF2-40B4-BE49-F238E27FC236}">
                <a16:creationId xmlns:a16="http://schemas.microsoft.com/office/drawing/2014/main" id="{F51E5E63-5754-44E5-A7F6-00F77F581B8D}"/>
              </a:ext>
            </a:extLst>
          </p:cNvPr>
          <p:cNvSpPr>
            <a:spLocks xmlns:a="http://schemas.openxmlformats.org/drawingml/2006/main" noGrp="1"/>
          </p:cNvSpPr>
          <p:nvPr/>
        </p:nvSpPr>
        <p:spPr>
          <a:xfrm xmlns:a="http://schemas.openxmlformats.org/drawingml/2006/main">
            <a:off x="420624" y="1300918"/>
            <a:ext cx="4462272" cy="4713364"/>
          </a:xfrm>
          <a:prstGeom xmlns:a="http://schemas.openxmlformats.org/drawingml/2006/main" prst="roundRect">
            <a:avLst>
              <a:gd name="adj" fmla="val 1230"/>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3ae85fcf0dfd4b37"/>
          <a:stretch xmlns:a="http://schemas.openxmlformats.org/drawingml/2006/main">
            <a:fillRect l="0" t="0" r="0" b="0"/>
          </a:stretch>
        </p:blipFill>
        <p:spPr>
          <a:xfrm xmlns:a="http://schemas.openxmlformats.org/drawingml/2006/main">
            <a:off x="502920" y="1383214"/>
            <a:ext cx="4297680" cy="4548772"/>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74C7E667-1774-4450-99D3-913D573CCFC5}"/>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Pituitary hormones and their targets</a:t>
            </a:r>
          </a:p>
        </p:txBody>
      </p:sp>
      <p:sp>
        <p:nvSpPr>
          <p:cNvPr id="7" name="Text 4">
            <a:extLst xmlns:a="http://schemas.openxmlformats.org/drawingml/2006/main">
              <a:ext uri="{FF2B5EF4-FFF2-40B4-BE49-F238E27FC236}">
                <a16:creationId xmlns:a16="http://schemas.microsoft.com/office/drawing/2014/main" id="{8997AC2A-73AF-49A8-B549-1458CF5B55FE}"/>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Anterior lobe makes tropic hormones</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Control the thyroid, adrenals, and gonads</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Plus growth hormone and prolactin</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Posterior releases ADH and oxytocin</a:t>
            </a:r>
          </a:p>
        </p:txBody>
      </p:sp>
      <p:sp>
        <p:nvSpPr>
          <p:cNvPr id="9" name="Text 5">
            <a:extLst xmlns:a="http://schemas.openxmlformats.org/drawingml/2006/main">
              <a:ext uri="{FF2B5EF4-FFF2-40B4-BE49-F238E27FC236}">
                <a16:creationId xmlns:a16="http://schemas.microsoft.com/office/drawing/2014/main" id="{8BC9B2B2-4391-427B-95F1-643FE836988C}"/>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17 — The Endocrine System</a:t>
            </a:r>
          </a:p>
        </p:txBody>
      </p:sp>
      <p:sp>
        <p:nvSpPr>
          <p:cNvPr id="10" name="Text 6">
            <a:extLst xmlns:a="http://schemas.openxmlformats.org/drawingml/2006/main">
              <a:ext uri="{FF2B5EF4-FFF2-40B4-BE49-F238E27FC236}">
                <a16:creationId xmlns:a16="http://schemas.microsoft.com/office/drawing/2014/main" id="{9057CA0D-C861-4126-8923-7E9FF59EBA2F}"/>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11</a:t>
            </a:r>
          </a:p>
        </p:txBody>
      </p:sp>
    </p:spTree>
    <p:extLst>
      <p:ext uri="{BB962C8B-B14F-4D97-AF65-F5344CB8AC3E}">
        <p14:creationId xmlns:p14="http://schemas.microsoft.com/office/powerpoint/2010/main" val="166732799"/>
      </p:ext>
    </p:extLst>
  </p:cSld>
</p:sld>
</file>

<file path=ppt/slides/slide12.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AA45E9D-FAED-4FE9-94C6-BB046F30B1C4}"/>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D0CA07D0-7E26-49B8-B421-21E46B6F0D08}"/>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17.4</a:t>
            </a:r>
          </a:p>
        </p:txBody>
      </p:sp>
      <p:sp>
        <p:nvSpPr>
          <p:cNvPr id="4" name="Text 2">
            <a:extLst xmlns:a="http://schemas.openxmlformats.org/drawingml/2006/main">
              <a:ext uri="{FF2B5EF4-FFF2-40B4-BE49-F238E27FC236}">
                <a16:creationId xmlns:a16="http://schemas.microsoft.com/office/drawing/2014/main" id="{62C894C6-9B3C-4748-A2F1-AEB356B9B1CE}"/>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FD2A3BC5-27D7-451F-8172-7F7C30D32BA5}"/>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The Thyroid Gland</a:t>
            </a:r>
          </a:p>
        </p:txBody>
      </p:sp>
      <p:sp>
        <p:nvSpPr>
          <p:cNvPr id="6" name="Text 4">
            <a:extLst xmlns:a="http://schemas.openxmlformats.org/drawingml/2006/main">
              <a:ext uri="{FF2B5EF4-FFF2-40B4-BE49-F238E27FC236}">
                <a16:creationId xmlns:a16="http://schemas.microsoft.com/office/drawing/2014/main" id="{B3827D60-C374-4AA1-BEC8-496F27BE9853}"/>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The thyroid gland and its role in metabolism.</a:t>
            </a:r>
          </a:p>
        </p:txBody>
      </p:sp>
    </p:spTree>
    <p:extLst>
      <p:ext uri="{BB962C8B-B14F-4D97-AF65-F5344CB8AC3E}">
        <p14:creationId xmlns:p14="http://schemas.microsoft.com/office/powerpoint/2010/main" val="150722191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05E45AC4-4598-4664-AB5B-2434C42A6AC3}"/>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17.4</a:t>
            </a:r>
          </a:p>
        </p:txBody>
      </p:sp>
      <p:sp>
        <p:nvSpPr>
          <p:cNvPr id="3" name="Text 1">
            <a:extLst xmlns:a="http://schemas.openxmlformats.org/drawingml/2006/main">
              <a:ext uri="{FF2B5EF4-FFF2-40B4-BE49-F238E27FC236}">
                <a16:creationId xmlns:a16="http://schemas.microsoft.com/office/drawing/2014/main" id="{D2E04FC7-4FD1-4CB3-ACC6-DE18EF6C5144}"/>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Thyroid Gland</a:t>
            </a:r>
          </a:p>
        </p:txBody>
      </p:sp>
      <p:sp>
        <p:nvSpPr>
          <p:cNvPr id="4" name="Shape 2">
            <a:extLst xmlns:a="http://schemas.openxmlformats.org/drawingml/2006/main">
              <a:ext uri="{FF2B5EF4-FFF2-40B4-BE49-F238E27FC236}">
                <a16:creationId xmlns:a16="http://schemas.microsoft.com/office/drawing/2014/main" id="{76511F3A-CD35-4843-A0A0-BAA6FD03F285}"/>
              </a:ext>
            </a:extLst>
          </p:cNvPr>
          <p:cNvSpPr>
            <a:spLocks xmlns:a="http://schemas.openxmlformats.org/drawingml/2006/main" noGrp="1"/>
          </p:cNvSpPr>
          <p:nvPr/>
        </p:nvSpPr>
        <p:spPr>
          <a:xfrm xmlns:a="http://schemas.openxmlformats.org/drawingml/2006/main">
            <a:off x="1374572" y="1289304"/>
            <a:ext cx="2554376" cy="4736592"/>
          </a:xfrm>
          <a:prstGeom xmlns:a="http://schemas.openxmlformats.org/drawingml/2006/main" prst="roundRect">
            <a:avLst>
              <a:gd name="adj" fmla="val 2148"/>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567069bd4add4f80"/>
          <a:stretch xmlns:a="http://schemas.openxmlformats.org/drawingml/2006/main">
            <a:fillRect l="0" t="0" r="0" b="0"/>
          </a:stretch>
        </p:blipFill>
        <p:spPr>
          <a:xfrm xmlns:a="http://schemas.openxmlformats.org/drawingml/2006/main">
            <a:off x="1456868" y="1371600"/>
            <a:ext cx="2389784"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89B3E1BB-565A-4E97-BF74-1A9020691C02}"/>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thyroid gland</a:t>
            </a:r>
          </a:p>
        </p:txBody>
      </p:sp>
      <p:sp>
        <p:nvSpPr>
          <p:cNvPr id="7" name="Text 4">
            <a:extLst xmlns:a="http://schemas.openxmlformats.org/drawingml/2006/main">
              <a:ext uri="{FF2B5EF4-FFF2-40B4-BE49-F238E27FC236}">
                <a16:creationId xmlns:a16="http://schemas.microsoft.com/office/drawing/2014/main" id="{8FCBBA59-E979-4EFF-9059-03385413D505}"/>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Located in the front of the neck</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Wraps around the trachea</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Makes thyroid hormone (T3, T4)</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Requires iodine</a:t>
            </a:r>
          </a:p>
        </p:txBody>
      </p:sp>
      <p:sp>
        <p:nvSpPr>
          <p:cNvPr id="9" name="Text 5">
            <a:extLst xmlns:a="http://schemas.openxmlformats.org/drawingml/2006/main">
              <a:ext uri="{FF2B5EF4-FFF2-40B4-BE49-F238E27FC236}">
                <a16:creationId xmlns:a16="http://schemas.microsoft.com/office/drawing/2014/main" id="{DCD683B7-7ED9-4B35-83C5-BB1CDF55AF9A}"/>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17 — The Endocrine System</a:t>
            </a:r>
          </a:p>
        </p:txBody>
      </p:sp>
      <p:sp>
        <p:nvSpPr>
          <p:cNvPr id="10" name="Text 6">
            <a:extLst xmlns:a="http://schemas.openxmlformats.org/drawingml/2006/main">
              <a:ext uri="{FF2B5EF4-FFF2-40B4-BE49-F238E27FC236}">
                <a16:creationId xmlns:a16="http://schemas.microsoft.com/office/drawing/2014/main" id="{BB8301A7-362E-407A-B383-03AFCA2BB07C}"/>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13</a:t>
            </a:r>
          </a:p>
        </p:txBody>
      </p:sp>
    </p:spTree>
    <p:extLst>
      <p:ext uri="{BB962C8B-B14F-4D97-AF65-F5344CB8AC3E}">
        <p14:creationId xmlns:p14="http://schemas.microsoft.com/office/powerpoint/2010/main" val="149119617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8746EC2-E9AB-47EE-AAA9-18519A6EDE02}"/>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17.4</a:t>
            </a:r>
          </a:p>
        </p:txBody>
      </p:sp>
      <p:sp>
        <p:nvSpPr>
          <p:cNvPr id="3" name="Text 1">
            <a:extLst xmlns:a="http://schemas.openxmlformats.org/drawingml/2006/main">
              <a:ext uri="{FF2B5EF4-FFF2-40B4-BE49-F238E27FC236}">
                <a16:creationId xmlns:a16="http://schemas.microsoft.com/office/drawing/2014/main" id="{969B3D70-0A2D-450A-B448-C6C47B5D58F9}"/>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Thyroid Function &amp; Feedback</a:t>
            </a:r>
          </a:p>
        </p:txBody>
      </p:sp>
      <p:sp>
        <p:nvSpPr>
          <p:cNvPr id="4" name="Text 2">
            <a:extLst xmlns:a="http://schemas.openxmlformats.org/drawingml/2006/main">
              <a:ext uri="{FF2B5EF4-FFF2-40B4-BE49-F238E27FC236}">
                <a16:creationId xmlns:a16="http://schemas.microsoft.com/office/drawing/2014/main" id="{6EEFAFBB-5722-495E-9928-2939B405CDA6}"/>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TSH from the pituitary drives it</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T3 and T4 raise metabolic rate</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Feedback keeps levels balanced</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Imbalance causes disease</a:t>
            </a:r>
          </a:p>
        </p:txBody>
      </p:sp>
      <p:sp>
        <p:nvSpPr>
          <p:cNvPr id="5" name="Shape 3">
            <a:extLst xmlns:a="http://schemas.openxmlformats.org/drawingml/2006/main">
              <a:ext uri="{FF2B5EF4-FFF2-40B4-BE49-F238E27FC236}">
                <a16:creationId xmlns:a16="http://schemas.microsoft.com/office/drawing/2014/main" id="{445F8534-2F4A-45A1-9FFE-B7C8BDADF457}"/>
              </a:ext>
            </a:extLst>
          </p:cNvPr>
          <p:cNvSpPr>
            <a:spLocks xmlns:a="http://schemas.openxmlformats.org/drawingml/2006/main" noGrp="1"/>
          </p:cNvSpPr>
          <p:nvPr/>
        </p:nvSpPr>
        <p:spPr>
          <a:xfrm xmlns:a="http://schemas.openxmlformats.org/drawingml/2006/main">
            <a:off x="6221706" y="1335024"/>
            <a:ext cx="4747309"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5c8337ff6b934b7b"/>
          <a:stretch xmlns:a="http://schemas.openxmlformats.org/drawingml/2006/main">
            <a:fillRect l="0" t="0" r="0" b="0"/>
          </a:stretch>
        </p:blipFill>
        <p:spPr>
          <a:xfrm xmlns:a="http://schemas.openxmlformats.org/drawingml/2006/main">
            <a:off x="6304002" y="1417320"/>
            <a:ext cx="4582717"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87D84AB0-A652-43DA-B971-C42F3881A328}"/>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Control of thyroid hormone</a:t>
            </a:r>
          </a:p>
        </p:txBody>
      </p:sp>
      <p:sp>
        <p:nvSpPr>
          <p:cNvPr id="9" name="Text 5">
            <a:extLst xmlns:a="http://schemas.openxmlformats.org/drawingml/2006/main">
              <a:ext uri="{FF2B5EF4-FFF2-40B4-BE49-F238E27FC236}">
                <a16:creationId xmlns:a16="http://schemas.microsoft.com/office/drawing/2014/main" id="{DF30278E-465D-4C94-AAA5-9AA63BEBEF87}"/>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17 — The Endocrine System</a:t>
            </a:r>
          </a:p>
        </p:txBody>
      </p:sp>
      <p:sp>
        <p:nvSpPr>
          <p:cNvPr id="10" name="Text 6">
            <a:extLst xmlns:a="http://schemas.openxmlformats.org/drawingml/2006/main">
              <a:ext uri="{FF2B5EF4-FFF2-40B4-BE49-F238E27FC236}">
                <a16:creationId xmlns:a16="http://schemas.microsoft.com/office/drawing/2014/main" id="{BD98A5DD-E953-4FCB-AF98-FA535D38639E}"/>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14</a:t>
            </a:r>
          </a:p>
        </p:txBody>
      </p:sp>
    </p:spTree>
    <p:extLst>
      <p:ext uri="{BB962C8B-B14F-4D97-AF65-F5344CB8AC3E}">
        <p14:creationId xmlns:p14="http://schemas.microsoft.com/office/powerpoint/2010/main" val="142901008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2E312E7-AB87-4220-9E38-CF3526E2A495}"/>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17.4</a:t>
            </a:r>
          </a:p>
        </p:txBody>
      </p:sp>
      <p:sp>
        <p:nvSpPr>
          <p:cNvPr id="3" name="Text 1">
            <a:extLst xmlns:a="http://schemas.openxmlformats.org/drawingml/2006/main">
              <a:ext uri="{FF2B5EF4-FFF2-40B4-BE49-F238E27FC236}">
                <a16:creationId xmlns:a16="http://schemas.microsoft.com/office/drawing/2014/main" id="{BC90A406-B96E-443E-8EDA-B9A083D3AD79}"/>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Goiter</a:t>
            </a:r>
          </a:p>
        </p:txBody>
      </p:sp>
      <p:sp>
        <p:nvSpPr>
          <p:cNvPr id="4" name="Text 2">
            <a:extLst xmlns:a="http://schemas.openxmlformats.org/drawingml/2006/main">
              <a:ext uri="{FF2B5EF4-FFF2-40B4-BE49-F238E27FC236}">
                <a16:creationId xmlns:a16="http://schemas.microsoft.com/office/drawing/2014/main" id="{33961F22-0924-4281-B213-B0149C1F6D95}"/>
              </a:ext>
            </a:extLst>
          </p:cNvPr>
          <p:cNvSpPr>
            <a:spLocks xmlns:a="http://schemas.openxmlformats.org/drawingml/2006/main" noGrp="1"/>
          </p:cNvSpPr>
          <p:nvPr/>
        </p:nvSpPr>
        <p:spPr>
          <a:xfrm xmlns:a="http://schemas.openxmlformats.org/drawingml/2006/main">
            <a:off x="548640" y="1783080"/>
            <a:ext cx="4663440" cy="4206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An enlarged thyroid gland</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Often from iodine deficiency</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Can occur with over- or underactivity</a:t>
            </a:r>
          </a:p>
          <a:p xmlns:a="http://schemas.openxmlformats.org/drawingml/2006/main">
            <a:pPr marL="177800" indent="-177800">
              <a:lnSpc>
                <a:spcPct val="102000"/>
              </a:lnSpc>
              <a:spcAft>
                <a:spcPts val="800"/>
              </a:spcAft>
              <a:buSzPct val="100000"/>
              <a:buChar char="•"/>
            </a:pPr>
            <a:r>
              <a:rPr sz="1500">
                <a:solidFill>
                  <a:srgbClr val="23363B"/>
                </a:solidFill>
                <a:latin typeface="Calibri"/>
                <a:ea typeface="Calibri"/>
                <a:cs typeface="Calibri"/>
              </a:rPr>
              <a:t>A visible neck swelling</a:t>
            </a:r>
          </a:p>
        </p:txBody>
      </p:sp>
      <p:sp>
        <p:nvSpPr>
          <p:cNvPr id="5" name="Shape 3">
            <a:extLst xmlns:a="http://schemas.openxmlformats.org/drawingml/2006/main">
              <a:ext uri="{FF2B5EF4-FFF2-40B4-BE49-F238E27FC236}">
                <a16:creationId xmlns:a16="http://schemas.microsoft.com/office/drawing/2014/main" id="{0C35081E-0E33-4B8B-8641-F607390F2999}"/>
              </a:ext>
            </a:extLst>
          </p:cNvPr>
          <p:cNvSpPr>
            <a:spLocks xmlns:a="http://schemas.openxmlformats.org/drawingml/2006/main" noGrp="1"/>
          </p:cNvSpPr>
          <p:nvPr/>
        </p:nvSpPr>
        <p:spPr>
          <a:xfrm xmlns:a="http://schemas.openxmlformats.org/drawingml/2006/main">
            <a:off x="5524979" y="1335024"/>
            <a:ext cx="6140763" cy="4645152"/>
          </a:xfrm>
          <a:prstGeom xmlns:a="http://schemas.openxmlformats.org/drawingml/2006/main" prst="roundRect">
            <a:avLst>
              <a:gd name="adj" fmla="val 118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bd605992a5b04159"/>
          <a:stretch xmlns:a="http://schemas.openxmlformats.org/drawingml/2006/main">
            <a:fillRect l="0" t="0" r="0" b="0"/>
          </a:stretch>
        </p:blipFill>
        <p:spPr>
          <a:xfrm xmlns:a="http://schemas.openxmlformats.org/drawingml/2006/main">
            <a:off x="5607275" y="1417320"/>
            <a:ext cx="5976171" cy="4480560"/>
          </a:xfrm>
          <a:prstGeom xmlns:a="http://schemas.openxmlformats.org/drawingml/2006/main" prst="rect">
            <a:avLst/>
          </a:prstGeom>
        </p:spPr>
      </p:pic>
      <p:sp>
        <p:nvSpPr>
          <p:cNvPr id="7" name="Text 4">
            <a:extLst xmlns:a="http://schemas.openxmlformats.org/drawingml/2006/main">
              <a:ext uri="{FF2B5EF4-FFF2-40B4-BE49-F238E27FC236}">
                <a16:creationId xmlns:a16="http://schemas.microsoft.com/office/drawing/2014/main" id="{C6216FCA-066B-4D64-BD06-E9447D0AFF48}"/>
              </a:ext>
            </a:extLst>
          </p:cNvPr>
          <p:cNvSpPr>
            <a:spLocks xmlns:a="http://schemas.openxmlformats.org/drawingml/2006/main" noGrp="1"/>
          </p:cNvSpPr>
          <p:nvPr/>
        </p:nvSpPr>
        <p:spPr>
          <a:xfrm xmlns:a="http://schemas.openxmlformats.org/drawingml/2006/main">
            <a:off x="5486400" y="5943600"/>
            <a:ext cx="62179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Goiter (enlarged thyroid)</a:t>
            </a:r>
          </a:p>
        </p:txBody>
      </p:sp>
      <p:sp>
        <p:nvSpPr>
          <p:cNvPr id="9" name="Text 5">
            <a:extLst xmlns:a="http://schemas.openxmlformats.org/drawingml/2006/main">
              <a:ext uri="{FF2B5EF4-FFF2-40B4-BE49-F238E27FC236}">
                <a16:creationId xmlns:a16="http://schemas.microsoft.com/office/drawing/2014/main" id="{4816AE43-1EA9-453B-8BD3-BA3378286D5B}"/>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17 — The Endocrine System</a:t>
            </a:r>
          </a:p>
        </p:txBody>
      </p:sp>
      <p:sp>
        <p:nvSpPr>
          <p:cNvPr id="10" name="Text 6">
            <a:extLst xmlns:a="http://schemas.openxmlformats.org/drawingml/2006/main">
              <a:ext uri="{FF2B5EF4-FFF2-40B4-BE49-F238E27FC236}">
                <a16:creationId xmlns:a16="http://schemas.microsoft.com/office/drawing/2014/main" id="{D285F18E-2E39-4875-82C6-C6AD1404E33F}"/>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15</a:t>
            </a:r>
          </a:p>
        </p:txBody>
      </p:sp>
    </p:spTree>
    <p:extLst>
      <p:ext uri="{BB962C8B-B14F-4D97-AF65-F5344CB8AC3E}">
        <p14:creationId xmlns:p14="http://schemas.microsoft.com/office/powerpoint/2010/main" val="1627650264"/>
      </p:ext>
    </p:extLst>
  </p:cSld>
</p:sld>
</file>

<file path=ppt/slides/slide16.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EC44A60-84B9-4CB7-B6FD-FEA1F69C970E}"/>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A9EABA80-744C-4B91-A6E2-11B56BCBFDE2}"/>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17.5</a:t>
            </a:r>
          </a:p>
        </p:txBody>
      </p:sp>
      <p:sp>
        <p:nvSpPr>
          <p:cNvPr id="4" name="Text 2">
            <a:extLst xmlns:a="http://schemas.openxmlformats.org/drawingml/2006/main">
              <a:ext uri="{FF2B5EF4-FFF2-40B4-BE49-F238E27FC236}">
                <a16:creationId xmlns:a16="http://schemas.microsoft.com/office/drawing/2014/main" id="{59FE9233-3021-4175-B814-4A748CCBB605}"/>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53E68A66-6F80-4162-A368-931B1EC571E8}"/>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The Parathyroid Glands</a:t>
            </a:r>
          </a:p>
        </p:txBody>
      </p:sp>
      <p:sp>
        <p:nvSpPr>
          <p:cNvPr id="6" name="Text 4">
            <a:extLst xmlns:a="http://schemas.openxmlformats.org/drawingml/2006/main">
              <a:ext uri="{FF2B5EF4-FFF2-40B4-BE49-F238E27FC236}">
                <a16:creationId xmlns:a16="http://schemas.microsoft.com/office/drawing/2014/main" id="{DBC263AC-B43D-4082-8028-BFAC676479CB}"/>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The parathyroid glands and calcium balance.</a:t>
            </a:r>
          </a:p>
        </p:txBody>
      </p:sp>
    </p:spTree>
    <p:extLst>
      <p:ext uri="{BB962C8B-B14F-4D97-AF65-F5344CB8AC3E}">
        <p14:creationId xmlns:p14="http://schemas.microsoft.com/office/powerpoint/2010/main" val="143183353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F308B3A-CB12-465A-9E9F-7B24EE266EB2}"/>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17.5</a:t>
            </a:r>
          </a:p>
        </p:txBody>
      </p:sp>
      <p:sp>
        <p:nvSpPr>
          <p:cNvPr id="3" name="Text 1">
            <a:extLst xmlns:a="http://schemas.openxmlformats.org/drawingml/2006/main">
              <a:ext uri="{FF2B5EF4-FFF2-40B4-BE49-F238E27FC236}">
                <a16:creationId xmlns:a16="http://schemas.microsoft.com/office/drawing/2014/main" id="{75ED2E9A-96B5-4C8D-A41C-5F319AA51AD5}"/>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Parathyroid Glands</a:t>
            </a:r>
          </a:p>
        </p:txBody>
      </p:sp>
      <p:sp>
        <p:nvSpPr>
          <p:cNvPr id="4" name="Shape 2">
            <a:extLst xmlns:a="http://schemas.openxmlformats.org/drawingml/2006/main">
              <a:ext uri="{FF2B5EF4-FFF2-40B4-BE49-F238E27FC236}">
                <a16:creationId xmlns:a16="http://schemas.microsoft.com/office/drawing/2014/main" id="{5EB654B2-04A5-450F-9733-6B88B984F1D7}"/>
              </a:ext>
            </a:extLst>
          </p:cNvPr>
          <p:cNvSpPr>
            <a:spLocks xmlns:a="http://schemas.openxmlformats.org/drawingml/2006/main" noGrp="1"/>
          </p:cNvSpPr>
          <p:nvPr/>
        </p:nvSpPr>
        <p:spPr>
          <a:xfrm xmlns:a="http://schemas.openxmlformats.org/drawingml/2006/main">
            <a:off x="1139786" y="1289304"/>
            <a:ext cx="9927668"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bbc5228489344862"/>
          <a:stretch xmlns:a="http://schemas.openxmlformats.org/drawingml/2006/main">
            <a:fillRect l="0" t="0" r="0" b="0"/>
          </a:stretch>
        </p:blipFill>
        <p:spPr>
          <a:xfrm xmlns:a="http://schemas.openxmlformats.org/drawingml/2006/main">
            <a:off x="1222082" y="1371600"/>
            <a:ext cx="9763076"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CAA3EA62-32E0-4222-AF6E-370D714803BA}"/>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parathyroid glands</a:t>
            </a:r>
          </a:p>
        </p:txBody>
      </p:sp>
      <p:sp>
        <p:nvSpPr>
          <p:cNvPr id="7" name="Text 4">
            <a:extLst xmlns:a="http://schemas.openxmlformats.org/drawingml/2006/main">
              <a:ext uri="{FF2B5EF4-FFF2-40B4-BE49-F238E27FC236}">
                <a16:creationId xmlns:a16="http://schemas.microsoft.com/office/drawing/2014/main" id="{DC8632AD-36EC-40A5-BF05-ACA638D08944}"/>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Four small glands behind the thyroid</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Make parathyroid hormone (PTH)</a:t>
            </a:r>
          </a:p>
        </p:txBody>
      </p:sp>
      <p:sp>
        <p:nvSpPr>
          <p:cNvPr id="8" name="Text 5">
            <a:extLst xmlns:a="http://schemas.openxmlformats.org/drawingml/2006/main">
              <a:ext uri="{FF2B5EF4-FFF2-40B4-BE49-F238E27FC236}">
                <a16:creationId xmlns:a16="http://schemas.microsoft.com/office/drawing/2014/main" id="{970A7339-1470-49EB-A95A-703E1B5EEE14}"/>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Tiny but essential</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Regulate blood calcium</a:t>
            </a:r>
          </a:p>
        </p:txBody>
      </p:sp>
      <p:sp>
        <p:nvSpPr>
          <p:cNvPr id="10" name="Text 6">
            <a:extLst xmlns:a="http://schemas.openxmlformats.org/drawingml/2006/main">
              <a:ext uri="{FF2B5EF4-FFF2-40B4-BE49-F238E27FC236}">
                <a16:creationId xmlns:a16="http://schemas.microsoft.com/office/drawing/2014/main" id="{EC9BD608-3F5F-4EFB-88D0-FD9F56E3AE8B}"/>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17 — The Endocrine System</a:t>
            </a:r>
          </a:p>
        </p:txBody>
      </p:sp>
      <p:sp>
        <p:nvSpPr>
          <p:cNvPr id="11" name="Text 7">
            <a:extLst xmlns:a="http://schemas.openxmlformats.org/drawingml/2006/main">
              <a:ext uri="{FF2B5EF4-FFF2-40B4-BE49-F238E27FC236}">
                <a16:creationId xmlns:a16="http://schemas.microsoft.com/office/drawing/2014/main" id="{7B674F2F-FB11-425C-8F62-D7BF8FAFA33F}"/>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17</a:t>
            </a:r>
          </a:p>
        </p:txBody>
      </p:sp>
    </p:spTree>
    <p:extLst>
      <p:ext uri="{BB962C8B-B14F-4D97-AF65-F5344CB8AC3E}">
        <p14:creationId xmlns:p14="http://schemas.microsoft.com/office/powerpoint/2010/main" val="194657855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F6D4ACD-7F02-40AF-8CFF-235DC68A8022}"/>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17.5</a:t>
            </a:r>
          </a:p>
        </p:txBody>
      </p:sp>
      <p:sp>
        <p:nvSpPr>
          <p:cNvPr id="3" name="Text 1">
            <a:extLst xmlns:a="http://schemas.openxmlformats.org/drawingml/2006/main">
              <a:ext uri="{FF2B5EF4-FFF2-40B4-BE49-F238E27FC236}">
                <a16:creationId xmlns:a16="http://schemas.microsoft.com/office/drawing/2014/main" id="{2A2DE6A8-A553-421E-9DBD-4A1B6FC30FE8}"/>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Calcium Regulation</a:t>
            </a:r>
          </a:p>
        </p:txBody>
      </p:sp>
      <p:sp>
        <p:nvSpPr>
          <p:cNvPr id="4" name="Shape 2">
            <a:extLst xmlns:a="http://schemas.openxmlformats.org/drawingml/2006/main">
              <a:ext uri="{FF2B5EF4-FFF2-40B4-BE49-F238E27FC236}">
                <a16:creationId xmlns:a16="http://schemas.microsoft.com/office/drawing/2014/main" id="{1B8EF97E-7EEE-4B14-987B-C820F6DCE321}"/>
              </a:ext>
            </a:extLst>
          </p:cNvPr>
          <p:cNvSpPr>
            <a:spLocks xmlns:a="http://schemas.openxmlformats.org/drawingml/2006/main" noGrp="1"/>
          </p:cNvSpPr>
          <p:nvPr/>
        </p:nvSpPr>
        <p:spPr>
          <a:xfrm xmlns:a="http://schemas.openxmlformats.org/drawingml/2006/main">
            <a:off x="666826" y="1289304"/>
            <a:ext cx="3969868" cy="4736592"/>
          </a:xfrm>
          <a:prstGeom xmlns:a="http://schemas.openxmlformats.org/drawingml/2006/main" prst="roundRect">
            <a:avLst>
              <a:gd name="adj" fmla="val 1382"/>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f4cd1179608a44c5"/>
          <a:stretch xmlns:a="http://schemas.openxmlformats.org/drawingml/2006/main">
            <a:fillRect l="0" t="0" r="0" b="0"/>
          </a:stretch>
        </p:blipFill>
        <p:spPr>
          <a:xfrm xmlns:a="http://schemas.openxmlformats.org/drawingml/2006/main">
            <a:off x="749122" y="1371600"/>
            <a:ext cx="3805276"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438C1EE5-8552-40D0-8EAB-31178A03F9B0}"/>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Hormonal control of blood calcium</a:t>
            </a:r>
          </a:p>
        </p:txBody>
      </p:sp>
      <p:sp>
        <p:nvSpPr>
          <p:cNvPr id="7" name="Text 4">
            <a:extLst xmlns:a="http://schemas.openxmlformats.org/drawingml/2006/main">
              <a:ext uri="{FF2B5EF4-FFF2-40B4-BE49-F238E27FC236}">
                <a16:creationId xmlns:a16="http://schemas.microsoft.com/office/drawing/2014/main" id="{5AC98E96-CCB7-44CB-9E20-C847475FC678}"/>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PTH raises blood calcium</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Acts on bone, kidney, and intestine</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Calcitonin lowers calcium</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Balance is tightly controlled</a:t>
            </a:r>
          </a:p>
        </p:txBody>
      </p:sp>
      <p:sp>
        <p:nvSpPr>
          <p:cNvPr id="9" name="Text 5">
            <a:extLst xmlns:a="http://schemas.openxmlformats.org/drawingml/2006/main">
              <a:ext uri="{FF2B5EF4-FFF2-40B4-BE49-F238E27FC236}">
                <a16:creationId xmlns:a16="http://schemas.microsoft.com/office/drawing/2014/main" id="{9B11E784-7729-499E-B975-BB8CDDF848C3}"/>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17 — The Endocrine System</a:t>
            </a:r>
          </a:p>
        </p:txBody>
      </p:sp>
      <p:sp>
        <p:nvSpPr>
          <p:cNvPr id="10" name="Text 6">
            <a:extLst xmlns:a="http://schemas.openxmlformats.org/drawingml/2006/main">
              <a:ext uri="{FF2B5EF4-FFF2-40B4-BE49-F238E27FC236}">
                <a16:creationId xmlns:a16="http://schemas.microsoft.com/office/drawing/2014/main" id="{2ED24297-1E95-42A7-979D-269EF069FE71}"/>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18</a:t>
            </a:r>
          </a:p>
        </p:txBody>
      </p:sp>
    </p:spTree>
    <p:extLst>
      <p:ext uri="{BB962C8B-B14F-4D97-AF65-F5344CB8AC3E}">
        <p14:creationId xmlns:p14="http://schemas.microsoft.com/office/powerpoint/2010/main" val="861568035"/>
      </p:ext>
    </p:extLst>
  </p:cSld>
</p:sld>
</file>

<file path=ppt/slides/slide19.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79E383A-3047-4606-BD7A-BC884791D5C5}"/>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ellipse">
            <a:avLst/>
          </a:prstGeom>
          <a:solidFill xmlns:a="http://schemas.openxmlformats.org/drawingml/2006/main">
            <a:srgbClr val="E36414"/>
          </a:solidFill>
        </p:spPr>
      </p:sp>
      <p:sp>
        <p:nvSpPr>
          <p:cNvPr id="3" name="Text 1">
            <a:extLst xmlns:a="http://schemas.openxmlformats.org/drawingml/2006/main">
              <a:ext uri="{FF2B5EF4-FFF2-40B4-BE49-F238E27FC236}">
                <a16:creationId xmlns:a16="http://schemas.microsoft.com/office/drawing/2014/main" id="{A01A51E1-0E3F-4085-9F1C-727503273C8D}"/>
              </a:ext>
            </a:extLst>
          </p:cNvPr>
          <p:cNvSpPr>
            <a:spLocks xmlns:a="http://schemas.openxmlformats.org/drawingml/2006/main" noGrp="1"/>
          </p:cNvSpPr>
          <p:nvPr/>
        </p:nvSpPr>
        <p:spPr>
          <a:xfrm xmlns:a="http://schemas.openxmlformats.org/drawingml/2006/main">
            <a:off x="822960" y="2331720"/>
            <a:ext cx="2011680" cy="20116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400" b="1">
                <a:solidFill>
                  <a:srgbClr val="FFFFFF"/>
                </a:solidFill>
                <a:latin typeface="Georgia"/>
                <a:ea typeface="Georgia"/>
                <a:cs typeface="Georgia"/>
              </a:rPr>
              <a:t>17.9</a:t>
            </a:r>
          </a:p>
        </p:txBody>
      </p:sp>
      <p:sp>
        <p:nvSpPr>
          <p:cNvPr id="4" name="Text 2">
            <a:extLst xmlns:a="http://schemas.openxmlformats.org/drawingml/2006/main">
              <a:ext uri="{FF2B5EF4-FFF2-40B4-BE49-F238E27FC236}">
                <a16:creationId xmlns:a16="http://schemas.microsoft.com/office/drawing/2014/main" id="{26751554-0186-4FC3-87A5-CBBF545DCC50}"/>
              </a:ext>
            </a:extLst>
          </p:cNvPr>
          <p:cNvSpPr>
            <a:spLocks xmlns:a="http://schemas.openxmlformats.org/drawingml/2006/main" noGrp="1"/>
          </p:cNvSpPr>
          <p:nvPr/>
        </p:nvSpPr>
        <p:spPr>
          <a:xfrm xmlns:a="http://schemas.openxmlformats.org/drawingml/2006/main">
            <a:off x="3200400" y="2468880"/>
            <a:ext cx="73152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400" b="1">
                <a:solidFill>
                  <a:srgbClr val="9FC2C9"/>
                </a:solidFill>
                <a:latin typeface="Calibri"/>
                <a:ea typeface="Calibri"/>
                <a:cs typeface="Calibri"/>
              </a:rPr>
              <a:t>SECTION</a:t>
            </a:r>
          </a:p>
        </p:txBody>
      </p:sp>
      <p:sp>
        <p:nvSpPr>
          <p:cNvPr id="5" name="Text 3">
            <a:extLst xmlns:a="http://schemas.openxmlformats.org/drawingml/2006/main">
              <a:ext uri="{FF2B5EF4-FFF2-40B4-BE49-F238E27FC236}">
                <a16:creationId xmlns:a16="http://schemas.microsoft.com/office/drawing/2014/main" id="{976F4A7C-C602-4D65-97E6-0041497CBA62}"/>
              </a:ext>
            </a:extLst>
          </p:cNvPr>
          <p:cNvSpPr>
            <a:spLocks xmlns:a="http://schemas.openxmlformats.org/drawingml/2006/main" noGrp="1"/>
          </p:cNvSpPr>
          <p:nvPr/>
        </p:nvSpPr>
        <p:spPr>
          <a:xfrm xmlns:a="http://schemas.openxmlformats.org/drawingml/2006/main">
            <a:off x="3154680" y="2788920"/>
            <a:ext cx="8412480" cy="14630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FFFFFF"/>
                </a:solidFill>
                <a:latin typeface="Georgia"/>
                <a:ea typeface="Georgia"/>
                <a:cs typeface="Georgia"/>
              </a:rPr>
              <a:t>The Endocrine Pancreas</a:t>
            </a:r>
          </a:p>
        </p:txBody>
      </p:sp>
      <p:sp>
        <p:nvSpPr>
          <p:cNvPr id="6" name="Text 4">
            <a:extLst xmlns:a="http://schemas.openxmlformats.org/drawingml/2006/main">
              <a:ext uri="{FF2B5EF4-FFF2-40B4-BE49-F238E27FC236}">
                <a16:creationId xmlns:a16="http://schemas.microsoft.com/office/drawing/2014/main" id="{24EEFF3F-531A-451A-A319-536206AA877E}"/>
              </a:ext>
            </a:extLst>
          </p:cNvPr>
          <p:cNvSpPr>
            <a:spLocks xmlns:a="http://schemas.openxmlformats.org/drawingml/2006/main" noGrp="1"/>
          </p:cNvSpPr>
          <p:nvPr/>
        </p:nvSpPr>
        <p:spPr>
          <a:xfrm xmlns:a="http://schemas.openxmlformats.org/drawingml/2006/main">
            <a:off x="3200400" y="4160520"/>
            <a:ext cx="8138160" cy="8229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nSpc>
                <a:spcPct val="110000"/>
              </a:lnSpc>
              <a:buNone/>
            </a:pPr>
            <a:r>
              <a:rPr sz="1500">
                <a:solidFill>
                  <a:srgbClr val="CFE3E7"/>
                </a:solidFill>
                <a:latin typeface="Calibri"/>
                <a:ea typeface="Calibri"/>
                <a:cs typeface="Calibri"/>
              </a:rPr>
              <a:t>The pancreas and the control of blood sugar.</a:t>
            </a:r>
          </a:p>
        </p:txBody>
      </p:sp>
    </p:spTree>
    <p:extLst>
      <p:ext uri="{BB962C8B-B14F-4D97-AF65-F5344CB8AC3E}">
        <p14:creationId xmlns:p14="http://schemas.microsoft.com/office/powerpoint/2010/main" val="191286922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434E83C-AF31-4470-A3C7-DAB790101C66}"/>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17.9</a:t>
            </a:r>
          </a:p>
        </p:txBody>
      </p:sp>
      <p:sp>
        <p:nvSpPr>
          <p:cNvPr id="3" name="Text 1">
            <a:extLst xmlns:a="http://schemas.openxmlformats.org/drawingml/2006/main">
              <a:ext uri="{FF2B5EF4-FFF2-40B4-BE49-F238E27FC236}">
                <a16:creationId xmlns:a16="http://schemas.microsoft.com/office/drawing/2014/main" id="{32367A52-6D1C-46CC-BDED-8635183B6AE4}"/>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The Endocrine Pancreas</a:t>
            </a:r>
          </a:p>
        </p:txBody>
      </p:sp>
      <p:sp>
        <p:nvSpPr>
          <p:cNvPr id="4" name="Shape 2">
            <a:extLst xmlns:a="http://schemas.openxmlformats.org/drawingml/2006/main">
              <a:ext uri="{FF2B5EF4-FFF2-40B4-BE49-F238E27FC236}">
                <a16:creationId xmlns:a16="http://schemas.microsoft.com/office/drawing/2014/main" id="{9A90AB69-1F4B-4D52-89FD-C74065302FE7}"/>
              </a:ext>
            </a:extLst>
          </p:cNvPr>
          <p:cNvSpPr>
            <a:spLocks xmlns:a="http://schemas.openxmlformats.org/drawingml/2006/main" noGrp="1"/>
          </p:cNvSpPr>
          <p:nvPr/>
        </p:nvSpPr>
        <p:spPr>
          <a:xfrm xmlns:a="http://schemas.openxmlformats.org/drawingml/2006/main">
            <a:off x="2483515" y="1289304"/>
            <a:ext cx="7240210" cy="3730752"/>
          </a:xfrm>
          <a:prstGeom xmlns:a="http://schemas.openxmlformats.org/drawingml/2006/main" prst="roundRect">
            <a:avLst>
              <a:gd name="adj" fmla="val 1471"/>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6" name="Image 0"/>
          <p:cNvPicPr>
            <a:picLocks xmlns:a="http://schemas.openxmlformats.org/drawingml/2006/main" noChangeAspect="1"/>
          </p:cNvPicPr>
          <p:nvPr/>
        </p:nvPicPr>
        <p:blipFill>
          <a:blip xmlns:r="http://schemas.openxmlformats.org/officeDocument/2006/relationships" xmlns:a="http://schemas.openxmlformats.org/drawingml/2006/main" r:embed="R507457e15dbd410c"/>
          <a:stretch xmlns:a="http://schemas.openxmlformats.org/drawingml/2006/main">
            <a:fillRect l="0" t="0" r="0" b="0"/>
          </a:stretch>
        </p:blipFill>
        <p:spPr>
          <a:xfrm xmlns:a="http://schemas.openxmlformats.org/drawingml/2006/main">
            <a:off x="2565811" y="1371600"/>
            <a:ext cx="7075618" cy="356616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39BFE436-86A6-4625-9E32-6CB90C325254}"/>
              </a:ext>
            </a:extLst>
          </p:cNvPr>
          <p:cNvSpPr>
            <a:spLocks xmlns:a="http://schemas.openxmlformats.org/drawingml/2006/main" noGrp="1"/>
          </p:cNvSpPr>
          <p:nvPr/>
        </p:nvSpPr>
        <p:spPr>
          <a:xfrm xmlns:a="http://schemas.openxmlformats.org/drawingml/2006/main">
            <a:off x="640080" y="4983480"/>
            <a:ext cx="109270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The endocrine pancreas and its islets</a:t>
            </a:r>
          </a:p>
        </p:txBody>
      </p:sp>
      <p:sp>
        <p:nvSpPr>
          <p:cNvPr id="7" name="Text 4">
            <a:extLst xmlns:a="http://schemas.openxmlformats.org/drawingml/2006/main">
              <a:ext uri="{FF2B5EF4-FFF2-40B4-BE49-F238E27FC236}">
                <a16:creationId xmlns:a16="http://schemas.microsoft.com/office/drawing/2014/main" id="{48046A50-BF16-4723-A269-242293605CED}"/>
              </a:ext>
            </a:extLst>
          </p:cNvPr>
          <p:cNvSpPr>
            <a:spLocks xmlns:a="http://schemas.openxmlformats.org/drawingml/2006/main" noGrp="1"/>
          </p:cNvSpPr>
          <p:nvPr/>
        </p:nvSpPr>
        <p:spPr>
          <a:xfrm xmlns:a="http://schemas.openxmlformats.org/drawingml/2006/main">
            <a:off x="73152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Islets scattered in the pancreas</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Alpha cells make glucagon</a:t>
            </a:r>
          </a:p>
        </p:txBody>
      </p:sp>
      <p:sp>
        <p:nvSpPr>
          <p:cNvPr id="8" name="Text 5">
            <a:extLst xmlns:a="http://schemas.openxmlformats.org/drawingml/2006/main">
              <a:ext uri="{FF2B5EF4-FFF2-40B4-BE49-F238E27FC236}">
                <a16:creationId xmlns:a16="http://schemas.microsoft.com/office/drawing/2014/main" id="{312C68F0-D3A9-4C3E-80DA-C88ED9DD2DDC}"/>
              </a:ext>
            </a:extLst>
          </p:cNvPr>
          <p:cNvSpPr>
            <a:spLocks xmlns:a="http://schemas.openxmlformats.org/drawingml/2006/main" noGrp="1"/>
          </p:cNvSpPr>
          <p:nvPr/>
        </p:nvSpPr>
        <p:spPr>
          <a:xfrm xmlns:a="http://schemas.openxmlformats.org/drawingml/2006/main">
            <a:off x="6263640" y="5349240"/>
            <a:ext cx="5349240" cy="10972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Beta cells make insulin</a:t>
            </a:r>
          </a:p>
          <a:p xmlns:a="http://schemas.openxmlformats.org/drawingml/2006/main">
            <a:pPr marL="177800" indent="-177800">
              <a:lnSpc>
                <a:spcPct val="102000"/>
              </a:lnSpc>
              <a:spcAft>
                <a:spcPts val="800"/>
              </a:spcAft>
              <a:buSzPct val="100000"/>
              <a:buChar char="•"/>
            </a:pPr>
            <a:r>
              <a:rPr sz="1300">
                <a:solidFill>
                  <a:srgbClr val="23363B"/>
                </a:solidFill>
                <a:latin typeface="Calibri"/>
                <a:ea typeface="Calibri"/>
                <a:cs typeface="Calibri"/>
              </a:rPr>
              <a:t>Both regulate blood glucose</a:t>
            </a:r>
          </a:p>
        </p:txBody>
      </p:sp>
      <p:sp>
        <p:nvSpPr>
          <p:cNvPr id="10" name="Text 6">
            <a:extLst xmlns:a="http://schemas.openxmlformats.org/drawingml/2006/main">
              <a:ext uri="{FF2B5EF4-FFF2-40B4-BE49-F238E27FC236}">
                <a16:creationId xmlns:a16="http://schemas.microsoft.com/office/drawing/2014/main" id="{05A6F8CF-88E2-417C-9385-99EE4C2589CD}"/>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17 — The Endocrine System</a:t>
            </a:r>
          </a:p>
        </p:txBody>
      </p:sp>
      <p:sp>
        <p:nvSpPr>
          <p:cNvPr id="11" name="Text 7">
            <a:extLst xmlns:a="http://schemas.openxmlformats.org/drawingml/2006/main">
              <a:ext uri="{FF2B5EF4-FFF2-40B4-BE49-F238E27FC236}">
                <a16:creationId xmlns:a16="http://schemas.microsoft.com/office/drawing/2014/main" id="{51CFD191-B73E-4124-B972-09ACD2DDABE3}"/>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20</a:t>
            </a:r>
          </a:p>
        </p:txBody>
      </p:sp>
    </p:spTree>
    <p:extLst>
      <p:ext uri="{BB962C8B-B14F-4D97-AF65-F5344CB8AC3E}">
        <p14:creationId xmlns:p14="http://schemas.microsoft.com/office/powerpoint/2010/main" val="145714206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8FBCEE-18CF-47B9-924F-A57C849F02D9}"/>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SECTION 17.9</a:t>
            </a:r>
          </a:p>
        </p:txBody>
      </p:sp>
      <p:sp>
        <p:nvSpPr>
          <p:cNvPr id="3" name="Text 1">
            <a:extLst xmlns:a="http://schemas.openxmlformats.org/drawingml/2006/main">
              <a:ext uri="{FF2B5EF4-FFF2-40B4-BE49-F238E27FC236}">
                <a16:creationId xmlns:a16="http://schemas.microsoft.com/office/drawing/2014/main" id="{9300A7A6-3EEE-4E21-8FAF-D315B464F3B6}"/>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Blood Glucose Regulation</a:t>
            </a:r>
          </a:p>
        </p:txBody>
      </p:sp>
      <p:sp>
        <p:nvSpPr>
          <p:cNvPr id="4" name="Shape 2">
            <a:extLst xmlns:a="http://schemas.openxmlformats.org/drawingml/2006/main">
              <a:ext uri="{FF2B5EF4-FFF2-40B4-BE49-F238E27FC236}">
                <a16:creationId xmlns:a16="http://schemas.microsoft.com/office/drawing/2014/main" id="{BE72D323-B2DF-434F-9753-68E13E6A5C2E}"/>
              </a:ext>
            </a:extLst>
          </p:cNvPr>
          <p:cNvSpPr>
            <a:spLocks xmlns:a="http://schemas.openxmlformats.org/drawingml/2006/main" noGrp="1"/>
          </p:cNvSpPr>
          <p:nvPr/>
        </p:nvSpPr>
        <p:spPr>
          <a:xfrm xmlns:a="http://schemas.openxmlformats.org/drawingml/2006/main">
            <a:off x="943432" y="1289304"/>
            <a:ext cx="3416656" cy="4736592"/>
          </a:xfrm>
          <a:prstGeom xmlns:a="http://schemas.openxmlformats.org/drawingml/2006/main" prst="roundRect">
            <a:avLst>
              <a:gd name="adj" fmla="val 1606"/>
            </a:avLst>
          </a:prstGeom>
          <a:solidFill xmlns:a="http://schemas.openxmlformats.org/drawingml/2006/main">
            <a:srgbClr val="FFFFFF"/>
          </a:solidFill>
          <a:ln xmlns:a="http://schemas.openxmlformats.org/drawingml/2006/main" w="12700">
            <a:solidFill>
              <a:srgbClr val="D7E2E6"/>
            </a:solidFill>
            <a:prstDash val="solid"/>
          </a:ln>
          <a:effectLst xmlns:a="http://schemas.openxmlformats.org/drawingml/2006/main">
            <a:outerShdw blurRad="76200" dist="25400" dir="5400000" sx="100000" sy="100000" kx="0" ky="0" algn="bl" rotWithShape="0">
              <a:srgbClr val="9AA9AE">
                <a:alpha val="45000"/>
              </a:srgbClr>
            </a:outerShdw>
          </a:effectLst>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a2348a2d320f4914"/>
          <a:stretch xmlns:a="http://schemas.openxmlformats.org/drawingml/2006/main">
            <a:fillRect l="0" t="0" r="0" b="0"/>
          </a:stretch>
        </p:blipFill>
        <p:spPr>
          <a:xfrm xmlns:a="http://schemas.openxmlformats.org/drawingml/2006/main">
            <a:off x="1025728" y="1371600"/>
            <a:ext cx="3252064" cy="4572000"/>
          </a:xfrm>
          <a:prstGeom xmlns:a="http://schemas.openxmlformats.org/drawingml/2006/main" prst="rect">
            <a:avLst/>
          </a:prstGeom>
        </p:spPr>
      </p:pic>
      <p:sp>
        <p:nvSpPr>
          <p:cNvPr id="6" name="Text 3">
            <a:extLst xmlns:a="http://schemas.openxmlformats.org/drawingml/2006/main">
              <a:ext uri="{FF2B5EF4-FFF2-40B4-BE49-F238E27FC236}">
                <a16:creationId xmlns:a16="http://schemas.microsoft.com/office/drawing/2014/main" id="{FCEA4811-5739-46D4-947A-3E7C647D78A7}"/>
              </a:ext>
            </a:extLst>
          </p:cNvPr>
          <p:cNvSpPr>
            <a:spLocks xmlns:a="http://schemas.openxmlformats.org/drawingml/2006/main" noGrp="1"/>
          </p:cNvSpPr>
          <p:nvPr/>
        </p:nvSpPr>
        <p:spPr>
          <a:xfrm xmlns:a="http://schemas.openxmlformats.org/drawingml/2006/main">
            <a:off x="502920" y="5989320"/>
            <a:ext cx="429768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5A6B70"/>
                </a:solidFill>
                <a:latin typeface="Calibri"/>
                <a:ea typeface="Calibri"/>
                <a:cs typeface="Calibri"/>
              </a:rPr>
              <a:t>Insulin, glucagon, and blood glucose</a:t>
            </a:r>
          </a:p>
        </p:txBody>
      </p:sp>
      <p:sp>
        <p:nvSpPr>
          <p:cNvPr id="7" name="Text 4">
            <a:extLst xmlns:a="http://schemas.openxmlformats.org/drawingml/2006/main">
              <a:ext uri="{FF2B5EF4-FFF2-40B4-BE49-F238E27FC236}">
                <a16:creationId xmlns:a16="http://schemas.microsoft.com/office/drawing/2014/main" id="{A93FB163-73AF-4149-BD94-24CB56508878}"/>
              </a:ext>
            </a:extLst>
          </p:cNvPr>
          <p:cNvSpPr>
            <a:spLocks xmlns:a="http://schemas.openxmlformats.org/drawingml/2006/main" noGrp="1"/>
          </p:cNvSpPr>
          <p:nvPr/>
        </p:nvSpPr>
        <p:spPr>
          <a:xfrm xmlns:a="http://schemas.openxmlformats.org/drawingml/2006/main">
            <a:off x="5074920" y="1828800"/>
            <a:ext cx="6583680" cy="40233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Insulin lowers blood glucose</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Glucagon raises it</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The two oppose to keep balance</a:t>
            </a:r>
          </a:p>
          <a:p xmlns:a="http://schemas.openxmlformats.org/drawingml/2006/main">
            <a:pPr marL="177800" indent="-177800">
              <a:lnSpc>
                <a:spcPct val="102000"/>
              </a:lnSpc>
              <a:spcAft>
                <a:spcPts val="800"/>
              </a:spcAft>
              <a:buSzPct val="100000"/>
              <a:buChar char="•"/>
            </a:pPr>
            <a:r>
              <a:rPr sz="1600">
                <a:solidFill>
                  <a:srgbClr val="23363B"/>
                </a:solidFill>
                <a:latin typeface="Calibri"/>
                <a:ea typeface="Calibri"/>
                <a:cs typeface="Calibri"/>
              </a:rPr>
              <a:t>Failure causes diabetes</a:t>
            </a:r>
          </a:p>
        </p:txBody>
      </p:sp>
      <p:sp>
        <p:nvSpPr>
          <p:cNvPr id="9" name="Text 5">
            <a:extLst xmlns:a="http://schemas.openxmlformats.org/drawingml/2006/main">
              <a:ext uri="{FF2B5EF4-FFF2-40B4-BE49-F238E27FC236}">
                <a16:creationId xmlns:a16="http://schemas.microsoft.com/office/drawing/2014/main" id="{3E13D8DA-BAC3-4C9F-B75C-EC2B31AB27FB}"/>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17 — The Endocrine System</a:t>
            </a:r>
          </a:p>
        </p:txBody>
      </p:sp>
      <p:sp>
        <p:nvSpPr>
          <p:cNvPr id="10" name="Text 6">
            <a:extLst xmlns:a="http://schemas.openxmlformats.org/drawingml/2006/main">
              <a:ext uri="{FF2B5EF4-FFF2-40B4-BE49-F238E27FC236}">
                <a16:creationId xmlns:a16="http://schemas.microsoft.com/office/drawing/2014/main" id="{0DA48D28-FE14-436C-A04A-D80F2EB0B56C}"/>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21</a:t>
            </a:r>
          </a:p>
        </p:txBody>
      </p:sp>
    </p:spTree>
    <p:extLst>
      <p:ext uri="{BB962C8B-B14F-4D97-AF65-F5344CB8AC3E}">
        <p14:creationId xmlns:p14="http://schemas.microsoft.com/office/powerpoint/2010/main" val="34689187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A839224-EC41-4CAB-B037-59F0B4499745}"/>
              </a:ext>
            </a:extLst>
          </p:cNvPr>
          <p:cNvSpPr>
            <a:spLocks xmlns:a="http://schemas.openxmlformats.org/drawingml/2006/main" noGrp="1"/>
          </p:cNvSpPr>
          <p:nvPr/>
        </p:nvSpPr>
        <p:spPr>
          <a:xfrm xmlns:a="http://schemas.openxmlformats.org/drawingml/2006/main">
            <a:off x="502920" y="384048"/>
            <a:ext cx="10972800" cy="292608"/>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200" b="1">
                <a:solidFill>
                  <a:srgbClr val="E36414"/>
                </a:solidFill>
                <a:latin typeface="Calibri"/>
                <a:ea typeface="Calibri"/>
                <a:cs typeface="Calibri"/>
              </a:rPr>
              <a:t>CHAPTER 17</a:t>
            </a:r>
          </a:p>
        </p:txBody>
      </p:sp>
      <p:sp>
        <p:nvSpPr>
          <p:cNvPr id="3" name="Text 1">
            <a:extLst xmlns:a="http://schemas.openxmlformats.org/drawingml/2006/main">
              <a:ext uri="{FF2B5EF4-FFF2-40B4-BE49-F238E27FC236}">
                <a16:creationId xmlns:a16="http://schemas.microsoft.com/office/drawing/2014/main" id="{44F00F4F-47B6-4953-945D-895C0094FD89}"/>
              </a:ext>
            </a:extLst>
          </p:cNvPr>
          <p:cNvSpPr>
            <a:spLocks xmlns:a="http://schemas.openxmlformats.org/drawingml/2006/main" noGrp="1"/>
          </p:cNvSpPr>
          <p:nvPr/>
        </p:nvSpPr>
        <p:spPr>
          <a:xfrm xmlns:a="http://schemas.openxmlformats.org/drawingml/2006/main">
            <a:off x="475488" y="658368"/>
            <a:ext cx="11247120" cy="77724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2800" b="1">
                <a:solidFill>
                  <a:srgbClr val="0F4C5C"/>
                </a:solidFill>
                <a:latin typeface="Georgia"/>
                <a:ea typeface="Georgia"/>
                <a:cs typeface="Georgia"/>
              </a:rPr>
              <a:t>Key Takeaways</a:t>
            </a:r>
          </a:p>
        </p:txBody>
      </p:sp>
      <p:sp>
        <p:nvSpPr>
          <p:cNvPr id="4" name="Shape 2">
            <a:extLst xmlns:a="http://schemas.openxmlformats.org/drawingml/2006/main">
              <a:ext uri="{FF2B5EF4-FFF2-40B4-BE49-F238E27FC236}">
                <a16:creationId xmlns:a16="http://schemas.microsoft.com/office/drawing/2014/main" id="{BC4244A2-820E-43AE-AE71-6E956C33181E}"/>
              </a:ext>
            </a:extLst>
          </p:cNvPr>
          <p:cNvSpPr>
            <a:spLocks xmlns:a="http://schemas.openxmlformats.org/drawingml/2006/main" noGrp="1"/>
          </p:cNvSpPr>
          <p:nvPr/>
        </p:nvSpPr>
        <p:spPr>
          <a:xfrm xmlns:a="http://schemas.openxmlformats.org/drawingml/2006/main">
            <a:off x="548640" y="1819656"/>
            <a:ext cx="237744" cy="237744"/>
          </a:xfrm>
          <a:prstGeom xmlns:a="http://schemas.openxmlformats.org/drawingml/2006/main" prst="ellipse">
            <a:avLst/>
          </a:prstGeom>
          <a:solidFill xmlns:a="http://schemas.openxmlformats.org/drawingml/2006/main">
            <a:srgbClr val="E36414"/>
          </a:solidFill>
        </p:spPr>
      </p:sp>
      <p:sp>
        <p:nvSpPr>
          <p:cNvPr id="5" name="Text 3">
            <a:extLst xmlns:a="http://schemas.openxmlformats.org/drawingml/2006/main">
              <a:ext uri="{FF2B5EF4-FFF2-40B4-BE49-F238E27FC236}">
                <a16:creationId xmlns:a16="http://schemas.microsoft.com/office/drawing/2014/main" id="{90418EA0-3D04-49A1-98D8-E8A6E4DC58AB}"/>
              </a:ext>
            </a:extLst>
          </p:cNvPr>
          <p:cNvSpPr>
            <a:spLocks xmlns:a="http://schemas.openxmlformats.org/drawingml/2006/main" noGrp="1"/>
          </p:cNvSpPr>
          <p:nvPr/>
        </p:nvSpPr>
        <p:spPr>
          <a:xfrm xmlns:a="http://schemas.openxmlformats.org/drawingml/2006/main">
            <a:off x="960120" y="1737360"/>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The endocrine system uses hormones in the blood to control slow, widespread body processes.</a:t>
            </a:r>
          </a:p>
        </p:txBody>
      </p:sp>
      <p:sp>
        <p:nvSpPr>
          <p:cNvPr id="6" name="Shape 4">
            <a:extLst xmlns:a="http://schemas.openxmlformats.org/drawingml/2006/main">
              <a:ext uri="{FF2B5EF4-FFF2-40B4-BE49-F238E27FC236}">
                <a16:creationId xmlns:a16="http://schemas.microsoft.com/office/drawing/2014/main" id="{B92007FD-2E9C-4FC0-AB77-2A7D8350196F}"/>
              </a:ext>
            </a:extLst>
          </p:cNvPr>
          <p:cNvSpPr>
            <a:spLocks xmlns:a="http://schemas.openxmlformats.org/drawingml/2006/main" noGrp="1"/>
          </p:cNvSpPr>
          <p:nvPr/>
        </p:nvSpPr>
        <p:spPr>
          <a:xfrm xmlns:a="http://schemas.openxmlformats.org/drawingml/2006/main">
            <a:off x="548640" y="2606040"/>
            <a:ext cx="237744" cy="237744"/>
          </a:xfrm>
          <a:prstGeom xmlns:a="http://schemas.openxmlformats.org/drawingml/2006/main" prst="ellipse">
            <a:avLst/>
          </a:prstGeom>
          <a:solidFill xmlns:a="http://schemas.openxmlformats.org/drawingml/2006/main">
            <a:srgbClr val="E36414"/>
          </a:solidFill>
        </p:spPr>
      </p:sp>
      <p:sp>
        <p:nvSpPr>
          <p:cNvPr id="7" name="Text 5">
            <a:extLst xmlns:a="http://schemas.openxmlformats.org/drawingml/2006/main">
              <a:ext uri="{FF2B5EF4-FFF2-40B4-BE49-F238E27FC236}">
                <a16:creationId xmlns:a16="http://schemas.microsoft.com/office/drawing/2014/main" id="{262B8D0B-4EBE-4E7F-8835-3974A40B2852}"/>
              </a:ext>
            </a:extLst>
          </p:cNvPr>
          <p:cNvSpPr>
            <a:spLocks xmlns:a="http://schemas.openxmlformats.org/drawingml/2006/main" noGrp="1"/>
          </p:cNvSpPr>
          <p:nvPr/>
        </p:nvSpPr>
        <p:spPr>
          <a:xfrm xmlns:a="http://schemas.openxmlformats.org/drawingml/2006/main">
            <a:off x="960120" y="2523744"/>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Lipid-soluble hormones act on genes inside the cell; water-soluble ones use surface receptors.</a:t>
            </a:r>
          </a:p>
        </p:txBody>
      </p:sp>
      <p:sp>
        <p:nvSpPr>
          <p:cNvPr id="8" name="Shape 6">
            <a:extLst xmlns:a="http://schemas.openxmlformats.org/drawingml/2006/main">
              <a:ext uri="{FF2B5EF4-FFF2-40B4-BE49-F238E27FC236}">
                <a16:creationId xmlns:a16="http://schemas.microsoft.com/office/drawing/2014/main" id="{2006078D-2BFE-4A19-9E55-FF517B4FA3A0}"/>
              </a:ext>
            </a:extLst>
          </p:cNvPr>
          <p:cNvSpPr>
            <a:spLocks xmlns:a="http://schemas.openxmlformats.org/drawingml/2006/main" noGrp="1"/>
          </p:cNvSpPr>
          <p:nvPr/>
        </p:nvSpPr>
        <p:spPr>
          <a:xfrm xmlns:a="http://schemas.openxmlformats.org/drawingml/2006/main">
            <a:off x="548640" y="3392424"/>
            <a:ext cx="237744" cy="237744"/>
          </a:xfrm>
          <a:prstGeom xmlns:a="http://schemas.openxmlformats.org/drawingml/2006/main" prst="ellipse">
            <a:avLst/>
          </a:prstGeom>
          <a:solidFill xmlns:a="http://schemas.openxmlformats.org/drawingml/2006/main">
            <a:srgbClr val="E36414"/>
          </a:solidFill>
        </p:spPr>
      </p:sp>
      <p:sp>
        <p:nvSpPr>
          <p:cNvPr id="9" name="Text 7">
            <a:extLst xmlns:a="http://schemas.openxmlformats.org/drawingml/2006/main">
              <a:ext uri="{FF2B5EF4-FFF2-40B4-BE49-F238E27FC236}">
                <a16:creationId xmlns:a16="http://schemas.microsoft.com/office/drawing/2014/main" id="{E9E8E6A5-9239-4EA7-8D28-B29C3E62C6E7}"/>
              </a:ext>
            </a:extLst>
          </p:cNvPr>
          <p:cNvSpPr>
            <a:spLocks xmlns:a="http://schemas.openxmlformats.org/drawingml/2006/main" noGrp="1"/>
          </p:cNvSpPr>
          <p:nvPr/>
        </p:nvSpPr>
        <p:spPr>
          <a:xfrm xmlns:a="http://schemas.openxmlformats.org/drawingml/2006/main">
            <a:off x="960120" y="3310128"/>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Negative feedback keeps most hormone levels in a stable range.</a:t>
            </a:r>
          </a:p>
        </p:txBody>
      </p:sp>
      <p:sp>
        <p:nvSpPr>
          <p:cNvPr id="10" name="Shape 8">
            <a:extLst xmlns:a="http://schemas.openxmlformats.org/drawingml/2006/main">
              <a:ext uri="{FF2B5EF4-FFF2-40B4-BE49-F238E27FC236}">
                <a16:creationId xmlns:a16="http://schemas.microsoft.com/office/drawing/2014/main" id="{8331BC40-88CC-40CB-B8C8-CBB2F3C05D9A}"/>
              </a:ext>
            </a:extLst>
          </p:cNvPr>
          <p:cNvSpPr>
            <a:spLocks xmlns:a="http://schemas.openxmlformats.org/drawingml/2006/main" noGrp="1"/>
          </p:cNvSpPr>
          <p:nvPr/>
        </p:nvSpPr>
        <p:spPr>
          <a:xfrm xmlns:a="http://schemas.openxmlformats.org/drawingml/2006/main">
            <a:off x="548640" y="4178808"/>
            <a:ext cx="237744" cy="237744"/>
          </a:xfrm>
          <a:prstGeom xmlns:a="http://schemas.openxmlformats.org/drawingml/2006/main" prst="ellipse">
            <a:avLst/>
          </a:prstGeom>
          <a:solidFill xmlns:a="http://schemas.openxmlformats.org/drawingml/2006/main">
            <a:srgbClr val="E36414"/>
          </a:solidFill>
        </p:spPr>
      </p:sp>
      <p:sp>
        <p:nvSpPr>
          <p:cNvPr id="11" name="Text 9">
            <a:extLst xmlns:a="http://schemas.openxmlformats.org/drawingml/2006/main">
              <a:ext uri="{FF2B5EF4-FFF2-40B4-BE49-F238E27FC236}">
                <a16:creationId xmlns:a16="http://schemas.microsoft.com/office/drawing/2014/main" id="{DD036BC2-FC2F-4E06-BF37-E04BE5EC72A8}"/>
              </a:ext>
            </a:extLst>
          </p:cNvPr>
          <p:cNvSpPr>
            <a:spLocks xmlns:a="http://schemas.openxmlformats.org/drawingml/2006/main" noGrp="1"/>
          </p:cNvSpPr>
          <p:nvPr/>
        </p:nvSpPr>
        <p:spPr>
          <a:xfrm xmlns:a="http://schemas.openxmlformats.org/drawingml/2006/main">
            <a:off x="960120" y="4096512"/>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The pituitary and hypothalamus direct the thyroid, adrenal glands, and gonads.</a:t>
            </a:r>
          </a:p>
        </p:txBody>
      </p:sp>
      <p:sp>
        <p:nvSpPr>
          <p:cNvPr id="12" name="Shape 10">
            <a:extLst xmlns:a="http://schemas.openxmlformats.org/drawingml/2006/main">
              <a:ext uri="{FF2B5EF4-FFF2-40B4-BE49-F238E27FC236}">
                <a16:creationId xmlns:a16="http://schemas.microsoft.com/office/drawing/2014/main" id="{E554F663-0D88-4531-B5AB-EB07FA0DF11C}"/>
              </a:ext>
            </a:extLst>
          </p:cNvPr>
          <p:cNvSpPr>
            <a:spLocks xmlns:a="http://schemas.openxmlformats.org/drawingml/2006/main" noGrp="1"/>
          </p:cNvSpPr>
          <p:nvPr/>
        </p:nvSpPr>
        <p:spPr>
          <a:xfrm xmlns:a="http://schemas.openxmlformats.org/drawingml/2006/main">
            <a:off x="548640" y="4965192"/>
            <a:ext cx="237744" cy="237744"/>
          </a:xfrm>
          <a:prstGeom xmlns:a="http://schemas.openxmlformats.org/drawingml/2006/main" prst="ellipse">
            <a:avLst/>
          </a:prstGeom>
          <a:solidFill xmlns:a="http://schemas.openxmlformats.org/drawingml/2006/main">
            <a:srgbClr val="E36414"/>
          </a:solidFill>
        </p:spPr>
      </p:sp>
      <p:sp>
        <p:nvSpPr>
          <p:cNvPr id="13" name="Text 11">
            <a:extLst xmlns:a="http://schemas.openxmlformats.org/drawingml/2006/main">
              <a:ext uri="{FF2B5EF4-FFF2-40B4-BE49-F238E27FC236}">
                <a16:creationId xmlns:a16="http://schemas.microsoft.com/office/drawing/2014/main" id="{8CDA0640-C796-4812-A63B-2A31414EB032}"/>
              </a:ext>
            </a:extLst>
          </p:cNvPr>
          <p:cNvSpPr>
            <a:spLocks xmlns:a="http://schemas.openxmlformats.org/drawingml/2006/main" noGrp="1"/>
          </p:cNvSpPr>
          <p:nvPr/>
        </p:nvSpPr>
        <p:spPr>
          <a:xfrm xmlns:a="http://schemas.openxmlformats.org/drawingml/2006/main">
            <a:off x="960120" y="4882896"/>
            <a:ext cx="10607040" cy="5486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550">
                <a:solidFill>
                  <a:srgbClr val="23363B"/>
                </a:solidFill>
                <a:latin typeface="Calibri"/>
                <a:ea typeface="Calibri"/>
                <a:cs typeface="Calibri"/>
              </a:rPr>
              <a:t>The thyroid, parathyroids, and pancreas control metabolism, calcium, and blood sugar.</a:t>
            </a:r>
          </a:p>
        </p:txBody>
      </p:sp>
      <p:sp>
        <p:nvSpPr>
          <p:cNvPr id="14" name="Text 12">
            <a:extLst xmlns:a="http://schemas.openxmlformats.org/drawingml/2006/main">
              <a:ext uri="{FF2B5EF4-FFF2-40B4-BE49-F238E27FC236}">
                <a16:creationId xmlns:a16="http://schemas.microsoft.com/office/drawing/2014/main" id="{8127C55B-0652-4D32-830F-BC93DA7C8ED9}"/>
              </a:ext>
            </a:extLst>
          </p:cNvPr>
          <p:cNvSpPr>
            <a:spLocks xmlns:a="http://schemas.openxmlformats.org/drawingml/2006/main" noGrp="1"/>
          </p:cNvSpPr>
          <p:nvPr/>
        </p:nvSpPr>
        <p:spPr>
          <a:xfrm xmlns:a="http://schemas.openxmlformats.org/drawingml/2006/main">
            <a:off x="457200" y="6473952"/>
            <a:ext cx="91440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900">
                <a:solidFill>
                  <a:srgbClr val="5A6B70"/>
                </a:solidFill>
                <a:latin typeface="Calibri"/>
                <a:ea typeface="Calibri"/>
                <a:cs typeface="Calibri"/>
              </a:rPr>
              <a:t>PN 104 · Ch 17 — The Endocrine System</a:t>
            </a:r>
          </a:p>
        </p:txBody>
      </p:sp>
      <p:sp>
        <p:nvSpPr>
          <p:cNvPr id="15" name="Text 13">
            <a:extLst xmlns:a="http://schemas.openxmlformats.org/drawingml/2006/main">
              <a:ext uri="{FF2B5EF4-FFF2-40B4-BE49-F238E27FC236}">
                <a16:creationId xmlns:a16="http://schemas.microsoft.com/office/drawing/2014/main" id="{BCC3408A-B200-414C-BA2A-CF733AA56718}"/>
              </a:ext>
            </a:extLst>
          </p:cNvPr>
          <p:cNvSpPr>
            <a:spLocks xmlns:a="http://schemas.openxmlformats.org/drawingml/2006/main" noGrp="1"/>
          </p:cNvSpPr>
          <p:nvPr/>
        </p:nvSpPr>
        <p:spPr>
          <a:xfrm xmlns:a="http://schemas.openxmlformats.org/drawingml/2006/main">
            <a:off x="11338560" y="6473952"/>
            <a:ext cx="457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r">
              <a:buNone/>
            </a:pPr>
            <a:r>
              <a:rPr sz="900">
                <a:solidFill>
                  <a:srgbClr val="5A6B70"/>
                </a:solidFill>
                <a:latin typeface="Calibri"/>
                <a:ea typeface="Calibri"/>
                <a:cs typeface="Calibri"/>
              </a:rPr>
              <a:t>22</a:t>
            </a:r>
          </a:p>
        </p:txBody>
      </p:sp>
    </p:spTree>
    <p:extLst>
      <p:ext uri="{BB962C8B-B14F-4D97-AF65-F5344CB8AC3E}">
        <p14:creationId xmlns:p14="http://schemas.microsoft.com/office/powerpoint/2010/main" val="1903242853"/>
      </p:ext>
    </p:extLst>
  </p:cSld>
</p:sld>
</file>

<file path=ppt/slides/slide23.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EBD69AE-5635-4350-8F35-BF657D9A4A5E}"/>
              </a:ext>
            </a:extLst>
          </p:cNvPr>
          <p:cNvSpPr>
            <a:spLocks xmlns:a="http://schemas.openxmlformats.org/drawingml/2006/main" noGrp="1"/>
          </p:cNvSpPr>
          <p:nvPr/>
        </p:nvSpPr>
        <p:spPr>
          <a:xfrm xmlns:a="http://schemas.openxmlformats.org/drawingml/2006/main">
            <a:off x="548640" y="502920"/>
            <a:ext cx="1005840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300" b="1">
                <a:solidFill>
                  <a:srgbClr val="E36414"/>
                </a:solidFill>
                <a:latin typeface="Calibri"/>
                <a:ea typeface="Calibri"/>
                <a:cs typeface="Calibri"/>
              </a:rPr>
              <a:t>CLINICAL CONNECTIONS</a:t>
            </a:r>
          </a:p>
        </p:txBody>
      </p:sp>
      <p:sp>
        <p:nvSpPr>
          <p:cNvPr id="3" name="Text 1">
            <a:extLst xmlns:a="http://schemas.openxmlformats.org/drawingml/2006/main">
              <a:ext uri="{FF2B5EF4-FFF2-40B4-BE49-F238E27FC236}">
                <a16:creationId xmlns:a16="http://schemas.microsoft.com/office/drawing/2014/main" id="{F080A5E2-5225-4FB6-90AE-1BF9716B52C4}"/>
              </a:ext>
            </a:extLst>
          </p:cNvPr>
          <p:cNvSpPr>
            <a:spLocks xmlns:a="http://schemas.openxmlformats.org/drawingml/2006/main" noGrp="1"/>
          </p:cNvSpPr>
          <p:nvPr/>
        </p:nvSpPr>
        <p:spPr>
          <a:xfrm xmlns:a="http://schemas.openxmlformats.org/drawingml/2006/main">
            <a:off x="530352" y="841248"/>
            <a:ext cx="10972800" cy="6400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2500" b="1">
                <a:solidFill>
                  <a:srgbClr val="FFFFFF"/>
                </a:solidFill>
                <a:latin typeface="Georgia"/>
                <a:ea typeface="Georgia"/>
                <a:cs typeface="Georgia"/>
              </a:rPr>
              <a:t>Why the Endocrine System Matters in Practical Nursing</a:t>
            </a:r>
          </a:p>
        </p:txBody>
      </p:sp>
      <p:sp>
        <p:nvSpPr>
          <p:cNvPr id="4" name="Shape 2">
            <a:extLst xmlns:a="http://schemas.openxmlformats.org/drawingml/2006/main">
              <a:ext uri="{FF2B5EF4-FFF2-40B4-BE49-F238E27FC236}">
                <a16:creationId xmlns:a16="http://schemas.microsoft.com/office/drawing/2014/main" id="{CBBFE96E-DEE2-45E9-9333-1379E2A6E2C8}"/>
              </a:ext>
            </a:extLst>
          </p:cNvPr>
          <p:cNvSpPr>
            <a:spLocks xmlns:a="http://schemas.openxmlformats.org/drawingml/2006/main" noGrp="1"/>
          </p:cNvSpPr>
          <p:nvPr/>
        </p:nvSpPr>
        <p:spPr>
          <a:xfrm xmlns:a="http://schemas.openxmlformats.org/drawingml/2006/main">
            <a:off x="548640" y="178308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5" name="Text 3">
            <a:extLst xmlns:a="http://schemas.openxmlformats.org/drawingml/2006/main">
              <a:ext uri="{FF2B5EF4-FFF2-40B4-BE49-F238E27FC236}">
                <a16:creationId xmlns:a16="http://schemas.microsoft.com/office/drawing/2014/main" id="{647C7C96-BCA9-45A9-A14E-BE7622B8918C}"/>
              </a:ext>
            </a:extLst>
          </p:cNvPr>
          <p:cNvSpPr>
            <a:spLocks xmlns:a="http://schemas.openxmlformats.org/drawingml/2006/main" noGrp="1"/>
          </p:cNvSpPr>
          <p:nvPr/>
        </p:nvSpPr>
        <p:spPr>
          <a:xfrm xmlns:a="http://schemas.openxmlformats.org/drawingml/2006/main">
            <a:off x="777240" y="191109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Diabetes Mellitus</a:t>
            </a:r>
          </a:p>
        </p:txBody>
      </p:sp>
      <p:sp>
        <p:nvSpPr>
          <p:cNvPr id="6" name="Text 4">
            <a:extLst xmlns:a="http://schemas.openxmlformats.org/drawingml/2006/main">
              <a:ext uri="{FF2B5EF4-FFF2-40B4-BE49-F238E27FC236}">
                <a16:creationId xmlns:a16="http://schemas.microsoft.com/office/drawing/2014/main" id="{E4405E1D-F50A-4126-A5A6-96D514BBCC3C}"/>
              </a:ext>
            </a:extLst>
          </p:cNvPr>
          <p:cNvSpPr>
            <a:spLocks xmlns:a="http://schemas.openxmlformats.org/drawingml/2006/main" noGrp="1"/>
          </p:cNvSpPr>
          <p:nvPr/>
        </p:nvSpPr>
        <p:spPr>
          <a:xfrm xmlns:a="http://schemas.openxmlformats.org/drawingml/2006/main">
            <a:off x="777240" y="228600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Insulin problems disrupt blood sugar — a major focus of nursing care.</a:t>
            </a:r>
          </a:p>
        </p:txBody>
      </p:sp>
      <p:sp>
        <p:nvSpPr>
          <p:cNvPr id="7" name="Shape 5">
            <a:extLst xmlns:a="http://schemas.openxmlformats.org/drawingml/2006/main">
              <a:ext uri="{FF2B5EF4-FFF2-40B4-BE49-F238E27FC236}">
                <a16:creationId xmlns:a16="http://schemas.microsoft.com/office/drawing/2014/main" id="{36EA80BA-50BB-4700-B6FD-3E7CF3630A78}"/>
              </a:ext>
            </a:extLst>
          </p:cNvPr>
          <p:cNvSpPr>
            <a:spLocks xmlns:a="http://schemas.openxmlformats.org/drawingml/2006/main" noGrp="1"/>
          </p:cNvSpPr>
          <p:nvPr/>
        </p:nvSpPr>
        <p:spPr>
          <a:xfrm xmlns:a="http://schemas.openxmlformats.org/drawingml/2006/main">
            <a:off x="6172200" y="178308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8" name="Text 6">
            <a:extLst xmlns:a="http://schemas.openxmlformats.org/drawingml/2006/main">
              <a:ext uri="{FF2B5EF4-FFF2-40B4-BE49-F238E27FC236}">
                <a16:creationId xmlns:a16="http://schemas.microsoft.com/office/drawing/2014/main" id="{79A6B39B-0E5A-48C2-AF25-69FAE4E05068}"/>
              </a:ext>
            </a:extLst>
          </p:cNvPr>
          <p:cNvSpPr>
            <a:spLocks xmlns:a="http://schemas.openxmlformats.org/drawingml/2006/main" noGrp="1"/>
          </p:cNvSpPr>
          <p:nvPr/>
        </p:nvSpPr>
        <p:spPr>
          <a:xfrm xmlns:a="http://schemas.openxmlformats.org/drawingml/2006/main">
            <a:off x="6400800" y="191109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Thyroid Disorders</a:t>
            </a:r>
          </a:p>
        </p:txBody>
      </p:sp>
      <p:sp>
        <p:nvSpPr>
          <p:cNvPr id="9" name="Text 7">
            <a:extLst xmlns:a="http://schemas.openxmlformats.org/drawingml/2006/main">
              <a:ext uri="{FF2B5EF4-FFF2-40B4-BE49-F238E27FC236}">
                <a16:creationId xmlns:a16="http://schemas.microsoft.com/office/drawing/2014/main" id="{48DE667C-DAA7-4B59-A682-3BB2859932FE}"/>
              </a:ext>
            </a:extLst>
          </p:cNvPr>
          <p:cNvSpPr>
            <a:spLocks xmlns:a="http://schemas.openxmlformats.org/drawingml/2006/main" noGrp="1"/>
          </p:cNvSpPr>
          <p:nvPr/>
        </p:nvSpPr>
        <p:spPr>
          <a:xfrm xmlns:a="http://schemas.openxmlformats.org/drawingml/2006/main">
            <a:off x="6400800" y="228600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Hypo- and hyperthyroidism are common and very treatable.</a:t>
            </a:r>
          </a:p>
        </p:txBody>
      </p:sp>
      <p:sp>
        <p:nvSpPr>
          <p:cNvPr id="10" name="Shape 8">
            <a:extLst xmlns:a="http://schemas.openxmlformats.org/drawingml/2006/main">
              <a:ext uri="{FF2B5EF4-FFF2-40B4-BE49-F238E27FC236}">
                <a16:creationId xmlns:a16="http://schemas.microsoft.com/office/drawing/2014/main" id="{0028796E-18DC-4F3A-BA12-211A00FB1002}"/>
              </a:ext>
            </a:extLst>
          </p:cNvPr>
          <p:cNvSpPr>
            <a:spLocks xmlns:a="http://schemas.openxmlformats.org/drawingml/2006/main" noGrp="1"/>
          </p:cNvSpPr>
          <p:nvPr/>
        </p:nvSpPr>
        <p:spPr>
          <a:xfrm xmlns:a="http://schemas.openxmlformats.org/drawingml/2006/main">
            <a:off x="548640" y="333756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11" name="Text 9">
            <a:extLst xmlns:a="http://schemas.openxmlformats.org/drawingml/2006/main">
              <a:ext uri="{FF2B5EF4-FFF2-40B4-BE49-F238E27FC236}">
                <a16:creationId xmlns:a16="http://schemas.microsoft.com/office/drawing/2014/main" id="{1E696297-6409-4EA3-80B8-762AAA925185}"/>
              </a:ext>
            </a:extLst>
          </p:cNvPr>
          <p:cNvSpPr>
            <a:spLocks xmlns:a="http://schemas.openxmlformats.org/drawingml/2006/main" noGrp="1"/>
          </p:cNvSpPr>
          <p:nvPr/>
        </p:nvSpPr>
        <p:spPr>
          <a:xfrm xmlns:a="http://schemas.openxmlformats.org/drawingml/2006/main">
            <a:off x="777240" y="346557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Hormone Feedback</a:t>
            </a:r>
          </a:p>
        </p:txBody>
      </p:sp>
      <p:sp>
        <p:nvSpPr>
          <p:cNvPr id="12" name="Text 10">
            <a:extLst xmlns:a="http://schemas.openxmlformats.org/drawingml/2006/main">
              <a:ext uri="{FF2B5EF4-FFF2-40B4-BE49-F238E27FC236}">
                <a16:creationId xmlns:a16="http://schemas.microsoft.com/office/drawing/2014/main" id="{2C67D80C-6081-4429-A5FE-7B80F9707E40}"/>
              </a:ext>
            </a:extLst>
          </p:cNvPr>
          <p:cNvSpPr>
            <a:spLocks xmlns:a="http://schemas.openxmlformats.org/drawingml/2006/main" noGrp="1"/>
          </p:cNvSpPr>
          <p:nvPr/>
        </p:nvSpPr>
        <p:spPr>
          <a:xfrm xmlns:a="http://schemas.openxmlformats.org/drawingml/2006/main">
            <a:off x="777240" y="384048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Many endocrine diseases stem from broken feedback loops.</a:t>
            </a:r>
          </a:p>
        </p:txBody>
      </p:sp>
      <p:sp>
        <p:nvSpPr>
          <p:cNvPr id="13" name="Shape 11">
            <a:extLst xmlns:a="http://schemas.openxmlformats.org/drawingml/2006/main">
              <a:ext uri="{FF2B5EF4-FFF2-40B4-BE49-F238E27FC236}">
                <a16:creationId xmlns:a16="http://schemas.microsoft.com/office/drawing/2014/main" id="{FE2E0302-F406-440C-9528-89CAC19F4612}"/>
              </a:ext>
            </a:extLst>
          </p:cNvPr>
          <p:cNvSpPr>
            <a:spLocks xmlns:a="http://schemas.openxmlformats.org/drawingml/2006/main" noGrp="1"/>
          </p:cNvSpPr>
          <p:nvPr/>
        </p:nvSpPr>
        <p:spPr>
          <a:xfrm xmlns:a="http://schemas.openxmlformats.org/drawingml/2006/main">
            <a:off x="6172200" y="333756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14" name="Text 12">
            <a:extLst xmlns:a="http://schemas.openxmlformats.org/drawingml/2006/main">
              <a:ext uri="{FF2B5EF4-FFF2-40B4-BE49-F238E27FC236}">
                <a16:creationId xmlns:a16="http://schemas.microsoft.com/office/drawing/2014/main" id="{203A0E25-1FE5-441E-9CA3-81EFC8294915}"/>
              </a:ext>
            </a:extLst>
          </p:cNvPr>
          <p:cNvSpPr>
            <a:spLocks xmlns:a="http://schemas.openxmlformats.org/drawingml/2006/main" noGrp="1"/>
          </p:cNvSpPr>
          <p:nvPr/>
        </p:nvSpPr>
        <p:spPr>
          <a:xfrm xmlns:a="http://schemas.openxmlformats.org/drawingml/2006/main">
            <a:off x="6400800" y="346557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Calcium Balance</a:t>
            </a:r>
          </a:p>
        </p:txBody>
      </p:sp>
      <p:sp>
        <p:nvSpPr>
          <p:cNvPr id="15" name="Text 13">
            <a:extLst xmlns:a="http://schemas.openxmlformats.org/drawingml/2006/main">
              <a:ext uri="{FF2B5EF4-FFF2-40B4-BE49-F238E27FC236}">
                <a16:creationId xmlns:a16="http://schemas.microsoft.com/office/drawing/2014/main" id="{569CAA6F-4944-49D8-A80B-9B965817651F}"/>
              </a:ext>
            </a:extLst>
          </p:cNvPr>
          <p:cNvSpPr>
            <a:spLocks xmlns:a="http://schemas.openxmlformats.org/drawingml/2006/main" noGrp="1"/>
          </p:cNvSpPr>
          <p:nvPr/>
        </p:nvSpPr>
        <p:spPr>
          <a:xfrm xmlns:a="http://schemas.openxmlformats.org/drawingml/2006/main">
            <a:off x="6400800" y="384048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Parathyroid problems disturb calcium and nerve/muscle function.</a:t>
            </a:r>
          </a:p>
        </p:txBody>
      </p:sp>
      <p:sp>
        <p:nvSpPr>
          <p:cNvPr id="16" name="Shape 14">
            <a:extLst xmlns:a="http://schemas.openxmlformats.org/drawingml/2006/main">
              <a:ext uri="{FF2B5EF4-FFF2-40B4-BE49-F238E27FC236}">
                <a16:creationId xmlns:a16="http://schemas.microsoft.com/office/drawing/2014/main" id="{65BDB99E-9962-4F21-AA96-6AA969346E9E}"/>
              </a:ext>
            </a:extLst>
          </p:cNvPr>
          <p:cNvSpPr>
            <a:spLocks xmlns:a="http://schemas.openxmlformats.org/drawingml/2006/main" noGrp="1"/>
          </p:cNvSpPr>
          <p:nvPr/>
        </p:nvSpPr>
        <p:spPr>
          <a:xfrm xmlns:a="http://schemas.openxmlformats.org/drawingml/2006/main">
            <a:off x="548640" y="489204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17" name="Text 15">
            <a:extLst xmlns:a="http://schemas.openxmlformats.org/drawingml/2006/main">
              <a:ext uri="{FF2B5EF4-FFF2-40B4-BE49-F238E27FC236}">
                <a16:creationId xmlns:a16="http://schemas.microsoft.com/office/drawing/2014/main" id="{BC650044-E2C4-42BA-9FDD-6274BC41F1C8}"/>
              </a:ext>
            </a:extLst>
          </p:cNvPr>
          <p:cNvSpPr>
            <a:spLocks xmlns:a="http://schemas.openxmlformats.org/drawingml/2006/main" noGrp="1"/>
          </p:cNvSpPr>
          <p:nvPr/>
        </p:nvSpPr>
        <p:spPr>
          <a:xfrm xmlns:a="http://schemas.openxmlformats.org/drawingml/2006/main">
            <a:off x="777240" y="502005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The Stress Response</a:t>
            </a:r>
          </a:p>
        </p:txBody>
      </p:sp>
      <p:sp>
        <p:nvSpPr>
          <p:cNvPr id="18" name="Text 16">
            <a:extLst xmlns:a="http://schemas.openxmlformats.org/drawingml/2006/main">
              <a:ext uri="{FF2B5EF4-FFF2-40B4-BE49-F238E27FC236}">
                <a16:creationId xmlns:a16="http://schemas.microsoft.com/office/drawing/2014/main" id="{E2F7C9B6-1461-4323-A582-A139253AAC3E}"/>
              </a:ext>
            </a:extLst>
          </p:cNvPr>
          <p:cNvSpPr>
            <a:spLocks xmlns:a="http://schemas.openxmlformats.org/drawingml/2006/main" noGrp="1"/>
          </p:cNvSpPr>
          <p:nvPr/>
        </p:nvSpPr>
        <p:spPr>
          <a:xfrm xmlns:a="http://schemas.openxmlformats.org/drawingml/2006/main">
            <a:off x="777240" y="539496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Cortisol and the HPA axis shape illness and recovery.</a:t>
            </a:r>
          </a:p>
        </p:txBody>
      </p:sp>
      <p:sp>
        <p:nvSpPr>
          <p:cNvPr id="19" name="Shape 17">
            <a:extLst xmlns:a="http://schemas.openxmlformats.org/drawingml/2006/main">
              <a:ext uri="{FF2B5EF4-FFF2-40B4-BE49-F238E27FC236}">
                <a16:creationId xmlns:a16="http://schemas.microsoft.com/office/drawing/2014/main" id="{4095537B-D218-43AE-A82D-306206334B43}"/>
              </a:ext>
            </a:extLst>
          </p:cNvPr>
          <p:cNvSpPr>
            <a:spLocks xmlns:a="http://schemas.openxmlformats.org/drawingml/2006/main" noGrp="1"/>
          </p:cNvSpPr>
          <p:nvPr/>
        </p:nvSpPr>
        <p:spPr>
          <a:xfrm xmlns:a="http://schemas.openxmlformats.org/drawingml/2006/main">
            <a:off x="6172200" y="4892040"/>
            <a:ext cx="5440680" cy="1389888"/>
          </a:xfrm>
          <a:prstGeom xmlns:a="http://schemas.openxmlformats.org/drawingml/2006/main" prst="roundRect">
            <a:avLst>
              <a:gd name="adj" fmla="val 5263"/>
            </a:avLst>
          </a:prstGeom>
          <a:solidFill xmlns:a="http://schemas.openxmlformats.org/drawingml/2006/main">
            <a:srgbClr val="13586A"/>
          </a:solidFill>
          <a:ln xmlns:a="http://schemas.openxmlformats.org/drawingml/2006/main" w="12700">
            <a:solidFill>
              <a:srgbClr val="2A7A8C"/>
            </a:solidFill>
            <a:prstDash val="solid"/>
          </a:ln>
        </p:spPr>
      </p:sp>
      <p:sp>
        <p:nvSpPr>
          <p:cNvPr id="20" name="Text 18">
            <a:extLst xmlns:a="http://schemas.openxmlformats.org/drawingml/2006/main">
              <a:ext uri="{FF2B5EF4-FFF2-40B4-BE49-F238E27FC236}">
                <a16:creationId xmlns:a16="http://schemas.microsoft.com/office/drawing/2014/main" id="{C757CCB6-0F50-498F-A860-91DDEB4525CB}"/>
              </a:ext>
            </a:extLst>
          </p:cNvPr>
          <p:cNvSpPr>
            <a:spLocks xmlns:a="http://schemas.openxmlformats.org/drawingml/2006/main" noGrp="1"/>
          </p:cNvSpPr>
          <p:nvPr/>
        </p:nvSpPr>
        <p:spPr>
          <a:xfrm xmlns:a="http://schemas.openxmlformats.org/drawingml/2006/main">
            <a:off x="6400800" y="5020056"/>
            <a:ext cx="502920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r>
              <a:rPr sz="1600" b="1">
                <a:solidFill>
                  <a:srgbClr val="7FD0C8"/>
                </a:solidFill>
                <a:latin typeface="Georgia"/>
                <a:ea typeface="Georgia"/>
                <a:cs typeface="Georgia"/>
              </a:rPr>
              <a:t>Growth &amp; Development</a:t>
            </a:r>
          </a:p>
        </p:txBody>
      </p:sp>
      <p:sp>
        <p:nvSpPr>
          <p:cNvPr id="21" name="Text 19">
            <a:extLst xmlns:a="http://schemas.openxmlformats.org/drawingml/2006/main">
              <a:ext uri="{FF2B5EF4-FFF2-40B4-BE49-F238E27FC236}">
                <a16:creationId xmlns:a16="http://schemas.microsoft.com/office/drawing/2014/main" id="{306B5DA6-081C-487B-89C7-029E315FED46}"/>
              </a:ext>
            </a:extLst>
          </p:cNvPr>
          <p:cNvSpPr>
            <a:spLocks xmlns:a="http://schemas.openxmlformats.org/drawingml/2006/main" noGrp="1"/>
          </p:cNvSpPr>
          <p:nvPr/>
        </p:nvSpPr>
        <p:spPr>
          <a:xfrm xmlns:a="http://schemas.openxmlformats.org/drawingml/2006/main">
            <a:off x="6400800" y="5394960"/>
            <a:ext cx="5029200" cy="8229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lnSpc>
                <a:spcPct val="102000"/>
              </a:lnSpc>
              <a:buNone/>
            </a:pPr>
            <a:r>
              <a:rPr sz="1250">
                <a:solidFill>
                  <a:srgbClr val="E6F1F3"/>
                </a:solidFill>
                <a:latin typeface="Calibri"/>
                <a:ea typeface="Calibri"/>
                <a:cs typeface="Calibri"/>
              </a:rPr>
              <a:t>Pituitary hormones affect growth across the lifespan.</a:t>
            </a:r>
          </a:p>
        </p:txBody>
      </p:sp>
    </p:spTree>
    <p:extLst>
      <p:ext uri="{BB962C8B-B14F-4D97-AF65-F5344CB8AC3E}">
        <p14:creationId xmlns:p14="http://schemas.microsoft.com/office/powerpoint/2010/main" val="122247944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2026-08-05T01:15:56.5190000Z</dcterms:created>
  <dcterms:modified xsi:type="dcterms:W3CDTF">2026-08-05T01:15:56.5190000Z</dcterms:modified>
</coreProperties>
</file>