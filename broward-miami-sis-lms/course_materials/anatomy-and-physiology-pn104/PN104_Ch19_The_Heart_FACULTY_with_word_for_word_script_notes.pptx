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86c221f60bd48e1" /><Relationship Type="http://schemas.openxmlformats.org/officeDocument/2006/relationships/extended-properties" Target="/docProps/app.xml" Id="R3e667f23fa1a4733" /><Relationship Type="http://schemas.openxmlformats.org/officeDocument/2006/relationships/officeDocument" Target="/ppt/presentation.xml" Id="Re4ef99e72a614a40" /></Relationships>
</file>

<file path=ppt/presentation.xml><?xml version="1.0" encoding="utf-8"?>
<p:presentation xmlns:p="http://schemas.openxmlformats.org/presentationml/2006/main">
  <p:sldMasterIdLst>
    <p:sldMasterId xmlns:r="http://schemas.openxmlformats.org/officeDocument/2006/relationships" id="2147483648" r:id="Ra3f7806d87894ddc"/>
  </p:sldMasterIdLst>
  <p:notesMasterIdLst>
    <p:notesMasterId xmlns:r="http://schemas.openxmlformats.org/officeDocument/2006/relationships" r:id="Rcee1f6257db4461a"/>
  </p:notesMasterIdLst>
  <p:sldIdLst>
    <p:sldId xmlns:r="http://schemas.openxmlformats.org/officeDocument/2006/relationships" id="256" r:id="Refe2c15615d841b8"/>
    <p:sldId xmlns:r="http://schemas.openxmlformats.org/officeDocument/2006/relationships" id="257" r:id="R13f22e9eebee45b8"/>
    <p:sldId xmlns:r="http://schemas.openxmlformats.org/officeDocument/2006/relationships" id="258" r:id="R1357f1c448754012"/>
    <p:sldId xmlns:r="http://schemas.openxmlformats.org/officeDocument/2006/relationships" id="259" r:id="R07c5574f68234134"/>
    <p:sldId xmlns:r="http://schemas.openxmlformats.org/officeDocument/2006/relationships" id="260" r:id="R6ee0e0a1fc2e466e"/>
    <p:sldId xmlns:r="http://schemas.openxmlformats.org/officeDocument/2006/relationships" id="261" r:id="R8386329860f546eb"/>
    <p:sldId xmlns:r="http://schemas.openxmlformats.org/officeDocument/2006/relationships" id="262" r:id="R7cab9270588c49f6"/>
    <p:sldId xmlns:r="http://schemas.openxmlformats.org/officeDocument/2006/relationships" id="263" r:id="Rb651a7a40c4a4ecb"/>
    <p:sldId xmlns:r="http://schemas.openxmlformats.org/officeDocument/2006/relationships" id="264" r:id="Rcf17e9e8bd794fb4"/>
    <p:sldId xmlns:r="http://schemas.openxmlformats.org/officeDocument/2006/relationships" id="265" r:id="R0fc7e866ef774099"/>
    <p:sldId xmlns:r="http://schemas.openxmlformats.org/officeDocument/2006/relationships" id="266" r:id="Re2f29fc850864a39"/>
    <p:sldId xmlns:r="http://schemas.openxmlformats.org/officeDocument/2006/relationships" id="267" r:id="R51aa84b882c24052"/>
    <p:sldId xmlns:r="http://schemas.openxmlformats.org/officeDocument/2006/relationships" id="268" r:id="Raaa27bf209b84039"/>
    <p:sldId xmlns:r="http://schemas.openxmlformats.org/officeDocument/2006/relationships" id="269" r:id="R85ef3ea2b5bb499c"/>
    <p:sldId xmlns:r="http://schemas.openxmlformats.org/officeDocument/2006/relationships" id="270" r:id="R5266f556caef44cf"/>
    <p:sldId xmlns:r="http://schemas.openxmlformats.org/officeDocument/2006/relationships" id="271" r:id="Rd4216c2a49f44996"/>
    <p:sldId xmlns:r="http://schemas.openxmlformats.org/officeDocument/2006/relationships" id="272" r:id="R6d783376ea574774"/>
    <p:sldId xmlns:r="http://schemas.openxmlformats.org/officeDocument/2006/relationships" id="273" r:id="R90a165b371534cb1"/>
    <p:sldId xmlns:r="http://schemas.openxmlformats.org/officeDocument/2006/relationships" id="274" r:id="R225fb6dc8e6c425c"/>
    <p:sldId xmlns:r="http://schemas.openxmlformats.org/officeDocument/2006/relationships" id="275" r:id="Rdf3d5d16d4a34fb9"/>
    <p:sldId xmlns:r="http://schemas.openxmlformats.org/officeDocument/2006/relationships" id="276" r:id="R125f20b9168244fa"/>
    <p:sldId xmlns:r="http://schemas.openxmlformats.org/officeDocument/2006/relationships" id="277" r:id="Rdde0cbb766d34eb2"/>
    <p:sldId xmlns:r="http://schemas.openxmlformats.org/officeDocument/2006/relationships" id="278" r:id="Re169f48c1abe433b"/>
    <p:sldId xmlns:r="http://schemas.openxmlformats.org/officeDocument/2006/relationships" id="279" r:id="Rde4182691626428e"/>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df46447c0114ed1" /><Relationship Type="http://schemas.openxmlformats.org/officeDocument/2006/relationships/slideMaster" Target="/ppt/slideMasters/slideMaster1.xml" Id="Ra3f7806d87894ddc" /><Relationship Type="http://schemas.openxmlformats.org/officeDocument/2006/relationships/notesMaster" Target="/ppt/notesMasters/notesMaster1.xml" Id="Rcee1f6257db4461a" /><Relationship Type="http://schemas.openxmlformats.org/officeDocument/2006/relationships/presProps" Target="/ppt/presProps.xml" Id="R6c5dff3563914bae" /><Relationship Type="http://schemas.openxmlformats.org/officeDocument/2006/relationships/viewProps" Target="/ppt/viewProps.xml" Id="R35b54b3e5a0c45fd" /><Relationship Type="http://schemas.openxmlformats.org/officeDocument/2006/relationships/tableStyles" Target="/ppt/tableStyles.xml" Id="Rb3b2a104b6ac4f36" /><Relationship Type="http://schemas.openxmlformats.org/officeDocument/2006/relationships/slide" Target="/ppt/slides/slide1.xml" Id="Refe2c15615d841b8" /><Relationship Type="http://schemas.openxmlformats.org/officeDocument/2006/relationships/slide" Target="/ppt/slides/slide2.xml" Id="R13f22e9eebee45b8" /><Relationship Type="http://schemas.openxmlformats.org/officeDocument/2006/relationships/slide" Target="/ppt/slides/slide3.xml" Id="R1357f1c448754012" /><Relationship Type="http://schemas.openxmlformats.org/officeDocument/2006/relationships/slide" Target="/ppt/slides/slide4.xml" Id="R07c5574f68234134" /><Relationship Type="http://schemas.openxmlformats.org/officeDocument/2006/relationships/slide" Target="/ppt/slides/slide5.xml" Id="R6ee0e0a1fc2e466e" /><Relationship Type="http://schemas.openxmlformats.org/officeDocument/2006/relationships/slide" Target="/ppt/slides/slide6.xml" Id="R8386329860f546eb" /><Relationship Type="http://schemas.openxmlformats.org/officeDocument/2006/relationships/slide" Target="/ppt/slides/slide7.xml" Id="R7cab9270588c49f6" /><Relationship Type="http://schemas.openxmlformats.org/officeDocument/2006/relationships/slide" Target="/ppt/slides/slide8.xml" Id="Rb651a7a40c4a4ecb" /><Relationship Type="http://schemas.openxmlformats.org/officeDocument/2006/relationships/slide" Target="/ppt/slides/slide9.xml" Id="Rcf17e9e8bd794fb4" /><Relationship Type="http://schemas.openxmlformats.org/officeDocument/2006/relationships/slide" Target="/ppt/slides/slide10.xml" Id="R0fc7e866ef774099" /><Relationship Type="http://schemas.openxmlformats.org/officeDocument/2006/relationships/slide" Target="/ppt/slides/slide11.xml" Id="Re2f29fc850864a39" /><Relationship Type="http://schemas.openxmlformats.org/officeDocument/2006/relationships/slide" Target="/ppt/slides/slide12.xml" Id="R51aa84b882c24052" /><Relationship Type="http://schemas.openxmlformats.org/officeDocument/2006/relationships/slide" Target="/ppt/slides/slide13.xml" Id="Raaa27bf209b84039" /><Relationship Type="http://schemas.openxmlformats.org/officeDocument/2006/relationships/slide" Target="/ppt/slides/slide14.xml" Id="R85ef3ea2b5bb499c" /><Relationship Type="http://schemas.openxmlformats.org/officeDocument/2006/relationships/slide" Target="/ppt/slides/slide15.xml" Id="R5266f556caef44cf" /><Relationship Type="http://schemas.openxmlformats.org/officeDocument/2006/relationships/slide" Target="/ppt/slides/slide16.xml" Id="Rd4216c2a49f44996" /><Relationship Type="http://schemas.openxmlformats.org/officeDocument/2006/relationships/slide" Target="/ppt/slides/slide17.xml" Id="R6d783376ea574774" /><Relationship Type="http://schemas.openxmlformats.org/officeDocument/2006/relationships/slide" Target="/ppt/slides/slide18.xml" Id="R90a165b371534cb1" /><Relationship Type="http://schemas.openxmlformats.org/officeDocument/2006/relationships/slide" Target="/ppt/slides/slide19.xml" Id="R225fb6dc8e6c425c" /><Relationship Type="http://schemas.openxmlformats.org/officeDocument/2006/relationships/slide" Target="/ppt/slides/slide20.xml" Id="Rdf3d5d16d4a34fb9" /><Relationship Type="http://schemas.openxmlformats.org/officeDocument/2006/relationships/slide" Target="/ppt/slides/slide21.xml" Id="R125f20b9168244fa" /><Relationship Type="http://schemas.openxmlformats.org/officeDocument/2006/relationships/slide" Target="/ppt/slides/slide22.xml" Id="Rdde0cbb766d34eb2" /><Relationship Type="http://schemas.openxmlformats.org/officeDocument/2006/relationships/slide" Target="/ppt/slides/slide23.xml" Id="Re169f48c1abe433b" /><Relationship Type="http://schemas.openxmlformats.org/officeDocument/2006/relationships/slide" Target="/ppt/slides/slide24.xml" Id="Rde4182691626428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6a6c392e7a9429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afd855593de40c1" /><Relationship Type="http://schemas.openxmlformats.org/officeDocument/2006/relationships/notesMaster" Target="/ppt/notesMasters/notesMaster1.xml" Id="R6144221b4bc7473c" /></Relationships>
</file>

<file path=ppt/notesSlides/_rels/notesSlide2.xml.rels>&#65279;<?xml version="1.0" encoding="utf-8"?><Relationships xmlns="http://schemas.openxmlformats.org/package/2006/relationships"><Relationship Type="http://schemas.openxmlformats.org/officeDocument/2006/relationships/slide" Target="/ppt/slides/slide2.xml" Id="R2a6b259c478e4215" /><Relationship Type="http://schemas.openxmlformats.org/officeDocument/2006/relationships/notesMaster" Target="/ppt/notesMasters/notesMaster1.xml" Id="R3c4579074cfc4135" /></Relationships>
</file>

<file path=ppt/notesSlides/_rels/notesSlide3.xml.rels>&#65279;<?xml version="1.0" encoding="utf-8"?><Relationships xmlns="http://schemas.openxmlformats.org/package/2006/relationships"><Relationship Type="http://schemas.openxmlformats.org/officeDocument/2006/relationships/slide" Target="/ppt/slides/slide3.xml" Id="Rea789a92c8a64261" /><Relationship Type="http://schemas.openxmlformats.org/officeDocument/2006/relationships/notesMaster" Target="/ppt/notesMasters/notesMaster1.xml" Id="Rc8e6ddf3f2b24e1d" /></Relationships>
</file>

<file path=ppt/notesSlides/_rels/notesSlide4.xml.rels>&#65279;<?xml version="1.0" encoding="utf-8"?><Relationships xmlns="http://schemas.openxmlformats.org/package/2006/relationships"><Relationship Type="http://schemas.openxmlformats.org/officeDocument/2006/relationships/slide" Target="/ppt/slides/slide4.xml" Id="R53b985e8dabb4851" /><Relationship Type="http://schemas.openxmlformats.org/officeDocument/2006/relationships/notesMaster" Target="/ppt/notesMasters/notesMaster1.xml" Id="R07808bf04c6f4a2e" /></Relationships>
</file>

<file path=ppt/notesSlides/_rels/notesSlide5.xml.rels>&#65279;<?xml version="1.0" encoding="utf-8"?><Relationships xmlns="http://schemas.openxmlformats.org/package/2006/relationships"><Relationship Type="http://schemas.openxmlformats.org/officeDocument/2006/relationships/slide" Target="/ppt/slides/slide5.xml" Id="R9c453d88bf444c86" /><Relationship Type="http://schemas.openxmlformats.org/officeDocument/2006/relationships/notesMaster" Target="/ppt/notesMasters/notesMaster1.xml" Id="R802819b20ca54c0e" /></Relationships>
</file>

<file path=ppt/notesSlides/_rels/notesSlide6.xml.rels>&#65279;<?xml version="1.0" encoding="utf-8"?><Relationships xmlns="http://schemas.openxmlformats.org/package/2006/relationships"><Relationship Type="http://schemas.openxmlformats.org/officeDocument/2006/relationships/slide" Target="/ppt/slides/slide6.xml" Id="Rf74effb380f44dc2" /><Relationship Type="http://schemas.openxmlformats.org/officeDocument/2006/relationships/notesMaster" Target="/ppt/notesMasters/notesMaster1.xml" Id="R77b3f880d0354927" /></Relationships>
</file>

<file path=ppt/notesSlides/_rels/notesSlide7.xml.rels>&#65279;<?xml version="1.0" encoding="utf-8"?><Relationships xmlns="http://schemas.openxmlformats.org/package/2006/relationships"><Relationship Type="http://schemas.openxmlformats.org/officeDocument/2006/relationships/slide" Target="/ppt/slides/slide7.xml" Id="Rdb6271f1e2994664" /><Relationship Type="http://schemas.openxmlformats.org/officeDocument/2006/relationships/notesMaster" Target="/ppt/notesMasters/notesMaster1.xml" Id="R60ea53e593d04101" /></Relationships>
</file>

<file path=ppt/notesSlides/_rels/notesSlide8.xml.rels>&#65279;<?xml version="1.0" encoding="utf-8"?><Relationships xmlns="http://schemas.openxmlformats.org/package/2006/relationships"><Relationship Type="http://schemas.openxmlformats.org/officeDocument/2006/relationships/slide" Target="/ppt/slides/slide8.xml" Id="R861b55743517481c" /><Relationship Type="http://schemas.openxmlformats.org/officeDocument/2006/relationships/notesMaster" Target="/ppt/notesMasters/notesMaster1.xml" Id="Ra851ad7d7f414193" /></Relationships>
</file>

<file path=ppt/notesSlides/_rels/notesSlide9.xml.rels>&#65279;<?xml version="1.0" encoding="utf-8"?><Relationships xmlns="http://schemas.openxmlformats.org/package/2006/relationships"><Relationship Type="http://schemas.openxmlformats.org/officeDocument/2006/relationships/slide" Target="/ppt/slides/slide9.xml" Id="Re5382cd11a224343" /><Relationship Type="http://schemas.openxmlformats.org/officeDocument/2006/relationships/notesMaster" Target="/ppt/notesMasters/notesMaster1.xml" Id="Rf1ac2b1611654ee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8e0420a8b3947e7" /><Relationship Type="http://schemas.openxmlformats.org/officeDocument/2006/relationships/notesMaster" Target="/ppt/notesMasters/notesMaster1.xml" Id="Rc7700b912e21461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bb47c45061b43af" /><Relationship Type="http://schemas.openxmlformats.org/officeDocument/2006/relationships/notesMaster" Target="/ppt/notesMasters/notesMaster1.xml" Id="R3c3e70e4b9644ed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181a49883bb4a83" /><Relationship Type="http://schemas.openxmlformats.org/officeDocument/2006/relationships/notesMaster" Target="/ppt/notesMasters/notesMaster1.xml" Id="R33535f08f0e4486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f2f0b893bba48f2" /><Relationship Type="http://schemas.openxmlformats.org/officeDocument/2006/relationships/notesMaster" Target="/ppt/notesMasters/notesMaster1.xml" Id="Rd9c646208340484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ff026c7a1ab4023" /><Relationship Type="http://schemas.openxmlformats.org/officeDocument/2006/relationships/notesMaster" Target="/ppt/notesMasters/notesMaster1.xml" Id="Rd982509a8eba448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6493c9fac69425a" /><Relationship Type="http://schemas.openxmlformats.org/officeDocument/2006/relationships/notesMaster" Target="/ppt/notesMasters/notesMaster1.xml" Id="R48d7c4d6772e412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249df946a84416d" /><Relationship Type="http://schemas.openxmlformats.org/officeDocument/2006/relationships/notesMaster" Target="/ppt/notesMasters/notesMaster1.xml" Id="R15195f5b7ff14da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3dcda05a46b4c8c" /><Relationship Type="http://schemas.openxmlformats.org/officeDocument/2006/relationships/notesMaster" Target="/ppt/notesMasters/notesMaster1.xml" Id="Rf52a9234b39d4ba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914910bb5bf42a2" /><Relationship Type="http://schemas.openxmlformats.org/officeDocument/2006/relationships/notesMaster" Target="/ppt/notesMasters/notesMaster1.xml" Id="R1a82d3d44ae840b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29b1784888f4310" /><Relationship Type="http://schemas.openxmlformats.org/officeDocument/2006/relationships/notesMaster" Target="/ppt/notesMasters/notesMaster1.xml" Id="R507c86aa0f2c492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ae7ba13e96d43ec" /><Relationship Type="http://schemas.openxmlformats.org/officeDocument/2006/relationships/notesMaster" Target="/ppt/notesMasters/notesMaster1.xml" Id="Ra913d8b7edf8490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9dfb4ccf9d846ac" /><Relationship Type="http://schemas.openxmlformats.org/officeDocument/2006/relationships/notesMaster" Target="/ppt/notesMasters/notesMaster1.xml" Id="R0fee18ccc4a6466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7c50b518fe34eed" /><Relationship Type="http://schemas.openxmlformats.org/officeDocument/2006/relationships/notesMaster" Target="/ppt/notesMasters/notesMaster1.xml" Id="R31b14100bd2c445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8d53b9c9e44461a" /><Relationship Type="http://schemas.openxmlformats.org/officeDocument/2006/relationships/notesMaster" Target="/ppt/notesMasters/notesMaster1.xml" Id="Ra08a043eaf4c4fa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9ec3607785840e3" /><Relationship Type="http://schemas.openxmlformats.org/officeDocument/2006/relationships/notesMaster" Target="/ppt/notesMasters/notesMaster1.xml" Id="R67648d88bcb949e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Today we are beginning Chapter 19, the heart. In this chapter, we will connect the major structures and processes with their functions and with the observations that matter in practical nursing care. As we move through the slides, focus on how this system supports circulation, perfusion, protection, and patient safety. By the end, you should be able to explain the major concepts in your own words and apply them to a patient-care situation.</a:t>
            </a:r>
            <a:endParaRPr/>
          </a:p>
          <a:p xmlns:a="http://schemas.openxmlformats.org/drawingml/2006/main">
            <a:r>
              <a:t/>
            </a:r>
            <a:endParaRPr/>
          </a:p>
          <a:p xmlns:a="http://schemas.openxmlformats.org/drawingml/2006/main">
            <a:r>
              <a:t>[Sources]</a:t>
            </a:r>
            <a:endParaRPr/>
          </a:p>
          <a:p xmlns:a="http://schemas.openxmlformats.org/drawingml/2006/main">
            <a:r>
              <a:t>- BMHI PN 104 Chapter 19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These are our learning objectives for Chapter 19. By the end of the chapter, you should be able to do the following: Identify and describe the interior and exterior parts of the human heart. Describe the path of blood through the cardiac circuits. Describe the size, shape, and location of the heart. Compare cardiac muscle to skeletal and smooth muscle. Explain the cardiac conduction system. Describe the process and purpose of an electrocardiogram. Do not treat these as isolated facts. Use them as a checklist for what you should be able to identify, explain, and connect to safe practical nursing care.</a:t>
            </a:r>
            <a:endParaRPr/>
          </a:p>
          <a:p xmlns:a="http://schemas.openxmlformats.org/drawingml/2006/main">
            <a:r>
              <a:t/>
            </a:r>
            <a:endParaRPr/>
          </a:p>
          <a:p xmlns:a="http://schemas.openxmlformats.org/drawingml/2006/main">
            <a:r>
              <a:t>[Sources]</a:t>
            </a:r>
            <a:endParaRPr/>
          </a:p>
          <a:p xmlns:a="http://schemas.openxmlformats.org/drawingml/2006/main">
            <a:r>
              <a:t>- BMHI PN 104 Chapter 19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We are now moving into Heart Anatomy. The chambers, valves, vessels, and wall of the heart. As we begin this section, listen for the major structures, their locations, and the functions they perform. Then ask yourself what a change in this area might look like during patient care.</a:t>
            </a:r>
            <a:endParaRPr/>
          </a:p>
          <a:p xmlns:a="http://schemas.openxmlformats.org/drawingml/2006/main">
            <a:r>
              <a:t/>
            </a:r>
            <a:endParaRPr/>
          </a:p>
          <a:p xmlns:a="http://schemas.openxmlformats.org/drawingml/2006/main">
            <a:r>
              <a:t>[Sources]</a:t>
            </a:r>
            <a:endParaRPr/>
          </a:p>
          <a:p xmlns:a="http://schemas.openxmlformats.org/drawingml/2006/main">
            <a:r>
              <a:t>- BMHI PN 104 Chapter 19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Pulmonary &amp; Systemic Circulation. The pulmonary and systemic circuits. The heart is a double pump. Right side → lungs (pulmonary). Left side → body (systemic). Keeps the two circuits separate. Use this heart anatomy when assessing pulse, blood pressure, breathing, skin color, edema, pain, activity tolerance, and signs of reduced cardiac output. Take a moment to identify the structure on the image and explain how its form supports its function. This is slide 4 of 24.</a:t>
            </a:r>
            <a:endParaRPr/>
          </a:p>
          <a:p xmlns:a="http://schemas.openxmlformats.org/drawingml/2006/main">
            <a:r>
              <a:t/>
            </a:r>
            <a:endParaRPr/>
          </a:p>
          <a:p xmlns:a="http://schemas.openxmlformats.org/drawingml/2006/main">
            <a:r>
              <a:t>[Sources]</a:t>
            </a:r>
            <a:endParaRPr/>
          </a:p>
          <a:p xmlns:a="http://schemas.openxmlformats.org/drawingml/2006/main">
            <a:r>
              <a:t>- BMHI PN 104 Chapter 19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The Heart Wall. Three layers. Endocardium lines the inside. Myocardium is the thick muscle. Pericardium surrounds the heart. Layers of the heart wall. Reduced coronary blood flow may appear as chest pressure, shortness of breath, diaphoresis, nausea, weakness, or atypical symptoms, especially in older adults and people with diabetes. Take a moment to identify the structure on the image and explain how its form supports its function. This is slide 5 of 24.</a:t>
            </a:r>
            <a:endParaRPr/>
          </a:p>
          <a:p xmlns:a="http://schemas.openxmlformats.org/drawingml/2006/main">
            <a:r>
              <a:t/>
            </a:r>
            <a:endParaRPr/>
          </a:p>
          <a:p xmlns:a="http://schemas.openxmlformats.org/drawingml/2006/main">
            <a:r>
              <a:t>[Sources]</a:t>
            </a:r>
            <a:endParaRPr/>
          </a:p>
          <a:p xmlns:a="http://schemas.openxmlformats.org/drawingml/2006/main">
            <a:r>
              <a:t>- BMHI PN 104 Chapter 19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External Anatomy. Four chambers: two atria, two ventricles. Great vessels enter and leave the top. Coronary vessels on the surface. Apex points down and to the left. External anatomy of the heart. Follow the direction of blood flow through each chamber and valve, then connect abnormal flow with murmurs, congestion, reduced cardiac output, and activity intolerance. Take a moment to identify the structure on the image and explain how its form supports its function. This is slide 6 of 24.</a:t>
            </a:r>
            <a:endParaRPr/>
          </a:p>
          <a:p xmlns:a="http://schemas.openxmlformats.org/drawingml/2006/main">
            <a:r>
              <a:t/>
            </a:r>
            <a:endParaRPr/>
          </a:p>
          <a:p xmlns:a="http://schemas.openxmlformats.org/drawingml/2006/main">
            <a:r>
              <a:t>[Sources]</a:t>
            </a:r>
            <a:endParaRPr/>
          </a:p>
          <a:p xmlns:a="http://schemas.openxmlformats.org/drawingml/2006/main">
            <a:r>
              <a:t>- BMHI PN 104 Chapter 19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Internal Anatomy. Four chambers separated by valves. Atria receive; ventricles pump. Valves keep blood moving one way. Septum divides left and right. Internal anatomy of the heart. Follow the direction of blood flow through each chamber and valve, then connect abnormal flow with murmurs, congestion, reduced cardiac output, and activity intolerance. Take a moment to identify the structure on the image and explain how its form supports its function. This is slide 7 of 24.</a:t>
            </a:r>
            <a:endParaRPr/>
          </a:p>
          <a:p xmlns:a="http://schemas.openxmlformats.org/drawingml/2006/main">
            <a:r>
              <a:t/>
            </a:r>
            <a:endParaRPr/>
          </a:p>
          <a:p xmlns:a="http://schemas.openxmlformats.org/drawingml/2006/main">
            <a:r>
              <a:t>[Sources]</a:t>
            </a:r>
            <a:endParaRPr/>
          </a:p>
          <a:p xmlns:a="http://schemas.openxmlformats.org/drawingml/2006/main">
            <a:r>
              <a:t>- BMHI PN 104 Chapter 19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The Heart Valves. Four valves keep blood moving forward. Two AV valves (tricuspid, mitral). Two semilunar valves (aortic, pulmonary). Open and close with pressure changes. The four heart valves. Follow the direction of blood flow through each chamber and valve, then connect abnormal flow with murmurs, congestion, reduced cardiac output, and activity intolerance. Take a moment to identify the structure on the image and explain how its form supports its function. This is slide 8 of 24.</a:t>
            </a:r>
            <a:endParaRPr/>
          </a:p>
          <a:p xmlns:a="http://schemas.openxmlformats.org/drawingml/2006/main">
            <a:r>
              <a:t/>
            </a:r>
            <a:endParaRPr/>
          </a:p>
          <a:p xmlns:a="http://schemas.openxmlformats.org/drawingml/2006/main">
            <a:r>
              <a:t>[Sources]</a:t>
            </a:r>
            <a:endParaRPr/>
          </a:p>
          <a:p xmlns:a="http://schemas.openxmlformats.org/drawingml/2006/main">
            <a:r>
              <a:t>- BMHI PN 104 Chapter 19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Coronary Circulation. The heart needs its own blood supply. Coronary arteries branch from the aorta. They feed the myocardium. Blockage causes a heart attack. The coronary circulation. Reduced coronary blood flow may appear as chest pressure, shortness of breath, diaphoresis, nausea, weakness, or atypical symptoms, especially in older adults and people with diabetes. Take a moment to identify the structure on the image and explain how its form supports its function. This is slide 9 of 24.</a:t>
            </a:r>
            <a:endParaRPr/>
          </a:p>
          <a:p xmlns:a="http://schemas.openxmlformats.org/drawingml/2006/main">
            <a:r>
              <a:t/>
            </a:r>
            <a:endParaRPr/>
          </a:p>
          <a:p xmlns:a="http://schemas.openxmlformats.org/drawingml/2006/main">
            <a:r>
              <a:t>[Sources]</a:t>
            </a:r>
            <a:endParaRPr/>
          </a:p>
          <a:p xmlns:a="http://schemas.openxmlformats.org/drawingml/2006/main">
            <a:r>
              <a:t>- BMHI PN 104 Chapter 19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We are now moving into Cardiac Muscle and Electrical Activity. Cardiac muscle and the heart's electrical system. As we begin this section, listen for the major structures, their locations, and the functions they perform. Then ask yourself what a change in this area might look like during patient care.</a:t>
            </a:r>
            <a:endParaRPr/>
          </a:p>
          <a:p xmlns:a="http://schemas.openxmlformats.org/drawingml/2006/main">
            <a:r>
              <a:t/>
            </a:r>
            <a:endParaRPr/>
          </a:p>
          <a:p xmlns:a="http://schemas.openxmlformats.org/drawingml/2006/main">
            <a:r>
              <a:t>[Sources]</a:t>
            </a:r>
            <a:endParaRPr/>
          </a:p>
          <a:p xmlns:a="http://schemas.openxmlformats.org/drawingml/2006/main">
            <a:r>
              <a:t>- BMHI PN 104 Chapter 19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Cardiac Muscle. Striated but involuntary. Cells branch and interconnect. Joined by intercalated discs. Gap junctions synchronize the beat. Cardiac muscle tissue. Use this heart anatomy when assessing pulse, blood pressure, breathing, skin color, edema, pain, activity tolerance, and signs of reduced cardiac output. Take a moment to identify the structure on the image and explain how its form supports its function. This is slide 11 of 24.</a:t>
            </a:r>
            <a:endParaRPr/>
          </a:p>
          <a:p xmlns:a="http://schemas.openxmlformats.org/drawingml/2006/main">
            <a:r>
              <a:t/>
            </a:r>
            <a:endParaRPr/>
          </a:p>
          <a:p xmlns:a="http://schemas.openxmlformats.org/drawingml/2006/main">
            <a:r>
              <a:t>[Sources]</a:t>
            </a:r>
            <a:endParaRPr/>
          </a:p>
          <a:p xmlns:a="http://schemas.openxmlformats.org/drawingml/2006/main">
            <a:r>
              <a:t>- BMHI PN 104 Chapter 19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The Conduction System. The heart sets its own rhythm. SA node is the pacemaker. AV node delays the signal. Bundle and Purkinje fibers spread it. The cardiac conduction system. Relate the conduction pathway to pulse rhythm, ECG monitoring, dizziness, syncope, palpitations, and the need to report a new rhythm change promptly. Take a moment to identify the structure on the image and explain how its form supports its function. This is slide 12 of 24.</a:t>
            </a:r>
            <a:endParaRPr/>
          </a:p>
          <a:p xmlns:a="http://schemas.openxmlformats.org/drawingml/2006/main">
            <a:r>
              <a:t/>
            </a:r>
            <a:endParaRPr/>
          </a:p>
          <a:p xmlns:a="http://schemas.openxmlformats.org/drawingml/2006/main">
            <a:r>
              <a:t>[Sources]</a:t>
            </a:r>
            <a:endParaRPr/>
          </a:p>
          <a:p xmlns:a="http://schemas.openxmlformats.org/drawingml/2006/main">
            <a:r>
              <a:t>- BMHI PN 104 Chapter 19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The Electrocardiogram (ECG). A normal ECG tracing. Records the heart's electrical activity. P wave = atrial depolarization. QRS = ventricular depolarization. T wave = ventricular repolarization. Relate the conduction pathway to pulse rhythm, ECG monitoring, dizziness, syncope, palpitations, and the need to report a new rhythm change promptly. Take a moment to identify the structure on the image and explain how its form supports its function. This is slide 13 of 24.</a:t>
            </a:r>
            <a:endParaRPr/>
          </a:p>
          <a:p xmlns:a="http://schemas.openxmlformats.org/drawingml/2006/main">
            <a:r>
              <a:t/>
            </a:r>
            <a:endParaRPr/>
          </a:p>
          <a:p xmlns:a="http://schemas.openxmlformats.org/drawingml/2006/main">
            <a:r>
              <a:t>[Sources]</a:t>
            </a:r>
            <a:endParaRPr/>
          </a:p>
          <a:p xmlns:a="http://schemas.openxmlformats.org/drawingml/2006/main">
            <a:r>
              <a:t>- BMHI PN 104 Chapter 19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Arrhythmias. Abnormal heart rhythms. Show as abnormal ECG patterns. Atrial fibrillation, V-tach, V-fib. Some are life-threatening. Examples of cardiac arrhythmias. Relate the conduction pathway to pulse rhythm, ECG monitoring, dizziness, syncope, palpitations, and the need to report a new rhythm change promptly. Take a moment to identify the structure on the image and explain how its form supports its function. This is slide 14 of 24.</a:t>
            </a:r>
            <a:endParaRPr/>
          </a:p>
          <a:p xmlns:a="http://schemas.openxmlformats.org/drawingml/2006/main">
            <a:r>
              <a:t/>
            </a:r>
            <a:endParaRPr/>
          </a:p>
          <a:p xmlns:a="http://schemas.openxmlformats.org/drawingml/2006/main">
            <a:r>
              <a:t>[Sources]</a:t>
            </a:r>
            <a:endParaRPr/>
          </a:p>
          <a:p xmlns:a="http://schemas.openxmlformats.org/drawingml/2006/main">
            <a:r>
              <a:t>- BMHI PN 104 Chapter 19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We are now moving into Cardiac Cycle. The cardiac cycle — one complete heartbeat. As we begin this section, listen for the major structures, their locations, and the functions they perform. Then ask yourself what a change in this area might look like during patient care.</a:t>
            </a:r>
            <a:endParaRPr/>
          </a:p>
          <a:p xmlns:a="http://schemas.openxmlformats.org/drawingml/2006/main">
            <a:r>
              <a:t/>
            </a:r>
            <a:endParaRPr/>
          </a:p>
          <a:p xmlns:a="http://schemas.openxmlformats.org/drawingml/2006/main">
            <a:r>
              <a:t>[Sources]</a:t>
            </a:r>
            <a:endParaRPr/>
          </a:p>
          <a:p xmlns:a="http://schemas.openxmlformats.org/drawingml/2006/main">
            <a:r>
              <a:t>- BMHI PN 104 Chapter 19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The Cardiac Cycle. The cardiac cycle. One heartbeat = one cardiac cycle. Atria contract, then ventricles. Systole = contraction. Diastole = relaxation. Connect systole and diastole with blood pressure, pulse assessment, normal heart sounds, and changes that require further evaluation. Take a moment to identify the structure on the image and explain how its form supports its function. This is slide 16 of 24.</a:t>
            </a:r>
            <a:endParaRPr/>
          </a:p>
          <a:p xmlns:a="http://schemas.openxmlformats.org/drawingml/2006/main">
            <a:r>
              <a:t/>
            </a:r>
            <a:endParaRPr/>
          </a:p>
          <a:p xmlns:a="http://schemas.openxmlformats.org/drawingml/2006/main">
            <a:r>
              <a:t>[Sources]</a:t>
            </a:r>
            <a:endParaRPr/>
          </a:p>
          <a:p xmlns:a="http://schemas.openxmlformats.org/drawingml/2006/main">
            <a:r>
              <a:t>- BMHI PN 104 Chapter 19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Heart Sounds. Valves closing make the sounds. "Lub" = AV valves closing. "Dup" = semilunar valves closing. Heard at specific chest sites. Auscultation points for heart sounds. Follow the direction of blood flow through each chamber and valve, then connect abnormal flow with murmurs, congestion, reduced cardiac output, and activity intolerance. Take a moment to identify the structure on the image and explain how its form supports its function. This is slide 17 of 24.</a:t>
            </a:r>
            <a:endParaRPr/>
          </a:p>
          <a:p xmlns:a="http://schemas.openxmlformats.org/drawingml/2006/main">
            <a:r>
              <a:t/>
            </a:r>
            <a:endParaRPr/>
          </a:p>
          <a:p xmlns:a="http://schemas.openxmlformats.org/drawingml/2006/main">
            <a:r>
              <a:t>[Sources]</a:t>
            </a:r>
            <a:endParaRPr/>
          </a:p>
          <a:p xmlns:a="http://schemas.openxmlformats.org/drawingml/2006/main">
            <a:r>
              <a:t>- BMHI PN 104 Chapter 19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We are now moving into Cardiac Physiology. Cardiac output and how it is regulated. As we begin this section, listen for the major structures, their locations, and the functions they perform. Then ask yourself what a change in this area might look like during patient care.</a:t>
            </a:r>
            <a:endParaRPr/>
          </a:p>
          <a:p xmlns:a="http://schemas.openxmlformats.org/drawingml/2006/main">
            <a:r>
              <a:t/>
            </a:r>
            <a:endParaRPr/>
          </a:p>
          <a:p xmlns:a="http://schemas.openxmlformats.org/drawingml/2006/main">
            <a:r>
              <a:t>[Sources]</a:t>
            </a:r>
            <a:endParaRPr/>
          </a:p>
          <a:p xmlns:a="http://schemas.openxmlformats.org/drawingml/2006/main">
            <a:r>
              <a:t>- BMHI PN 104 Chapter 19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Cardiac Output. Cardiac output: heart rate and stroke volume. Output = heart rate × stroke volume. Stroke volume = blood per beat. About 5 liters per minute at rest. Rises with exercise and demand. Use this heart anatomy when assessing pulse, blood pressure, breathing, skin color, edema, pain, activity tolerance, and signs of reduced cardiac output. Take a moment to identify the structure on the image and explain how its form supports its function. This is slide 19 of 24.</a:t>
            </a:r>
            <a:endParaRPr/>
          </a:p>
          <a:p xmlns:a="http://schemas.openxmlformats.org/drawingml/2006/main">
            <a:r>
              <a:t/>
            </a:r>
            <a:endParaRPr/>
          </a:p>
          <a:p xmlns:a="http://schemas.openxmlformats.org/drawingml/2006/main">
            <a:r>
              <a:t>[Sources]</a:t>
            </a:r>
            <a:endParaRPr/>
          </a:p>
          <a:p xmlns:a="http://schemas.openxmlformats.org/drawingml/2006/main">
            <a:r>
              <a:t>- BMHI PN 104 Chapter 19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Autonomic Control of the Heart. Autonomic control of the heart. The brain adjusts heart rate. Sympathetic input speeds it up. The vagus nerve slows it down. Matches output to demand. Use this heart anatomy when assessing pulse, blood pressure, breathing, skin color, edema, pain, activity tolerance, and signs of reduced cardiac output. Take a moment to identify the structure on the image and explain how its form supports its function. This is slide 20 of 24.</a:t>
            </a:r>
            <a:endParaRPr/>
          </a:p>
          <a:p xmlns:a="http://schemas.openxmlformats.org/drawingml/2006/main">
            <a:r>
              <a:t/>
            </a:r>
            <a:endParaRPr/>
          </a:p>
          <a:p xmlns:a="http://schemas.openxmlformats.org/drawingml/2006/main">
            <a:r>
              <a:t>[Sources]</a:t>
            </a:r>
            <a:endParaRPr/>
          </a:p>
          <a:p xmlns:a="http://schemas.openxmlformats.org/drawingml/2006/main">
            <a:r>
              <a:t>- BMHI PN 104 Chapter 19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We are now moving into Development of the Heart. How the heart develops before birth. As we begin this section, listen for the major structures, their locations, and the functions they perform. Then ask yourself what a change in this area might look like during patient care.</a:t>
            </a:r>
            <a:endParaRPr/>
          </a:p>
          <a:p xmlns:a="http://schemas.openxmlformats.org/drawingml/2006/main">
            <a:r>
              <a:t/>
            </a:r>
            <a:endParaRPr/>
          </a:p>
          <a:p xmlns:a="http://schemas.openxmlformats.org/drawingml/2006/main">
            <a:r>
              <a:t>[Sources]</a:t>
            </a:r>
            <a:endParaRPr/>
          </a:p>
          <a:p xmlns:a="http://schemas.openxmlformats.org/drawingml/2006/main">
            <a:r>
              <a:t>- BMHI PN 104 Chapter 19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Development of the Heart. The first organ to function. Begins as a simple tube. Folds and divides into four chambers. Defects can occur in the process. Development of the heart. Follow the direction of blood flow through each chamber and valve, then connect abnormal flow with murmurs, congestion, reduced cardiac output, and activity intolerance. Take a moment to identify the structure on the image and explain how its form supports its function. This is slide 22 of 24.</a:t>
            </a:r>
            <a:endParaRPr/>
          </a:p>
          <a:p xmlns:a="http://schemas.openxmlformats.org/drawingml/2006/main">
            <a:r>
              <a:t/>
            </a:r>
            <a:endParaRPr/>
          </a:p>
          <a:p xmlns:a="http://schemas.openxmlformats.org/drawingml/2006/main">
            <a:r>
              <a:t>[Sources]</a:t>
            </a:r>
            <a:endParaRPr/>
          </a:p>
          <a:p xmlns:a="http://schemas.openxmlformats.org/drawingml/2006/main">
            <a:r>
              <a:t>- BMHI PN 104 Chapter 19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Let us review the major takeaways from Chapter 19. The heart is a double pump driving the pulmonary and systemic circuits. Four chambers and four valves keep blood flowing in one direction. Cardiac muscle and the conduction system generate a coordinated, automatic heartbeat. The ECG records the heart's electrical activity and reveals arrhythmias. Cardiac output (rate × stroke volume) is tuned by the autonomic nervous system. Before moving on, pause and explain each point without reading the slide. If any statement is difficult to explain, mark that topic for review before the quiz.</a:t>
            </a:r>
            <a:endParaRPr/>
          </a:p>
          <a:p xmlns:a="http://schemas.openxmlformats.org/drawingml/2006/main">
            <a:r>
              <a:t/>
            </a:r>
            <a:endParaRPr/>
          </a:p>
          <a:p xmlns:a="http://schemas.openxmlformats.org/drawingml/2006/main">
            <a:r>
              <a:t>[Sources]</a:t>
            </a:r>
            <a:endParaRPr/>
          </a:p>
          <a:p xmlns:a="http://schemas.openxmlformats.org/drawingml/2006/main">
            <a:r>
              <a:t>- BMHI PN 104 Chapter 19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This final slide connects Chapter 19 to practical nursing. Heart Attack. A blocked coronary artery starves the myocardium of oxygen. Heart Failure. A weakened pump can't meet the body's demands. Arrhythmias. Abnormal rhythms range from harmless to lethal. Heart Murmurs. Faulty valves produce abnormal heart sounds. ECG Monitoring. A core tool for assessing cardiac patients. Vital Signs. Pulse reflects heart rate, rhythm, and strength. Your role is to observe carefully, protect safety, follow orders and precautions, document objectively, and report changes through the appropriate chain of command. Use these examples to connect anatomy with the care you will provide.</a:t>
            </a:r>
            <a:endParaRPr/>
          </a:p>
          <a:p xmlns:a="http://schemas.openxmlformats.org/drawingml/2006/main">
            <a:r>
              <a:t/>
            </a:r>
            <a:endParaRPr/>
          </a:p>
          <a:p xmlns:a="http://schemas.openxmlformats.org/drawingml/2006/main">
            <a:r>
              <a:t>[Sources]</a:t>
            </a:r>
            <a:endParaRPr/>
          </a:p>
          <a:p xmlns:a="http://schemas.openxmlformats.org/drawingml/2006/main">
            <a:r>
              <a:t>- BMHI PN 104 Chapter 19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a89ee68e6994a41"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204fefa3074452a" /><Relationship Type="http://schemas.openxmlformats.org/officeDocument/2006/relationships/slideLayout" Target="/ppt/slideLayouts/slideLayout1.xml" Id="R30a044511fac4bf7"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0a044511fac4bf7"/>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cc85ceec16d46f8" /><Relationship Type="http://schemas.openxmlformats.org/officeDocument/2006/relationships/image" Target="/ppt/media/image.jpeg" Id="R26e370de8b6c4593" /><Relationship Type="http://schemas.openxmlformats.org/officeDocument/2006/relationships/notesSlide" Target="/ppt/notesSlides/notesSlide1.xml" Id="R648c8a9b9b8344a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2feefcc7a8a46a5" /><Relationship Type="http://schemas.openxmlformats.org/officeDocument/2006/relationships/image" Target="/ppt/media/image2.jpeg" Id="R707e53b1ddaf4150" /><Relationship Type="http://schemas.openxmlformats.org/officeDocument/2006/relationships/notesSlide" Target="/ppt/notesSlides/notesSlide2.xml" Id="R8477af512cf1422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e7f9ebec8684aea" /><Relationship Type="http://schemas.openxmlformats.org/officeDocument/2006/relationships/notesSlide" Target="/ppt/notesSlides/notesSlide3.xml" Id="R91ac19d8d284417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dde27f7a6ac42f4" /><Relationship Type="http://schemas.openxmlformats.org/officeDocument/2006/relationships/image" Target="/ppt/media/image3.jpeg" Id="Raca692c06f084a85" /><Relationship Type="http://schemas.openxmlformats.org/officeDocument/2006/relationships/notesSlide" Target="/ppt/notesSlides/notesSlide4.xml" Id="R6252858719f643a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b03b2b4e4874140" /><Relationship Type="http://schemas.openxmlformats.org/officeDocument/2006/relationships/image" Target="/ppt/media/image4.jpeg" Id="R466b95d1b1cb453b" /><Relationship Type="http://schemas.openxmlformats.org/officeDocument/2006/relationships/notesSlide" Target="/ppt/notesSlides/notesSlide5.xml" Id="Rcb6effb227c9400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f92ad65cb0e4b59" /><Relationship Type="http://schemas.openxmlformats.org/officeDocument/2006/relationships/image" Target="/ppt/media/image5.jpeg" Id="Rdfa6dbc247c34b6d" /><Relationship Type="http://schemas.openxmlformats.org/officeDocument/2006/relationships/notesSlide" Target="/ppt/notesSlides/notesSlide6.xml" Id="R71eeb4afae204fe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02708d6735e4fa4" /><Relationship Type="http://schemas.openxmlformats.org/officeDocument/2006/relationships/image" Target="/ppt/media/image6.jpeg" Id="Rfdeef903385946ac" /><Relationship Type="http://schemas.openxmlformats.org/officeDocument/2006/relationships/notesSlide" Target="/ppt/notesSlides/notesSlide7.xml" Id="R549caebce8ec4c5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f9de807bd1e4267" /><Relationship Type="http://schemas.openxmlformats.org/officeDocument/2006/relationships/image" Target="/ppt/media/image7.jpeg" Id="Rd974591ecd1048c4" /><Relationship Type="http://schemas.openxmlformats.org/officeDocument/2006/relationships/notesSlide" Target="/ppt/notesSlides/notesSlide8.xml" Id="Rb48941523cff42e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85fe219f0c14af4" /><Relationship Type="http://schemas.openxmlformats.org/officeDocument/2006/relationships/image" Target="/ppt/media/image8.jpeg" Id="R8fcf9f06e3f3434d" /><Relationship Type="http://schemas.openxmlformats.org/officeDocument/2006/relationships/notesSlide" Target="/ppt/notesSlides/notesSlide9.xml" Id="R67384d41fd4b411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f26bf7ff0404909" /><Relationship Type="http://schemas.openxmlformats.org/officeDocument/2006/relationships/notesSlide" Target="/ppt/notesSlides/notesSlide10.xml" Id="R6f65df9ff1104a3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d1d01663a7e4bc3" /><Relationship Type="http://schemas.openxmlformats.org/officeDocument/2006/relationships/image" Target="/ppt/media/image9.jpeg" Id="R1d9e676564ef4656" /><Relationship Type="http://schemas.openxmlformats.org/officeDocument/2006/relationships/notesSlide" Target="/ppt/notesSlides/notesSlide11.xml" Id="R8bb9d18a0d464d7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3e1d9e6da424dd0" /><Relationship Type="http://schemas.openxmlformats.org/officeDocument/2006/relationships/image" Target="/ppt/media/image10.jpeg" Id="Rb28fe7d8d6664a06" /><Relationship Type="http://schemas.openxmlformats.org/officeDocument/2006/relationships/notesSlide" Target="/ppt/notesSlides/notesSlide12.xml" Id="Ra1a4e1279276474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6995f470f6e4662" /><Relationship Type="http://schemas.openxmlformats.org/officeDocument/2006/relationships/image" Target="/ppt/media/image11.jpeg" Id="Rb27c05ff26b3484d" /><Relationship Type="http://schemas.openxmlformats.org/officeDocument/2006/relationships/notesSlide" Target="/ppt/notesSlides/notesSlide13.xml" Id="Ra5b5da94b6ea414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99a947cd85246e4" /><Relationship Type="http://schemas.openxmlformats.org/officeDocument/2006/relationships/image" Target="/ppt/media/image12.jpeg" Id="R4c033f25067f42f8" /><Relationship Type="http://schemas.openxmlformats.org/officeDocument/2006/relationships/notesSlide" Target="/ppt/notesSlides/notesSlide14.xml" Id="R3a4edea0f6474d3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4ea295949454dae" /><Relationship Type="http://schemas.openxmlformats.org/officeDocument/2006/relationships/notesSlide" Target="/ppt/notesSlides/notesSlide15.xml" Id="Ra3f15d34c5be416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176b9ffae314050" /><Relationship Type="http://schemas.openxmlformats.org/officeDocument/2006/relationships/image" Target="/ppt/media/image13.jpeg" Id="R141d5426019341c2" /><Relationship Type="http://schemas.openxmlformats.org/officeDocument/2006/relationships/notesSlide" Target="/ppt/notesSlides/notesSlide16.xml" Id="Re90b81bbd1a54e5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05b19edc6bf4278" /><Relationship Type="http://schemas.openxmlformats.org/officeDocument/2006/relationships/image" Target="/ppt/media/image14.jpeg" Id="R156efd96ccde4b77" /><Relationship Type="http://schemas.openxmlformats.org/officeDocument/2006/relationships/notesSlide" Target="/ppt/notesSlides/notesSlide17.xml" Id="R84ddd80b022345d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bbdf5dc20d34c5e" /><Relationship Type="http://schemas.openxmlformats.org/officeDocument/2006/relationships/notesSlide" Target="/ppt/notesSlides/notesSlide18.xml" Id="R3dad2c69c94f47f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7abcd006e8140c2" /><Relationship Type="http://schemas.openxmlformats.org/officeDocument/2006/relationships/image" Target="/ppt/media/image15.jpeg" Id="R053921a9d2904847" /><Relationship Type="http://schemas.openxmlformats.org/officeDocument/2006/relationships/notesSlide" Target="/ppt/notesSlides/notesSlide19.xml" Id="R684a3278a3b147b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9f01f67eb634405" /><Relationship Type="http://schemas.openxmlformats.org/officeDocument/2006/relationships/image" Target="/ppt/media/image16.jpeg" Id="Rf104a74849884c4f" /><Relationship Type="http://schemas.openxmlformats.org/officeDocument/2006/relationships/notesSlide" Target="/ppt/notesSlides/notesSlide20.xml" Id="R1b09d02dea9a491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ef5783bf0fa4518" /><Relationship Type="http://schemas.openxmlformats.org/officeDocument/2006/relationships/notesSlide" Target="/ppt/notesSlides/notesSlide21.xml" Id="Rfd93ddc5406443b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e4f22d446b64b36" /><Relationship Type="http://schemas.openxmlformats.org/officeDocument/2006/relationships/image" Target="/ppt/media/image17.jpeg" Id="R73b76613ef3b4d79" /><Relationship Type="http://schemas.openxmlformats.org/officeDocument/2006/relationships/notesSlide" Target="/ppt/notesSlides/notesSlide22.xml" Id="Re03bb2abf0b648c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6116d21ad424c6d" /><Relationship Type="http://schemas.openxmlformats.org/officeDocument/2006/relationships/notesSlide" Target="/ppt/notesSlides/notesSlide23.xml" Id="R6cceab9c6eb9421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c19f3dd16654fa2" /><Relationship Type="http://schemas.openxmlformats.org/officeDocument/2006/relationships/notesSlide" Target="/ppt/notesSlides/notesSlide24.xml" Id="R65a718030ba1472c" /></Relationships>
</file>

<file path=ppt/slides/slide1.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8C83F6B-11D4-418A-9B87-1EEBC7D21FDA}"/>
              </a:ext>
            </a:extLst>
          </p:cNvPr>
          <p:cNvSpPr>
            <a:spLocks xmlns:a="http://schemas.openxmlformats.org/drawingml/2006/main" noGrp="1"/>
          </p:cNvSpPr>
          <p:nvPr/>
        </p:nvSpPr>
        <p:spPr>
          <a:xfrm xmlns:a="http://schemas.openxmlformats.org/drawingml/2006/main">
            <a:off x="731520" y="1325880"/>
            <a:ext cx="64008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800" b="1">
                <a:solidFill>
                  <a:srgbClr val="E36414"/>
                </a:solidFill>
                <a:latin typeface="Calibri"/>
                <a:ea typeface="Calibri"/>
                <a:cs typeface="Calibri"/>
              </a:rPr>
              <a:t>CHAPTER 19</a:t>
            </a:r>
            <a:endParaRPr sz="1800"/>
          </a:p>
        </p:txBody>
      </p:sp>
      <p:sp>
        <p:nvSpPr>
          <p:cNvPr id="3" name="Text 1">
            <a:extLst xmlns:a="http://schemas.openxmlformats.org/drawingml/2006/main">
              <a:ext uri="{FF2B5EF4-FFF2-40B4-BE49-F238E27FC236}">
                <a16:creationId xmlns:a16="http://schemas.microsoft.com/office/drawing/2014/main" id="{11D24AA9-F443-4E20-BCEB-0839B5E76B7B}"/>
              </a:ext>
            </a:extLst>
          </p:cNvPr>
          <p:cNvSpPr>
            <a:spLocks xmlns:a="http://schemas.openxmlformats.org/drawingml/2006/main" noGrp="1"/>
          </p:cNvSpPr>
          <p:nvPr/>
        </p:nvSpPr>
        <p:spPr>
          <a:xfrm xmlns:a="http://schemas.openxmlformats.org/drawingml/2006/main">
            <a:off x="713232" y="1783080"/>
            <a:ext cx="6858000" cy="1920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800" b="1">
                <a:solidFill>
                  <a:srgbClr val="FFFFFF"/>
                </a:solidFill>
                <a:latin typeface="Georgia"/>
                <a:ea typeface="Georgia"/>
                <a:cs typeface="Georgia"/>
              </a:rPr>
              <a:t>The Cardiovascular System: The Heart</a:t>
            </a:r>
            <a:endParaRPr sz="3800"/>
          </a:p>
        </p:txBody>
      </p:sp>
      <p:sp>
        <p:nvSpPr>
          <p:cNvPr id="4" name="Text 2">
            <a:extLst xmlns:a="http://schemas.openxmlformats.org/drawingml/2006/main">
              <a:ext uri="{FF2B5EF4-FFF2-40B4-BE49-F238E27FC236}">
                <a16:creationId xmlns:a16="http://schemas.microsoft.com/office/drawing/2014/main" id="{9E41EB74-7AF0-4812-B1A6-92A1518508F2}"/>
              </a:ext>
            </a:extLst>
          </p:cNvPr>
          <p:cNvSpPr>
            <a:spLocks xmlns:a="http://schemas.openxmlformats.org/drawingml/2006/main" noGrp="1"/>
          </p:cNvSpPr>
          <p:nvPr/>
        </p:nvSpPr>
        <p:spPr>
          <a:xfrm xmlns:a="http://schemas.openxmlformats.org/drawingml/2006/main">
            <a:off x="749808" y="3977640"/>
            <a:ext cx="640080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600">
                <a:solidFill>
                  <a:srgbClr val="CFE3E7"/>
                </a:solidFill>
                <a:latin typeface="Calibri"/>
                <a:ea typeface="Calibri"/>
                <a:cs typeface="Calibri"/>
              </a:rPr>
              <a:t>Heart anatomy, the heartbeat, and cardiac function.</a:t>
            </a:r>
            <a:endParaRPr sz="1600"/>
          </a:p>
        </p:txBody>
      </p:sp>
      <p:sp>
        <p:nvSpPr>
          <p:cNvPr id="5" name="Text 3">
            <a:extLst xmlns:a="http://schemas.openxmlformats.org/drawingml/2006/main">
              <a:ext uri="{FF2B5EF4-FFF2-40B4-BE49-F238E27FC236}">
                <a16:creationId xmlns:a16="http://schemas.microsoft.com/office/drawing/2014/main" id="{865C2636-AE54-4565-B05E-A38C88065ABF}"/>
              </a:ext>
            </a:extLst>
          </p:cNvPr>
          <p:cNvSpPr>
            <a:spLocks xmlns:a="http://schemas.openxmlformats.org/drawingml/2006/main" noGrp="1"/>
          </p:cNvSpPr>
          <p:nvPr/>
        </p:nvSpPr>
        <p:spPr>
          <a:xfrm xmlns:a="http://schemas.openxmlformats.org/drawingml/2006/main">
            <a:off x="749808" y="5806440"/>
            <a:ext cx="82296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a:solidFill>
                  <a:srgbClr val="9FC2C9"/>
                </a:solidFill>
                <a:latin typeface="Calibri"/>
                <a:ea typeface="Calibri"/>
                <a:cs typeface="Calibri"/>
              </a:rPr>
              <a:t>Anatomy &amp; Physiology  ·  Broward-Miami Health Institute</a:t>
            </a:r>
            <a:endParaRPr sz="1300"/>
          </a:p>
        </p:txBody>
      </p:sp>
      <p:sp>
        <p:nvSpPr>
          <p:cNvPr id="6" name="Text 4">
            <a:extLst xmlns:a="http://schemas.openxmlformats.org/drawingml/2006/main">
              <a:ext uri="{FF2B5EF4-FFF2-40B4-BE49-F238E27FC236}">
                <a16:creationId xmlns:a16="http://schemas.microsoft.com/office/drawing/2014/main" id="{F2CC9693-9FE1-4231-A9D8-F34739303838}"/>
              </a:ext>
            </a:extLst>
          </p:cNvPr>
          <p:cNvSpPr>
            <a:spLocks xmlns:a="http://schemas.openxmlformats.org/drawingml/2006/main" noGrp="1"/>
          </p:cNvSpPr>
          <p:nvPr/>
        </p:nvSpPr>
        <p:spPr>
          <a:xfrm xmlns:a="http://schemas.openxmlformats.org/drawingml/2006/main">
            <a:off x="749808" y="6144768"/>
            <a:ext cx="36576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E36414"/>
                </a:solidFill>
                <a:latin typeface="Calibri"/>
                <a:ea typeface="Calibri"/>
                <a:cs typeface="Calibri"/>
              </a:rPr>
              <a:t>FACULTY EDITION</a:t>
            </a:r>
            <a:endParaRPr sz="1100"/>
          </a:p>
        </p:txBody>
      </p:sp>
      <p:sp>
        <p:nvSpPr>
          <p:cNvPr id="7" name="Shape 5">
            <a:extLst xmlns:a="http://schemas.openxmlformats.org/drawingml/2006/main">
              <a:ext uri="{FF2B5EF4-FFF2-40B4-BE49-F238E27FC236}">
                <a16:creationId xmlns:a16="http://schemas.microsoft.com/office/drawing/2014/main" id="{235DBC32-29A5-401B-A574-F8BF238DAE4C}"/>
              </a:ext>
            </a:extLst>
          </p:cNvPr>
          <p:cNvSpPr>
            <a:spLocks xmlns:a="http://schemas.openxmlformats.org/drawingml/2006/main" noGrp="1"/>
          </p:cNvSpPr>
          <p:nvPr/>
        </p:nvSpPr>
        <p:spPr>
          <a:xfrm xmlns:a="http://schemas.openxmlformats.org/drawingml/2006/main">
            <a:off x="7735824" y="2536410"/>
            <a:ext cx="4096512" cy="1968060"/>
          </a:xfrm>
          <a:prstGeom xmlns:a="http://schemas.openxmlformats.org/drawingml/2006/main" prst="roundRect">
            <a:avLst>
              <a:gd name="adj" fmla="val 2788"/>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26e370de8b6c4593"/>
          <a:stretch xmlns:a="http://schemas.openxmlformats.org/drawingml/2006/main">
            <a:fillRect l="0" t="0" r="0" b="0"/>
          </a:stretch>
        </p:blipFill>
        <p:spPr>
          <a:xfrm xmlns:a="http://schemas.openxmlformats.org/drawingml/2006/main">
            <a:off x="7818120" y="2618706"/>
            <a:ext cx="3931920" cy="1803468"/>
          </a:xfrm>
          <a:prstGeom xmlns:a="http://schemas.openxmlformats.org/drawingml/2006/main" prst="rect">
            <a:avLst/>
          </a:prstGeom>
        </p:spPr>
      </p:pic>
    </p:spTree>
    <p:extLst>
      <p:ext uri="{BB962C8B-B14F-4D97-AF65-F5344CB8AC3E}">
        <p14:creationId xmlns:p14="http://schemas.microsoft.com/office/powerpoint/2010/main" val="143638638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CF72540-D0E6-4FD5-A1B4-4F21995CA67F}"/>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CHAPTER 19</a:t>
            </a:r>
            <a:endParaRPr sz="1200"/>
          </a:p>
        </p:txBody>
      </p:sp>
      <p:sp>
        <p:nvSpPr>
          <p:cNvPr id="3" name="Text 1">
            <a:extLst xmlns:a="http://schemas.openxmlformats.org/drawingml/2006/main">
              <a:ext uri="{FF2B5EF4-FFF2-40B4-BE49-F238E27FC236}">
                <a16:creationId xmlns:a16="http://schemas.microsoft.com/office/drawing/2014/main" id="{F009C8E6-295D-4914-8E42-6518F4E7FCFF}"/>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Learning Objectives</a:t>
            </a:r>
            <a:endParaRPr sz="2800"/>
          </a:p>
        </p:txBody>
      </p:sp>
      <p:sp>
        <p:nvSpPr>
          <p:cNvPr id="4" name="Text 2">
            <a:extLst xmlns:a="http://schemas.openxmlformats.org/drawingml/2006/main">
              <a:ext uri="{FF2B5EF4-FFF2-40B4-BE49-F238E27FC236}">
                <a16:creationId xmlns:a16="http://schemas.microsoft.com/office/drawing/2014/main" id="{BACC957F-900E-43C2-A0B8-5F51CEFB6538}"/>
              </a:ext>
            </a:extLst>
          </p:cNvPr>
          <p:cNvSpPr>
            <a:spLocks xmlns:a="http://schemas.openxmlformats.org/drawingml/2006/main" noGrp="1"/>
          </p:cNvSpPr>
          <p:nvPr/>
        </p:nvSpPr>
        <p:spPr>
          <a:xfrm xmlns:a="http://schemas.openxmlformats.org/drawingml/2006/main">
            <a:off x="548640" y="1371600"/>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i="1">
                <a:solidFill>
                  <a:srgbClr val="5A6B70"/>
                </a:solidFill>
                <a:latin typeface="Calibri"/>
                <a:ea typeface="Calibri"/>
                <a:cs typeface="Calibri"/>
              </a:rPr>
              <a:t>After studying this chapter, students will be able to:</a:t>
            </a:r>
            <a:endParaRPr sz="1200"/>
          </a:p>
        </p:txBody>
      </p:sp>
      <p:sp>
        <p:nvSpPr>
          <p:cNvPr id="5" name="Shape 3">
            <a:extLst xmlns:a="http://schemas.openxmlformats.org/drawingml/2006/main">
              <a:ext uri="{FF2B5EF4-FFF2-40B4-BE49-F238E27FC236}">
                <a16:creationId xmlns:a16="http://schemas.microsoft.com/office/drawing/2014/main" id="{835B6C11-8F65-4102-94AF-A2DB0E9909C3}"/>
              </a:ext>
            </a:extLst>
          </p:cNvPr>
          <p:cNvSpPr>
            <a:spLocks xmlns:a="http://schemas.openxmlformats.org/drawingml/2006/main" noGrp="1"/>
          </p:cNvSpPr>
          <p:nvPr/>
        </p:nvSpPr>
        <p:spPr>
          <a:xfrm xmlns:a="http://schemas.openxmlformats.org/drawingml/2006/main">
            <a:off x="548640" y="1664208"/>
            <a:ext cx="384048" cy="384048"/>
          </a:xfrm>
          <a:prstGeom xmlns:a="http://schemas.openxmlformats.org/drawingml/2006/main" prst="ellipse">
            <a:avLst/>
          </a:prstGeom>
          <a:solidFill xmlns:a="http://schemas.openxmlformats.org/drawingml/2006/main">
            <a:srgbClr val="0F4C5C"/>
          </a:solidFill>
        </p:spPr>
      </p:sp>
      <p:sp>
        <p:nvSpPr>
          <p:cNvPr id="6" name="Text 4">
            <a:extLst xmlns:a="http://schemas.openxmlformats.org/drawingml/2006/main">
              <a:ext uri="{FF2B5EF4-FFF2-40B4-BE49-F238E27FC236}">
                <a16:creationId xmlns:a16="http://schemas.microsoft.com/office/drawing/2014/main" id="{1E028139-96B7-461E-92E6-81B2A1DA4F9A}"/>
              </a:ext>
            </a:extLst>
          </p:cNvPr>
          <p:cNvSpPr>
            <a:spLocks xmlns:a="http://schemas.openxmlformats.org/drawingml/2006/main" noGrp="1"/>
          </p:cNvSpPr>
          <p:nvPr/>
        </p:nvSpPr>
        <p:spPr>
          <a:xfrm xmlns:a="http://schemas.openxmlformats.org/drawingml/2006/main">
            <a:off x="548640" y="1664208"/>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1</a:t>
            </a:r>
            <a:endParaRPr sz="1500"/>
          </a:p>
        </p:txBody>
      </p:sp>
      <p:sp>
        <p:nvSpPr>
          <p:cNvPr id="7" name="Text 5">
            <a:extLst xmlns:a="http://schemas.openxmlformats.org/drawingml/2006/main">
              <a:ext uri="{FF2B5EF4-FFF2-40B4-BE49-F238E27FC236}">
                <a16:creationId xmlns:a16="http://schemas.microsoft.com/office/drawing/2014/main" id="{AD671860-1C7B-4835-86BE-77CBC5A1B73A}"/>
              </a:ext>
            </a:extLst>
          </p:cNvPr>
          <p:cNvSpPr>
            <a:spLocks xmlns:a="http://schemas.openxmlformats.org/drawingml/2006/main" noGrp="1"/>
          </p:cNvSpPr>
          <p:nvPr/>
        </p:nvSpPr>
        <p:spPr>
          <a:xfrm xmlns:a="http://schemas.openxmlformats.org/drawingml/2006/main">
            <a:off x="1115568" y="1645920"/>
            <a:ext cx="5943600" cy="7543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300">
                <a:solidFill>
                  <a:srgbClr val="23363B"/>
                </a:solidFill>
                <a:latin typeface="Calibri"/>
                <a:ea typeface="Calibri"/>
                <a:cs typeface="Calibri"/>
              </a:rPr>
              <a:t>Identify and describe the interior and exterior parts of the human heart</a:t>
            </a:r>
            <a:endParaRPr sz="1300"/>
          </a:p>
        </p:txBody>
      </p:sp>
      <p:sp>
        <p:nvSpPr>
          <p:cNvPr id="8" name="Shape 6">
            <a:extLst xmlns:a="http://schemas.openxmlformats.org/drawingml/2006/main">
              <a:ext uri="{FF2B5EF4-FFF2-40B4-BE49-F238E27FC236}">
                <a16:creationId xmlns:a16="http://schemas.microsoft.com/office/drawing/2014/main" id="{575CF5D0-1EEB-48A8-B2CC-C334A55CFAD4}"/>
              </a:ext>
            </a:extLst>
          </p:cNvPr>
          <p:cNvSpPr>
            <a:spLocks xmlns:a="http://schemas.openxmlformats.org/drawingml/2006/main" noGrp="1"/>
          </p:cNvSpPr>
          <p:nvPr/>
        </p:nvSpPr>
        <p:spPr>
          <a:xfrm xmlns:a="http://schemas.openxmlformats.org/drawingml/2006/main">
            <a:off x="548640" y="2418588"/>
            <a:ext cx="384048" cy="384048"/>
          </a:xfrm>
          <a:prstGeom xmlns:a="http://schemas.openxmlformats.org/drawingml/2006/main" prst="ellipse">
            <a:avLst/>
          </a:prstGeom>
          <a:solidFill xmlns:a="http://schemas.openxmlformats.org/drawingml/2006/main">
            <a:srgbClr val="0F4C5C"/>
          </a:solidFill>
        </p:spPr>
      </p:sp>
      <p:sp>
        <p:nvSpPr>
          <p:cNvPr id="9" name="Text 7">
            <a:extLst xmlns:a="http://schemas.openxmlformats.org/drawingml/2006/main">
              <a:ext uri="{FF2B5EF4-FFF2-40B4-BE49-F238E27FC236}">
                <a16:creationId xmlns:a16="http://schemas.microsoft.com/office/drawing/2014/main" id="{103D0C07-FBE9-4A0E-A8CC-3E6312CAB349}"/>
              </a:ext>
            </a:extLst>
          </p:cNvPr>
          <p:cNvSpPr>
            <a:spLocks xmlns:a="http://schemas.openxmlformats.org/drawingml/2006/main" noGrp="1"/>
          </p:cNvSpPr>
          <p:nvPr/>
        </p:nvSpPr>
        <p:spPr>
          <a:xfrm xmlns:a="http://schemas.openxmlformats.org/drawingml/2006/main">
            <a:off x="548640" y="2418588"/>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2</a:t>
            </a:r>
            <a:endParaRPr sz="1500"/>
          </a:p>
        </p:txBody>
      </p:sp>
      <p:sp>
        <p:nvSpPr>
          <p:cNvPr id="10" name="Text 8">
            <a:extLst xmlns:a="http://schemas.openxmlformats.org/drawingml/2006/main">
              <a:ext uri="{FF2B5EF4-FFF2-40B4-BE49-F238E27FC236}">
                <a16:creationId xmlns:a16="http://schemas.microsoft.com/office/drawing/2014/main" id="{F6B5BECE-224A-4E1E-A327-987A3B3A5E59}"/>
              </a:ext>
            </a:extLst>
          </p:cNvPr>
          <p:cNvSpPr>
            <a:spLocks xmlns:a="http://schemas.openxmlformats.org/drawingml/2006/main" noGrp="1"/>
          </p:cNvSpPr>
          <p:nvPr/>
        </p:nvSpPr>
        <p:spPr>
          <a:xfrm xmlns:a="http://schemas.openxmlformats.org/drawingml/2006/main">
            <a:off x="1115568" y="2400300"/>
            <a:ext cx="5943600" cy="7543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300">
                <a:solidFill>
                  <a:srgbClr val="23363B"/>
                </a:solidFill>
                <a:latin typeface="Calibri"/>
                <a:ea typeface="Calibri"/>
                <a:cs typeface="Calibri"/>
              </a:rPr>
              <a:t>Describe the path of blood through the cardiac circuits</a:t>
            </a:r>
            <a:endParaRPr sz="1300"/>
          </a:p>
        </p:txBody>
      </p:sp>
      <p:sp>
        <p:nvSpPr>
          <p:cNvPr id="11" name="Shape 9">
            <a:extLst xmlns:a="http://schemas.openxmlformats.org/drawingml/2006/main">
              <a:ext uri="{FF2B5EF4-FFF2-40B4-BE49-F238E27FC236}">
                <a16:creationId xmlns:a16="http://schemas.microsoft.com/office/drawing/2014/main" id="{543AD6E0-7C7A-40C5-85B9-60F64D7D0116}"/>
              </a:ext>
            </a:extLst>
          </p:cNvPr>
          <p:cNvSpPr>
            <a:spLocks xmlns:a="http://schemas.openxmlformats.org/drawingml/2006/main" noGrp="1"/>
          </p:cNvSpPr>
          <p:nvPr/>
        </p:nvSpPr>
        <p:spPr>
          <a:xfrm xmlns:a="http://schemas.openxmlformats.org/drawingml/2006/main">
            <a:off x="548640" y="3172968"/>
            <a:ext cx="384048" cy="384048"/>
          </a:xfrm>
          <a:prstGeom xmlns:a="http://schemas.openxmlformats.org/drawingml/2006/main" prst="ellipse">
            <a:avLst/>
          </a:prstGeom>
          <a:solidFill xmlns:a="http://schemas.openxmlformats.org/drawingml/2006/main">
            <a:srgbClr val="0F4C5C"/>
          </a:solidFill>
        </p:spPr>
      </p:sp>
      <p:sp>
        <p:nvSpPr>
          <p:cNvPr id="12" name="Text 10">
            <a:extLst xmlns:a="http://schemas.openxmlformats.org/drawingml/2006/main">
              <a:ext uri="{FF2B5EF4-FFF2-40B4-BE49-F238E27FC236}">
                <a16:creationId xmlns:a16="http://schemas.microsoft.com/office/drawing/2014/main" id="{591FC26E-4C5A-439F-A848-37BCC1EDC0E4}"/>
              </a:ext>
            </a:extLst>
          </p:cNvPr>
          <p:cNvSpPr>
            <a:spLocks xmlns:a="http://schemas.openxmlformats.org/drawingml/2006/main" noGrp="1"/>
          </p:cNvSpPr>
          <p:nvPr/>
        </p:nvSpPr>
        <p:spPr>
          <a:xfrm xmlns:a="http://schemas.openxmlformats.org/drawingml/2006/main">
            <a:off x="548640" y="3172968"/>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3</a:t>
            </a:r>
            <a:endParaRPr sz="1500"/>
          </a:p>
        </p:txBody>
      </p:sp>
      <p:sp>
        <p:nvSpPr>
          <p:cNvPr id="13" name="Text 11">
            <a:extLst xmlns:a="http://schemas.openxmlformats.org/drawingml/2006/main">
              <a:ext uri="{FF2B5EF4-FFF2-40B4-BE49-F238E27FC236}">
                <a16:creationId xmlns:a16="http://schemas.microsoft.com/office/drawing/2014/main" id="{C43A1909-8A5B-476A-A33D-5CEA7E829116}"/>
              </a:ext>
            </a:extLst>
          </p:cNvPr>
          <p:cNvSpPr>
            <a:spLocks xmlns:a="http://schemas.openxmlformats.org/drawingml/2006/main" noGrp="1"/>
          </p:cNvSpPr>
          <p:nvPr/>
        </p:nvSpPr>
        <p:spPr>
          <a:xfrm xmlns:a="http://schemas.openxmlformats.org/drawingml/2006/main">
            <a:off x="1115568" y="3154680"/>
            <a:ext cx="5943600" cy="7543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300">
                <a:solidFill>
                  <a:srgbClr val="23363B"/>
                </a:solidFill>
                <a:latin typeface="Calibri"/>
                <a:ea typeface="Calibri"/>
                <a:cs typeface="Calibri"/>
              </a:rPr>
              <a:t>Describe the size, shape, and location of the heart</a:t>
            </a:r>
            <a:endParaRPr sz="1300"/>
          </a:p>
        </p:txBody>
      </p:sp>
      <p:sp>
        <p:nvSpPr>
          <p:cNvPr id="14" name="Shape 12">
            <a:extLst xmlns:a="http://schemas.openxmlformats.org/drawingml/2006/main">
              <a:ext uri="{FF2B5EF4-FFF2-40B4-BE49-F238E27FC236}">
                <a16:creationId xmlns:a16="http://schemas.microsoft.com/office/drawing/2014/main" id="{F208FCA4-36DC-45B7-96F7-ED98A2C5F25F}"/>
              </a:ext>
            </a:extLst>
          </p:cNvPr>
          <p:cNvSpPr>
            <a:spLocks xmlns:a="http://schemas.openxmlformats.org/drawingml/2006/main" noGrp="1"/>
          </p:cNvSpPr>
          <p:nvPr/>
        </p:nvSpPr>
        <p:spPr>
          <a:xfrm xmlns:a="http://schemas.openxmlformats.org/drawingml/2006/main">
            <a:off x="548640" y="3927348"/>
            <a:ext cx="384048" cy="384048"/>
          </a:xfrm>
          <a:prstGeom xmlns:a="http://schemas.openxmlformats.org/drawingml/2006/main" prst="ellipse">
            <a:avLst/>
          </a:prstGeom>
          <a:solidFill xmlns:a="http://schemas.openxmlformats.org/drawingml/2006/main">
            <a:srgbClr val="0F4C5C"/>
          </a:solidFill>
        </p:spPr>
      </p:sp>
      <p:sp>
        <p:nvSpPr>
          <p:cNvPr id="15" name="Text 13">
            <a:extLst xmlns:a="http://schemas.openxmlformats.org/drawingml/2006/main">
              <a:ext uri="{FF2B5EF4-FFF2-40B4-BE49-F238E27FC236}">
                <a16:creationId xmlns:a16="http://schemas.microsoft.com/office/drawing/2014/main" id="{AB06A176-A62B-4A52-A232-95CE06EEC480}"/>
              </a:ext>
            </a:extLst>
          </p:cNvPr>
          <p:cNvSpPr>
            <a:spLocks xmlns:a="http://schemas.openxmlformats.org/drawingml/2006/main" noGrp="1"/>
          </p:cNvSpPr>
          <p:nvPr/>
        </p:nvSpPr>
        <p:spPr>
          <a:xfrm xmlns:a="http://schemas.openxmlformats.org/drawingml/2006/main">
            <a:off x="548640" y="3927348"/>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4</a:t>
            </a:r>
            <a:endParaRPr sz="1500"/>
          </a:p>
        </p:txBody>
      </p:sp>
      <p:sp>
        <p:nvSpPr>
          <p:cNvPr id="16" name="Text 14">
            <a:extLst xmlns:a="http://schemas.openxmlformats.org/drawingml/2006/main">
              <a:ext uri="{FF2B5EF4-FFF2-40B4-BE49-F238E27FC236}">
                <a16:creationId xmlns:a16="http://schemas.microsoft.com/office/drawing/2014/main" id="{8C60EE9C-F822-414C-9174-C81D413025F3}"/>
              </a:ext>
            </a:extLst>
          </p:cNvPr>
          <p:cNvSpPr>
            <a:spLocks xmlns:a="http://schemas.openxmlformats.org/drawingml/2006/main" noGrp="1"/>
          </p:cNvSpPr>
          <p:nvPr/>
        </p:nvSpPr>
        <p:spPr>
          <a:xfrm xmlns:a="http://schemas.openxmlformats.org/drawingml/2006/main">
            <a:off x="1115568" y="3909060"/>
            <a:ext cx="5943600" cy="7543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300">
                <a:solidFill>
                  <a:srgbClr val="23363B"/>
                </a:solidFill>
                <a:latin typeface="Calibri"/>
                <a:ea typeface="Calibri"/>
                <a:cs typeface="Calibri"/>
              </a:rPr>
              <a:t>Compare cardiac muscle to skeletal and smooth muscle</a:t>
            </a:r>
            <a:endParaRPr sz="1300"/>
          </a:p>
        </p:txBody>
      </p:sp>
      <p:sp>
        <p:nvSpPr>
          <p:cNvPr id="17" name="Shape 15">
            <a:extLst xmlns:a="http://schemas.openxmlformats.org/drawingml/2006/main">
              <a:ext uri="{FF2B5EF4-FFF2-40B4-BE49-F238E27FC236}">
                <a16:creationId xmlns:a16="http://schemas.microsoft.com/office/drawing/2014/main" id="{69409415-3451-47C1-AE06-7E6FED52D219}"/>
              </a:ext>
            </a:extLst>
          </p:cNvPr>
          <p:cNvSpPr>
            <a:spLocks xmlns:a="http://schemas.openxmlformats.org/drawingml/2006/main" noGrp="1"/>
          </p:cNvSpPr>
          <p:nvPr/>
        </p:nvSpPr>
        <p:spPr>
          <a:xfrm xmlns:a="http://schemas.openxmlformats.org/drawingml/2006/main">
            <a:off x="548640" y="4681728"/>
            <a:ext cx="384048" cy="384048"/>
          </a:xfrm>
          <a:prstGeom xmlns:a="http://schemas.openxmlformats.org/drawingml/2006/main" prst="ellipse">
            <a:avLst/>
          </a:prstGeom>
          <a:solidFill xmlns:a="http://schemas.openxmlformats.org/drawingml/2006/main">
            <a:srgbClr val="0F4C5C"/>
          </a:solidFill>
        </p:spPr>
      </p:sp>
      <p:sp>
        <p:nvSpPr>
          <p:cNvPr id="18" name="Text 16">
            <a:extLst xmlns:a="http://schemas.openxmlformats.org/drawingml/2006/main">
              <a:ext uri="{FF2B5EF4-FFF2-40B4-BE49-F238E27FC236}">
                <a16:creationId xmlns:a16="http://schemas.microsoft.com/office/drawing/2014/main" id="{92AE340E-5A3A-4272-9693-F7556237C57B}"/>
              </a:ext>
            </a:extLst>
          </p:cNvPr>
          <p:cNvSpPr>
            <a:spLocks xmlns:a="http://schemas.openxmlformats.org/drawingml/2006/main" noGrp="1"/>
          </p:cNvSpPr>
          <p:nvPr/>
        </p:nvSpPr>
        <p:spPr>
          <a:xfrm xmlns:a="http://schemas.openxmlformats.org/drawingml/2006/main">
            <a:off x="548640" y="4681728"/>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5</a:t>
            </a:r>
            <a:endParaRPr sz="1500"/>
          </a:p>
        </p:txBody>
      </p:sp>
      <p:sp>
        <p:nvSpPr>
          <p:cNvPr id="19" name="Text 17">
            <a:extLst xmlns:a="http://schemas.openxmlformats.org/drawingml/2006/main">
              <a:ext uri="{FF2B5EF4-FFF2-40B4-BE49-F238E27FC236}">
                <a16:creationId xmlns:a16="http://schemas.microsoft.com/office/drawing/2014/main" id="{21B97FBE-0E1D-455F-BA5F-DFC4D1E27B8B}"/>
              </a:ext>
            </a:extLst>
          </p:cNvPr>
          <p:cNvSpPr>
            <a:spLocks xmlns:a="http://schemas.openxmlformats.org/drawingml/2006/main" noGrp="1"/>
          </p:cNvSpPr>
          <p:nvPr/>
        </p:nvSpPr>
        <p:spPr>
          <a:xfrm xmlns:a="http://schemas.openxmlformats.org/drawingml/2006/main">
            <a:off x="1115568" y="4663440"/>
            <a:ext cx="5943600" cy="7543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300">
                <a:solidFill>
                  <a:srgbClr val="23363B"/>
                </a:solidFill>
                <a:latin typeface="Calibri"/>
                <a:ea typeface="Calibri"/>
                <a:cs typeface="Calibri"/>
              </a:rPr>
              <a:t>Explain the cardiac conduction system</a:t>
            </a:r>
            <a:endParaRPr sz="1300"/>
          </a:p>
        </p:txBody>
      </p:sp>
      <p:sp>
        <p:nvSpPr>
          <p:cNvPr id="20" name="Shape 18">
            <a:extLst xmlns:a="http://schemas.openxmlformats.org/drawingml/2006/main">
              <a:ext uri="{FF2B5EF4-FFF2-40B4-BE49-F238E27FC236}">
                <a16:creationId xmlns:a16="http://schemas.microsoft.com/office/drawing/2014/main" id="{17F284AD-C8FD-444A-83D3-FE0773825696}"/>
              </a:ext>
            </a:extLst>
          </p:cNvPr>
          <p:cNvSpPr>
            <a:spLocks xmlns:a="http://schemas.openxmlformats.org/drawingml/2006/main" noGrp="1"/>
          </p:cNvSpPr>
          <p:nvPr/>
        </p:nvSpPr>
        <p:spPr>
          <a:xfrm xmlns:a="http://schemas.openxmlformats.org/drawingml/2006/main">
            <a:off x="548640" y="5436108"/>
            <a:ext cx="384048" cy="384048"/>
          </a:xfrm>
          <a:prstGeom xmlns:a="http://schemas.openxmlformats.org/drawingml/2006/main" prst="ellipse">
            <a:avLst/>
          </a:prstGeom>
          <a:solidFill xmlns:a="http://schemas.openxmlformats.org/drawingml/2006/main">
            <a:srgbClr val="0F4C5C"/>
          </a:solidFill>
        </p:spPr>
      </p:sp>
      <p:sp>
        <p:nvSpPr>
          <p:cNvPr id="21" name="Text 19">
            <a:extLst xmlns:a="http://schemas.openxmlformats.org/drawingml/2006/main">
              <a:ext uri="{FF2B5EF4-FFF2-40B4-BE49-F238E27FC236}">
                <a16:creationId xmlns:a16="http://schemas.microsoft.com/office/drawing/2014/main" id="{BEBEBA46-F785-4D0A-835A-51CB4DBDE228}"/>
              </a:ext>
            </a:extLst>
          </p:cNvPr>
          <p:cNvSpPr>
            <a:spLocks xmlns:a="http://schemas.openxmlformats.org/drawingml/2006/main" noGrp="1"/>
          </p:cNvSpPr>
          <p:nvPr/>
        </p:nvSpPr>
        <p:spPr>
          <a:xfrm xmlns:a="http://schemas.openxmlformats.org/drawingml/2006/main">
            <a:off x="548640" y="5436108"/>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6</a:t>
            </a:r>
            <a:endParaRPr sz="1500"/>
          </a:p>
        </p:txBody>
      </p:sp>
      <p:sp>
        <p:nvSpPr>
          <p:cNvPr id="22" name="Text 20">
            <a:extLst xmlns:a="http://schemas.openxmlformats.org/drawingml/2006/main">
              <a:ext uri="{FF2B5EF4-FFF2-40B4-BE49-F238E27FC236}">
                <a16:creationId xmlns:a16="http://schemas.microsoft.com/office/drawing/2014/main" id="{F14DF14B-D6C6-4316-841B-B70D854D8763}"/>
              </a:ext>
            </a:extLst>
          </p:cNvPr>
          <p:cNvSpPr>
            <a:spLocks xmlns:a="http://schemas.openxmlformats.org/drawingml/2006/main" noGrp="1"/>
          </p:cNvSpPr>
          <p:nvPr/>
        </p:nvSpPr>
        <p:spPr>
          <a:xfrm xmlns:a="http://schemas.openxmlformats.org/drawingml/2006/main">
            <a:off x="1115568" y="5417820"/>
            <a:ext cx="5943600" cy="7543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300">
                <a:solidFill>
                  <a:srgbClr val="23363B"/>
                </a:solidFill>
                <a:latin typeface="Calibri"/>
                <a:ea typeface="Calibri"/>
                <a:cs typeface="Calibri"/>
              </a:rPr>
              <a:t>Describe the process and purpose of an electrocardiogram</a:t>
            </a:r>
            <a:endParaRPr sz="1300"/>
          </a:p>
        </p:txBody>
      </p:sp>
      <p:sp>
        <p:nvSpPr>
          <p:cNvPr id="23" name="Shape 21">
            <a:extLst xmlns:a="http://schemas.openxmlformats.org/drawingml/2006/main">
              <a:ext uri="{FF2B5EF4-FFF2-40B4-BE49-F238E27FC236}">
                <a16:creationId xmlns:a16="http://schemas.microsoft.com/office/drawing/2014/main" id="{992FBFDC-0451-4F5D-AE40-FAB4C92E2312}"/>
              </a:ext>
            </a:extLst>
          </p:cNvPr>
          <p:cNvSpPr>
            <a:spLocks xmlns:a="http://schemas.openxmlformats.org/drawingml/2006/main" noGrp="1"/>
          </p:cNvSpPr>
          <p:nvPr/>
        </p:nvSpPr>
        <p:spPr>
          <a:xfrm xmlns:a="http://schemas.openxmlformats.org/drawingml/2006/main">
            <a:off x="7415784" y="2177640"/>
            <a:ext cx="4370832" cy="3106224"/>
          </a:xfrm>
          <a:prstGeom xmlns:a="http://schemas.openxmlformats.org/drawingml/2006/main" prst="roundRect">
            <a:avLst>
              <a:gd name="adj" fmla="val 1766"/>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52" name="Image 0"/>
          <p:cNvPicPr>
            <a:picLocks xmlns:a="http://schemas.openxmlformats.org/drawingml/2006/main" noChangeAspect="1"/>
          </p:cNvPicPr>
          <p:nvPr/>
        </p:nvPicPr>
        <p:blipFill>
          <a:blip xmlns:r="http://schemas.openxmlformats.org/officeDocument/2006/relationships" xmlns:a="http://schemas.openxmlformats.org/drawingml/2006/main" r:embed="R707e53b1ddaf4150"/>
          <a:stretch xmlns:a="http://schemas.openxmlformats.org/drawingml/2006/main">
            <a:fillRect l="0" t="0" r="0" b="0"/>
          </a:stretch>
        </p:blipFill>
        <p:spPr>
          <a:xfrm xmlns:a="http://schemas.openxmlformats.org/drawingml/2006/main">
            <a:off x="7498080" y="2259936"/>
            <a:ext cx="4206240" cy="2941632"/>
          </a:xfrm>
          <a:prstGeom xmlns:a="http://schemas.openxmlformats.org/drawingml/2006/main" prst="rect">
            <a:avLst/>
          </a:prstGeom>
        </p:spPr>
      </p:pic>
      <p:sp>
        <p:nvSpPr>
          <p:cNvPr id="25" name="Text 22">
            <a:extLst xmlns:a="http://schemas.openxmlformats.org/drawingml/2006/main">
              <a:ext uri="{FF2B5EF4-FFF2-40B4-BE49-F238E27FC236}">
                <a16:creationId xmlns:a16="http://schemas.microsoft.com/office/drawing/2014/main" id="{663C9380-7E0E-40BB-8834-CDA539AE3717}"/>
              </a:ext>
            </a:extLst>
          </p:cNvPr>
          <p:cNvSpPr>
            <a:spLocks xmlns:a="http://schemas.openxmlformats.org/drawingml/2006/main" noGrp="1"/>
          </p:cNvSpPr>
          <p:nvPr/>
        </p:nvSpPr>
        <p:spPr>
          <a:xfrm xmlns:a="http://schemas.openxmlformats.org/drawingml/2006/main">
            <a:off x="7498080" y="5943600"/>
            <a:ext cx="4206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internal anatomy of the heart.</a:t>
            </a:r>
            <a:endParaRPr sz="1100"/>
          </a:p>
        </p:txBody>
      </p:sp>
      <p:sp>
        <p:nvSpPr>
          <p:cNvPr id="27" name="Text 23">
            <a:extLst xmlns:a="http://schemas.openxmlformats.org/drawingml/2006/main">
              <a:ext uri="{FF2B5EF4-FFF2-40B4-BE49-F238E27FC236}">
                <a16:creationId xmlns:a16="http://schemas.microsoft.com/office/drawing/2014/main" id="{2B65BBCD-8D69-4208-84D3-FAC78BF0FD68}"/>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19 — The Cardiovascular System: The Heart</a:t>
            </a:r>
            <a:endParaRPr sz="900"/>
          </a:p>
        </p:txBody>
      </p:sp>
      <p:sp>
        <p:nvSpPr>
          <p:cNvPr id="28" name="Text 24">
            <a:extLst xmlns:a="http://schemas.openxmlformats.org/drawingml/2006/main">
              <a:ext uri="{FF2B5EF4-FFF2-40B4-BE49-F238E27FC236}">
                <a16:creationId xmlns:a16="http://schemas.microsoft.com/office/drawing/2014/main" id="{085A49FB-DC09-4996-811F-4AE896D25EA7}"/>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2</a:t>
            </a:r>
            <a:endParaRPr sz="900"/>
          </a:p>
        </p:txBody>
      </p:sp>
    </p:spTree>
    <p:extLst>
      <p:ext uri="{BB962C8B-B14F-4D97-AF65-F5344CB8AC3E}">
        <p14:creationId xmlns:p14="http://schemas.microsoft.com/office/powerpoint/2010/main" val="1880527850"/>
      </p:ext>
    </p:extLst>
  </p:cSld>
</p:sld>
</file>

<file path=ppt/slides/slide3.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CC1910A-94A3-458A-A228-FB1D303B33EF}"/>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57C2F73D-2B01-4939-8F64-5D5AEC6B21F5}"/>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400" b="1">
                <a:solidFill>
                  <a:srgbClr val="FFFFFF"/>
                </a:solidFill>
                <a:latin typeface="Georgia"/>
                <a:ea typeface="Georgia"/>
                <a:cs typeface="Georgia"/>
              </a:rPr>
              <a:t>19.1</a:t>
            </a:r>
            <a:endParaRPr sz="4400"/>
          </a:p>
        </p:txBody>
      </p:sp>
      <p:sp>
        <p:nvSpPr>
          <p:cNvPr id="4" name="Text 2">
            <a:extLst xmlns:a="http://schemas.openxmlformats.org/drawingml/2006/main">
              <a:ext uri="{FF2B5EF4-FFF2-40B4-BE49-F238E27FC236}">
                <a16:creationId xmlns:a16="http://schemas.microsoft.com/office/drawing/2014/main" id="{CCE13C9F-435A-488D-BBCE-E490AAF2335C}"/>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endParaRPr sz="1400"/>
          </a:p>
        </p:txBody>
      </p:sp>
      <p:sp>
        <p:nvSpPr>
          <p:cNvPr id="5" name="Text 3">
            <a:extLst xmlns:a="http://schemas.openxmlformats.org/drawingml/2006/main">
              <a:ext uri="{FF2B5EF4-FFF2-40B4-BE49-F238E27FC236}">
                <a16:creationId xmlns:a16="http://schemas.microsoft.com/office/drawing/2014/main" id="{EA7F21CF-6649-4076-9DD1-B0CB9A736258}"/>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Heart Anatomy</a:t>
            </a:r>
            <a:endParaRPr sz="3000"/>
          </a:p>
        </p:txBody>
      </p:sp>
      <p:sp>
        <p:nvSpPr>
          <p:cNvPr id="6" name="Text 4">
            <a:extLst xmlns:a="http://schemas.openxmlformats.org/drawingml/2006/main">
              <a:ext uri="{FF2B5EF4-FFF2-40B4-BE49-F238E27FC236}">
                <a16:creationId xmlns:a16="http://schemas.microsoft.com/office/drawing/2014/main" id="{F1BCB292-0F7E-49B9-B99C-42EEE44D584D}"/>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The chambers, valves, vessels, and wall of the heart.</a:t>
            </a:r>
            <a:endParaRPr sz="1500"/>
          </a:p>
        </p:txBody>
      </p:sp>
    </p:spTree>
    <p:extLst>
      <p:ext uri="{BB962C8B-B14F-4D97-AF65-F5344CB8AC3E}">
        <p14:creationId xmlns:p14="http://schemas.microsoft.com/office/powerpoint/2010/main" val="205638239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FCB2D41-3BFC-4EBD-8861-70A9A7C32C4E}"/>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19.1</a:t>
            </a:r>
            <a:endParaRPr sz="1200"/>
          </a:p>
        </p:txBody>
      </p:sp>
      <p:sp>
        <p:nvSpPr>
          <p:cNvPr id="3" name="Text 1">
            <a:extLst xmlns:a="http://schemas.openxmlformats.org/drawingml/2006/main">
              <a:ext uri="{FF2B5EF4-FFF2-40B4-BE49-F238E27FC236}">
                <a16:creationId xmlns:a16="http://schemas.microsoft.com/office/drawing/2014/main" id="{AFB2687A-FFBF-4133-BCA7-A646AAA87278}"/>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Pulmonary &amp; Systemic Circulation</a:t>
            </a:r>
            <a:endParaRPr sz="2800"/>
          </a:p>
        </p:txBody>
      </p:sp>
      <p:sp>
        <p:nvSpPr>
          <p:cNvPr id="4" name="Shape 2">
            <a:extLst xmlns:a="http://schemas.openxmlformats.org/drawingml/2006/main">
              <a:ext uri="{FF2B5EF4-FFF2-40B4-BE49-F238E27FC236}">
                <a16:creationId xmlns:a16="http://schemas.microsoft.com/office/drawing/2014/main" id="{119DCF91-3A5C-4B4E-889A-54996EA488F9}"/>
              </a:ext>
            </a:extLst>
          </p:cNvPr>
          <p:cNvSpPr>
            <a:spLocks xmlns:a="http://schemas.openxmlformats.org/drawingml/2006/main" noGrp="1"/>
          </p:cNvSpPr>
          <p:nvPr/>
        </p:nvSpPr>
        <p:spPr>
          <a:xfrm xmlns:a="http://schemas.openxmlformats.org/drawingml/2006/main">
            <a:off x="499948" y="1289304"/>
            <a:ext cx="4303624" cy="4736592"/>
          </a:xfrm>
          <a:prstGeom xmlns:a="http://schemas.openxmlformats.org/drawingml/2006/main" prst="roundRect">
            <a:avLst>
              <a:gd name="adj" fmla="val 1275"/>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aca692c06f084a85"/>
          <a:stretch xmlns:a="http://schemas.openxmlformats.org/drawingml/2006/main">
            <a:fillRect l="0" t="0" r="0" b="0"/>
          </a:stretch>
        </p:blipFill>
        <p:spPr>
          <a:xfrm xmlns:a="http://schemas.openxmlformats.org/drawingml/2006/main">
            <a:off x="582244" y="1371600"/>
            <a:ext cx="4139032" cy="45720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B2807E24-42E6-4638-ABE1-2FC75DF10425}"/>
              </a:ext>
            </a:extLst>
          </p:cNvPr>
          <p:cNvSpPr>
            <a:spLocks xmlns:a="http://schemas.openxmlformats.org/drawingml/2006/main" noGrp="1"/>
          </p:cNvSpPr>
          <p:nvPr/>
        </p:nvSpPr>
        <p:spPr>
          <a:xfrm xmlns:a="http://schemas.openxmlformats.org/drawingml/2006/main">
            <a:off x="502920" y="5989320"/>
            <a:ext cx="4297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pulmonary and systemic circuits</a:t>
            </a:r>
            <a:endParaRPr sz="1100"/>
          </a:p>
        </p:txBody>
      </p:sp>
      <p:sp>
        <p:nvSpPr>
          <p:cNvPr id="7" name="Text 4">
            <a:extLst xmlns:a="http://schemas.openxmlformats.org/drawingml/2006/main">
              <a:ext uri="{FF2B5EF4-FFF2-40B4-BE49-F238E27FC236}">
                <a16:creationId xmlns:a16="http://schemas.microsoft.com/office/drawing/2014/main" id="{3EAD7B2E-ECF4-4EC1-A71F-5A74EAA6607B}"/>
              </a:ext>
            </a:extLst>
          </p:cNvPr>
          <p:cNvSpPr>
            <a:spLocks xmlns:a="http://schemas.openxmlformats.org/drawingml/2006/main" noGrp="1"/>
          </p:cNvSpPr>
          <p:nvPr/>
        </p:nvSpPr>
        <p:spPr>
          <a:xfrm xmlns:a="http://schemas.openxmlformats.org/drawingml/2006/main">
            <a:off x="5074920" y="1828800"/>
            <a:ext cx="658368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The heart is a double pump</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Right side → lungs (pulmonary)</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Left side → body (systemic)</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Keeps the two circuits separate</a:t>
            </a:r>
            <a:endParaRPr sz="1600"/>
          </a:p>
        </p:txBody>
      </p:sp>
      <p:sp>
        <p:nvSpPr>
          <p:cNvPr id="9" name="Text 5">
            <a:extLst xmlns:a="http://schemas.openxmlformats.org/drawingml/2006/main">
              <a:ext uri="{FF2B5EF4-FFF2-40B4-BE49-F238E27FC236}">
                <a16:creationId xmlns:a16="http://schemas.microsoft.com/office/drawing/2014/main" id="{6A0888F0-AC25-4126-83B6-1B057E9A951C}"/>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19 — The Cardiovascular System: The Heart</a:t>
            </a:r>
            <a:endParaRPr sz="900"/>
          </a:p>
        </p:txBody>
      </p:sp>
      <p:sp>
        <p:nvSpPr>
          <p:cNvPr id="10" name="Text 6">
            <a:extLst xmlns:a="http://schemas.openxmlformats.org/drawingml/2006/main">
              <a:ext uri="{FF2B5EF4-FFF2-40B4-BE49-F238E27FC236}">
                <a16:creationId xmlns:a16="http://schemas.microsoft.com/office/drawing/2014/main" id="{8B5A32DE-4A75-4CB6-B294-2E424F0B9EA0}"/>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4</a:t>
            </a:r>
            <a:endParaRPr sz="900"/>
          </a:p>
        </p:txBody>
      </p:sp>
    </p:spTree>
    <p:extLst>
      <p:ext uri="{BB962C8B-B14F-4D97-AF65-F5344CB8AC3E}">
        <p14:creationId xmlns:p14="http://schemas.microsoft.com/office/powerpoint/2010/main" val="13716531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C1F2EDD-5AB6-453C-A218-B898EC854CBE}"/>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19.1</a:t>
            </a:r>
            <a:endParaRPr sz="1200"/>
          </a:p>
        </p:txBody>
      </p:sp>
      <p:sp>
        <p:nvSpPr>
          <p:cNvPr id="3" name="Text 1">
            <a:extLst xmlns:a="http://schemas.openxmlformats.org/drawingml/2006/main">
              <a:ext uri="{FF2B5EF4-FFF2-40B4-BE49-F238E27FC236}">
                <a16:creationId xmlns:a16="http://schemas.microsoft.com/office/drawing/2014/main" id="{7197A0D8-476C-4AFB-BB02-A8E6964EAE18}"/>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The Heart Wall</a:t>
            </a:r>
            <a:endParaRPr sz="2800"/>
          </a:p>
        </p:txBody>
      </p:sp>
      <p:sp>
        <p:nvSpPr>
          <p:cNvPr id="4" name="Text 2">
            <a:extLst xmlns:a="http://schemas.openxmlformats.org/drawingml/2006/main">
              <a:ext uri="{FF2B5EF4-FFF2-40B4-BE49-F238E27FC236}">
                <a16:creationId xmlns:a16="http://schemas.microsoft.com/office/drawing/2014/main" id="{DF570759-D34A-43BE-9CE7-604CEF479148}"/>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Three layers</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Endocardium lines the inside</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Myocardium is the thick muscle</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Pericardium surrounds the heart</a:t>
            </a:r>
            <a:endParaRPr sz="1500"/>
          </a:p>
        </p:txBody>
      </p:sp>
      <p:sp>
        <p:nvSpPr>
          <p:cNvPr id="5" name="Shape 3">
            <a:extLst xmlns:a="http://schemas.openxmlformats.org/drawingml/2006/main">
              <a:ext uri="{FF2B5EF4-FFF2-40B4-BE49-F238E27FC236}">
                <a16:creationId xmlns:a16="http://schemas.microsoft.com/office/drawing/2014/main" id="{5175B2D9-2BFC-4B00-BB23-47600FF6A3CE}"/>
              </a:ext>
            </a:extLst>
          </p:cNvPr>
          <p:cNvSpPr>
            <a:spLocks xmlns:a="http://schemas.openxmlformats.org/drawingml/2006/main" noGrp="1"/>
          </p:cNvSpPr>
          <p:nvPr/>
        </p:nvSpPr>
        <p:spPr>
          <a:xfrm xmlns:a="http://schemas.openxmlformats.org/drawingml/2006/main">
            <a:off x="5404104" y="1446754"/>
            <a:ext cx="6382512" cy="4421692"/>
          </a:xfrm>
          <a:prstGeom xmlns:a="http://schemas.openxmlformats.org/drawingml/2006/main" prst="roundRect">
            <a:avLst>
              <a:gd name="adj" fmla="val 124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466b95d1b1cb453b"/>
          <a:stretch xmlns:a="http://schemas.openxmlformats.org/drawingml/2006/main">
            <a:fillRect l="0" t="0" r="0" b="0"/>
          </a:stretch>
        </p:blipFill>
        <p:spPr>
          <a:xfrm xmlns:a="http://schemas.openxmlformats.org/drawingml/2006/main">
            <a:off x="5486400" y="1529050"/>
            <a:ext cx="6217920" cy="425710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1B3634AF-33DF-4DAB-AFAC-4EEFB10BBF96}"/>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Layers of the heart wall</a:t>
            </a:r>
            <a:endParaRPr sz="1100"/>
          </a:p>
        </p:txBody>
      </p:sp>
      <p:sp>
        <p:nvSpPr>
          <p:cNvPr id="9" name="Text 5">
            <a:extLst xmlns:a="http://schemas.openxmlformats.org/drawingml/2006/main">
              <a:ext uri="{FF2B5EF4-FFF2-40B4-BE49-F238E27FC236}">
                <a16:creationId xmlns:a16="http://schemas.microsoft.com/office/drawing/2014/main" id="{68266129-5F93-4A85-95D9-89E48B4B5968}"/>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19 — The Cardiovascular System: The Heart</a:t>
            </a:r>
            <a:endParaRPr sz="900"/>
          </a:p>
        </p:txBody>
      </p:sp>
      <p:sp>
        <p:nvSpPr>
          <p:cNvPr id="10" name="Text 6">
            <a:extLst xmlns:a="http://schemas.openxmlformats.org/drawingml/2006/main">
              <a:ext uri="{FF2B5EF4-FFF2-40B4-BE49-F238E27FC236}">
                <a16:creationId xmlns:a16="http://schemas.microsoft.com/office/drawing/2014/main" id="{6CAD9A8E-EBE2-4183-8DB9-398DC116772A}"/>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5</a:t>
            </a:r>
            <a:endParaRPr sz="900"/>
          </a:p>
        </p:txBody>
      </p:sp>
    </p:spTree>
    <p:extLst>
      <p:ext uri="{BB962C8B-B14F-4D97-AF65-F5344CB8AC3E}">
        <p14:creationId xmlns:p14="http://schemas.microsoft.com/office/powerpoint/2010/main" val="93706945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AA13B55-7B79-41CC-9D27-14924C205E63}"/>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19.1</a:t>
            </a:r>
            <a:endParaRPr sz="1200"/>
          </a:p>
        </p:txBody>
      </p:sp>
      <p:sp>
        <p:nvSpPr>
          <p:cNvPr id="3" name="Text 1">
            <a:extLst xmlns:a="http://schemas.openxmlformats.org/drawingml/2006/main">
              <a:ext uri="{FF2B5EF4-FFF2-40B4-BE49-F238E27FC236}">
                <a16:creationId xmlns:a16="http://schemas.microsoft.com/office/drawing/2014/main" id="{93044B02-674E-4C14-ADC0-7F87523A40AD}"/>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External Anatomy</a:t>
            </a:r>
            <a:endParaRPr sz="2800"/>
          </a:p>
        </p:txBody>
      </p:sp>
      <p:sp>
        <p:nvSpPr>
          <p:cNvPr id="4" name="Text 2">
            <a:extLst xmlns:a="http://schemas.openxmlformats.org/drawingml/2006/main">
              <a:ext uri="{FF2B5EF4-FFF2-40B4-BE49-F238E27FC236}">
                <a16:creationId xmlns:a16="http://schemas.microsoft.com/office/drawing/2014/main" id="{25AC1AC1-97E4-4B3E-B75D-785BAEC711C3}"/>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Four chambers: two atria, two ventricles</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Great vessels enter and leave the top</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Coronary vessels on the surface</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Apex points down and to the left</a:t>
            </a:r>
            <a:endParaRPr sz="1500"/>
          </a:p>
        </p:txBody>
      </p:sp>
      <p:sp>
        <p:nvSpPr>
          <p:cNvPr id="5" name="Shape 3">
            <a:extLst xmlns:a="http://schemas.openxmlformats.org/drawingml/2006/main">
              <a:ext uri="{FF2B5EF4-FFF2-40B4-BE49-F238E27FC236}">
                <a16:creationId xmlns:a16="http://schemas.microsoft.com/office/drawing/2014/main" id="{68BD1920-E7B2-4B79-866A-3D1A34DA6181}"/>
              </a:ext>
            </a:extLst>
          </p:cNvPr>
          <p:cNvSpPr>
            <a:spLocks xmlns:a="http://schemas.openxmlformats.org/drawingml/2006/main" noGrp="1"/>
          </p:cNvSpPr>
          <p:nvPr/>
        </p:nvSpPr>
        <p:spPr>
          <a:xfrm xmlns:a="http://schemas.openxmlformats.org/drawingml/2006/main">
            <a:off x="6129854" y="1335024"/>
            <a:ext cx="4931012" cy="4645152"/>
          </a:xfrm>
          <a:prstGeom xmlns:a="http://schemas.openxmlformats.org/drawingml/2006/main" prst="roundRect">
            <a:avLst>
              <a:gd name="adj" fmla="val 118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dfa6dbc247c34b6d"/>
          <a:stretch xmlns:a="http://schemas.openxmlformats.org/drawingml/2006/main">
            <a:fillRect l="0" t="0" r="0" b="0"/>
          </a:stretch>
        </p:blipFill>
        <p:spPr>
          <a:xfrm xmlns:a="http://schemas.openxmlformats.org/drawingml/2006/main">
            <a:off x="6212150" y="1417320"/>
            <a:ext cx="4766420" cy="448056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25875D38-CBE7-4E85-A40D-2969BA574056}"/>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External anatomy of the heart</a:t>
            </a:r>
            <a:endParaRPr sz="1100"/>
          </a:p>
        </p:txBody>
      </p:sp>
      <p:sp>
        <p:nvSpPr>
          <p:cNvPr id="9" name="Text 5">
            <a:extLst xmlns:a="http://schemas.openxmlformats.org/drawingml/2006/main">
              <a:ext uri="{FF2B5EF4-FFF2-40B4-BE49-F238E27FC236}">
                <a16:creationId xmlns:a16="http://schemas.microsoft.com/office/drawing/2014/main" id="{66438F1E-181D-4D94-B802-3C3FE49AA018}"/>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19 — The Cardiovascular System: The Heart</a:t>
            </a:r>
            <a:endParaRPr sz="900"/>
          </a:p>
        </p:txBody>
      </p:sp>
      <p:sp>
        <p:nvSpPr>
          <p:cNvPr id="10" name="Text 6">
            <a:extLst xmlns:a="http://schemas.openxmlformats.org/drawingml/2006/main">
              <a:ext uri="{FF2B5EF4-FFF2-40B4-BE49-F238E27FC236}">
                <a16:creationId xmlns:a16="http://schemas.microsoft.com/office/drawing/2014/main" id="{6EFDD359-6994-4D46-9B60-B542240CF000}"/>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6</a:t>
            </a:r>
            <a:endParaRPr sz="900"/>
          </a:p>
        </p:txBody>
      </p:sp>
    </p:spTree>
    <p:extLst>
      <p:ext uri="{BB962C8B-B14F-4D97-AF65-F5344CB8AC3E}">
        <p14:creationId xmlns:p14="http://schemas.microsoft.com/office/powerpoint/2010/main" val="53799455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CEF30AD-8399-4FD1-A336-8DAEBAD885DA}"/>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19.1</a:t>
            </a:r>
            <a:endParaRPr sz="1200"/>
          </a:p>
        </p:txBody>
      </p:sp>
      <p:sp>
        <p:nvSpPr>
          <p:cNvPr id="3" name="Text 1">
            <a:extLst xmlns:a="http://schemas.openxmlformats.org/drawingml/2006/main">
              <a:ext uri="{FF2B5EF4-FFF2-40B4-BE49-F238E27FC236}">
                <a16:creationId xmlns:a16="http://schemas.microsoft.com/office/drawing/2014/main" id="{46BDC8AE-E77A-413B-82D3-AE04D0D499EF}"/>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Internal Anatomy</a:t>
            </a:r>
            <a:endParaRPr sz="2800"/>
          </a:p>
        </p:txBody>
      </p:sp>
      <p:sp>
        <p:nvSpPr>
          <p:cNvPr id="4" name="Text 2">
            <a:extLst xmlns:a="http://schemas.openxmlformats.org/drawingml/2006/main">
              <a:ext uri="{FF2B5EF4-FFF2-40B4-BE49-F238E27FC236}">
                <a16:creationId xmlns:a16="http://schemas.microsoft.com/office/drawing/2014/main" id="{FC1E875D-1026-48A2-ADA8-5FDCFF258D19}"/>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Four chambers separated by valves</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Atria receive; ventricles pump</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Valves keep blood moving one way</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Septum divides left and right</a:t>
            </a:r>
            <a:endParaRPr sz="1500"/>
          </a:p>
        </p:txBody>
      </p:sp>
      <p:sp>
        <p:nvSpPr>
          <p:cNvPr id="5" name="Shape 3">
            <a:extLst xmlns:a="http://schemas.openxmlformats.org/drawingml/2006/main">
              <a:ext uri="{FF2B5EF4-FFF2-40B4-BE49-F238E27FC236}">
                <a16:creationId xmlns:a16="http://schemas.microsoft.com/office/drawing/2014/main" id="{14D55853-5813-48AD-8425-BA4D5A626275}"/>
              </a:ext>
            </a:extLst>
          </p:cNvPr>
          <p:cNvSpPr>
            <a:spLocks xmlns:a="http://schemas.openxmlformats.org/drawingml/2006/main" noGrp="1"/>
          </p:cNvSpPr>
          <p:nvPr/>
        </p:nvSpPr>
        <p:spPr>
          <a:xfrm xmlns:a="http://schemas.openxmlformats.org/drawingml/2006/main">
            <a:off x="5404104" y="1401054"/>
            <a:ext cx="6382512" cy="4513092"/>
          </a:xfrm>
          <a:prstGeom xmlns:a="http://schemas.openxmlformats.org/drawingml/2006/main" prst="roundRect">
            <a:avLst>
              <a:gd name="adj" fmla="val 1216"/>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fdeef903385946ac"/>
          <a:stretch xmlns:a="http://schemas.openxmlformats.org/drawingml/2006/main">
            <a:fillRect l="0" t="0" r="0" b="0"/>
          </a:stretch>
        </p:blipFill>
        <p:spPr>
          <a:xfrm xmlns:a="http://schemas.openxmlformats.org/drawingml/2006/main">
            <a:off x="5486400" y="1483350"/>
            <a:ext cx="6217920" cy="434850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6C384150-CF8B-4077-8CA5-A7E23EB5662E}"/>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Internal anatomy of the heart</a:t>
            </a:r>
            <a:endParaRPr sz="1100"/>
          </a:p>
        </p:txBody>
      </p:sp>
      <p:sp>
        <p:nvSpPr>
          <p:cNvPr id="9" name="Text 5">
            <a:extLst xmlns:a="http://schemas.openxmlformats.org/drawingml/2006/main">
              <a:ext uri="{FF2B5EF4-FFF2-40B4-BE49-F238E27FC236}">
                <a16:creationId xmlns:a16="http://schemas.microsoft.com/office/drawing/2014/main" id="{9CB859F6-3EAE-47D2-BC14-168B992C2225}"/>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19 — The Cardiovascular System: The Heart</a:t>
            </a:r>
            <a:endParaRPr sz="900"/>
          </a:p>
        </p:txBody>
      </p:sp>
      <p:sp>
        <p:nvSpPr>
          <p:cNvPr id="10" name="Text 6">
            <a:extLst xmlns:a="http://schemas.openxmlformats.org/drawingml/2006/main">
              <a:ext uri="{FF2B5EF4-FFF2-40B4-BE49-F238E27FC236}">
                <a16:creationId xmlns:a16="http://schemas.microsoft.com/office/drawing/2014/main" id="{9F0AB4FD-C612-4675-BDE1-59CE1B32F90F}"/>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7</a:t>
            </a:r>
            <a:endParaRPr sz="900"/>
          </a:p>
        </p:txBody>
      </p:sp>
    </p:spTree>
    <p:extLst>
      <p:ext uri="{BB962C8B-B14F-4D97-AF65-F5344CB8AC3E}">
        <p14:creationId xmlns:p14="http://schemas.microsoft.com/office/powerpoint/2010/main" val="173491504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E3C6376-7153-45F7-8223-C839F9859E71}"/>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19.1</a:t>
            </a:r>
            <a:endParaRPr sz="1200"/>
          </a:p>
        </p:txBody>
      </p:sp>
      <p:sp>
        <p:nvSpPr>
          <p:cNvPr id="3" name="Text 1">
            <a:extLst xmlns:a="http://schemas.openxmlformats.org/drawingml/2006/main">
              <a:ext uri="{FF2B5EF4-FFF2-40B4-BE49-F238E27FC236}">
                <a16:creationId xmlns:a16="http://schemas.microsoft.com/office/drawing/2014/main" id="{60C24C36-B781-4BEB-87A6-B7062478E47C}"/>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The Heart Valves</a:t>
            </a:r>
            <a:endParaRPr sz="2800"/>
          </a:p>
        </p:txBody>
      </p:sp>
      <p:sp>
        <p:nvSpPr>
          <p:cNvPr id="4" name="Text 2">
            <a:extLst xmlns:a="http://schemas.openxmlformats.org/drawingml/2006/main">
              <a:ext uri="{FF2B5EF4-FFF2-40B4-BE49-F238E27FC236}">
                <a16:creationId xmlns:a16="http://schemas.microsoft.com/office/drawing/2014/main" id="{8D6D00F0-74EF-4E59-AF42-B5077740E4E4}"/>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Four valves keep blood moving forward</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Two AV valves (tricuspid, mitral)</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Two semilunar valves (aortic, pulmonary)</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Open and close with pressure changes</a:t>
            </a:r>
            <a:endParaRPr sz="1500"/>
          </a:p>
        </p:txBody>
      </p:sp>
      <p:sp>
        <p:nvSpPr>
          <p:cNvPr id="5" name="Shape 3">
            <a:extLst xmlns:a="http://schemas.openxmlformats.org/drawingml/2006/main">
              <a:ext uri="{FF2B5EF4-FFF2-40B4-BE49-F238E27FC236}">
                <a16:creationId xmlns:a16="http://schemas.microsoft.com/office/drawing/2014/main" id="{D7E87D75-FDC8-45C8-AA4A-2423956E5CF1}"/>
              </a:ext>
            </a:extLst>
          </p:cNvPr>
          <p:cNvSpPr>
            <a:spLocks xmlns:a="http://schemas.openxmlformats.org/drawingml/2006/main" noGrp="1"/>
          </p:cNvSpPr>
          <p:nvPr/>
        </p:nvSpPr>
        <p:spPr>
          <a:xfrm xmlns:a="http://schemas.openxmlformats.org/drawingml/2006/main">
            <a:off x="5705769" y="1335024"/>
            <a:ext cx="5779182" cy="4645152"/>
          </a:xfrm>
          <a:prstGeom xmlns:a="http://schemas.openxmlformats.org/drawingml/2006/main" prst="roundRect">
            <a:avLst>
              <a:gd name="adj" fmla="val 118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d974591ecd1048c4"/>
          <a:stretch xmlns:a="http://schemas.openxmlformats.org/drawingml/2006/main">
            <a:fillRect l="0" t="0" r="0" b="0"/>
          </a:stretch>
        </p:blipFill>
        <p:spPr>
          <a:xfrm xmlns:a="http://schemas.openxmlformats.org/drawingml/2006/main">
            <a:off x="5788065" y="1417320"/>
            <a:ext cx="5614590" cy="448056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7B1F67E0-B65C-40E6-BCFF-43CE307971FC}"/>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four heart valves</a:t>
            </a:r>
            <a:endParaRPr sz="1100"/>
          </a:p>
        </p:txBody>
      </p:sp>
      <p:sp>
        <p:nvSpPr>
          <p:cNvPr id="9" name="Text 5">
            <a:extLst xmlns:a="http://schemas.openxmlformats.org/drawingml/2006/main">
              <a:ext uri="{FF2B5EF4-FFF2-40B4-BE49-F238E27FC236}">
                <a16:creationId xmlns:a16="http://schemas.microsoft.com/office/drawing/2014/main" id="{9D5BC364-EE0E-4855-84A0-8038A20AF4A2}"/>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19 — The Cardiovascular System: The Heart</a:t>
            </a:r>
            <a:endParaRPr sz="900"/>
          </a:p>
        </p:txBody>
      </p:sp>
      <p:sp>
        <p:nvSpPr>
          <p:cNvPr id="10" name="Text 6">
            <a:extLst xmlns:a="http://schemas.openxmlformats.org/drawingml/2006/main">
              <a:ext uri="{FF2B5EF4-FFF2-40B4-BE49-F238E27FC236}">
                <a16:creationId xmlns:a16="http://schemas.microsoft.com/office/drawing/2014/main" id="{F344E91E-1DD3-497F-94F0-E7C7F14E4E73}"/>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8</a:t>
            </a:r>
            <a:endParaRPr sz="900"/>
          </a:p>
        </p:txBody>
      </p:sp>
    </p:spTree>
    <p:extLst>
      <p:ext uri="{BB962C8B-B14F-4D97-AF65-F5344CB8AC3E}">
        <p14:creationId xmlns:p14="http://schemas.microsoft.com/office/powerpoint/2010/main" val="124463516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88AB98B-E24E-4E0B-B34A-E10950C9F006}"/>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19.1</a:t>
            </a:r>
            <a:endParaRPr sz="1200"/>
          </a:p>
        </p:txBody>
      </p:sp>
      <p:sp>
        <p:nvSpPr>
          <p:cNvPr id="3" name="Text 1">
            <a:extLst xmlns:a="http://schemas.openxmlformats.org/drawingml/2006/main">
              <a:ext uri="{FF2B5EF4-FFF2-40B4-BE49-F238E27FC236}">
                <a16:creationId xmlns:a16="http://schemas.microsoft.com/office/drawing/2014/main" id="{A427F620-28B1-4B68-BC79-7B1B55C405FB}"/>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Coronary Circulation</a:t>
            </a:r>
            <a:endParaRPr sz="2800"/>
          </a:p>
        </p:txBody>
      </p:sp>
      <p:sp>
        <p:nvSpPr>
          <p:cNvPr id="4" name="Text 2">
            <a:extLst xmlns:a="http://schemas.openxmlformats.org/drawingml/2006/main">
              <a:ext uri="{FF2B5EF4-FFF2-40B4-BE49-F238E27FC236}">
                <a16:creationId xmlns:a16="http://schemas.microsoft.com/office/drawing/2014/main" id="{3EFCA4EE-9A00-4A3B-AF58-CC332CCE9D4E}"/>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The heart needs its own blood supply</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Coronary arteries branch from the aorta</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They feed the myocardium</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Blockage causes a heart attack</a:t>
            </a:r>
            <a:endParaRPr sz="1500"/>
          </a:p>
        </p:txBody>
      </p:sp>
      <p:sp>
        <p:nvSpPr>
          <p:cNvPr id="5" name="Shape 3">
            <a:extLst xmlns:a="http://schemas.openxmlformats.org/drawingml/2006/main">
              <a:ext uri="{FF2B5EF4-FFF2-40B4-BE49-F238E27FC236}">
                <a16:creationId xmlns:a16="http://schemas.microsoft.com/office/drawing/2014/main" id="{94314C36-77CE-401E-9DE6-0781A70FA29A}"/>
              </a:ext>
            </a:extLst>
          </p:cNvPr>
          <p:cNvSpPr>
            <a:spLocks xmlns:a="http://schemas.openxmlformats.org/drawingml/2006/main" noGrp="1"/>
          </p:cNvSpPr>
          <p:nvPr/>
        </p:nvSpPr>
        <p:spPr>
          <a:xfrm xmlns:a="http://schemas.openxmlformats.org/drawingml/2006/main">
            <a:off x="6072727" y="1335024"/>
            <a:ext cx="5045266" cy="4645152"/>
          </a:xfrm>
          <a:prstGeom xmlns:a="http://schemas.openxmlformats.org/drawingml/2006/main" prst="roundRect">
            <a:avLst>
              <a:gd name="adj" fmla="val 118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8fcf9f06e3f3434d"/>
          <a:stretch xmlns:a="http://schemas.openxmlformats.org/drawingml/2006/main">
            <a:fillRect l="0" t="0" r="0" b="0"/>
          </a:stretch>
        </p:blipFill>
        <p:spPr>
          <a:xfrm xmlns:a="http://schemas.openxmlformats.org/drawingml/2006/main">
            <a:off x="6155023" y="1417320"/>
            <a:ext cx="4880674" cy="448056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7A46AFC3-135C-40D9-A72A-F8C07DE18000}"/>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coronary circulation</a:t>
            </a:r>
            <a:endParaRPr sz="1100"/>
          </a:p>
        </p:txBody>
      </p:sp>
      <p:sp>
        <p:nvSpPr>
          <p:cNvPr id="9" name="Text 5">
            <a:extLst xmlns:a="http://schemas.openxmlformats.org/drawingml/2006/main">
              <a:ext uri="{FF2B5EF4-FFF2-40B4-BE49-F238E27FC236}">
                <a16:creationId xmlns:a16="http://schemas.microsoft.com/office/drawing/2014/main" id="{C5A52065-EFE4-45FC-B13E-8544D552A60F}"/>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19 — The Cardiovascular System: The Heart</a:t>
            </a:r>
            <a:endParaRPr sz="900"/>
          </a:p>
        </p:txBody>
      </p:sp>
      <p:sp>
        <p:nvSpPr>
          <p:cNvPr id="10" name="Text 6">
            <a:extLst xmlns:a="http://schemas.openxmlformats.org/drawingml/2006/main">
              <a:ext uri="{FF2B5EF4-FFF2-40B4-BE49-F238E27FC236}">
                <a16:creationId xmlns:a16="http://schemas.microsoft.com/office/drawing/2014/main" id="{138F04DF-31A3-4510-ABA1-42C73FCB7F7E}"/>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9</a:t>
            </a:r>
            <a:endParaRPr sz="900"/>
          </a:p>
        </p:txBody>
      </p:sp>
    </p:spTree>
    <p:extLst>
      <p:ext uri="{BB962C8B-B14F-4D97-AF65-F5344CB8AC3E}">
        <p14:creationId xmlns:p14="http://schemas.microsoft.com/office/powerpoint/2010/main" val="967811113"/>
      </p:ext>
    </p:extLst>
  </p:cSld>
</p:sld>
</file>

<file path=ppt/slides/slide10.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0B17A33-04A8-4259-8CAE-8943A1E0E6D8}"/>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08D6F266-FAE0-416E-BAE9-19F41BBF1703}"/>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400" b="1">
                <a:solidFill>
                  <a:srgbClr val="FFFFFF"/>
                </a:solidFill>
                <a:latin typeface="Georgia"/>
                <a:ea typeface="Georgia"/>
                <a:cs typeface="Georgia"/>
              </a:rPr>
              <a:t>19.2</a:t>
            </a:r>
            <a:endParaRPr sz="4400"/>
          </a:p>
        </p:txBody>
      </p:sp>
      <p:sp>
        <p:nvSpPr>
          <p:cNvPr id="4" name="Text 2">
            <a:extLst xmlns:a="http://schemas.openxmlformats.org/drawingml/2006/main">
              <a:ext uri="{FF2B5EF4-FFF2-40B4-BE49-F238E27FC236}">
                <a16:creationId xmlns:a16="http://schemas.microsoft.com/office/drawing/2014/main" id="{0E08B19A-411A-4C37-9869-6F9559B1DCE9}"/>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endParaRPr sz="1400"/>
          </a:p>
        </p:txBody>
      </p:sp>
      <p:sp>
        <p:nvSpPr>
          <p:cNvPr id="5" name="Text 3">
            <a:extLst xmlns:a="http://schemas.openxmlformats.org/drawingml/2006/main">
              <a:ext uri="{FF2B5EF4-FFF2-40B4-BE49-F238E27FC236}">
                <a16:creationId xmlns:a16="http://schemas.microsoft.com/office/drawing/2014/main" id="{CB8A31E7-9216-4ACE-B209-410FBCFE2B41}"/>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Cardiac Muscle and Electrical Activity</a:t>
            </a:r>
            <a:endParaRPr sz="3000"/>
          </a:p>
        </p:txBody>
      </p:sp>
      <p:sp>
        <p:nvSpPr>
          <p:cNvPr id="6" name="Text 4">
            <a:extLst xmlns:a="http://schemas.openxmlformats.org/drawingml/2006/main">
              <a:ext uri="{FF2B5EF4-FFF2-40B4-BE49-F238E27FC236}">
                <a16:creationId xmlns:a16="http://schemas.microsoft.com/office/drawing/2014/main" id="{8A0FECA8-51FE-404A-A068-A5B98FE93260}"/>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Cardiac muscle and the heart's electrical system.</a:t>
            </a:r>
            <a:endParaRPr sz="1500"/>
          </a:p>
        </p:txBody>
      </p:sp>
    </p:spTree>
    <p:extLst>
      <p:ext uri="{BB962C8B-B14F-4D97-AF65-F5344CB8AC3E}">
        <p14:creationId xmlns:p14="http://schemas.microsoft.com/office/powerpoint/2010/main" val="80306245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849E8E9-3D3B-4AAF-B02E-F149EA3A147F}"/>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19.2</a:t>
            </a:r>
            <a:endParaRPr sz="1200"/>
          </a:p>
        </p:txBody>
      </p:sp>
      <p:sp>
        <p:nvSpPr>
          <p:cNvPr id="3" name="Text 1">
            <a:extLst xmlns:a="http://schemas.openxmlformats.org/drawingml/2006/main">
              <a:ext uri="{FF2B5EF4-FFF2-40B4-BE49-F238E27FC236}">
                <a16:creationId xmlns:a16="http://schemas.microsoft.com/office/drawing/2014/main" id="{8D96CA6F-F54C-4008-BF6D-09C249300470}"/>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Cardiac Muscle</a:t>
            </a:r>
            <a:endParaRPr sz="2800"/>
          </a:p>
        </p:txBody>
      </p:sp>
      <p:sp>
        <p:nvSpPr>
          <p:cNvPr id="4" name="Text 2">
            <a:extLst xmlns:a="http://schemas.openxmlformats.org/drawingml/2006/main">
              <a:ext uri="{FF2B5EF4-FFF2-40B4-BE49-F238E27FC236}">
                <a16:creationId xmlns:a16="http://schemas.microsoft.com/office/drawing/2014/main" id="{44B484E6-01C1-49F6-858F-D0FDC155B212}"/>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Striated but involuntary</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Cells branch and interconnect</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Joined by intercalated discs</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Gap junctions synchronize the beat</a:t>
            </a:r>
            <a:endParaRPr sz="1500"/>
          </a:p>
        </p:txBody>
      </p:sp>
      <p:sp>
        <p:nvSpPr>
          <p:cNvPr id="5" name="Shape 3">
            <a:extLst xmlns:a="http://schemas.openxmlformats.org/drawingml/2006/main">
              <a:ext uri="{FF2B5EF4-FFF2-40B4-BE49-F238E27FC236}">
                <a16:creationId xmlns:a16="http://schemas.microsoft.com/office/drawing/2014/main" id="{DE47E15D-A9A2-4F90-94A5-F770C83006AE}"/>
              </a:ext>
            </a:extLst>
          </p:cNvPr>
          <p:cNvSpPr>
            <a:spLocks xmlns:a="http://schemas.openxmlformats.org/drawingml/2006/main" noGrp="1"/>
          </p:cNvSpPr>
          <p:nvPr/>
        </p:nvSpPr>
        <p:spPr>
          <a:xfrm xmlns:a="http://schemas.openxmlformats.org/drawingml/2006/main">
            <a:off x="6262255" y="1335024"/>
            <a:ext cx="4666211" cy="4645152"/>
          </a:xfrm>
          <a:prstGeom xmlns:a="http://schemas.openxmlformats.org/drawingml/2006/main" prst="roundRect">
            <a:avLst>
              <a:gd name="adj" fmla="val 118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1d9e676564ef4656"/>
          <a:stretch xmlns:a="http://schemas.openxmlformats.org/drawingml/2006/main">
            <a:fillRect l="0" t="0" r="0" b="0"/>
          </a:stretch>
        </p:blipFill>
        <p:spPr>
          <a:xfrm xmlns:a="http://schemas.openxmlformats.org/drawingml/2006/main">
            <a:off x="6344551" y="1417320"/>
            <a:ext cx="4501619" cy="448056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6A7C6D36-94F8-42D0-9FB7-655BD8A75092}"/>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Cardiac muscle tissue</a:t>
            </a:r>
            <a:endParaRPr sz="1100"/>
          </a:p>
        </p:txBody>
      </p:sp>
      <p:sp>
        <p:nvSpPr>
          <p:cNvPr id="9" name="Text 5">
            <a:extLst xmlns:a="http://schemas.openxmlformats.org/drawingml/2006/main">
              <a:ext uri="{FF2B5EF4-FFF2-40B4-BE49-F238E27FC236}">
                <a16:creationId xmlns:a16="http://schemas.microsoft.com/office/drawing/2014/main" id="{B8129F22-8FF9-43D5-8E5D-0DDAD96DBE4C}"/>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19 — The Cardiovascular System: The Heart</a:t>
            </a:r>
            <a:endParaRPr sz="900"/>
          </a:p>
        </p:txBody>
      </p:sp>
      <p:sp>
        <p:nvSpPr>
          <p:cNvPr id="10" name="Text 6">
            <a:extLst xmlns:a="http://schemas.openxmlformats.org/drawingml/2006/main">
              <a:ext uri="{FF2B5EF4-FFF2-40B4-BE49-F238E27FC236}">
                <a16:creationId xmlns:a16="http://schemas.microsoft.com/office/drawing/2014/main" id="{4F22DCC0-B59F-4660-BFD4-EC464B2BCB7E}"/>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11</a:t>
            </a:r>
            <a:endParaRPr sz="900"/>
          </a:p>
        </p:txBody>
      </p:sp>
    </p:spTree>
    <p:extLst>
      <p:ext uri="{BB962C8B-B14F-4D97-AF65-F5344CB8AC3E}">
        <p14:creationId xmlns:p14="http://schemas.microsoft.com/office/powerpoint/2010/main" val="17295954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3E4A971-E4CC-4AD0-B62E-CBF7B483C4F9}"/>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19.2</a:t>
            </a:r>
            <a:endParaRPr sz="1200"/>
          </a:p>
        </p:txBody>
      </p:sp>
      <p:sp>
        <p:nvSpPr>
          <p:cNvPr id="3" name="Text 1">
            <a:extLst xmlns:a="http://schemas.openxmlformats.org/drawingml/2006/main">
              <a:ext uri="{FF2B5EF4-FFF2-40B4-BE49-F238E27FC236}">
                <a16:creationId xmlns:a16="http://schemas.microsoft.com/office/drawing/2014/main" id="{B38C157A-D3F1-4FC7-B9A4-47948AB280FD}"/>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The Conduction System</a:t>
            </a:r>
            <a:endParaRPr sz="2800"/>
          </a:p>
        </p:txBody>
      </p:sp>
      <p:sp>
        <p:nvSpPr>
          <p:cNvPr id="4" name="Text 2">
            <a:extLst xmlns:a="http://schemas.openxmlformats.org/drawingml/2006/main">
              <a:ext uri="{FF2B5EF4-FFF2-40B4-BE49-F238E27FC236}">
                <a16:creationId xmlns:a16="http://schemas.microsoft.com/office/drawing/2014/main" id="{DD9BE5E7-743E-4BAB-9F91-9826C3A9CCE4}"/>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The heart sets its own rhythm</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SA node is the pacemaker</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AV node delays the signal</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Bundle and Purkinje fibers spread it</a:t>
            </a:r>
            <a:endParaRPr sz="1500"/>
          </a:p>
        </p:txBody>
      </p:sp>
      <p:sp>
        <p:nvSpPr>
          <p:cNvPr id="5" name="Shape 3">
            <a:extLst xmlns:a="http://schemas.openxmlformats.org/drawingml/2006/main">
              <a:ext uri="{FF2B5EF4-FFF2-40B4-BE49-F238E27FC236}">
                <a16:creationId xmlns:a16="http://schemas.microsoft.com/office/drawing/2014/main" id="{037D114D-FE83-4ADE-B9CC-2D9955A952D8}"/>
              </a:ext>
            </a:extLst>
          </p:cNvPr>
          <p:cNvSpPr>
            <a:spLocks xmlns:a="http://schemas.openxmlformats.org/drawingml/2006/main" noGrp="1"/>
          </p:cNvSpPr>
          <p:nvPr/>
        </p:nvSpPr>
        <p:spPr>
          <a:xfrm xmlns:a="http://schemas.openxmlformats.org/drawingml/2006/main">
            <a:off x="5404104" y="1494340"/>
            <a:ext cx="6382512" cy="4326520"/>
          </a:xfrm>
          <a:prstGeom xmlns:a="http://schemas.openxmlformats.org/drawingml/2006/main" prst="roundRect">
            <a:avLst>
              <a:gd name="adj" fmla="val 1268"/>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b28fe7d8d6664a06"/>
          <a:stretch xmlns:a="http://schemas.openxmlformats.org/drawingml/2006/main">
            <a:fillRect l="0" t="0" r="0" b="0"/>
          </a:stretch>
        </p:blipFill>
        <p:spPr>
          <a:xfrm xmlns:a="http://schemas.openxmlformats.org/drawingml/2006/main">
            <a:off x="5486400" y="1576636"/>
            <a:ext cx="6217920" cy="4161928"/>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8ACA566-32C1-4796-ACEA-E80E5FE33CD3}"/>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cardiac conduction system</a:t>
            </a:r>
            <a:endParaRPr sz="1100"/>
          </a:p>
        </p:txBody>
      </p:sp>
      <p:sp>
        <p:nvSpPr>
          <p:cNvPr id="9" name="Text 5">
            <a:extLst xmlns:a="http://schemas.openxmlformats.org/drawingml/2006/main">
              <a:ext uri="{FF2B5EF4-FFF2-40B4-BE49-F238E27FC236}">
                <a16:creationId xmlns:a16="http://schemas.microsoft.com/office/drawing/2014/main" id="{2314B747-8616-42D8-A662-2D9D8F6A6193}"/>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19 — The Cardiovascular System: The Heart</a:t>
            </a:r>
            <a:endParaRPr sz="900"/>
          </a:p>
        </p:txBody>
      </p:sp>
      <p:sp>
        <p:nvSpPr>
          <p:cNvPr id="10" name="Text 6">
            <a:extLst xmlns:a="http://schemas.openxmlformats.org/drawingml/2006/main">
              <a:ext uri="{FF2B5EF4-FFF2-40B4-BE49-F238E27FC236}">
                <a16:creationId xmlns:a16="http://schemas.microsoft.com/office/drawing/2014/main" id="{223E2671-2070-49B0-AD6C-D35212C71D1F}"/>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12</a:t>
            </a:r>
            <a:endParaRPr sz="900"/>
          </a:p>
        </p:txBody>
      </p:sp>
    </p:spTree>
    <p:extLst>
      <p:ext uri="{BB962C8B-B14F-4D97-AF65-F5344CB8AC3E}">
        <p14:creationId xmlns:p14="http://schemas.microsoft.com/office/powerpoint/2010/main" val="203949381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1967615-DFBA-4C9E-A767-04EEDB0F9403}"/>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19.2</a:t>
            </a:r>
            <a:endParaRPr sz="1200"/>
          </a:p>
        </p:txBody>
      </p:sp>
      <p:sp>
        <p:nvSpPr>
          <p:cNvPr id="3" name="Text 1">
            <a:extLst xmlns:a="http://schemas.openxmlformats.org/drawingml/2006/main">
              <a:ext uri="{FF2B5EF4-FFF2-40B4-BE49-F238E27FC236}">
                <a16:creationId xmlns:a16="http://schemas.microsoft.com/office/drawing/2014/main" id="{C8CB1C7C-1433-4964-9B95-9A400ACB855D}"/>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The Electrocardiogram (ECG)</a:t>
            </a:r>
            <a:endParaRPr sz="2800"/>
          </a:p>
        </p:txBody>
      </p:sp>
      <p:sp>
        <p:nvSpPr>
          <p:cNvPr id="4" name="Shape 2">
            <a:extLst xmlns:a="http://schemas.openxmlformats.org/drawingml/2006/main">
              <a:ext uri="{FF2B5EF4-FFF2-40B4-BE49-F238E27FC236}">
                <a16:creationId xmlns:a16="http://schemas.microsoft.com/office/drawing/2014/main" id="{1AD9A022-02C8-4A7E-8223-53AC2199894D}"/>
              </a:ext>
            </a:extLst>
          </p:cNvPr>
          <p:cNvSpPr>
            <a:spLocks xmlns:a="http://schemas.openxmlformats.org/drawingml/2006/main" noGrp="1"/>
          </p:cNvSpPr>
          <p:nvPr/>
        </p:nvSpPr>
        <p:spPr>
          <a:xfrm xmlns:a="http://schemas.openxmlformats.org/drawingml/2006/main">
            <a:off x="3275381" y="1289304"/>
            <a:ext cx="5656478" cy="3730752"/>
          </a:xfrm>
          <a:prstGeom xmlns:a="http://schemas.openxmlformats.org/drawingml/2006/main" prst="roundRect">
            <a:avLst>
              <a:gd name="adj" fmla="val 147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b27c05ff26b3484d"/>
          <a:stretch xmlns:a="http://schemas.openxmlformats.org/drawingml/2006/main">
            <a:fillRect l="0" t="0" r="0" b="0"/>
          </a:stretch>
        </p:blipFill>
        <p:spPr>
          <a:xfrm xmlns:a="http://schemas.openxmlformats.org/drawingml/2006/main">
            <a:off x="3357677" y="1371600"/>
            <a:ext cx="5491886" cy="356616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5DD13014-871B-4D26-AA78-B5BCFBF900F1}"/>
              </a:ext>
            </a:extLst>
          </p:cNvPr>
          <p:cNvSpPr>
            <a:spLocks xmlns:a="http://schemas.openxmlformats.org/drawingml/2006/main" noGrp="1"/>
          </p:cNvSpPr>
          <p:nvPr/>
        </p:nvSpPr>
        <p:spPr>
          <a:xfrm xmlns:a="http://schemas.openxmlformats.org/drawingml/2006/main">
            <a:off x="640080" y="4983480"/>
            <a:ext cx="109270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A normal ECG tracing</a:t>
            </a:r>
            <a:endParaRPr sz="1100"/>
          </a:p>
        </p:txBody>
      </p:sp>
      <p:sp>
        <p:nvSpPr>
          <p:cNvPr id="7" name="Text 4">
            <a:extLst xmlns:a="http://schemas.openxmlformats.org/drawingml/2006/main">
              <a:ext uri="{FF2B5EF4-FFF2-40B4-BE49-F238E27FC236}">
                <a16:creationId xmlns:a16="http://schemas.microsoft.com/office/drawing/2014/main" id="{2CDE6F0C-A245-49CB-894F-1D68DEB0981D}"/>
              </a:ext>
            </a:extLst>
          </p:cNvPr>
          <p:cNvSpPr>
            <a:spLocks xmlns:a="http://schemas.openxmlformats.org/drawingml/2006/main" noGrp="1"/>
          </p:cNvSpPr>
          <p:nvPr/>
        </p:nvSpPr>
        <p:spPr>
          <a:xfrm xmlns:a="http://schemas.openxmlformats.org/drawingml/2006/main">
            <a:off x="73152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Records the heart's electrical activity</a:t>
            </a:r>
            <a:endParaRPr sz="1300"/>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P wave = atrial depolarization</a:t>
            </a:r>
            <a:endParaRPr sz="1300"/>
          </a:p>
        </p:txBody>
      </p:sp>
      <p:sp>
        <p:nvSpPr>
          <p:cNvPr id="8" name="Text 5">
            <a:extLst xmlns:a="http://schemas.openxmlformats.org/drawingml/2006/main">
              <a:ext uri="{FF2B5EF4-FFF2-40B4-BE49-F238E27FC236}">
                <a16:creationId xmlns:a16="http://schemas.microsoft.com/office/drawing/2014/main" id="{513B5FE7-21DB-474C-85F9-18BA891D3DC2}"/>
              </a:ext>
            </a:extLst>
          </p:cNvPr>
          <p:cNvSpPr>
            <a:spLocks xmlns:a="http://schemas.openxmlformats.org/drawingml/2006/main" noGrp="1"/>
          </p:cNvSpPr>
          <p:nvPr/>
        </p:nvSpPr>
        <p:spPr>
          <a:xfrm xmlns:a="http://schemas.openxmlformats.org/drawingml/2006/main">
            <a:off x="626364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QRS = ventricular depolarization</a:t>
            </a:r>
            <a:endParaRPr sz="1300"/>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T wave = ventricular repolarization</a:t>
            </a:r>
            <a:endParaRPr sz="1300"/>
          </a:p>
        </p:txBody>
      </p:sp>
      <p:sp>
        <p:nvSpPr>
          <p:cNvPr id="10" name="Text 6">
            <a:extLst xmlns:a="http://schemas.openxmlformats.org/drawingml/2006/main">
              <a:ext uri="{FF2B5EF4-FFF2-40B4-BE49-F238E27FC236}">
                <a16:creationId xmlns:a16="http://schemas.microsoft.com/office/drawing/2014/main" id="{709535F9-121F-420B-AB4B-93AE8732CAE6}"/>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19 — The Cardiovascular System: The Heart</a:t>
            </a:r>
            <a:endParaRPr sz="900"/>
          </a:p>
        </p:txBody>
      </p:sp>
      <p:sp>
        <p:nvSpPr>
          <p:cNvPr id="11" name="Text 7">
            <a:extLst xmlns:a="http://schemas.openxmlformats.org/drawingml/2006/main">
              <a:ext uri="{FF2B5EF4-FFF2-40B4-BE49-F238E27FC236}">
                <a16:creationId xmlns:a16="http://schemas.microsoft.com/office/drawing/2014/main" id="{1ABF19B5-52C3-4034-9039-843DBE339344}"/>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13</a:t>
            </a:r>
            <a:endParaRPr sz="900"/>
          </a:p>
        </p:txBody>
      </p:sp>
    </p:spTree>
    <p:extLst>
      <p:ext uri="{BB962C8B-B14F-4D97-AF65-F5344CB8AC3E}">
        <p14:creationId xmlns:p14="http://schemas.microsoft.com/office/powerpoint/2010/main" val="8612196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BEF4613-740F-4878-9C93-9EDC5E66DB60}"/>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19.2</a:t>
            </a:r>
            <a:endParaRPr sz="1200"/>
          </a:p>
        </p:txBody>
      </p:sp>
      <p:sp>
        <p:nvSpPr>
          <p:cNvPr id="3" name="Text 1">
            <a:extLst xmlns:a="http://schemas.openxmlformats.org/drawingml/2006/main">
              <a:ext uri="{FF2B5EF4-FFF2-40B4-BE49-F238E27FC236}">
                <a16:creationId xmlns:a16="http://schemas.microsoft.com/office/drawing/2014/main" id="{DC535B0B-613B-43DA-8F6E-DB93F42B725B}"/>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Arrhythmias</a:t>
            </a:r>
            <a:endParaRPr sz="2800"/>
          </a:p>
        </p:txBody>
      </p:sp>
      <p:sp>
        <p:nvSpPr>
          <p:cNvPr id="4" name="Text 2">
            <a:extLst xmlns:a="http://schemas.openxmlformats.org/drawingml/2006/main">
              <a:ext uri="{FF2B5EF4-FFF2-40B4-BE49-F238E27FC236}">
                <a16:creationId xmlns:a16="http://schemas.microsoft.com/office/drawing/2014/main" id="{B254C381-FDAC-4956-AFBC-1E15F4CCD34C}"/>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Abnormal heart rhythms</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Show as abnormal ECG patterns</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Atrial fibrillation, V-tach, V-fib</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Some are life-threatening</a:t>
            </a:r>
            <a:endParaRPr sz="1500"/>
          </a:p>
        </p:txBody>
      </p:sp>
      <p:sp>
        <p:nvSpPr>
          <p:cNvPr id="5" name="Shape 3">
            <a:extLst xmlns:a="http://schemas.openxmlformats.org/drawingml/2006/main">
              <a:ext uri="{FF2B5EF4-FFF2-40B4-BE49-F238E27FC236}">
                <a16:creationId xmlns:a16="http://schemas.microsoft.com/office/drawing/2014/main" id="{ADB74B1C-C4E7-48B1-9B52-84D07C8A2598}"/>
              </a:ext>
            </a:extLst>
          </p:cNvPr>
          <p:cNvSpPr>
            <a:spLocks xmlns:a="http://schemas.openxmlformats.org/drawingml/2006/main" noGrp="1"/>
          </p:cNvSpPr>
          <p:nvPr/>
        </p:nvSpPr>
        <p:spPr>
          <a:xfrm xmlns:a="http://schemas.openxmlformats.org/drawingml/2006/main">
            <a:off x="6328119" y="1335024"/>
            <a:ext cx="4534482" cy="4645152"/>
          </a:xfrm>
          <a:prstGeom xmlns:a="http://schemas.openxmlformats.org/drawingml/2006/main" prst="roundRect">
            <a:avLst>
              <a:gd name="adj" fmla="val 1210"/>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4c033f25067f42f8"/>
          <a:stretch xmlns:a="http://schemas.openxmlformats.org/drawingml/2006/main">
            <a:fillRect l="0" t="0" r="0" b="0"/>
          </a:stretch>
        </p:blipFill>
        <p:spPr>
          <a:xfrm xmlns:a="http://schemas.openxmlformats.org/drawingml/2006/main">
            <a:off x="6410415" y="1417320"/>
            <a:ext cx="4369890" cy="448056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9EC1621D-3A92-42CD-A993-1FD0BF4247F4}"/>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Examples of cardiac arrhythmias</a:t>
            </a:r>
            <a:endParaRPr sz="1100"/>
          </a:p>
        </p:txBody>
      </p:sp>
      <p:sp>
        <p:nvSpPr>
          <p:cNvPr id="9" name="Text 5">
            <a:extLst xmlns:a="http://schemas.openxmlformats.org/drawingml/2006/main">
              <a:ext uri="{FF2B5EF4-FFF2-40B4-BE49-F238E27FC236}">
                <a16:creationId xmlns:a16="http://schemas.microsoft.com/office/drawing/2014/main" id="{A683F6AC-1D53-46E8-9E8A-D95459EAD473}"/>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19 — The Cardiovascular System: The Heart</a:t>
            </a:r>
            <a:endParaRPr sz="900"/>
          </a:p>
        </p:txBody>
      </p:sp>
      <p:sp>
        <p:nvSpPr>
          <p:cNvPr id="10" name="Text 6">
            <a:extLst xmlns:a="http://schemas.openxmlformats.org/drawingml/2006/main">
              <a:ext uri="{FF2B5EF4-FFF2-40B4-BE49-F238E27FC236}">
                <a16:creationId xmlns:a16="http://schemas.microsoft.com/office/drawing/2014/main" id="{5E476FD6-BA56-4BC8-82FE-C3853BFD89FC}"/>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14</a:t>
            </a:r>
            <a:endParaRPr sz="900"/>
          </a:p>
        </p:txBody>
      </p:sp>
    </p:spTree>
    <p:extLst>
      <p:ext uri="{BB962C8B-B14F-4D97-AF65-F5344CB8AC3E}">
        <p14:creationId xmlns:p14="http://schemas.microsoft.com/office/powerpoint/2010/main" val="612533168"/>
      </p:ext>
    </p:extLst>
  </p:cSld>
</p:sld>
</file>

<file path=ppt/slides/slide15.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12A7BCC-9DCD-490F-BAF1-F2F00CDFB77B}"/>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F8BF270E-044D-4DFF-91C5-2D7FDA5CF964}"/>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400" b="1">
                <a:solidFill>
                  <a:srgbClr val="FFFFFF"/>
                </a:solidFill>
                <a:latin typeface="Georgia"/>
                <a:ea typeface="Georgia"/>
                <a:cs typeface="Georgia"/>
              </a:rPr>
              <a:t>19.3</a:t>
            </a:r>
            <a:endParaRPr sz="4400"/>
          </a:p>
        </p:txBody>
      </p:sp>
      <p:sp>
        <p:nvSpPr>
          <p:cNvPr id="4" name="Text 2">
            <a:extLst xmlns:a="http://schemas.openxmlformats.org/drawingml/2006/main">
              <a:ext uri="{FF2B5EF4-FFF2-40B4-BE49-F238E27FC236}">
                <a16:creationId xmlns:a16="http://schemas.microsoft.com/office/drawing/2014/main" id="{14CBAC78-34B6-421A-B039-67D9A4BCE2C3}"/>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endParaRPr sz="1400"/>
          </a:p>
        </p:txBody>
      </p:sp>
      <p:sp>
        <p:nvSpPr>
          <p:cNvPr id="5" name="Text 3">
            <a:extLst xmlns:a="http://schemas.openxmlformats.org/drawingml/2006/main">
              <a:ext uri="{FF2B5EF4-FFF2-40B4-BE49-F238E27FC236}">
                <a16:creationId xmlns:a16="http://schemas.microsoft.com/office/drawing/2014/main" id="{C72F47F0-1A4A-43E0-8BCB-7B47D858A728}"/>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Cardiac Cycle</a:t>
            </a:r>
            <a:endParaRPr sz="3000"/>
          </a:p>
        </p:txBody>
      </p:sp>
      <p:sp>
        <p:nvSpPr>
          <p:cNvPr id="6" name="Text 4">
            <a:extLst xmlns:a="http://schemas.openxmlformats.org/drawingml/2006/main">
              <a:ext uri="{FF2B5EF4-FFF2-40B4-BE49-F238E27FC236}">
                <a16:creationId xmlns:a16="http://schemas.microsoft.com/office/drawing/2014/main" id="{791AEA5D-AD3D-4DEA-A62B-53CB2AA80BF7}"/>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The cardiac cycle — one complete heartbeat.</a:t>
            </a:r>
            <a:endParaRPr sz="1500"/>
          </a:p>
        </p:txBody>
      </p:sp>
    </p:spTree>
    <p:extLst>
      <p:ext uri="{BB962C8B-B14F-4D97-AF65-F5344CB8AC3E}">
        <p14:creationId xmlns:p14="http://schemas.microsoft.com/office/powerpoint/2010/main" val="146961943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FE83143-C151-4F59-9474-7AC126704874}"/>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19.3</a:t>
            </a:r>
            <a:endParaRPr sz="1200"/>
          </a:p>
        </p:txBody>
      </p:sp>
      <p:sp>
        <p:nvSpPr>
          <p:cNvPr id="3" name="Text 1">
            <a:extLst xmlns:a="http://schemas.openxmlformats.org/drawingml/2006/main">
              <a:ext uri="{FF2B5EF4-FFF2-40B4-BE49-F238E27FC236}">
                <a16:creationId xmlns:a16="http://schemas.microsoft.com/office/drawing/2014/main" id="{9B7443CD-1B80-434C-A550-480923001B39}"/>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The Cardiac Cycle</a:t>
            </a:r>
            <a:endParaRPr sz="2800"/>
          </a:p>
        </p:txBody>
      </p:sp>
      <p:sp>
        <p:nvSpPr>
          <p:cNvPr id="4" name="Shape 2">
            <a:extLst xmlns:a="http://schemas.openxmlformats.org/drawingml/2006/main">
              <a:ext uri="{FF2B5EF4-FFF2-40B4-BE49-F238E27FC236}">
                <a16:creationId xmlns:a16="http://schemas.microsoft.com/office/drawing/2014/main" id="{96058D16-4381-4951-A915-46B10F8A5E5D}"/>
              </a:ext>
            </a:extLst>
          </p:cNvPr>
          <p:cNvSpPr>
            <a:spLocks xmlns:a="http://schemas.openxmlformats.org/drawingml/2006/main" noGrp="1"/>
          </p:cNvSpPr>
          <p:nvPr/>
        </p:nvSpPr>
        <p:spPr>
          <a:xfrm xmlns:a="http://schemas.openxmlformats.org/drawingml/2006/main">
            <a:off x="501320" y="1289304"/>
            <a:ext cx="4300880" cy="4736592"/>
          </a:xfrm>
          <a:prstGeom xmlns:a="http://schemas.openxmlformats.org/drawingml/2006/main" prst="roundRect">
            <a:avLst>
              <a:gd name="adj" fmla="val 1276"/>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141d5426019341c2"/>
          <a:stretch xmlns:a="http://schemas.openxmlformats.org/drawingml/2006/main">
            <a:fillRect l="0" t="0" r="0" b="0"/>
          </a:stretch>
        </p:blipFill>
        <p:spPr>
          <a:xfrm xmlns:a="http://schemas.openxmlformats.org/drawingml/2006/main">
            <a:off x="583616" y="1371600"/>
            <a:ext cx="4136288" cy="45720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DDA421D6-B6B2-48F5-AF73-EC5971249AB0}"/>
              </a:ext>
            </a:extLst>
          </p:cNvPr>
          <p:cNvSpPr>
            <a:spLocks xmlns:a="http://schemas.openxmlformats.org/drawingml/2006/main" noGrp="1"/>
          </p:cNvSpPr>
          <p:nvPr/>
        </p:nvSpPr>
        <p:spPr>
          <a:xfrm xmlns:a="http://schemas.openxmlformats.org/drawingml/2006/main">
            <a:off x="502920" y="5989320"/>
            <a:ext cx="4297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cardiac cycle</a:t>
            </a:r>
            <a:endParaRPr sz="1100"/>
          </a:p>
        </p:txBody>
      </p:sp>
      <p:sp>
        <p:nvSpPr>
          <p:cNvPr id="7" name="Text 4">
            <a:extLst xmlns:a="http://schemas.openxmlformats.org/drawingml/2006/main">
              <a:ext uri="{FF2B5EF4-FFF2-40B4-BE49-F238E27FC236}">
                <a16:creationId xmlns:a16="http://schemas.microsoft.com/office/drawing/2014/main" id="{127BA9C0-61B8-46D4-903A-D9075B88174F}"/>
              </a:ext>
            </a:extLst>
          </p:cNvPr>
          <p:cNvSpPr>
            <a:spLocks xmlns:a="http://schemas.openxmlformats.org/drawingml/2006/main" noGrp="1"/>
          </p:cNvSpPr>
          <p:nvPr/>
        </p:nvSpPr>
        <p:spPr>
          <a:xfrm xmlns:a="http://schemas.openxmlformats.org/drawingml/2006/main">
            <a:off x="5074920" y="1828800"/>
            <a:ext cx="658368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One heartbeat = one cardiac cycle</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Atria contract, then ventricles</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Systole = contraction</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Diastole = relaxation</a:t>
            </a:r>
            <a:endParaRPr sz="1600"/>
          </a:p>
        </p:txBody>
      </p:sp>
      <p:sp>
        <p:nvSpPr>
          <p:cNvPr id="9" name="Text 5">
            <a:extLst xmlns:a="http://schemas.openxmlformats.org/drawingml/2006/main">
              <a:ext uri="{FF2B5EF4-FFF2-40B4-BE49-F238E27FC236}">
                <a16:creationId xmlns:a16="http://schemas.microsoft.com/office/drawing/2014/main" id="{C541D982-C4B4-4DD5-8163-7D6C30B13FA5}"/>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19 — The Cardiovascular System: The Heart</a:t>
            </a:r>
            <a:endParaRPr sz="900"/>
          </a:p>
        </p:txBody>
      </p:sp>
      <p:sp>
        <p:nvSpPr>
          <p:cNvPr id="10" name="Text 6">
            <a:extLst xmlns:a="http://schemas.openxmlformats.org/drawingml/2006/main">
              <a:ext uri="{FF2B5EF4-FFF2-40B4-BE49-F238E27FC236}">
                <a16:creationId xmlns:a16="http://schemas.microsoft.com/office/drawing/2014/main" id="{03B3809C-1016-4500-821C-5FB0B9C15A6E}"/>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16</a:t>
            </a:r>
            <a:endParaRPr sz="900"/>
          </a:p>
        </p:txBody>
      </p:sp>
    </p:spTree>
    <p:extLst>
      <p:ext uri="{BB962C8B-B14F-4D97-AF65-F5344CB8AC3E}">
        <p14:creationId xmlns:p14="http://schemas.microsoft.com/office/powerpoint/2010/main" val="196092567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95871EC-745C-4BA9-B35D-AA2897B5278B}"/>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19.3</a:t>
            </a:r>
            <a:endParaRPr sz="1200"/>
          </a:p>
        </p:txBody>
      </p:sp>
      <p:sp>
        <p:nvSpPr>
          <p:cNvPr id="3" name="Text 1">
            <a:extLst xmlns:a="http://schemas.openxmlformats.org/drawingml/2006/main">
              <a:ext uri="{FF2B5EF4-FFF2-40B4-BE49-F238E27FC236}">
                <a16:creationId xmlns:a16="http://schemas.microsoft.com/office/drawing/2014/main" id="{7F6EADA9-C4A4-4B85-8F85-DB9E32C26C56}"/>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Heart Sounds</a:t>
            </a:r>
            <a:endParaRPr sz="2800"/>
          </a:p>
        </p:txBody>
      </p:sp>
      <p:sp>
        <p:nvSpPr>
          <p:cNvPr id="4" name="Text 2">
            <a:extLst xmlns:a="http://schemas.openxmlformats.org/drawingml/2006/main">
              <a:ext uri="{FF2B5EF4-FFF2-40B4-BE49-F238E27FC236}">
                <a16:creationId xmlns:a16="http://schemas.microsoft.com/office/drawing/2014/main" id="{33659437-C17D-46F9-B666-031BEE9E2BB1}"/>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Valves closing make the sounds</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"Lub" = AV valves closing</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"Dup" = semilunar valves closing</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Heard at specific chest sites</a:t>
            </a:r>
            <a:endParaRPr sz="1500"/>
          </a:p>
        </p:txBody>
      </p:sp>
      <p:sp>
        <p:nvSpPr>
          <p:cNvPr id="5" name="Shape 3">
            <a:extLst xmlns:a="http://schemas.openxmlformats.org/drawingml/2006/main">
              <a:ext uri="{FF2B5EF4-FFF2-40B4-BE49-F238E27FC236}">
                <a16:creationId xmlns:a16="http://schemas.microsoft.com/office/drawing/2014/main" id="{8BDF1EBA-57CF-4065-8D32-D8156639E81D}"/>
              </a:ext>
            </a:extLst>
          </p:cNvPr>
          <p:cNvSpPr>
            <a:spLocks xmlns:a="http://schemas.openxmlformats.org/drawingml/2006/main" noGrp="1"/>
          </p:cNvSpPr>
          <p:nvPr/>
        </p:nvSpPr>
        <p:spPr>
          <a:xfrm xmlns:a="http://schemas.openxmlformats.org/drawingml/2006/main">
            <a:off x="5682022" y="1335024"/>
            <a:ext cx="5826676" cy="4645152"/>
          </a:xfrm>
          <a:prstGeom xmlns:a="http://schemas.openxmlformats.org/drawingml/2006/main" prst="roundRect">
            <a:avLst>
              <a:gd name="adj" fmla="val 118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156efd96ccde4b77"/>
          <a:stretch xmlns:a="http://schemas.openxmlformats.org/drawingml/2006/main">
            <a:fillRect l="0" t="0" r="0" b="0"/>
          </a:stretch>
        </p:blipFill>
        <p:spPr>
          <a:xfrm xmlns:a="http://schemas.openxmlformats.org/drawingml/2006/main">
            <a:off x="5764318" y="1417320"/>
            <a:ext cx="5662084" cy="448056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30F579B1-6D7A-4B04-8B89-07C5362CDE73}"/>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Auscultation points for heart sounds</a:t>
            </a:r>
            <a:endParaRPr sz="1100"/>
          </a:p>
        </p:txBody>
      </p:sp>
      <p:sp>
        <p:nvSpPr>
          <p:cNvPr id="9" name="Text 5">
            <a:extLst xmlns:a="http://schemas.openxmlformats.org/drawingml/2006/main">
              <a:ext uri="{FF2B5EF4-FFF2-40B4-BE49-F238E27FC236}">
                <a16:creationId xmlns:a16="http://schemas.microsoft.com/office/drawing/2014/main" id="{FC4FA905-7D15-49F0-BD95-5A387D6E38B7}"/>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19 — The Cardiovascular System: The Heart</a:t>
            </a:r>
            <a:endParaRPr sz="900"/>
          </a:p>
        </p:txBody>
      </p:sp>
      <p:sp>
        <p:nvSpPr>
          <p:cNvPr id="10" name="Text 6">
            <a:extLst xmlns:a="http://schemas.openxmlformats.org/drawingml/2006/main">
              <a:ext uri="{FF2B5EF4-FFF2-40B4-BE49-F238E27FC236}">
                <a16:creationId xmlns:a16="http://schemas.microsoft.com/office/drawing/2014/main" id="{C401C2D8-E73D-4A24-BC08-4D42CA120C58}"/>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17</a:t>
            </a:r>
            <a:endParaRPr sz="900"/>
          </a:p>
        </p:txBody>
      </p:sp>
    </p:spTree>
    <p:extLst>
      <p:ext uri="{BB962C8B-B14F-4D97-AF65-F5344CB8AC3E}">
        <p14:creationId xmlns:p14="http://schemas.microsoft.com/office/powerpoint/2010/main" val="445083245"/>
      </p:ext>
    </p:extLst>
  </p:cSld>
</p:sld>
</file>

<file path=ppt/slides/slide18.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025B20C-C364-4017-BCBA-D71D3E915DAA}"/>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49587397-1B85-4765-96D6-0278211F5504}"/>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400" b="1">
                <a:solidFill>
                  <a:srgbClr val="FFFFFF"/>
                </a:solidFill>
                <a:latin typeface="Georgia"/>
                <a:ea typeface="Georgia"/>
                <a:cs typeface="Georgia"/>
              </a:rPr>
              <a:t>19.4</a:t>
            </a:r>
            <a:endParaRPr sz="4400"/>
          </a:p>
        </p:txBody>
      </p:sp>
      <p:sp>
        <p:nvSpPr>
          <p:cNvPr id="4" name="Text 2">
            <a:extLst xmlns:a="http://schemas.openxmlformats.org/drawingml/2006/main">
              <a:ext uri="{FF2B5EF4-FFF2-40B4-BE49-F238E27FC236}">
                <a16:creationId xmlns:a16="http://schemas.microsoft.com/office/drawing/2014/main" id="{003827E5-EEDF-45E4-9CA4-046FFDC8DC76}"/>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endParaRPr sz="1400"/>
          </a:p>
        </p:txBody>
      </p:sp>
      <p:sp>
        <p:nvSpPr>
          <p:cNvPr id="5" name="Text 3">
            <a:extLst xmlns:a="http://schemas.openxmlformats.org/drawingml/2006/main">
              <a:ext uri="{FF2B5EF4-FFF2-40B4-BE49-F238E27FC236}">
                <a16:creationId xmlns:a16="http://schemas.microsoft.com/office/drawing/2014/main" id="{99C513C6-431C-4E2D-9835-6C9BA6C3C0A1}"/>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Cardiac Physiology</a:t>
            </a:r>
            <a:endParaRPr sz="3000"/>
          </a:p>
        </p:txBody>
      </p:sp>
      <p:sp>
        <p:nvSpPr>
          <p:cNvPr id="6" name="Text 4">
            <a:extLst xmlns:a="http://schemas.openxmlformats.org/drawingml/2006/main">
              <a:ext uri="{FF2B5EF4-FFF2-40B4-BE49-F238E27FC236}">
                <a16:creationId xmlns:a16="http://schemas.microsoft.com/office/drawing/2014/main" id="{59934AC9-8C6B-421F-9C48-78978100E95A}"/>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Cardiac output and how it is regulated.</a:t>
            </a:r>
            <a:endParaRPr sz="1500"/>
          </a:p>
        </p:txBody>
      </p:sp>
    </p:spTree>
    <p:extLst>
      <p:ext uri="{BB962C8B-B14F-4D97-AF65-F5344CB8AC3E}">
        <p14:creationId xmlns:p14="http://schemas.microsoft.com/office/powerpoint/2010/main" val="77040423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5C78A84-D08E-4C56-BFB8-A487F7C67713}"/>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19.4</a:t>
            </a:r>
            <a:endParaRPr sz="1200"/>
          </a:p>
        </p:txBody>
      </p:sp>
      <p:sp>
        <p:nvSpPr>
          <p:cNvPr id="3" name="Text 1">
            <a:extLst xmlns:a="http://schemas.openxmlformats.org/drawingml/2006/main">
              <a:ext uri="{FF2B5EF4-FFF2-40B4-BE49-F238E27FC236}">
                <a16:creationId xmlns:a16="http://schemas.microsoft.com/office/drawing/2014/main" id="{4438653E-D083-4C7A-B3F8-A727DF1B4466}"/>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Cardiac Output</a:t>
            </a:r>
            <a:endParaRPr sz="2800"/>
          </a:p>
        </p:txBody>
      </p:sp>
      <p:sp>
        <p:nvSpPr>
          <p:cNvPr id="4" name="Shape 2">
            <a:extLst xmlns:a="http://schemas.openxmlformats.org/drawingml/2006/main">
              <a:ext uri="{FF2B5EF4-FFF2-40B4-BE49-F238E27FC236}">
                <a16:creationId xmlns:a16="http://schemas.microsoft.com/office/drawing/2014/main" id="{27C30C23-F26A-4FFF-A60A-070401981EE8}"/>
              </a:ext>
            </a:extLst>
          </p:cNvPr>
          <p:cNvSpPr>
            <a:spLocks xmlns:a="http://schemas.openxmlformats.org/drawingml/2006/main" noGrp="1"/>
          </p:cNvSpPr>
          <p:nvPr/>
        </p:nvSpPr>
        <p:spPr>
          <a:xfrm xmlns:a="http://schemas.openxmlformats.org/drawingml/2006/main">
            <a:off x="2975110" y="1289304"/>
            <a:ext cx="6257020" cy="3730752"/>
          </a:xfrm>
          <a:prstGeom xmlns:a="http://schemas.openxmlformats.org/drawingml/2006/main" prst="roundRect">
            <a:avLst>
              <a:gd name="adj" fmla="val 147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053921a9d2904847"/>
          <a:stretch xmlns:a="http://schemas.openxmlformats.org/drawingml/2006/main">
            <a:fillRect l="0" t="0" r="0" b="0"/>
          </a:stretch>
        </p:blipFill>
        <p:spPr>
          <a:xfrm xmlns:a="http://schemas.openxmlformats.org/drawingml/2006/main">
            <a:off x="3057406" y="1371600"/>
            <a:ext cx="6092428" cy="356616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592C5F58-B0D1-49F2-B109-DFE15E03F2A0}"/>
              </a:ext>
            </a:extLst>
          </p:cNvPr>
          <p:cNvSpPr>
            <a:spLocks xmlns:a="http://schemas.openxmlformats.org/drawingml/2006/main" noGrp="1"/>
          </p:cNvSpPr>
          <p:nvPr/>
        </p:nvSpPr>
        <p:spPr>
          <a:xfrm xmlns:a="http://schemas.openxmlformats.org/drawingml/2006/main">
            <a:off x="640080" y="4983480"/>
            <a:ext cx="109270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Cardiac output: heart rate and stroke volume</a:t>
            </a:r>
            <a:endParaRPr sz="1100"/>
          </a:p>
        </p:txBody>
      </p:sp>
      <p:sp>
        <p:nvSpPr>
          <p:cNvPr id="7" name="Text 4">
            <a:extLst xmlns:a="http://schemas.openxmlformats.org/drawingml/2006/main">
              <a:ext uri="{FF2B5EF4-FFF2-40B4-BE49-F238E27FC236}">
                <a16:creationId xmlns:a16="http://schemas.microsoft.com/office/drawing/2014/main" id="{F31A42AE-4D33-4DC1-9357-4A1ACAA8DABD}"/>
              </a:ext>
            </a:extLst>
          </p:cNvPr>
          <p:cNvSpPr>
            <a:spLocks xmlns:a="http://schemas.openxmlformats.org/drawingml/2006/main" noGrp="1"/>
          </p:cNvSpPr>
          <p:nvPr/>
        </p:nvSpPr>
        <p:spPr>
          <a:xfrm xmlns:a="http://schemas.openxmlformats.org/drawingml/2006/main">
            <a:off x="73152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Output = heart rate × stroke volume</a:t>
            </a:r>
            <a:endParaRPr sz="1300"/>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Stroke volume = blood per beat</a:t>
            </a:r>
            <a:endParaRPr sz="1300"/>
          </a:p>
        </p:txBody>
      </p:sp>
      <p:sp>
        <p:nvSpPr>
          <p:cNvPr id="8" name="Text 5">
            <a:extLst xmlns:a="http://schemas.openxmlformats.org/drawingml/2006/main">
              <a:ext uri="{FF2B5EF4-FFF2-40B4-BE49-F238E27FC236}">
                <a16:creationId xmlns:a16="http://schemas.microsoft.com/office/drawing/2014/main" id="{D325CED2-F318-41B6-AAB8-A883CDEFCD47}"/>
              </a:ext>
            </a:extLst>
          </p:cNvPr>
          <p:cNvSpPr>
            <a:spLocks xmlns:a="http://schemas.openxmlformats.org/drawingml/2006/main" noGrp="1"/>
          </p:cNvSpPr>
          <p:nvPr/>
        </p:nvSpPr>
        <p:spPr>
          <a:xfrm xmlns:a="http://schemas.openxmlformats.org/drawingml/2006/main">
            <a:off x="626364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About 5 liters per minute at rest</a:t>
            </a:r>
            <a:endParaRPr sz="1300"/>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Rises with exercise and demand</a:t>
            </a:r>
            <a:endParaRPr sz="1300"/>
          </a:p>
        </p:txBody>
      </p:sp>
      <p:sp>
        <p:nvSpPr>
          <p:cNvPr id="10" name="Text 6">
            <a:extLst xmlns:a="http://schemas.openxmlformats.org/drawingml/2006/main">
              <a:ext uri="{FF2B5EF4-FFF2-40B4-BE49-F238E27FC236}">
                <a16:creationId xmlns:a16="http://schemas.microsoft.com/office/drawing/2014/main" id="{F0FE4B84-1A5C-46AB-BB51-948C7472E43B}"/>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19 — The Cardiovascular System: The Heart</a:t>
            </a:r>
            <a:endParaRPr sz="900"/>
          </a:p>
        </p:txBody>
      </p:sp>
      <p:sp>
        <p:nvSpPr>
          <p:cNvPr id="11" name="Text 7">
            <a:extLst xmlns:a="http://schemas.openxmlformats.org/drawingml/2006/main">
              <a:ext uri="{FF2B5EF4-FFF2-40B4-BE49-F238E27FC236}">
                <a16:creationId xmlns:a16="http://schemas.microsoft.com/office/drawing/2014/main" id="{1D239A1E-E0B8-4495-BFB0-EF7331991686}"/>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19</a:t>
            </a:r>
            <a:endParaRPr sz="900"/>
          </a:p>
        </p:txBody>
      </p:sp>
    </p:spTree>
    <p:extLst>
      <p:ext uri="{BB962C8B-B14F-4D97-AF65-F5344CB8AC3E}">
        <p14:creationId xmlns:p14="http://schemas.microsoft.com/office/powerpoint/2010/main" val="7475133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775AF40-99FF-4C86-BC1F-9EFE309720AD}"/>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19.4</a:t>
            </a:r>
            <a:endParaRPr sz="1200"/>
          </a:p>
        </p:txBody>
      </p:sp>
      <p:sp>
        <p:nvSpPr>
          <p:cNvPr id="3" name="Text 1">
            <a:extLst xmlns:a="http://schemas.openxmlformats.org/drawingml/2006/main">
              <a:ext uri="{FF2B5EF4-FFF2-40B4-BE49-F238E27FC236}">
                <a16:creationId xmlns:a16="http://schemas.microsoft.com/office/drawing/2014/main" id="{8DBAEA10-88A2-407D-A1A0-18622244E75F}"/>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Autonomic Control of the Heart</a:t>
            </a:r>
            <a:endParaRPr sz="2800"/>
          </a:p>
        </p:txBody>
      </p:sp>
      <p:sp>
        <p:nvSpPr>
          <p:cNvPr id="4" name="Shape 2">
            <a:extLst xmlns:a="http://schemas.openxmlformats.org/drawingml/2006/main">
              <a:ext uri="{FF2B5EF4-FFF2-40B4-BE49-F238E27FC236}">
                <a16:creationId xmlns:a16="http://schemas.microsoft.com/office/drawing/2014/main" id="{98600328-739D-4577-9898-23E8777B346E}"/>
              </a:ext>
            </a:extLst>
          </p:cNvPr>
          <p:cNvSpPr>
            <a:spLocks xmlns:a="http://schemas.openxmlformats.org/drawingml/2006/main" noGrp="1"/>
          </p:cNvSpPr>
          <p:nvPr/>
        </p:nvSpPr>
        <p:spPr>
          <a:xfrm xmlns:a="http://schemas.openxmlformats.org/drawingml/2006/main">
            <a:off x="1356284" y="1289304"/>
            <a:ext cx="2590952" cy="4736592"/>
          </a:xfrm>
          <a:prstGeom xmlns:a="http://schemas.openxmlformats.org/drawingml/2006/main" prst="roundRect">
            <a:avLst>
              <a:gd name="adj" fmla="val 2118"/>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f104a74849884c4f"/>
          <a:stretch xmlns:a="http://schemas.openxmlformats.org/drawingml/2006/main">
            <a:fillRect l="0" t="0" r="0" b="0"/>
          </a:stretch>
        </p:blipFill>
        <p:spPr>
          <a:xfrm xmlns:a="http://schemas.openxmlformats.org/drawingml/2006/main">
            <a:off x="1438580" y="1371600"/>
            <a:ext cx="2426360" cy="45720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28E951B9-5BC2-4B95-B23B-99DFD358938C}"/>
              </a:ext>
            </a:extLst>
          </p:cNvPr>
          <p:cNvSpPr>
            <a:spLocks xmlns:a="http://schemas.openxmlformats.org/drawingml/2006/main" noGrp="1"/>
          </p:cNvSpPr>
          <p:nvPr/>
        </p:nvSpPr>
        <p:spPr>
          <a:xfrm xmlns:a="http://schemas.openxmlformats.org/drawingml/2006/main">
            <a:off x="502920" y="5989320"/>
            <a:ext cx="4297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Autonomic control of the heart</a:t>
            </a:r>
            <a:endParaRPr sz="1100"/>
          </a:p>
        </p:txBody>
      </p:sp>
      <p:sp>
        <p:nvSpPr>
          <p:cNvPr id="7" name="Text 4">
            <a:extLst xmlns:a="http://schemas.openxmlformats.org/drawingml/2006/main">
              <a:ext uri="{FF2B5EF4-FFF2-40B4-BE49-F238E27FC236}">
                <a16:creationId xmlns:a16="http://schemas.microsoft.com/office/drawing/2014/main" id="{F7E83083-871D-4292-810C-21F4918E4000}"/>
              </a:ext>
            </a:extLst>
          </p:cNvPr>
          <p:cNvSpPr>
            <a:spLocks xmlns:a="http://schemas.openxmlformats.org/drawingml/2006/main" noGrp="1"/>
          </p:cNvSpPr>
          <p:nvPr/>
        </p:nvSpPr>
        <p:spPr>
          <a:xfrm xmlns:a="http://schemas.openxmlformats.org/drawingml/2006/main">
            <a:off x="5074920" y="1828800"/>
            <a:ext cx="658368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The brain adjusts heart rate</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Sympathetic input speeds it up</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The vagus nerve slows it down</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Matches output to demand</a:t>
            </a:r>
            <a:endParaRPr sz="1600"/>
          </a:p>
        </p:txBody>
      </p:sp>
      <p:sp>
        <p:nvSpPr>
          <p:cNvPr id="9" name="Text 5">
            <a:extLst xmlns:a="http://schemas.openxmlformats.org/drawingml/2006/main">
              <a:ext uri="{FF2B5EF4-FFF2-40B4-BE49-F238E27FC236}">
                <a16:creationId xmlns:a16="http://schemas.microsoft.com/office/drawing/2014/main" id="{FC21F94C-32F6-41A4-96AE-B1F4C8DD4CDC}"/>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19 — The Cardiovascular System: The Heart</a:t>
            </a:r>
            <a:endParaRPr sz="900"/>
          </a:p>
        </p:txBody>
      </p:sp>
      <p:sp>
        <p:nvSpPr>
          <p:cNvPr id="10" name="Text 6">
            <a:extLst xmlns:a="http://schemas.openxmlformats.org/drawingml/2006/main">
              <a:ext uri="{FF2B5EF4-FFF2-40B4-BE49-F238E27FC236}">
                <a16:creationId xmlns:a16="http://schemas.microsoft.com/office/drawing/2014/main" id="{967129F2-7547-4F5B-A41F-CEE6F42C7604}"/>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20</a:t>
            </a:r>
            <a:endParaRPr sz="900"/>
          </a:p>
        </p:txBody>
      </p:sp>
    </p:spTree>
    <p:extLst>
      <p:ext uri="{BB962C8B-B14F-4D97-AF65-F5344CB8AC3E}">
        <p14:creationId xmlns:p14="http://schemas.microsoft.com/office/powerpoint/2010/main" val="298948208"/>
      </p:ext>
    </p:extLst>
  </p:cSld>
</p:sld>
</file>

<file path=ppt/slides/slide21.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C6F8570-6652-4332-BF0C-2C9C930707F8}"/>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638CA7CF-8B80-4884-8865-B645B47ABE28}"/>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400" b="1">
                <a:solidFill>
                  <a:srgbClr val="FFFFFF"/>
                </a:solidFill>
                <a:latin typeface="Georgia"/>
                <a:ea typeface="Georgia"/>
                <a:cs typeface="Georgia"/>
              </a:rPr>
              <a:t>19.5</a:t>
            </a:r>
            <a:endParaRPr sz="4400"/>
          </a:p>
        </p:txBody>
      </p:sp>
      <p:sp>
        <p:nvSpPr>
          <p:cNvPr id="4" name="Text 2">
            <a:extLst xmlns:a="http://schemas.openxmlformats.org/drawingml/2006/main">
              <a:ext uri="{FF2B5EF4-FFF2-40B4-BE49-F238E27FC236}">
                <a16:creationId xmlns:a16="http://schemas.microsoft.com/office/drawing/2014/main" id="{9568DD0B-A352-476C-BA79-D9B8F969F69E}"/>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endParaRPr sz="1400"/>
          </a:p>
        </p:txBody>
      </p:sp>
      <p:sp>
        <p:nvSpPr>
          <p:cNvPr id="5" name="Text 3">
            <a:extLst xmlns:a="http://schemas.openxmlformats.org/drawingml/2006/main">
              <a:ext uri="{FF2B5EF4-FFF2-40B4-BE49-F238E27FC236}">
                <a16:creationId xmlns:a16="http://schemas.microsoft.com/office/drawing/2014/main" id="{E440B52D-256D-4330-8AC3-99450AB4B248}"/>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Development of the Heart</a:t>
            </a:r>
            <a:endParaRPr sz="3000"/>
          </a:p>
        </p:txBody>
      </p:sp>
      <p:sp>
        <p:nvSpPr>
          <p:cNvPr id="6" name="Text 4">
            <a:extLst xmlns:a="http://schemas.openxmlformats.org/drawingml/2006/main">
              <a:ext uri="{FF2B5EF4-FFF2-40B4-BE49-F238E27FC236}">
                <a16:creationId xmlns:a16="http://schemas.microsoft.com/office/drawing/2014/main" id="{80973A91-1343-4B8B-A297-2A76833D99A4}"/>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How the heart develops before birth.</a:t>
            </a:r>
            <a:endParaRPr sz="1500"/>
          </a:p>
        </p:txBody>
      </p:sp>
    </p:spTree>
    <p:extLst>
      <p:ext uri="{BB962C8B-B14F-4D97-AF65-F5344CB8AC3E}">
        <p14:creationId xmlns:p14="http://schemas.microsoft.com/office/powerpoint/2010/main" val="78123531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A9C14FE-5CFB-42F5-909E-3FF890440EDB}"/>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19.5</a:t>
            </a:r>
            <a:endParaRPr sz="1200"/>
          </a:p>
        </p:txBody>
      </p:sp>
      <p:sp>
        <p:nvSpPr>
          <p:cNvPr id="3" name="Text 1">
            <a:extLst xmlns:a="http://schemas.openxmlformats.org/drawingml/2006/main">
              <a:ext uri="{FF2B5EF4-FFF2-40B4-BE49-F238E27FC236}">
                <a16:creationId xmlns:a16="http://schemas.microsoft.com/office/drawing/2014/main" id="{28392480-CB9A-40C0-9D5B-D59F92DC8994}"/>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Development of the Heart</a:t>
            </a:r>
            <a:endParaRPr sz="2800"/>
          </a:p>
        </p:txBody>
      </p:sp>
      <p:sp>
        <p:nvSpPr>
          <p:cNvPr id="4" name="Text 2">
            <a:extLst xmlns:a="http://schemas.openxmlformats.org/drawingml/2006/main">
              <a:ext uri="{FF2B5EF4-FFF2-40B4-BE49-F238E27FC236}">
                <a16:creationId xmlns:a16="http://schemas.microsoft.com/office/drawing/2014/main" id="{88234C66-469E-4CDD-9F6F-1E4AD1BE5BCC}"/>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The first organ to function</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Begins as a simple tube</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Folds and divides into four chambers</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Defects can occur in the process</a:t>
            </a:r>
            <a:endParaRPr sz="1500"/>
          </a:p>
        </p:txBody>
      </p:sp>
      <p:sp>
        <p:nvSpPr>
          <p:cNvPr id="5" name="Shape 3">
            <a:extLst xmlns:a="http://schemas.openxmlformats.org/drawingml/2006/main">
              <a:ext uri="{FF2B5EF4-FFF2-40B4-BE49-F238E27FC236}">
                <a16:creationId xmlns:a16="http://schemas.microsoft.com/office/drawing/2014/main" id="{2C4397BD-E020-4287-AFD6-0B756DBA84CC}"/>
              </a:ext>
            </a:extLst>
          </p:cNvPr>
          <p:cNvSpPr>
            <a:spLocks xmlns:a="http://schemas.openxmlformats.org/drawingml/2006/main" noGrp="1"/>
          </p:cNvSpPr>
          <p:nvPr/>
        </p:nvSpPr>
        <p:spPr>
          <a:xfrm xmlns:a="http://schemas.openxmlformats.org/drawingml/2006/main">
            <a:off x="5912099" y="1335024"/>
            <a:ext cx="5366522" cy="4645152"/>
          </a:xfrm>
          <a:prstGeom xmlns:a="http://schemas.openxmlformats.org/drawingml/2006/main" prst="roundRect">
            <a:avLst>
              <a:gd name="adj" fmla="val 118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73b76613ef3b4d79"/>
          <a:stretch xmlns:a="http://schemas.openxmlformats.org/drawingml/2006/main">
            <a:fillRect l="0" t="0" r="0" b="0"/>
          </a:stretch>
        </p:blipFill>
        <p:spPr>
          <a:xfrm xmlns:a="http://schemas.openxmlformats.org/drawingml/2006/main">
            <a:off x="5994395" y="1417320"/>
            <a:ext cx="5201930" cy="448056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A330A485-F939-4F5C-BD2F-43688F0591B2}"/>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Development of the heart</a:t>
            </a:r>
            <a:endParaRPr sz="1100"/>
          </a:p>
        </p:txBody>
      </p:sp>
      <p:sp>
        <p:nvSpPr>
          <p:cNvPr id="9" name="Text 5">
            <a:extLst xmlns:a="http://schemas.openxmlformats.org/drawingml/2006/main">
              <a:ext uri="{FF2B5EF4-FFF2-40B4-BE49-F238E27FC236}">
                <a16:creationId xmlns:a16="http://schemas.microsoft.com/office/drawing/2014/main" id="{2A4032D9-894D-4C6D-9379-96E8141C7463}"/>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19 — The Cardiovascular System: The Heart</a:t>
            </a:r>
            <a:endParaRPr sz="900"/>
          </a:p>
        </p:txBody>
      </p:sp>
      <p:sp>
        <p:nvSpPr>
          <p:cNvPr id="10" name="Text 6">
            <a:extLst xmlns:a="http://schemas.openxmlformats.org/drawingml/2006/main">
              <a:ext uri="{FF2B5EF4-FFF2-40B4-BE49-F238E27FC236}">
                <a16:creationId xmlns:a16="http://schemas.microsoft.com/office/drawing/2014/main" id="{1BB9BA99-4E66-4E29-AF03-B1B3BB09814F}"/>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22</a:t>
            </a:r>
            <a:endParaRPr sz="900"/>
          </a:p>
        </p:txBody>
      </p:sp>
    </p:spTree>
    <p:extLst>
      <p:ext uri="{BB962C8B-B14F-4D97-AF65-F5344CB8AC3E}">
        <p14:creationId xmlns:p14="http://schemas.microsoft.com/office/powerpoint/2010/main" val="167527365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A2305E6-98EC-4C30-A976-7584455E5EDF}"/>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CHAPTER 19</a:t>
            </a:r>
            <a:endParaRPr sz="1200"/>
          </a:p>
        </p:txBody>
      </p:sp>
      <p:sp>
        <p:nvSpPr>
          <p:cNvPr id="3" name="Text 1">
            <a:extLst xmlns:a="http://schemas.openxmlformats.org/drawingml/2006/main">
              <a:ext uri="{FF2B5EF4-FFF2-40B4-BE49-F238E27FC236}">
                <a16:creationId xmlns:a16="http://schemas.microsoft.com/office/drawing/2014/main" id="{6CF8AED7-4F15-4D2A-BBD2-34B800B8E286}"/>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Key Takeaways</a:t>
            </a:r>
            <a:endParaRPr sz="2800"/>
          </a:p>
        </p:txBody>
      </p:sp>
      <p:sp>
        <p:nvSpPr>
          <p:cNvPr id="4" name="Shape 2">
            <a:extLst xmlns:a="http://schemas.openxmlformats.org/drawingml/2006/main">
              <a:ext uri="{FF2B5EF4-FFF2-40B4-BE49-F238E27FC236}">
                <a16:creationId xmlns:a16="http://schemas.microsoft.com/office/drawing/2014/main" id="{3E956E77-5C8F-43D9-AECE-71AC56E1AC7D}"/>
              </a:ext>
            </a:extLst>
          </p:cNvPr>
          <p:cNvSpPr>
            <a:spLocks xmlns:a="http://schemas.openxmlformats.org/drawingml/2006/main" noGrp="1"/>
          </p:cNvSpPr>
          <p:nvPr/>
        </p:nvSpPr>
        <p:spPr>
          <a:xfrm xmlns:a="http://schemas.openxmlformats.org/drawingml/2006/main">
            <a:off x="548640" y="1819656"/>
            <a:ext cx="237744" cy="237744"/>
          </a:xfrm>
          <a:prstGeom xmlns:a="http://schemas.openxmlformats.org/drawingml/2006/main" prst="ellipse">
            <a:avLst/>
          </a:prstGeom>
          <a:solidFill xmlns:a="http://schemas.openxmlformats.org/drawingml/2006/main">
            <a:srgbClr val="E36414"/>
          </a:solidFill>
        </p:spPr>
      </p:sp>
      <p:sp>
        <p:nvSpPr>
          <p:cNvPr id="5" name="Text 3">
            <a:extLst xmlns:a="http://schemas.openxmlformats.org/drawingml/2006/main">
              <a:ext uri="{FF2B5EF4-FFF2-40B4-BE49-F238E27FC236}">
                <a16:creationId xmlns:a16="http://schemas.microsoft.com/office/drawing/2014/main" id="{C46F16B8-3E90-41AD-9C3A-691AED29C9BC}"/>
              </a:ext>
            </a:extLst>
          </p:cNvPr>
          <p:cNvSpPr>
            <a:spLocks xmlns:a="http://schemas.openxmlformats.org/drawingml/2006/main" noGrp="1"/>
          </p:cNvSpPr>
          <p:nvPr/>
        </p:nvSpPr>
        <p:spPr>
          <a:xfrm xmlns:a="http://schemas.openxmlformats.org/drawingml/2006/main">
            <a:off x="960120" y="1737360"/>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The heart is a double pump driving the pulmonary and systemic circuits.</a:t>
            </a:r>
            <a:endParaRPr sz="1550"/>
          </a:p>
        </p:txBody>
      </p:sp>
      <p:sp>
        <p:nvSpPr>
          <p:cNvPr id="6" name="Shape 4">
            <a:extLst xmlns:a="http://schemas.openxmlformats.org/drawingml/2006/main">
              <a:ext uri="{FF2B5EF4-FFF2-40B4-BE49-F238E27FC236}">
                <a16:creationId xmlns:a16="http://schemas.microsoft.com/office/drawing/2014/main" id="{B02F059C-FE25-4F81-AC6A-E66536FB238C}"/>
              </a:ext>
            </a:extLst>
          </p:cNvPr>
          <p:cNvSpPr>
            <a:spLocks xmlns:a="http://schemas.openxmlformats.org/drawingml/2006/main" noGrp="1"/>
          </p:cNvSpPr>
          <p:nvPr/>
        </p:nvSpPr>
        <p:spPr>
          <a:xfrm xmlns:a="http://schemas.openxmlformats.org/drawingml/2006/main">
            <a:off x="548640" y="2606040"/>
            <a:ext cx="237744" cy="237744"/>
          </a:xfrm>
          <a:prstGeom xmlns:a="http://schemas.openxmlformats.org/drawingml/2006/main" prst="ellipse">
            <a:avLst/>
          </a:prstGeom>
          <a:solidFill xmlns:a="http://schemas.openxmlformats.org/drawingml/2006/main">
            <a:srgbClr val="E36414"/>
          </a:solidFill>
        </p:spPr>
      </p:sp>
      <p:sp>
        <p:nvSpPr>
          <p:cNvPr id="7" name="Text 5">
            <a:extLst xmlns:a="http://schemas.openxmlformats.org/drawingml/2006/main">
              <a:ext uri="{FF2B5EF4-FFF2-40B4-BE49-F238E27FC236}">
                <a16:creationId xmlns:a16="http://schemas.microsoft.com/office/drawing/2014/main" id="{DCF28A1C-4601-4BF2-B3DD-FFCD7683A633}"/>
              </a:ext>
            </a:extLst>
          </p:cNvPr>
          <p:cNvSpPr>
            <a:spLocks xmlns:a="http://schemas.openxmlformats.org/drawingml/2006/main" noGrp="1"/>
          </p:cNvSpPr>
          <p:nvPr/>
        </p:nvSpPr>
        <p:spPr>
          <a:xfrm xmlns:a="http://schemas.openxmlformats.org/drawingml/2006/main">
            <a:off x="960120" y="2523744"/>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Four chambers and four valves keep blood flowing in one direction.</a:t>
            </a:r>
            <a:endParaRPr sz="1550"/>
          </a:p>
        </p:txBody>
      </p:sp>
      <p:sp>
        <p:nvSpPr>
          <p:cNvPr id="8" name="Shape 6">
            <a:extLst xmlns:a="http://schemas.openxmlformats.org/drawingml/2006/main">
              <a:ext uri="{FF2B5EF4-FFF2-40B4-BE49-F238E27FC236}">
                <a16:creationId xmlns:a16="http://schemas.microsoft.com/office/drawing/2014/main" id="{2BB4D256-F351-4784-B1B4-73E35F5F4BE5}"/>
              </a:ext>
            </a:extLst>
          </p:cNvPr>
          <p:cNvSpPr>
            <a:spLocks xmlns:a="http://schemas.openxmlformats.org/drawingml/2006/main" noGrp="1"/>
          </p:cNvSpPr>
          <p:nvPr/>
        </p:nvSpPr>
        <p:spPr>
          <a:xfrm xmlns:a="http://schemas.openxmlformats.org/drawingml/2006/main">
            <a:off x="548640" y="3392424"/>
            <a:ext cx="237744" cy="237744"/>
          </a:xfrm>
          <a:prstGeom xmlns:a="http://schemas.openxmlformats.org/drawingml/2006/main" prst="ellipse">
            <a:avLst/>
          </a:prstGeom>
          <a:solidFill xmlns:a="http://schemas.openxmlformats.org/drawingml/2006/main">
            <a:srgbClr val="E36414"/>
          </a:solidFill>
        </p:spPr>
      </p:sp>
      <p:sp>
        <p:nvSpPr>
          <p:cNvPr id="9" name="Text 7">
            <a:extLst xmlns:a="http://schemas.openxmlformats.org/drawingml/2006/main">
              <a:ext uri="{FF2B5EF4-FFF2-40B4-BE49-F238E27FC236}">
                <a16:creationId xmlns:a16="http://schemas.microsoft.com/office/drawing/2014/main" id="{6B8931D7-7871-4C31-A369-D83CF60E21C6}"/>
              </a:ext>
            </a:extLst>
          </p:cNvPr>
          <p:cNvSpPr>
            <a:spLocks xmlns:a="http://schemas.openxmlformats.org/drawingml/2006/main" noGrp="1"/>
          </p:cNvSpPr>
          <p:nvPr/>
        </p:nvSpPr>
        <p:spPr>
          <a:xfrm xmlns:a="http://schemas.openxmlformats.org/drawingml/2006/main">
            <a:off x="960120" y="3310128"/>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Cardiac muscle and the conduction system generate a coordinated, automatic heartbeat.</a:t>
            </a:r>
            <a:endParaRPr sz="1550"/>
          </a:p>
        </p:txBody>
      </p:sp>
      <p:sp>
        <p:nvSpPr>
          <p:cNvPr id="10" name="Shape 8">
            <a:extLst xmlns:a="http://schemas.openxmlformats.org/drawingml/2006/main">
              <a:ext uri="{FF2B5EF4-FFF2-40B4-BE49-F238E27FC236}">
                <a16:creationId xmlns:a16="http://schemas.microsoft.com/office/drawing/2014/main" id="{82AA6B63-E3BA-4606-ADF2-7A6C04AC935D}"/>
              </a:ext>
            </a:extLst>
          </p:cNvPr>
          <p:cNvSpPr>
            <a:spLocks xmlns:a="http://schemas.openxmlformats.org/drawingml/2006/main" noGrp="1"/>
          </p:cNvSpPr>
          <p:nvPr/>
        </p:nvSpPr>
        <p:spPr>
          <a:xfrm xmlns:a="http://schemas.openxmlformats.org/drawingml/2006/main">
            <a:off x="548640" y="4178808"/>
            <a:ext cx="237744" cy="237744"/>
          </a:xfrm>
          <a:prstGeom xmlns:a="http://schemas.openxmlformats.org/drawingml/2006/main" prst="ellipse">
            <a:avLst/>
          </a:prstGeom>
          <a:solidFill xmlns:a="http://schemas.openxmlformats.org/drawingml/2006/main">
            <a:srgbClr val="E36414"/>
          </a:solidFill>
        </p:spPr>
      </p:sp>
      <p:sp>
        <p:nvSpPr>
          <p:cNvPr id="11" name="Text 9">
            <a:extLst xmlns:a="http://schemas.openxmlformats.org/drawingml/2006/main">
              <a:ext uri="{FF2B5EF4-FFF2-40B4-BE49-F238E27FC236}">
                <a16:creationId xmlns:a16="http://schemas.microsoft.com/office/drawing/2014/main" id="{87EF548D-4527-450B-9AFE-10B682D6D750}"/>
              </a:ext>
            </a:extLst>
          </p:cNvPr>
          <p:cNvSpPr>
            <a:spLocks xmlns:a="http://schemas.openxmlformats.org/drawingml/2006/main" noGrp="1"/>
          </p:cNvSpPr>
          <p:nvPr/>
        </p:nvSpPr>
        <p:spPr>
          <a:xfrm xmlns:a="http://schemas.openxmlformats.org/drawingml/2006/main">
            <a:off x="960120" y="4096512"/>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The ECG records the heart's electrical activity and reveals arrhythmias.</a:t>
            </a:r>
            <a:endParaRPr sz="1550"/>
          </a:p>
        </p:txBody>
      </p:sp>
      <p:sp>
        <p:nvSpPr>
          <p:cNvPr id="12" name="Shape 10">
            <a:extLst xmlns:a="http://schemas.openxmlformats.org/drawingml/2006/main">
              <a:ext uri="{FF2B5EF4-FFF2-40B4-BE49-F238E27FC236}">
                <a16:creationId xmlns:a16="http://schemas.microsoft.com/office/drawing/2014/main" id="{8FA5A7F0-BB28-430A-9FE8-6E5175117DF8}"/>
              </a:ext>
            </a:extLst>
          </p:cNvPr>
          <p:cNvSpPr>
            <a:spLocks xmlns:a="http://schemas.openxmlformats.org/drawingml/2006/main" noGrp="1"/>
          </p:cNvSpPr>
          <p:nvPr/>
        </p:nvSpPr>
        <p:spPr>
          <a:xfrm xmlns:a="http://schemas.openxmlformats.org/drawingml/2006/main">
            <a:off x="548640" y="4965192"/>
            <a:ext cx="237744" cy="237744"/>
          </a:xfrm>
          <a:prstGeom xmlns:a="http://schemas.openxmlformats.org/drawingml/2006/main" prst="ellipse">
            <a:avLst/>
          </a:prstGeom>
          <a:solidFill xmlns:a="http://schemas.openxmlformats.org/drawingml/2006/main">
            <a:srgbClr val="E36414"/>
          </a:solidFill>
        </p:spPr>
      </p:sp>
      <p:sp>
        <p:nvSpPr>
          <p:cNvPr id="13" name="Text 11">
            <a:extLst xmlns:a="http://schemas.openxmlformats.org/drawingml/2006/main">
              <a:ext uri="{FF2B5EF4-FFF2-40B4-BE49-F238E27FC236}">
                <a16:creationId xmlns:a16="http://schemas.microsoft.com/office/drawing/2014/main" id="{4539A02D-649B-4632-9F6E-EA42D9A1756C}"/>
              </a:ext>
            </a:extLst>
          </p:cNvPr>
          <p:cNvSpPr>
            <a:spLocks xmlns:a="http://schemas.openxmlformats.org/drawingml/2006/main" noGrp="1"/>
          </p:cNvSpPr>
          <p:nvPr/>
        </p:nvSpPr>
        <p:spPr>
          <a:xfrm xmlns:a="http://schemas.openxmlformats.org/drawingml/2006/main">
            <a:off x="960120" y="4882896"/>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Cardiac output (rate × stroke volume) is tuned by the autonomic nervous system.</a:t>
            </a:r>
            <a:endParaRPr sz="1550"/>
          </a:p>
        </p:txBody>
      </p:sp>
      <p:sp>
        <p:nvSpPr>
          <p:cNvPr id="14" name="Text 12">
            <a:extLst xmlns:a="http://schemas.openxmlformats.org/drawingml/2006/main">
              <a:ext uri="{FF2B5EF4-FFF2-40B4-BE49-F238E27FC236}">
                <a16:creationId xmlns:a16="http://schemas.microsoft.com/office/drawing/2014/main" id="{D34A4C56-DBF0-45DA-97CA-BA00999B4918}"/>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19 — The Cardiovascular System: The Heart</a:t>
            </a:r>
            <a:endParaRPr sz="900"/>
          </a:p>
        </p:txBody>
      </p:sp>
      <p:sp>
        <p:nvSpPr>
          <p:cNvPr id="15" name="Text 13">
            <a:extLst xmlns:a="http://schemas.openxmlformats.org/drawingml/2006/main">
              <a:ext uri="{FF2B5EF4-FFF2-40B4-BE49-F238E27FC236}">
                <a16:creationId xmlns:a16="http://schemas.microsoft.com/office/drawing/2014/main" id="{4D12F9E8-74AC-4BFD-AE95-AE8DE91CE35E}"/>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23</a:t>
            </a:r>
            <a:endParaRPr sz="900"/>
          </a:p>
        </p:txBody>
      </p:sp>
    </p:spTree>
    <p:extLst>
      <p:ext uri="{BB962C8B-B14F-4D97-AF65-F5344CB8AC3E}">
        <p14:creationId xmlns:p14="http://schemas.microsoft.com/office/powerpoint/2010/main" val="684503754"/>
      </p:ext>
    </p:extLst>
  </p:cSld>
</p:sld>
</file>

<file path=ppt/slides/slide24.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C4EF61F-11DD-4C08-AFCD-58A976EA16C4}"/>
              </a:ext>
            </a:extLst>
          </p:cNvPr>
          <p:cNvSpPr>
            <a:spLocks xmlns:a="http://schemas.openxmlformats.org/drawingml/2006/main" noGrp="1"/>
          </p:cNvSpPr>
          <p:nvPr/>
        </p:nvSpPr>
        <p:spPr>
          <a:xfrm xmlns:a="http://schemas.openxmlformats.org/drawingml/2006/main">
            <a:off x="548640" y="502920"/>
            <a:ext cx="100584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E36414"/>
                </a:solidFill>
                <a:latin typeface="Calibri"/>
                <a:ea typeface="Calibri"/>
                <a:cs typeface="Calibri"/>
              </a:rPr>
              <a:t>CLINICAL CONNECTIONS</a:t>
            </a:r>
            <a:endParaRPr sz="1300"/>
          </a:p>
        </p:txBody>
      </p:sp>
      <p:sp>
        <p:nvSpPr>
          <p:cNvPr id="3" name="Text 1">
            <a:extLst xmlns:a="http://schemas.openxmlformats.org/drawingml/2006/main">
              <a:ext uri="{FF2B5EF4-FFF2-40B4-BE49-F238E27FC236}">
                <a16:creationId xmlns:a16="http://schemas.microsoft.com/office/drawing/2014/main" id="{87D9CABC-62E6-4AC7-917E-4F6CCD03C03D}"/>
              </a:ext>
            </a:extLst>
          </p:cNvPr>
          <p:cNvSpPr>
            <a:spLocks xmlns:a="http://schemas.openxmlformats.org/drawingml/2006/main" noGrp="1"/>
          </p:cNvSpPr>
          <p:nvPr/>
        </p:nvSpPr>
        <p:spPr>
          <a:xfrm xmlns:a="http://schemas.openxmlformats.org/drawingml/2006/main">
            <a:off x="530352" y="841248"/>
            <a:ext cx="1097280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500" b="1">
                <a:solidFill>
                  <a:srgbClr val="FFFFFF"/>
                </a:solidFill>
                <a:latin typeface="Georgia"/>
                <a:ea typeface="Georgia"/>
                <a:cs typeface="Georgia"/>
              </a:rPr>
              <a:t>Why the Heart Matters in Practical Nursing</a:t>
            </a:r>
            <a:endParaRPr sz="2500"/>
          </a:p>
        </p:txBody>
      </p:sp>
      <p:sp>
        <p:nvSpPr>
          <p:cNvPr id="4" name="Shape 2">
            <a:extLst xmlns:a="http://schemas.openxmlformats.org/drawingml/2006/main">
              <a:ext uri="{FF2B5EF4-FFF2-40B4-BE49-F238E27FC236}">
                <a16:creationId xmlns:a16="http://schemas.microsoft.com/office/drawing/2014/main" id="{4B8C84C3-13A4-470F-94B7-2945CF7F85B6}"/>
              </a:ext>
            </a:extLst>
          </p:cNvPr>
          <p:cNvSpPr>
            <a:spLocks xmlns:a="http://schemas.openxmlformats.org/drawingml/2006/main" noGrp="1"/>
          </p:cNvSpPr>
          <p:nvPr/>
        </p:nvSpPr>
        <p:spPr>
          <a:xfrm xmlns:a="http://schemas.openxmlformats.org/drawingml/2006/main">
            <a:off x="548640" y="1783080"/>
            <a:ext cx="5440680" cy="1389888"/>
          </a:xfrm>
          <a:prstGeom xmlns:a="http://schemas.openxmlformats.org/drawingml/2006/main" prst="roundRect">
            <a:avLst>
              <a:gd name="adj" fmla="val 5263"/>
            </a:avLst>
          </a:prstGeom>
          <a:solidFill xmlns:a="http://schemas.openxmlformats.org/drawingml/2006/main">
            <a:srgbClr val="13586A"/>
          </a:solidFill>
          <a:ln xmlns:a="http://schemas.openxmlformats.org/drawingml/2006/main" w="12700">
            <a:solidFill>
              <a:srgbClr val="2A7A8C"/>
            </a:solidFill>
            <a:prstDash val="solid"/>
          </a:ln>
        </p:spPr>
      </p:sp>
      <p:sp>
        <p:nvSpPr>
          <p:cNvPr id="5" name="Text 3">
            <a:extLst xmlns:a="http://schemas.openxmlformats.org/drawingml/2006/main">
              <a:ext uri="{FF2B5EF4-FFF2-40B4-BE49-F238E27FC236}">
                <a16:creationId xmlns:a16="http://schemas.microsoft.com/office/drawing/2014/main" id="{7A447295-A208-4354-954C-904CC7ECF1D4}"/>
              </a:ext>
            </a:extLst>
          </p:cNvPr>
          <p:cNvSpPr>
            <a:spLocks xmlns:a="http://schemas.openxmlformats.org/drawingml/2006/main" noGrp="1"/>
          </p:cNvSpPr>
          <p:nvPr/>
        </p:nvSpPr>
        <p:spPr>
          <a:xfrm xmlns:a="http://schemas.openxmlformats.org/drawingml/2006/main">
            <a:off x="777240" y="1911096"/>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Heart Attack</a:t>
            </a:r>
            <a:endParaRPr sz="1600"/>
          </a:p>
        </p:txBody>
      </p:sp>
      <p:sp>
        <p:nvSpPr>
          <p:cNvPr id="6" name="Text 4">
            <a:extLst xmlns:a="http://schemas.openxmlformats.org/drawingml/2006/main">
              <a:ext uri="{FF2B5EF4-FFF2-40B4-BE49-F238E27FC236}">
                <a16:creationId xmlns:a16="http://schemas.microsoft.com/office/drawing/2014/main" id="{4A3C7CC2-654F-42F0-8EC0-D7C4B995E02E}"/>
              </a:ext>
            </a:extLst>
          </p:cNvPr>
          <p:cNvSpPr>
            <a:spLocks xmlns:a="http://schemas.openxmlformats.org/drawingml/2006/main" noGrp="1"/>
          </p:cNvSpPr>
          <p:nvPr/>
        </p:nvSpPr>
        <p:spPr>
          <a:xfrm xmlns:a="http://schemas.openxmlformats.org/drawingml/2006/main">
            <a:off x="777240" y="228600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A blocked coronary artery starves the myocardium of oxygen.</a:t>
            </a:r>
            <a:endParaRPr sz="1250"/>
          </a:p>
        </p:txBody>
      </p:sp>
      <p:sp>
        <p:nvSpPr>
          <p:cNvPr id="7" name="Shape 5">
            <a:extLst xmlns:a="http://schemas.openxmlformats.org/drawingml/2006/main">
              <a:ext uri="{FF2B5EF4-FFF2-40B4-BE49-F238E27FC236}">
                <a16:creationId xmlns:a16="http://schemas.microsoft.com/office/drawing/2014/main" id="{8C3CA9DE-5B0E-4342-B78B-4B05CAE33C2F}"/>
              </a:ext>
            </a:extLst>
          </p:cNvPr>
          <p:cNvSpPr>
            <a:spLocks xmlns:a="http://schemas.openxmlformats.org/drawingml/2006/main" noGrp="1"/>
          </p:cNvSpPr>
          <p:nvPr/>
        </p:nvSpPr>
        <p:spPr>
          <a:xfrm xmlns:a="http://schemas.openxmlformats.org/drawingml/2006/main">
            <a:off x="6172200" y="1783080"/>
            <a:ext cx="5440680" cy="1389888"/>
          </a:xfrm>
          <a:prstGeom xmlns:a="http://schemas.openxmlformats.org/drawingml/2006/main" prst="roundRect">
            <a:avLst>
              <a:gd name="adj" fmla="val 5263"/>
            </a:avLst>
          </a:prstGeom>
          <a:solidFill xmlns:a="http://schemas.openxmlformats.org/drawingml/2006/main">
            <a:srgbClr val="13586A"/>
          </a:solidFill>
          <a:ln xmlns:a="http://schemas.openxmlformats.org/drawingml/2006/main" w="12700">
            <a:solidFill>
              <a:srgbClr val="2A7A8C"/>
            </a:solidFill>
            <a:prstDash val="solid"/>
          </a:ln>
        </p:spPr>
      </p:sp>
      <p:sp>
        <p:nvSpPr>
          <p:cNvPr id="8" name="Text 6">
            <a:extLst xmlns:a="http://schemas.openxmlformats.org/drawingml/2006/main">
              <a:ext uri="{FF2B5EF4-FFF2-40B4-BE49-F238E27FC236}">
                <a16:creationId xmlns:a16="http://schemas.microsoft.com/office/drawing/2014/main" id="{6F79C670-7129-407E-88AC-B3798C1881F7}"/>
              </a:ext>
            </a:extLst>
          </p:cNvPr>
          <p:cNvSpPr>
            <a:spLocks xmlns:a="http://schemas.openxmlformats.org/drawingml/2006/main" noGrp="1"/>
          </p:cNvSpPr>
          <p:nvPr/>
        </p:nvSpPr>
        <p:spPr>
          <a:xfrm xmlns:a="http://schemas.openxmlformats.org/drawingml/2006/main">
            <a:off x="6400800" y="1911096"/>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Heart Failure</a:t>
            </a:r>
            <a:endParaRPr sz="1600"/>
          </a:p>
        </p:txBody>
      </p:sp>
      <p:sp>
        <p:nvSpPr>
          <p:cNvPr id="9" name="Text 7">
            <a:extLst xmlns:a="http://schemas.openxmlformats.org/drawingml/2006/main">
              <a:ext uri="{FF2B5EF4-FFF2-40B4-BE49-F238E27FC236}">
                <a16:creationId xmlns:a16="http://schemas.microsoft.com/office/drawing/2014/main" id="{82E06689-2487-4CEB-AF59-1276835C5315}"/>
              </a:ext>
            </a:extLst>
          </p:cNvPr>
          <p:cNvSpPr>
            <a:spLocks xmlns:a="http://schemas.openxmlformats.org/drawingml/2006/main" noGrp="1"/>
          </p:cNvSpPr>
          <p:nvPr/>
        </p:nvSpPr>
        <p:spPr>
          <a:xfrm xmlns:a="http://schemas.openxmlformats.org/drawingml/2006/main">
            <a:off x="6400800" y="228600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A weakened pump can't meet the body's demands.</a:t>
            </a:r>
            <a:endParaRPr sz="1250"/>
          </a:p>
        </p:txBody>
      </p:sp>
      <p:sp>
        <p:nvSpPr>
          <p:cNvPr id="10" name="Shape 8">
            <a:extLst xmlns:a="http://schemas.openxmlformats.org/drawingml/2006/main">
              <a:ext uri="{FF2B5EF4-FFF2-40B4-BE49-F238E27FC236}">
                <a16:creationId xmlns:a16="http://schemas.microsoft.com/office/drawing/2014/main" id="{F611BB9E-661E-4F33-81F0-45E8EEAD97DA}"/>
              </a:ext>
            </a:extLst>
          </p:cNvPr>
          <p:cNvSpPr>
            <a:spLocks xmlns:a="http://schemas.openxmlformats.org/drawingml/2006/main" noGrp="1"/>
          </p:cNvSpPr>
          <p:nvPr/>
        </p:nvSpPr>
        <p:spPr>
          <a:xfrm xmlns:a="http://schemas.openxmlformats.org/drawingml/2006/main">
            <a:off x="548640" y="3337560"/>
            <a:ext cx="5440680" cy="1389888"/>
          </a:xfrm>
          <a:prstGeom xmlns:a="http://schemas.openxmlformats.org/drawingml/2006/main" prst="roundRect">
            <a:avLst>
              <a:gd name="adj" fmla="val 5263"/>
            </a:avLst>
          </a:prstGeom>
          <a:solidFill xmlns:a="http://schemas.openxmlformats.org/drawingml/2006/main">
            <a:srgbClr val="13586A"/>
          </a:solidFill>
          <a:ln xmlns:a="http://schemas.openxmlformats.org/drawingml/2006/main" w="12700">
            <a:solidFill>
              <a:srgbClr val="2A7A8C"/>
            </a:solidFill>
            <a:prstDash val="solid"/>
          </a:ln>
        </p:spPr>
      </p:sp>
      <p:sp>
        <p:nvSpPr>
          <p:cNvPr id="11" name="Text 9">
            <a:extLst xmlns:a="http://schemas.openxmlformats.org/drawingml/2006/main">
              <a:ext uri="{FF2B5EF4-FFF2-40B4-BE49-F238E27FC236}">
                <a16:creationId xmlns:a16="http://schemas.microsoft.com/office/drawing/2014/main" id="{9813D3E1-05EB-454C-8C79-3A8B4698543F}"/>
              </a:ext>
            </a:extLst>
          </p:cNvPr>
          <p:cNvSpPr>
            <a:spLocks xmlns:a="http://schemas.openxmlformats.org/drawingml/2006/main" noGrp="1"/>
          </p:cNvSpPr>
          <p:nvPr/>
        </p:nvSpPr>
        <p:spPr>
          <a:xfrm xmlns:a="http://schemas.openxmlformats.org/drawingml/2006/main">
            <a:off x="777240" y="3465576"/>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Arrhythmias</a:t>
            </a:r>
            <a:endParaRPr sz="1600"/>
          </a:p>
        </p:txBody>
      </p:sp>
      <p:sp>
        <p:nvSpPr>
          <p:cNvPr id="12" name="Text 10">
            <a:extLst xmlns:a="http://schemas.openxmlformats.org/drawingml/2006/main">
              <a:ext uri="{FF2B5EF4-FFF2-40B4-BE49-F238E27FC236}">
                <a16:creationId xmlns:a16="http://schemas.microsoft.com/office/drawing/2014/main" id="{5F7B31BB-A90F-424C-8C38-12E5CA534A42}"/>
              </a:ext>
            </a:extLst>
          </p:cNvPr>
          <p:cNvSpPr>
            <a:spLocks xmlns:a="http://schemas.openxmlformats.org/drawingml/2006/main" noGrp="1"/>
          </p:cNvSpPr>
          <p:nvPr/>
        </p:nvSpPr>
        <p:spPr>
          <a:xfrm xmlns:a="http://schemas.openxmlformats.org/drawingml/2006/main">
            <a:off x="777240" y="384048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Abnormal rhythms range from harmless to lethal.</a:t>
            </a:r>
            <a:endParaRPr sz="1250"/>
          </a:p>
        </p:txBody>
      </p:sp>
      <p:sp>
        <p:nvSpPr>
          <p:cNvPr id="13" name="Shape 11">
            <a:extLst xmlns:a="http://schemas.openxmlformats.org/drawingml/2006/main">
              <a:ext uri="{FF2B5EF4-FFF2-40B4-BE49-F238E27FC236}">
                <a16:creationId xmlns:a16="http://schemas.microsoft.com/office/drawing/2014/main" id="{3CF98D95-8E65-4176-B241-351277CC0B31}"/>
              </a:ext>
            </a:extLst>
          </p:cNvPr>
          <p:cNvSpPr>
            <a:spLocks xmlns:a="http://schemas.openxmlformats.org/drawingml/2006/main" noGrp="1"/>
          </p:cNvSpPr>
          <p:nvPr/>
        </p:nvSpPr>
        <p:spPr>
          <a:xfrm xmlns:a="http://schemas.openxmlformats.org/drawingml/2006/main">
            <a:off x="6172200" y="3337560"/>
            <a:ext cx="5440680" cy="1389888"/>
          </a:xfrm>
          <a:prstGeom xmlns:a="http://schemas.openxmlformats.org/drawingml/2006/main" prst="roundRect">
            <a:avLst>
              <a:gd name="adj" fmla="val 5263"/>
            </a:avLst>
          </a:prstGeom>
          <a:solidFill xmlns:a="http://schemas.openxmlformats.org/drawingml/2006/main">
            <a:srgbClr val="13586A"/>
          </a:solidFill>
          <a:ln xmlns:a="http://schemas.openxmlformats.org/drawingml/2006/main" w="12700">
            <a:solidFill>
              <a:srgbClr val="2A7A8C"/>
            </a:solidFill>
            <a:prstDash val="solid"/>
          </a:ln>
        </p:spPr>
      </p:sp>
      <p:sp>
        <p:nvSpPr>
          <p:cNvPr id="14" name="Text 12">
            <a:extLst xmlns:a="http://schemas.openxmlformats.org/drawingml/2006/main">
              <a:ext uri="{FF2B5EF4-FFF2-40B4-BE49-F238E27FC236}">
                <a16:creationId xmlns:a16="http://schemas.microsoft.com/office/drawing/2014/main" id="{C95C82A5-3BEF-48A4-8E2D-64F27066B988}"/>
              </a:ext>
            </a:extLst>
          </p:cNvPr>
          <p:cNvSpPr>
            <a:spLocks xmlns:a="http://schemas.openxmlformats.org/drawingml/2006/main" noGrp="1"/>
          </p:cNvSpPr>
          <p:nvPr/>
        </p:nvSpPr>
        <p:spPr>
          <a:xfrm xmlns:a="http://schemas.openxmlformats.org/drawingml/2006/main">
            <a:off x="6400800" y="3465576"/>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Heart Murmurs</a:t>
            </a:r>
            <a:endParaRPr sz="1600"/>
          </a:p>
        </p:txBody>
      </p:sp>
      <p:sp>
        <p:nvSpPr>
          <p:cNvPr id="15" name="Text 13">
            <a:extLst xmlns:a="http://schemas.openxmlformats.org/drawingml/2006/main">
              <a:ext uri="{FF2B5EF4-FFF2-40B4-BE49-F238E27FC236}">
                <a16:creationId xmlns:a16="http://schemas.microsoft.com/office/drawing/2014/main" id="{4CACEF9E-C2D2-4DEB-9222-83D4F45CE6B2}"/>
              </a:ext>
            </a:extLst>
          </p:cNvPr>
          <p:cNvSpPr>
            <a:spLocks xmlns:a="http://schemas.openxmlformats.org/drawingml/2006/main" noGrp="1"/>
          </p:cNvSpPr>
          <p:nvPr/>
        </p:nvSpPr>
        <p:spPr>
          <a:xfrm xmlns:a="http://schemas.openxmlformats.org/drawingml/2006/main">
            <a:off x="6400800" y="384048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Faulty valves produce abnormal heart sounds.</a:t>
            </a:r>
            <a:endParaRPr sz="1250"/>
          </a:p>
        </p:txBody>
      </p:sp>
      <p:sp>
        <p:nvSpPr>
          <p:cNvPr id="16" name="Shape 14">
            <a:extLst xmlns:a="http://schemas.openxmlformats.org/drawingml/2006/main">
              <a:ext uri="{FF2B5EF4-FFF2-40B4-BE49-F238E27FC236}">
                <a16:creationId xmlns:a16="http://schemas.microsoft.com/office/drawing/2014/main" id="{B82E64CD-2CD5-46D3-8B1A-039496BF84F3}"/>
              </a:ext>
            </a:extLst>
          </p:cNvPr>
          <p:cNvSpPr>
            <a:spLocks xmlns:a="http://schemas.openxmlformats.org/drawingml/2006/main" noGrp="1"/>
          </p:cNvSpPr>
          <p:nvPr/>
        </p:nvSpPr>
        <p:spPr>
          <a:xfrm xmlns:a="http://schemas.openxmlformats.org/drawingml/2006/main">
            <a:off x="548640" y="4892040"/>
            <a:ext cx="5440680" cy="1389888"/>
          </a:xfrm>
          <a:prstGeom xmlns:a="http://schemas.openxmlformats.org/drawingml/2006/main" prst="roundRect">
            <a:avLst>
              <a:gd name="adj" fmla="val 5263"/>
            </a:avLst>
          </a:prstGeom>
          <a:solidFill xmlns:a="http://schemas.openxmlformats.org/drawingml/2006/main">
            <a:srgbClr val="13586A"/>
          </a:solidFill>
          <a:ln xmlns:a="http://schemas.openxmlformats.org/drawingml/2006/main" w="12700">
            <a:solidFill>
              <a:srgbClr val="2A7A8C"/>
            </a:solidFill>
            <a:prstDash val="solid"/>
          </a:ln>
        </p:spPr>
      </p:sp>
      <p:sp>
        <p:nvSpPr>
          <p:cNvPr id="17" name="Text 15">
            <a:extLst xmlns:a="http://schemas.openxmlformats.org/drawingml/2006/main">
              <a:ext uri="{FF2B5EF4-FFF2-40B4-BE49-F238E27FC236}">
                <a16:creationId xmlns:a16="http://schemas.microsoft.com/office/drawing/2014/main" id="{DFF654CC-1A02-48E7-AFB5-9EFEB1555BAA}"/>
              </a:ext>
            </a:extLst>
          </p:cNvPr>
          <p:cNvSpPr>
            <a:spLocks xmlns:a="http://schemas.openxmlformats.org/drawingml/2006/main" noGrp="1"/>
          </p:cNvSpPr>
          <p:nvPr/>
        </p:nvSpPr>
        <p:spPr>
          <a:xfrm xmlns:a="http://schemas.openxmlformats.org/drawingml/2006/main">
            <a:off x="777240" y="5020056"/>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ECG Monitoring</a:t>
            </a:r>
            <a:endParaRPr sz="1600"/>
          </a:p>
        </p:txBody>
      </p:sp>
      <p:sp>
        <p:nvSpPr>
          <p:cNvPr id="18" name="Text 16">
            <a:extLst xmlns:a="http://schemas.openxmlformats.org/drawingml/2006/main">
              <a:ext uri="{FF2B5EF4-FFF2-40B4-BE49-F238E27FC236}">
                <a16:creationId xmlns:a16="http://schemas.microsoft.com/office/drawing/2014/main" id="{B0D09A65-D9E1-45F5-9495-5E8EE1CDDFC8}"/>
              </a:ext>
            </a:extLst>
          </p:cNvPr>
          <p:cNvSpPr>
            <a:spLocks xmlns:a="http://schemas.openxmlformats.org/drawingml/2006/main" noGrp="1"/>
          </p:cNvSpPr>
          <p:nvPr/>
        </p:nvSpPr>
        <p:spPr>
          <a:xfrm xmlns:a="http://schemas.openxmlformats.org/drawingml/2006/main">
            <a:off x="777240" y="539496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A core tool for assessing cardiac patients.</a:t>
            </a:r>
            <a:endParaRPr sz="1250"/>
          </a:p>
        </p:txBody>
      </p:sp>
      <p:sp>
        <p:nvSpPr>
          <p:cNvPr id="19" name="Shape 17">
            <a:extLst xmlns:a="http://schemas.openxmlformats.org/drawingml/2006/main">
              <a:ext uri="{FF2B5EF4-FFF2-40B4-BE49-F238E27FC236}">
                <a16:creationId xmlns:a16="http://schemas.microsoft.com/office/drawing/2014/main" id="{2868A0D1-D775-467F-B203-E9715CE6CBFC}"/>
              </a:ext>
            </a:extLst>
          </p:cNvPr>
          <p:cNvSpPr>
            <a:spLocks xmlns:a="http://schemas.openxmlformats.org/drawingml/2006/main" noGrp="1"/>
          </p:cNvSpPr>
          <p:nvPr/>
        </p:nvSpPr>
        <p:spPr>
          <a:xfrm xmlns:a="http://schemas.openxmlformats.org/drawingml/2006/main">
            <a:off x="6172200" y="4892040"/>
            <a:ext cx="5440680" cy="1389888"/>
          </a:xfrm>
          <a:prstGeom xmlns:a="http://schemas.openxmlformats.org/drawingml/2006/main" prst="roundRect">
            <a:avLst>
              <a:gd name="adj" fmla="val 5263"/>
            </a:avLst>
          </a:prstGeom>
          <a:solidFill xmlns:a="http://schemas.openxmlformats.org/drawingml/2006/main">
            <a:srgbClr val="13586A"/>
          </a:solidFill>
          <a:ln xmlns:a="http://schemas.openxmlformats.org/drawingml/2006/main" w="12700">
            <a:solidFill>
              <a:srgbClr val="2A7A8C"/>
            </a:solidFill>
            <a:prstDash val="solid"/>
          </a:ln>
        </p:spPr>
      </p:sp>
      <p:sp>
        <p:nvSpPr>
          <p:cNvPr id="20" name="Text 18">
            <a:extLst xmlns:a="http://schemas.openxmlformats.org/drawingml/2006/main">
              <a:ext uri="{FF2B5EF4-FFF2-40B4-BE49-F238E27FC236}">
                <a16:creationId xmlns:a16="http://schemas.microsoft.com/office/drawing/2014/main" id="{72567966-4652-4EC0-BB17-612616B4F8B6}"/>
              </a:ext>
            </a:extLst>
          </p:cNvPr>
          <p:cNvSpPr>
            <a:spLocks xmlns:a="http://schemas.openxmlformats.org/drawingml/2006/main" noGrp="1"/>
          </p:cNvSpPr>
          <p:nvPr/>
        </p:nvSpPr>
        <p:spPr>
          <a:xfrm xmlns:a="http://schemas.openxmlformats.org/drawingml/2006/main">
            <a:off x="6400800" y="5020056"/>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Vital Signs</a:t>
            </a:r>
            <a:endParaRPr sz="1600"/>
          </a:p>
        </p:txBody>
      </p:sp>
      <p:sp>
        <p:nvSpPr>
          <p:cNvPr id="21" name="Text 19">
            <a:extLst xmlns:a="http://schemas.openxmlformats.org/drawingml/2006/main">
              <a:ext uri="{FF2B5EF4-FFF2-40B4-BE49-F238E27FC236}">
                <a16:creationId xmlns:a16="http://schemas.microsoft.com/office/drawing/2014/main" id="{78173A63-7768-4416-A9AF-282572BF737D}"/>
              </a:ext>
            </a:extLst>
          </p:cNvPr>
          <p:cNvSpPr>
            <a:spLocks xmlns:a="http://schemas.openxmlformats.org/drawingml/2006/main" noGrp="1"/>
          </p:cNvSpPr>
          <p:nvPr/>
        </p:nvSpPr>
        <p:spPr>
          <a:xfrm xmlns:a="http://schemas.openxmlformats.org/drawingml/2006/main">
            <a:off x="6400800" y="539496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Pulse reflects heart rate, rhythm, and strength.</a:t>
            </a:r>
            <a:endParaRPr sz="1250"/>
          </a:p>
        </p:txBody>
      </p:sp>
    </p:spTree>
    <p:extLst>
      <p:ext uri="{BB962C8B-B14F-4D97-AF65-F5344CB8AC3E}">
        <p14:creationId xmlns:p14="http://schemas.microsoft.com/office/powerpoint/2010/main" val="713033154"/>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2026-08-11T13:00:14.2530000Z</dcterms:created>
  <dcterms:modified xsi:type="dcterms:W3CDTF">2026-08-11T13:00:14.2530000Z</dcterms:modified>
</coreProperties>
</file>