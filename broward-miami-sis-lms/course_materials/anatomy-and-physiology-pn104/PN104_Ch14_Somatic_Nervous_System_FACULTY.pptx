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somatic nervous system as a sensory-to-motor circuit: how receptors detect stimuli (general and special senses), how the CNS processes that information into perception, and how the brain sends commands out to produce voluntary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Sensation begins when receptors detect a stimulus and transduce it into a nerve signal. The general senses use free nerve endings (pain, temperature) and encapsulated endings (touch, pressure, vibration) spread through the skin and body. Receptors are also classed by stimulus type — mechano-, thermo-, photo-, chemo-, and nociceptors.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Taste (gustation) is a chemical sense. Taste buds, mostly on the tongue's papillae, contain receptor cells that detect dissolved molecules and signal five basic qualities — sweet, sour, salty, bitter, and umami. Taste works closely with smell to create flavor.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Smell (olfaction) is also a chemical sense. Olfactory receptor neurons high in the nasal cavity bind airborne odor molecules and send signals through the olfactory nerve to the brain. Uniquely, smell connects directly to memory and emotion centers, which is why odors can trigger vivid memories.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 converts sound waves to nerve signals. The outer ear funnels sound to the eardrum; the middle ear ossicles amplify the vibration; and in the inner ear, the fluid-filled cochlea stimulates hair cells that fire the auditory nerve. The inner ear's vestibular apparatus also provides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 begins as the cornea and lens focus light onto the retina, with the iris adjusting the pupil. Photoreceptors in the retina — rods (dim light) and cones (color and detail) — transduce light into signals carried by the optic nerve to the brain. Refractive errors and cataracts are common vision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Sensory information ascends the spinal cord in defined tracts — the dorsal column (fine touch, position) and spinothalamic (pain, temperature) — crossing to the opposite side and relaying through the thalamus to the sensory cortex. Because pathways cross, one side of the brain perceives the opposite side of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Signals from each eye travel along the optic nerves to the optic chiasm, where the inner (nasal) fibers cross. Reorganized into optic tracts, they relay through the thalamus to the occipital visual cortex. This crossing is why damage at different points produces characteristic visual-field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sensory cortex maps the body surface in an orderly strip — the sensory homunculus. The amount of cortex devoted to each region reflects its sensitivity, not its size, so the hands, lips, and face occupy large areas while the trunk and legs occupy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Voluntary movement begins in the motor cortex, where upper motor neurons send commands down the corticospinal tract. The fibers cross in the brainstem, so each hemisphere controls the opposite side of the body, then synapse on lower motor neurons that directly drive the muscles. Damage to upper versus lower motor neurons produces distinct patterns of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14</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Somatic Nervous System</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Sensation, central processing, and voluntary movement.</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5126"/>
            <a:ext cx="4096512" cy="1970628"/>
          </a:xfrm>
          <a:prstGeom prst="roundRect">
            <a:avLst>
              <a:gd name="adj" fmla="val 2784"/>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14/img/img01.jpg">    </p:cNvPr>
          <p:cNvPicPr>
            <a:picLocks noChangeAspect="1"/>
          </p:cNvPicPr>
          <p:nvPr/>
        </p:nvPicPr>
        <p:blipFill>
          <a:blip r:embed="rId1"/>
          <a:stretch>
            <a:fillRect/>
          </a:stretch>
        </p:blipFill>
        <p:spPr>
          <a:xfrm>
            <a:off x="7818120" y="2617422"/>
            <a:ext cx="3931920" cy="18060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components of the somatic nervous system</a:t>
            </a:r>
            <a:endParaRPr lang="en-US" sz="1400" dirty="0"/>
          </a:p>
        </p:txBody>
      </p:sp>
      <p:sp>
        <p:nvSpPr>
          <p:cNvPr id="8" name="Shape 6"/>
          <p:cNvSpPr/>
          <p:nvPr/>
        </p:nvSpPr>
        <p:spPr>
          <a:xfrm>
            <a:off x="548640" y="2450592"/>
            <a:ext cx="384048" cy="384048"/>
          </a:xfrm>
          <a:prstGeom prst="ellipse">
            <a:avLst/>
          </a:prstGeom>
          <a:solidFill>
            <a:srgbClr val="0F4C5C"/>
          </a:solidFill>
          <a:ln/>
        </p:spPr>
      </p:sp>
      <p:sp>
        <p:nvSpPr>
          <p:cNvPr id="9" name="Text 7"/>
          <p:cNvSpPr/>
          <p:nvPr/>
        </p:nvSpPr>
        <p:spPr>
          <a:xfrm>
            <a:off x="548640" y="245059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32304"/>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Name the modalities and submodalities of the sensory systems</a:t>
            </a:r>
            <a:endParaRPr lang="en-US" sz="1400" dirty="0"/>
          </a:p>
        </p:txBody>
      </p:sp>
      <p:sp>
        <p:nvSpPr>
          <p:cNvPr id="11" name="Shape 9"/>
          <p:cNvSpPr/>
          <p:nvPr/>
        </p:nvSpPr>
        <p:spPr>
          <a:xfrm>
            <a:off x="548640" y="3236976"/>
            <a:ext cx="384048" cy="384048"/>
          </a:xfrm>
          <a:prstGeom prst="ellipse">
            <a:avLst/>
          </a:prstGeom>
          <a:solidFill>
            <a:srgbClr val="0F4C5C"/>
          </a:solidFill>
          <a:ln/>
        </p:spPr>
      </p:sp>
      <p:sp>
        <p:nvSpPr>
          <p:cNvPr id="12" name="Text 10"/>
          <p:cNvSpPr/>
          <p:nvPr/>
        </p:nvSpPr>
        <p:spPr>
          <a:xfrm>
            <a:off x="548640" y="323697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218688"/>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Distinguish between general and special senses</a:t>
            </a:r>
            <a:endParaRPr lang="en-US" sz="1400" dirty="0"/>
          </a:p>
        </p:txBody>
      </p:sp>
      <p:sp>
        <p:nvSpPr>
          <p:cNvPr id="14" name="Shape 12"/>
          <p:cNvSpPr/>
          <p:nvPr/>
        </p:nvSpPr>
        <p:spPr>
          <a:xfrm>
            <a:off x="548640" y="4023360"/>
            <a:ext cx="384048" cy="384048"/>
          </a:xfrm>
          <a:prstGeom prst="ellipse">
            <a:avLst/>
          </a:prstGeom>
          <a:solidFill>
            <a:srgbClr val="0F4C5C"/>
          </a:solidFill>
          <a:ln/>
        </p:spPr>
      </p:sp>
      <p:sp>
        <p:nvSpPr>
          <p:cNvPr id="15" name="Text 13"/>
          <p:cNvSpPr/>
          <p:nvPr/>
        </p:nvSpPr>
        <p:spPr>
          <a:xfrm>
            <a:off x="548640" y="402336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005072"/>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regions of the central nervous system that contribute to somatic functions</a:t>
            </a:r>
            <a:endParaRPr lang="en-US" sz="1400" dirty="0"/>
          </a:p>
        </p:txBody>
      </p:sp>
      <p:sp>
        <p:nvSpPr>
          <p:cNvPr id="17" name="Shape 15"/>
          <p:cNvSpPr/>
          <p:nvPr/>
        </p:nvSpPr>
        <p:spPr>
          <a:xfrm>
            <a:off x="7415784" y="2605293"/>
            <a:ext cx="4370832" cy="2250917"/>
          </a:xfrm>
          <a:prstGeom prst="roundRect">
            <a:avLst>
              <a:gd name="adj" fmla="val 243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18" name="Image 0" descr="/home/claude/all/ch14/img/img02.jpg">    </p:cNvPr>
          <p:cNvPicPr>
            <a:picLocks noChangeAspect="1"/>
          </p:cNvPicPr>
          <p:nvPr/>
        </p:nvPicPr>
        <p:blipFill>
          <a:blip r:embed="rId1"/>
          <a:stretch>
            <a:fillRect/>
          </a:stretch>
        </p:blipFill>
        <p:spPr>
          <a:xfrm>
            <a:off x="7498080" y="2687589"/>
            <a:ext cx="4206240" cy="2086325"/>
          </a:xfrm>
          <a:prstGeom prst="rect">
            <a:avLst/>
          </a:prstGeom>
        </p:spPr>
      </p:pic>
      <p:sp>
        <p:nvSpPr>
          <p:cNvPr id="19" name="Text 16"/>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Sensory receptors detect stimuli from the world and the body.</a:t>
            </a:r>
            <a:endParaRPr lang="en-US" sz="1100" dirty="0"/>
          </a:p>
        </p:txBody>
      </p:sp>
      <p:sp>
        <p:nvSpPr>
          <p:cNvPr id="21" name="Text 17"/>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14 — The Somatic Nervous System</a:t>
            </a:r>
            <a:endParaRPr lang="en-US" sz="900" dirty="0"/>
          </a:p>
        </p:txBody>
      </p:sp>
      <p:sp>
        <p:nvSpPr>
          <p:cNvPr id="22" name="Text 18"/>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14.1</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Sensory Perception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receptors detect stimuli — the general and special senses.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14.1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Sensory Receptors</a:t>
            </a:r>
            <a:endParaRPr lang="en-US" sz="2800" dirty="0"/>
          </a:p>
        </p:txBody>
      </p:sp>
      <p:sp>
        <p:nvSpPr>
          <p:cNvPr id="4" name="Shape 2"/>
          <p:cNvSpPr/>
          <p:nvPr/>
        </p:nvSpPr>
        <p:spPr>
          <a:xfrm>
            <a:off x="2426456" y="1289304"/>
            <a:ext cx="7354327"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4/img/img02.jpg">    </p:cNvPr>
          <p:cNvPicPr>
            <a:picLocks noChangeAspect="1"/>
          </p:cNvPicPr>
          <p:nvPr/>
        </p:nvPicPr>
        <p:blipFill>
          <a:blip r:embed="rId1"/>
          <a:stretch>
            <a:fillRect/>
          </a:stretch>
        </p:blipFill>
        <p:spPr>
          <a:xfrm>
            <a:off x="2508752" y="1371600"/>
            <a:ext cx="7189735"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Types of sensory receptors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Receptors detect stimuli</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Convert them to nerve signals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Respond to touch, temperature, pain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Free and encapsulated endings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14 — The Somatic Nervous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14.1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Taste (Gustation)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Taste buds detect dissolved chemicals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Located on tongue papillae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Five basic tastes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chemical (chemoreceptor) sense</a:t>
            </a:r>
            <a:endParaRPr lang="en-US" sz="1500" dirty="0"/>
          </a:p>
        </p:txBody>
      </p:sp>
      <p:sp>
        <p:nvSpPr>
          <p:cNvPr id="5" name="Shape 3"/>
          <p:cNvSpPr/>
          <p:nvPr/>
        </p:nvSpPr>
        <p:spPr>
          <a:xfrm>
            <a:off x="5848251" y="1335024"/>
            <a:ext cx="549421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4/img/img03.jpg">    </p:cNvPr>
          <p:cNvPicPr>
            <a:picLocks noChangeAspect="1"/>
          </p:cNvPicPr>
          <p:nvPr/>
        </p:nvPicPr>
        <p:blipFill>
          <a:blip r:embed="rId1"/>
          <a:stretch>
            <a:fillRect/>
          </a:stretch>
        </p:blipFill>
        <p:spPr>
          <a:xfrm>
            <a:off x="5930547" y="1417320"/>
            <a:ext cx="532962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Taste buds and the sense of taste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14 — The Somatic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14.1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Smell (Olfaction)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Olfactory receptors in the nasal cavity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Detect airborne chemicals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Signal travels to the brain directly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Strongly tied to memory</a:t>
            </a:r>
            <a:endParaRPr lang="en-US" sz="1500" dirty="0"/>
          </a:p>
        </p:txBody>
      </p:sp>
      <p:sp>
        <p:nvSpPr>
          <p:cNvPr id="5" name="Shape 3"/>
          <p:cNvSpPr/>
          <p:nvPr/>
        </p:nvSpPr>
        <p:spPr>
          <a:xfrm>
            <a:off x="6322070" y="1335024"/>
            <a:ext cx="4546580" cy="4645152"/>
          </a:xfrm>
          <a:prstGeom prst="roundRect">
            <a:avLst>
              <a:gd name="adj" fmla="val 120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4/img/img04.jpg">    </p:cNvPr>
          <p:cNvPicPr>
            <a:picLocks noChangeAspect="1"/>
          </p:cNvPicPr>
          <p:nvPr/>
        </p:nvPicPr>
        <p:blipFill>
          <a:blip r:embed="rId1"/>
          <a:stretch>
            <a:fillRect/>
          </a:stretch>
        </p:blipFill>
        <p:spPr>
          <a:xfrm>
            <a:off x="6404366" y="1417320"/>
            <a:ext cx="4381988"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olfactory system</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14 — The Somatic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14.1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Hearing — The Ear</a:t>
            </a:r>
            <a:endParaRPr lang="en-US" sz="2800" dirty="0"/>
          </a:p>
        </p:txBody>
      </p:sp>
      <p:sp>
        <p:nvSpPr>
          <p:cNvPr id="4" name="Shape 2"/>
          <p:cNvSpPr/>
          <p:nvPr/>
        </p:nvSpPr>
        <p:spPr>
          <a:xfrm>
            <a:off x="3228842" y="1289304"/>
            <a:ext cx="574955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4/img/img05.jpg">    </p:cNvPr>
          <p:cNvPicPr>
            <a:picLocks noChangeAspect="1"/>
          </p:cNvPicPr>
          <p:nvPr/>
        </p:nvPicPr>
        <p:blipFill>
          <a:blip r:embed="rId1"/>
          <a:stretch>
            <a:fillRect/>
          </a:stretch>
        </p:blipFill>
        <p:spPr>
          <a:xfrm>
            <a:off x="3311138" y="1371600"/>
            <a:ext cx="558496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anatomy of the ear</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Outer ear gathers sound</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Middle ear bones amplify it</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Inner ear cochlea transduces it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Hair cells signal the brain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14 — The Somatic Nervous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14.1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Vision — The Eye</a:t>
            </a:r>
            <a:endParaRPr lang="en-US" sz="2800" dirty="0"/>
          </a:p>
        </p:txBody>
      </p:sp>
      <p:sp>
        <p:nvSpPr>
          <p:cNvPr id="4" name="Shape 2"/>
          <p:cNvSpPr/>
          <p:nvPr/>
        </p:nvSpPr>
        <p:spPr>
          <a:xfrm>
            <a:off x="3154666" y="1289304"/>
            <a:ext cx="5897907"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4/img/img15.jpg">    </p:cNvPr>
          <p:cNvPicPr>
            <a:picLocks noChangeAspect="1"/>
          </p:cNvPicPr>
          <p:nvPr/>
        </p:nvPicPr>
        <p:blipFill>
          <a:blip r:embed="rId1"/>
          <a:stretch>
            <a:fillRect/>
          </a:stretch>
        </p:blipFill>
        <p:spPr>
          <a:xfrm>
            <a:off x="3236962" y="1371600"/>
            <a:ext cx="5733315"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anatomy of the eye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cornea and lens focus light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iris controls light entry</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retina holds photoreceptors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Rods and cones signal the brain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14 — The Somatic Nervous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14.2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Central Processing</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CNS processes sensory information into perception.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14.2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Ascending Sensory Pathways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Sensory signals travel to the brain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Cross to the opposite side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Relay through the thalamus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Reach the sensory cortex</a:t>
            </a:r>
            <a:endParaRPr lang="en-US" sz="1500" dirty="0"/>
          </a:p>
        </p:txBody>
      </p:sp>
      <p:sp>
        <p:nvSpPr>
          <p:cNvPr id="5" name="Shape 3"/>
          <p:cNvSpPr/>
          <p:nvPr/>
        </p:nvSpPr>
        <p:spPr>
          <a:xfrm>
            <a:off x="6332599" y="1335024"/>
            <a:ext cx="4525521" cy="4645152"/>
          </a:xfrm>
          <a:prstGeom prst="roundRect">
            <a:avLst>
              <a:gd name="adj" fmla="val 121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4/img/img19.jpg">    </p:cNvPr>
          <p:cNvPicPr>
            <a:picLocks noChangeAspect="1"/>
          </p:cNvPicPr>
          <p:nvPr/>
        </p:nvPicPr>
        <p:blipFill>
          <a:blip r:embed="rId1"/>
          <a:stretch>
            <a:fillRect/>
          </a:stretch>
        </p:blipFill>
        <p:spPr>
          <a:xfrm>
            <a:off x="6414895" y="1417320"/>
            <a:ext cx="436092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Ascending sensory pathways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14 — The Somatic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14.2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Visual Pathway</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Optic nerves carry signals from each eye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They meet at the optic chiasm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Fibers partly cross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End in the visual cortex</a:t>
            </a:r>
            <a:endParaRPr lang="en-US" sz="1500" dirty="0"/>
          </a:p>
        </p:txBody>
      </p:sp>
      <p:sp>
        <p:nvSpPr>
          <p:cNvPr id="5" name="Shape 3"/>
          <p:cNvSpPr/>
          <p:nvPr/>
        </p:nvSpPr>
        <p:spPr>
          <a:xfrm>
            <a:off x="6377405" y="1335024"/>
            <a:ext cx="4435910" cy="4645152"/>
          </a:xfrm>
          <a:prstGeom prst="roundRect">
            <a:avLst>
              <a:gd name="adj" fmla="val 123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4/img/img22.jpg">    </p:cNvPr>
          <p:cNvPicPr>
            <a:picLocks noChangeAspect="1"/>
          </p:cNvPicPr>
          <p:nvPr/>
        </p:nvPicPr>
        <p:blipFill>
          <a:blip r:embed="rId1"/>
          <a:stretch>
            <a:fillRect/>
          </a:stretch>
        </p:blipFill>
        <p:spPr>
          <a:xfrm>
            <a:off x="6459701" y="1417320"/>
            <a:ext cx="4271318"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visual pathway to the cortex</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14 — The Somatic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14.2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Sensory Homunculus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cortex maps the whole body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Each part has a cortical area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Sensitive areas get more space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Hands and face dominate</a:t>
            </a:r>
            <a:endParaRPr lang="en-US" sz="1500" dirty="0"/>
          </a:p>
        </p:txBody>
      </p:sp>
      <p:sp>
        <p:nvSpPr>
          <p:cNvPr id="5" name="Shape 3"/>
          <p:cNvSpPr/>
          <p:nvPr/>
        </p:nvSpPr>
        <p:spPr>
          <a:xfrm>
            <a:off x="6263823" y="1335024"/>
            <a:ext cx="466307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4/img/img23.jpg">    </p:cNvPr>
          <p:cNvPicPr>
            <a:picLocks noChangeAspect="1"/>
          </p:cNvPicPr>
          <p:nvPr/>
        </p:nvPicPr>
        <p:blipFill>
          <a:blip r:embed="rId1"/>
          <a:stretch>
            <a:fillRect/>
          </a:stretch>
        </p:blipFill>
        <p:spPr>
          <a:xfrm>
            <a:off x="6346119" y="1417320"/>
            <a:ext cx="449848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sensory homunculus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14 — The Somatic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14.3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Motor Responses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nervous system produces voluntary movement.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14.3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Motor Pathway</a:t>
            </a:r>
            <a:endParaRPr lang="en-US" sz="2800" dirty="0"/>
          </a:p>
        </p:txBody>
      </p:sp>
      <p:sp>
        <p:nvSpPr>
          <p:cNvPr id="4" name="Shape 2"/>
          <p:cNvSpPr/>
          <p:nvPr/>
        </p:nvSpPr>
        <p:spPr>
          <a:xfrm>
            <a:off x="1525448" y="1289304"/>
            <a:ext cx="2252624" cy="4736592"/>
          </a:xfrm>
          <a:prstGeom prst="roundRect">
            <a:avLst>
              <a:gd name="adj" fmla="val 243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4/img/img28.jpg">    </p:cNvPr>
          <p:cNvPicPr>
            <a:picLocks noChangeAspect="1"/>
          </p:cNvPicPr>
          <p:nvPr/>
        </p:nvPicPr>
        <p:blipFill>
          <a:blip r:embed="rId1"/>
          <a:stretch>
            <a:fillRect/>
          </a:stretch>
        </p:blipFill>
        <p:spPr>
          <a:xfrm>
            <a:off x="1607744" y="1371600"/>
            <a:ext cx="208803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descending motor pathway</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Commands start in the motor cortex</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Travel down the corticospinal tract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Cross to the opposite side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Upper and lower motor neurons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14 — The Somatic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Sensation begins when receptors transduce stimuli into nerve signals.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special senses — taste, smell, hearing, balance, and vision — use specialized receptors.</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Sensory pathways cross the midline and relay through the thalamus to the cortex.</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cortex maps the body, devoting the most area to the most sensitive parts.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Voluntary movement travels from the motor cortex down crossed corticospinal pathways.</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14 — The Somatic Nervous System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the Somatic Nervous System Matters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Sensory Loss</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Numbness or deficits help localize nerve or CNS damage.</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Hearing &amp; Vision</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Common deficits that affect safety and communication.</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Pain Management</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Understanding pain pathways guides effective relief.</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Stroke Effects</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Crossed pathways explain one-sided weakness or sensory loss.</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Pupillary Reflex</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Pupil response is a key neurological assessment.</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Motor Deficits</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Upper vs. lower motor neuron signs guide diagnosis.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2026-06-23T20:42:49Z</dcterms:created>
  <dcterms:modified xsi:type="dcterms:W3CDTF">2026-06-23T20:42:49Z</dcterms:modified>
</cp:coreProperties>
</file>