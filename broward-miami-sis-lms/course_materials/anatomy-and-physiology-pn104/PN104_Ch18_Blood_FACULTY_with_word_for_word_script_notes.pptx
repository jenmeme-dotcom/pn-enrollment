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290ee498c54748" /><Relationship Type="http://schemas.openxmlformats.org/officeDocument/2006/relationships/extended-properties" Target="/docProps/app.xml" Id="R77fdb9b100354cb8" /><Relationship Type="http://schemas.openxmlformats.org/officeDocument/2006/relationships/officeDocument" Target="/ppt/presentation.xml" Id="R5a96774e9fdc40ae" /></Relationships>
</file>

<file path=ppt/presentation.xml><?xml version="1.0" encoding="utf-8"?>
<p:presentation xmlns:p="http://schemas.openxmlformats.org/presentationml/2006/main">
  <p:sldMasterIdLst>
    <p:sldMasterId xmlns:r="http://schemas.openxmlformats.org/officeDocument/2006/relationships" id="2147483648" r:id="R79f2ce90d79240f5"/>
  </p:sldMasterIdLst>
  <p:notesMasterIdLst>
    <p:notesMasterId xmlns:r="http://schemas.openxmlformats.org/officeDocument/2006/relationships" r:id="Rc056278adb424cdc"/>
  </p:notesMasterIdLst>
  <p:sldIdLst>
    <p:sldId xmlns:r="http://schemas.openxmlformats.org/officeDocument/2006/relationships" id="256" r:id="R09d4ad581f624eb1"/>
    <p:sldId xmlns:r="http://schemas.openxmlformats.org/officeDocument/2006/relationships" id="257" r:id="R06695efcb1b34419"/>
    <p:sldId xmlns:r="http://schemas.openxmlformats.org/officeDocument/2006/relationships" id="258" r:id="R9917088698314b86"/>
    <p:sldId xmlns:r="http://schemas.openxmlformats.org/officeDocument/2006/relationships" id="259" r:id="R26771aefef87471f"/>
    <p:sldId xmlns:r="http://schemas.openxmlformats.org/officeDocument/2006/relationships" id="260" r:id="Ra68ef7529621406b"/>
    <p:sldId xmlns:r="http://schemas.openxmlformats.org/officeDocument/2006/relationships" id="261" r:id="Rc7fb6caba5e74da4"/>
    <p:sldId xmlns:r="http://schemas.openxmlformats.org/officeDocument/2006/relationships" id="262" r:id="Rde40401844de4cb0"/>
    <p:sldId xmlns:r="http://schemas.openxmlformats.org/officeDocument/2006/relationships" id="263" r:id="Rbb8e61b1de734f42"/>
    <p:sldId xmlns:r="http://schemas.openxmlformats.org/officeDocument/2006/relationships" id="264" r:id="R92d34e534f2b4226"/>
    <p:sldId xmlns:r="http://schemas.openxmlformats.org/officeDocument/2006/relationships" id="265" r:id="R41c645cd8a2e496a"/>
    <p:sldId xmlns:r="http://schemas.openxmlformats.org/officeDocument/2006/relationships" id="266" r:id="R74ead757348749a3"/>
    <p:sldId xmlns:r="http://schemas.openxmlformats.org/officeDocument/2006/relationships" id="267" r:id="Rbe958237c26045af"/>
    <p:sldId xmlns:r="http://schemas.openxmlformats.org/officeDocument/2006/relationships" id="268" r:id="R99c4d5a9a5ec4e14"/>
    <p:sldId xmlns:r="http://schemas.openxmlformats.org/officeDocument/2006/relationships" id="269" r:id="Rc5e8810d5fa04437"/>
    <p:sldId xmlns:r="http://schemas.openxmlformats.org/officeDocument/2006/relationships" id="270" r:id="R5d33c58cd1e34efe"/>
    <p:sldId xmlns:r="http://schemas.openxmlformats.org/officeDocument/2006/relationships" id="271" r:id="R1ab3c61014de4bdf"/>
    <p:sldId xmlns:r="http://schemas.openxmlformats.org/officeDocument/2006/relationships" id="272" r:id="R967723a1768743e7"/>
    <p:sldId xmlns:r="http://schemas.openxmlformats.org/officeDocument/2006/relationships" id="273" r:id="Rb05ce70d2cbe4c30"/>
    <p:sldId xmlns:r="http://schemas.openxmlformats.org/officeDocument/2006/relationships" id="274" r:id="R05ac5f5b88944d8f"/>
    <p:sldId xmlns:r="http://schemas.openxmlformats.org/officeDocument/2006/relationships" id="275" r:id="Rea884b200f8b407a"/>
    <p:sldId xmlns:r="http://schemas.openxmlformats.org/officeDocument/2006/relationships" id="276" r:id="Reb9f795db12e47f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5713d0e00ba489f" /><Relationship Type="http://schemas.openxmlformats.org/officeDocument/2006/relationships/slideMaster" Target="/ppt/slideMasters/slideMaster1.xml" Id="R79f2ce90d79240f5" /><Relationship Type="http://schemas.openxmlformats.org/officeDocument/2006/relationships/notesMaster" Target="/ppt/notesMasters/notesMaster1.xml" Id="Rc056278adb424cdc" /><Relationship Type="http://schemas.openxmlformats.org/officeDocument/2006/relationships/presProps" Target="/ppt/presProps.xml" Id="R8d1df67b34e94008" /><Relationship Type="http://schemas.openxmlformats.org/officeDocument/2006/relationships/viewProps" Target="/ppt/viewProps.xml" Id="R3e596318eca34517" /><Relationship Type="http://schemas.openxmlformats.org/officeDocument/2006/relationships/tableStyles" Target="/ppt/tableStyles.xml" Id="R8b08067931554a20" /><Relationship Type="http://schemas.openxmlformats.org/officeDocument/2006/relationships/slide" Target="/ppt/slides/slide1.xml" Id="R09d4ad581f624eb1" /><Relationship Type="http://schemas.openxmlformats.org/officeDocument/2006/relationships/slide" Target="/ppt/slides/slide2.xml" Id="R06695efcb1b34419" /><Relationship Type="http://schemas.openxmlformats.org/officeDocument/2006/relationships/slide" Target="/ppt/slides/slide3.xml" Id="R9917088698314b86" /><Relationship Type="http://schemas.openxmlformats.org/officeDocument/2006/relationships/slide" Target="/ppt/slides/slide4.xml" Id="R26771aefef87471f" /><Relationship Type="http://schemas.openxmlformats.org/officeDocument/2006/relationships/slide" Target="/ppt/slides/slide5.xml" Id="Ra68ef7529621406b" /><Relationship Type="http://schemas.openxmlformats.org/officeDocument/2006/relationships/slide" Target="/ppt/slides/slide6.xml" Id="Rc7fb6caba5e74da4" /><Relationship Type="http://schemas.openxmlformats.org/officeDocument/2006/relationships/slide" Target="/ppt/slides/slide7.xml" Id="Rde40401844de4cb0" /><Relationship Type="http://schemas.openxmlformats.org/officeDocument/2006/relationships/slide" Target="/ppt/slides/slide8.xml" Id="Rbb8e61b1de734f42" /><Relationship Type="http://schemas.openxmlformats.org/officeDocument/2006/relationships/slide" Target="/ppt/slides/slide9.xml" Id="R92d34e534f2b4226" /><Relationship Type="http://schemas.openxmlformats.org/officeDocument/2006/relationships/slide" Target="/ppt/slides/slide10.xml" Id="R41c645cd8a2e496a" /><Relationship Type="http://schemas.openxmlformats.org/officeDocument/2006/relationships/slide" Target="/ppt/slides/slide11.xml" Id="R74ead757348749a3" /><Relationship Type="http://schemas.openxmlformats.org/officeDocument/2006/relationships/slide" Target="/ppt/slides/slide12.xml" Id="Rbe958237c26045af" /><Relationship Type="http://schemas.openxmlformats.org/officeDocument/2006/relationships/slide" Target="/ppt/slides/slide13.xml" Id="R99c4d5a9a5ec4e14" /><Relationship Type="http://schemas.openxmlformats.org/officeDocument/2006/relationships/slide" Target="/ppt/slides/slide14.xml" Id="Rc5e8810d5fa04437" /><Relationship Type="http://schemas.openxmlformats.org/officeDocument/2006/relationships/slide" Target="/ppt/slides/slide15.xml" Id="R5d33c58cd1e34efe" /><Relationship Type="http://schemas.openxmlformats.org/officeDocument/2006/relationships/slide" Target="/ppt/slides/slide16.xml" Id="R1ab3c61014de4bdf" /><Relationship Type="http://schemas.openxmlformats.org/officeDocument/2006/relationships/slide" Target="/ppt/slides/slide17.xml" Id="R967723a1768743e7" /><Relationship Type="http://schemas.openxmlformats.org/officeDocument/2006/relationships/slide" Target="/ppt/slides/slide18.xml" Id="Rb05ce70d2cbe4c30" /><Relationship Type="http://schemas.openxmlformats.org/officeDocument/2006/relationships/slide" Target="/ppt/slides/slide19.xml" Id="R05ac5f5b88944d8f" /><Relationship Type="http://schemas.openxmlformats.org/officeDocument/2006/relationships/slide" Target="/ppt/slides/slide20.xml" Id="Rea884b200f8b407a" /><Relationship Type="http://schemas.openxmlformats.org/officeDocument/2006/relationships/slide" Target="/ppt/slides/slide21.xml" Id="Reb9f795db12e47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1cf38aabab46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ec96188bd24276" /><Relationship Type="http://schemas.openxmlformats.org/officeDocument/2006/relationships/notesMaster" Target="/ppt/notesMasters/notesMaster1.xml" Id="Rbc4a6508927647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c4f3610e3a45a5" /><Relationship Type="http://schemas.openxmlformats.org/officeDocument/2006/relationships/notesMaster" Target="/ppt/notesMasters/notesMaster1.xml" Id="R6041ece3e34344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1d7a52adf34e21" /><Relationship Type="http://schemas.openxmlformats.org/officeDocument/2006/relationships/notesMaster" Target="/ppt/notesMasters/notesMaster1.xml" Id="Rb2c34db8bfcd49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b340ba48e04dfc" /><Relationship Type="http://schemas.openxmlformats.org/officeDocument/2006/relationships/notesMaster" Target="/ppt/notesMasters/notesMaster1.xml" Id="Rcf098f5a9424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ca584118e64407" /><Relationship Type="http://schemas.openxmlformats.org/officeDocument/2006/relationships/notesMaster" Target="/ppt/notesMasters/notesMaster1.xml" Id="R5e9c2a0d22634d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c4b5ccc2e94cb4" /><Relationship Type="http://schemas.openxmlformats.org/officeDocument/2006/relationships/notesMaster" Target="/ppt/notesMasters/notesMaster1.xml" Id="R5dad974a031049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72cebc495b48a0" /><Relationship Type="http://schemas.openxmlformats.org/officeDocument/2006/relationships/notesMaster" Target="/ppt/notesMasters/notesMaster1.xml" Id="R6c9e1780251f46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50ccc12e1f46b9" /><Relationship Type="http://schemas.openxmlformats.org/officeDocument/2006/relationships/notesMaster" Target="/ppt/notesMasters/notesMaster1.xml" Id="Rea6527c9b3bb4d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326a48b43045cf" /><Relationship Type="http://schemas.openxmlformats.org/officeDocument/2006/relationships/notesMaster" Target="/ppt/notesMasters/notesMaster1.xml" Id="Rce5d5885dfeb46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cad46491234165" /><Relationship Type="http://schemas.openxmlformats.org/officeDocument/2006/relationships/notesMaster" Target="/ppt/notesMasters/notesMaster1.xml" Id="R222e8e36c9f14b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9ef55487e4b0d" /><Relationship Type="http://schemas.openxmlformats.org/officeDocument/2006/relationships/notesMaster" Target="/ppt/notesMasters/notesMaster1.xml" Id="R20e4a32a98d642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7fd7f159a34f4a" /><Relationship Type="http://schemas.openxmlformats.org/officeDocument/2006/relationships/notesMaster" Target="/ppt/notesMasters/notesMaster1.xml" Id="R9c1f4dc78ffc4b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ec684581014e0e" /><Relationship Type="http://schemas.openxmlformats.org/officeDocument/2006/relationships/notesMaster" Target="/ppt/notesMasters/notesMaster1.xml" Id="R01afb2e288e74d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ceaf1e1e0e4a23" /><Relationship Type="http://schemas.openxmlformats.org/officeDocument/2006/relationships/notesMaster" Target="/ppt/notesMasters/notesMaster1.xml" Id="Re987c75d09db43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5d8ebfe7ca4891" /><Relationship Type="http://schemas.openxmlformats.org/officeDocument/2006/relationships/notesMaster" Target="/ppt/notesMasters/notesMaster1.xml" Id="Raec0c67c691c4c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a9abefb65e4cf3" /><Relationship Type="http://schemas.openxmlformats.org/officeDocument/2006/relationships/notesMaster" Target="/ppt/notesMasters/notesMaster1.xml" Id="R3b95150513bf46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342538e6f14ab9" /><Relationship Type="http://schemas.openxmlformats.org/officeDocument/2006/relationships/notesMaster" Target="/ppt/notesMasters/notesMaster1.xml" Id="R5e4471b33e3d45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30692808b74da6" /><Relationship Type="http://schemas.openxmlformats.org/officeDocument/2006/relationships/notesMaster" Target="/ppt/notesMasters/notesMaster1.xml" Id="R46f40506efd34e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478a059c134fea" /><Relationship Type="http://schemas.openxmlformats.org/officeDocument/2006/relationships/notesMaster" Target="/ppt/notesMasters/notesMaster1.xml" Id="Rca246f57377843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9516ab226f402b" /><Relationship Type="http://schemas.openxmlformats.org/officeDocument/2006/relationships/notesMaster" Target="/ppt/notesMasters/notesMaster1.xml" Id="R6e5fdd19f1734d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7ce47c82c04621" /><Relationship Type="http://schemas.openxmlformats.org/officeDocument/2006/relationships/notesMaster" Target="/ppt/notesMasters/notesMaster1.xml" Id="R340c5f18543346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Today we are beginning Chapter 18, blood. In this chapter, we will connect the names and locations of skeletal structures with their functions and with the observations that matter in practical nursing care. As we move through the slides, focus on how structure supports protection, movement, stability, mineral balance, and patient safety. By the end, you should be able to explain the major concepts in your own words and apply them to a patient-care situation.</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These are our learning objectives for Chapter 18. By the end of the chapter, you should be able to do the following: Identify the primary functions of blood, its fluid and cellular components, and its physical characteristics. Identify the most important proteins and other solutes present in blood plasma. Describe the formation of the formed element components of blood. Discuss the structure and function of red blood cells and hemoglobin. Classify and characterize white blood cells. Do not treat these as isolated facts. Use them as a checklist for what you should be able to identify, explain, and connect to safe practical nursing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An Overview of Blood. What blood is made of and what it does.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Composition of Blood. Blood: plasma and formed elements. Plasma is the liquid portion (~55%). Formed elements are cells (~45%). Buffy coat = white cells and platelets. Hematocrit = percent red cells. Observe for bleeding, bruising, petechiae, blood in urine or stool, and medication-related bleeding risk, and report concerning findings promptly. Take a moment to identify the structure on the image and explain how its form supports its function. This is slide 4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Production of the Formed Elements. How blood cells are produced in red bone marrow.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Hematopoiesis. All blood cells form in red marrow. Start from one stem cell. Myeloid line → most cell types. Lymphoid line → lymphocytes. Hematopoiesis: the formation of blood cells. Blood assessment connects directly with oxygen delivery, infection defense, bleeding risk, circulation, laboratory monitoring, and transfusion safety. Take a moment to identify the structure on the image and explain how its form supports its function. This is slide 6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Erythrocytes. Red blood cells and oxygen transport.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Hemoglobin. The structure of hemoglobin. The oxygen-carrying protein in red cells. Four globin chains. Each holds an iron-rich heme group. Iron binds the oxygen. Relate red-cell function to oxygenation, fatigue, pallor, shortness of breath, heart rate, and laboratory values such as hemoglobin and hematocrit. Take a moment to identify the structure on the image and explain how its form supports its function. This is slide 8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Red Blood Cell Life Cycle. The life cycle of a red blood cell. Red cells live about 120 days. Old cells broken down in spleen and liver. Iron is recycled. Heme becomes bilirubin. Relate red-cell function to oxygenation, fatigue, pallor, shortness of breath, heart rate, and laboratory values such as hemoglobin and hematocrit. Take a moment to identify the structure on the image and explain how its form supports its function. This is slide 9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Leukocytes and Platelets. White blood cells and platelets — defense and clotting.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How Leukocytes Fight Infection. How leukocytes fight infection. White cells defend against infection. Leave vessels by diapedesis. Move toward chemical signals. Engulf pathogens (phagocytosis). White-cell changes can signal infection, inflammation, immune dysfunction, or marrow problems; interpret the count with symptoms and precautions. Take a moment to identify the structure on the image and explain how its form supports its function. This is slide 11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Types of White Blood Cells. The granular leukocytes. Five types of leukocytes. Granulocytes: neutrophil, eosinophil, basophil. Agranulocytes: lymphocyte, monocyte. Each has a specific role. White-cell changes can signal infection, inflammation, immune dysfunction, or marrow problems; interpret the count with symptoms and precautions. Take a moment to identify the structure on the image and explain how its form supports its function. This is slide 12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Platelet Formation. The formation of platelets. Platelets are cell fragments. Shed from megakaryocytes. Driven by thrombopoietin. Essential for clotting. Observe for bleeding, bruising, petechiae, blood in urine or stool, and medication-related bleeding risk, and report concerning findings promptly. Take a moment to identify the structure on the image and explain how its form supports its function. This is slide 13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Hemostasis. Hemostasis — how the body stops bleeding.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Hemostasis. The steps of hemostasis. Stops bleeding in three steps. Vascular spasm narrows the vessel. A platelet plug forms. Coagulation makes a fibrin clot. Observe for bleeding, bruising, petechiae, blood in urine or stool, and medication-related bleeding risk, and report concerning findings promptly. Take a moment to identify the structure on the image and explain how its form supports its function. This is slide 15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Blood Typing. Blood typing and transfusion compatibility.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Blood Typing. Blood typing by agglutination. Type set by red-cell surface antigens. ABO system: A, B, AB, O. Rh system: positive or negative. Tested by agglutination. Blood assessment connects directly with oxygen delivery, infection defense, bleeding risk, circulation, laboratory monitoring, and transfusion safety. Take a moment to identify the structure on the image and explain how its form supports its function. This is slide 17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Transfusion Compatibility. Plasma holds antibodies to missing antigens. The wrong type causes agglutination. Type O-negative is universal donor. Type AB-positive is universal recipient. ABO blood type compatibility. Plasma carries proteins, nutrients, hormones, wastes, electrolytes, and water, linking blood composition with fluid balance and organ function. Take a moment to identify the structure on the image and explain how its form supports its function. This is slide 18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Rh Incompatibility. Rh-negative mother, Rh-positive baby. First exposure sensitizes the mother. Antibodies threaten a later baby. Prevented with Rh immune globulin. Rh incompatibility in pregnancy. Blood assessment connects directly with oxygen delivery, infection defense, bleeding risk, circulation, laboratory monitoring, and transfusion safety. Take a moment to identify the structure on the image and explain how its form supports its function. This is slide 19 of 21.</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Let us review the major takeaways from Chapter 18. Blood is plasma plus formed elements — red cells, white cells, and platelets. All blood cells form in red bone marrow from a single stem cell. Red cells carry oxygen on hemoglobin and are recycled after about 120 days. White cells defend against infection; platelets and clotting factors stop bleeding. Blood type (ABO and Rh) must be matched before transfusion. Before moving on, pause and explain each point without reading the slide. If any statement is difficult to explain, mark that topic for review before the quiz.</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This final slide connects Chapter 18 to practical nursing. Anemia. Too few red cells or too little hemoglobin reduces oxygen delivery. Complete Blood Count. The CBC is one of the most common diagnostic tests. Transfusion Safety. Matching ABO and Rh type prevents dangerous reactions. Clotting Disorders. Too little clotting bleeds; too much causes thrombosis. Anticoagulants. Drugs like heparin and warfarin act on the clotting cascade. Infection. A rising white cell count is an early sign of infection. Your role is to observe carefully, protect safety, follow orders and precautions, document objectively, and report changes through the appropriate chain of command. Use these examples to connect anatomy with the care you will provide.</a:t>
            </a:r>
          </a:p>
          <a:p xmlns:a="http://schemas.openxmlformats.org/drawingml/2006/main">
            <a:r>
              <a:t/>
            </a:r>
          </a:p>
          <a:p xmlns:a="http://schemas.openxmlformats.org/drawingml/2006/main">
            <a:r>
              <a:t>[Sources]</a:t>
            </a:r>
          </a:p>
          <a:p xmlns:a="http://schemas.openxmlformats.org/drawingml/2006/main">
            <a:r>
              <a:t>- BMHI PN 104 Chapter 18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7455258f3241e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cd4e6c1b446ea" /><Relationship Type="http://schemas.openxmlformats.org/officeDocument/2006/relationships/slideLayout" Target="/ppt/slideLayouts/slideLayout1.xml" Id="R738969d81afb417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8969d81afb417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5be849b2b74ac2" /><Relationship Type="http://schemas.openxmlformats.org/officeDocument/2006/relationships/image" Target="/ppt/media/image.jpeg" Id="Rddde81650b15404e" /><Relationship Type="http://schemas.openxmlformats.org/officeDocument/2006/relationships/notesSlide" Target="/ppt/notesSlides/notesSlide1.xml" Id="Rb2c16015463a45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aab072ed9a410b" /><Relationship Type="http://schemas.openxmlformats.org/officeDocument/2006/relationships/image" Target="/ppt/media/image2.jpeg" Id="R8565f586391f4bfa" /><Relationship Type="http://schemas.openxmlformats.org/officeDocument/2006/relationships/notesSlide" Target="/ppt/notesSlides/notesSlide2.xml" Id="R8a62e8d7e2684b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dea99d51c74af3" /><Relationship Type="http://schemas.openxmlformats.org/officeDocument/2006/relationships/notesSlide" Target="/ppt/notesSlides/notesSlide3.xml" Id="Ra5b7c0bfab144a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cac8a6df4a4dd0" /><Relationship Type="http://schemas.openxmlformats.org/officeDocument/2006/relationships/image" Target="/ppt/media/image3.jpeg" Id="Re516f872a0c44c0a" /><Relationship Type="http://schemas.openxmlformats.org/officeDocument/2006/relationships/notesSlide" Target="/ppt/notesSlides/notesSlide4.xml" Id="Rc122501824484e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2be316207944a3" /><Relationship Type="http://schemas.openxmlformats.org/officeDocument/2006/relationships/notesSlide" Target="/ppt/notesSlides/notesSlide5.xml" Id="R65d8c41cbbdc4d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5f68567ca14417" /><Relationship Type="http://schemas.openxmlformats.org/officeDocument/2006/relationships/image" Target="/ppt/media/image4.jpeg" Id="R01f522340d5e46f8" /><Relationship Type="http://schemas.openxmlformats.org/officeDocument/2006/relationships/notesSlide" Target="/ppt/notesSlides/notesSlide6.xml" Id="R6fff47a46d5646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ba6c857d894855" /><Relationship Type="http://schemas.openxmlformats.org/officeDocument/2006/relationships/notesSlide" Target="/ppt/notesSlides/notesSlide7.xml" Id="R8aa57cd2b40e4d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cab8c009ed442c" /><Relationship Type="http://schemas.openxmlformats.org/officeDocument/2006/relationships/image" Target="/ppt/media/image5.jpeg" Id="R1e10a7629222436a" /><Relationship Type="http://schemas.openxmlformats.org/officeDocument/2006/relationships/notesSlide" Target="/ppt/notesSlides/notesSlide8.xml" Id="Re0c76ca9155844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fe54b6d220457c" /><Relationship Type="http://schemas.openxmlformats.org/officeDocument/2006/relationships/image" Target="/ppt/media/image6.jpeg" Id="R72c94e73a18a4e0f" /><Relationship Type="http://schemas.openxmlformats.org/officeDocument/2006/relationships/notesSlide" Target="/ppt/notesSlides/notesSlide9.xml" Id="Rc1b5130355c54d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fe95f553da4a8a" /><Relationship Type="http://schemas.openxmlformats.org/officeDocument/2006/relationships/notesSlide" Target="/ppt/notesSlides/notesSlide10.xml" Id="R654f5bde57f048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7d4738ec89428f" /><Relationship Type="http://schemas.openxmlformats.org/officeDocument/2006/relationships/image" Target="/ppt/media/image7.jpeg" Id="R3a063a1e40554f96" /><Relationship Type="http://schemas.openxmlformats.org/officeDocument/2006/relationships/notesSlide" Target="/ppt/notesSlides/notesSlide11.xml" Id="Re42114127cdd4e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98a53c9ad74481" /><Relationship Type="http://schemas.openxmlformats.org/officeDocument/2006/relationships/image" Target="/ppt/media/image8.jpeg" Id="Rc5933a3297094618" /><Relationship Type="http://schemas.openxmlformats.org/officeDocument/2006/relationships/notesSlide" Target="/ppt/notesSlides/notesSlide12.xml" Id="R2742d98f77614f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eaa326ca8e4cc7" /><Relationship Type="http://schemas.openxmlformats.org/officeDocument/2006/relationships/image" Target="/ppt/media/image9.jpeg" Id="Rf9ee492da1704777" /><Relationship Type="http://schemas.openxmlformats.org/officeDocument/2006/relationships/notesSlide" Target="/ppt/notesSlides/notesSlide13.xml" Id="Ra3ed87063a3845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8bce3387ef476d" /><Relationship Type="http://schemas.openxmlformats.org/officeDocument/2006/relationships/notesSlide" Target="/ppt/notesSlides/notesSlide14.xml" Id="R310934c5cb1c43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3f303ff49f24a09" /><Relationship Type="http://schemas.openxmlformats.org/officeDocument/2006/relationships/image" Target="/ppt/media/image10.jpeg" Id="Rdeb0fb1615754c2d" /><Relationship Type="http://schemas.openxmlformats.org/officeDocument/2006/relationships/notesSlide" Target="/ppt/notesSlides/notesSlide15.xml" Id="Rafef5f82f38545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1a144d1e2b74429" /><Relationship Type="http://schemas.openxmlformats.org/officeDocument/2006/relationships/notesSlide" Target="/ppt/notesSlides/notesSlide16.xml" Id="R667e14e9855a4e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8d437474510484c" /><Relationship Type="http://schemas.openxmlformats.org/officeDocument/2006/relationships/image" Target="/ppt/media/image11.jpeg" Id="R6c6167d3efcd485f" /><Relationship Type="http://schemas.openxmlformats.org/officeDocument/2006/relationships/notesSlide" Target="/ppt/notesSlides/notesSlide17.xml" Id="Rb752a9bad7af42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280920c62d484b" /><Relationship Type="http://schemas.openxmlformats.org/officeDocument/2006/relationships/image" Target="/ppt/media/image12.jpeg" Id="R41ea2d93401f472f" /><Relationship Type="http://schemas.openxmlformats.org/officeDocument/2006/relationships/notesSlide" Target="/ppt/notesSlides/notesSlide18.xml" Id="Re7ff97c6257843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a5063f48924195" /><Relationship Type="http://schemas.openxmlformats.org/officeDocument/2006/relationships/image" Target="/ppt/media/image13.jpeg" Id="R6d2c27633b174ae6" /><Relationship Type="http://schemas.openxmlformats.org/officeDocument/2006/relationships/notesSlide" Target="/ppt/notesSlides/notesSlide19.xml" Id="Rf628e86b1aee49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7b6dbcf62645b6" /><Relationship Type="http://schemas.openxmlformats.org/officeDocument/2006/relationships/notesSlide" Target="/ppt/notesSlides/notesSlide20.xml" Id="Rbcb0fc62463842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53c275b8f3f4711" /><Relationship Type="http://schemas.openxmlformats.org/officeDocument/2006/relationships/notesSlide" Target="/ppt/notesSlides/notesSlide21.xml" Id="R61b6c04b57d64322"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079202-F0B9-45D8-A4AB-0495F39BA655}"/>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18</a:t>
            </a:r>
          </a:p>
        </p:txBody>
      </p:sp>
      <p:sp>
        <p:nvSpPr>
          <p:cNvPr id="3" name="Text 1">
            <a:extLst xmlns:a="http://schemas.openxmlformats.org/drawingml/2006/main">
              <a:ext uri="{FF2B5EF4-FFF2-40B4-BE49-F238E27FC236}">
                <a16:creationId xmlns:a16="http://schemas.microsoft.com/office/drawing/2014/main" id="{0EA22ABD-2265-496E-BDBA-B6BC70A5B764}"/>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800" b="1">
                <a:solidFill>
                  <a:srgbClr val="FFFFFF"/>
                </a:solidFill>
                <a:latin typeface="Georgia"/>
                <a:ea typeface="Georgia"/>
                <a:cs typeface="Georgia"/>
              </a:rPr>
              <a:t>The Cardiovascular System: Blood</a:t>
            </a:r>
          </a:p>
        </p:txBody>
      </p:sp>
      <p:sp>
        <p:nvSpPr>
          <p:cNvPr id="4" name="Text 2">
            <a:extLst xmlns:a="http://schemas.openxmlformats.org/drawingml/2006/main">
              <a:ext uri="{FF2B5EF4-FFF2-40B4-BE49-F238E27FC236}">
                <a16:creationId xmlns:a16="http://schemas.microsoft.com/office/drawing/2014/main" id="{EB43CA09-2BDF-4DB8-81FE-234F95FEA9F5}"/>
              </a:ext>
            </a:extLst>
          </p:cNvPr>
          <p:cNvSpPr>
            <a:spLocks xmlns:a="http://schemas.openxmlformats.org/drawingml/2006/main" noGrp="1"/>
          </p:cNvSpPr>
          <p:nvPr/>
        </p:nvSpPr>
        <p:spPr>
          <a:xfrm xmlns:a="http://schemas.openxmlformats.org/drawingml/2006/main">
            <a:off x="749808" y="397764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Plasma, blood cells, clotting, and blood types.</a:t>
            </a:r>
          </a:p>
        </p:txBody>
      </p:sp>
      <p:sp>
        <p:nvSpPr>
          <p:cNvPr id="5" name="Text 3">
            <a:extLst xmlns:a="http://schemas.openxmlformats.org/drawingml/2006/main">
              <a:ext uri="{FF2B5EF4-FFF2-40B4-BE49-F238E27FC236}">
                <a16:creationId xmlns:a16="http://schemas.microsoft.com/office/drawing/2014/main" id="{872725D2-04EE-4A92-A8C6-4CC153440F3F}"/>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p>
        </p:txBody>
      </p:sp>
      <p:sp>
        <p:nvSpPr>
          <p:cNvPr id="6" name="Text 4">
            <a:extLst xmlns:a="http://schemas.openxmlformats.org/drawingml/2006/main">
              <a:ext uri="{FF2B5EF4-FFF2-40B4-BE49-F238E27FC236}">
                <a16:creationId xmlns:a16="http://schemas.microsoft.com/office/drawing/2014/main" id="{021B4B67-D7D9-4B9F-B393-39CC52B01EFB}"/>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p>
        </p:txBody>
      </p:sp>
      <p:sp>
        <p:nvSpPr>
          <p:cNvPr id="7" name="Shape 5">
            <a:extLst xmlns:a="http://schemas.openxmlformats.org/drawingml/2006/main">
              <a:ext uri="{FF2B5EF4-FFF2-40B4-BE49-F238E27FC236}">
                <a16:creationId xmlns:a16="http://schemas.microsoft.com/office/drawing/2014/main" id="{ED6B22A2-D7C6-4A19-A9EB-1F05221DA1B5}"/>
              </a:ext>
            </a:extLst>
          </p:cNvPr>
          <p:cNvSpPr>
            <a:spLocks xmlns:a="http://schemas.openxmlformats.org/drawingml/2006/main" noGrp="1"/>
          </p:cNvSpPr>
          <p:nvPr/>
        </p:nvSpPr>
        <p:spPr>
          <a:xfrm xmlns:a="http://schemas.openxmlformats.org/drawingml/2006/main">
            <a:off x="7735824" y="2539050"/>
            <a:ext cx="4096512" cy="1962781"/>
          </a:xfrm>
          <a:prstGeom xmlns:a="http://schemas.openxmlformats.org/drawingml/2006/main" prst="roundRect">
            <a:avLst>
              <a:gd name="adj" fmla="val 2795"/>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ddde81650b15404e"/>
          <a:stretch xmlns:a="http://schemas.openxmlformats.org/drawingml/2006/main">
            <a:fillRect l="0" t="0" r="0" b="0"/>
          </a:stretch>
        </p:blipFill>
        <p:spPr>
          <a:xfrm xmlns:a="http://schemas.openxmlformats.org/drawingml/2006/main">
            <a:off x="7818120" y="2621346"/>
            <a:ext cx="3931920" cy="1798189"/>
          </a:xfrm>
          <a:prstGeom xmlns:a="http://schemas.openxmlformats.org/drawingml/2006/main" prst="rect">
            <a:avLst/>
          </a:prstGeom>
        </p:spPr>
      </p:pic>
    </p:spTree>
    <p:extLst>
      <p:ext uri="{BB962C8B-B14F-4D97-AF65-F5344CB8AC3E}">
        <p14:creationId xmlns:p14="http://schemas.microsoft.com/office/powerpoint/2010/main" val="18797095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2D5F2F-2C5A-4C68-8AEB-6FA62966344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18</a:t>
            </a:r>
          </a:p>
        </p:txBody>
      </p:sp>
      <p:sp>
        <p:nvSpPr>
          <p:cNvPr id="3" name="Text 1">
            <a:extLst xmlns:a="http://schemas.openxmlformats.org/drawingml/2006/main">
              <a:ext uri="{FF2B5EF4-FFF2-40B4-BE49-F238E27FC236}">
                <a16:creationId xmlns:a16="http://schemas.microsoft.com/office/drawing/2014/main" id="{A7ADE968-3002-4030-A718-6FED7AC3303E}"/>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p>
        </p:txBody>
      </p:sp>
      <p:sp>
        <p:nvSpPr>
          <p:cNvPr id="4" name="Text 2">
            <a:extLst xmlns:a="http://schemas.openxmlformats.org/drawingml/2006/main">
              <a:ext uri="{FF2B5EF4-FFF2-40B4-BE49-F238E27FC236}">
                <a16:creationId xmlns:a16="http://schemas.microsoft.com/office/drawing/2014/main" id="{8746BE4D-FFC6-488C-A887-4511453B0603}"/>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p>
        </p:txBody>
      </p:sp>
      <p:sp>
        <p:nvSpPr>
          <p:cNvPr id="5" name="Shape 3">
            <a:extLst xmlns:a="http://schemas.openxmlformats.org/drawingml/2006/main">
              <a:ext uri="{FF2B5EF4-FFF2-40B4-BE49-F238E27FC236}">
                <a16:creationId xmlns:a16="http://schemas.microsoft.com/office/drawing/2014/main" id="{5E9E4C66-DEC4-41C4-ACBD-AB8668AE9569}"/>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47014A89-6FDA-4727-BE72-9A587BAD43B8}"/>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p>
        </p:txBody>
      </p:sp>
      <p:sp>
        <p:nvSpPr>
          <p:cNvPr id="7" name="Text 5">
            <a:extLst xmlns:a="http://schemas.openxmlformats.org/drawingml/2006/main">
              <a:ext uri="{FF2B5EF4-FFF2-40B4-BE49-F238E27FC236}">
                <a16:creationId xmlns:a16="http://schemas.microsoft.com/office/drawing/2014/main" id="{9A2E74E5-A645-403F-99C6-E3BBE475605C}"/>
              </a:ext>
            </a:extLst>
          </p:cNvPr>
          <p:cNvSpPr>
            <a:spLocks xmlns:a="http://schemas.openxmlformats.org/drawingml/2006/main" noGrp="1"/>
          </p:cNvSpPr>
          <p:nvPr/>
        </p:nvSpPr>
        <p:spPr>
          <a:xfrm xmlns:a="http://schemas.openxmlformats.org/drawingml/2006/main">
            <a:off x="1115568" y="16459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Identify the primary functions of blood, its fluid and cellular components, and its physical characteristics</a:t>
            </a:r>
          </a:p>
        </p:txBody>
      </p:sp>
      <p:sp>
        <p:nvSpPr>
          <p:cNvPr id="8" name="Shape 6">
            <a:extLst xmlns:a="http://schemas.openxmlformats.org/drawingml/2006/main">
              <a:ext uri="{FF2B5EF4-FFF2-40B4-BE49-F238E27FC236}">
                <a16:creationId xmlns:a16="http://schemas.microsoft.com/office/drawing/2014/main" id="{7F5233A4-0205-47F2-B037-B9FBD6DA04D5}"/>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70971F5F-B17F-4E5F-B26F-E6E5A243F10E}"/>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p>
        </p:txBody>
      </p:sp>
      <p:sp>
        <p:nvSpPr>
          <p:cNvPr id="10" name="Text 8">
            <a:extLst xmlns:a="http://schemas.openxmlformats.org/drawingml/2006/main">
              <a:ext uri="{FF2B5EF4-FFF2-40B4-BE49-F238E27FC236}">
                <a16:creationId xmlns:a16="http://schemas.microsoft.com/office/drawing/2014/main" id="{7BBE9CFC-E0F1-4919-9EB8-172960107A45}"/>
              </a:ext>
            </a:extLst>
          </p:cNvPr>
          <p:cNvSpPr>
            <a:spLocks xmlns:a="http://schemas.openxmlformats.org/drawingml/2006/main" noGrp="1"/>
          </p:cNvSpPr>
          <p:nvPr/>
        </p:nvSpPr>
        <p:spPr>
          <a:xfrm xmlns:a="http://schemas.openxmlformats.org/drawingml/2006/main">
            <a:off x="1115568" y="240030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Identify the most important proteins and other solutes present in blood plasma</a:t>
            </a:r>
          </a:p>
        </p:txBody>
      </p:sp>
      <p:sp>
        <p:nvSpPr>
          <p:cNvPr id="11" name="Shape 9">
            <a:extLst xmlns:a="http://schemas.openxmlformats.org/drawingml/2006/main">
              <a:ext uri="{FF2B5EF4-FFF2-40B4-BE49-F238E27FC236}">
                <a16:creationId xmlns:a16="http://schemas.microsoft.com/office/drawing/2014/main" id="{9004AA40-5886-4669-B070-FB099A16AD8E}"/>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096AE542-B7C6-44E9-9D69-D9B07A9C15F6}"/>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p>
        </p:txBody>
      </p:sp>
      <p:sp>
        <p:nvSpPr>
          <p:cNvPr id="13" name="Text 11">
            <a:extLst xmlns:a="http://schemas.openxmlformats.org/drawingml/2006/main">
              <a:ext uri="{FF2B5EF4-FFF2-40B4-BE49-F238E27FC236}">
                <a16:creationId xmlns:a16="http://schemas.microsoft.com/office/drawing/2014/main" id="{94B89B45-2E57-495F-9381-ED7EDA2C206F}"/>
              </a:ext>
            </a:extLst>
          </p:cNvPr>
          <p:cNvSpPr>
            <a:spLocks xmlns:a="http://schemas.openxmlformats.org/drawingml/2006/main" noGrp="1"/>
          </p:cNvSpPr>
          <p:nvPr/>
        </p:nvSpPr>
        <p:spPr>
          <a:xfrm xmlns:a="http://schemas.openxmlformats.org/drawingml/2006/main">
            <a:off x="1115568" y="315468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formation of the formed element components of blood</a:t>
            </a:r>
          </a:p>
        </p:txBody>
      </p:sp>
      <p:sp>
        <p:nvSpPr>
          <p:cNvPr id="14" name="Shape 12">
            <a:extLst xmlns:a="http://schemas.openxmlformats.org/drawingml/2006/main">
              <a:ext uri="{FF2B5EF4-FFF2-40B4-BE49-F238E27FC236}">
                <a16:creationId xmlns:a16="http://schemas.microsoft.com/office/drawing/2014/main" id="{85A7D978-E60D-46D8-B942-0D771F94B124}"/>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C44572BC-4E22-441B-A868-CBB26D579CDD}"/>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p>
        </p:txBody>
      </p:sp>
      <p:sp>
        <p:nvSpPr>
          <p:cNvPr id="16" name="Text 14">
            <a:extLst xmlns:a="http://schemas.openxmlformats.org/drawingml/2006/main">
              <a:ext uri="{FF2B5EF4-FFF2-40B4-BE49-F238E27FC236}">
                <a16:creationId xmlns:a16="http://schemas.microsoft.com/office/drawing/2014/main" id="{3F881367-BE36-431E-AB64-B5941D7E414A}"/>
              </a:ext>
            </a:extLst>
          </p:cNvPr>
          <p:cNvSpPr>
            <a:spLocks xmlns:a="http://schemas.openxmlformats.org/drawingml/2006/main" noGrp="1"/>
          </p:cNvSpPr>
          <p:nvPr/>
        </p:nvSpPr>
        <p:spPr>
          <a:xfrm xmlns:a="http://schemas.openxmlformats.org/drawingml/2006/main">
            <a:off x="1115568" y="390906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the structure and function of red blood cells and hemoglobin</a:t>
            </a:r>
          </a:p>
        </p:txBody>
      </p:sp>
      <p:sp>
        <p:nvSpPr>
          <p:cNvPr id="17" name="Shape 15">
            <a:extLst xmlns:a="http://schemas.openxmlformats.org/drawingml/2006/main">
              <a:ext uri="{FF2B5EF4-FFF2-40B4-BE49-F238E27FC236}">
                <a16:creationId xmlns:a16="http://schemas.microsoft.com/office/drawing/2014/main" id="{CECC0147-7C5A-4E5A-96D0-E7B6F38DCCBE}"/>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B4300775-CD12-463D-B1F0-74715C512327}"/>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p>
        </p:txBody>
      </p:sp>
      <p:sp>
        <p:nvSpPr>
          <p:cNvPr id="19" name="Text 17">
            <a:extLst xmlns:a="http://schemas.openxmlformats.org/drawingml/2006/main">
              <a:ext uri="{FF2B5EF4-FFF2-40B4-BE49-F238E27FC236}">
                <a16:creationId xmlns:a16="http://schemas.microsoft.com/office/drawing/2014/main" id="{DE77ED61-AF41-4E35-AAB3-CB88E2A87905}"/>
              </a:ext>
            </a:extLst>
          </p:cNvPr>
          <p:cNvSpPr>
            <a:spLocks xmlns:a="http://schemas.openxmlformats.org/drawingml/2006/main" noGrp="1"/>
          </p:cNvSpPr>
          <p:nvPr/>
        </p:nvSpPr>
        <p:spPr>
          <a:xfrm xmlns:a="http://schemas.openxmlformats.org/drawingml/2006/main">
            <a:off x="1115568" y="466344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Classify and characterize white blood cells</a:t>
            </a:r>
          </a:p>
        </p:txBody>
      </p:sp>
      <p:sp>
        <p:nvSpPr>
          <p:cNvPr id="20" name="Shape 18">
            <a:extLst xmlns:a="http://schemas.openxmlformats.org/drawingml/2006/main">
              <a:ext uri="{FF2B5EF4-FFF2-40B4-BE49-F238E27FC236}">
                <a16:creationId xmlns:a16="http://schemas.microsoft.com/office/drawing/2014/main" id="{5930A87E-896E-4DDB-AB4B-00664421EF42}"/>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ellipse">
            <a:avLst/>
          </a:prstGeom>
          <a:solidFill xmlns:a="http://schemas.openxmlformats.org/drawingml/2006/main">
            <a:srgbClr val="0F4C5C"/>
          </a:solidFill>
        </p:spPr>
      </p:sp>
      <p:sp>
        <p:nvSpPr>
          <p:cNvPr id="21" name="Text 19">
            <a:extLst xmlns:a="http://schemas.openxmlformats.org/drawingml/2006/main">
              <a:ext uri="{FF2B5EF4-FFF2-40B4-BE49-F238E27FC236}">
                <a16:creationId xmlns:a16="http://schemas.microsoft.com/office/drawing/2014/main" id="{42AF77F3-C6BD-40F5-82E8-8B6CF739B693}"/>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6</a:t>
            </a:r>
          </a:p>
        </p:txBody>
      </p:sp>
      <p:sp>
        <p:nvSpPr>
          <p:cNvPr id="22" name="Text 20">
            <a:extLst xmlns:a="http://schemas.openxmlformats.org/drawingml/2006/main">
              <a:ext uri="{FF2B5EF4-FFF2-40B4-BE49-F238E27FC236}">
                <a16:creationId xmlns:a16="http://schemas.microsoft.com/office/drawing/2014/main" id="{2BC683DD-0980-476A-8596-5C727022A35D}"/>
              </a:ext>
            </a:extLst>
          </p:cNvPr>
          <p:cNvSpPr>
            <a:spLocks xmlns:a="http://schemas.openxmlformats.org/drawingml/2006/main" noGrp="1"/>
          </p:cNvSpPr>
          <p:nvPr/>
        </p:nvSpPr>
        <p:spPr>
          <a:xfrm xmlns:a="http://schemas.openxmlformats.org/drawingml/2006/main">
            <a:off x="1115568" y="54178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structure of platelets and explain the process of hemostasis</a:t>
            </a:r>
          </a:p>
        </p:txBody>
      </p:sp>
      <p:sp>
        <p:nvSpPr>
          <p:cNvPr id="23" name="Shape 21">
            <a:extLst xmlns:a="http://schemas.openxmlformats.org/drawingml/2006/main">
              <a:ext uri="{FF2B5EF4-FFF2-40B4-BE49-F238E27FC236}">
                <a16:creationId xmlns:a16="http://schemas.microsoft.com/office/drawing/2014/main" id="{070CA1D8-12A3-4931-86DE-984EC88F7F20}"/>
              </a:ext>
            </a:extLst>
          </p:cNvPr>
          <p:cNvSpPr>
            <a:spLocks xmlns:a="http://schemas.openxmlformats.org/drawingml/2006/main" noGrp="1"/>
          </p:cNvSpPr>
          <p:nvPr/>
        </p:nvSpPr>
        <p:spPr>
          <a:xfrm xmlns:a="http://schemas.openxmlformats.org/drawingml/2006/main">
            <a:off x="7415784" y="2331867"/>
            <a:ext cx="4370832" cy="2797771"/>
          </a:xfrm>
          <a:prstGeom xmlns:a="http://schemas.openxmlformats.org/drawingml/2006/main" prst="roundRect">
            <a:avLst>
              <a:gd name="adj" fmla="val 196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8565f586391f4bfa"/>
          <a:stretch xmlns:a="http://schemas.openxmlformats.org/drawingml/2006/main">
            <a:fillRect l="0" t="0" r="0" b="0"/>
          </a:stretch>
        </p:blipFill>
        <p:spPr>
          <a:xfrm xmlns:a="http://schemas.openxmlformats.org/drawingml/2006/main">
            <a:off x="7498080" y="2414163"/>
            <a:ext cx="4206240" cy="2633179"/>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3C7AEEDB-4323-4F10-AB7E-36FE8706F953}"/>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Blood: plasma and formed elements.</a:t>
            </a:r>
          </a:p>
        </p:txBody>
      </p:sp>
      <p:sp>
        <p:nvSpPr>
          <p:cNvPr id="27" name="Text 23">
            <a:extLst xmlns:a="http://schemas.openxmlformats.org/drawingml/2006/main">
              <a:ext uri="{FF2B5EF4-FFF2-40B4-BE49-F238E27FC236}">
                <a16:creationId xmlns:a16="http://schemas.microsoft.com/office/drawing/2014/main" id="{15499E53-0723-49C8-A2D2-B245B3A6E701}"/>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28" name="Text 24">
            <a:extLst xmlns:a="http://schemas.openxmlformats.org/drawingml/2006/main">
              <a:ext uri="{FF2B5EF4-FFF2-40B4-BE49-F238E27FC236}">
                <a16:creationId xmlns:a16="http://schemas.microsoft.com/office/drawing/2014/main" id="{C2FBDDCB-2D79-4625-BECB-F7962E5376A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p>
        </p:txBody>
      </p:sp>
    </p:spTree>
    <p:extLst>
      <p:ext uri="{BB962C8B-B14F-4D97-AF65-F5344CB8AC3E}">
        <p14:creationId xmlns:p14="http://schemas.microsoft.com/office/powerpoint/2010/main" val="766080810"/>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B7A691-6DEB-41DC-A29E-ECC6F111092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C578231-DC7B-41AA-823D-234A3DFC68C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18.1</a:t>
            </a:r>
          </a:p>
        </p:txBody>
      </p:sp>
      <p:sp>
        <p:nvSpPr>
          <p:cNvPr id="4" name="Text 2">
            <a:extLst xmlns:a="http://schemas.openxmlformats.org/drawingml/2006/main">
              <a:ext uri="{FF2B5EF4-FFF2-40B4-BE49-F238E27FC236}">
                <a16:creationId xmlns:a16="http://schemas.microsoft.com/office/drawing/2014/main" id="{BEC97AF0-6A45-494C-87D3-B6D4AA6901F4}"/>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D40C30EC-641A-47F2-805D-3D3FDAB5541A}"/>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An Overview of Blood</a:t>
            </a:r>
          </a:p>
        </p:txBody>
      </p:sp>
      <p:sp>
        <p:nvSpPr>
          <p:cNvPr id="6" name="Text 4">
            <a:extLst xmlns:a="http://schemas.openxmlformats.org/drawingml/2006/main">
              <a:ext uri="{FF2B5EF4-FFF2-40B4-BE49-F238E27FC236}">
                <a16:creationId xmlns:a16="http://schemas.microsoft.com/office/drawing/2014/main" id="{4526C3A0-8CE6-4371-BB07-56AE187F6DAC}"/>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What blood is made of and what it does.</a:t>
            </a:r>
          </a:p>
        </p:txBody>
      </p:sp>
    </p:spTree>
    <p:extLst>
      <p:ext uri="{BB962C8B-B14F-4D97-AF65-F5344CB8AC3E}">
        <p14:creationId xmlns:p14="http://schemas.microsoft.com/office/powerpoint/2010/main" val="2457440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53F28D-7224-464A-A8B9-E0B5AE8736C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18.1</a:t>
            </a:r>
          </a:p>
        </p:txBody>
      </p:sp>
      <p:sp>
        <p:nvSpPr>
          <p:cNvPr id="3" name="Text 1">
            <a:extLst xmlns:a="http://schemas.openxmlformats.org/drawingml/2006/main">
              <a:ext uri="{FF2B5EF4-FFF2-40B4-BE49-F238E27FC236}">
                <a16:creationId xmlns:a16="http://schemas.microsoft.com/office/drawing/2014/main" id="{E40B904D-AFB3-4D06-A6E4-6D466239358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Composition of Blood</a:t>
            </a:r>
          </a:p>
        </p:txBody>
      </p:sp>
      <p:sp>
        <p:nvSpPr>
          <p:cNvPr id="4" name="Shape 2">
            <a:extLst xmlns:a="http://schemas.openxmlformats.org/drawingml/2006/main">
              <a:ext uri="{FF2B5EF4-FFF2-40B4-BE49-F238E27FC236}">
                <a16:creationId xmlns:a16="http://schemas.microsoft.com/office/drawing/2014/main" id="{0EB69150-5A6F-4A40-A9BE-C60B0F3027B4}"/>
              </a:ext>
            </a:extLst>
          </p:cNvPr>
          <p:cNvSpPr>
            <a:spLocks xmlns:a="http://schemas.openxmlformats.org/drawingml/2006/main" noGrp="1"/>
          </p:cNvSpPr>
          <p:nvPr/>
        </p:nvSpPr>
        <p:spPr>
          <a:xfrm xmlns:a="http://schemas.openxmlformats.org/drawingml/2006/main">
            <a:off x="3173032" y="1289304"/>
            <a:ext cx="5861176"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516f872a0c44c0a"/>
          <a:stretch xmlns:a="http://schemas.openxmlformats.org/drawingml/2006/main">
            <a:fillRect l="0" t="0" r="0" b="0"/>
          </a:stretch>
        </p:blipFill>
        <p:spPr>
          <a:xfrm xmlns:a="http://schemas.openxmlformats.org/drawingml/2006/main">
            <a:off x="3255328" y="1371600"/>
            <a:ext cx="5696584"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C6FFDEFB-392D-49CA-BBA4-6643EBB0957F}"/>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Blood: plasma and formed elements</a:t>
            </a:r>
          </a:p>
        </p:txBody>
      </p:sp>
      <p:sp>
        <p:nvSpPr>
          <p:cNvPr id="7" name="Text 4">
            <a:extLst xmlns:a="http://schemas.openxmlformats.org/drawingml/2006/main">
              <a:ext uri="{FF2B5EF4-FFF2-40B4-BE49-F238E27FC236}">
                <a16:creationId xmlns:a16="http://schemas.microsoft.com/office/drawing/2014/main" id="{EF87F2D3-8F5C-481A-8955-C4A77342E7BB}"/>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Plasma is the liquid portion (~55%)</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Formed elements are cells (~45%)</a:t>
            </a:r>
          </a:p>
        </p:txBody>
      </p:sp>
      <p:sp>
        <p:nvSpPr>
          <p:cNvPr id="8" name="Text 5">
            <a:extLst xmlns:a="http://schemas.openxmlformats.org/drawingml/2006/main">
              <a:ext uri="{FF2B5EF4-FFF2-40B4-BE49-F238E27FC236}">
                <a16:creationId xmlns:a16="http://schemas.microsoft.com/office/drawing/2014/main" id="{04747590-2FC5-4303-BECC-9386ED80B007}"/>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Buffy coat = white cells and platelets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Hematocrit = percent red cells</a:t>
            </a:r>
          </a:p>
        </p:txBody>
      </p:sp>
      <p:sp>
        <p:nvSpPr>
          <p:cNvPr id="10" name="Text 6">
            <a:extLst xmlns:a="http://schemas.openxmlformats.org/drawingml/2006/main">
              <a:ext uri="{FF2B5EF4-FFF2-40B4-BE49-F238E27FC236}">
                <a16:creationId xmlns:a16="http://schemas.microsoft.com/office/drawing/2014/main" id="{38EEAE3E-F352-452D-86C6-8386BDB834A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1" name="Text 7">
            <a:extLst xmlns:a="http://schemas.openxmlformats.org/drawingml/2006/main">
              <a:ext uri="{FF2B5EF4-FFF2-40B4-BE49-F238E27FC236}">
                <a16:creationId xmlns:a16="http://schemas.microsoft.com/office/drawing/2014/main" id="{15506933-EBEF-4969-BF3A-B2C9F87FAF5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p>
        </p:txBody>
      </p:sp>
    </p:spTree>
    <p:extLst>
      <p:ext uri="{BB962C8B-B14F-4D97-AF65-F5344CB8AC3E}">
        <p14:creationId xmlns:p14="http://schemas.microsoft.com/office/powerpoint/2010/main" val="875102253"/>
      </p:ext>
    </p:extLst>
  </p:cSld>
</p:sld>
</file>

<file path=ppt/slides/slide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E0CF7A0-E055-4020-B5F7-85CF9E291FF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26E787B-4C2C-4524-BE06-F6602B7432C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18.2</a:t>
            </a:r>
          </a:p>
        </p:txBody>
      </p:sp>
      <p:sp>
        <p:nvSpPr>
          <p:cNvPr id="4" name="Text 2">
            <a:extLst xmlns:a="http://schemas.openxmlformats.org/drawingml/2006/main">
              <a:ext uri="{FF2B5EF4-FFF2-40B4-BE49-F238E27FC236}">
                <a16:creationId xmlns:a16="http://schemas.microsoft.com/office/drawing/2014/main" id="{62BEC34C-3DDE-412C-84EE-BD2D7F1A2B0A}"/>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53EDC0BB-5368-4F59-8FC1-4FF9CBC6CBB7}"/>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Production of the Formed Elements</a:t>
            </a:r>
          </a:p>
        </p:txBody>
      </p:sp>
      <p:sp>
        <p:nvSpPr>
          <p:cNvPr id="6" name="Text 4">
            <a:extLst xmlns:a="http://schemas.openxmlformats.org/drawingml/2006/main">
              <a:ext uri="{FF2B5EF4-FFF2-40B4-BE49-F238E27FC236}">
                <a16:creationId xmlns:a16="http://schemas.microsoft.com/office/drawing/2014/main" id="{27703ED4-50DA-4619-B700-5A98D5D0D6F4}"/>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blood cells are produced in red bone marrow.</a:t>
            </a:r>
          </a:p>
        </p:txBody>
      </p:sp>
    </p:spTree>
    <p:extLst>
      <p:ext uri="{BB962C8B-B14F-4D97-AF65-F5344CB8AC3E}">
        <p14:creationId xmlns:p14="http://schemas.microsoft.com/office/powerpoint/2010/main" val="12865712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16D94D-9FDB-4242-88B8-6E02E7523C4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18.2</a:t>
            </a:r>
          </a:p>
        </p:txBody>
      </p:sp>
      <p:sp>
        <p:nvSpPr>
          <p:cNvPr id="3" name="Text 1">
            <a:extLst xmlns:a="http://schemas.openxmlformats.org/drawingml/2006/main">
              <a:ext uri="{FF2B5EF4-FFF2-40B4-BE49-F238E27FC236}">
                <a16:creationId xmlns:a16="http://schemas.microsoft.com/office/drawing/2014/main" id="{6C99674A-9DF0-484B-9E90-D66B100806E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Hematopoiesis</a:t>
            </a:r>
          </a:p>
        </p:txBody>
      </p:sp>
      <p:sp>
        <p:nvSpPr>
          <p:cNvPr id="4" name="Text 2">
            <a:extLst xmlns:a="http://schemas.openxmlformats.org/drawingml/2006/main">
              <a:ext uri="{FF2B5EF4-FFF2-40B4-BE49-F238E27FC236}">
                <a16:creationId xmlns:a16="http://schemas.microsoft.com/office/drawing/2014/main" id="{C5ED3CC1-8FE0-4240-8F38-2C30C2DED5A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All blood cells form in red marrow</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Start from one stem cell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Myeloid line → most cell types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Lymphoid line → lymphocytes</a:t>
            </a:r>
          </a:p>
        </p:txBody>
      </p:sp>
      <p:sp>
        <p:nvSpPr>
          <p:cNvPr id="5" name="Shape 3">
            <a:extLst xmlns:a="http://schemas.openxmlformats.org/drawingml/2006/main">
              <a:ext uri="{FF2B5EF4-FFF2-40B4-BE49-F238E27FC236}">
                <a16:creationId xmlns:a16="http://schemas.microsoft.com/office/drawing/2014/main" id="{1478C513-3DC2-45C1-83B0-8C78BB0D4087}"/>
              </a:ext>
            </a:extLst>
          </p:cNvPr>
          <p:cNvSpPr>
            <a:spLocks xmlns:a="http://schemas.openxmlformats.org/drawingml/2006/main" noGrp="1"/>
          </p:cNvSpPr>
          <p:nvPr/>
        </p:nvSpPr>
        <p:spPr>
          <a:xfrm xmlns:a="http://schemas.openxmlformats.org/drawingml/2006/main">
            <a:off x="5562839" y="1335024"/>
            <a:ext cx="6065041"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1f522340d5e46f8"/>
          <a:stretch xmlns:a="http://schemas.openxmlformats.org/drawingml/2006/main">
            <a:fillRect l="0" t="0" r="0" b="0"/>
          </a:stretch>
        </p:blipFill>
        <p:spPr>
          <a:xfrm xmlns:a="http://schemas.openxmlformats.org/drawingml/2006/main">
            <a:off x="5645135" y="1417320"/>
            <a:ext cx="5900449"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A4C9944-0C3A-44A9-8F35-F4B1ED0F5071}"/>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Hematopoiesis: the formation of blood cells</a:t>
            </a:r>
          </a:p>
        </p:txBody>
      </p:sp>
      <p:sp>
        <p:nvSpPr>
          <p:cNvPr id="9" name="Text 5">
            <a:extLst xmlns:a="http://schemas.openxmlformats.org/drawingml/2006/main">
              <a:ext uri="{FF2B5EF4-FFF2-40B4-BE49-F238E27FC236}">
                <a16:creationId xmlns:a16="http://schemas.microsoft.com/office/drawing/2014/main" id="{B3ABF377-6845-4E2D-8724-55A4E63EA69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BBBCFA30-C6D1-4D09-AD9A-1D0A8B02D35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p>
        </p:txBody>
      </p:sp>
    </p:spTree>
    <p:extLst>
      <p:ext uri="{BB962C8B-B14F-4D97-AF65-F5344CB8AC3E}">
        <p14:creationId xmlns:p14="http://schemas.microsoft.com/office/powerpoint/2010/main" val="875033496"/>
      </p:ext>
    </p:extLst>
  </p:cSld>
</p:sld>
</file>

<file path=ppt/slides/slide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54AFB51-44E1-401E-AF20-ECA608509AD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A1347945-CCF2-47BC-8082-AD92EEACEBE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18.3</a:t>
            </a:r>
          </a:p>
        </p:txBody>
      </p:sp>
      <p:sp>
        <p:nvSpPr>
          <p:cNvPr id="4" name="Text 2">
            <a:extLst xmlns:a="http://schemas.openxmlformats.org/drawingml/2006/main">
              <a:ext uri="{FF2B5EF4-FFF2-40B4-BE49-F238E27FC236}">
                <a16:creationId xmlns:a16="http://schemas.microsoft.com/office/drawing/2014/main" id="{C8D6B0EB-6942-4A0C-BC39-0E4364C576A0}"/>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600E31DA-2D0D-4C61-BEF5-B3880A6F79CC}"/>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Erythrocytes</a:t>
            </a:r>
          </a:p>
        </p:txBody>
      </p:sp>
      <p:sp>
        <p:nvSpPr>
          <p:cNvPr id="6" name="Text 4">
            <a:extLst xmlns:a="http://schemas.openxmlformats.org/drawingml/2006/main">
              <a:ext uri="{FF2B5EF4-FFF2-40B4-BE49-F238E27FC236}">
                <a16:creationId xmlns:a16="http://schemas.microsoft.com/office/drawing/2014/main" id="{A545D51D-691C-4568-B18B-CFD1D57A77F4}"/>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Red blood cells and oxygen transport.</a:t>
            </a:r>
          </a:p>
        </p:txBody>
      </p:sp>
    </p:spTree>
    <p:extLst>
      <p:ext uri="{BB962C8B-B14F-4D97-AF65-F5344CB8AC3E}">
        <p14:creationId xmlns:p14="http://schemas.microsoft.com/office/powerpoint/2010/main" val="12110257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D19744-9CA6-429E-9295-105F9D49EE0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18.3</a:t>
            </a:r>
          </a:p>
        </p:txBody>
      </p:sp>
      <p:sp>
        <p:nvSpPr>
          <p:cNvPr id="3" name="Text 1">
            <a:extLst xmlns:a="http://schemas.openxmlformats.org/drawingml/2006/main">
              <a:ext uri="{FF2B5EF4-FFF2-40B4-BE49-F238E27FC236}">
                <a16:creationId xmlns:a16="http://schemas.microsoft.com/office/drawing/2014/main" id="{9BAE5A39-3E36-4569-9EF6-BB988101B2E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Hemoglobin</a:t>
            </a:r>
          </a:p>
        </p:txBody>
      </p:sp>
      <p:sp>
        <p:nvSpPr>
          <p:cNvPr id="4" name="Shape 2">
            <a:extLst xmlns:a="http://schemas.openxmlformats.org/drawingml/2006/main">
              <a:ext uri="{FF2B5EF4-FFF2-40B4-BE49-F238E27FC236}">
                <a16:creationId xmlns:a16="http://schemas.microsoft.com/office/drawing/2014/main" id="{6FD2282D-A5DD-4495-9755-EB0D2B5FC4DB}"/>
              </a:ext>
            </a:extLst>
          </p:cNvPr>
          <p:cNvSpPr>
            <a:spLocks xmlns:a="http://schemas.openxmlformats.org/drawingml/2006/main" noGrp="1"/>
          </p:cNvSpPr>
          <p:nvPr/>
        </p:nvSpPr>
        <p:spPr>
          <a:xfrm xmlns:a="http://schemas.openxmlformats.org/drawingml/2006/main">
            <a:off x="2483515" y="1289304"/>
            <a:ext cx="7240210"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e10a7629222436a"/>
          <a:stretch xmlns:a="http://schemas.openxmlformats.org/drawingml/2006/main">
            <a:fillRect l="0" t="0" r="0" b="0"/>
          </a:stretch>
        </p:blipFill>
        <p:spPr>
          <a:xfrm xmlns:a="http://schemas.openxmlformats.org/drawingml/2006/main">
            <a:off x="2565811" y="1371600"/>
            <a:ext cx="7075618"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769BBA8-3935-4967-9C93-86C12C365C26}"/>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structure of hemoglobin</a:t>
            </a:r>
          </a:p>
        </p:txBody>
      </p:sp>
      <p:sp>
        <p:nvSpPr>
          <p:cNvPr id="7" name="Text 4">
            <a:extLst xmlns:a="http://schemas.openxmlformats.org/drawingml/2006/main">
              <a:ext uri="{FF2B5EF4-FFF2-40B4-BE49-F238E27FC236}">
                <a16:creationId xmlns:a16="http://schemas.microsoft.com/office/drawing/2014/main" id="{1A70FFA6-70E0-45EF-9D40-A8428482E258}"/>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oxygen-carrying protein in red cells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Four globin chains</a:t>
            </a:r>
          </a:p>
        </p:txBody>
      </p:sp>
      <p:sp>
        <p:nvSpPr>
          <p:cNvPr id="8" name="Text 5">
            <a:extLst xmlns:a="http://schemas.openxmlformats.org/drawingml/2006/main">
              <a:ext uri="{FF2B5EF4-FFF2-40B4-BE49-F238E27FC236}">
                <a16:creationId xmlns:a16="http://schemas.microsoft.com/office/drawing/2014/main" id="{11ACB36D-6922-4DD9-BFCF-21553E046A27}"/>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Each holds an iron-rich heme group</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Iron binds the oxygen</a:t>
            </a:r>
          </a:p>
        </p:txBody>
      </p:sp>
      <p:sp>
        <p:nvSpPr>
          <p:cNvPr id="10" name="Text 6">
            <a:extLst xmlns:a="http://schemas.openxmlformats.org/drawingml/2006/main">
              <a:ext uri="{FF2B5EF4-FFF2-40B4-BE49-F238E27FC236}">
                <a16:creationId xmlns:a16="http://schemas.microsoft.com/office/drawing/2014/main" id="{5AB0923A-B8D9-48A8-AA5D-FBDE39C9E21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1" name="Text 7">
            <a:extLst xmlns:a="http://schemas.openxmlformats.org/drawingml/2006/main">
              <a:ext uri="{FF2B5EF4-FFF2-40B4-BE49-F238E27FC236}">
                <a16:creationId xmlns:a16="http://schemas.microsoft.com/office/drawing/2014/main" id="{69A69B13-3F20-4144-92EA-B727D04CA74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p>
        </p:txBody>
      </p:sp>
    </p:spTree>
    <p:extLst>
      <p:ext uri="{BB962C8B-B14F-4D97-AF65-F5344CB8AC3E}">
        <p14:creationId xmlns:p14="http://schemas.microsoft.com/office/powerpoint/2010/main" val="17235187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B997F8-B8AB-4011-BAE6-5F9A9ECD49B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18.3</a:t>
            </a:r>
          </a:p>
        </p:txBody>
      </p:sp>
      <p:sp>
        <p:nvSpPr>
          <p:cNvPr id="3" name="Text 1">
            <a:extLst xmlns:a="http://schemas.openxmlformats.org/drawingml/2006/main">
              <a:ext uri="{FF2B5EF4-FFF2-40B4-BE49-F238E27FC236}">
                <a16:creationId xmlns:a16="http://schemas.microsoft.com/office/drawing/2014/main" id="{21732C17-5877-4FD6-824C-DC59A5E88D6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Red Blood Cell Life Cycle</a:t>
            </a:r>
          </a:p>
        </p:txBody>
      </p:sp>
      <p:sp>
        <p:nvSpPr>
          <p:cNvPr id="4" name="Shape 2">
            <a:extLst xmlns:a="http://schemas.openxmlformats.org/drawingml/2006/main">
              <a:ext uri="{FF2B5EF4-FFF2-40B4-BE49-F238E27FC236}">
                <a16:creationId xmlns:a16="http://schemas.microsoft.com/office/drawing/2014/main" id="{349B920B-CA84-4CBC-9704-E826CD033A01}"/>
              </a:ext>
            </a:extLst>
          </p:cNvPr>
          <p:cNvSpPr>
            <a:spLocks xmlns:a="http://schemas.openxmlformats.org/drawingml/2006/main" noGrp="1"/>
          </p:cNvSpPr>
          <p:nvPr/>
        </p:nvSpPr>
        <p:spPr>
          <a:xfrm xmlns:a="http://schemas.openxmlformats.org/drawingml/2006/main">
            <a:off x="812216" y="1289304"/>
            <a:ext cx="3679088" cy="4736592"/>
          </a:xfrm>
          <a:prstGeom xmlns:a="http://schemas.openxmlformats.org/drawingml/2006/main" prst="roundRect">
            <a:avLst>
              <a:gd name="adj" fmla="val 149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72c94e73a18a4e0f"/>
          <a:stretch xmlns:a="http://schemas.openxmlformats.org/drawingml/2006/main">
            <a:fillRect l="0" t="0" r="0" b="0"/>
          </a:stretch>
        </p:blipFill>
        <p:spPr>
          <a:xfrm xmlns:a="http://schemas.openxmlformats.org/drawingml/2006/main">
            <a:off x="894512" y="1371600"/>
            <a:ext cx="351449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E905F3B-D482-4E4C-B427-432A1B997813}"/>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life cycle of a red blood cell</a:t>
            </a:r>
          </a:p>
        </p:txBody>
      </p:sp>
      <p:sp>
        <p:nvSpPr>
          <p:cNvPr id="7" name="Text 4">
            <a:extLst xmlns:a="http://schemas.openxmlformats.org/drawingml/2006/main">
              <a:ext uri="{FF2B5EF4-FFF2-40B4-BE49-F238E27FC236}">
                <a16:creationId xmlns:a16="http://schemas.microsoft.com/office/drawing/2014/main" id="{A3D77BB9-D28A-4380-85FB-7DDCC63EE9E7}"/>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Red cells live about 120 days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Old cells broken down in spleen and liver</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Iron is recycled</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Heme becomes bilirubin</a:t>
            </a:r>
          </a:p>
        </p:txBody>
      </p:sp>
      <p:sp>
        <p:nvSpPr>
          <p:cNvPr id="9" name="Text 5">
            <a:extLst xmlns:a="http://schemas.openxmlformats.org/drawingml/2006/main">
              <a:ext uri="{FF2B5EF4-FFF2-40B4-BE49-F238E27FC236}">
                <a16:creationId xmlns:a16="http://schemas.microsoft.com/office/drawing/2014/main" id="{A604285D-938B-4CFC-85B0-A86EE49BE42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8C1B83E4-3023-4EA7-AFE1-A8717915A0A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p>
        </p:txBody>
      </p:sp>
    </p:spTree>
    <p:extLst>
      <p:ext uri="{BB962C8B-B14F-4D97-AF65-F5344CB8AC3E}">
        <p14:creationId xmlns:p14="http://schemas.microsoft.com/office/powerpoint/2010/main" val="1825702019"/>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FD41425-4925-4A68-BD34-3871144D93C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A92C2B93-B21B-4D78-AD86-A5F0686939C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18.4</a:t>
            </a:r>
          </a:p>
        </p:txBody>
      </p:sp>
      <p:sp>
        <p:nvSpPr>
          <p:cNvPr id="4" name="Text 2">
            <a:extLst xmlns:a="http://schemas.openxmlformats.org/drawingml/2006/main">
              <a:ext uri="{FF2B5EF4-FFF2-40B4-BE49-F238E27FC236}">
                <a16:creationId xmlns:a16="http://schemas.microsoft.com/office/drawing/2014/main" id="{75EFCCD3-6DEC-4436-A87C-50711E0B4550}"/>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4AD3D7E3-6340-476E-9022-7F92E9E904D9}"/>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Leukocytes and Platelets</a:t>
            </a:r>
          </a:p>
        </p:txBody>
      </p:sp>
      <p:sp>
        <p:nvSpPr>
          <p:cNvPr id="6" name="Text 4">
            <a:extLst xmlns:a="http://schemas.openxmlformats.org/drawingml/2006/main">
              <a:ext uri="{FF2B5EF4-FFF2-40B4-BE49-F238E27FC236}">
                <a16:creationId xmlns:a16="http://schemas.microsoft.com/office/drawing/2014/main" id="{FD1CD33D-F5E8-44D8-837A-6EE56069F132}"/>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White blood cells and platelets — defense and clotting.</a:t>
            </a:r>
          </a:p>
        </p:txBody>
      </p:sp>
    </p:spTree>
    <p:extLst>
      <p:ext uri="{BB962C8B-B14F-4D97-AF65-F5344CB8AC3E}">
        <p14:creationId xmlns:p14="http://schemas.microsoft.com/office/powerpoint/2010/main" val="9103583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9DFEB6-A7DE-4415-8E7D-8A0DDEE4D184}"/>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18.4</a:t>
            </a:r>
          </a:p>
        </p:txBody>
      </p:sp>
      <p:sp>
        <p:nvSpPr>
          <p:cNvPr id="3" name="Text 1">
            <a:extLst xmlns:a="http://schemas.openxmlformats.org/drawingml/2006/main">
              <a:ext uri="{FF2B5EF4-FFF2-40B4-BE49-F238E27FC236}">
                <a16:creationId xmlns:a16="http://schemas.microsoft.com/office/drawing/2014/main" id="{1D2272CA-CE44-428C-A6CC-3BE34929231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How Leukocytes Fight Infection</a:t>
            </a:r>
          </a:p>
        </p:txBody>
      </p:sp>
      <p:sp>
        <p:nvSpPr>
          <p:cNvPr id="4" name="Shape 2">
            <a:extLst xmlns:a="http://schemas.openxmlformats.org/drawingml/2006/main">
              <a:ext uri="{FF2B5EF4-FFF2-40B4-BE49-F238E27FC236}">
                <a16:creationId xmlns:a16="http://schemas.microsoft.com/office/drawing/2014/main" id="{DFC93034-A031-48F3-AAA5-72510F7D7596}"/>
              </a:ext>
            </a:extLst>
          </p:cNvPr>
          <p:cNvSpPr>
            <a:spLocks xmlns:a="http://schemas.openxmlformats.org/drawingml/2006/main" noGrp="1"/>
          </p:cNvSpPr>
          <p:nvPr/>
        </p:nvSpPr>
        <p:spPr>
          <a:xfrm xmlns:a="http://schemas.openxmlformats.org/drawingml/2006/main">
            <a:off x="748208" y="1289304"/>
            <a:ext cx="3807104" cy="4736592"/>
          </a:xfrm>
          <a:prstGeom xmlns:a="http://schemas.openxmlformats.org/drawingml/2006/main" prst="roundRect">
            <a:avLst>
              <a:gd name="adj" fmla="val 144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3a063a1e40554f96"/>
          <a:stretch xmlns:a="http://schemas.openxmlformats.org/drawingml/2006/main">
            <a:fillRect l="0" t="0" r="0" b="0"/>
          </a:stretch>
        </p:blipFill>
        <p:spPr>
          <a:xfrm xmlns:a="http://schemas.openxmlformats.org/drawingml/2006/main">
            <a:off x="830504" y="1371600"/>
            <a:ext cx="364251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CAB455B0-2971-4188-9718-EA2ABF1A06D3}"/>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How leukocytes fight infection</a:t>
            </a:r>
          </a:p>
        </p:txBody>
      </p:sp>
      <p:sp>
        <p:nvSpPr>
          <p:cNvPr id="7" name="Text 4">
            <a:extLst xmlns:a="http://schemas.openxmlformats.org/drawingml/2006/main">
              <a:ext uri="{FF2B5EF4-FFF2-40B4-BE49-F238E27FC236}">
                <a16:creationId xmlns:a16="http://schemas.microsoft.com/office/drawing/2014/main" id="{B6C6CCAC-1EFC-4FB8-AC6B-9AA02EE3304A}"/>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White cells defend against infection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Leave vessels by diapedesis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Move toward chemical signals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Engulf pathogens (phagocytosis)</a:t>
            </a:r>
          </a:p>
        </p:txBody>
      </p:sp>
      <p:sp>
        <p:nvSpPr>
          <p:cNvPr id="9" name="Text 5">
            <a:extLst xmlns:a="http://schemas.openxmlformats.org/drawingml/2006/main">
              <a:ext uri="{FF2B5EF4-FFF2-40B4-BE49-F238E27FC236}">
                <a16:creationId xmlns:a16="http://schemas.microsoft.com/office/drawing/2014/main" id="{80F43CFE-6D2D-4DDB-9F5A-0068DF45964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3940A0BE-E807-4C33-AA9F-0E1CCBADCD9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p>
        </p:txBody>
      </p:sp>
    </p:spTree>
    <p:extLst>
      <p:ext uri="{BB962C8B-B14F-4D97-AF65-F5344CB8AC3E}">
        <p14:creationId xmlns:p14="http://schemas.microsoft.com/office/powerpoint/2010/main" val="17411047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357BDD-C3EF-4048-9E50-559D355B31A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18.4</a:t>
            </a:r>
          </a:p>
        </p:txBody>
      </p:sp>
      <p:sp>
        <p:nvSpPr>
          <p:cNvPr id="3" name="Text 1">
            <a:extLst xmlns:a="http://schemas.openxmlformats.org/drawingml/2006/main">
              <a:ext uri="{FF2B5EF4-FFF2-40B4-BE49-F238E27FC236}">
                <a16:creationId xmlns:a16="http://schemas.microsoft.com/office/drawing/2014/main" id="{6DE807F3-E0D9-46F2-AF53-EACA3AEE8A0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Types of White Blood Cells</a:t>
            </a:r>
          </a:p>
        </p:txBody>
      </p:sp>
      <p:sp>
        <p:nvSpPr>
          <p:cNvPr id="4" name="Shape 2">
            <a:extLst xmlns:a="http://schemas.openxmlformats.org/drawingml/2006/main">
              <a:ext uri="{FF2B5EF4-FFF2-40B4-BE49-F238E27FC236}">
                <a16:creationId xmlns:a16="http://schemas.microsoft.com/office/drawing/2014/main" id="{7EA6CF47-74ED-4388-B50D-E8D839FEF794}"/>
              </a:ext>
            </a:extLst>
          </p:cNvPr>
          <p:cNvSpPr>
            <a:spLocks xmlns:a="http://schemas.openxmlformats.org/drawingml/2006/main" noGrp="1"/>
          </p:cNvSpPr>
          <p:nvPr/>
        </p:nvSpPr>
        <p:spPr>
          <a:xfrm xmlns:a="http://schemas.openxmlformats.org/drawingml/2006/main">
            <a:off x="563138" y="1289304"/>
            <a:ext cx="11080964"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c5933a3297094618"/>
          <a:stretch xmlns:a="http://schemas.openxmlformats.org/drawingml/2006/main">
            <a:fillRect l="0" t="0" r="0" b="0"/>
          </a:stretch>
        </p:blipFill>
        <p:spPr>
          <a:xfrm xmlns:a="http://schemas.openxmlformats.org/drawingml/2006/main">
            <a:off x="645434" y="1371600"/>
            <a:ext cx="10916372"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7361BA1-74F0-4C17-BD52-FB9005E9ECFD}"/>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granular leukocytes</a:t>
            </a:r>
          </a:p>
        </p:txBody>
      </p:sp>
      <p:sp>
        <p:nvSpPr>
          <p:cNvPr id="7" name="Text 4">
            <a:extLst xmlns:a="http://schemas.openxmlformats.org/drawingml/2006/main">
              <a:ext uri="{FF2B5EF4-FFF2-40B4-BE49-F238E27FC236}">
                <a16:creationId xmlns:a16="http://schemas.microsoft.com/office/drawing/2014/main" id="{AA715C67-E7BB-4B2A-A282-42477D52F2F2}"/>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Five types of leukocytes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Granulocytes: neutrophil, eosinophil, basophil</a:t>
            </a:r>
          </a:p>
        </p:txBody>
      </p:sp>
      <p:sp>
        <p:nvSpPr>
          <p:cNvPr id="8" name="Text 5">
            <a:extLst xmlns:a="http://schemas.openxmlformats.org/drawingml/2006/main">
              <a:ext uri="{FF2B5EF4-FFF2-40B4-BE49-F238E27FC236}">
                <a16:creationId xmlns:a16="http://schemas.microsoft.com/office/drawing/2014/main" id="{CEBD0E49-2F09-4559-9DC9-EB4E28159916}"/>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Agranulocytes: lymphocyte, monocyte</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Each has a specific role</a:t>
            </a:r>
          </a:p>
        </p:txBody>
      </p:sp>
      <p:sp>
        <p:nvSpPr>
          <p:cNvPr id="10" name="Text 6">
            <a:extLst xmlns:a="http://schemas.openxmlformats.org/drawingml/2006/main">
              <a:ext uri="{FF2B5EF4-FFF2-40B4-BE49-F238E27FC236}">
                <a16:creationId xmlns:a16="http://schemas.microsoft.com/office/drawing/2014/main" id="{F27198E2-5E3D-4413-9CA7-379205C58B21}"/>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1" name="Text 7">
            <a:extLst xmlns:a="http://schemas.openxmlformats.org/drawingml/2006/main">
              <a:ext uri="{FF2B5EF4-FFF2-40B4-BE49-F238E27FC236}">
                <a16:creationId xmlns:a16="http://schemas.microsoft.com/office/drawing/2014/main" id="{76FC16C1-8A26-4931-9E5F-CC279BDFB70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p>
        </p:txBody>
      </p:sp>
    </p:spTree>
    <p:extLst>
      <p:ext uri="{BB962C8B-B14F-4D97-AF65-F5344CB8AC3E}">
        <p14:creationId xmlns:p14="http://schemas.microsoft.com/office/powerpoint/2010/main" val="19914123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513424-3F43-440F-ADB4-9C4E36C1DA4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18.4</a:t>
            </a:r>
          </a:p>
        </p:txBody>
      </p:sp>
      <p:sp>
        <p:nvSpPr>
          <p:cNvPr id="3" name="Text 1">
            <a:extLst xmlns:a="http://schemas.openxmlformats.org/drawingml/2006/main">
              <a:ext uri="{FF2B5EF4-FFF2-40B4-BE49-F238E27FC236}">
                <a16:creationId xmlns:a16="http://schemas.microsoft.com/office/drawing/2014/main" id="{E1E5B533-D454-46B2-8157-ECA1C6F4AF0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Platelet Formation</a:t>
            </a:r>
          </a:p>
        </p:txBody>
      </p:sp>
      <p:sp>
        <p:nvSpPr>
          <p:cNvPr id="4" name="Shape 2">
            <a:extLst xmlns:a="http://schemas.openxmlformats.org/drawingml/2006/main">
              <a:ext uri="{FF2B5EF4-FFF2-40B4-BE49-F238E27FC236}">
                <a16:creationId xmlns:a16="http://schemas.microsoft.com/office/drawing/2014/main" id="{76191311-04D9-4DDC-9BD5-E45F808A2AEC}"/>
              </a:ext>
            </a:extLst>
          </p:cNvPr>
          <p:cNvSpPr>
            <a:spLocks xmlns:a="http://schemas.openxmlformats.org/drawingml/2006/main" noGrp="1"/>
          </p:cNvSpPr>
          <p:nvPr/>
        </p:nvSpPr>
        <p:spPr>
          <a:xfrm xmlns:a="http://schemas.openxmlformats.org/drawingml/2006/main">
            <a:off x="990752" y="1289304"/>
            <a:ext cx="3322015" cy="4736592"/>
          </a:xfrm>
          <a:prstGeom xmlns:a="http://schemas.openxmlformats.org/drawingml/2006/main" prst="roundRect">
            <a:avLst>
              <a:gd name="adj" fmla="val 165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f9ee492da1704777"/>
          <a:stretch xmlns:a="http://schemas.openxmlformats.org/drawingml/2006/main">
            <a:fillRect l="0" t="0" r="0" b="0"/>
          </a:stretch>
        </p:blipFill>
        <p:spPr>
          <a:xfrm xmlns:a="http://schemas.openxmlformats.org/drawingml/2006/main">
            <a:off x="1073048" y="1371600"/>
            <a:ext cx="3157423"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1637BA5-5D82-46A7-A9D8-37F2876741CD}"/>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formation of platelets</a:t>
            </a:r>
          </a:p>
        </p:txBody>
      </p:sp>
      <p:sp>
        <p:nvSpPr>
          <p:cNvPr id="7" name="Text 4">
            <a:extLst xmlns:a="http://schemas.openxmlformats.org/drawingml/2006/main">
              <a:ext uri="{FF2B5EF4-FFF2-40B4-BE49-F238E27FC236}">
                <a16:creationId xmlns:a16="http://schemas.microsoft.com/office/drawing/2014/main" id="{E7C382F6-5488-4D2D-BAEE-25748356E77D}"/>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Platelets are cell fragments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Shed from megakaryocytes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Driven by thrombopoietin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Essential for clotting</a:t>
            </a:r>
          </a:p>
        </p:txBody>
      </p:sp>
      <p:sp>
        <p:nvSpPr>
          <p:cNvPr id="9" name="Text 5">
            <a:extLst xmlns:a="http://schemas.openxmlformats.org/drawingml/2006/main">
              <a:ext uri="{FF2B5EF4-FFF2-40B4-BE49-F238E27FC236}">
                <a16:creationId xmlns:a16="http://schemas.microsoft.com/office/drawing/2014/main" id="{220F3CE4-EDCE-475D-A19E-A59EABC38D4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1CEF49A3-0DD0-4430-A5F0-64744FA1F96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p>
        </p:txBody>
      </p:sp>
    </p:spTree>
    <p:extLst>
      <p:ext uri="{BB962C8B-B14F-4D97-AF65-F5344CB8AC3E}">
        <p14:creationId xmlns:p14="http://schemas.microsoft.com/office/powerpoint/2010/main" val="565911137"/>
      </p:ext>
    </p:extLst>
  </p:cSld>
</p:sld>
</file>

<file path=ppt/slides/slide14.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1CBC4C3-146E-4D43-9604-7B8BD064AB8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C179C6E9-3CBD-4F4B-8D44-8CAF44C3C1A3}"/>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18.5</a:t>
            </a:r>
          </a:p>
        </p:txBody>
      </p:sp>
      <p:sp>
        <p:nvSpPr>
          <p:cNvPr id="4" name="Text 2">
            <a:extLst xmlns:a="http://schemas.openxmlformats.org/drawingml/2006/main">
              <a:ext uri="{FF2B5EF4-FFF2-40B4-BE49-F238E27FC236}">
                <a16:creationId xmlns:a16="http://schemas.microsoft.com/office/drawing/2014/main" id="{3BF01149-FD76-46DE-8CBD-C8D5AC4FB47A}"/>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F969E1AD-237D-4A39-806E-6EC0DCC91730}"/>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Hemostasis</a:t>
            </a:r>
          </a:p>
        </p:txBody>
      </p:sp>
      <p:sp>
        <p:nvSpPr>
          <p:cNvPr id="6" name="Text 4">
            <a:extLst xmlns:a="http://schemas.openxmlformats.org/drawingml/2006/main">
              <a:ext uri="{FF2B5EF4-FFF2-40B4-BE49-F238E27FC236}">
                <a16:creationId xmlns:a16="http://schemas.microsoft.com/office/drawing/2014/main" id="{5881A8B0-19E4-426E-B1D0-C34CEAA5339D}"/>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Hemostasis — how the body stops bleeding.</a:t>
            </a:r>
          </a:p>
        </p:txBody>
      </p:sp>
    </p:spTree>
    <p:extLst>
      <p:ext uri="{BB962C8B-B14F-4D97-AF65-F5344CB8AC3E}">
        <p14:creationId xmlns:p14="http://schemas.microsoft.com/office/powerpoint/2010/main" val="9770674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E8E909-5903-449A-BD4F-F60DCECB48D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18.5</a:t>
            </a:r>
          </a:p>
        </p:txBody>
      </p:sp>
      <p:sp>
        <p:nvSpPr>
          <p:cNvPr id="3" name="Text 1">
            <a:extLst xmlns:a="http://schemas.openxmlformats.org/drawingml/2006/main">
              <a:ext uri="{FF2B5EF4-FFF2-40B4-BE49-F238E27FC236}">
                <a16:creationId xmlns:a16="http://schemas.microsoft.com/office/drawing/2014/main" id="{277BBD19-A728-4401-843F-E1E38EBCF53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Hemostasis</a:t>
            </a:r>
          </a:p>
        </p:txBody>
      </p:sp>
      <p:sp>
        <p:nvSpPr>
          <p:cNvPr id="4" name="Shape 2">
            <a:extLst xmlns:a="http://schemas.openxmlformats.org/drawingml/2006/main">
              <a:ext uri="{FF2B5EF4-FFF2-40B4-BE49-F238E27FC236}">
                <a16:creationId xmlns:a16="http://schemas.microsoft.com/office/drawing/2014/main" id="{1AD91140-C9E7-44CB-B654-29AE0F544D76}"/>
              </a:ext>
            </a:extLst>
          </p:cNvPr>
          <p:cNvSpPr>
            <a:spLocks xmlns:a="http://schemas.openxmlformats.org/drawingml/2006/main" noGrp="1"/>
          </p:cNvSpPr>
          <p:nvPr/>
        </p:nvSpPr>
        <p:spPr>
          <a:xfrm xmlns:a="http://schemas.openxmlformats.org/drawingml/2006/main">
            <a:off x="670484" y="1289304"/>
            <a:ext cx="3962552" cy="4736592"/>
          </a:xfrm>
          <a:prstGeom xmlns:a="http://schemas.openxmlformats.org/drawingml/2006/main" prst="roundRect">
            <a:avLst>
              <a:gd name="adj" fmla="val 1385"/>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deb0fb1615754c2d"/>
          <a:stretch xmlns:a="http://schemas.openxmlformats.org/drawingml/2006/main">
            <a:fillRect l="0" t="0" r="0" b="0"/>
          </a:stretch>
        </p:blipFill>
        <p:spPr>
          <a:xfrm xmlns:a="http://schemas.openxmlformats.org/drawingml/2006/main">
            <a:off x="752780" y="1371600"/>
            <a:ext cx="379796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C58A1BB3-121C-41A6-A7C3-373685AEC574}"/>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steps of hemostasis</a:t>
            </a:r>
          </a:p>
        </p:txBody>
      </p:sp>
      <p:sp>
        <p:nvSpPr>
          <p:cNvPr id="7" name="Text 4">
            <a:extLst xmlns:a="http://schemas.openxmlformats.org/drawingml/2006/main">
              <a:ext uri="{FF2B5EF4-FFF2-40B4-BE49-F238E27FC236}">
                <a16:creationId xmlns:a16="http://schemas.microsoft.com/office/drawing/2014/main" id="{0F036FBD-C7DD-4365-980F-28203C01B7FE}"/>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Stops bleeding in three steps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Vascular spasm narrows the vessel</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 platelet plug forms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Coagulation makes a fibrin clot</a:t>
            </a:r>
          </a:p>
        </p:txBody>
      </p:sp>
      <p:sp>
        <p:nvSpPr>
          <p:cNvPr id="9" name="Text 5">
            <a:extLst xmlns:a="http://schemas.openxmlformats.org/drawingml/2006/main">
              <a:ext uri="{FF2B5EF4-FFF2-40B4-BE49-F238E27FC236}">
                <a16:creationId xmlns:a16="http://schemas.microsoft.com/office/drawing/2014/main" id="{4E2C2EDD-95B3-4F7D-A93E-1E038961F9F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B4D4A1B8-EC08-4B1A-86CA-0088F518782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p>
        </p:txBody>
      </p:sp>
    </p:spTree>
    <p:extLst>
      <p:ext uri="{BB962C8B-B14F-4D97-AF65-F5344CB8AC3E}">
        <p14:creationId xmlns:p14="http://schemas.microsoft.com/office/powerpoint/2010/main" val="1797026016"/>
      </p:ext>
    </p:extLst>
  </p:cSld>
</p:sld>
</file>

<file path=ppt/slides/slide16.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20C7FB-5052-420D-B504-BD705AFD190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85FCE0A1-FA41-4B7D-BB39-1E6286E57F97}"/>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18.6</a:t>
            </a:r>
          </a:p>
        </p:txBody>
      </p:sp>
      <p:sp>
        <p:nvSpPr>
          <p:cNvPr id="4" name="Text 2">
            <a:extLst xmlns:a="http://schemas.openxmlformats.org/drawingml/2006/main">
              <a:ext uri="{FF2B5EF4-FFF2-40B4-BE49-F238E27FC236}">
                <a16:creationId xmlns:a16="http://schemas.microsoft.com/office/drawing/2014/main" id="{FFE91839-C46B-4FB5-A80C-4D83389CCAB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4DA5FA8A-5601-4F75-A122-4E5F25C26098}"/>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Blood Typing</a:t>
            </a:r>
          </a:p>
        </p:txBody>
      </p:sp>
      <p:sp>
        <p:nvSpPr>
          <p:cNvPr id="6" name="Text 4">
            <a:extLst xmlns:a="http://schemas.openxmlformats.org/drawingml/2006/main">
              <a:ext uri="{FF2B5EF4-FFF2-40B4-BE49-F238E27FC236}">
                <a16:creationId xmlns:a16="http://schemas.microsoft.com/office/drawing/2014/main" id="{D53B0011-C302-4310-ADD1-3D050DF5C926}"/>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Blood typing and transfusion compatibility.</a:t>
            </a:r>
          </a:p>
        </p:txBody>
      </p:sp>
    </p:spTree>
    <p:extLst>
      <p:ext uri="{BB962C8B-B14F-4D97-AF65-F5344CB8AC3E}">
        <p14:creationId xmlns:p14="http://schemas.microsoft.com/office/powerpoint/2010/main" val="12677435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8E38F3-A14C-4406-B7A9-A8DB4E47011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18.6</a:t>
            </a:r>
          </a:p>
        </p:txBody>
      </p:sp>
      <p:sp>
        <p:nvSpPr>
          <p:cNvPr id="3" name="Text 1">
            <a:extLst xmlns:a="http://schemas.openxmlformats.org/drawingml/2006/main">
              <a:ext uri="{FF2B5EF4-FFF2-40B4-BE49-F238E27FC236}">
                <a16:creationId xmlns:a16="http://schemas.microsoft.com/office/drawing/2014/main" id="{A5AA57D8-5FD4-47D2-B63F-D66BA958328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Blood Typing</a:t>
            </a:r>
          </a:p>
        </p:txBody>
      </p:sp>
      <p:sp>
        <p:nvSpPr>
          <p:cNvPr id="4" name="Shape 2">
            <a:extLst xmlns:a="http://schemas.openxmlformats.org/drawingml/2006/main">
              <a:ext uri="{FF2B5EF4-FFF2-40B4-BE49-F238E27FC236}">
                <a16:creationId xmlns:a16="http://schemas.microsoft.com/office/drawing/2014/main" id="{D8F9F3F2-C0A8-42A6-81D1-DA7F715E9EAA}"/>
              </a:ext>
            </a:extLst>
          </p:cNvPr>
          <p:cNvSpPr>
            <a:spLocks xmlns:a="http://schemas.openxmlformats.org/drawingml/2006/main" noGrp="1"/>
          </p:cNvSpPr>
          <p:nvPr/>
        </p:nvSpPr>
        <p:spPr>
          <a:xfrm xmlns:a="http://schemas.openxmlformats.org/drawingml/2006/main">
            <a:off x="1629420" y="1289304"/>
            <a:ext cx="8948401"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6c6167d3efcd485f"/>
          <a:stretch xmlns:a="http://schemas.openxmlformats.org/drawingml/2006/main">
            <a:fillRect l="0" t="0" r="0" b="0"/>
          </a:stretch>
        </p:blipFill>
        <p:spPr>
          <a:xfrm xmlns:a="http://schemas.openxmlformats.org/drawingml/2006/main">
            <a:off x="1711716" y="1371600"/>
            <a:ext cx="8783809"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7F1293A-4AEF-4944-A5C2-01A864C9FD6B}"/>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Blood typing by agglutination</a:t>
            </a:r>
          </a:p>
        </p:txBody>
      </p:sp>
      <p:sp>
        <p:nvSpPr>
          <p:cNvPr id="7" name="Text 4">
            <a:extLst xmlns:a="http://schemas.openxmlformats.org/drawingml/2006/main">
              <a:ext uri="{FF2B5EF4-FFF2-40B4-BE49-F238E27FC236}">
                <a16:creationId xmlns:a16="http://schemas.microsoft.com/office/drawing/2014/main" id="{B7A93542-3F92-4731-B3C4-D91BF03E9348}"/>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Type set by red-cell surface antigens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ABO system: A, B, AB, O</a:t>
            </a:r>
          </a:p>
        </p:txBody>
      </p:sp>
      <p:sp>
        <p:nvSpPr>
          <p:cNvPr id="8" name="Text 5">
            <a:extLst xmlns:a="http://schemas.openxmlformats.org/drawingml/2006/main">
              <a:ext uri="{FF2B5EF4-FFF2-40B4-BE49-F238E27FC236}">
                <a16:creationId xmlns:a16="http://schemas.microsoft.com/office/drawing/2014/main" id="{A33D8A8F-E276-4B4F-9231-AA0AD5B7CE8D}"/>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Rh system: positive or negative</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Tested by agglutination</a:t>
            </a:r>
          </a:p>
        </p:txBody>
      </p:sp>
      <p:sp>
        <p:nvSpPr>
          <p:cNvPr id="10" name="Text 6">
            <a:extLst xmlns:a="http://schemas.openxmlformats.org/drawingml/2006/main">
              <a:ext uri="{FF2B5EF4-FFF2-40B4-BE49-F238E27FC236}">
                <a16:creationId xmlns:a16="http://schemas.microsoft.com/office/drawing/2014/main" id="{E378B656-310C-4B71-A095-9E5D2F1F0E6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1" name="Text 7">
            <a:extLst xmlns:a="http://schemas.openxmlformats.org/drawingml/2006/main">
              <a:ext uri="{FF2B5EF4-FFF2-40B4-BE49-F238E27FC236}">
                <a16:creationId xmlns:a16="http://schemas.microsoft.com/office/drawing/2014/main" id="{DC6C7B99-B9B4-481B-AB8F-2AA9150D707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p>
        </p:txBody>
      </p:sp>
    </p:spTree>
    <p:extLst>
      <p:ext uri="{BB962C8B-B14F-4D97-AF65-F5344CB8AC3E}">
        <p14:creationId xmlns:p14="http://schemas.microsoft.com/office/powerpoint/2010/main" val="12397191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CAACD4-9227-44C2-BBF5-7617C19EF3B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18.6</a:t>
            </a:r>
          </a:p>
        </p:txBody>
      </p:sp>
      <p:sp>
        <p:nvSpPr>
          <p:cNvPr id="3" name="Text 1">
            <a:extLst xmlns:a="http://schemas.openxmlformats.org/drawingml/2006/main">
              <a:ext uri="{FF2B5EF4-FFF2-40B4-BE49-F238E27FC236}">
                <a16:creationId xmlns:a16="http://schemas.microsoft.com/office/drawing/2014/main" id="{42CB42C6-252C-48BD-9E56-96389F14392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Transfusion Compatibility</a:t>
            </a:r>
          </a:p>
        </p:txBody>
      </p:sp>
      <p:sp>
        <p:nvSpPr>
          <p:cNvPr id="4" name="Text 2">
            <a:extLst xmlns:a="http://schemas.openxmlformats.org/drawingml/2006/main">
              <a:ext uri="{FF2B5EF4-FFF2-40B4-BE49-F238E27FC236}">
                <a16:creationId xmlns:a16="http://schemas.microsoft.com/office/drawing/2014/main" id="{AD71616F-1959-40DC-8944-CE6A1168A735}"/>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Plasma holds antibodies to missing antigens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wrong type causes agglutination</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Type O-negative is universal donor</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Type AB-positive is universal recipient</a:t>
            </a:r>
          </a:p>
        </p:txBody>
      </p:sp>
      <p:sp>
        <p:nvSpPr>
          <p:cNvPr id="5" name="Shape 3">
            <a:extLst xmlns:a="http://schemas.openxmlformats.org/drawingml/2006/main">
              <a:ext uri="{FF2B5EF4-FFF2-40B4-BE49-F238E27FC236}">
                <a16:creationId xmlns:a16="http://schemas.microsoft.com/office/drawing/2014/main" id="{477B6231-AD0D-4932-8601-90652B666C5C}"/>
              </a:ext>
            </a:extLst>
          </p:cNvPr>
          <p:cNvSpPr>
            <a:spLocks xmlns:a="http://schemas.openxmlformats.org/drawingml/2006/main" noGrp="1"/>
          </p:cNvSpPr>
          <p:nvPr/>
        </p:nvSpPr>
        <p:spPr>
          <a:xfrm xmlns:a="http://schemas.openxmlformats.org/drawingml/2006/main">
            <a:off x="5593531" y="1335024"/>
            <a:ext cx="6003658"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1ea2d93401f472f"/>
          <a:stretch xmlns:a="http://schemas.openxmlformats.org/drawingml/2006/main">
            <a:fillRect l="0" t="0" r="0" b="0"/>
          </a:stretch>
        </p:blipFill>
        <p:spPr>
          <a:xfrm xmlns:a="http://schemas.openxmlformats.org/drawingml/2006/main">
            <a:off x="5675827" y="1417320"/>
            <a:ext cx="5839066"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B8E509D2-BE79-456B-B0D9-77840D037B45}"/>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ABO blood type compatibility</a:t>
            </a:r>
          </a:p>
        </p:txBody>
      </p:sp>
      <p:sp>
        <p:nvSpPr>
          <p:cNvPr id="9" name="Text 5">
            <a:extLst xmlns:a="http://schemas.openxmlformats.org/drawingml/2006/main">
              <a:ext uri="{FF2B5EF4-FFF2-40B4-BE49-F238E27FC236}">
                <a16:creationId xmlns:a16="http://schemas.microsoft.com/office/drawing/2014/main" id="{26A1C735-141D-48B3-A7CF-627776D8D66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93FBDAEF-7ABE-4A35-98EA-7700C1228D3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18</a:t>
            </a:r>
          </a:p>
        </p:txBody>
      </p:sp>
    </p:spTree>
    <p:extLst>
      <p:ext uri="{BB962C8B-B14F-4D97-AF65-F5344CB8AC3E}">
        <p14:creationId xmlns:p14="http://schemas.microsoft.com/office/powerpoint/2010/main" val="8174467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CAA507-68F6-4DD3-9E32-A1813323E37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18.6</a:t>
            </a:r>
          </a:p>
        </p:txBody>
      </p:sp>
      <p:sp>
        <p:nvSpPr>
          <p:cNvPr id="3" name="Text 1">
            <a:extLst xmlns:a="http://schemas.openxmlformats.org/drawingml/2006/main">
              <a:ext uri="{FF2B5EF4-FFF2-40B4-BE49-F238E27FC236}">
                <a16:creationId xmlns:a16="http://schemas.microsoft.com/office/drawing/2014/main" id="{3988E767-ADDA-49AB-B594-1FB32DA2440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Rh Incompatibility</a:t>
            </a:r>
          </a:p>
        </p:txBody>
      </p:sp>
      <p:sp>
        <p:nvSpPr>
          <p:cNvPr id="4" name="Text 2">
            <a:extLst xmlns:a="http://schemas.openxmlformats.org/drawingml/2006/main">
              <a:ext uri="{FF2B5EF4-FFF2-40B4-BE49-F238E27FC236}">
                <a16:creationId xmlns:a16="http://schemas.microsoft.com/office/drawing/2014/main" id="{933E7B76-9AF2-4E48-9729-00731402ACD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Rh-negative mother, Rh-positive baby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First exposure sensitizes the mother</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Antibodies threaten a later baby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Prevented with Rh immune globulin</a:t>
            </a:r>
          </a:p>
        </p:txBody>
      </p:sp>
      <p:sp>
        <p:nvSpPr>
          <p:cNvPr id="5" name="Shape 3">
            <a:extLst xmlns:a="http://schemas.openxmlformats.org/drawingml/2006/main">
              <a:ext uri="{FF2B5EF4-FFF2-40B4-BE49-F238E27FC236}">
                <a16:creationId xmlns:a16="http://schemas.microsoft.com/office/drawing/2014/main" id="{9B7DCEC4-B852-48E3-B9FB-82EF126A5AD1}"/>
              </a:ext>
            </a:extLst>
          </p:cNvPr>
          <p:cNvSpPr>
            <a:spLocks xmlns:a="http://schemas.openxmlformats.org/drawingml/2006/main" noGrp="1"/>
          </p:cNvSpPr>
          <p:nvPr/>
        </p:nvSpPr>
        <p:spPr>
          <a:xfrm xmlns:a="http://schemas.openxmlformats.org/drawingml/2006/main">
            <a:off x="6061974" y="1335024"/>
            <a:ext cx="5066773"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6d2c27633b174ae6"/>
          <a:stretch xmlns:a="http://schemas.openxmlformats.org/drawingml/2006/main">
            <a:fillRect l="0" t="0" r="0" b="0"/>
          </a:stretch>
        </p:blipFill>
        <p:spPr>
          <a:xfrm xmlns:a="http://schemas.openxmlformats.org/drawingml/2006/main">
            <a:off x="6144270" y="1417320"/>
            <a:ext cx="4902181"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6DF2964-DA57-49A7-BB82-9F98DB379B62}"/>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Rh incompatibility in pregnancy</a:t>
            </a:r>
          </a:p>
        </p:txBody>
      </p:sp>
      <p:sp>
        <p:nvSpPr>
          <p:cNvPr id="9" name="Text 5">
            <a:extLst xmlns:a="http://schemas.openxmlformats.org/drawingml/2006/main">
              <a:ext uri="{FF2B5EF4-FFF2-40B4-BE49-F238E27FC236}">
                <a16:creationId xmlns:a16="http://schemas.microsoft.com/office/drawing/2014/main" id="{30600F62-B9DB-4853-8579-3700CAC47C1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0" name="Text 6">
            <a:extLst xmlns:a="http://schemas.openxmlformats.org/drawingml/2006/main">
              <a:ext uri="{FF2B5EF4-FFF2-40B4-BE49-F238E27FC236}">
                <a16:creationId xmlns:a16="http://schemas.microsoft.com/office/drawing/2014/main" id="{FF572B6E-1BC4-444E-81E7-377F6777F60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19</a:t>
            </a:r>
          </a:p>
        </p:txBody>
      </p:sp>
    </p:spTree>
    <p:extLst>
      <p:ext uri="{BB962C8B-B14F-4D97-AF65-F5344CB8AC3E}">
        <p14:creationId xmlns:p14="http://schemas.microsoft.com/office/powerpoint/2010/main" val="12851208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7EC142-4374-4D6A-A640-ED7336770BE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18</a:t>
            </a:r>
          </a:p>
        </p:txBody>
      </p:sp>
      <p:sp>
        <p:nvSpPr>
          <p:cNvPr id="3" name="Text 1">
            <a:extLst xmlns:a="http://schemas.openxmlformats.org/drawingml/2006/main">
              <a:ext uri="{FF2B5EF4-FFF2-40B4-BE49-F238E27FC236}">
                <a16:creationId xmlns:a16="http://schemas.microsoft.com/office/drawing/2014/main" id="{62F819B4-1501-4DB3-8FC7-74E726770C1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p>
        </p:txBody>
      </p:sp>
      <p:sp>
        <p:nvSpPr>
          <p:cNvPr id="4" name="Shape 2">
            <a:extLst xmlns:a="http://schemas.openxmlformats.org/drawingml/2006/main">
              <a:ext uri="{FF2B5EF4-FFF2-40B4-BE49-F238E27FC236}">
                <a16:creationId xmlns:a16="http://schemas.microsoft.com/office/drawing/2014/main" id="{3D368685-52D2-4397-A0C9-3B9BB09EA11C}"/>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08470A5D-4EEF-44FE-B5A4-2061E552D0BE}"/>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Blood is plasma plus formed elements — red cells, white cells, and platelets.</a:t>
            </a:r>
          </a:p>
        </p:txBody>
      </p:sp>
      <p:sp>
        <p:nvSpPr>
          <p:cNvPr id="6" name="Shape 4">
            <a:extLst xmlns:a="http://schemas.openxmlformats.org/drawingml/2006/main">
              <a:ext uri="{FF2B5EF4-FFF2-40B4-BE49-F238E27FC236}">
                <a16:creationId xmlns:a16="http://schemas.microsoft.com/office/drawing/2014/main" id="{692649B3-B423-498D-8448-9A318F725480}"/>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2D107C92-4555-42EF-A5BD-93EE953AC3A4}"/>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All blood cells form in red bone marrow from a single stem cell.</a:t>
            </a:r>
          </a:p>
        </p:txBody>
      </p:sp>
      <p:sp>
        <p:nvSpPr>
          <p:cNvPr id="8" name="Shape 6">
            <a:extLst xmlns:a="http://schemas.openxmlformats.org/drawingml/2006/main">
              <a:ext uri="{FF2B5EF4-FFF2-40B4-BE49-F238E27FC236}">
                <a16:creationId xmlns:a16="http://schemas.microsoft.com/office/drawing/2014/main" id="{592DB9DB-5797-4D00-B397-FD09AD8AB480}"/>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B3F91298-CCA4-4FD7-98F4-4726D2892785}"/>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Red cells carry oxygen on hemoglobin and are recycled after about 120 days.</a:t>
            </a:r>
          </a:p>
        </p:txBody>
      </p:sp>
      <p:sp>
        <p:nvSpPr>
          <p:cNvPr id="10" name="Shape 8">
            <a:extLst xmlns:a="http://schemas.openxmlformats.org/drawingml/2006/main">
              <a:ext uri="{FF2B5EF4-FFF2-40B4-BE49-F238E27FC236}">
                <a16:creationId xmlns:a16="http://schemas.microsoft.com/office/drawing/2014/main" id="{6B05B4BF-F7E2-4BE7-A9D3-FAC49B82BB5F}"/>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36979AD7-22A9-4B4D-9C3F-9BDCA9A4A7A6}"/>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White cells defend against infection; platelets and clotting factors stop bleeding.</a:t>
            </a:r>
          </a:p>
        </p:txBody>
      </p:sp>
      <p:sp>
        <p:nvSpPr>
          <p:cNvPr id="12" name="Shape 10">
            <a:extLst xmlns:a="http://schemas.openxmlformats.org/drawingml/2006/main">
              <a:ext uri="{FF2B5EF4-FFF2-40B4-BE49-F238E27FC236}">
                <a16:creationId xmlns:a16="http://schemas.microsoft.com/office/drawing/2014/main" id="{F278DE92-85A6-4839-910E-0C14B8163493}"/>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5B62AFB0-EC6A-42CB-A121-E8D37044C734}"/>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Blood type (ABO and Rh) must be matched before transfusion.</a:t>
            </a:r>
          </a:p>
        </p:txBody>
      </p:sp>
      <p:sp>
        <p:nvSpPr>
          <p:cNvPr id="14" name="Text 12">
            <a:extLst xmlns:a="http://schemas.openxmlformats.org/drawingml/2006/main">
              <a:ext uri="{FF2B5EF4-FFF2-40B4-BE49-F238E27FC236}">
                <a16:creationId xmlns:a16="http://schemas.microsoft.com/office/drawing/2014/main" id="{2562931F-A795-40CD-ACA5-8FC785FC4FC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18 — The Cardiovascular System: Blood</a:t>
            </a:r>
          </a:p>
        </p:txBody>
      </p:sp>
      <p:sp>
        <p:nvSpPr>
          <p:cNvPr id="15" name="Text 13">
            <a:extLst xmlns:a="http://schemas.openxmlformats.org/drawingml/2006/main">
              <a:ext uri="{FF2B5EF4-FFF2-40B4-BE49-F238E27FC236}">
                <a16:creationId xmlns:a16="http://schemas.microsoft.com/office/drawing/2014/main" id="{2E0C6A19-283D-4360-8B99-A6C9627627B4}"/>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20</a:t>
            </a:r>
          </a:p>
        </p:txBody>
      </p:sp>
    </p:spTree>
    <p:extLst>
      <p:ext uri="{BB962C8B-B14F-4D97-AF65-F5344CB8AC3E}">
        <p14:creationId xmlns:p14="http://schemas.microsoft.com/office/powerpoint/2010/main" val="112789749"/>
      </p:ext>
    </p:extLst>
  </p:cSld>
</p:sld>
</file>

<file path=ppt/slides/slide2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6BAECB-9085-44E5-8450-FE1670BCB59C}"/>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p>
        </p:txBody>
      </p:sp>
      <p:sp>
        <p:nvSpPr>
          <p:cNvPr id="3" name="Text 1">
            <a:extLst xmlns:a="http://schemas.openxmlformats.org/drawingml/2006/main">
              <a:ext uri="{FF2B5EF4-FFF2-40B4-BE49-F238E27FC236}">
                <a16:creationId xmlns:a16="http://schemas.microsoft.com/office/drawing/2014/main" id="{6D9CBF61-9466-4300-8F6B-5666BC3D28BC}"/>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500" b="1">
                <a:solidFill>
                  <a:srgbClr val="FFFFFF"/>
                </a:solidFill>
                <a:latin typeface="Georgia"/>
                <a:ea typeface="Georgia"/>
                <a:cs typeface="Georgia"/>
              </a:rPr>
              <a:t>Why Blood Matters in Practical Nursing</a:t>
            </a:r>
          </a:p>
        </p:txBody>
      </p:sp>
      <p:sp>
        <p:nvSpPr>
          <p:cNvPr id="4" name="Shape 2">
            <a:extLst xmlns:a="http://schemas.openxmlformats.org/drawingml/2006/main">
              <a:ext uri="{FF2B5EF4-FFF2-40B4-BE49-F238E27FC236}">
                <a16:creationId xmlns:a16="http://schemas.microsoft.com/office/drawing/2014/main" id="{39C1C696-7138-4213-8031-2CFD7BAB0517}"/>
              </a:ext>
            </a:extLst>
          </p:cNvPr>
          <p:cNvSpPr>
            <a:spLocks xmlns:a="http://schemas.openxmlformats.org/drawingml/2006/main" noGrp="1"/>
          </p:cNvSpPr>
          <p:nvPr/>
        </p:nvSpPr>
        <p:spPr>
          <a:xfrm xmlns:a="http://schemas.openxmlformats.org/drawingml/2006/main">
            <a:off x="54864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9DE448C3-3128-4045-9064-4D93A0CB6982}"/>
              </a:ext>
            </a:extLst>
          </p:cNvPr>
          <p:cNvSpPr>
            <a:spLocks xmlns:a="http://schemas.openxmlformats.org/drawingml/2006/main" noGrp="1"/>
          </p:cNvSpPr>
          <p:nvPr/>
        </p:nvSpPr>
        <p:spPr>
          <a:xfrm xmlns:a="http://schemas.openxmlformats.org/drawingml/2006/main">
            <a:off x="77724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Anemia</a:t>
            </a:r>
          </a:p>
        </p:txBody>
      </p:sp>
      <p:sp>
        <p:nvSpPr>
          <p:cNvPr id="6" name="Text 4">
            <a:extLst xmlns:a="http://schemas.openxmlformats.org/drawingml/2006/main">
              <a:ext uri="{FF2B5EF4-FFF2-40B4-BE49-F238E27FC236}">
                <a16:creationId xmlns:a16="http://schemas.microsoft.com/office/drawing/2014/main" id="{3BEABAAF-9682-4376-8C39-0CC09980DF6C}"/>
              </a:ext>
            </a:extLst>
          </p:cNvPr>
          <p:cNvSpPr>
            <a:spLocks xmlns:a="http://schemas.openxmlformats.org/drawingml/2006/main" noGrp="1"/>
          </p:cNvSpPr>
          <p:nvPr/>
        </p:nvSpPr>
        <p:spPr>
          <a:xfrm xmlns:a="http://schemas.openxmlformats.org/drawingml/2006/main">
            <a:off x="77724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Too few red cells or too little hemoglobin reduces oxygen delivery.</a:t>
            </a:r>
          </a:p>
        </p:txBody>
      </p:sp>
      <p:sp>
        <p:nvSpPr>
          <p:cNvPr id="7" name="Shape 5">
            <a:extLst xmlns:a="http://schemas.openxmlformats.org/drawingml/2006/main">
              <a:ext uri="{FF2B5EF4-FFF2-40B4-BE49-F238E27FC236}">
                <a16:creationId xmlns:a16="http://schemas.microsoft.com/office/drawing/2014/main" id="{F929981D-0455-4621-9F5A-EB7DB80E3919}"/>
              </a:ext>
            </a:extLst>
          </p:cNvPr>
          <p:cNvSpPr>
            <a:spLocks xmlns:a="http://schemas.openxmlformats.org/drawingml/2006/main" noGrp="1"/>
          </p:cNvSpPr>
          <p:nvPr/>
        </p:nvSpPr>
        <p:spPr>
          <a:xfrm xmlns:a="http://schemas.openxmlformats.org/drawingml/2006/main">
            <a:off x="617220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99C74CFF-73F1-4496-9ECD-6FEAAC8C4DBA}"/>
              </a:ext>
            </a:extLst>
          </p:cNvPr>
          <p:cNvSpPr>
            <a:spLocks xmlns:a="http://schemas.openxmlformats.org/drawingml/2006/main" noGrp="1"/>
          </p:cNvSpPr>
          <p:nvPr/>
        </p:nvSpPr>
        <p:spPr>
          <a:xfrm xmlns:a="http://schemas.openxmlformats.org/drawingml/2006/main">
            <a:off x="640080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Complete Blood Count</a:t>
            </a:r>
          </a:p>
        </p:txBody>
      </p:sp>
      <p:sp>
        <p:nvSpPr>
          <p:cNvPr id="9" name="Text 7">
            <a:extLst xmlns:a="http://schemas.openxmlformats.org/drawingml/2006/main">
              <a:ext uri="{FF2B5EF4-FFF2-40B4-BE49-F238E27FC236}">
                <a16:creationId xmlns:a16="http://schemas.microsoft.com/office/drawing/2014/main" id="{ED84A988-3696-42B2-8439-EECFF77D6E9A}"/>
              </a:ext>
            </a:extLst>
          </p:cNvPr>
          <p:cNvSpPr>
            <a:spLocks xmlns:a="http://schemas.openxmlformats.org/drawingml/2006/main" noGrp="1"/>
          </p:cNvSpPr>
          <p:nvPr/>
        </p:nvSpPr>
        <p:spPr>
          <a:xfrm xmlns:a="http://schemas.openxmlformats.org/drawingml/2006/main">
            <a:off x="640080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CBC is one of the most common diagnostic tests.</a:t>
            </a:r>
          </a:p>
        </p:txBody>
      </p:sp>
      <p:sp>
        <p:nvSpPr>
          <p:cNvPr id="10" name="Shape 8">
            <a:extLst xmlns:a="http://schemas.openxmlformats.org/drawingml/2006/main">
              <a:ext uri="{FF2B5EF4-FFF2-40B4-BE49-F238E27FC236}">
                <a16:creationId xmlns:a16="http://schemas.microsoft.com/office/drawing/2014/main" id="{B515F2E8-6C65-4209-BA80-3A21A38C953A}"/>
              </a:ext>
            </a:extLst>
          </p:cNvPr>
          <p:cNvSpPr>
            <a:spLocks xmlns:a="http://schemas.openxmlformats.org/drawingml/2006/main" noGrp="1"/>
          </p:cNvSpPr>
          <p:nvPr/>
        </p:nvSpPr>
        <p:spPr>
          <a:xfrm xmlns:a="http://schemas.openxmlformats.org/drawingml/2006/main">
            <a:off x="54864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CD0090BC-081A-40C1-9516-CBA00196E5E0}"/>
              </a:ext>
            </a:extLst>
          </p:cNvPr>
          <p:cNvSpPr>
            <a:spLocks xmlns:a="http://schemas.openxmlformats.org/drawingml/2006/main" noGrp="1"/>
          </p:cNvSpPr>
          <p:nvPr/>
        </p:nvSpPr>
        <p:spPr>
          <a:xfrm xmlns:a="http://schemas.openxmlformats.org/drawingml/2006/main">
            <a:off x="77724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Transfusion Safety</a:t>
            </a:r>
          </a:p>
        </p:txBody>
      </p:sp>
      <p:sp>
        <p:nvSpPr>
          <p:cNvPr id="12" name="Text 10">
            <a:extLst xmlns:a="http://schemas.openxmlformats.org/drawingml/2006/main">
              <a:ext uri="{FF2B5EF4-FFF2-40B4-BE49-F238E27FC236}">
                <a16:creationId xmlns:a16="http://schemas.microsoft.com/office/drawing/2014/main" id="{2032BFD9-C6AB-4163-81F6-8832084A4999}"/>
              </a:ext>
            </a:extLst>
          </p:cNvPr>
          <p:cNvSpPr>
            <a:spLocks xmlns:a="http://schemas.openxmlformats.org/drawingml/2006/main" noGrp="1"/>
          </p:cNvSpPr>
          <p:nvPr/>
        </p:nvSpPr>
        <p:spPr>
          <a:xfrm xmlns:a="http://schemas.openxmlformats.org/drawingml/2006/main">
            <a:off x="77724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Matching ABO and Rh type prevents dangerous reactions.</a:t>
            </a:r>
          </a:p>
        </p:txBody>
      </p:sp>
      <p:sp>
        <p:nvSpPr>
          <p:cNvPr id="13" name="Shape 11">
            <a:extLst xmlns:a="http://schemas.openxmlformats.org/drawingml/2006/main">
              <a:ext uri="{FF2B5EF4-FFF2-40B4-BE49-F238E27FC236}">
                <a16:creationId xmlns:a16="http://schemas.microsoft.com/office/drawing/2014/main" id="{0B7A9E05-0ABA-4553-84C1-8B4AEE4F81BD}"/>
              </a:ext>
            </a:extLst>
          </p:cNvPr>
          <p:cNvSpPr>
            <a:spLocks xmlns:a="http://schemas.openxmlformats.org/drawingml/2006/main" noGrp="1"/>
          </p:cNvSpPr>
          <p:nvPr/>
        </p:nvSpPr>
        <p:spPr>
          <a:xfrm xmlns:a="http://schemas.openxmlformats.org/drawingml/2006/main">
            <a:off x="617220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814B84E0-2B71-444D-8A21-22A77EE18D03}"/>
              </a:ext>
            </a:extLst>
          </p:cNvPr>
          <p:cNvSpPr>
            <a:spLocks xmlns:a="http://schemas.openxmlformats.org/drawingml/2006/main" noGrp="1"/>
          </p:cNvSpPr>
          <p:nvPr/>
        </p:nvSpPr>
        <p:spPr>
          <a:xfrm xmlns:a="http://schemas.openxmlformats.org/drawingml/2006/main">
            <a:off x="640080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Clotting Disorders</a:t>
            </a:r>
          </a:p>
        </p:txBody>
      </p:sp>
      <p:sp>
        <p:nvSpPr>
          <p:cNvPr id="15" name="Text 13">
            <a:extLst xmlns:a="http://schemas.openxmlformats.org/drawingml/2006/main">
              <a:ext uri="{FF2B5EF4-FFF2-40B4-BE49-F238E27FC236}">
                <a16:creationId xmlns:a16="http://schemas.microsoft.com/office/drawing/2014/main" id="{F9410EF4-FE7B-4E05-85AF-EB2D1BAB3E6D}"/>
              </a:ext>
            </a:extLst>
          </p:cNvPr>
          <p:cNvSpPr>
            <a:spLocks xmlns:a="http://schemas.openxmlformats.org/drawingml/2006/main" noGrp="1"/>
          </p:cNvSpPr>
          <p:nvPr/>
        </p:nvSpPr>
        <p:spPr>
          <a:xfrm xmlns:a="http://schemas.openxmlformats.org/drawingml/2006/main">
            <a:off x="640080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Too little clotting bleeds; too much causes thrombosis.</a:t>
            </a:r>
          </a:p>
        </p:txBody>
      </p:sp>
      <p:sp>
        <p:nvSpPr>
          <p:cNvPr id="16" name="Shape 14">
            <a:extLst xmlns:a="http://schemas.openxmlformats.org/drawingml/2006/main">
              <a:ext uri="{FF2B5EF4-FFF2-40B4-BE49-F238E27FC236}">
                <a16:creationId xmlns:a16="http://schemas.microsoft.com/office/drawing/2014/main" id="{3BDC4DEB-055C-48E6-9325-B518DCD9066D}"/>
              </a:ext>
            </a:extLst>
          </p:cNvPr>
          <p:cNvSpPr>
            <a:spLocks xmlns:a="http://schemas.openxmlformats.org/drawingml/2006/main" noGrp="1"/>
          </p:cNvSpPr>
          <p:nvPr/>
        </p:nvSpPr>
        <p:spPr>
          <a:xfrm xmlns:a="http://schemas.openxmlformats.org/drawingml/2006/main">
            <a:off x="54864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31B70C99-6EBF-46B7-AA25-8D1592BCE119}"/>
              </a:ext>
            </a:extLst>
          </p:cNvPr>
          <p:cNvSpPr>
            <a:spLocks xmlns:a="http://schemas.openxmlformats.org/drawingml/2006/main" noGrp="1"/>
          </p:cNvSpPr>
          <p:nvPr/>
        </p:nvSpPr>
        <p:spPr>
          <a:xfrm xmlns:a="http://schemas.openxmlformats.org/drawingml/2006/main">
            <a:off x="77724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Anticoagulants</a:t>
            </a:r>
          </a:p>
        </p:txBody>
      </p:sp>
      <p:sp>
        <p:nvSpPr>
          <p:cNvPr id="18" name="Text 16">
            <a:extLst xmlns:a="http://schemas.openxmlformats.org/drawingml/2006/main">
              <a:ext uri="{FF2B5EF4-FFF2-40B4-BE49-F238E27FC236}">
                <a16:creationId xmlns:a16="http://schemas.microsoft.com/office/drawing/2014/main" id="{050C9100-324E-4652-824E-20634441AB8D}"/>
              </a:ext>
            </a:extLst>
          </p:cNvPr>
          <p:cNvSpPr>
            <a:spLocks xmlns:a="http://schemas.openxmlformats.org/drawingml/2006/main" noGrp="1"/>
          </p:cNvSpPr>
          <p:nvPr/>
        </p:nvSpPr>
        <p:spPr>
          <a:xfrm xmlns:a="http://schemas.openxmlformats.org/drawingml/2006/main">
            <a:off x="77724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Drugs like heparin and warfarin act on the clotting cascade.</a:t>
            </a:r>
          </a:p>
        </p:txBody>
      </p:sp>
      <p:sp>
        <p:nvSpPr>
          <p:cNvPr id="19" name="Shape 17">
            <a:extLst xmlns:a="http://schemas.openxmlformats.org/drawingml/2006/main">
              <a:ext uri="{FF2B5EF4-FFF2-40B4-BE49-F238E27FC236}">
                <a16:creationId xmlns:a16="http://schemas.microsoft.com/office/drawing/2014/main" id="{2B7B1BC9-A7A6-4AAE-9063-099DF1A6B3FB}"/>
              </a:ext>
            </a:extLst>
          </p:cNvPr>
          <p:cNvSpPr>
            <a:spLocks xmlns:a="http://schemas.openxmlformats.org/drawingml/2006/main" noGrp="1"/>
          </p:cNvSpPr>
          <p:nvPr/>
        </p:nvSpPr>
        <p:spPr>
          <a:xfrm xmlns:a="http://schemas.openxmlformats.org/drawingml/2006/main">
            <a:off x="617220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E953BE1A-0CA6-4265-8308-B169EDE637B4}"/>
              </a:ext>
            </a:extLst>
          </p:cNvPr>
          <p:cNvSpPr>
            <a:spLocks xmlns:a="http://schemas.openxmlformats.org/drawingml/2006/main" noGrp="1"/>
          </p:cNvSpPr>
          <p:nvPr/>
        </p:nvSpPr>
        <p:spPr>
          <a:xfrm xmlns:a="http://schemas.openxmlformats.org/drawingml/2006/main">
            <a:off x="640080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Infection</a:t>
            </a:r>
          </a:p>
        </p:txBody>
      </p:sp>
      <p:sp>
        <p:nvSpPr>
          <p:cNvPr id="21" name="Text 19">
            <a:extLst xmlns:a="http://schemas.openxmlformats.org/drawingml/2006/main">
              <a:ext uri="{FF2B5EF4-FFF2-40B4-BE49-F238E27FC236}">
                <a16:creationId xmlns:a16="http://schemas.microsoft.com/office/drawing/2014/main" id="{A3829589-F736-4201-B8D3-B99B9494E846}"/>
              </a:ext>
            </a:extLst>
          </p:cNvPr>
          <p:cNvSpPr>
            <a:spLocks xmlns:a="http://schemas.openxmlformats.org/drawingml/2006/main" noGrp="1"/>
          </p:cNvSpPr>
          <p:nvPr/>
        </p:nvSpPr>
        <p:spPr>
          <a:xfrm xmlns:a="http://schemas.openxmlformats.org/drawingml/2006/main">
            <a:off x="640080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 rising white cell count is an early sign of infection.</a:t>
            </a:r>
          </a:p>
        </p:txBody>
      </p:sp>
    </p:spTree>
    <p:extLst>
      <p:ext uri="{BB962C8B-B14F-4D97-AF65-F5344CB8AC3E}">
        <p14:creationId xmlns:p14="http://schemas.microsoft.com/office/powerpoint/2010/main" val="66516450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2026-08-05T01:15:57.4960000Z</dcterms:created>
  <dcterms:modified xsi:type="dcterms:W3CDTF">2026-08-05T01:15:57.4960000Z</dcterms:modified>
</coreProperties>
</file>