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blood: its composition (plasma and formed elements), how blood cells are made, the roles of red cells, white cells, and platelets, how bleeding is stopped (hemostasis), and how blood typing keeps transfusions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Blood is about 55% plasma — water carrying proteins, nutrients, hormones, and wastes — and 45% formed elements: red cells, white cells, and platelets. Spun down, the red cells settle as the hematocrit (normally about 37-52%) with a thin buffy coat above. Too few red cells is anemia; too many is polycythemia.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blood cells arise from a single hematopoietic stem cell in red bone marrow. It gives rise to a myeloid line (red cells, platelets, and most white cells) and a lymphoid line (lymphocytes). Production is tightly regulated by hormones such as erythropoietin from the kidneys.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blood cells are packed with hemoglobin — four protein (globin) chains, each cradling an iron-containing heme group. The iron binds oxygen in the lungs and releases it in the tissues. Each red cell carries about 250 million hemoglobin molecules, making blood an efficient oxygen carrier.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blood cells circulate about 120 days before macrophages in the spleen and liver break them down. The iron is salvaged and reused, while the rest of the heme becomes bilirubin, processed by the liver and excreted in bile. Excess bilirubin causes the yellowing of jaundice.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White blood cells protect against infection. They squeeze out of capillaries (diapedesis), follow chemical signals to the site of infection (chemotaxis), and engulf pathogens (phagocytosis) or mount immune responses. Their numbers rise during infection — a key clinical clue.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five white cell types. The granulocytes — neutrophils (bacteria), eosinophils (parasites, allergy), and basophils (inflammation) — have visible granules. The agranulocytes are lymphocytes (specific immunity) and monocytes (which become macrophages). A differential count of these guides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Platelets are not whole cells but fragments pinched off from giant megakaryocytes in the marrow, stimulated by the hormone thrombopoietin. Though tiny and short-lived, they are essential for hemostasis — plugging breaks in vessels and triggering clotting.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Hemostasis stops bleeding in three overlapping steps: vascular spasm (the vessel constricts), platelet plug formation (platelets stick to the break and each other), and coagulation — a cascade of clotting factors that produces fibrin threads, sealing the clot. Anticoagulant drugs act on this cascade.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Blood type is determined by antigens on the red cell surface — the ABO system (A, B, AB, or O) and the Rh factor (positive or negative). Mixing blood with anti-A, anti-B, and anti-D sera shows which antigens are present by clumping (agglutination). Typing is essential before any transfusion.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person's plasma carries antibodies against the ABO antigens they lack, so an incompatible transfusion causes dangerous clumping and cell destruction. Type O-negative red cells lack A, B, and Rh antigens (universal donor), while AB-positive recipients can receive any ABO type (universal recipient). Matching is a critical safety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 Rh-negative mother carries an Rh-positive baby, exposure to fetal blood (usually at delivery) can sensitize her to make anti-Rh antibodies. In a later Rh-positive pregnancy, those antibodies can cross the placenta and destroy the baby's red cells. An injection of Rh immune globulin (RhoGAM) prevents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18</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3800" b="1" dirty="0">
                <a:solidFill>
                  <a:srgbClr val="FFFFFF"/>
                </a:solidFill>
                <a:latin typeface="Georgia" pitchFamily="34" charset="0"/>
                <a:ea typeface="Georgia" pitchFamily="34" charset="-122"/>
                <a:cs typeface="Georgia" pitchFamily="34" charset="-120"/>
              </a:rPr>
              <a:t>The Cardiovascular System: Blood</a:t>
            </a:r>
            <a:endParaRPr lang="en-US" sz="3800" dirty="0"/>
          </a:p>
        </p:txBody>
      </p:sp>
      <p:sp>
        <p:nvSpPr>
          <p:cNvPr id="4" name="Text 2"/>
          <p:cNvSpPr/>
          <p:nvPr/>
        </p:nvSpPr>
        <p:spPr>
          <a:xfrm>
            <a:off x="749808" y="397764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Plasma, blood cells, clotting, and blood types.</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539050"/>
            <a:ext cx="4096512" cy="1962781"/>
          </a:xfrm>
          <a:prstGeom prst="roundRect">
            <a:avLst>
              <a:gd name="adj" fmla="val 2795"/>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18/img/img01.jpg">    </p:cNvPr>
          <p:cNvPicPr>
            <a:picLocks noChangeAspect="1"/>
          </p:cNvPicPr>
          <p:nvPr/>
        </p:nvPicPr>
        <p:blipFill>
          <a:blip r:embed="rId1"/>
          <a:stretch>
            <a:fillRect/>
          </a:stretch>
        </p:blipFill>
        <p:spPr>
          <a:xfrm>
            <a:off x="7818120" y="2621346"/>
            <a:ext cx="3931920" cy="17981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18</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Identify the primary functions of blood, its fluid and cellular components, and its physical characteristics</a:t>
            </a:r>
            <a:endParaRPr lang="en-US" sz="1300" dirty="0"/>
          </a:p>
        </p:txBody>
      </p:sp>
      <p:sp>
        <p:nvSpPr>
          <p:cNvPr id="8" name="Shape 6"/>
          <p:cNvSpPr/>
          <p:nvPr/>
        </p:nvSpPr>
        <p:spPr>
          <a:xfrm>
            <a:off x="548640" y="2418588"/>
            <a:ext cx="384048" cy="384048"/>
          </a:xfrm>
          <a:prstGeom prst="ellipse">
            <a:avLst/>
          </a:prstGeom>
          <a:solidFill>
            <a:srgbClr val="0F4C5C"/>
          </a:solidFill>
          <a:ln/>
        </p:spPr>
      </p:sp>
      <p:sp>
        <p:nvSpPr>
          <p:cNvPr id="9" name="Text 7"/>
          <p:cNvSpPr/>
          <p:nvPr/>
        </p:nvSpPr>
        <p:spPr>
          <a:xfrm>
            <a:off x="548640" y="241858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0030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Identify the most important proteins and other solutes present in blood plasma</a:t>
            </a:r>
            <a:endParaRPr lang="en-US" sz="1300" dirty="0"/>
          </a:p>
        </p:txBody>
      </p:sp>
      <p:sp>
        <p:nvSpPr>
          <p:cNvPr id="11" name="Shape 9"/>
          <p:cNvSpPr/>
          <p:nvPr/>
        </p:nvSpPr>
        <p:spPr>
          <a:xfrm>
            <a:off x="548640" y="3172968"/>
            <a:ext cx="384048" cy="384048"/>
          </a:xfrm>
          <a:prstGeom prst="ellipse">
            <a:avLst/>
          </a:prstGeom>
          <a:solidFill>
            <a:srgbClr val="0F4C5C"/>
          </a:solidFill>
          <a:ln/>
        </p:spPr>
      </p:sp>
      <p:sp>
        <p:nvSpPr>
          <p:cNvPr id="12" name="Text 10"/>
          <p:cNvSpPr/>
          <p:nvPr/>
        </p:nvSpPr>
        <p:spPr>
          <a:xfrm>
            <a:off x="548640" y="317296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15468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the formation of the formed element components of blood</a:t>
            </a:r>
            <a:endParaRPr lang="en-US" sz="1300" dirty="0"/>
          </a:p>
        </p:txBody>
      </p:sp>
      <p:sp>
        <p:nvSpPr>
          <p:cNvPr id="14" name="Shape 12"/>
          <p:cNvSpPr/>
          <p:nvPr/>
        </p:nvSpPr>
        <p:spPr>
          <a:xfrm>
            <a:off x="548640" y="3927348"/>
            <a:ext cx="384048" cy="384048"/>
          </a:xfrm>
          <a:prstGeom prst="ellipse">
            <a:avLst/>
          </a:prstGeom>
          <a:solidFill>
            <a:srgbClr val="0F4C5C"/>
          </a:solidFill>
          <a:ln/>
        </p:spPr>
      </p:sp>
      <p:sp>
        <p:nvSpPr>
          <p:cNvPr id="15" name="Text 13"/>
          <p:cNvSpPr/>
          <p:nvPr/>
        </p:nvSpPr>
        <p:spPr>
          <a:xfrm>
            <a:off x="548640" y="392734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390906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Discuss the structure and function of red blood cells and hemoglobin</a:t>
            </a:r>
            <a:endParaRPr lang="en-US" sz="1300" dirty="0"/>
          </a:p>
        </p:txBody>
      </p:sp>
      <p:sp>
        <p:nvSpPr>
          <p:cNvPr id="17" name="Shape 15"/>
          <p:cNvSpPr/>
          <p:nvPr/>
        </p:nvSpPr>
        <p:spPr>
          <a:xfrm>
            <a:off x="548640" y="4681728"/>
            <a:ext cx="384048" cy="384048"/>
          </a:xfrm>
          <a:prstGeom prst="ellipse">
            <a:avLst/>
          </a:prstGeom>
          <a:solidFill>
            <a:srgbClr val="0F4C5C"/>
          </a:solidFill>
          <a:ln/>
        </p:spPr>
      </p:sp>
      <p:sp>
        <p:nvSpPr>
          <p:cNvPr id="18" name="Text 16"/>
          <p:cNvSpPr/>
          <p:nvPr/>
        </p:nvSpPr>
        <p:spPr>
          <a:xfrm>
            <a:off x="548640" y="468172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466344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Classify and characterize white blood cells</a:t>
            </a:r>
            <a:endParaRPr lang="en-US" sz="1300" dirty="0"/>
          </a:p>
        </p:txBody>
      </p:sp>
      <p:sp>
        <p:nvSpPr>
          <p:cNvPr id="20" name="Shape 18"/>
          <p:cNvSpPr/>
          <p:nvPr/>
        </p:nvSpPr>
        <p:spPr>
          <a:xfrm>
            <a:off x="548640" y="5436108"/>
            <a:ext cx="384048" cy="384048"/>
          </a:xfrm>
          <a:prstGeom prst="ellipse">
            <a:avLst/>
          </a:prstGeom>
          <a:solidFill>
            <a:srgbClr val="0F4C5C"/>
          </a:solidFill>
          <a:ln/>
        </p:spPr>
      </p:sp>
      <p:sp>
        <p:nvSpPr>
          <p:cNvPr id="21" name="Text 19"/>
          <p:cNvSpPr/>
          <p:nvPr/>
        </p:nvSpPr>
        <p:spPr>
          <a:xfrm>
            <a:off x="548640" y="54361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22" name="Text 20"/>
          <p:cNvSpPr/>
          <p:nvPr/>
        </p:nvSpPr>
        <p:spPr>
          <a:xfrm>
            <a:off x="1115568" y="54178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the structure of platelets and explain the process of hemostasis</a:t>
            </a:r>
            <a:endParaRPr lang="en-US" sz="1300" dirty="0"/>
          </a:p>
        </p:txBody>
      </p:sp>
      <p:sp>
        <p:nvSpPr>
          <p:cNvPr id="23" name="Shape 21"/>
          <p:cNvSpPr/>
          <p:nvPr/>
        </p:nvSpPr>
        <p:spPr>
          <a:xfrm>
            <a:off x="7415784" y="2331867"/>
            <a:ext cx="4370832" cy="2797771"/>
          </a:xfrm>
          <a:prstGeom prst="roundRect">
            <a:avLst>
              <a:gd name="adj" fmla="val 196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4" name="Image 0" descr="/home/claude/all/ch18/img/img02.jpg">    </p:cNvPr>
          <p:cNvPicPr>
            <a:picLocks noChangeAspect="1"/>
          </p:cNvPicPr>
          <p:nvPr/>
        </p:nvPicPr>
        <p:blipFill>
          <a:blip r:embed="rId1"/>
          <a:stretch>
            <a:fillRect/>
          </a:stretch>
        </p:blipFill>
        <p:spPr>
          <a:xfrm>
            <a:off x="7498080" y="2414163"/>
            <a:ext cx="4206240" cy="2633179"/>
          </a:xfrm>
          <a:prstGeom prst="rect">
            <a:avLst/>
          </a:prstGeom>
        </p:spPr>
      </p:pic>
      <p:sp>
        <p:nvSpPr>
          <p:cNvPr id="25" name="Text 22"/>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Blood: plasma and formed elements.</a:t>
            </a:r>
            <a:endParaRPr lang="en-US" sz="1100" dirty="0"/>
          </a:p>
        </p:txBody>
      </p:sp>
      <p:sp>
        <p:nvSpPr>
          <p:cNvPr id="27" name="Text 23"/>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18 — The Cardiovascular System: Blood</a:t>
            </a:r>
            <a:endParaRPr lang="en-US" sz="900" dirty="0"/>
          </a:p>
        </p:txBody>
      </p:sp>
      <p:sp>
        <p:nvSpPr>
          <p:cNvPr id="28" name="Text 24"/>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18.1</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An Overview of Blood</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What blood is made of and what it does.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18.1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Composition of Blood</a:t>
            </a:r>
            <a:endParaRPr lang="en-US" sz="2800" dirty="0"/>
          </a:p>
        </p:txBody>
      </p:sp>
      <p:sp>
        <p:nvSpPr>
          <p:cNvPr id="4" name="Shape 2"/>
          <p:cNvSpPr/>
          <p:nvPr/>
        </p:nvSpPr>
        <p:spPr>
          <a:xfrm>
            <a:off x="3173032" y="1289304"/>
            <a:ext cx="5861176"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8/img/img02.jpg">    </p:cNvPr>
          <p:cNvPicPr>
            <a:picLocks noChangeAspect="1"/>
          </p:cNvPicPr>
          <p:nvPr/>
        </p:nvPicPr>
        <p:blipFill>
          <a:blip r:embed="rId1"/>
          <a:stretch>
            <a:fillRect/>
          </a:stretch>
        </p:blipFill>
        <p:spPr>
          <a:xfrm>
            <a:off x="3255328" y="1371600"/>
            <a:ext cx="5696584"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Blood: plasma and formed elements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Plasma is the liquid portion (~55%)</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Formed elements are cells (~45%)</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Buffy coat = white cells and platelets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Hematocrit = percent red cells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18 — The Cardiovascular System: Blood</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18.2</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Production of the Formed Elements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blood cells are produced in red bone marrow.</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18.2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Hematopoiesis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All blood cells form in red marrow</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Start from one stem cell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Myeloid line → most cell types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Lymphoid line → lymphocytes</a:t>
            </a:r>
            <a:endParaRPr lang="en-US" sz="1500" dirty="0"/>
          </a:p>
        </p:txBody>
      </p:sp>
      <p:sp>
        <p:nvSpPr>
          <p:cNvPr id="5" name="Shape 3"/>
          <p:cNvSpPr/>
          <p:nvPr/>
        </p:nvSpPr>
        <p:spPr>
          <a:xfrm>
            <a:off x="5562839" y="1335024"/>
            <a:ext cx="6065041"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8/img/img04.jpg">    </p:cNvPr>
          <p:cNvPicPr>
            <a:picLocks noChangeAspect="1"/>
          </p:cNvPicPr>
          <p:nvPr/>
        </p:nvPicPr>
        <p:blipFill>
          <a:blip r:embed="rId1"/>
          <a:stretch>
            <a:fillRect/>
          </a:stretch>
        </p:blipFill>
        <p:spPr>
          <a:xfrm>
            <a:off x="5645135" y="1417320"/>
            <a:ext cx="5900449"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Hematopoiesis: the formation of blood cells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18 — The Cardiovascular System: Blood</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18.3</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Erythrocytes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Red blood cells and oxygen transport.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18.3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Hemoglobin</a:t>
            </a:r>
            <a:endParaRPr lang="en-US" sz="2800" dirty="0"/>
          </a:p>
        </p:txBody>
      </p:sp>
      <p:sp>
        <p:nvSpPr>
          <p:cNvPr id="4" name="Shape 2"/>
          <p:cNvSpPr/>
          <p:nvPr/>
        </p:nvSpPr>
        <p:spPr>
          <a:xfrm>
            <a:off x="2483515" y="1289304"/>
            <a:ext cx="7240210"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8/img/img07.jpg">    </p:cNvPr>
          <p:cNvPicPr>
            <a:picLocks noChangeAspect="1"/>
          </p:cNvPicPr>
          <p:nvPr/>
        </p:nvPicPr>
        <p:blipFill>
          <a:blip r:embed="rId1"/>
          <a:stretch>
            <a:fillRect/>
          </a:stretch>
        </p:blipFill>
        <p:spPr>
          <a:xfrm>
            <a:off x="2565811" y="1371600"/>
            <a:ext cx="7075618"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structure of hemoglobin</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oxygen-carrying protein in red cells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Four globin chains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Each holds an iron-rich heme group</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Iron binds the oxygen</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18 — The Cardiovascular System: Blood</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18.3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Red Blood Cell Life Cycle</a:t>
            </a:r>
            <a:endParaRPr lang="en-US" sz="2800" dirty="0"/>
          </a:p>
        </p:txBody>
      </p:sp>
      <p:sp>
        <p:nvSpPr>
          <p:cNvPr id="4" name="Shape 2"/>
          <p:cNvSpPr/>
          <p:nvPr/>
        </p:nvSpPr>
        <p:spPr>
          <a:xfrm>
            <a:off x="812216" y="1289304"/>
            <a:ext cx="3679088" cy="4736592"/>
          </a:xfrm>
          <a:prstGeom prst="roundRect">
            <a:avLst>
              <a:gd name="adj" fmla="val 149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8/img/img08.jpg">    </p:cNvPr>
          <p:cNvPicPr>
            <a:picLocks noChangeAspect="1"/>
          </p:cNvPicPr>
          <p:nvPr/>
        </p:nvPicPr>
        <p:blipFill>
          <a:blip r:embed="rId1"/>
          <a:stretch>
            <a:fillRect/>
          </a:stretch>
        </p:blipFill>
        <p:spPr>
          <a:xfrm>
            <a:off x="894512" y="1371600"/>
            <a:ext cx="3514496"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life cycle of a red blood cell</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Red cells live about 120 days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Old cells broken down in spleen and liver</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Iron is recycled</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Heme becomes bilirubin</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18 — The Cardiovascular System: Blood</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18.4</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Leukocytes and Platelets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White blood cells and platelets — defense and clotting.</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18.4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How Leukocytes Fight Infection</a:t>
            </a:r>
            <a:endParaRPr lang="en-US" sz="2800" dirty="0"/>
          </a:p>
        </p:txBody>
      </p:sp>
      <p:sp>
        <p:nvSpPr>
          <p:cNvPr id="4" name="Shape 2"/>
          <p:cNvSpPr/>
          <p:nvPr/>
        </p:nvSpPr>
        <p:spPr>
          <a:xfrm>
            <a:off x="748208" y="1289304"/>
            <a:ext cx="3807104" cy="4736592"/>
          </a:xfrm>
          <a:prstGeom prst="roundRect">
            <a:avLst>
              <a:gd name="adj" fmla="val 144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8/img/img10.jpg">    </p:cNvPr>
          <p:cNvPicPr>
            <a:picLocks noChangeAspect="1"/>
          </p:cNvPicPr>
          <p:nvPr/>
        </p:nvPicPr>
        <p:blipFill>
          <a:blip r:embed="rId1"/>
          <a:stretch>
            <a:fillRect/>
          </a:stretch>
        </p:blipFill>
        <p:spPr>
          <a:xfrm>
            <a:off x="830504" y="1371600"/>
            <a:ext cx="364251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How leukocytes fight infection</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White cells defend against infection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Leave vessels by diapedesis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Move toward chemical signals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Engulf pathogens (phagocytosis)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18 — The Cardiovascular System: Blood</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18.4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Types of White Blood Cells</a:t>
            </a:r>
            <a:endParaRPr lang="en-US" sz="2800" dirty="0"/>
          </a:p>
        </p:txBody>
      </p:sp>
      <p:sp>
        <p:nvSpPr>
          <p:cNvPr id="4" name="Shape 2"/>
          <p:cNvSpPr/>
          <p:nvPr/>
        </p:nvSpPr>
        <p:spPr>
          <a:xfrm>
            <a:off x="563138" y="1289304"/>
            <a:ext cx="11080964"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8/img/img11.jpg">    </p:cNvPr>
          <p:cNvPicPr>
            <a:picLocks noChangeAspect="1"/>
          </p:cNvPicPr>
          <p:nvPr/>
        </p:nvPicPr>
        <p:blipFill>
          <a:blip r:embed="rId1"/>
          <a:stretch>
            <a:fillRect/>
          </a:stretch>
        </p:blipFill>
        <p:spPr>
          <a:xfrm>
            <a:off x="645434" y="1371600"/>
            <a:ext cx="10916372"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granular leukocytes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Five types of leukocytes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Granulocytes: neutrophil, eosinophil, basophil</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Agranulocytes: lymphocyte, monocyte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Each has a specific role</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18 — The Cardiovascular System: Blood</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18.4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Platelet Formation</a:t>
            </a:r>
            <a:endParaRPr lang="en-US" sz="2800" dirty="0"/>
          </a:p>
        </p:txBody>
      </p:sp>
      <p:sp>
        <p:nvSpPr>
          <p:cNvPr id="4" name="Shape 2"/>
          <p:cNvSpPr/>
          <p:nvPr/>
        </p:nvSpPr>
        <p:spPr>
          <a:xfrm>
            <a:off x="990752" y="1289304"/>
            <a:ext cx="3322015" cy="4736592"/>
          </a:xfrm>
          <a:prstGeom prst="roundRect">
            <a:avLst>
              <a:gd name="adj" fmla="val 165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8/img/img12.jpg">    </p:cNvPr>
          <p:cNvPicPr>
            <a:picLocks noChangeAspect="1"/>
          </p:cNvPicPr>
          <p:nvPr/>
        </p:nvPicPr>
        <p:blipFill>
          <a:blip r:embed="rId1"/>
          <a:stretch>
            <a:fillRect/>
          </a:stretch>
        </p:blipFill>
        <p:spPr>
          <a:xfrm>
            <a:off x="1073048" y="1371600"/>
            <a:ext cx="3157423"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formation of platelets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Platelets are cell fragments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Shed from megakaryocytes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Driven by thrombopoietin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Essential for clotting</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18 — The Cardiovascular System: Blood</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18.5</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Hemostasis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Hemostasis — how the body stops bleeding.</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18.5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Hemostasis</a:t>
            </a:r>
            <a:endParaRPr lang="en-US" sz="2800" dirty="0"/>
          </a:p>
        </p:txBody>
      </p:sp>
      <p:sp>
        <p:nvSpPr>
          <p:cNvPr id="4" name="Shape 2"/>
          <p:cNvSpPr/>
          <p:nvPr/>
        </p:nvSpPr>
        <p:spPr>
          <a:xfrm>
            <a:off x="670484" y="1289304"/>
            <a:ext cx="3962552" cy="4736592"/>
          </a:xfrm>
          <a:prstGeom prst="roundRect">
            <a:avLst>
              <a:gd name="adj" fmla="val 1385"/>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8/img/img14.jpg">    </p:cNvPr>
          <p:cNvPicPr>
            <a:picLocks noChangeAspect="1"/>
          </p:cNvPicPr>
          <p:nvPr/>
        </p:nvPicPr>
        <p:blipFill>
          <a:blip r:embed="rId1"/>
          <a:stretch>
            <a:fillRect/>
          </a:stretch>
        </p:blipFill>
        <p:spPr>
          <a:xfrm>
            <a:off x="752780" y="1371600"/>
            <a:ext cx="3797960"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steps of hemostasis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Stops bleeding in three steps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Vascular spasm narrows the vessel</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 platelet plug forms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Coagulation makes a fibrin clot</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18 — The Cardiovascular System: Blood</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18.6</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Blood Typing</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Blood typing and transfusion compatibility.</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18.6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Blood Typing</a:t>
            </a:r>
            <a:endParaRPr lang="en-US" sz="2800" dirty="0"/>
          </a:p>
        </p:txBody>
      </p:sp>
      <p:sp>
        <p:nvSpPr>
          <p:cNvPr id="4" name="Shape 2"/>
          <p:cNvSpPr/>
          <p:nvPr/>
        </p:nvSpPr>
        <p:spPr>
          <a:xfrm>
            <a:off x="1629420" y="1289304"/>
            <a:ext cx="8948401"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8/img/img16.jpg">    </p:cNvPr>
          <p:cNvPicPr>
            <a:picLocks noChangeAspect="1"/>
          </p:cNvPicPr>
          <p:nvPr/>
        </p:nvPicPr>
        <p:blipFill>
          <a:blip r:embed="rId1"/>
          <a:stretch>
            <a:fillRect/>
          </a:stretch>
        </p:blipFill>
        <p:spPr>
          <a:xfrm>
            <a:off x="1711716" y="1371600"/>
            <a:ext cx="8783809"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Blood typing by agglutination</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Type set by red-cell surface antigens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ABO system: A, B, AB, O</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Rh system: positive or negative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Tested by agglutination</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18 — The Cardiovascular System: Blood</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18.6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Transfusion Compatibility</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Plasma holds antibodies to missing antigens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wrong type causes agglutination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Type O-negative is universal donor</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Type AB-positive is universal recipient</a:t>
            </a:r>
            <a:endParaRPr lang="en-US" sz="1500" dirty="0"/>
          </a:p>
        </p:txBody>
      </p:sp>
      <p:sp>
        <p:nvSpPr>
          <p:cNvPr id="5" name="Shape 3"/>
          <p:cNvSpPr/>
          <p:nvPr/>
        </p:nvSpPr>
        <p:spPr>
          <a:xfrm>
            <a:off x="5593531" y="1335024"/>
            <a:ext cx="6003658"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8/img/img17.jpg">    </p:cNvPr>
          <p:cNvPicPr>
            <a:picLocks noChangeAspect="1"/>
          </p:cNvPicPr>
          <p:nvPr/>
        </p:nvPicPr>
        <p:blipFill>
          <a:blip r:embed="rId1"/>
          <a:stretch>
            <a:fillRect/>
          </a:stretch>
        </p:blipFill>
        <p:spPr>
          <a:xfrm>
            <a:off x="5675827" y="1417320"/>
            <a:ext cx="5839066"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ABO blood type compatibility</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18 — The Cardiovascular System: Blood</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18.6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Rh Incompatibility</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Rh-negative mother, Rh-positive baby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First exposure sensitizes the mother</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Antibodies threaten a later baby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Prevented with Rh immune globulin</a:t>
            </a:r>
            <a:endParaRPr lang="en-US" sz="1500" dirty="0"/>
          </a:p>
        </p:txBody>
      </p:sp>
      <p:sp>
        <p:nvSpPr>
          <p:cNvPr id="5" name="Shape 3"/>
          <p:cNvSpPr/>
          <p:nvPr/>
        </p:nvSpPr>
        <p:spPr>
          <a:xfrm>
            <a:off x="6061974" y="1335024"/>
            <a:ext cx="5066773"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8/img/img15.jpg">    </p:cNvPr>
          <p:cNvPicPr>
            <a:picLocks noChangeAspect="1"/>
          </p:cNvPicPr>
          <p:nvPr/>
        </p:nvPicPr>
        <p:blipFill>
          <a:blip r:embed="rId1"/>
          <a:stretch>
            <a:fillRect/>
          </a:stretch>
        </p:blipFill>
        <p:spPr>
          <a:xfrm>
            <a:off x="6144270" y="1417320"/>
            <a:ext cx="4902181"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Rh incompatibility in pregnancy</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18 — The Cardiovascular System: Blood</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18</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Blood is plasma plus formed elements — red cells, white cells, and platelets.</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All blood cells form in red bone marrow from a single stem cell.</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Red cells carry oxygen on hemoglobin and are recycled after about 120 days.</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White cells defend against infection; platelets and clotting factors stop bleeding.</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Blood type (ABO and Rh) must be matched before transfusion.</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18 — The Cardiovascular System: Blood</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Why Blood Matters in Practical Nursing</a:t>
            </a:r>
            <a:endParaRPr lang="en-US" sz="2500" dirty="0"/>
          </a:p>
        </p:txBody>
      </p:sp>
      <p:sp>
        <p:nvSpPr>
          <p:cNvPr id="4" name="Shape 2"/>
          <p:cNvSpPr/>
          <p:nvPr/>
        </p:nvSpPr>
        <p:spPr>
          <a:xfrm>
            <a:off x="548640" y="1783080"/>
            <a:ext cx="5440680" cy="1389888"/>
          </a:xfrm>
          <a:prstGeom prst="roundRect">
            <a:avLst>
              <a:gd name="adj" fmla="val 5263"/>
            </a:avLst>
          </a:prstGeom>
          <a:solidFill>
            <a:srgbClr val="13586A"/>
          </a:solidFill>
          <a:ln w="12700">
            <a:solidFill>
              <a:srgbClr val="2A7A8C"/>
            </a:solidFill>
            <a:prstDash val="solid"/>
          </a:ln>
        </p:spPr>
      </p:sp>
      <p:sp>
        <p:nvSpPr>
          <p:cNvPr id="5" name="Text 3"/>
          <p:cNvSpPr/>
          <p:nvPr/>
        </p:nvSpPr>
        <p:spPr>
          <a:xfrm>
            <a:off x="77724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Anemia</a:t>
            </a:r>
            <a:endParaRPr lang="en-US" sz="1600" dirty="0"/>
          </a:p>
        </p:txBody>
      </p:sp>
      <p:sp>
        <p:nvSpPr>
          <p:cNvPr id="6" name="Text 4"/>
          <p:cNvSpPr/>
          <p:nvPr/>
        </p:nvSpPr>
        <p:spPr>
          <a:xfrm>
            <a:off x="77724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Too few red cells or too little hemoglobin reduces oxygen delivery.</a:t>
            </a:r>
            <a:endParaRPr lang="en-US" sz="1250" dirty="0"/>
          </a:p>
        </p:txBody>
      </p:sp>
      <p:sp>
        <p:nvSpPr>
          <p:cNvPr id="7" name="Shape 5"/>
          <p:cNvSpPr/>
          <p:nvPr/>
        </p:nvSpPr>
        <p:spPr>
          <a:xfrm>
            <a:off x="6172200" y="1783080"/>
            <a:ext cx="5440680" cy="1389888"/>
          </a:xfrm>
          <a:prstGeom prst="roundRect">
            <a:avLst>
              <a:gd name="adj" fmla="val 5263"/>
            </a:avLst>
          </a:prstGeom>
          <a:solidFill>
            <a:srgbClr val="13586A"/>
          </a:solidFill>
          <a:ln w="12700">
            <a:solidFill>
              <a:srgbClr val="2A7A8C"/>
            </a:solidFill>
            <a:prstDash val="solid"/>
          </a:ln>
        </p:spPr>
      </p:sp>
      <p:sp>
        <p:nvSpPr>
          <p:cNvPr id="8" name="Text 6"/>
          <p:cNvSpPr/>
          <p:nvPr/>
        </p:nvSpPr>
        <p:spPr>
          <a:xfrm>
            <a:off x="640080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Complete Blood Count</a:t>
            </a:r>
            <a:endParaRPr lang="en-US" sz="1600" dirty="0"/>
          </a:p>
        </p:txBody>
      </p:sp>
      <p:sp>
        <p:nvSpPr>
          <p:cNvPr id="9" name="Text 7"/>
          <p:cNvSpPr/>
          <p:nvPr/>
        </p:nvSpPr>
        <p:spPr>
          <a:xfrm>
            <a:off x="640080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The CBC is one of the most common diagnostic tests.</a:t>
            </a:r>
            <a:endParaRPr lang="en-US" sz="1250" dirty="0"/>
          </a:p>
        </p:txBody>
      </p:sp>
      <p:sp>
        <p:nvSpPr>
          <p:cNvPr id="10" name="Shape 8"/>
          <p:cNvSpPr/>
          <p:nvPr/>
        </p:nvSpPr>
        <p:spPr>
          <a:xfrm>
            <a:off x="548640" y="3337560"/>
            <a:ext cx="5440680" cy="1389888"/>
          </a:xfrm>
          <a:prstGeom prst="roundRect">
            <a:avLst>
              <a:gd name="adj" fmla="val 5263"/>
            </a:avLst>
          </a:prstGeom>
          <a:solidFill>
            <a:srgbClr val="13586A"/>
          </a:solidFill>
          <a:ln w="12700">
            <a:solidFill>
              <a:srgbClr val="2A7A8C"/>
            </a:solidFill>
            <a:prstDash val="solid"/>
          </a:ln>
        </p:spPr>
      </p:sp>
      <p:sp>
        <p:nvSpPr>
          <p:cNvPr id="11" name="Text 9"/>
          <p:cNvSpPr/>
          <p:nvPr/>
        </p:nvSpPr>
        <p:spPr>
          <a:xfrm>
            <a:off x="77724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Transfusion Safety</a:t>
            </a:r>
            <a:endParaRPr lang="en-US" sz="1600" dirty="0"/>
          </a:p>
        </p:txBody>
      </p:sp>
      <p:sp>
        <p:nvSpPr>
          <p:cNvPr id="12" name="Text 10"/>
          <p:cNvSpPr/>
          <p:nvPr/>
        </p:nvSpPr>
        <p:spPr>
          <a:xfrm>
            <a:off x="77724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Matching ABO and Rh type prevents dangerous reactions.</a:t>
            </a:r>
            <a:endParaRPr lang="en-US" sz="1250" dirty="0"/>
          </a:p>
        </p:txBody>
      </p:sp>
      <p:sp>
        <p:nvSpPr>
          <p:cNvPr id="13" name="Shape 11"/>
          <p:cNvSpPr/>
          <p:nvPr/>
        </p:nvSpPr>
        <p:spPr>
          <a:xfrm>
            <a:off x="6172200" y="3337560"/>
            <a:ext cx="5440680" cy="1389888"/>
          </a:xfrm>
          <a:prstGeom prst="roundRect">
            <a:avLst>
              <a:gd name="adj" fmla="val 5263"/>
            </a:avLst>
          </a:prstGeom>
          <a:solidFill>
            <a:srgbClr val="13586A"/>
          </a:solidFill>
          <a:ln w="12700">
            <a:solidFill>
              <a:srgbClr val="2A7A8C"/>
            </a:solidFill>
            <a:prstDash val="solid"/>
          </a:ln>
        </p:spPr>
      </p:sp>
      <p:sp>
        <p:nvSpPr>
          <p:cNvPr id="14" name="Text 12"/>
          <p:cNvSpPr/>
          <p:nvPr/>
        </p:nvSpPr>
        <p:spPr>
          <a:xfrm>
            <a:off x="640080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Clotting Disorders</a:t>
            </a:r>
            <a:endParaRPr lang="en-US" sz="1600" dirty="0"/>
          </a:p>
        </p:txBody>
      </p:sp>
      <p:sp>
        <p:nvSpPr>
          <p:cNvPr id="15" name="Text 13"/>
          <p:cNvSpPr/>
          <p:nvPr/>
        </p:nvSpPr>
        <p:spPr>
          <a:xfrm>
            <a:off x="640080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Too little clotting bleeds; too much causes thrombosis.</a:t>
            </a:r>
            <a:endParaRPr lang="en-US" sz="1250" dirty="0"/>
          </a:p>
        </p:txBody>
      </p:sp>
      <p:sp>
        <p:nvSpPr>
          <p:cNvPr id="16" name="Shape 14"/>
          <p:cNvSpPr/>
          <p:nvPr/>
        </p:nvSpPr>
        <p:spPr>
          <a:xfrm>
            <a:off x="548640" y="4892040"/>
            <a:ext cx="5440680" cy="1389888"/>
          </a:xfrm>
          <a:prstGeom prst="roundRect">
            <a:avLst>
              <a:gd name="adj" fmla="val 5263"/>
            </a:avLst>
          </a:prstGeom>
          <a:solidFill>
            <a:srgbClr val="13586A"/>
          </a:solidFill>
          <a:ln w="12700">
            <a:solidFill>
              <a:srgbClr val="2A7A8C"/>
            </a:solidFill>
            <a:prstDash val="solid"/>
          </a:ln>
        </p:spPr>
      </p:sp>
      <p:sp>
        <p:nvSpPr>
          <p:cNvPr id="17" name="Text 15"/>
          <p:cNvSpPr/>
          <p:nvPr/>
        </p:nvSpPr>
        <p:spPr>
          <a:xfrm>
            <a:off x="77724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Anticoagulants</a:t>
            </a:r>
            <a:endParaRPr lang="en-US" sz="1600" dirty="0"/>
          </a:p>
        </p:txBody>
      </p:sp>
      <p:sp>
        <p:nvSpPr>
          <p:cNvPr id="18" name="Text 16"/>
          <p:cNvSpPr/>
          <p:nvPr/>
        </p:nvSpPr>
        <p:spPr>
          <a:xfrm>
            <a:off x="77724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Drugs like heparin and warfarin act on the clotting cascade.</a:t>
            </a:r>
            <a:endParaRPr lang="en-US" sz="1250" dirty="0"/>
          </a:p>
        </p:txBody>
      </p:sp>
      <p:sp>
        <p:nvSpPr>
          <p:cNvPr id="19" name="Shape 17"/>
          <p:cNvSpPr/>
          <p:nvPr/>
        </p:nvSpPr>
        <p:spPr>
          <a:xfrm>
            <a:off x="6172200" y="4892040"/>
            <a:ext cx="5440680" cy="1389888"/>
          </a:xfrm>
          <a:prstGeom prst="roundRect">
            <a:avLst>
              <a:gd name="adj" fmla="val 5263"/>
            </a:avLst>
          </a:prstGeom>
          <a:solidFill>
            <a:srgbClr val="13586A"/>
          </a:solidFill>
          <a:ln w="12700">
            <a:solidFill>
              <a:srgbClr val="2A7A8C"/>
            </a:solidFill>
            <a:prstDash val="solid"/>
          </a:ln>
        </p:spPr>
      </p:sp>
      <p:sp>
        <p:nvSpPr>
          <p:cNvPr id="20" name="Text 18"/>
          <p:cNvSpPr/>
          <p:nvPr/>
        </p:nvSpPr>
        <p:spPr>
          <a:xfrm>
            <a:off x="640080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Infection</a:t>
            </a:r>
            <a:endParaRPr lang="en-US" sz="1600" dirty="0"/>
          </a:p>
        </p:txBody>
      </p:sp>
      <p:sp>
        <p:nvSpPr>
          <p:cNvPr id="21" name="Text 19"/>
          <p:cNvSpPr/>
          <p:nvPr/>
        </p:nvSpPr>
        <p:spPr>
          <a:xfrm>
            <a:off x="640080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A rising white cell count is an early sign of infection.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2026-06-23T21:44:30Z</dcterms:created>
  <dcterms:modified xsi:type="dcterms:W3CDTF">2026-06-23T21:44:30Z</dcterms:modified>
</cp:coreProperties>
</file>