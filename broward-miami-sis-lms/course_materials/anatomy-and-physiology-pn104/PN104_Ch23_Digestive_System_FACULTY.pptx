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digestive system: the GI tract and accessory organs, the processes of digestion and their regulation, each organ from mouth to large intestine, the liver, gallbladder, and pancreas, and how nutrients are finally absorbed.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digestive system is a continuous tube — the gastrointestinal (GI) tract — running from mouth to anus, with accessory organs (teeth, tongue, salivary glands, liver, gallbladder, pancreas) that aid digestion. Together they break food into nutrients the body can absorb and eliminate the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esophagus to the anus, the GI tract wall has four layers: the mucosa (inner lining that secretes and absorbs), the submucosa (connective tissue with vessels and nerves), the muscularis (smooth muscle that mixes and propels), and the outer serosa. This shared plan is modified in each organ.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Digestion involves six processes: ingestion (eating), propulsion (swallowing and peristalsis), mechanical digestion (chewing, churning), chemical digestion (enzymes breaking bonds), absorption (nutrients into the blood), and defecation (eliminating waste). Nervous and hormonal signals coordinate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pairs of salivary glands — parotid, submandibular, and sublingual — secrete saliva into the mouth. Saliva moistens food for swallowing, cleanses the mouth, and contains salivary amylase, which begins the chemical digestion of starch. (The parotid is the gland that swells in mumps.)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pharynx is a shared passage for food and air, so swallowing must protect the airway: the epiglottis covers the larynx as the bolus passes. Then peristalsis — waves of muscle contraction — carries food down the esophagus to the stomach. Impaired swallowing (dysphagia) raises the risk of aspiration.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stomach is a muscular sac that stores swallowed food, churns it, and mixes it with gastric juice into a paste called chyme. Its regions are the fundus, body, and pylorus, and internal folds (rugae) let it expand after a meal. The pyloric sphincter controls release into the small intestine.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stomach lining is dotted with gastric pits leading to glands. Their cells secrete hydrochloric acid (which kills microbes and activates enzymes), the protein-digesting enzyme pepsin, and protective mucus. A breakdown in that protection lets acid damage the wall, causing peptic ulcers.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 intestine (duodenum, jejunum, ileum) is where most chemical digestion and nutrient absorption occur, aided by bile and pancreatic enzymes. The large intestine absorbs water and electrolytes, houses helpful bacteria, and compacts waste into feces for elimination.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 intestine's lining is folded into circular folds covered with finger-like villi, themselves covered in microvilli — together multiplying the absorptive surface enormously. Each villus contains a capillary network and a lymphatic lacteal that carry absorbed nutrients into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 intestine (colon) frames the abdomen and finishes the job: it absorbs remaining water and electrolytes, turning liquid residue into formed stool. Its pouched wall (haustra) and bands of muscle (teniae coli) are distinctive, and resident bacteria produce some vitamins, such as K and several B vitamins.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accessory organs empty into the duodenum. The liver produces bile (which emulsifies fats) and processes absorbed nutrients; the gallbladder stores and concentrates bile; and the pancreas secretes digestive enzymes and bicarbonate. Their ducts join to deliver these into the small intestine.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Bile made by the liver is stored and concentrated in the gallbladder, then released through the cystic and common bile ducts into the duodenum when fatty food arrives. Bile breaks fat into tiny droplets for digestion. Hardened bile (gallstones) can block the ducts, causing pain and jaundice.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chemical digestion breaks food into small molecules, they are absorbed across the intestinal lining. Simple sugars and amino acids pass into the blood capillaries (heading to the liver), while digested fats are packaged and enter the lymphatic lacteals. From there, nutrients reach cells throughout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digestive tract processes a remarkable volume of fluid each day — from food, drink, and the body's own secretions (saliva, gastric juice, bile, pancreatic juice). Nearly all of it is reabsorbed, mostly in the small intestine. When this fails, as in severe diarrhea or vomiting, dehydration can develop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23</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Digestive System</a:t>
            </a:r>
            <a:endParaRPr lang="en-US" sz="44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How the body breaks down food and absorbs nutrients.</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4213"/>
            <a:ext cx="4096512" cy="1972454"/>
          </a:xfrm>
          <a:prstGeom prst="roundRect">
            <a:avLst>
              <a:gd name="adj" fmla="val 278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23/img/img01.jpg">    </p:cNvPr>
          <p:cNvPicPr>
            <a:picLocks noChangeAspect="1"/>
          </p:cNvPicPr>
          <p:nvPr/>
        </p:nvPicPr>
        <p:blipFill>
          <a:blip r:embed="rId1"/>
          <a:stretch>
            <a:fillRect/>
          </a:stretch>
        </p:blipFill>
        <p:spPr>
          <a:xfrm>
            <a:off x="7818120" y="2616509"/>
            <a:ext cx="3931920" cy="18078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List and describe the functional anatomy of the organs and accessory organs of the digestive system</a:t>
            </a:r>
            <a:endParaRPr lang="en-US" sz="1400" dirty="0"/>
          </a:p>
        </p:txBody>
      </p:sp>
      <p:sp>
        <p:nvSpPr>
          <p:cNvPr id="8" name="Shape 6"/>
          <p:cNvSpPr/>
          <p:nvPr/>
        </p:nvSpPr>
        <p:spPr>
          <a:xfrm>
            <a:off x="548640" y="2505456"/>
            <a:ext cx="384048" cy="384048"/>
          </a:xfrm>
          <a:prstGeom prst="ellipse">
            <a:avLst/>
          </a:prstGeom>
          <a:solidFill>
            <a:srgbClr val="0F4C5C"/>
          </a:solidFill>
          <a:ln/>
        </p:spPr>
      </p:sp>
      <p:sp>
        <p:nvSpPr>
          <p:cNvPr id="9" name="Text 7"/>
          <p:cNvSpPr/>
          <p:nvPr/>
        </p:nvSpPr>
        <p:spPr>
          <a:xfrm>
            <a:off x="548640" y="250545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87168"/>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the processes and control of ingestion, propulsion, mechanical digestion, chemical digestion, absorption, and defecation</a:t>
            </a:r>
            <a:endParaRPr lang="en-US" sz="1400" dirty="0"/>
          </a:p>
        </p:txBody>
      </p:sp>
      <p:sp>
        <p:nvSpPr>
          <p:cNvPr id="11" name="Shape 9"/>
          <p:cNvSpPr/>
          <p:nvPr/>
        </p:nvSpPr>
        <p:spPr>
          <a:xfrm>
            <a:off x="548640" y="3346704"/>
            <a:ext cx="384048" cy="384048"/>
          </a:xfrm>
          <a:prstGeom prst="ellipse">
            <a:avLst/>
          </a:prstGeom>
          <a:solidFill>
            <a:srgbClr val="0F4C5C"/>
          </a:solidFill>
          <a:ln/>
        </p:spPr>
      </p:sp>
      <p:sp>
        <p:nvSpPr>
          <p:cNvPr id="12" name="Text 10"/>
          <p:cNvSpPr/>
          <p:nvPr/>
        </p:nvSpPr>
        <p:spPr>
          <a:xfrm>
            <a:off x="548640" y="334670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328416"/>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the roles of the liver, pancreas, and gallbladder in digestion</a:t>
            </a:r>
            <a:endParaRPr lang="en-US" sz="1400" dirty="0"/>
          </a:p>
        </p:txBody>
      </p:sp>
      <p:sp>
        <p:nvSpPr>
          <p:cNvPr id="14" name="Shape 12"/>
          <p:cNvSpPr/>
          <p:nvPr/>
        </p:nvSpPr>
        <p:spPr>
          <a:xfrm>
            <a:off x="7826523" y="1545336"/>
            <a:ext cx="3549353" cy="4370832"/>
          </a:xfrm>
          <a:prstGeom prst="roundRect">
            <a:avLst>
              <a:gd name="adj" fmla="val 154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15" name="Image 0" descr="/home/claude/all/ch23/img/img02.jpg">    </p:cNvPr>
          <p:cNvPicPr>
            <a:picLocks noChangeAspect="1"/>
          </p:cNvPicPr>
          <p:nvPr/>
        </p:nvPicPr>
        <p:blipFill>
          <a:blip r:embed="rId1"/>
          <a:stretch>
            <a:fillRect/>
          </a:stretch>
        </p:blipFill>
        <p:spPr>
          <a:xfrm>
            <a:off x="7908819" y="1627632"/>
            <a:ext cx="3384761" cy="4206240"/>
          </a:xfrm>
          <a:prstGeom prst="rect">
            <a:avLst/>
          </a:prstGeom>
        </p:spPr>
      </p:pic>
      <p:sp>
        <p:nvSpPr>
          <p:cNvPr id="16" name="Text 13"/>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organs of the digestive system.</a:t>
            </a:r>
            <a:endParaRPr lang="en-US" sz="1100" dirty="0"/>
          </a:p>
        </p:txBody>
      </p:sp>
      <p:sp>
        <p:nvSpPr>
          <p:cNvPr id="18" name="Text 14"/>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9" name="Text 15"/>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23.1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Overview of the Digestive System</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organs of the digestive tract and its accessory glands.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Digestive System</a:t>
            </a:r>
            <a:endParaRPr lang="en-US" sz="2800" dirty="0"/>
          </a:p>
        </p:txBody>
      </p:sp>
      <p:sp>
        <p:nvSpPr>
          <p:cNvPr id="4" name="Shape 2"/>
          <p:cNvSpPr/>
          <p:nvPr/>
        </p:nvSpPr>
        <p:spPr>
          <a:xfrm>
            <a:off x="729920" y="1289304"/>
            <a:ext cx="3843680" cy="4736592"/>
          </a:xfrm>
          <a:prstGeom prst="roundRect">
            <a:avLst>
              <a:gd name="adj" fmla="val 142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02.jpg">    </p:cNvPr>
          <p:cNvPicPr>
            <a:picLocks noChangeAspect="1"/>
          </p:cNvPicPr>
          <p:nvPr/>
        </p:nvPicPr>
        <p:blipFill>
          <a:blip r:embed="rId1"/>
          <a:stretch>
            <a:fillRect/>
          </a:stretch>
        </p:blipFill>
        <p:spPr>
          <a:xfrm>
            <a:off x="812216" y="1371600"/>
            <a:ext cx="367908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digestive system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long tube from mouth to anus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GI tract (alimentary canal)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Plus accessory organs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Breaks food into absorbable nutrients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GI Tract Wall</a:t>
            </a:r>
            <a:endParaRPr lang="en-US" sz="2800" dirty="0"/>
          </a:p>
        </p:txBody>
      </p:sp>
      <p:sp>
        <p:nvSpPr>
          <p:cNvPr id="4" name="Shape 2"/>
          <p:cNvSpPr/>
          <p:nvPr/>
        </p:nvSpPr>
        <p:spPr>
          <a:xfrm>
            <a:off x="2895050" y="1289304"/>
            <a:ext cx="641714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03.jpg">    </p:cNvPr>
          <p:cNvPicPr>
            <a:picLocks noChangeAspect="1"/>
          </p:cNvPicPr>
          <p:nvPr/>
        </p:nvPicPr>
        <p:blipFill>
          <a:blip r:embed="rId1"/>
          <a:stretch>
            <a:fillRect/>
          </a:stretch>
        </p:blipFill>
        <p:spPr>
          <a:xfrm>
            <a:off x="2977346" y="1371600"/>
            <a:ext cx="625254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layers of the GI tract wall</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Four layers throughout the tract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Mucosa lines the lumen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Submucosa carries vessels and nerves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Muscularis moves food along</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23.2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Digestive System Processes and Regulation</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processes of digestion and how they are regulated.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Digestive Processes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Ingestion takes food 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Propulsion moves it along</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Mechanical and chemical digestion break it down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Absorption and defecation finish</a:t>
            </a:r>
            <a:endParaRPr lang="en-US" sz="1500" dirty="0"/>
          </a:p>
        </p:txBody>
      </p:sp>
      <p:sp>
        <p:nvSpPr>
          <p:cNvPr id="5" name="Shape 3"/>
          <p:cNvSpPr/>
          <p:nvPr/>
        </p:nvSpPr>
        <p:spPr>
          <a:xfrm>
            <a:off x="6378749" y="1335024"/>
            <a:ext cx="4433222" cy="4645152"/>
          </a:xfrm>
          <a:prstGeom prst="roundRect">
            <a:avLst>
              <a:gd name="adj" fmla="val 123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3/img/img05.jpg">    </p:cNvPr>
          <p:cNvPicPr>
            <a:picLocks noChangeAspect="1"/>
          </p:cNvPicPr>
          <p:nvPr/>
        </p:nvPicPr>
        <p:blipFill>
          <a:blip r:embed="rId1"/>
          <a:stretch>
            <a:fillRect/>
          </a:stretch>
        </p:blipFill>
        <p:spPr>
          <a:xfrm>
            <a:off x="6461045" y="1417320"/>
            <a:ext cx="426863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processes of the digestive system</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23.3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The Mouth, Pharynx, and Esophagus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Where digestion begins — the mouth, pharynx, and esophagus.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Salivary Glands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Three pairs of glands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Parotid, submandibular, sublingual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Saliva moistens and begins digestion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Contains an enzyme for starch</a:t>
            </a:r>
            <a:endParaRPr lang="en-US" sz="1500" dirty="0"/>
          </a:p>
        </p:txBody>
      </p:sp>
      <p:sp>
        <p:nvSpPr>
          <p:cNvPr id="5" name="Shape 3"/>
          <p:cNvSpPr/>
          <p:nvPr/>
        </p:nvSpPr>
        <p:spPr>
          <a:xfrm>
            <a:off x="6090873" y="1335024"/>
            <a:ext cx="5008973"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3/img/img08.jpg">    </p:cNvPr>
          <p:cNvPicPr>
            <a:picLocks noChangeAspect="1"/>
          </p:cNvPicPr>
          <p:nvPr/>
        </p:nvPicPr>
        <p:blipFill>
          <a:blip r:embed="rId1"/>
          <a:stretch>
            <a:fillRect/>
          </a:stretch>
        </p:blipFill>
        <p:spPr>
          <a:xfrm>
            <a:off x="6173169" y="1417320"/>
            <a:ext cx="484438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salivary glands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Swallowing &amp; the Pharynx</a:t>
            </a:r>
            <a:endParaRPr lang="en-US" sz="2800" dirty="0"/>
          </a:p>
        </p:txBody>
      </p:sp>
      <p:sp>
        <p:nvSpPr>
          <p:cNvPr id="4" name="Shape 2"/>
          <p:cNvSpPr/>
          <p:nvPr/>
        </p:nvSpPr>
        <p:spPr>
          <a:xfrm>
            <a:off x="616306" y="1289304"/>
            <a:ext cx="4070909" cy="4736592"/>
          </a:xfrm>
          <a:prstGeom prst="roundRect">
            <a:avLst>
              <a:gd name="adj" fmla="val 134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11.jpg">    </p:cNvPr>
          <p:cNvPicPr>
            <a:picLocks noChangeAspect="1"/>
          </p:cNvPicPr>
          <p:nvPr/>
        </p:nvPicPr>
        <p:blipFill>
          <a:blip r:embed="rId1"/>
          <a:stretch>
            <a:fillRect/>
          </a:stretch>
        </p:blipFill>
        <p:spPr>
          <a:xfrm>
            <a:off x="698602" y="1371600"/>
            <a:ext cx="3906317"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pharynx and swallowing</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pharynx is shared with the airway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Swallowing moves the bolus down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epiglottis protects the airway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Peristalsis carries food to the stomach</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23.4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The Stomach</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stomach — storing and digesting food into chyme.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Stomach</a:t>
            </a:r>
            <a:endParaRPr lang="en-US" sz="2800" dirty="0"/>
          </a:p>
        </p:txBody>
      </p:sp>
      <p:sp>
        <p:nvSpPr>
          <p:cNvPr id="4" name="Shape 2"/>
          <p:cNvSpPr/>
          <p:nvPr/>
        </p:nvSpPr>
        <p:spPr>
          <a:xfrm>
            <a:off x="3321384" y="1289304"/>
            <a:ext cx="5564471"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14.jpg">    </p:cNvPr>
          <p:cNvPicPr>
            <a:picLocks noChangeAspect="1"/>
          </p:cNvPicPr>
          <p:nvPr/>
        </p:nvPicPr>
        <p:blipFill>
          <a:blip r:embed="rId1"/>
          <a:stretch>
            <a:fillRect/>
          </a:stretch>
        </p:blipFill>
        <p:spPr>
          <a:xfrm>
            <a:off x="3403680" y="1371600"/>
            <a:ext cx="5399879"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anatomy of the stomach</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muscular, J-shaped sac</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Stores and churns food</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Regions: fundus, body, pylorus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Rugae let it expand</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Gastric Glands</a:t>
            </a:r>
            <a:endParaRPr lang="en-US" sz="2800" dirty="0"/>
          </a:p>
        </p:txBody>
      </p:sp>
      <p:sp>
        <p:nvSpPr>
          <p:cNvPr id="4" name="Shape 2"/>
          <p:cNvSpPr/>
          <p:nvPr/>
        </p:nvSpPr>
        <p:spPr>
          <a:xfrm>
            <a:off x="2210347" y="1289304"/>
            <a:ext cx="7786546"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15.jpg">    </p:cNvPr>
          <p:cNvPicPr>
            <a:picLocks noChangeAspect="1"/>
          </p:cNvPicPr>
          <p:nvPr/>
        </p:nvPicPr>
        <p:blipFill>
          <a:blip r:embed="rId1"/>
          <a:stretch>
            <a:fillRect/>
          </a:stretch>
        </p:blipFill>
        <p:spPr>
          <a:xfrm>
            <a:off x="2292643" y="1371600"/>
            <a:ext cx="7621954"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gastric glands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Gastric pits line the stomach</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Secrete acid and enzymes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Hydrochloric acid kills microbes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Pepsin digests protein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23.5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The Small and Large Intestines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intestines — where most digestion and absorption happen.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Small &amp; Large Intestines</a:t>
            </a:r>
            <a:endParaRPr lang="en-US" sz="2800" dirty="0"/>
          </a:p>
        </p:txBody>
      </p:sp>
      <p:sp>
        <p:nvSpPr>
          <p:cNvPr id="4" name="Shape 2"/>
          <p:cNvSpPr/>
          <p:nvPr/>
        </p:nvSpPr>
        <p:spPr>
          <a:xfrm>
            <a:off x="3311221" y="1289304"/>
            <a:ext cx="5584799"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17.jpg">    </p:cNvPr>
          <p:cNvPicPr>
            <a:picLocks noChangeAspect="1"/>
          </p:cNvPicPr>
          <p:nvPr/>
        </p:nvPicPr>
        <p:blipFill>
          <a:blip r:embed="rId1"/>
          <a:stretch>
            <a:fillRect/>
          </a:stretch>
        </p:blipFill>
        <p:spPr>
          <a:xfrm>
            <a:off x="3393517" y="1371600"/>
            <a:ext cx="5420207"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small and large intestines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Small intestine: duodenum, jejunum, ileum</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Most digestion and absorption happen here</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Large intestine absorbs water</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Ends at the rectum and anus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Villi &amp; Absorption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small intestine maximizes surface area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Folds, villi, and microvilli</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huge area for absorption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Each villus has vessels and a lacteal</a:t>
            </a:r>
            <a:endParaRPr lang="en-US" sz="1500" dirty="0"/>
          </a:p>
        </p:txBody>
      </p:sp>
      <p:sp>
        <p:nvSpPr>
          <p:cNvPr id="5" name="Shape 3"/>
          <p:cNvSpPr/>
          <p:nvPr/>
        </p:nvSpPr>
        <p:spPr>
          <a:xfrm>
            <a:off x="5471884" y="1335024"/>
            <a:ext cx="624695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3/img/img18.jpg">    </p:cNvPr>
          <p:cNvPicPr>
            <a:picLocks noChangeAspect="1"/>
          </p:cNvPicPr>
          <p:nvPr/>
        </p:nvPicPr>
        <p:blipFill>
          <a:blip r:embed="rId1"/>
          <a:stretch>
            <a:fillRect/>
          </a:stretch>
        </p:blipFill>
        <p:spPr>
          <a:xfrm>
            <a:off x="5554180" y="1417320"/>
            <a:ext cx="608236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Villi of the small intestine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Large Intestine</a:t>
            </a:r>
            <a:endParaRPr lang="en-US" sz="2800" dirty="0"/>
          </a:p>
        </p:txBody>
      </p:sp>
      <p:sp>
        <p:nvSpPr>
          <p:cNvPr id="4" name="Shape 2"/>
          <p:cNvSpPr/>
          <p:nvPr/>
        </p:nvSpPr>
        <p:spPr>
          <a:xfrm>
            <a:off x="489433" y="1289304"/>
            <a:ext cx="4324655" cy="4736592"/>
          </a:xfrm>
          <a:prstGeom prst="roundRect">
            <a:avLst>
              <a:gd name="adj" fmla="val 126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20.jpg">    </p:cNvPr>
          <p:cNvPicPr>
            <a:picLocks noChangeAspect="1"/>
          </p:cNvPicPr>
          <p:nvPr/>
        </p:nvPicPr>
        <p:blipFill>
          <a:blip r:embed="rId1"/>
          <a:stretch>
            <a:fillRect/>
          </a:stretch>
        </p:blipFill>
        <p:spPr>
          <a:xfrm>
            <a:off x="571729" y="1371600"/>
            <a:ext cx="4160063"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large intestine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Frames the abdomen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Absorbs water and salts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Pouches (haustra) along its length</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Bacteria make some vitamins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23.6</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Accessory Organs in Digestion: The Liver, Pancreas, and Gallbladder</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liver, gallbladder, and pancreas that aid digestion.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Accessory Organs</a:t>
            </a:r>
            <a:endParaRPr lang="en-US" sz="2800" dirty="0"/>
          </a:p>
        </p:txBody>
      </p:sp>
      <p:sp>
        <p:nvSpPr>
          <p:cNvPr id="4" name="Shape 2"/>
          <p:cNvSpPr/>
          <p:nvPr/>
        </p:nvSpPr>
        <p:spPr>
          <a:xfrm>
            <a:off x="732892" y="1289304"/>
            <a:ext cx="3837737" cy="4736592"/>
          </a:xfrm>
          <a:prstGeom prst="roundRect">
            <a:avLst>
              <a:gd name="adj" fmla="val 143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21.jpg">    </p:cNvPr>
          <p:cNvPicPr>
            <a:picLocks noChangeAspect="1"/>
          </p:cNvPicPr>
          <p:nvPr/>
        </p:nvPicPr>
        <p:blipFill>
          <a:blip r:embed="rId1"/>
          <a:stretch>
            <a:fillRect/>
          </a:stretch>
        </p:blipFill>
        <p:spPr>
          <a:xfrm>
            <a:off x="815188" y="1371600"/>
            <a:ext cx="3673145"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Liver, gallbladder, and pancreas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Liver, gallbladder, and pancreas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Secrete into the small intestine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liver makes bile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pancreas makes digestive enzymes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Gallbladder &amp; Bile Ducts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gallbladder stores bile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Bile emulsifies fats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Ducts carry bile to the intestine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Gallstones can block the ducts</a:t>
            </a:r>
            <a:endParaRPr lang="en-US" sz="1500" dirty="0"/>
          </a:p>
        </p:txBody>
      </p:sp>
      <p:sp>
        <p:nvSpPr>
          <p:cNvPr id="5" name="Shape 3"/>
          <p:cNvSpPr/>
          <p:nvPr/>
        </p:nvSpPr>
        <p:spPr>
          <a:xfrm>
            <a:off x="5762448" y="1335024"/>
            <a:ext cx="566582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3/img/img24.jpg">    </p:cNvPr>
          <p:cNvPicPr>
            <a:picLocks noChangeAspect="1"/>
          </p:cNvPicPr>
          <p:nvPr/>
        </p:nvPicPr>
        <p:blipFill>
          <a:blip r:embed="rId1"/>
          <a:stretch>
            <a:fillRect/>
          </a:stretch>
        </p:blipFill>
        <p:spPr>
          <a:xfrm>
            <a:off x="5844744" y="1417320"/>
            <a:ext cx="550123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gallbladder and bile ducts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23.7</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Chemical Digestion and Absorption: A Closer Look</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nutrients are chemically broken down and absorbed.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Absorption of Nutrients</a:t>
            </a:r>
            <a:endParaRPr lang="en-US" sz="2800" dirty="0"/>
          </a:p>
        </p:txBody>
      </p:sp>
      <p:sp>
        <p:nvSpPr>
          <p:cNvPr id="4" name="Shape 2"/>
          <p:cNvSpPr/>
          <p:nvPr/>
        </p:nvSpPr>
        <p:spPr>
          <a:xfrm>
            <a:off x="800329" y="1289304"/>
            <a:ext cx="3702863" cy="4736592"/>
          </a:xfrm>
          <a:prstGeom prst="roundRect">
            <a:avLst>
              <a:gd name="adj" fmla="val 148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29.jpg">    </p:cNvPr>
          <p:cNvPicPr>
            <a:picLocks noChangeAspect="1"/>
          </p:cNvPicPr>
          <p:nvPr/>
        </p:nvPicPr>
        <p:blipFill>
          <a:blip r:embed="rId1"/>
          <a:stretch>
            <a:fillRect/>
          </a:stretch>
        </p:blipFill>
        <p:spPr>
          <a:xfrm>
            <a:off x="882625" y="1371600"/>
            <a:ext cx="3538271"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Absorption across the intestinal wall</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Nutrients cross the intestinal lining</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Sugars and amino acids enter the blood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Fats enter lymphatic lacteals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Carried to the body's cells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23.7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Fluid Balance in Digestion</a:t>
            </a:r>
            <a:endParaRPr lang="en-US" sz="2800" dirty="0"/>
          </a:p>
        </p:txBody>
      </p:sp>
      <p:sp>
        <p:nvSpPr>
          <p:cNvPr id="4" name="Shape 2"/>
          <p:cNvSpPr/>
          <p:nvPr/>
        </p:nvSpPr>
        <p:spPr>
          <a:xfrm>
            <a:off x="792099" y="1289304"/>
            <a:ext cx="3719322" cy="4736592"/>
          </a:xfrm>
          <a:prstGeom prst="roundRect">
            <a:avLst>
              <a:gd name="adj" fmla="val 147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3/img/img28.jpg">    </p:cNvPr>
          <p:cNvPicPr>
            <a:picLocks noChangeAspect="1"/>
          </p:cNvPicPr>
          <p:nvPr/>
        </p:nvPicPr>
        <p:blipFill>
          <a:blip r:embed="rId1"/>
          <a:stretch>
            <a:fillRect/>
          </a:stretch>
        </p:blipFill>
        <p:spPr>
          <a:xfrm>
            <a:off x="874395" y="1371600"/>
            <a:ext cx="355473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Water balance in the digestive tract</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gut handles large fluid volumes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Most is reabsorbed, not lost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small intestine absorbs the most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Diarrhea risks dehydration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digestive system is a long tract plus accessory organs that process food.</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Digestion involves mechanical and chemical breakdown, then absorption.</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mouth and stomach begin digestion; the small intestine completes most of it.</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liver, gallbladder, and pancreas supply bile and enzymes for digestion.</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large intestine absorbs water and forms stool for elimination.</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23 — The Digestive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the Digestive System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Dysphagia &amp; Aspiration</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Trouble swallowing risks food entering the airway.</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Peptic Ulcers</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Acid damage to the stomach or duodenal lining.</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Gallstones</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Hardened bile can block ducts and cause severe pain.</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Diarrhea &amp; Dehydration</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Lost intestinal fluid can quickly unbalance the body.</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Nutrition</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Digestion and absorption underlie all nutritional care.</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Liver Function</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liver is central to digestion, metabolism, and detoxification.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2026-06-23T22:02:06Z</dcterms:created>
  <dcterms:modified xsi:type="dcterms:W3CDTF">2026-06-23T22:02:06Z</dcterms:modified>
</cp:coreProperties>
</file>