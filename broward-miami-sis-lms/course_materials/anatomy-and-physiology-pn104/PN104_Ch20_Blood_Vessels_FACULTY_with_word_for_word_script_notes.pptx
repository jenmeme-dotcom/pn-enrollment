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d3bdacd936e4861" /><Relationship Type="http://schemas.openxmlformats.org/officeDocument/2006/relationships/extended-properties" Target="/docProps/app.xml" Id="R980f25b73bfc4cfd" /><Relationship Type="http://schemas.openxmlformats.org/officeDocument/2006/relationships/officeDocument" Target="/ppt/presentation.xml" Id="R256ffd8f6d164e77" /></Relationships>
</file>

<file path=ppt/presentation.xml><?xml version="1.0" encoding="utf-8"?>
<p:presentation xmlns:p="http://schemas.openxmlformats.org/presentationml/2006/main">
  <p:sldMasterIdLst>
    <p:sldMasterId xmlns:r="http://schemas.openxmlformats.org/officeDocument/2006/relationships" id="2147483648" r:id="R34c5e598860947b1"/>
  </p:sldMasterIdLst>
  <p:notesMasterIdLst>
    <p:notesMasterId xmlns:r="http://schemas.openxmlformats.org/officeDocument/2006/relationships" r:id="R8b15429464d54343"/>
  </p:notesMasterIdLst>
  <p:sldIdLst>
    <p:sldId xmlns:r="http://schemas.openxmlformats.org/officeDocument/2006/relationships" id="256" r:id="Rd1658bf456764340"/>
    <p:sldId xmlns:r="http://schemas.openxmlformats.org/officeDocument/2006/relationships" id="257" r:id="R739f647831054b92"/>
    <p:sldId xmlns:r="http://schemas.openxmlformats.org/officeDocument/2006/relationships" id="258" r:id="R28f538f460d64264"/>
    <p:sldId xmlns:r="http://schemas.openxmlformats.org/officeDocument/2006/relationships" id="259" r:id="Rc1e7f8b4f9844b11"/>
    <p:sldId xmlns:r="http://schemas.openxmlformats.org/officeDocument/2006/relationships" id="260" r:id="R058f3458878042c3"/>
    <p:sldId xmlns:r="http://schemas.openxmlformats.org/officeDocument/2006/relationships" id="261" r:id="R45e16ffbc9284ee5"/>
    <p:sldId xmlns:r="http://schemas.openxmlformats.org/officeDocument/2006/relationships" id="262" r:id="R78dcb1df9164435d"/>
    <p:sldId xmlns:r="http://schemas.openxmlformats.org/officeDocument/2006/relationships" id="263" r:id="Rac05c7c41b6942e4"/>
    <p:sldId xmlns:r="http://schemas.openxmlformats.org/officeDocument/2006/relationships" id="264" r:id="R66aabc48c2714c62"/>
    <p:sldId xmlns:r="http://schemas.openxmlformats.org/officeDocument/2006/relationships" id="265" r:id="R5e3f8fe53f7d43ec"/>
    <p:sldId xmlns:r="http://schemas.openxmlformats.org/officeDocument/2006/relationships" id="266" r:id="R146d9c6bb4c54c6d"/>
    <p:sldId xmlns:r="http://schemas.openxmlformats.org/officeDocument/2006/relationships" id="267" r:id="Rb0730520ade74950"/>
    <p:sldId xmlns:r="http://schemas.openxmlformats.org/officeDocument/2006/relationships" id="268" r:id="R63461f307ca14fb9"/>
    <p:sldId xmlns:r="http://schemas.openxmlformats.org/officeDocument/2006/relationships" id="269" r:id="Rfbe7f4e1a3204624"/>
    <p:sldId xmlns:r="http://schemas.openxmlformats.org/officeDocument/2006/relationships" id="270" r:id="Re16c656ca63b47da"/>
    <p:sldId xmlns:r="http://schemas.openxmlformats.org/officeDocument/2006/relationships" id="271" r:id="Rba42a5718ca1452a"/>
    <p:sldId xmlns:r="http://schemas.openxmlformats.org/officeDocument/2006/relationships" id="272" r:id="R25d09d391ea94cc3"/>
    <p:sldId xmlns:r="http://schemas.openxmlformats.org/officeDocument/2006/relationships" id="273" r:id="R5c43b368382b457e"/>
    <p:sldId xmlns:r="http://schemas.openxmlformats.org/officeDocument/2006/relationships" id="274" r:id="Rf88596e27cf84712"/>
    <p:sldId xmlns:r="http://schemas.openxmlformats.org/officeDocument/2006/relationships" id="275" r:id="Rcf00d4f7319f42aa"/>
    <p:sldId xmlns:r="http://schemas.openxmlformats.org/officeDocument/2006/relationships" id="276" r:id="R708ea300430a4338"/>
    <p:sldId xmlns:r="http://schemas.openxmlformats.org/officeDocument/2006/relationships" id="277" r:id="R39e35c4f52eb4e3b"/>
  </p:sldIdLst>
  <p:sldSz cx="1219169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d5c83c5768944dab" /><Relationship Type="http://schemas.openxmlformats.org/officeDocument/2006/relationships/slideMaster" Target="/ppt/slideMasters/slideMaster1.xml" Id="R34c5e598860947b1" /><Relationship Type="http://schemas.openxmlformats.org/officeDocument/2006/relationships/notesMaster" Target="/ppt/notesMasters/notesMaster1.xml" Id="R8b15429464d54343" /><Relationship Type="http://schemas.openxmlformats.org/officeDocument/2006/relationships/presProps" Target="/ppt/presProps.xml" Id="R514008134d4441d5" /><Relationship Type="http://schemas.openxmlformats.org/officeDocument/2006/relationships/viewProps" Target="/ppt/viewProps.xml" Id="R54622c815bae48bd" /><Relationship Type="http://schemas.openxmlformats.org/officeDocument/2006/relationships/tableStyles" Target="/ppt/tableStyles.xml" Id="Rb4436c28187c4621" /><Relationship Type="http://schemas.openxmlformats.org/officeDocument/2006/relationships/slide" Target="/ppt/slides/slide1.xml" Id="Rd1658bf456764340" /><Relationship Type="http://schemas.openxmlformats.org/officeDocument/2006/relationships/slide" Target="/ppt/slides/slide2.xml" Id="R739f647831054b92" /><Relationship Type="http://schemas.openxmlformats.org/officeDocument/2006/relationships/slide" Target="/ppt/slides/slide3.xml" Id="R28f538f460d64264" /><Relationship Type="http://schemas.openxmlformats.org/officeDocument/2006/relationships/slide" Target="/ppt/slides/slide4.xml" Id="Rc1e7f8b4f9844b11" /><Relationship Type="http://schemas.openxmlformats.org/officeDocument/2006/relationships/slide" Target="/ppt/slides/slide5.xml" Id="R058f3458878042c3" /><Relationship Type="http://schemas.openxmlformats.org/officeDocument/2006/relationships/slide" Target="/ppt/slides/slide6.xml" Id="R45e16ffbc9284ee5" /><Relationship Type="http://schemas.openxmlformats.org/officeDocument/2006/relationships/slide" Target="/ppt/slides/slide7.xml" Id="R78dcb1df9164435d" /><Relationship Type="http://schemas.openxmlformats.org/officeDocument/2006/relationships/slide" Target="/ppt/slides/slide8.xml" Id="Rac05c7c41b6942e4" /><Relationship Type="http://schemas.openxmlformats.org/officeDocument/2006/relationships/slide" Target="/ppt/slides/slide9.xml" Id="R66aabc48c2714c62" /><Relationship Type="http://schemas.openxmlformats.org/officeDocument/2006/relationships/slide" Target="/ppt/slides/slide10.xml" Id="R5e3f8fe53f7d43ec" /><Relationship Type="http://schemas.openxmlformats.org/officeDocument/2006/relationships/slide" Target="/ppt/slides/slide11.xml" Id="R146d9c6bb4c54c6d" /><Relationship Type="http://schemas.openxmlformats.org/officeDocument/2006/relationships/slide" Target="/ppt/slides/slide12.xml" Id="Rb0730520ade74950" /><Relationship Type="http://schemas.openxmlformats.org/officeDocument/2006/relationships/slide" Target="/ppt/slides/slide13.xml" Id="R63461f307ca14fb9" /><Relationship Type="http://schemas.openxmlformats.org/officeDocument/2006/relationships/slide" Target="/ppt/slides/slide14.xml" Id="Rfbe7f4e1a3204624" /><Relationship Type="http://schemas.openxmlformats.org/officeDocument/2006/relationships/slide" Target="/ppt/slides/slide15.xml" Id="Re16c656ca63b47da" /><Relationship Type="http://schemas.openxmlformats.org/officeDocument/2006/relationships/slide" Target="/ppt/slides/slide16.xml" Id="Rba42a5718ca1452a" /><Relationship Type="http://schemas.openxmlformats.org/officeDocument/2006/relationships/slide" Target="/ppt/slides/slide17.xml" Id="R25d09d391ea94cc3" /><Relationship Type="http://schemas.openxmlformats.org/officeDocument/2006/relationships/slide" Target="/ppt/slides/slide18.xml" Id="R5c43b368382b457e" /><Relationship Type="http://schemas.openxmlformats.org/officeDocument/2006/relationships/slide" Target="/ppt/slides/slide19.xml" Id="Rf88596e27cf84712" /><Relationship Type="http://schemas.openxmlformats.org/officeDocument/2006/relationships/slide" Target="/ppt/slides/slide20.xml" Id="Rcf00d4f7319f42aa" /><Relationship Type="http://schemas.openxmlformats.org/officeDocument/2006/relationships/slide" Target="/ppt/slides/slide21.xml" Id="R708ea300430a4338" /><Relationship Type="http://schemas.openxmlformats.org/officeDocument/2006/relationships/slide" Target="/ppt/slides/slide22.xml" Id="R39e35c4f52eb4e3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703bf6f81d1479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5f8b2a718ae4396" /><Relationship Type="http://schemas.openxmlformats.org/officeDocument/2006/relationships/notesMaster" Target="/ppt/notesMasters/notesMaster1.xml" Id="R5d49cfd54ec54458" /></Relationships>
</file>

<file path=ppt/notesSlides/_rels/notesSlide2.xml.rels>&#65279;<?xml version="1.0" encoding="utf-8"?><Relationships xmlns="http://schemas.openxmlformats.org/package/2006/relationships"><Relationship Type="http://schemas.openxmlformats.org/officeDocument/2006/relationships/slide" Target="/ppt/slides/slide2.xml" Id="R5d156b134b3f4aae" /><Relationship Type="http://schemas.openxmlformats.org/officeDocument/2006/relationships/notesMaster" Target="/ppt/notesMasters/notesMaster1.xml" Id="R60699ee4e8554785" /></Relationships>
</file>

<file path=ppt/notesSlides/_rels/notesSlide3.xml.rels>&#65279;<?xml version="1.0" encoding="utf-8"?><Relationships xmlns="http://schemas.openxmlformats.org/package/2006/relationships"><Relationship Type="http://schemas.openxmlformats.org/officeDocument/2006/relationships/slide" Target="/ppt/slides/slide3.xml" Id="R7906e38cc6ca4c99" /><Relationship Type="http://schemas.openxmlformats.org/officeDocument/2006/relationships/notesMaster" Target="/ppt/notesMasters/notesMaster1.xml" Id="R150fee3122874ff4" /></Relationships>
</file>

<file path=ppt/notesSlides/_rels/notesSlide4.xml.rels>&#65279;<?xml version="1.0" encoding="utf-8"?><Relationships xmlns="http://schemas.openxmlformats.org/package/2006/relationships"><Relationship Type="http://schemas.openxmlformats.org/officeDocument/2006/relationships/slide" Target="/ppt/slides/slide4.xml" Id="R464188f0e074435b" /><Relationship Type="http://schemas.openxmlformats.org/officeDocument/2006/relationships/notesMaster" Target="/ppt/notesMasters/notesMaster1.xml" Id="R3800700d474c49b7" /></Relationships>
</file>

<file path=ppt/notesSlides/_rels/notesSlide5.xml.rels>&#65279;<?xml version="1.0" encoding="utf-8"?><Relationships xmlns="http://schemas.openxmlformats.org/package/2006/relationships"><Relationship Type="http://schemas.openxmlformats.org/officeDocument/2006/relationships/slide" Target="/ppt/slides/slide5.xml" Id="Rfe34238c11d04224" /><Relationship Type="http://schemas.openxmlformats.org/officeDocument/2006/relationships/notesMaster" Target="/ppt/notesMasters/notesMaster1.xml" Id="Rea171f8106e24641" /></Relationships>
</file>

<file path=ppt/notesSlides/_rels/notesSlide6.xml.rels>&#65279;<?xml version="1.0" encoding="utf-8"?><Relationships xmlns="http://schemas.openxmlformats.org/package/2006/relationships"><Relationship Type="http://schemas.openxmlformats.org/officeDocument/2006/relationships/slide" Target="/ppt/slides/slide6.xml" Id="R3e49211d9a7c4f61" /><Relationship Type="http://schemas.openxmlformats.org/officeDocument/2006/relationships/notesMaster" Target="/ppt/notesMasters/notesMaster1.xml" Id="R7e33ea7edb0846c9" /></Relationships>
</file>

<file path=ppt/notesSlides/_rels/notesSlide7.xml.rels>&#65279;<?xml version="1.0" encoding="utf-8"?><Relationships xmlns="http://schemas.openxmlformats.org/package/2006/relationships"><Relationship Type="http://schemas.openxmlformats.org/officeDocument/2006/relationships/slide" Target="/ppt/slides/slide7.xml" Id="R9dfc6942045e4241" /><Relationship Type="http://schemas.openxmlformats.org/officeDocument/2006/relationships/notesMaster" Target="/ppt/notesMasters/notesMaster1.xml" Id="R04f562734af14ed4" /></Relationships>
</file>

<file path=ppt/notesSlides/_rels/notesSlide8.xml.rels>&#65279;<?xml version="1.0" encoding="utf-8"?><Relationships xmlns="http://schemas.openxmlformats.org/package/2006/relationships"><Relationship Type="http://schemas.openxmlformats.org/officeDocument/2006/relationships/slide" Target="/ppt/slides/slide8.xml" Id="R8a355a4a167d4a1e" /><Relationship Type="http://schemas.openxmlformats.org/officeDocument/2006/relationships/notesMaster" Target="/ppt/notesMasters/notesMaster1.xml" Id="R0db8a4ccfaf04472" /></Relationships>
</file>

<file path=ppt/notesSlides/_rels/notesSlide9.xml.rels>&#65279;<?xml version="1.0" encoding="utf-8"?><Relationships xmlns="http://schemas.openxmlformats.org/package/2006/relationships"><Relationship Type="http://schemas.openxmlformats.org/officeDocument/2006/relationships/slide" Target="/ppt/slides/slide9.xml" Id="R7b714ba993df49e9" /><Relationship Type="http://schemas.openxmlformats.org/officeDocument/2006/relationships/notesMaster" Target="/ppt/notesMasters/notesMaster1.xml" Id="R9930f9dd004740c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72bbdcefe364caf" /><Relationship Type="http://schemas.openxmlformats.org/officeDocument/2006/relationships/notesMaster" Target="/ppt/notesMasters/notesMaster1.xml" Id="R4855369b751140b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9dfd8fd5f154cdd" /><Relationship Type="http://schemas.openxmlformats.org/officeDocument/2006/relationships/notesMaster" Target="/ppt/notesMasters/notesMaster1.xml" Id="Reb556330cd74419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26bf2753e64492b" /><Relationship Type="http://schemas.openxmlformats.org/officeDocument/2006/relationships/notesMaster" Target="/ppt/notesMasters/notesMaster1.xml" Id="Rb816956bd4bc427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b722b3c5c264233" /><Relationship Type="http://schemas.openxmlformats.org/officeDocument/2006/relationships/notesMaster" Target="/ppt/notesMasters/notesMaster1.xml" Id="R9558bcc2035d41d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7794ea8944b4789" /><Relationship Type="http://schemas.openxmlformats.org/officeDocument/2006/relationships/notesMaster" Target="/ppt/notesMasters/notesMaster1.xml" Id="Rca990f1cde3a4e3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91bbfdaee7e4130" /><Relationship Type="http://schemas.openxmlformats.org/officeDocument/2006/relationships/notesMaster" Target="/ppt/notesMasters/notesMaster1.xml" Id="R8607c96730d548e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ff8984fd5a34907" /><Relationship Type="http://schemas.openxmlformats.org/officeDocument/2006/relationships/notesMaster" Target="/ppt/notesMasters/notesMaster1.xml" Id="R7f2bae60961d439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23d44f72d72463a" /><Relationship Type="http://schemas.openxmlformats.org/officeDocument/2006/relationships/notesMaster" Target="/ppt/notesMasters/notesMaster1.xml" Id="R57c2cb5df7864c5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60167822cd343ba" /><Relationship Type="http://schemas.openxmlformats.org/officeDocument/2006/relationships/notesMaster" Target="/ppt/notesMasters/notesMaster1.xml" Id="R41439243ac674d6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52d35758bba4c09" /><Relationship Type="http://schemas.openxmlformats.org/officeDocument/2006/relationships/notesMaster" Target="/ppt/notesMasters/notesMaster1.xml" Id="Re3c25d8fdfa9424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1cbb3ad33074c17" /><Relationship Type="http://schemas.openxmlformats.org/officeDocument/2006/relationships/notesMaster" Target="/ppt/notesMasters/notesMaster1.xml" Id="R7057d2b55cf94c2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12f23ecf38e46e6" /><Relationship Type="http://schemas.openxmlformats.org/officeDocument/2006/relationships/notesMaster" Target="/ppt/notesMasters/notesMaster1.xml" Id="Rbb6296217c18424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8dd43216f854e13" /><Relationship Type="http://schemas.openxmlformats.org/officeDocument/2006/relationships/notesMaster" Target="/ppt/notesMasters/notesMaster1.xml" Id="R5cb40026824a4b7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endParaRPr/>
          </a:p>
          <a:p xmlns:a="http://schemas.openxmlformats.org/drawingml/2006/main">
            <a:r>
              <a:t/>
            </a:r>
            <a:endParaRPr/>
          </a:p>
          <a:p xmlns:a="http://schemas.openxmlformats.org/drawingml/2006/main">
            <a:r>
              <a:t>Today we are beginning Chapter 20, blood vessels. In this chapter, we will connect the major structures and processes with their functions and with the observations that matter in practical nursing care. As we move through the slides, focus on how this system supports circulation, perfusion, protection, and patient safety. By the end, you should be able to explain the major concepts in your own words and apply them to a patient-care situation.</a:t>
            </a:r>
            <a:endParaRPr/>
          </a:p>
          <a:p xmlns:a="http://schemas.openxmlformats.org/drawingml/2006/main">
            <a:r>
              <a:t/>
            </a:r>
            <a:endParaRPr/>
          </a:p>
          <a:p xmlns:a="http://schemas.openxmlformats.org/drawingml/2006/main">
            <a:r>
              <a:t>[Sources]</a:t>
            </a:r>
            <a:endParaRPr/>
          </a:p>
          <a:p xmlns:a="http://schemas.openxmlformats.org/drawingml/2006/main">
            <a:r>
              <a:t>- BMHI PN 104 Chapter 20 faculty PowerPoint slide content.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endParaRPr/>
          </a:p>
          <a:p xmlns:a="http://schemas.openxmlformats.org/drawingml/2006/main">
            <a:r>
              <a:t/>
            </a:r>
            <a:endParaRPr/>
          </a:p>
          <a:p xmlns:a="http://schemas.openxmlformats.org/drawingml/2006/main">
            <a:r>
              <a:t>These are our learning objectives for Chapter 20. By the end of the chapter, you should be able to do the following: Compare and contrast the anatomical structure of arteries, arterioles, capillaries, venules, and veins. Accurately describe the forces that account for capillary exchange. List the major factors affecting blood flow, blood pressure, and resistance. Describe how blood flow, blood pressure, and resistance interrelate. Discuss how the neural and endocrine mechanisms maintain homeostasis within the blood vessels. Describe the interaction of the cardiovascular system with other body systems. Do not treat these as isolated facts. Use them as a checklist for what you should be able to identify, explain, and connect to safe practical nursing care.</a:t>
            </a:r>
            <a:endParaRPr/>
          </a:p>
          <a:p xmlns:a="http://schemas.openxmlformats.org/drawingml/2006/main">
            <a:r>
              <a:t/>
            </a:r>
            <a:endParaRPr/>
          </a:p>
          <a:p xmlns:a="http://schemas.openxmlformats.org/drawingml/2006/main">
            <a:r>
              <a:t>[Sources]</a:t>
            </a:r>
            <a:endParaRPr/>
          </a:p>
          <a:p xmlns:a="http://schemas.openxmlformats.org/drawingml/2006/main">
            <a:r>
              <a:t>- BMHI PN 104 Chapter 20 faculty PowerPoint slide content.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endParaRPr/>
          </a:p>
          <a:p xmlns:a="http://schemas.openxmlformats.org/drawingml/2006/main">
            <a:r>
              <a:t/>
            </a:r>
            <a:endParaRPr/>
          </a:p>
          <a:p xmlns:a="http://schemas.openxmlformats.org/drawingml/2006/main">
            <a:r>
              <a:t>We are now moving into Structure and Function of Blood Vessels. The structure of arteries, veins, and capillaries. As we begin this section, listen for the major structures, their locations, and the functions they perform. Then ask yourself what a change in this area might look like during patient care.</a:t>
            </a:r>
            <a:endParaRPr/>
          </a:p>
          <a:p xmlns:a="http://schemas.openxmlformats.org/drawingml/2006/main">
            <a:r>
              <a:t/>
            </a:r>
            <a:endParaRPr/>
          </a:p>
          <a:p xmlns:a="http://schemas.openxmlformats.org/drawingml/2006/main">
            <a:r>
              <a:t>[Sources]</a:t>
            </a:r>
            <a:endParaRPr/>
          </a:p>
          <a:p xmlns:a="http://schemas.openxmlformats.org/drawingml/2006/main">
            <a:r>
              <a:t>- BMHI PN 104 Chapter 20 faculty PowerPoint slide content.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endParaRPr/>
          </a:p>
          <a:p xmlns:a="http://schemas.openxmlformats.org/drawingml/2006/main">
            <a:r>
              <a:t/>
            </a:r>
            <a:endParaRPr/>
          </a:p>
          <a:p xmlns:a="http://schemas.openxmlformats.org/drawingml/2006/main">
            <a:r>
              <a:t>Now let's focus on Artery vs. Vein. The walls of an artery and a vein. Both have three wall layers (tunics). Arteries have thick muscular walls. Veins are thinner, with valves. Valves keep venous blood moving up. Assess distal color, temperature, pulses, capillary refill, sensation, movement, pain, and swelling when arterial or microcirculatory flow may be impaired. Take a moment to identify the structure on the image and explain how its form supports its function. This is slide 4 of 22.</a:t>
            </a:r>
            <a:endParaRPr/>
          </a:p>
          <a:p xmlns:a="http://schemas.openxmlformats.org/drawingml/2006/main">
            <a:r>
              <a:t/>
            </a:r>
            <a:endParaRPr/>
          </a:p>
          <a:p xmlns:a="http://schemas.openxmlformats.org/drawingml/2006/main">
            <a:r>
              <a:t>[Sources]</a:t>
            </a:r>
            <a:endParaRPr/>
          </a:p>
          <a:p xmlns:a="http://schemas.openxmlformats.org/drawingml/2006/main">
            <a:r>
              <a:t>- BMHI PN 104 Chapter 20 faculty PowerPoint slide content.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endParaRPr/>
          </a:p>
          <a:p xmlns:a="http://schemas.openxmlformats.org/drawingml/2006/main">
            <a:r>
              <a:t/>
            </a:r>
            <a:endParaRPr/>
          </a:p>
          <a:p xmlns:a="http://schemas.openxmlformats.org/drawingml/2006/main">
            <a:r>
              <a:t>Now let's focus on Types of Capillaries. The three types of capillaries. The smallest vessels. Walls just one cell thick. Continuous, fenestrated, sinusoid. The site of all exchange. Assess distal color, temperature, pulses, capillary refill, sensation, movement, pain, and swelling when arterial or microcirculatory flow may be impaired. Take a moment to identify the structure on the image and explain how its form supports its function. This is slide 5 of 22.</a:t>
            </a:r>
            <a:endParaRPr/>
          </a:p>
          <a:p xmlns:a="http://schemas.openxmlformats.org/drawingml/2006/main">
            <a:r>
              <a:t/>
            </a:r>
            <a:endParaRPr/>
          </a:p>
          <a:p xmlns:a="http://schemas.openxmlformats.org/drawingml/2006/main">
            <a:r>
              <a:t>[Sources]</a:t>
            </a:r>
            <a:endParaRPr/>
          </a:p>
          <a:p xmlns:a="http://schemas.openxmlformats.org/drawingml/2006/main">
            <a:r>
              <a:t>- BMHI PN 104 Chapter 20 faculty PowerPoint slide content.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endParaRPr/>
          </a:p>
          <a:p xmlns:a="http://schemas.openxmlformats.org/drawingml/2006/main">
            <a:r>
              <a:t/>
            </a:r>
            <a:endParaRPr/>
          </a:p>
          <a:p xmlns:a="http://schemas.openxmlformats.org/drawingml/2006/main">
            <a:r>
              <a:t>Now let's focus on The Capillary Bed. Blood flow through a capillary bed. Capillaries form branching beds. Connect arterioles to venules. Precapillary sphincters control flow. Direct blood where it's needed. Assess distal color, temperature, pulses, capillary refill, sensation, movement, pain, and swelling when arterial or microcirculatory flow may be impaired. Take a moment to identify the structure on the image and explain how its form supports its function. This is slide 6 of 22.</a:t>
            </a:r>
            <a:endParaRPr/>
          </a:p>
          <a:p xmlns:a="http://schemas.openxmlformats.org/drawingml/2006/main">
            <a:r>
              <a:t/>
            </a:r>
            <a:endParaRPr/>
          </a:p>
          <a:p xmlns:a="http://schemas.openxmlformats.org/drawingml/2006/main">
            <a:r>
              <a:t>[Sources]</a:t>
            </a:r>
            <a:endParaRPr/>
          </a:p>
          <a:p xmlns:a="http://schemas.openxmlformats.org/drawingml/2006/main">
            <a:r>
              <a:t>- BMHI PN 104 Chapter 20 faculty PowerPoint slide content.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endParaRPr/>
          </a:p>
          <a:p xmlns:a="http://schemas.openxmlformats.org/drawingml/2006/main">
            <a:r>
              <a:t/>
            </a:r>
            <a:endParaRPr/>
          </a:p>
          <a:p xmlns:a="http://schemas.openxmlformats.org/drawingml/2006/main">
            <a:r>
              <a:t>We are now moving into Blood Flow, Blood Pressure, and Resistance. Blood flow, blood pressure, and resistance. As we begin this section, listen for the major structures, their locations, and the functions they perform. Then ask yourself what a change in this area might look like during patient care.</a:t>
            </a:r>
            <a:endParaRPr/>
          </a:p>
          <a:p xmlns:a="http://schemas.openxmlformats.org/drawingml/2006/main">
            <a:r>
              <a:t/>
            </a:r>
            <a:endParaRPr/>
          </a:p>
          <a:p xmlns:a="http://schemas.openxmlformats.org/drawingml/2006/main">
            <a:r>
              <a:t>[Sources]</a:t>
            </a:r>
            <a:endParaRPr/>
          </a:p>
          <a:p xmlns:a="http://schemas.openxmlformats.org/drawingml/2006/main">
            <a:r>
              <a:t>- BMHI PN 104 Chapter 20 faculty PowerPoint slide content.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endParaRPr/>
          </a:p>
          <a:p xmlns:a="http://schemas.openxmlformats.org/drawingml/2006/main">
            <a:r>
              <a:t/>
            </a:r>
            <a:endParaRPr/>
          </a:p>
          <a:p xmlns:a="http://schemas.openxmlformats.org/drawingml/2006/main">
            <a:r>
              <a:t>Now let's focus on Blood Pressure Across the System. Pressure is highest in the arteries. Drops sharply in the arterioles. Lowest in the veins. The gradient drives blood flow. Blood pressure throughout the circulation. Measure blood pressure with correct positioning and cuff size, compare the result with baseline, and assess symptoms before deciding how urgently to report a change. Take a moment to identify the structure on the image and explain how its form supports its function. This is slide 8 of 22.</a:t>
            </a:r>
            <a:endParaRPr/>
          </a:p>
          <a:p xmlns:a="http://schemas.openxmlformats.org/drawingml/2006/main">
            <a:r>
              <a:t/>
            </a:r>
            <a:endParaRPr/>
          </a:p>
          <a:p xmlns:a="http://schemas.openxmlformats.org/drawingml/2006/main">
            <a:r>
              <a:t>[Sources]</a:t>
            </a:r>
            <a:endParaRPr/>
          </a:p>
          <a:p xmlns:a="http://schemas.openxmlformats.org/drawingml/2006/main">
            <a:r>
              <a:t>- BMHI PN 104 Chapter 20 faculty PowerPoint slide content.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endParaRPr/>
          </a:p>
          <a:p xmlns:a="http://schemas.openxmlformats.org/drawingml/2006/main">
            <a:r>
              <a:t/>
            </a:r>
            <a:endParaRPr/>
          </a:p>
          <a:p xmlns:a="http://schemas.openxmlformats.org/drawingml/2006/main">
            <a:r>
              <a:t>Now let's focus on Pulse Points. Pulse points of the body. Pulse = artery expanding with each beat. Felt where arteries are near the surface. Common sites: radial, carotid, femoral. Used to assess rate and rhythm. Assess distal color, temperature, pulses, capillary refill, sensation, movement, pain, and swelling when arterial or microcirculatory flow may be impaired. Take a moment to identify the structure on the image and explain how its form supports its function. This is slide 9 of 22.</a:t>
            </a:r>
            <a:endParaRPr/>
          </a:p>
          <a:p xmlns:a="http://schemas.openxmlformats.org/drawingml/2006/main">
            <a:r>
              <a:t/>
            </a:r>
            <a:endParaRPr/>
          </a:p>
          <a:p xmlns:a="http://schemas.openxmlformats.org/drawingml/2006/main">
            <a:r>
              <a:t>[Sources]</a:t>
            </a:r>
            <a:endParaRPr/>
          </a:p>
          <a:p xmlns:a="http://schemas.openxmlformats.org/drawingml/2006/main">
            <a:r>
              <a:t>- BMHI PN 104 Chapter 20 faculty PowerPoint slide content.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endParaRPr/>
          </a:p>
          <a:p xmlns:a="http://schemas.openxmlformats.org/drawingml/2006/main">
            <a:r>
              <a:t/>
            </a:r>
            <a:endParaRPr/>
          </a:p>
          <a:p xmlns:a="http://schemas.openxmlformats.org/drawingml/2006/main">
            <a:r>
              <a:t>Now let's focus on Measuring Blood Pressure. Measuring arterial blood pressure. Measured with a cuff (sphygmomanometer). Systolic over diastolic. Normal about 120/80 mmHg. A key vital sign. Measure blood pressure with correct positioning and cuff size, compare the result with baseline, and assess symptoms before deciding how urgently to report a change. Take a moment to identify the structure on the image and explain how its form supports its function. This is slide 10 of 22.</a:t>
            </a:r>
            <a:endParaRPr/>
          </a:p>
          <a:p xmlns:a="http://schemas.openxmlformats.org/drawingml/2006/main">
            <a:r>
              <a:t/>
            </a:r>
            <a:endParaRPr/>
          </a:p>
          <a:p xmlns:a="http://schemas.openxmlformats.org/drawingml/2006/main">
            <a:r>
              <a:t>[Sources]</a:t>
            </a:r>
            <a:endParaRPr/>
          </a:p>
          <a:p xmlns:a="http://schemas.openxmlformats.org/drawingml/2006/main">
            <a:r>
              <a:t>- BMHI PN 104 Chapter 20 faculty PowerPoint slide content.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endParaRPr/>
          </a:p>
          <a:p xmlns:a="http://schemas.openxmlformats.org/drawingml/2006/main">
            <a:r>
              <a:t/>
            </a:r>
            <a:endParaRPr/>
          </a:p>
          <a:p xmlns:a="http://schemas.openxmlformats.org/drawingml/2006/main">
            <a:r>
              <a:t>Now let's focus on The Skeletal Muscle Pump. Veins need help returning blood. Contracting muscles squeeze veins. Valves keep blood moving up. Aids venous return to the heart. The skeletal muscle pump. Observe for dependent edema, skin changes, varicosities, unilateral swelling, warmth, and pain, and report findings that may suggest venous obstruction or thrombosis. Take a moment to identify the structure on the image and explain how its form supports its function. This is slide 11 of 22.</a:t>
            </a:r>
            <a:endParaRPr/>
          </a:p>
          <a:p xmlns:a="http://schemas.openxmlformats.org/drawingml/2006/main">
            <a:r>
              <a:t/>
            </a:r>
            <a:endParaRPr/>
          </a:p>
          <a:p xmlns:a="http://schemas.openxmlformats.org/drawingml/2006/main">
            <a:r>
              <a:t>[Sources]</a:t>
            </a:r>
            <a:endParaRPr/>
          </a:p>
          <a:p xmlns:a="http://schemas.openxmlformats.org/drawingml/2006/main">
            <a:r>
              <a:t>- BMHI PN 104 Chapter 20 faculty PowerPoint slide content.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endParaRPr/>
          </a:p>
          <a:p xmlns:a="http://schemas.openxmlformats.org/drawingml/2006/main">
            <a:r>
              <a:t/>
            </a:r>
            <a:endParaRPr/>
          </a:p>
          <a:p xmlns:a="http://schemas.openxmlformats.org/drawingml/2006/main">
            <a:r>
              <a:t>We are now moving into Capillary Exchange. Capillary exchange — where blood serves the tissues. As we begin this section, listen for the major structures, their locations, and the functions they perform. Then ask yourself what a change in this area might look like during patient care.</a:t>
            </a:r>
            <a:endParaRPr/>
          </a:p>
          <a:p xmlns:a="http://schemas.openxmlformats.org/drawingml/2006/main">
            <a:r>
              <a:t/>
            </a:r>
            <a:endParaRPr/>
          </a:p>
          <a:p xmlns:a="http://schemas.openxmlformats.org/drawingml/2006/main">
            <a:r>
              <a:t>[Sources]</a:t>
            </a:r>
            <a:endParaRPr/>
          </a:p>
          <a:p xmlns:a="http://schemas.openxmlformats.org/drawingml/2006/main">
            <a:r>
              <a:t>- BMHI PN 104 Chapter 20 faculty PowerPoint slide content.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endParaRPr/>
          </a:p>
          <a:p xmlns:a="http://schemas.openxmlformats.org/drawingml/2006/main">
            <a:r>
              <a:t/>
            </a:r>
            <a:endParaRPr/>
          </a:p>
          <a:p xmlns:a="http://schemas.openxmlformats.org/drawingml/2006/main">
            <a:r>
              <a:t>Now let's focus on Capillary Exchange. Fluid exchange at the capillary. Materials cross the thin capillary wall. Pressure pushes fluid out (filtration). Osmosis pulls fluid back (reabsorption). Delivers nutrients, removes wastes. Assess distal color, temperature, pulses, capillary refill, sensation, movement, pain, and swelling when arterial or microcirculatory flow may be impaired. Take a moment to identify the structure on the image and explain how its form supports its function. This is slide 13 of 22.</a:t>
            </a:r>
            <a:endParaRPr/>
          </a:p>
          <a:p xmlns:a="http://schemas.openxmlformats.org/drawingml/2006/main">
            <a:r>
              <a:t/>
            </a:r>
            <a:endParaRPr/>
          </a:p>
          <a:p xmlns:a="http://schemas.openxmlformats.org/drawingml/2006/main">
            <a:r>
              <a:t>[Sources]</a:t>
            </a:r>
            <a:endParaRPr/>
          </a:p>
          <a:p xmlns:a="http://schemas.openxmlformats.org/drawingml/2006/main">
            <a:r>
              <a:t>- BMHI PN 104 Chapter 20 faculty PowerPoint slide content.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endParaRPr/>
          </a:p>
          <a:p xmlns:a="http://schemas.openxmlformats.org/drawingml/2006/main">
            <a:r>
              <a:t/>
            </a:r>
            <a:endParaRPr/>
          </a:p>
          <a:p xmlns:a="http://schemas.openxmlformats.org/drawingml/2006/main">
            <a:r>
              <a:t>We are now moving into Circulatory Pathways. The major arteries, veins, and circulatory pathways. As we begin this section, listen for the major structures, their locations, and the functions they perform. Then ask yourself what a change in this area might look like during patient care.</a:t>
            </a:r>
            <a:endParaRPr/>
          </a:p>
          <a:p xmlns:a="http://schemas.openxmlformats.org/drawingml/2006/main">
            <a:r>
              <a:t/>
            </a:r>
            <a:endParaRPr/>
          </a:p>
          <a:p xmlns:a="http://schemas.openxmlformats.org/drawingml/2006/main">
            <a:r>
              <a:t>[Sources]</a:t>
            </a:r>
            <a:endParaRPr/>
          </a:p>
          <a:p xmlns:a="http://schemas.openxmlformats.org/drawingml/2006/main">
            <a:r>
              <a:t>- BMHI PN 104 Chapter 20 faculty PowerPoint slide content.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endParaRPr/>
          </a:p>
          <a:p xmlns:a="http://schemas.openxmlformats.org/drawingml/2006/main">
            <a:r>
              <a:t/>
            </a:r>
            <a:endParaRPr/>
          </a:p>
          <a:p xmlns:a="http://schemas.openxmlformats.org/drawingml/2006/main">
            <a:r>
              <a:t>Now let's focus on Pulmonary &amp; Systemic Circuits. The pulmonary and systemic circuits. Two linked circuits. Pulmonary: heart ↔ lungs. Systemic: heart ↔ body. Run in series through the heart. Blood-vessel function is reflected in perfusion, blood pressure, edema, skin findings, pulses, temperature, capillary refill, and organ function. Take a moment to identify the structure on the image and explain how its form supports its function. This is slide 15 of 22.</a:t>
            </a:r>
            <a:endParaRPr/>
          </a:p>
          <a:p xmlns:a="http://schemas.openxmlformats.org/drawingml/2006/main">
            <a:r>
              <a:t/>
            </a:r>
            <a:endParaRPr/>
          </a:p>
          <a:p xmlns:a="http://schemas.openxmlformats.org/drawingml/2006/main">
            <a:r>
              <a:t>[Sources]</a:t>
            </a:r>
            <a:endParaRPr/>
          </a:p>
          <a:p xmlns:a="http://schemas.openxmlformats.org/drawingml/2006/main">
            <a:r>
              <a:t>- BMHI PN 104 Chapter 20 faculty PowerPoint slide content.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endParaRPr/>
          </a:p>
          <a:p xmlns:a="http://schemas.openxmlformats.org/drawingml/2006/main">
            <a:r>
              <a:t/>
            </a:r>
            <a:endParaRPr/>
          </a:p>
          <a:p xmlns:a="http://schemas.openxmlformats.org/drawingml/2006/main">
            <a:r>
              <a:t>Now let's focus on Major Arteries. Major arteries of the body. Arteries carry blood from the heart. The aorta is the largest. Branches supply every region. Usually carry oxygen-rich blood. Assess distal color, temperature, pulses, capillary refill, sensation, movement, pain, and swelling when arterial or microcirculatory flow may be impaired. Take a moment to identify the structure on the image and explain how its form supports its function. This is slide 16 of 22.</a:t>
            </a:r>
            <a:endParaRPr/>
          </a:p>
          <a:p xmlns:a="http://schemas.openxmlformats.org/drawingml/2006/main">
            <a:r>
              <a:t/>
            </a:r>
            <a:endParaRPr/>
          </a:p>
          <a:p xmlns:a="http://schemas.openxmlformats.org/drawingml/2006/main">
            <a:r>
              <a:t>[Sources]</a:t>
            </a:r>
            <a:endParaRPr/>
          </a:p>
          <a:p xmlns:a="http://schemas.openxmlformats.org/drawingml/2006/main">
            <a:r>
              <a:t>- BMHI PN 104 Chapter 20 faculty PowerPoint slide content.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endParaRPr/>
          </a:p>
          <a:p xmlns:a="http://schemas.openxmlformats.org/drawingml/2006/main">
            <a:r>
              <a:t/>
            </a:r>
            <a:endParaRPr/>
          </a:p>
          <a:p xmlns:a="http://schemas.openxmlformats.org/drawingml/2006/main">
            <a:r>
              <a:t>Now let's focus on Major Veins. Veins return blood to the heart. The venae cavae are the largest. Drain every body region. Usually carry oxygen-poor blood. Major veins of the body. Observe for dependent edema, skin changes, varicosities, unilateral swelling, warmth, and pain, and report findings that may suggest venous obstruction or thrombosis. Take a moment to identify the structure on the image and explain how its form supports its function. This is slide 17 of 22.</a:t>
            </a:r>
            <a:endParaRPr/>
          </a:p>
          <a:p xmlns:a="http://schemas.openxmlformats.org/drawingml/2006/main">
            <a:r>
              <a:t/>
            </a:r>
            <a:endParaRPr/>
          </a:p>
          <a:p xmlns:a="http://schemas.openxmlformats.org/drawingml/2006/main">
            <a:r>
              <a:t>[Sources]</a:t>
            </a:r>
            <a:endParaRPr/>
          </a:p>
          <a:p xmlns:a="http://schemas.openxmlformats.org/drawingml/2006/main">
            <a:r>
              <a:t>- BMHI PN 104 Chapter 20 faculty PowerPoint slide content.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endParaRPr/>
          </a:p>
          <a:p xmlns:a="http://schemas.openxmlformats.org/drawingml/2006/main">
            <a:r>
              <a:t/>
            </a:r>
            <a:endParaRPr/>
          </a:p>
          <a:p xmlns:a="http://schemas.openxmlformats.org/drawingml/2006/main">
            <a:r>
              <a:t>Now let's focus on The Hepatic Portal System. The hepatic portal system. A special detour through the liver. Drains the digestive organs. Carries nutrient-rich blood to the liver. Liver processes it before circulation. Blood-vessel function is reflected in perfusion, blood pressure, edema, skin findings, pulses, temperature, capillary refill, and organ function. Take a moment to identify the structure on the image and explain how its form supports its function. This is slide 18 of 22.</a:t>
            </a:r>
            <a:endParaRPr/>
          </a:p>
          <a:p xmlns:a="http://schemas.openxmlformats.org/drawingml/2006/main">
            <a:r>
              <a:t/>
            </a:r>
            <a:endParaRPr/>
          </a:p>
          <a:p xmlns:a="http://schemas.openxmlformats.org/drawingml/2006/main">
            <a:r>
              <a:t>[Sources]</a:t>
            </a:r>
            <a:endParaRPr/>
          </a:p>
          <a:p xmlns:a="http://schemas.openxmlformats.org/drawingml/2006/main">
            <a:r>
              <a:t>- BMHI PN 104 Chapter 20 faculty PowerPoint slide content.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endParaRPr/>
          </a:p>
          <a:p xmlns:a="http://schemas.openxmlformats.org/drawingml/2006/main">
            <a:r>
              <a:t/>
            </a:r>
            <a:endParaRPr/>
          </a:p>
          <a:p xmlns:a="http://schemas.openxmlformats.org/drawingml/2006/main">
            <a:r>
              <a:t>We are now moving into Development of Blood Vessels and Fetal Circulation. Fetal circulation before birth. As we begin this section, listen for the major structures, their locations, and the functions they perform. Then ask yourself what a change in this area might look like during patient care.</a:t>
            </a:r>
            <a:endParaRPr/>
          </a:p>
          <a:p xmlns:a="http://schemas.openxmlformats.org/drawingml/2006/main">
            <a:r>
              <a:t/>
            </a:r>
            <a:endParaRPr/>
          </a:p>
          <a:p xmlns:a="http://schemas.openxmlformats.org/drawingml/2006/main">
            <a:r>
              <a:t>[Sources]</a:t>
            </a:r>
            <a:endParaRPr/>
          </a:p>
          <a:p xmlns:a="http://schemas.openxmlformats.org/drawingml/2006/main">
            <a:r>
              <a:t>- BMHI PN 104 Chapter 20 faculty PowerPoint slide content.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endParaRPr/>
          </a:p>
          <a:p xmlns:a="http://schemas.openxmlformats.org/drawingml/2006/main">
            <a:r>
              <a:t/>
            </a:r>
            <a:endParaRPr/>
          </a:p>
          <a:p xmlns:a="http://schemas.openxmlformats.org/drawingml/2006/main">
            <a:r>
              <a:t>Now let's focus on Fetal Circulation. The fetus gets oxygen from the placenta. The lungs are bypassed before birth. Shortcuts: ductus arteriosus, foramen ovale. They close at birth. Fetal circulation. Assess distal color, temperature, pulses, capillary refill, sensation, movement, pain, and swelling when arterial or microcirculatory flow may be impaired. Take a moment to identify the structure on the image and explain how its form supports its function. This is slide 20 of 22.</a:t>
            </a:r>
            <a:endParaRPr/>
          </a:p>
          <a:p xmlns:a="http://schemas.openxmlformats.org/drawingml/2006/main">
            <a:r>
              <a:t/>
            </a:r>
            <a:endParaRPr/>
          </a:p>
          <a:p xmlns:a="http://schemas.openxmlformats.org/drawingml/2006/main">
            <a:r>
              <a:t>[Sources]</a:t>
            </a:r>
            <a:endParaRPr/>
          </a:p>
          <a:p xmlns:a="http://schemas.openxmlformats.org/drawingml/2006/main">
            <a:r>
              <a:t>- BMHI PN 104 Chapter 20 faculty PowerPoint slide content.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endParaRPr/>
          </a:p>
          <a:p xmlns:a="http://schemas.openxmlformats.org/drawingml/2006/main">
            <a:r>
              <a:t/>
            </a:r>
            <a:endParaRPr/>
          </a:p>
          <a:p xmlns:a="http://schemas.openxmlformats.org/drawingml/2006/main">
            <a:r>
              <a:t>Let us review the major takeaways from Chapter 20. Arteries carry blood from the heart, veins return it, and capillaries are where exchange occurs. Blood pressure is highest in the arteries and drives flow through the circuit. Capillary exchange delivers nutrients and removes wastes; imbalance causes edema. The systemic and pulmonary circuits carry blood to the body and the lungs. Fetal circulation bypasses the lungs through shunts that close at birth. Before moving on, pause and explain each point without reading the slide. If any statement is difficult to explain, mark that topic for review before the quiz.</a:t>
            </a:r>
            <a:endParaRPr/>
          </a:p>
          <a:p xmlns:a="http://schemas.openxmlformats.org/drawingml/2006/main">
            <a:r>
              <a:t/>
            </a:r>
            <a:endParaRPr/>
          </a:p>
          <a:p xmlns:a="http://schemas.openxmlformats.org/drawingml/2006/main">
            <a:r>
              <a:t>[Sources]</a:t>
            </a:r>
            <a:endParaRPr/>
          </a:p>
          <a:p xmlns:a="http://schemas.openxmlformats.org/drawingml/2006/main">
            <a:r>
              <a:t>- BMHI PN 104 Chapter 20 faculty PowerPoint slide content.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endParaRPr/>
          </a:p>
          <a:p xmlns:a="http://schemas.openxmlformats.org/drawingml/2006/main">
            <a:r>
              <a:t/>
            </a:r>
            <a:endParaRPr/>
          </a:p>
          <a:p xmlns:a="http://schemas.openxmlformats.org/drawingml/2006/main">
            <a:r>
              <a:t>This final slide connects Chapter 20 to practical nursing. Hypertension. Chronically high blood pressure damages vessels and organs. Atherosclerosis. Arterial plaque narrows vessels and raises clot risk. Pulse &amp; BP. Core vital signs reflecting cardiovascular status. Edema. Fluid leaking from capillaries causes tissue swelling. Varicose Veins. Failed venous valves let blood pool in the legs. IV Access. Superficial veins are used for fluids, medications, and blood draws. Your role is to observe carefully, protect safety, follow orders and precautions, document objectively, and report changes through the appropriate chain of command. Use these examples to connect anatomy with the care you will provide.</a:t>
            </a:r>
            <a:endParaRPr/>
          </a:p>
          <a:p xmlns:a="http://schemas.openxmlformats.org/drawingml/2006/main">
            <a:r>
              <a:t/>
            </a:r>
            <a:endParaRPr/>
          </a:p>
          <a:p xmlns:a="http://schemas.openxmlformats.org/drawingml/2006/main">
            <a:r>
              <a:t>[Sources]</a:t>
            </a:r>
            <a:endParaRPr/>
          </a:p>
          <a:p xmlns:a="http://schemas.openxmlformats.org/drawingml/2006/main">
            <a:r>
              <a:t>- BMHI PN 104 Chapter 20 faculty PowerPoint slide content.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646393cb3d34769"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d340debea08494b" /><Relationship Type="http://schemas.openxmlformats.org/officeDocument/2006/relationships/slideLayout" Target="/ppt/slideLayouts/slideLayout1.xml" Id="R807fbe8e38da4c89"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07fbe8e38da4c89"/>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4da12e5bb5a4980" /><Relationship Type="http://schemas.openxmlformats.org/officeDocument/2006/relationships/image" Target="/ppt/media/image.jpeg" Id="Rf2ce60e95d934ca8" /><Relationship Type="http://schemas.openxmlformats.org/officeDocument/2006/relationships/notesSlide" Target="/ppt/notesSlides/notesSlide1.xml" Id="R1bd4ec949758485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c1d929cfab54fbd" /><Relationship Type="http://schemas.openxmlformats.org/officeDocument/2006/relationships/image" Target="/ppt/media/image2.jpeg" Id="R2223b2cf383c48bc" /><Relationship Type="http://schemas.openxmlformats.org/officeDocument/2006/relationships/notesSlide" Target="/ppt/notesSlides/notesSlide2.xml" Id="Rb07d0ddde2fa473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d4069499d564077" /><Relationship Type="http://schemas.openxmlformats.org/officeDocument/2006/relationships/notesSlide" Target="/ppt/notesSlides/notesSlide3.xml" Id="Rd6ff735ac5614d4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5a3034a477b44ad" /><Relationship Type="http://schemas.openxmlformats.org/officeDocument/2006/relationships/image" Target="/ppt/media/image3.jpeg" Id="Rea72786ea1a64938" /><Relationship Type="http://schemas.openxmlformats.org/officeDocument/2006/relationships/notesSlide" Target="/ppt/notesSlides/notesSlide4.xml" Id="R4695e9d074e74d7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38052c410ea47f0" /><Relationship Type="http://schemas.openxmlformats.org/officeDocument/2006/relationships/image" Target="/ppt/media/image4.jpeg" Id="R9b2c197e5dbc4911" /><Relationship Type="http://schemas.openxmlformats.org/officeDocument/2006/relationships/notesSlide" Target="/ppt/notesSlides/notesSlide5.xml" Id="R6a628260f5d343f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795d15cb4d041be" /><Relationship Type="http://schemas.openxmlformats.org/officeDocument/2006/relationships/image" Target="/ppt/media/image5.jpeg" Id="R3947487681334fae" /><Relationship Type="http://schemas.openxmlformats.org/officeDocument/2006/relationships/notesSlide" Target="/ppt/notesSlides/notesSlide6.xml" Id="Ra0e857554d6548d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71c72ea12e342eb" /><Relationship Type="http://schemas.openxmlformats.org/officeDocument/2006/relationships/notesSlide" Target="/ppt/notesSlides/notesSlide7.xml" Id="Rd3e3046a165941c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07aa74a7ff34a21" /><Relationship Type="http://schemas.openxmlformats.org/officeDocument/2006/relationships/image" Target="/ppt/media/image6.jpeg" Id="R72d21470939446e2" /><Relationship Type="http://schemas.openxmlformats.org/officeDocument/2006/relationships/notesSlide" Target="/ppt/notesSlides/notesSlide8.xml" Id="R9afd85c37a8f4a6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7021a6920184e31" /><Relationship Type="http://schemas.openxmlformats.org/officeDocument/2006/relationships/image" Target="/ppt/media/image7.jpeg" Id="R2a1bcea920504818" /><Relationship Type="http://schemas.openxmlformats.org/officeDocument/2006/relationships/notesSlide" Target="/ppt/notesSlides/notesSlide9.xml" Id="Rc15fe655182d4f6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2c87823d2b048ac" /><Relationship Type="http://schemas.openxmlformats.org/officeDocument/2006/relationships/image" Target="/ppt/media/image8.jpeg" Id="Re20134543c82425b" /><Relationship Type="http://schemas.openxmlformats.org/officeDocument/2006/relationships/notesSlide" Target="/ppt/notesSlides/notesSlide10.xml" Id="R5032e8f4d7484d3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8561f35320841b2" /><Relationship Type="http://schemas.openxmlformats.org/officeDocument/2006/relationships/image" Target="/ppt/media/image9.jpeg" Id="R79071583f7fc4f1a" /><Relationship Type="http://schemas.openxmlformats.org/officeDocument/2006/relationships/notesSlide" Target="/ppt/notesSlides/notesSlide11.xml" Id="R360371abe3f64ed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4d5eefbc67a44fb" /><Relationship Type="http://schemas.openxmlformats.org/officeDocument/2006/relationships/notesSlide" Target="/ppt/notesSlides/notesSlide12.xml" Id="R99b1821fc22d468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8cefacbdeeb4468" /><Relationship Type="http://schemas.openxmlformats.org/officeDocument/2006/relationships/image" Target="/ppt/media/image10.jpeg" Id="Rd472942af022451c" /><Relationship Type="http://schemas.openxmlformats.org/officeDocument/2006/relationships/notesSlide" Target="/ppt/notesSlides/notesSlide13.xml" Id="Reb866144baa942f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1a23900eacbd4b33" /><Relationship Type="http://schemas.openxmlformats.org/officeDocument/2006/relationships/notesSlide" Target="/ppt/notesSlides/notesSlide14.xml" Id="R1b904867e5c14c1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a6953db59b244233" /><Relationship Type="http://schemas.openxmlformats.org/officeDocument/2006/relationships/image" Target="/ppt/media/image11.jpeg" Id="R2d45f893ed3c4f5b" /><Relationship Type="http://schemas.openxmlformats.org/officeDocument/2006/relationships/notesSlide" Target="/ppt/notesSlides/notesSlide15.xml" Id="Rb34ea1bf92c5439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f6de953d97024d42" /><Relationship Type="http://schemas.openxmlformats.org/officeDocument/2006/relationships/image" Target="/ppt/media/image12.jpeg" Id="Rdbc7d04873ba402b" /><Relationship Type="http://schemas.openxmlformats.org/officeDocument/2006/relationships/notesSlide" Target="/ppt/notesSlides/notesSlide16.xml" Id="R42500dd89784490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d7273665e7ce430a" /><Relationship Type="http://schemas.openxmlformats.org/officeDocument/2006/relationships/image" Target="/ppt/media/image13.jpeg" Id="R7a1a73a9055b4f99" /><Relationship Type="http://schemas.openxmlformats.org/officeDocument/2006/relationships/notesSlide" Target="/ppt/notesSlides/notesSlide17.xml" Id="R7986c2fc0db140a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6c6c44924bde4d93" /><Relationship Type="http://schemas.openxmlformats.org/officeDocument/2006/relationships/image" Target="/ppt/media/image14.jpeg" Id="R0a2309da88454cbb" /><Relationship Type="http://schemas.openxmlformats.org/officeDocument/2006/relationships/notesSlide" Target="/ppt/notesSlides/notesSlide18.xml" Id="R2297d2f10ed44db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df63320a06474b24" /><Relationship Type="http://schemas.openxmlformats.org/officeDocument/2006/relationships/notesSlide" Target="/ppt/notesSlides/notesSlide19.xml" Id="R729e89b642424b2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c1c9e2ecc4274a84" /><Relationship Type="http://schemas.openxmlformats.org/officeDocument/2006/relationships/image" Target="/ppt/media/image15.jpeg" Id="R3aef804c25614f46" /><Relationship Type="http://schemas.openxmlformats.org/officeDocument/2006/relationships/notesSlide" Target="/ppt/notesSlides/notesSlide20.xml" Id="R49a071f39982447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80b7f5f20aab4d4c" /><Relationship Type="http://schemas.openxmlformats.org/officeDocument/2006/relationships/notesSlide" Target="/ppt/notesSlides/notesSlide21.xml" Id="R5128ec169e7740f2"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bf492707fd654192" /><Relationship Type="http://schemas.openxmlformats.org/officeDocument/2006/relationships/notesSlide" Target="/ppt/notesSlides/notesSlide22.xml" Id="Ra4840865ae4f4e3d" /></Relationships>
</file>

<file path=ppt/slides/slide1.xml><?xml version="1.0" encoding="utf-8"?>
<p:sld xmlns:p="http://schemas.openxmlformats.org/presentationml/2006/main">
  <p:cSld>
    <p:bg>
      <p:bgPr>
        <a:solidFill xmlns:a="http://schemas.openxmlformats.org/drawingml/2006/main">
          <a:srgbClr val="0F4C5C"/>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4AFAC8D-6EEA-4E49-B1B0-D45245A0E7D0}"/>
              </a:ext>
            </a:extLst>
          </p:cNvPr>
          <p:cNvSpPr>
            <a:spLocks xmlns:a="http://schemas.openxmlformats.org/drawingml/2006/main" noGrp="1"/>
          </p:cNvSpPr>
          <p:nvPr/>
        </p:nvSpPr>
        <p:spPr>
          <a:xfrm xmlns:a="http://schemas.openxmlformats.org/drawingml/2006/main">
            <a:off x="731520" y="1325880"/>
            <a:ext cx="640080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800" b="1">
                <a:solidFill>
                  <a:srgbClr val="E36414"/>
                </a:solidFill>
                <a:latin typeface="Calibri"/>
                <a:ea typeface="Calibri"/>
                <a:cs typeface="Calibri"/>
              </a:rPr>
              <a:t>CHAPTER 20</a:t>
            </a:r>
            <a:endParaRPr sz="1800"/>
          </a:p>
        </p:txBody>
      </p:sp>
      <p:sp>
        <p:nvSpPr>
          <p:cNvPr id="3" name="Text 1">
            <a:extLst xmlns:a="http://schemas.openxmlformats.org/drawingml/2006/main">
              <a:ext uri="{FF2B5EF4-FFF2-40B4-BE49-F238E27FC236}">
                <a16:creationId xmlns:a16="http://schemas.microsoft.com/office/drawing/2014/main" id="{AC92D61F-6098-483A-B247-8201DADF3F0C}"/>
              </a:ext>
            </a:extLst>
          </p:cNvPr>
          <p:cNvSpPr>
            <a:spLocks xmlns:a="http://schemas.openxmlformats.org/drawingml/2006/main" noGrp="1"/>
          </p:cNvSpPr>
          <p:nvPr/>
        </p:nvSpPr>
        <p:spPr>
          <a:xfrm xmlns:a="http://schemas.openxmlformats.org/drawingml/2006/main">
            <a:off x="713232" y="1783080"/>
            <a:ext cx="6858000" cy="1920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4400" b="1">
                <a:solidFill>
                  <a:srgbClr val="FFFFFF"/>
                </a:solidFill>
                <a:latin typeface="Georgia"/>
                <a:ea typeface="Georgia"/>
                <a:cs typeface="Georgia"/>
              </a:rPr>
              <a:t>Blood Vessels and Circulation</a:t>
            </a:r>
            <a:endParaRPr sz="4400"/>
          </a:p>
        </p:txBody>
      </p:sp>
      <p:sp>
        <p:nvSpPr>
          <p:cNvPr id="4" name="Text 2">
            <a:extLst xmlns:a="http://schemas.openxmlformats.org/drawingml/2006/main">
              <a:ext uri="{FF2B5EF4-FFF2-40B4-BE49-F238E27FC236}">
                <a16:creationId xmlns:a16="http://schemas.microsoft.com/office/drawing/2014/main" id="{13C5E734-C496-4AF8-85F3-FF592DD18FB9}"/>
              </a:ext>
            </a:extLst>
          </p:cNvPr>
          <p:cNvSpPr>
            <a:spLocks xmlns:a="http://schemas.openxmlformats.org/drawingml/2006/main" noGrp="1"/>
          </p:cNvSpPr>
          <p:nvPr/>
        </p:nvSpPr>
        <p:spPr>
          <a:xfrm xmlns:a="http://schemas.openxmlformats.org/drawingml/2006/main">
            <a:off x="749808" y="3977640"/>
            <a:ext cx="640080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0000"/>
              </a:lnSpc>
              <a:buNone/>
            </a:pPr>
            <a:r>
              <a:rPr sz="1600">
                <a:solidFill>
                  <a:srgbClr val="CFE3E7"/>
                </a:solidFill>
                <a:latin typeface="Calibri"/>
                <a:ea typeface="Calibri"/>
                <a:cs typeface="Calibri"/>
              </a:rPr>
              <a:t>Vessels, blood pressure, exchange, and the circulatory pathways.</a:t>
            </a:r>
            <a:endParaRPr sz="1600"/>
          </a:p>
        </p:txBody>
      </p:sp>
      <p:sp>
        <p:nvSpPr>
          <p:cNvPr id="5" name="Text 3">
            <a:extLst xmlns:a="http://schemas.openxmlformats.org/drawingml/2006/main">
              <a:ext uri="{FF2B5EF4-FFF2-40B4-BE49-F238E27FC236}">
                <a16:creationId xmlns:a16="http://schemas.microsoft.com/office/drawing/2014/main" id="{FDC9CBB0-BD94-4B42-A4A1-05B6C3DC1564}"/>
              </a:ext>
            </a:extLst>
          </p:cNvPr>
          <p:cNvSpPr>
            <a:spLocks xmlns:a="http://schemas.openxmlformats.org/drawingml/2006/main" noGrp="1"/>
          </p:cNvSpPr>
          <p:nvPr/>
        </p:nvSpPr>
        <p:spPr>
          <a:xfrm xmlns:a="http://schemas.openxmlformats.org/drawingml/2006/main">
            <a:off x="749808" y="5806440"/>
            <a:ext cx="82296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a:solidFill>
                  <a:srgbClr val="9FC2C9"/>
                </a:solidFill>
                <a:latin typeface="Calibri"/>
                <a:ea typeface="Calibri"/>
                <a:cs typeface="Calibri"/>
              </a:rPr>
              <a:t>Anatomy &amp; Physiology  ·  Broward-Miami Health Institute</a:t>
            </a:r>
            <a:endParaRPr sz="1300"/>
          </a:p>
        </p:txBody>
      </p:sp>
      <p:sp>
        <p:nvSpPr>
          <p:cNvPr id="6" name="Text 4">
            <a:extLst xmlns:a="http://schemas.openxmlformats.org/drawingml/2006/main">
              <a:ext uri="{FF2B5EF4-FFF2-40B4-BE49-F238E27FC236}">
                <a16:creationId xmlns:a16="http://schemas.microsoft.com/office/drawing/2014/main" id="{C416BF72-2B2E-4CAD-8B81-400DF9EEB6EA}"/>
              </a:ext>
            </a:extLst>
          </p:cNvPr>
          <p:cNvSpPr>
            <a:spLocks xmlns:a="http://schemas.openxmlformats.org/drawingml/2006/main" noGrp="1"/>
          </p:cNvSpPr>
          <p:nvPr/>
        </p:nvSpPr>
        <p:spPr>
          <a:xfrm xmlns:a="http://schemas.openxmlformats.org/drawingml/2006/main">
            <a:off x="749808" y="6144768"/>
            <a:ext cx="36576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a:solidFill>
                  <a:srgbClr val="E36414"/>
                </a:solidFill>
                <a:latin typeface="Calibri"/>
                <a:ea typeface="Calibri"/>
                <a:cs typeface="Calibri"/>
              </a:rPr>
              <a:t>FACULTY EDITION</a:t>
            </a:r>
            <a:endParaRPr sz="1100"/>
          </a:p>
        </p:txBody>
      </p:sp>
      <p:sp>
        <p:nvSpPr>
          <p:cNvPr id="7" name="Shape 5">
            <a:extLst xmlns:a="http://schemas.openxmlformats.org/drawingml/2006/main">
              <a:ext uri="{FF2B5EF4-FFF2-40B4-BE49-F238E27FC236}">
                <a16:creationId xmlns:a16="http://schemas.microsoft.com/office/drawing/2014/main" id="{1D9713EC-3029-4E31-B437-97F2B68E4E43}"/>
              </a:ext>
            </a:extLst>
          </p:cNvPr>
          <p:cNvSpPr>
            <a:spLocks xmlns:a="http://schemas.openxmlformats.org/drawingml/2006/main" noGrp="1"/>
          </p:cNvSpPr>
          <p:nvPr/>
        </p:nvSpPr>
        <p:spPr>
          <a:xfrm xmlns:a="http://schemas.openxmlformats.org/drawingml/2006/main">
            <a:off x="7735824" y="2536410"/>
            <a:ext cx="4096512" cy="1968060"/>
          </a:xfrm>
          <a:prstGeom xmlns:a="http://schemas.openxmlformats.org/drawingml/2006/main" prst="roundRect">
            <a:avLst>
              <a:gd name="adj" fmla="val 2788"/>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5" name="Image 0"/>
          <p:cNvPicPr>
            <a:picLocks xmlns:a="http://schemas.openxmlformats.org/drawingml/2006/main" noChangeAspect="1"/>
          </p:cNvPicPr>
          <p:nvPr/>
        </p:nvPicPr>
        <p:blipFill>
          <a:blip xmlns:r="http://schemas.openxmlformats.org/officeDocument/2006/relationships" xmlns:a="http://schemas.openxmlformats.org/drawingml/2006/main" r:embed="Rf2ce60e95d934ca8"/>
          <a:stretch xmlns:a="http://schemas.openxmlformats.org/drawingml/2006/main">
            <a:fillRect l="0" t="0" r="0" b="0"/>
          </a:stretch>
        </p:blipFill>
        <p:spPr>
          <a:xfrm xmlns:a="http://schemas.openxmlformats.org/drawingml/2006/main">
            <a:off x="7818120" y="2618706"/>
            <a:ext cx="3931920" cy="1803468"/>
          </a:xfrm>
          <a:prstGeom xmlns:a="http://schemas.openxmlformats.org/drawingml/2006/main" prst="rect">
            <a:avLst/>
          </a:prstGeom>
        </p:spPr>
      </p:pic>
    </p:spTree>
    <p:extLst>
      <p:ext uri="{BB962C8B-B14F-4D97-AF65-F5344CB8AC3E}">
        <p14:creationId xmlns:p14="http://schemas.microsoft.com/office/powerpoint/2010/main" val="32910057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12B5A0A-A8BC-420B-A02E-3E50F179D665}"/>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CHAPTER 20</a:t>
            </a:r>
            <a:endParaRPr sz="1200"/>
          </a:p>
        </p:txBody>
      </p:sp>
      <p:sp>
        <p:nvSpPr>
          <p:cNvPr id="3" name="Text 1">
            <a:extLst xmlns:a="http://schemas.openxmlformats.org/drawingml/2006/main">
              <a:ext uri="{FF2B5EF4-FFF2-40B4-BE49-F238E27FC236}">
                <a16:creationId xmlns:a16="http://schemas.microsoft.com/office/drawing/2014/main" id="{3415B847-80CE-41B3-AA40-2C3AFE3943AB}"/>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Learning Objectives</a:t>
            </a:r>
            <a:endParaRPr sz="2800"/>
          </a:p>
        </p:txBody>
      </p:sp>
      <p:sp>
        <p:nvSpPr>
          <p:cNvPr id="4" name="Text 2">
            <a:extLst xmlns:a="http://schemas.openxmlformats.org/drawingml/2006/main">
              <a:ext uri="{FF2B5EF4-FFF2-40B4-BE49-F238E27FC236}">
                <a16:creationId xmlns:a16="http://schemas.microsoft.com/office/drawing/2014/main" id="{744E8D0E-7B15-4C1C-A3A3-E82737711C8A}"/>
              </a:ext>
            </a:extLst>
          </p:cNvPr>
          <p:cNvSpPr>
            <a:spLocks xmlns:a="http://schemas.openxmlformats.org/drawingml/2006/main" noGrp="1"/>
          </p:cNvSpPr>
          <p:nvPr/>
        </p:nvSpPr>
        <p:spPr>
          <a:xfrm xmlns:a="http://schemas.openxmlformats.org/drawingml/2006/main">
            <a:off x="548640" y="1371600"/>
            <a:ext cx="82296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i="1">
                <a:solidFill>
                  <a:srgbClr val="5A6B70"/>
                </a:solidFill>
                <a:latin typeface="Calibri"/>
                <a:ea typeface="Calibri"/>
                <a:cs typeface="Calibri"/>
              </a:rPr>
              <a:t>After studying this chapter, students will be able to:</a:t>
            </a:r>
            <a:endParaRPr sz="1200"/>
          </a:p>
        </p:txBody>
      </p:sp>
      <p:sp>
        <p:nvSpPr>
          <p:cNvPr id="5" name="Shape 3">
            <a:extLst xmlns:a="http://schemas.openxmlformats.org/drawingml/2006/main">
              <a:ext uri="{FF2B5EF4-FFF2-40B4-BE49-F238E27FC236}">
                <a16:creationId xmlns:a16="http://schemas.microsoft.com/office/drawing/2014/main" id="{EFFB796D-7D0D-41F1-BB17-A613BD9DAE0E}"/>
              </a:ext>
            </a:extLst>
          </p:cNvPr>
          <p:cNvSpPr>
            <a:spLocks xmlns:a="http://schemas.openxmlformats.org/drawingml/2006/main" noGrp="1"/>
          </p:cNvSpPr>
          <p:nvPr/>
        </p:nvSpPr>
        <p:spPr>
          <a:xfrm xmlns:a="http://schemas.openxmlformats.org/drawingml/2006/main">
            <a:off x="548640" y="1664208"/>
            <a:ext cx="384048" cy="384048"/>
          </a:xfrm>
          <a:prstGeom xmlns:a="http://schemas.openxmlformats.org/drawingml/2006/main" prst="ellipse">
            <a:avLst/>
          </a:prstGeom>
          <a:solidFill xmlns:a="http://schemas.openxmlformats.org/drawingml/2006/main">
            <a:srgbClr val="0F4C5C"/>
          </a:solidFill>
        </p:spPr>
      </p:sp>
      <p:sp>
        <p:nvSpPr>
          <p:cNvPr id="6" name="Text 4">
            <a:extLst xmlns:a="http://schemas.openxmlformats.org/drawingml/2006/main">
              <a:ext uri="{FF2B5EF4-FFF2-40B4-BE49-F238E27FC236}">
                <a16:creationId xmlns:a16="http://schemas.microsoft.com/office/drawing/2014/main" id="{143F5575-40FB-4633-8258-31CCDF856B9C}"/>
              </a:ext>
            </a:extLst>
          </p:cNvPr>
          <p:cNvSpPr>
            <a:spLocks xmlns:a="http://schemas.openxmlformats.org/drawingml/2006/main" noGrp="1"/>
          </p:cNvSpPr>
          <p:nvPr/>
        </p:nvSpPr>
        <p:spPr>
          <a:xfrm xmlns:a="http://schemas.openxmlformats.org/drawingml/2006/main">
            <a:off x="548640" y="1664208"/>
            <a:ext cx="384048"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b="1">
                <a:solidFill>
                  <a:srgbClr val="FFFFFF"/>
                </a:solidFill>
                <a:latin typeface="Georgia"/>
                <a:ea typeface="Georgia"/>
                <a:cs typeface="Georgia"/>
              </a:rPr>
              <a:t>1</a:t>
            </a:r>
            <a:endParaRPr sz="1500"/>
          </a:p>
        </p:txBody>
      </p:sp>
      <p:sp>
        <p:nvSpPr>
          <p:cNvPr id="7" name="Text 5">
            <a:extLst xmlns:a="http://schemas.openxmlformats.org/drawingml/2006/main">
              <a:ext uri="{FF2B5EF4-FFF2-40B4-BE49-F238E27FC236}">
                <a16:creationId xmlns:a16="http://schemas.microsoft.com/office/drawing/2014/main" id="{FFAFE4A0-535F-4DF7-965B-D24FCE9EA35F}"/>
              </a:ext>
            </a:extLst>
          </p:cNvPr>
          <p:cNvSpPr>
            <a:spLocks xmlns:a="http://schemas.openxmlformats.org/drawingml/2006/main" noGrp="1"/>
          </p:cNvSpPr>
          <p:nvPr/>
        </p:nvSpPr>
        <p:spPr>
          <a:xfrm xmlns:a="http://schemas.openxmlformats.org/drawingml/2006/main">
            <a:off x="1115568" y="1645920"/>
            <a:ext cx="5943600" cy="7543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300">
                <a:solidFill>
                  <a:srgbClr val="23363B"/>
                </a:solidFill>
                <a:latin typeface="Calibri"/>
                <a:ea typeface="Calibri"/>
                <a:cs typeface="Calibri"/>
              </a:rPr>
              <a:t>Compare and contrast the anatomical structure of arteries, arterioles, capillaries, venules, and veins</a:t>
            </a:r>
            <a:endParaRPr sz="1300"/>
          </a:p>
        </p:txBody>
      </p:sp>
      <p:sp>
        <p:nvSpPr>
          <p:cNvPr id="8" name="Shape 6">
            <a:extLst xmlns:a="http://schemas.openxmlformats.org/drawingml/2006/main">
              <a:ext uri="{FF2B5EF4-FFF2-40B4-BE49-F238E27FC236}">
                <a16:creationId xmlns:a16="http://schemas.microsoft.com/office/drawing/2014/main" id="{CDFE2184-49BF-47D0-8D03-47B85CC04B3A}"/>
              </a:ext>
            </a:extLst>
          </p:cNvPr>
          <p:cNvSpPr>
            <a:spLocks xmlns:a="http://schemas.openxmlformats.org/drawingml/2006/main" noGrp="1"/>
          </p:cNvSpPr>
          <p:nvPr/>
        </p:nvSpPr>
        <p:spPr>
          <a:xfrm xmlns:a="http://schemas.openxmlformats.org/drawingml/2006/main">
            <a:off x="548640" y="2418588"/>
            <a:ext cx="384048" cy="384048"/>
          </a:xfrm>
          <a:prstGeom xmlns:a="http://schemas.openxmlformats.org/drawingml/2006/main" prst="ellipse">
            <a:avLst/>
          </a:prstGeom>
          <a:solidFill xmlns:a="http://schemas.openxmlformats.org/drawingml/2006/main">
            <a:srgbClr val="0F4C5C"/>
          </a:solidFill>
        </p:spPr>
      </p:sp>
      <p:sp>
        <p:nvSpPr>
          <p:cNvPr id="9" name="Text 7">
            <a:extLst xmlns:a="http://schemas.openxmlformats.org/drawingml/2006/main">
              <a:ext uri="{FF2B5EF4-FFF2-40B4-BE49-F238E27FC236}">
                <a16:creationId xmlns:a16="http://schemas.microsoft.com/office/drawing/2014/main" id="{67921C95-7F28-40A0-A883-375D1657C991}"/>
              </a:ext>
            </a:extLst>
          </p:cNvPr>
          <p:cNvSpPr>
            <a:spLocks xmlns:a="http://schemas.openxmlformats.org/drawingml/2006/main" noGrp="1"/>
          </p:cNvSpPr>
          <p:nvPr/>
        </p:nvSpPr>
        <p:spPr>
          <a:xfrm xmlns:a="http://schemas.openxmlformats.org/drawingml/2006/main">
            <a:off x="548640" y="2418588"/>
            <a:ext cx="384048"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b="1">
                <a:solidFill>
                  <a:srgbClr val="FFFFFF"/>
                </a:solidFill>
                <a:latin typeface="Georgia"/>
                <a:ea typeface="Georgia"/>
                <a:cs typeface="Georgia"/>
              </a:rPr>
              <a:t>2</a:t>
            </a:r>
            <a:endParaRPr sz="1500"/>
          </a:p>
        </p:txBody>
      </p:sp>
      <p:sp>
        <p:nvSpPr>
          <p:cNvPr id="10" name="Text 8">
            <a:extLst xmlns:a="http://schemas.openxmlformats.org/drawingml/2006/main">
              <a:ext uri="{FF2B5EF4-FFF2-40B4-BE49-F238E27FC236}">
                <a16:creationId xmlns:a16="http://schemas.microsoft.com/office/drawing/2014/main" id="{C3D14212-2E50-44FE-9B4C-491CFFABDBDF}"/>
              </a:ext>
            </a:extLst>
          </p:cNvPr>
          <p:cNvSpPr>
            <a:spLocks xmlns:a="http://schemas.openxmlformats.org/drawingml/2006/main" noGrp="1"/>
          </p:cNvSpPr>
          <p:nvPr/>
        </p:nvSpPr>
        <p:spPr>
          <a:xfrm xmlns:a="http://schemas.openxmlformats.org/drawingml/2006/main">
            <a:off x="1115568" y="2400300"/>
            <a:ext cx="5943600" cy="7543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300">
                <a:solidFill>
                  <a:srgbClr val="23363B"/>
                </a:solidFill>
                <a:latin typeface="Calibri"/>
                <a:ea typeface="Calibri"/>
                <a:cs typeface="Calibri"/>
              </a:rPr>
              <a:t>Accurately describe the forces that account for capillary exchange</a:t>
            </a:r>
            <a:endParaRPr sz="1300"/>
          </a:p>
        </p:txBody>
      </p:sp>
      <p:sp>
        <p:nvSpPr>
          <p:cNvPr id="11" name="Shape 9">
            <a:extLst xmlns:a="http://schemas.openxmlformats.org/drawingml/2006/main">
              <a:ext uri="{FF2B5EF4-FFF2-40B4-BE49-F238E27FC236}">
                <a16:creationId xmlns:a16="http://schemas.microsoft.com/office/drawing/2014/main" id="{D1E58B67-9784-4186-A29B-531CA5C6E7DB}"/>
              </a:ext>
            </a:extLst>
          </p:cNvPr>
          <p:cNvSpPr>
            <a:spLocks xmlns:a="http://schemas.openxmlformats.org/drawingml/2006/main" noGrp="1"/>
          </p:cNvSpPr>
          <p:nvPr/>
        </p:nvSpPr>
        <p:spPr>
          <a:xfrm xmlns:a="http://schemas.openxmlformats.org/drawingml/2006/main">
            <a:off x="548640" y="3172968"/>
            <a:ext cx="384048" cy="384048"/>
          </a:xfrm>
          <a:prstGeom xmlns:a="http://schemas.openxmlformats.org/drawingml/2006/main" prst="ellipse">
            <a:avLst/>
          </a:prstGeom>
          <a:solidFill xmlns:a="http://schemas.openxmlformats.org/drawingml/2006/main">
            <a:srgbClr val="0F4C5C"/>
          </a:solidFill>
        </p:spPr>
      </p:sp>
      <p:sp>
        <p:nvSpPr>
          <p:cNvPr id="12" name="Text 10">
            <a:extLst xmlns:a="http://schemas.openxmlformats.org/drawingml/2006/main">
              <a:ext uri="{FF2B5EF4-FFF2-40B4-BE49-F238E27FC236}">
                <a16:creationId xmlns:a16="http://schemas.microsoft.com/office/drawing/2014/main" id="{DCC6FD61-F7D2-40D5-920C-A56BF0E23B41}"/>
              </a:ext>
            </a:extLst>
          </p:cNvPr>
          <p:cNvSpPr>
            <a:spLocks xmlns:a="http://schemas.openxmlformats.org/drawingml/2006/main" noGrp="1"/>
          </p:cNvSpPr>
          <p:nvPr/>
        </p:nvSpPr>
        <p:spPr>
          <a:xfrm xmlns:a="http://schemas.openxmlformats.org/drawingml/2006/main">
            <a:off x="548640" y="3172968"/>
            <a:ext cx="384048"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b="1">
                <a:solidFill>
                  <a:srgbClr val="FFFFFF"/>
                </a:solidFill>
                <a:latin typeface="Georgia"/>
                <a:ea typeface="Georgia"/>
                <a:cs typeface="Georgia"/>
              </a:rPr>
              <a:t>3</a:t>
            </a:r>
            <a:endParaRPr sz="1500"/>
          </a:p>
        </p:txBody>
      </p:sp>
      <p:sp>
        <p:nvSpPr>
          <p:cNvPr id="13" name="Text 11">
            <a:extLst xmlns:a="http://schemas.openxmlformats.org/drawingml/2006/main">
              <a:ext uri="{FF2B5EF4-FFF2-40B4-BE49-F238E27FC236}">
                <a16:creationId xmlns:a16="http://schemas.microsoft.com/office/drawing/2014/main" id="{C2CDE429-40C3-49BC-9A95-96FEF7CC93D3}"/>
              </a:ext>
            </a:extLst>
          </p:cNvPr>
          <p:cNvSpPr>
            <a:spLocks xmlns:a="http://schemas.openxmlformats.org/drawingml/2006/main" noGrp="1"/>
          </p:cNvSpPr>
          <p:nvPr/>
        </p:nvSpPr>
        <p:spPr>
          <a:xfrm xmlns:a="http://schemas.openxmlformats.org/drawingml/2006/main">
            <a:off x="1115568" y="3154680"/>
            <a:ext cx="5943600" cy="7543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300">
                <a:solidFill>
                  <a:srgbClr val="23363B"/>
                </a:solidFill>
                <a:latin typeface="Calibri"/>
                <a:ea typeface="Calibri"/>
                <a:cs typeface="Calibri"/>
              </a:rPr>
              <a:t>List the major factors affecting blood flow, blood pressure, and resistance</a:t>
            </a:r>
            <a:endParaRPr sz="1300"/>
          </a:p>
        </p:txBody>
      </p:sp>
      <p:sp>
        <p:nvSpPr>
          <p:cNvPr id="14" name="Shape 12">
            <a:extLst xmlns:a="http://schemas.openxmlformats.org/drawingml/2006/main">
              <a:ext uri="{FF2B5EF4-FFF2-40B4-BE49-F238E27FC236}">
                <a16:creationId xmlns:a16="http://schemas.microsoft.com/office/drawing/2014/main" id="{38D0ED1D-615C-44B3-B244-1AEB9BD66395}"/>
              </a:ext>
            </a:extLst>
          </p:cNvPr>
          <p:cNvSpPr>
            <a:spLocks xmlns:a="http://schemas.openxmlformats.org/drawingml/2006/main" noGrp="1"/>
          </p:cNvSpPr>
          <p:nvPr/>
        </p:nvSpPr>
        <p:spPr>
          <a:xfrm xmlns:a="http://schemas.openxmlformats.org/drawingml/2006/main">
            <a:off x="548640" y="3927348"/>
            <a:ext cx="384048" cy="384048"/>
          </a:xfrm>
          <a:prstGeom xmlns:a="http://schemas.openxmlformats.org/drawingml/2006/main" prst="ellipse">
            <a:avLst/>
          </a:prstGeom>
          <a:solidFill xmlns:a="http://schemas.openxmlformats.org/drawingml/2006/main">
            <a:srgbClr val="0F4C5C"/>
          </a:solidFill>
        </p:spPr>
      </p:sp>
      <p:sp>
        <p:nvSpPr>
          <p:cNvPr id="15" name="Text 13">
            <a:extLst xmlns:a="http://schemas.openxmlformats.org/drawingml/2006/main">
              <a:ext uri="{FF2B5EF4-FFF2-40B4-BE49-F238E27FC236}">
                <a16:creationId xmlns:a16="http://schemas.microsoft.com/office/drawing/2014/main" id="{2C15A184-93E1-41B2-A143-998598DF1969}"/>
              </a:ext>
            </a:extLst>
          </p:cNvPr>
          <p:cNvSpPr>
            <a:spLocks xmlns:a="http://schemas.openxmlformats.org/drawingml/2006/main" noGrp="1"/>
          </p:cNvSpPr>
          <p:nvPr/>
        </p:nvSpPr>
        <p:spPr>
          <a:xfrm xmlns:a="http://schemas.openxmlformats.org/drawingml/2006/main">
            <a:off x="548640" y="3927348"/>
            <a:ext cx="384048"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b="1">
                <a:solidFill>
                  <a:srgbClr val="FFFFFF"/>
                </a:solidFill>
                <a:latin typeface="Georgia"/>
                <a:ea typeface="Georgia"/>
                <a:cs typeface="Georgia"/>
              </a:rPr>
              <a:t>4</a:t>
            </a:r>
            <a:endParaRPr sz="1500"/>
          </a:p>
        </p:txBody>
      </p:sp>
      <p:sp>
        <p:nvSpPr>
          <p:cNvPr id="16" name="Text 14">
            <a:extLst xmlns:a="http://schemas.openxmlformats.org/drawingml/2006/main">
              <a:ext uri="{FF2B5EF4-FFF2-40B4-BE49-F238E27FC236}">
                <a16:creationId xmlns:a16="http://schemas.microsoft.com/office/drawing/2014/main" id="{B7400702-C4C4-4B6F-9920-A0B9BD7EACFE}"/>
              </a:ext>
            </a:extLst>
          </p:cNvPr>
          <p:cNvSpPr>
            <a:spLocks xmlns:a="http://schemas.openxmlformats.org/drawingml/2006/main" noGrp="1"/>
          </p:cNvSpPr>
          <p:nvPr/>
        </p:nvSpPr>
        <p:spPr>
          <a:xfrm xmlns:a="http://schemas.openxmlformats.org/drawingml/2006/main">
            <a:off x="1115568" y="3909060"/>
            <a:ext cx="5943600" cy="7543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300">
                <a:solidFill>
                  <a:srgbClr val="23363B"/>
                </a:solidFill>
                <a:latin typeface="Calibri"/>
                <a:ea typeface="Calibri"/>
                <a:cs typeface="Calibri"/>
              </a:rPr>
              <a:t>Describe how blood flow, blood pressure, and resistance interrelate</a:t>
            </a:r>
            <a:endParaRPr sz="1300"/>
          </a:p>
        </p:txBody>
      </p:sp>
      <p:sp>
        <p:nvSpPr>
          <p:cNvPr id="17" name="Shape 15">
            <a:extLst xmlns:a="http://schemas.openxmlformats.org/drawingml/2006/main">
              <a:ext uri="{FF2B5EF4-FFF2-40B4-BE49-F238E27FC236}">
                <a16:creationId xmlns:a16="http://schemas.microsoft.com/office/drawing/2014/main" id="{629D1777-0780-4634-8162-9688AC36E576}"/>
              </a:ext>
            </a:extLst>
          </p:cNvPr>
          <p:cNvSpPr>
            <a:spLocks xmlns:a="http://schemas.openxmlformats.org/drawingml/2006/main" noGrp="1"/>
          </p:cNvSpPr>
          <p:nvPr/>
        </p:nvSpPr>
        <p:spPr>
          <a:xfrm xmlns:a="http://schemas.openxmlformats.org/drawingml/2006/main">
            <a:off x="548640" y="4681728"/>
            <a:ext cx="384048" cy="384048"/>
          </a:xfrm>
          <a:prstGeom xmlns:a="http://schemas.openxmlformats.org/drawingml/2006/main" prst="ellipse">
            <a:avLst/>
          </a:prstGeom>
          <a:solidFill xmlns:a="http://schemas.openxmlformats.org/drawingml/2006/main">
            <a:srgbClr val="0F4C5C"/>
          </a:solidFill>
        </p:spPr>
      </p:sp>
      <p:sp>
        <p:nvSpPr>
          <p:cNvPr id="18" name="Text 16">
            <a:extLst xmlns:a="http://schemas.openxmlformats.org/drawingml/2006/main">
              <a:ext uri="{FF2B5EF4-FFF2-40B4-BE49-F238E27FC236}">
                <a16:creationId xmlns:a16="http://schemas.microsoft.com/office/drawing/2014/main" id="{4D0C5379-2E49-4FA3-9DE6-33C7B4E2DB85}"/>
              </a:ext>
            </a:extLst>
          </p:cNvPr>
          <p:cNvSpPr>
            <a:spLocks xmlns:a="http://schemas.openxmlformats.org/drawingml/2006/main" noGrp="1"/>
          </p:cNvSpPr>
          <p:nvPr/>
        </p:nvSpPr>
        <p:spPr>
          <a:xfrm xmlns:a="http://schemas.openxmlformats.org/drawingml/2006/main">
            <a:off x="548640" y="4681728"/>
            <a:ext cx="384048"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b="1">
                <a:solidFill>
                  <a:srgbClr val="FFFFFF"/>
                </a:solidFill>
                <a:latin typeface="Georgia"/>
                <a:ea typeface="Georgia"/>
                <a:cs typeface="Georgia"/>
              </a:rPr>
              <a:t>5</a:t>
            </a:r>
            <a:endParaRPr sz="1500"/>
          </a:p>
        </p:txBody>
      </p:sp>
      <p:sp>
        <p:nvSpPr>
          <p:cNvPr id="19" name="Text 17">
            <a:extLst xmlns:a="http://schemas.openxmlformats.org/drawingml/2006/main">
              <a:ext uri="{FF2B5EF4-FFF2-40B4-BE49-F238E27FC236}">
                <a16:creationId xmlns:a16="http://schemas.microsoft.com/office/drawing/2014/main" id="{03384492-F278-408A-B715-EF1C537380CB}"/>
              </a:ext>
            </a:extLst>
          </p:cNvPr>
          <p:cNvSpPr>
            <a:spLocks xmlns:a="http://schemas.openxmlformats.org/drawingml/2006/main" noGrp="1"/>
          </p:cNvSpPr>
          <p:nvPr/>
        </p:nvSpPr>
        <p:spPr>
          <a:xfrm xmlns:a="http://schemas.openxmlformats.org/drawingml/2006/main">
            <a:off x="1115568" y="4663440"/>
            <a:ext cx="5943600" cy="7543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300">
                <a:solidFill>
                  <a:srgbClr val="23363B"/>
                </a:solidFill>
                <a:latin typeface="Calibri"/>
                <a:ea typeface="Calibri"/>
                <a:cs typeface="Calibri"/>
              </a:rPr>
              <a:t>Discuss how the neural and endocrine mechanisms maintain homeostasis within the blood vessels</a:t>
            </a:r>
            <a:endParaRPr sz="1300"/>
          </a:p>
        </p:txBody>
      </p:sp>
      <p:sp>
        <p:nvSpPr>
          <p:cNvPr id="20" name="Shape 18">
            <a:extLst xmlns:a="http://schemas.openxmlformats.org/drawingml/2006/main">
              <a:ext uri="{FF2B5EF4-FFF2-40B4-BE49-F238E27FC236}">
                <a16:creationId xmlns:a16="http://schemas.microsoft.com/office/drawing/2014/main" id="{F4A6964F-3B32-4711-8742-BD85F72E035E}"/>
              </a:ext>
            </a:extLst>
          </p:cNvPr>
          <p:cNvSpPr>
            <a:spLocks xmlns:a="http://schemas.openxmlformats.org/drawingml/2006/main" noGrp="1"/>
          </p:cNvSpPr>
          <p:nvPr/>
        </p:nvSpPr>
        <p:spPr>
          <a:xfrm xmlns:a="http://schemas.openxmlformats.org/drawingml/2006/main">
            <a:off x="548640" y="5436108"/>
            <a:ext cx="384048" cy="384048"/>
          </a:xfrm>
          <a:prstGeom xmlns:a="http://schemas.openxmlformats.org/drawingml/2006/main" prst="ellipse">
            <a:avLst/>
          </a:prstGeom>
          <a:solidFill xmlns:a="http://schemas.openxmlformats.org/drawingml/2006/main">
            <a:srgbClr val="0F4C5C"/>
          </a:solidFill>
        </p:spPr>
      </p:sp>
      <p:sp>
        <p:nvSpPr>
          <p:cNvPr id="21" name="Text 19">
            <a:extLst xmlns:a="http://schemas.openxmlformats.org/drawingml/2006/main">
              <a:ext uri="{FF2B5EF4-FFF2-40B4-BE49-F238E27FC236}">
                <a16:creationId xmlns:a16="http://schemas.microsoft.com/office/drawing/2014/main" id="{5C2B1251-4CEF-4DBB-AB48-669BDA04AD96}"/>
              </a:ext>
            </a:extLst>
          </p:cNvPr>
          <p:cNvSpPr>
            <a:spLocks xmlns:a="http://schemas.openxmlformats.org/drawingml/2006/main" noGrp="1"/>
          </p:cNvSpPr>
          <p:nvPr/>
        </p:nvSpPr>
        <p:spPr>
          <a:xfrm xmlns:a="http://schemas.openxmlformats.org/drawingml/2006/main">
            <a:off x="548640" y="5436108"/>
            <a:ext cx="384048"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b="1">
                <a:solidFill>
                  <a:srgbClr val="FFFFFF"/>
                </a:solidFill>
                <a:latin typeface="Georgia"/>
                <a:ea typeface="Georgia"/>
                <a:cs typeface="Georgia"/>
              </a:rPr>
              <a:t>6</a:t>
            </a:r>
            <a:endParaRPr sz="1500"/>
          </a:p>
        </p:txBody>
      </p:sp>
      <p:sp>
        <p:nvSpPr>
          <p:cNvPr id="22" name="Text 20">
            <a:extLst xmlns:a="http://schemas.openxmlformats.org/drawingml/2006/main">
              <a:ext uri="{FF2B5EF4-FFF2-40B4-BE49-F238E27FC236}">
                <a16:creationId xmlns:a16="http://schemas.microsoft.com/office/drawing/2014/main" id="{23CE5AC2-558B-4FB5-9784-1E6B7619B64D}"/>
              </a:ext>
            </a:extLst>
          </p:cNvPr>
          <p:cNvSpPr>
            <a:spLocks xmlns:a="http://schemas.openxmlformats.org/drawingml/2006/main" noGrp="1"/>
          </p:cNvSpPr>
          <p:nvPr/>
        </p:nvSpPr>
        <p:spPr>
          <a:xfrm xmlns:a="http://schemas.openxmlformats.org/drawingml/2006/main">
            <a:off x="1115568" y="5417820"/>
            <a:ext cx="5943600" cy="7543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300">
                <a:solidFill>
                  <a:srgbClr val="23363B"/>
                </a:solidFill>
                <a:latin typeface="Calibri"/>
                <a:ea typeface="Calibri"/>
                <a:cs typeface="Calibri"/>
              </a:rPr>
              <a:t>Describe the interaction of the cardiovascular system with other body systems</a:t>
            </a:r>
            <a:endParaRPr sz="1300"/>
          </a:p>
        </p:txBody>
      </p:sp>
      <p:sp>
        <p:nvSpPr>
          <p:cNvPr id="23" name="Shape 21">
            <a:extLst xmlns:a="http://schemas.openxmlformats.org/drawingml/2006/main">
              <a:ext uri="{FF2B5EF4-FFF2-40B4-BE49-F238E27FC236}">
                <a16:creationId xmlns:a16="http://schemas.microsoft.com/office/drawing/2014/main" id="{B4B6EB5D-9B97-4E42-A208-61836B82DAB4}"/>
              </a:ext>
            </a:extLst>
          </p:cNvPr>
          <p:cNvSpPr>
            <a:spLocks xmlns:a="http://schemas.openxmlformats.org/drawingml/2006/main" noGrp="1"/>
          </p:cNvSpPr>
          <p:nvPr/>
        </p:nvSpPr>
        <p:spPr>
          <a:xfrm xmlns:a="http://schemas.openxmlformats.org/drawingml/2006/main">
            <a:off x="7415784" y="2222515"/>
            <a:ext cx="4370832" cy="3016473"/>
          </a:xfrm>
          <a:prstGeom xmlns:a="http://schemas.openxmlformats.org/drawingml/2006/main" prst="roundRect">
            <a:avLst>
              <a:gd name="adj" fmla="val 1819"/>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52" name="Image 0"/>
          <p:cNvPicPr>
            <a:picLocks xmlns:a="http://schemas.openxmlformats.org/drawingml/2006/main" noChangeAspect="1"/>
          </p:cNvPicPr>
          <p:nvPr/>
        </p:nvPicPr>
        <p:blipFill>
          <a:blip xmlns:r="http://schemas.openxmlformats.org/officeDocument/2006/relationships" xmlns:a="http://schemas.openxmlformats.org/drawingml/2006/main" r:embed="R2223b2cf383c48bc"/>
          <a:stretch xmlns:a="http://schemas.openxmlformats.org/drawingml/2006/main">
            <a:fillRect l="0" t="0" r="0" b="0"/>
          </a:stretch>
        </p:blipFill>
        <p:spPr>
          <a:xfrm xmlns:a="http://schemas.openxmlformats.org/drawingml/2006/main">
            <a:off x="7498080" y="2304811"/>
            <a:ext cx="4206240" cy="2851881"/>
          </a:xfrm>
          <a:prstGeom xmlns:a="http://schemas.openxmlformats.org/drawingml/2006/main" prst="rect">
            <a:avLst/>
          </a:prstGeom>
        </p:spPr>
      </p:pic>
      <p:sp>
        <p:nvSpPr>
          <p:cNvPr id="25" name="Text 22">
            <a:extLst xmlns:a="http://schemas.openxmlformats.org/drawingml/2006/main">
              <a:ext uri="{FF2B5EF4-FFF2-40B4-BE49-F238E27FC236}">
                <a16:creationId xmlns:a16="http://schemas.microsoft.com/office/drawing/2014/main" id="{ADDE87B5-945C-485D-BFEF-CF97972FEE24}"/>
              </a:ext>
            </a:extLst>
          </p:cNvPr>
          <p:cNvSpPr>
            <a:spLocks xmlns:a="http://schemas.openxmlformats.org/drawingml/2006/main" noGrp="1"/>
          </p:cNvSpPr>
          <p:nvPr/>
        </p:nvSpPr>
        <p:spPr>
          <a:xfrm xmlns:a="http://schemas.openxmlformats.org/drawingml/2006/main">
            <a:off x="7498080" y="5943600"/>
            <a:ext cx="420624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The pulmonary and systemic circuits.</a:t>
            </a:r>
            <a:endParaRPr sz="1100"/>
          </a:p>
        </p:txBody>
      </p:sp>
      <p:sp>
        <p:nvSpPr>
          <p:cNvPr id="27" name="Text 23">
            <a:extLst xmlns:a="http://schemas.openxmlformats.org/drawingml/2006/main">
              <a:ext uri="{FF2B5EF4-FFF2-40B4-BE49-F238E27FC236}">
                <a16:creationId xmlns:a16="http://schemas.microsoft.com/office/drawing/2014/main" id="{7EABEAF7-53C0-4518-80B7-51D234ED0B4A}"/>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20 — Blood Vessels and Circulation</a:t>
            </a:r>
            <a:endParaRPr sz="900"/>
          </a:p>
        </p:txBody>
      </p:sp>
      <p:sp>
        <p:nvSpPr>
          <p:cNvPr id="28" name="Text 24">
            <a:extLst xmlns:a="http://schemas.openxmlformats.org/drawingml/2006/main">
              <a:ext uri="{FF2B5EF4-FFF2-40B4-BE49-F238E27FC236}">
                <a16:creationId xmlns:a16="http://schemas.microsoft.com/office/drawing/2014/main" id="{526187AA-5D57-499F-BDFF-E066301DCDAC}"/>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2</a:t>
            </a:r>
            <a:endParaRPr sz="900"/>
          </a:p>
        </p:txBody>
      </p:sp>
    </p:spTree>
    <p:extLst>
      <p:ext uri="{BB962C8B-B14F-4D97-AF65-F5344CB8AC3E}">
        <p14:creationId xmlns:p14="http://schemas.microsoft.com/office/powerpoint/2010/main" val="331151189"/>
      </p:ext>
    </p:extLst>
  </p:cSld>
</p:sld>
</file>

<file path=ppt/slides/slide3.xml><?xml version="1.0" encoding="utf-8"?>
<p:sld xmlns:p="http://schemas.openxmlformats.org/presentationml/2006/main">
  <p:cSld>
    <p:bg>
      <p:bgPr>
        <a:solidFill xmlns:a="http://schemas.openxmlformats.org/drawingml/2006/main">
          <a:srgbClr val="0F4C5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4AA4993F-656D-476B-A7C5-E8699DCD2460}"/>
              </a:ext>
            </a:extLst>
          </p:cNvPr>
          <p:cNvSpPr>
            <a:spLocks xmlns:a="http://schemas.openxmlformats.org/drawingml/2006/main" noGrp="1"/>
          </p:cNvSpPr>
          <p:nvPr/>
        </p:nvSpPr>
        <p:spPr>
          <a:xfrm xmlns:a="http://schemas.openxmlformats.org/drawingml/2006/main">
            <a:off x="822960" y="2331720"/>
            <a:ext cx="2011680" cy="2011680"/>
          </a:xfrm>
          <a:prstGeom xmlns:a="http://schemas.openxmlformats.org/drawingml/2006/main" prst="ellipse">
            <a:avLst/>
          </a:prstGeom>
          <a:solidFill xmlns:a="http://schemas.openxmlformats.org/drawingml/2006/main">
            <a:srgbClr val="E36414"/>
          </a:solidFill>
        </p:spPr>
      </p:sp>
      <p:sp>
        <p:nvSpPr>
          <p:cNvPr id="3" name="Text 1">
            <a:extLst xmlns:a="http://schemas.openxmlformats.org/drawingml/2006/main">
              <a:ext uri="{FF2B5EF4-FFF2-40B4-BE49-F238E27FC236}">
                <a16:creationId xmlns:a16="http://schemas.microsoft.com/office/drawing/2014/main" id="{CC5438FA-1928-48E6-81D0-821EF04E3D59}"/>
              </a:ext>
            </a:extLst>
          </p:cNvPr>
          <p:cNvSpPr>
            <a:spLocks xmlns:a="http://schemas.openxmlformats.org/drawingml/2006/main" noGrp="1"/>
          </p:cNvSpPr>
          <p:nvPr/>
        </p:nvSpPr>
        <p:spPr>
          <a:xfrm xmlns:a="http://schemas.openxmlformats.org/drawingml/2006/main">
            <a:off x="822960" y="2331720"/>
            <a:ext cx="2011680" cy="20116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4400" b="1">
                <a:solidFill>
                  <a:srgbClr val="FFFFFF"/>
                </a:solidFill>
                <a:latin typeface="Georgia"/>
                <a:ea typeface="Georgia"/>
                <a:cs typeface="Georgia"/>
              </a:rPr>
              <a:t>20.1</a:t>
            </a:r>
            <a:endParaRPr sz="4400"/>
          </a:p>
        </p:txBody>
      </p:sp>
      <p:sp>
        <p:nvSpPr>
          <p:cNvPr id="4" name="Text 2">
            <a:extLst xmlns:a="http://schemas.openxmlformats.org/drawingml/2006/main">
              <a:ext uri="{FF2B5EF4-FFF2-40B4-BE49-F238E27FC236}">
                <a16:creationId xmlns:a16="http://schemas.microsoft.com/office/drawing/2014/main" id="{57B871FC-4CAE-4228-B175-7EBFAE83E42C}"/>
              </a:ext>
            </a:extLst>
          </p:cNvPr>
          <p:cNvSpPr>
            <a:spLocks xmlns:a="http://schemas.openxmlformats.org/drawingml/2006/main" noGrp="1"/>
          </p:cNvSpPr>
          <p:nvPr/>
        </p:nvSpPr>
        <p:spPr>
          <a:xfrm xmlns:a="http://schemas.openxmlformats.org/drawingml/2006/main">
            <a:off x="3200400" y="2468880"/>
            <a:ext cx="7315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9FC2C9"/>
                </a:solidFill>
                <a:latin typeface="Calibri"/>
                <a:ea typeface="Calibri"/>
                <a:cs typeface="Calibri"/>
              </a:rPr>
              <a:t>SECTION</a:t>
            </a:r>
            <a:endParaRPr sz="1400"/>
          </a:p>
        </p:txBody>
      </p:sp>
      <p:sp>
        <p:nvSpPr>
          <p:cNvPr id="5" name="Text 3">
            <a:extLst xmlns:a="http://schemas.openxmlformats.org/drawingml/2006/main">
              <a:ext uri="{FF2B5EF4-FFF2-40B4-BE49-F238E27FC236}">
                <a16:creationId xmlns:a16="http://schemas.microsoft.com/office/drawing/2014/main" id="{D152D057-DA60-4A1E-98A7-C4101148D015}"/>
              </a:ext>
            </a:extLst>
          </p:cNvPr>
          <p:cNvSpPr>
            <a:spLocks xmlns:a="http://schemas.openxmlformats.org/drawingml/2006/main" noGrp="1"/>
          </p:cNvSpPr>
          <p:nvPr/>
        </p:nvSpPr>
        <p:spPr>
          <a:xfrm xmlns:a="http://schemas.openxmlformats.org/drawingml/2006/main">
            <a:off x="3154680" y="2788920"/>
            <a:ext cx="8412480" cy="14630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3000" b="1">
                <a:solidFill>
                  <a:srgbClr val="FFFFFF"/>
                </a:solidFill>
                <a:latin typeface="Georgia"/>
                <a:ea typeface="Georgia"/>
                <a:cs typeface="Georgia"/>
              </a:rPr>
              <a:t>Structure and Function of Blood Vessels</a:t>
            </a:r>
            <a:endParaRPr sz="3000"/>
          </a:p>
        </p:txBody>
      </p:sp>
      <p:sp>
        <p:nvSpPr>
          <p:cNvPr id="6" name="Text 4">
            <a:extLst xmlns:a="http://schemas.openxmlformats.org/drawingml/2006/main">
              <a:ext uri="{FF2B5EF4-FFF2-40B4-BE49-F238E27FC236}">
                <a16:creationId xmlns:a16="http://schemas.microsoft.com/office/drawing/2014/main" id="{4E87531A-9F9A-4437-83EB-E1F5EBD0C6E3}"/>
              </a:ext>
            </a:extLst>
          </p:cNvPr>
          <p:cNvSpPr>
            <a:spLocks xmlns:a="http://schemas.openxmlformats.org/drawingml/2006/main" noGrp="1"/>
          </p:cNvSpPr>
          <p:nvPr/>
        </p:nvSpPr>
        <p:spPr>
          <a:xfrm xmlns:a="http://schemas.openxmlformats.org/drawingml/2006/main">
            <a:off x="3200400" y="4160520"/>
            <a:ext cx="813816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0000"/>
              </a:lnSpc>
              <a:buNone/>
            </a:pPr>
            <a:r>
              <a:rPr sz="1500">
                <a:solidFill>
                  <a:srgbClr val="CFE3E7"/>
                </a:solidFill>
                <a:latin typeface="Calibri"/>
                <a:ea typeface="Calibri"/>
                <a:cs typeface="Calibri"/>
              </a:rPr>
              <a:t>The structure of arteries, veins, and capillaries.</a:t>
            </a:r>
            <a:endParaRPr sz="1500"/>
          </a:p>
        </p:txBody>
      </p:sp>
    </p:spTree>
    <p:extLst>
      <p:ext uri="{BB962C8B-B14F-4D97-AF65-F5344CB8AC3E}">
        <p14:creationId xmlns:p14="http://schemas.microsoft.com/office/powerpoint/2010/main" val="20494850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ED2E507-8740-4624-A2B1-1FC6A43381C2}"/>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20.1</a:t>
            </a:r>
            <a:endParaRPr sz="1200"/>
          </a:p>
        </p:txBody>
      </p:sp>
      <p:sp>
        <p:nvSpPr>
          <p:cNvPr id="3" name="Text 1">
            <a:extLst xmlns:a="http://schemas.openxmlformats.org/drawingml/2006/main">
              <a:ext uri="{FF2B5EF4-FFF2-40B4-BE49-F238E27FC236}">
                <a16:creationId xmlns:a16="http://schemas.microsoft.com/office/drawing/2014/main" id="{08CE2BA9-7312-41BB-9B4C-09477E356678}"/>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Artery vs. Vein</a:t>
            </a:r>
            <a:endParaRPr sz="2800"/>
          </a:p>
        </p:txBody>
      </p:sp>
      <p:sp>
        <p:nvSpPr>
          <p:cNvPr id="4" name="Shape 2">
            <a:extLst xmlns:a="http://schemas.openxmlformats.org/drawingml/2006/main">
              <a:ext uri="{FF2B5EF4-FFF2-40B4-BE49-F238E27FC236}">
                <a16:creationId xmlns:a16="http://schemas.microsoft.com/office/drawing/2014/main" id="{8EDC7D6A-E0D0-406B-9F08-D400F998203D}"/>
              </a:ext>
            </a:extLst>
          </p:cNvPr>
          <p:cNvSpPr>
            <a:spLocks xmlns:a="http://schemas.openxmlformats.org/drawingml/2006/main" noGrp="1"/>
          </p:cNvSpPr>
          <p:nvPr/>
        </p:nvSpPr>
        <p:spPr>
          <a:xfrm xmlns:a="http://schemas.openxmlformats.org/drawingml/2006/main">
            <a:off x="893140" y="1289304"/>
            <a:ext cx="3517240" cy="4736592"/>
          </a:xfrm>
          <a:prstGeom xmlns:a="http://schemas.openxmlformats.org/drawingml/2006/main" prst="roundRect">
            <a:avLst>
              <a:gd name="adj" fmla="val 1560"/>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5" name="Image 0"/>
          <p:cNvPicPr>
            <a:picLocks xmlns:a="http://schemas.openxmlformats.org/drawingml/2006/main" noChangeAspect="1"/>
          </p:cNvPicPr>
          <p:nvPr/>
        </p:nvPicPr>
        <p:blipFill>
          <a:blip xmlns:r="http://schemas.openxmlformats.org/officeDocument/2006/relationships" xmlns:a="http://schemas.openxmlformats.org/drawingml/2006/main" r:embed="Rea72786ea1a64938"/>
          <a:stretch xmlns:a="http://schemas.openxmlformats.org/drawingml/2006/main">
            <a:fillRect l="0" t="0" r="0" b="0"/>
          </a:stretch>
        </p:blipFill>
        <p:spPr>
          <a:xfrm xmlns:a="http://schemas.openxmlformats.org/drawingml/2006/main">
            <a:off x="975436" y="1371600"/>
            <a:ext cx="3352648" cy="457200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4DF134CC-E449-47B5-8BAF-D99F2781AB6A}"/>
              </a:ext>
            </a:extLst>
          </p:cNvPr>
          <p:cNvSpPr>
            <a:spLocks xmlns:a="http://schemas.openxmlformats.org/drawingml/2006/main" noGrp="1"/>
          </p:cNvSpPr>
          <p:nvPr/>
        </p:nvSpPr>
        <p:spPr>
          <a:xfrm xmlns:a="http://schemas.openxmlformats.org/drawingml/2006/main">
            <a:off x="502920" y="5989320"/>
            <a:ext cx="429768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The walls of an artery and a vein</a:t>
            </a:r>
            <a:endParaRPr sz="1100"/>
          </a:p>
        </p:txBody>
      </p:sp>
      <p:sp>
        <p:nvSpPr>
          <p:cNvPr id="7" name="Text 4">
            <a:extLst xmlns:a="http://schemas.openxmlformats.org/drawingml/2006/main">
              <a:ext uri="{FF2B5EF4-FFF2-40B4-BE49-F238E27FC236}">
                <a16:creationId xmlns:a16="http://schemas.microsoft.com/office/drawing/2014/main" id="{6B6E2D6C-A31A-4A5C-B793-FE7FBAA43D77}"/>
              </a:ext>
            </a:extLst>
          </p:cNvPr>
          <p:cNvSpPr>
            <a:spLocks xmlns:a="http://schemas.openxmlformats.org/drawingml/2006/main" noGrp="1"/>
          </p:cNvSpPr>
          <p:nvPr/>
        </p:nvSpPr>
        <p:spPr>
          <a:xfrm xmlns:a="http://schemas.openxmlformats.org/drawingml/2006/main">
            <a:off x="5074920" y="1828800"/>
            <a:ext cx="6583680" cy="40233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Both have three wall layers (tunics)</a:t>
            </a:r>
            <a:endParaRPr sz="1600"/>
          </a:p>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Arteries have thick muscular walls</a:t>
            </a:r>
            <a:endParaRPr sz="1600"/>
          </a:p>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Veins are thinner, with valves</a:t>
            </a:r>
            <a:endParaRPr sz="1600"/>
          </a:p>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Valves keep venous blood moving up</a:t>
            </a:r>
            <a:endParaRPr sz="1600"/>
          </a:p>
        </p:txBody>
      </p:sp>
      <p:sp>
        <p:nvSpPr>
          <p:cNvPr id="9" name="Text 5">
            <a:extLst xmlns:a="http://schemas.openxmlformats.org/drawingml/2006/main">
              <a:ext uri="{FF2B5EF4-FFF2-40B4-BE49-F238E27FC236}">
                <a16:creationId xmlns:a16="http://schemas.microsoft.com/office/drawing/2014/main" id="{FCF864B5-BB00-4928-926F-5DED3A04D65C}"/>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20 — Blood Vessels and Circulation</a:t>
            </a:r>
            <a:endParaRPr sz="900"/>
          </a:p>
        </p:txBody>
      </p:sp>
      <p:sp>
        <p:nvSpPr>
          <p:cNvPr id="10" name="Text 6">
            <a:extLst xmlns:a="http://schemas.openxmlformats.org/drawingml/2006/main">
              <a:ext uri="{FF2B5EF4-FFF2-40B4-BE49-F238E27FC236}">
                <a16:creationId xmlns:a16="http://schemas.microsoft.com/office/drawing/2014/main" id="{2B29D064-B378-4EB3-95BF-24A968DF91A9}"/>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4</a:t>
            </a:r>
            <a:endParaRPr sz="900"/>
          </a:p>
        </p:txBody>
      </p:sp>
    </p:spTree>
    <p:extLst>
      <p:ext uri="{BB962C8B-B14F-4D97-AF65-F5344CB8AC3E}">
        <p14:creationId xmlns:p14="http://schemas.microsoft.com/office/powerpoint/2010/main" val="132210166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3C6E362-05B4-40DF-BB71-312DD5EFAC61}"/>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20.1</a:t>
            </a:r>
            <a:endParaRPr sz="1200"/>
          </a:p>
        </p:txBody>
      </p:sp>
      <p:sp>
        <p:nvSpPr>
          <p:cNvPr id="3" name="Text 1">
            <a:extLst xmlns:a="http://schemas.openxmlformats.org/drawingml/2006/main">
              <a:ext uri="{FF2B5EF4-FFF2-40B4-BE49-F238E27FC236}">
                <a16:creationId xmlns:a16="http://schemas.microsoft.com/office/drawing/2014/main" id="{CE6FF60D-C3A3-4FFC-9ECF-BCAC5716B9D2}"/>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Types of Capillaries</a:t>
            </a:r>
            <a:endParaRPr sz="2800"/>
          </a:p>
        </p:txBody>
      </p:sp>
      <p:sp>
        <p:nvSpPr>
          <p:cNvPr id="4" name="Shape 2">
            <a:extLst xmlns:a="http://schemas.openxmlformats.org/drawingml/2006/main">
              <a:ext uri="{FF2B5EF4-FFF2-40B4-BE49-F238E27FC236}">
                <a16:creationId xmlns:a16="http://schemas.microsoft.com/office/drawing/2014/main" id="{658C33C1-2B7E-4DF7-816E-AC76B899A24E}"/>
              </a:ext>
            </a:extLst>
          </p:cNvPr>
          <p:cNvSpPr>
            <a:spLocks xmlns:a="http://schemas.openxmlformats.org/drawingml/2006/main" noGrp="1"/>
          </p:cNvSpPr>
          <p:nvPr/>
        </p:nvSpPr>
        <p:spPr>
          <a:xfrm xmlns:a="http://schemas.openxmlformats.org/drawingml/2006/main">
            <a:off x="1287425" y="1289304"/>
            <a:ext cx="9632390" cy="3730752"/>
          </a:xfrm>
          <a:prstGeom xmlns:a="http://schemas.openxmlformats.org/drawingml/2006/main" prst="roundRect">
            <a:avLst>
              <a:gd name="adj" fmla="val 1471"/>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9b2c197e5dbc4911"/>
          <a:stretch xmlns:a="http://schemas.openxmlformats.org/drawingml/2006/main">
            <a:fillRect l="0" t="0" r="0" b="0"/>
          </a:stretch>
        </p:blipFill>
        <p:spPr>
          <a:xfrm xmlns:a="http://schemas.openxmlformats.org/drawingml/2006/main">
            <a:off x="1369721" y="1371600"/>
            <a:ext cx="9467798" cy="356616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F824A05E-9BCD-4D1F-9B85-64EFB73B7A60}"/>
              </a:ext>
            </a:extLst>
          </p:cNvPr>
          <p:cNvSpPr>
            <a:spLocks xmlns:a="http://schemas.openxmlformats.org/drawingml/2006/main" noGrp="1"/>
          </p:cNvSpPr>
          <p:nvPr/>
        </p:nvSpPr>
        <p:spPr>
          <a:xfrm xmlns:a="http://schemas.openxmlformats.org/drawingml/2006/main">
            <a:off x="640080" y="4983480"/>
            <a:ext cx="1092708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The three types of capillaries</a:t>
            </a:r>
            <a:endParaRPr sz="1100"/>
          </a:p>
        </p:txBody>
      </p:sp>
      <p:sp>
        <p:nvSpPr>
          <p:cNvPr id="7" name="Text 4">
            <a:extLst xmlns:a="http://schemas.openxmlformats.org/drawingml/2006/main">
              <a:ext uri="{FF2B5EF4-FFF2-40B4-BE49-F238E27FC236}">
                <a16:creationId xmlns:a16="http://schemas.microsoft.com/office/drawing/2014/main" id="{0D8B0FF4-52FF-4F08-850E-751D52B7ADF2}"/>
              </a:ext>
            </a:extLst>
          </p:cNvPr>
          <p:cNvSpPr>
            <a:spLocks xmlns:a="http://schemas.openxmlformats.org/drawingml/2006/main" noGrp="1"/>
          </p:cNvSpPr>
          <p:nvPr/>
        </p:nvSpPr>
        <p:spPr>
          <a:xfrm xmlns:a="http://schemas.openxmlformats.org/drawingml/2006/main">
            <a:off x="731520" y="5349240"/>
            <a:ext cx="5349240" cy="10972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The smallest vessels</a:t>
            </a:r>
            <a:endParaRPr sz="1300"/>
          </a:p>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Walls just one cell thick</a:t>
            </a:r>
            <a:endParaRPr sz="1300"/>
          </a:p>
        </p:txBody>
      </p:sp>
      <p:sp>
        <p:nvSpPr>
          <p:cNvPr id="8" name="Text 5">
            <a:extLst xmlns:a="http://schemas.openxmlformats.org/drawingml/2006/main">
              <a:ext uri="{FF2B5EF4-FFF2-40B4-BE49-F238E27FC236}">
                <a16:creationId xmlns:a16="http://schemas.microsoft.com/office/drawing/2014/main" id="{7091208E-6FBC-42BE-B748-73E49CDFB711}"/>
              </a:ext>
            </a:extLst>
          </p:cNvPr>
          <p:cNvSpPr>
            <a:spLocks xmlns:a="http://schemas.openxmlformats.org/drawingml/2006/main" noGrp="1"/>
          </p:cNvSpPr>
          <p:nvPr/>
        </p:nvSpPr>
        <p:spPr>
          <a:xfrm xmlns:a="http://schemas.openxmlformats.org/drawingml/2006/main">
            <a:off x="6263640" y="5349240"/>
            <a:ext cx="5349240" cy="10972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Continuous, fenestrated, sinusoid</a:t>
            </a:r>
            <a:endParaRPr sz="1300"/>
          </a:p>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The site of all exchange</a:t>
            </a:r>
            <a:endParaRPr sz="1300"/>
          </a:p>
        </p:txBody>
      </p:sp>
      <p:sp>
        <p:nvSpPr>
          <p:cNvPr id="10" name="Text 6">
            <a:extLst xmlns:a="http://schemas.openxmlformats.org/drawingml/2006/main">
              <a:ext uri="{FF2B5EF4-FFF2-40B4-BE49-F238E27FC236}">
                <a16:creationId xmlns:a16="http://schemas.microsoft.com/office/drawing/2014/main" id="{950A6A45-C424-4AED-A684-CC726616525B}"/>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20 — Blood Vessels and Circulation</a:t>
            </a:r>
            <a:endParaRPr sz="900"/>
          </a:p>
        </p:txBody>
      </p:sp>
      <p:sp>
        <p:nvSpPr>
          <p:cNvPr id="11" name="Text 7">
            <a:extLst xmlns:a="http://schemas.openxmlformats.org/drawingml/2006/main">
              <a:ext uri="{FF2B5EF4-FFF2-40B4-BE49-F238E27FC236}">
                <a16:creationId xmlns:a16="http://schemas.microsoft.com/office/drawing/2014/main" id="{75D2EF6F-FE0D-452E-B289-B0BA635B2BC6}"/>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5</a:t>
            </a:r>
            <a:endParaRPr sz="900"/>
          </a:p>
        </p:txBody>
      </p:sp>
    </p:spTree>
    <p:extLst>
      <p:ext uri="{BB962C8B-B14F-4D97-AF65-F5344CB8AC3E}">
        <p14:creationId xmlns:p14="http://schemas.microsoft.com/office/powerpoint/2010/main" val="90108926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14E0275-47B7-4FD4-95BB-4DA6D113037E}"/>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20.1</a:t>
            </a:r>
            <a:endParaRPr sz="1200"/>
          </a:p>
        </p:txBody>
      </p:sp>
      <p:sp>
        <p:nvSpPr>
          <p:cNvPr id="3" name="Text 1">
            <a:extLst xmlns:a="http://schemas.openxmlformats.org/drawingml/2006/main">
              <a:ext uri="{FF2B5EF4-FFF2-40B4-BE49-F238E27FC236}">
                <a16:creationId xmlns:a16="http://schemas.microsoft.com/office/drawing/2014/main" id="{EAC9E271-2136-47EB-BE2F-72493B90414A}"/>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The Capillary Bed</a:t>
            </a:r>
            <a:endParaRPr sz="2800"/>
          </a:p>
        </p:txBody>
      </p:sp>
      <p:sp>
        <p:nvSpPr>
          <p:cNvPr id="4" name="Shape 2">
            <a:extLst xmlns:a="http://schemas.openxmlformats.org/drawingml/2006/main">
              <a:ext uri="{FF2B5EF4-FFF2-40B4-BE49-F238E27FC236}">
                <a16:creationId xmlns:a16="http://schemas.microsoft.com/office/drawing/2014/main" id="{4BCE601C-2A25-4AE0-BDE9-222ED3E6FEC5}"/>
              </a:ext>
            </a:extLst>
          </p:cNvPr>
          <p:cNvSpPr>
            <a:spLocks xmlns:a="http://schemas.openxmlformats.org/drawingml/2006/main" noGrp="1"/>
          </p:cNvSpPr>
          <p:nvPr/>
        </p:nvSpPr>
        <p:spPr>
          <a:xfrm xmlns:a="http://schemas.openxmlformats.org/drawingml/2006/main">
            <a:off x="3002570" y="1289304"/>
            <a:ext cx="6202101" cy="3730752"/>
          </a:xfrm>
          <a:prstGeom xmlns:a="http://schemas.openxmlformats.org/drawingml/2006/main" prst="roundRect">
            <a:avLst>
              <a:gd name="adj" fmla="val 1471"/>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3947487681334fae"/>
          <a:stretch xmlns:a="http://schemas.openxmlformats.org/drawingml/2006/main">
            <a:fillRect l="0" t="0" r="0" b="0"/>
          </a:stretch>
        </p:blipFill>
        <p:spPr>
          <a:xfrm xmlns:a="http://schemas.openxmlformats.org/drawingml/2006/main">
            <a:off x="3084866" y="1371600"/>
            <a:ext cx="6037509" cy="356616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82ED3D27-0E82-4052-B8B6-A9A00EE6AD83}"/>
              </a:ext>
            </a:extLst>
          </p:cNvPr>
          <p:cNvSpPr>
            <a:spLocks xmlns:a="http://schemas.openxmlformats.org/drawingml/2006/main" noGrp="1"/>
          </p:cNvSpPr>
          <p:nvPr/>
        </p:nvSpPr>
        <p:spPr>
          <a:xfrm xmlns:a="http://schemas.openxmlformats.org/drawingml/2006/main">
            <a:off x="640080" y="4983480"/>
            <a:ext cx="1092708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Blood flow through a capillary bed</a:t>
            </a:r>
            <a:endParaRPr sz="1100"/>
          </a:p>
        </p:txBody>
      </p:sp>
      <p:sp>
        <p:nvSpPr>
          <p:cNvPr id="7" name="Text 4">
            <a:extLst xmlns:a="http://schemas.openxmlformats.org/drawingml/2006/main">
              <a:ext uri="{FF2B5EF4-FFF2-40B4-BE49-F238E27FC236}">
                <a16:creationId xmlns:a16="http://schemas.microsoft.com/office/drawing/2014/main" id="{C0EF1A2B-40D8-40A6-AFAE-6E09EE81AC79}"/>
              </a:ext>
            </a:extLst>
          </p:cNvPr>
          <p:cNvSpPr>
            <a:spLocks xmlns:a="http://schemas.openxmlformats.org/drawingml/2006/main" noGrp="1"/>
          </p:cNvSpPr>
          <p:nvPr/>
        </p:nvSpPr>
        <p:spPr>
          <a:xfrm xmlns:a="http://schemas.openxmlformats.org/drawingml/2006/main">
            <a:off x="731520" y="5349240"/>
            <a:ext cx="5349240" cy="10972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Capillaries form branching beds</a:t>
            </a:r>
            <a:endParaRPr sz="1300"/>
          </a:p>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Connect arterioles to venules</a:t>
            </a:r>
            <a:endParaRPr sz="1300"/>
          </a:p>
        </p:txBody>
      </p:sp>
      <p:sp>
        <p:nvSpPr>
          <p:cNvPr id="8" name="Text 5">
            <a:extLst xmlns:a="http://schemas.openxmlformats.org/drawingml/2006/main">
              <a:ext uri="{FF2B5EF4-FFF2-40B4-BE49-F238E27FC236}">
                <a16:creationId xmlns:a16="http://schemas.microsoft.com/office/drawing/2014/main" id="{7B14CC10-8CA7-4C4F-B85B-4DC6D101EF74}"/>
              </a:ext>
            </a:extLst>
          </p:cNvPr>
          <p:cNvSpPr>
            <a:spLocks xmlns:a="http://schemas.openxmlformats.org/drawingml/2006/main" noGrp="1"/>
          </p:cNvSpPr>
          <p:nvPr/>
        </p:nvSpPr>
        <p:spPr>
          <a:xfrm xmlns:a="http://schemas.openxmlformats.org/drawingml/2006/main">
            <a:off x="6263640" y="5349240"/>
            <a:ext cx="5349240" cy="10972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Precapillary sphincters control flow</a:t>
            </a:r>
            <a:endParaRPr sz="1300"/>
          </a:p>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Direct blood where it's needed</a:t>
            </a:r>
            <a:endParaRPr sz="1300"/>
          </a:p>
        </p:txBody>
      </p:sp>
      <p:sp>
        <p:nvSpPr>
          <p:cNvPr id="10" name="Text 6">
            <a:extLst xmlns:a="http://schemas.openxmlformats.org/drawingml/2006/main">
              <a:ext uri="{FF2B5EF4-FFF2-40B4-BE49-F238E27FC236}">
                <a16:creationId xmlns:a16="http://schemas.microsoft.com/office/drawing/2014/main" id="{CC2F0641-E8E7-48CA-8D6A-CFD37E5B0415}"/>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20 — Blood Vessels and Circulation</a:t>
            </a:r>
            <a:endParaRPr sz="900"/>
          </a:p>
        </p:txBody>
      </p:sp>
      <p:sp>
        <p:nvSpPr>
          <p:cNvPr id="11" name="Text 7">
            <a:extLst xmlns:a="http://schemas.openxmlformats.org/drawingml/2006/main">
              <a:ext uri="{FF2B5EF4-FFF2-40B4-BE49-F238E27FC236}">
                <a16:creationId xmlns:a16="http://schemas.microsoft.com/office/drawing/2014/main" id="{F0F2FAF0-1FF6-4461-80E5-F1264D018E04}"/>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6</a:t>
            </a:r>
            <a:endParaRPr sz="900"/>
          </a:p>
        </p:txBody>
      </p:sp>
    </p:spTree>
    <p:extLst>
      <p:ext uri="{BB962C8B-B14F-4D97-AF65-F5344CB8AC3E}">
        <p14:creationId xmlns:p14="http://schemas.microsoft.com/office/powerpoint/2010/main" val="1545846861"/>
      </p:ext>
    </p:extLst>
  </p:cSld>
</p:sld>
</file>

<file path=ppt/slides/slide7.xml><?xml version="1.0" encoding="utf-8"?>
<p:sld xmlns:p="http://schemas.openxmlformats.org/presentationml/2006/main">
  <p:cSld>
    <p:bg>
      <p:bgPr>
        <a:solidFill xmlns:a="http://schemas.openxmlformats.org/drawingml/2006/main">
          <a:srgbClr val="0F4C5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EFB89537-0FE6-4D49-942C-25B5A93FD5C1}"/>
              </a:ext>
            </a:extLst>
          </p:cNvPr>
          <p:cNvSpPr>
            <a:spLocks xmlns:a="http://schemas.openxmlformats.org/drawingml/2006/main" noGrp="1"/>
          </p:cNvSpPr>
          <p:nvPr/>
        </p:nvSpPr>
        <p:spPr>
          <a:xfrm xmlns:a="http://schemas.openxmlformats.org/drawingml/2006/main">
            <a:off x="822960" y="2331720"/>
            <a:ext cx="2011680" cy="2011680"/>
          </a:xfrm>
          <a:prstGeom xmlns:a="http://schemas.openxmlformats.org/drawingml/2006/main" prst="ellipse">
            <a:avLst/>
          </a:prstGeom>
          <a:solidFill xmlns:a="http://schemas.openxmlformats.org/drawingml/2006/main">
            <a:srgbClr val="E36414"/>
          </a:solidFill>
        </p:spPr>
      </p:sp>
      <p:sp>
        <p:nvSpPr>
          <p:cNvPr id="3" name="Text 1">
            <a:extLst xmlns:a="http://schemas.openxmlformats.org/drawingml/2006/main">
              <a:ext uri="{FF2B5EF4-FFF2-40B4-BE49-F238E27FC236}">
                <a16:creationId xmlns:a16="http://schemas.microsoft.com/office/drawing/2014/main" id="{1D2B7363-3455-42DF-BA10-316A34F4B329}"/>
              </a:ext>
            </a:extLst>
          </p:cNvPr>
          <p:cNvSpPr>
            <a:spLocks xmlns:a="http://schemas.openxmlformats.org/drawingml/2006/main" noGrp="1"/>
          </p:cNvSpPr>
          <p:nvPr/>
        </p:nvSpPr>
        <p:spPr>
          <a:xfrm xmlns:a="http://schemas.openxmlformats.org/drawingml/2006/main">
            <a:off x="822960" y="2331720"/>
            <a:ext cx="2011680" cy="20116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4400" b="1">
                <a:solidFill>
                  <a:srgbClr val="FFFFFF"/>
                </a:solidFill>
                <a:latin typeface="Georgia"/>
                <a:ea typeface="Georgia"/>
                <a:cs typeface="Georgia"/>
              </a:rPr>
              <a:t>20.2</a:t>
            </a:r>
            <a:endParaRPr sz="4400"/>
          </a:p>
        </p:txBody>
      </p:sp>
      <p:sp>
        <p:nvSpPr>
          <p:cNvPr id="4" name="Text 2">
            <a:extLst xmlns:a="http://schemas.openxmlformats.org/drawingml/2006/main">
              <a:ext uri="{FF2B5EF4-FFF2-40B4-BE49-F238E27FC236}">
                <a16:creationId xmlns:a16="http://schemas.microsoft.com/office/drawing/2014/main" id="{66AD38C0-3DCD-4F58-AA8E-C3B67F3BDBEF}"/>
              </a:ext>
            </a:extLst>
          </p:cNvPr>
          <p:cNvSpPr>
            <a:spLocks xmlns:a="http://schemas.openxmlformats.org/drawingml/2006/main" noGrp="1"/>
          </p:cNvSpPr>
          <p:nvPr/>
        </p:nvSpPr>
        <p:spPr>
          <a:xfrm xmlns:a="http://schemas.openxmlformats.org/drawingml/2006/main">
            <a:off x="3200400" y="2468880"/>
            <a:ext cx="7315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9FC2C9"/>
                </a:solidFill>
                <a:latin typeface="Calibri"/>
                <a:ea typeface="Calibri"/>
                <a:cs typeface="Calibri"/>
              </a:rPr>
              <a:t>SECTION</a:t>
            </a:r>
            <a:endParaRPr sz="1400"/>
          </a:p>
        </p:txBody>
      </p:sp>
      <p:sp>
        <p:nvSpPr>
          <p:cNvPr id="5" name="Text 3">
            <a:extLst xmlns:a="http://schemas.openxmlformats.org/drawingml/2006/main">
              <a:ext uri="{FF2B5EF4-FFF2-40B4-BE49-F238E27FC236}">
                <a16:creationId xmlns:a16="http://schemas.microsoft.com/office/drawing/2014/main" id="{A1F768A9-4CE3-4644-A19A-B4FBB8A40B1A}"/>
              </a:ext>
            </a:extLst>
          </p:cNvPr>
          <p:cNvSpPr>
            <a:spLocks xmlns:a="http://schemas.openxmlformats.org/drawingml/2006/main" noGrp="1"/>
          </p:cNvSpPr>
          <p:nvPr/>
        </p:nvSpPr>
        <p:spPr>
          <a:xfrm xmlns:a="http://schemas.openxmlformats.org/drawingml/2006/main">
            <a:off x="3154680" y="2788920"/>
            <a:ext cx="8412480" cy="14630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3000" b="1">
                <a:solidFill>
                  <a:srgbClr val="FFFFFF"/>
                </a:solidFill>
                <a:latin typeface="Georgia"/>
                <a:ea typeface="Georgia"/>
                <a:cs typeface="Georgia"/>
              </a:rPr>
              <a:t>Blood Flow, Blood Pressure, and Resistance</a:t>
            </a:r>
            <a:endParaRPr sz="3000"/>
          </a:p>
        </p:txBody>
      </p:sp>
      <p:sp>
        <p:nvSpPr>
          <p:cNvPr id="6" name="Text 4">
            <a:extLst xmlns:a="http://schemas.openxmlformats.org/drawingml/2006/main">
              <a:ext uri="{FF2B5EF4-FFF2-40B4-BE49-F238E27FC236}">
                <a16:creationId xmlns:a16="http://schemas.microsoft.com/office/drawing/2014/main" id="{246C309E-67A9-4DE7-AEEF-1A82E63ED629}"/>
              </a:ext>
            </a:extLst>
          </p:cNvPr>
          <p:cNvSpPr>
            <a:spLocks xmlns:a="http://schemas.openxmlformats.org/drawingml/2006/main" noGrp="1"/>
          </p:cNvSpPr>
          <p:nvPr/>
        </p:nvSpPr>
        <p:spPr>
          <a:xfrm xmlns:a="http://schemas.openxmlformats.org/drawingml/2006/main">
            <a:off x="3200400" y="4160520"/>
            <a:ext cx="813816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0000"/>
              </a:lnSpc>
              <a:buNone/>
            </a:pPr>
            <a:r>
              <a:rPr sz="1500">
                <a:solidFill>
                  <a:srgbClr val="CFE3E7"/>
                </a:solidFill>
                <a:latin typeface="Calibri"/>
                <a:ea typeface="Calibri"/>
                <a:cs typeface="Calibri"/>
              </a:rPr>
              <a:t>Blood flow, blood pressure, and resistance.</a:t>
            </a:r>
            <a:endParaRPr sz="1500"/>
          </a:p>
        </p:txBody>
      </p:sp>
    </p:spTree>
    <p:extLst>
      <p:ext uri="{BB962C8B-B14F-4D97-AF65-F5344CB8AC3E}">
        <p14:creationId xmlns:p14="http://schemas.microsoft.com/office/powerpoint/2010/main" val="35099775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5FB07E2-3ACA-438F-9092-1AFC9F62D734}"/>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20.2</a:t>
            </a:r>
            <a:endParaRPr sz="1200"/>
          </a:p>
        </p:txBody>
      </p:sp>
      <p:sp>
        <p:nvSpPr>
          <p:cNvPr id="3" name="Text 1">
            <a:extLst xmlns:a="http://schemas.openxmlformats.org/drawingml/2006/main">
              <a:ext uri="{FF2B5EF4-FFF2-40B4-BE49-F238E27FC236}">
                <a16:creationId xmlns:a16="http://schemas.microsoft.com/office/drawing/2014/main" id="{6C6AC283-9054-457E-AC1D-D07CA8046D63}"/>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Blood Pressure Across the System</a:t>
            </a:r>
            <a:endParaRPr sz="2800"/>
          </a:p>
        </p:txBody>
      </p:sp>
      <p:sp>
        <p:nvSpPr>
          <p:cNvPr id="4" name="Text 2">
            <a:extLst xmlns:a="http://schemas.openxmlformats.org/drawingml/2006/main">
              <a:ext uri="{FF2B5EF4-FFF2-40B4-BE49-F238E27FC236}">
                <a16:creationId xmlns:a16="http://schemas.microsoft.com/office/drawing/2014/main" id="{D1846597-E898-4326-9765-22EE716855CF}"/>
              </a:ext>
            </a:extLst>
          </p:cNvPr>
          <p:cNvSpPr>
            <a:spLocks xmlns:a="http://schemas.openxmlformats.org/drawingml/2006/main" noGrp="1"/>
          </p:cNvSpPr>
          <p:nvPr/>
        </p:nvSpPr>
        <p:spPr>
          <a:xfrm xmlns:a="http://schemas.openxmlformats.org/drawingml/2006/main">
            <a:off x="548640" y="1783080"/>
            <a:ext cx="4663440" cy="4206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Pressure is highest in the arteries</a:t>
            </a:r>
            <a:endParaRPr sz="1500"/>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Drops sharply in the arterioles</a:t>
            </a:r>
            <a:endParaRPr sz="1500"/>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Lowest in the veins</a:t>
            </a:r>
            <a:endParaRPr sz="1500"/>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The gradient drives blood flow</a:t>
            </a:r>
            <a:endParaRPr sz="1500"/>
          </a:p>
        </p:txBody>
      </p:sp>
      <p:sp>
        <p:nvSpPr>
          <p:cNvPr id="5" name="Shape 3">
            <a:extLst xmlns:a="http://schemas.openxmlformats.org/drawingml/2006/main">
              <a:ext uri="{FF2B5EF4-FFF2-40B4-BE49-F238E27FC236}">
                <a16:creationId xmlns:a16="http://schemas.microsoft.com/office/drawing/2014/main" id="{BA1197CB-E593-454E-ACEF-EFCA2CBF0D53}"/>
              </a:ext>
            </a:extLst>
          </p:cNvPr>
          <p:cNvSpPr>
            <a:spLocks xmlns:a="http://schemas.openxmlformats.org/drawingml/2006/main" noGrp="1"/>
          </p:cNvSpPr>
          <p:nvPr/>
        </p:nvSpPr>
        <p:spPr>
          <a:xfrm xmlns:a="http://schemas.openxmlformats.org/drawingml/2006/main">
            <a:off x="5404104" y="1409385"/>
            <a:ext cx="6382512" cy="4496430"/>
          </a:xfrm>
          <a:prstGeom xmlns:a="http://schemas.openxmlformats.org/drawingml/2006/main" prst="roundRect">
            <a:avLst>
              <a:gd name="adj" fmla="val 1220"/>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72d21470939446e2"/>
          <a:stretch xmlns:a="http://schemas.openxmlformats.org/drawingml/2006/main">
            <a:fillRect l="0" t="0" r="0" b="0"/>
          </a:stretch>
        </p:blipFill>
        <p:spPr>
          <a:xfrm xmlns:a="http://schemas.openxmlformats.org/drawingml/2006/main">
            <a:off x="5486400" y="1491681"/>
            <a:ext cx="6217920" cy="4331838"/>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DEB88DA4-322D-4684-BBC4-BDB858B6D78C}"/>
              </a:ext>
            </a:extLst>
          </p:cNvPr>
          <p:cNvSpPr>
            <a:spLocks xmlns:a="http://schemas.openxmlformats.org/drawingml/2006/main" noGrp="1"/>
          </p:cNvSpPr>
          <p:nvPr/>
        </p:nvSpPr>
        <p:spPr>
          <a:xfrm xmlns:a="http://schemas.openxmlformats.org/drawingml/2006/main">
            <a:off x="5486400" y="5943600"/>
            <a:ext cx="62179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Blood pressure throughout the circulation</a:t>
            </a:r>
            <a:endParaRPr sz="1100"/>
          </a:p>
        </p:txBody>
      </p:sp>
      <p:sp>
        <p:nvSpPr>
          <p:cNvPr id="9" name="Text 5">
            <a:extLst xmlns:a="http://schemas.openxmlformats.org/drawingml/2006/main">
              <a:ext uri="{FF2B5EF4-FFF2-40B4-BE49-F238E27FC236}">
                <a16:creationId xmlns:a16="http://schemas.microsoft.com/office/drawing/2014/main" id="{F9E312AE-289F-460E-99C3-1123506C8BA5}"/>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20 — Blood Vessels and Circulation</a:t>
            </a:r>
            <a:endParaRPr sz="900"/>
          </a:p>
        </p:txBody>
      </p:sp>
      <p:sp>
        <p:nvSpPr>
          <p:cNvPr id="10" name="Text 6">
            <a:extLst xmlns:a="http://schemas.openxmlformats.org/drawingml/2006/main">
              <a:ext uri="{FF2B5EF4-FFF2-40B4-BE49-F238E27FC236}">
                <a16:creationId xmlns:a16="http://schemas.microsoft.com/office/drawing/2014/main" id="{230E7DD3-69C0-4908-BDA6-982AD0E82FC6}"/>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8</a:t>
            </a:r>
            <a:endParaRPr sz="900"/>
          </a:p>
        </p:txBody>
      </p:sp>
    </p:spTree>
    <p:extLst>
      <p:ext uri="{BB962C8B-B14F-4D97-AF65-F5344CB8AC3E}">
        <p14:creationId xmlns:p14="http://schemas.microsoft.com/office/powerpoint/2010/main" val="152776144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F5AE0AB-543C-4DB1-84B8-289D3CB8CD28}"/>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20.2</a:t>
            </a:r>
            <a:endParaRPr sz="1200"/>
          </a:p>
        </p:txBody>
      </p:sp>
      <p:sp>
        <p:nvSpPr>
          <p:cNvPr id="3" name="Text 1">
            <a:extLst xmlns:a="http://schemas.openxmlformats.org/drawingml/2006/main">
              <a:ext uri="{FF2B5EF4-FFF2-40B4-BE49-F238E27FC236}">
                <a16:creationId xmlns:a16="http://schemas.microsoft.com/office/drawing/2014/main" id="{7D40B42E-3EBE-4219-93FA-BBCE75FD762D}"/>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Pulse Points</a:t>
            </a:r>
            <a:endParaRPr sz="2800"/>
          </a:p>
        </p:txBody>
      </p:sp>
      <p:sp>
        <p:nvSpPr>
          <p:cNvPr id="4" name="Shape 2">
            <a:extLst xmlns:a="http://schemas.openxmlformats.org/drawingml/2006/main">
              <a:ext uri="{FF2B5EF4-FFF2-40B4-BE49-F238E27FC236}">
                <a16:creationId xmlns:a16="http://schemas.microsoft.com/office/drawing/2014/main" id="{FC3DE666-9635-44C5-A397-023DFD9E33F4}"/>
              </a:ext>
            </a:extLst>
          </p:cNvPr>
          <p:cNvSpPr>
            <a:spLocks xmlns:a="http://schemas.openxmlformats.org/drawingml/2006/main" noGrp="1"/>
          </p:cNvSpPr>
          <p:nvPr/>
        </p:nvSpPr>
        <p:spPr>
          <a:xfrm xmlns:a="http://schemas.openxmlformats.org/drawingml/2006/main">
            <a:off x="1085850" y="1289304"/>
            <a:ext cx="3131820" cy="4736592"/>
          </a:xfrm>
          <a:prstGeom xmlns:a="http://schemas.openxmlformats.org/drawingml/2006/main" prst="roundRect">
            <a:avLst>
              <a:gd name="adj" fmla="val 1752"/>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5" name="Image 0"/>
          <p:cNvPicPr>
            <a:picLocks xmlns:a="http://schemas.openxmlformats.org/drawingml/2006/main" noChangeAspect="1"/>
          </p:cNvPicPr>
          <p:nvPr/>
        </p:nvPicPr>
        <p:blipFill>
          <a:blip xmlns:r="http://schemas.openxmlformats.org/officeDocument/2006/relationships" xmlns:a="http://schemas.openxmlformats.org/drawingml/2006/main" r:embed="R2a1bcea920504818"/>
          <a:stretch xmlns:a="http://schemas.openxmlformats.org/drawingml/2006/main">
            <a:fillRect l="0" t="0" r="0" b="0"/>
          </a:stretch>
        </p:blipFill>
        <p:spPr>
          <a:xfrm xmlns:a="http://schemas.openxmlformats.org/drawingml/2006/main">
            <a:off x="1168146" y="1371600"/>
            <a:ext cx="2967228" cy="457200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17082F68-6A56-4EF7-88DA-BFC81B375C8D}"/>
              </a:ext>
            </a:extLst>
          </p:cNvPr>
          <p:cNvSpPr>
            <a:spLocks xmlns:a="http://schemas.openxmlformats.org/drawingml/2006/main" noGrp="1"/>
          </p:cNvSpPr>
          <p:nvPr/>
        </p:nvSpPr>
        <p:spPr>
          <a:xfrm xmlns:a="http://schemas.openxmlformats.org/drawingml/2006/main">
            <a:off x="502920" y="5989320"/>
            <a:ext cx="429768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Pulse points of the body</a:t>
            </a:r>
            <a:endParaRPr sz="1100"/>
          </a:p>
        </p:txBody>
      </p:sp>
      <p:sp>
        <p:nvSpPr>
          <p:cNvPr id="7" name="Text 4">
            <a:extLst xmlns:a="http://schemas.openxmlformats.org/drawingml/2006/main">
              <a:ext uri="{FF2B5EF4-FFF2-40B4-BE49-F238E27FC236}">
                <a16:creationId xmlns:a16="http://schemas.microsoft.com/office/drawing/2014/main" id="{68ECD460-DE5D-4E6F-B641-B0B735AC8973}"/>
              </a:ext>
            </a:extLst>
          </p:cNvPr>
          <p:cNvSpPr>
            <a:spLocks xmlns:a="http://schemas.openxmlformats.org/drawingml/2006/main" noGrp="1"/>
          </p:cNvSpPr>
          <p:nvPr/>
        </p:nvSpPr>
        <p:spPr>
          <a:xfrm xmlns:a="http://schemas.openxmlformats.org/drawingml/2006/main">
            <a:off x="5074920" y="1828800"/>
            <a:ext cx="6583680" cy="40233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Pulse = artery expanding with each beat</a:t>
            </a:r>
            <a:endParaRPr sz="1600"/>
          </a:p>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Felt where arteries are near the surface</a:t>
            </a:r>
            <a:endParaRPr sz="1600"/>
          </a:p>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Common sites: radial, carotid, femoral</a:t>
            </a:r>
            <a:endParaRPr sz="1600"/>
          </a:p>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Used to assess rate and rhythm</a:t>
            </a:r>
            <a:endParaRPr sz="1600"/>
          </a:p>
        </p:txBody>
      </p:sp>
      <p:sp>
        <p:nvSpPr>
          <p:cNvPr id="9" name="Text 5">
            <a:extLst xmlns:a="http://schemas.openxmlformats.org/drawingml/2006/main">
              <a:ext uri="{FF2B5EF4-FFF2-40B4-BE49-F238E27FC236}">
                <a16:creationId xmlns:a16="http://schemas.microsoft.com/office/drawing/2014/main" id="{66EDA35B-25C2-4347-B415-837977A9416C}"/>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20 — Blood Vessels and Circulation</a:t>
            </a:r>
            <a:endParaRPr sz="900"/>
          </a:p>
        </p:txBody>
      </p:sp>
      <p:sp>
        <p:nvSpPr>
          <p:cNvPr id="10" name="Text 6">
            <a:extLst xmlns:a="http://schemas.openxmlformats.org/drawingml/2006/main">
              <a:ext uri="{FF2B5EF4-FFF2-40B4-BE49-F238E27FC236}">
                <a16:creationId xmlns:a16="http://schemas.microsoft.com/office/drawing/2014/main" id="{91BC88B9-F4F7-4BCA-A538-E35FD71AAD5F}"/>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9</a:t>
            </a:r>
            <a:endParaRPr sz="900"/>
          </a:p>
        </p:txBody>
      </p:sp>
    </p:spTree>
    <p:extLst>
      <p:ext uri="{BB962C8B-B14F-4D97-AF65-F5344CB8AC3E}">
        <p14:creationId xmlns:p14="http://schemas.microsoft.com/office/powerpoint/2010/main" val="214243209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1292CCE-4FF7-421F-86DE-F842BFF7194A}"/>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20.2</a:t>
            </a:r>
            <a:endParaRPr sz="1200"/>
          </a:p>
        </p:txBody>
      </p:sp>
      <p:sp>
        <p:nvSpPr>
          <p:cNvPr id="3" name="Text 1">
            <a:extLst xmlns:a="http://schemas.openxmlformats.org/drawingml/2006/main">
              <a:ext uri="{FF2B5EF4-FFF2-40B4-BE49-F238E27FC236}">
                <a16:creationId xmlns:a16="http://schemas.microsoft.com/office/drawing/2014/main" id="{80B31E8E-91C0-43AC-9630-309ADF58ABE8}"/>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Measuring Blood Pressure</a:t>
            </a:r>
            <a:endParaRPr sz="2800"/>
          </a:p>
        </p:txBody>
      </p:sp>
      <p:sp>
        <p:nvSpPr>
          <p:cNvPr id="4" name="Shape 2">
            <a:extLst xmlns:a="http://schemas.openxmlformats.org/drawingml/2006/main">
              <a:ext uri="{FF2B5EF4-FFF2-40B4-BE49-F238E27FC236}">
                <a16:creationId xmlns:a16="http://schemas.microsoft.com/office/drawing/2014/main" id="{1E17171C-75C1-4D9B-BC5B-0F18A55684F4}"/>
              </a:ext>
            </a:extLst>
          </p:cNvPr>
          <p:cNvSpPr>
            <a:spLocks xmlns:a="http://schemas.openxmlformats.org/drawingml/2006/main" noGrp="1"/>
          </p:cNvSpPr>
          <p:nvPr/>
        </p:nvSpPr>
        <p:spPr>
          <a:xfrm xmlns:a="http://schemas.openxmlformats.org/drawingml/2006/main">
            <a:off x="3157698" y="1289304"/>
            <a:ext cx="5891845" cy="3730752"/>
          </a:xfrm>
          <a:prstGeom xmlns:a="http://schemas.openxmlformats.org/drawingml/2006/main" prst="roundRect">
            <a:avLst>
              <a:gd name="adj" fmla="val 1471"/>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e20134543c82425b"/>
          <a:stretch xmlns:a="http://schemas.openxmlformats.org/drawingml/2006/main">
            <a:fillRect l="0" t="0" r="0" b="0"/>
          </a:stretch>
        </p:blipFill>
        <p:spPr>
          <a:xfrm xmlns:a="http://schemas.openxmlformats.org/drawingml/2006/main">
            <a:off x="3239994" y="1371600"/>
            <a:ext cx="5727253" cy="356616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21AE3BF6-BE55-44EB-9608-C554CBC881CA}"/>
              </a:ext>
            </a:extLst>
          </p:cNvPr>
          <p:cNvSpPr>
            <a:spLocks xmlns:a="http://schemas.openxmlformats.org/drawingml/2006/main" noGrp="1"/>
          </p:cNvSpPr>
          <p:nvPr/>
        </p:nvSpPr>
        <p:spPr>
          <a:xfrm xmlns:a="http://schemas.openxmlformats.org/drawingml/2006/main">
            <a:off x="640080" y="4983480"/>
            <a:ext cx="1092708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Measuring arterial blood pressure</a:t>
            </a:r>
            <a:endParaRPr sz="1100"/>
          </a:p>
        </p:txBody>
      </p:sp>
      <p:sp>
        <p:nvSpPr>
          <p:cNvPr id="7" name="Text 4">
            <a:extLst xmlns:a="http://schemas.openxmlformats.org/drawingml/2006/main">
              <a:ext uri="{FF2B5EF4-FFF2-40B4-BE49-F238E27FC236}">
                <a16:creationId xmlns:a16="http://schemas.microsoft.com/office/drawing/2014/main" id="{096569BB-56ED-4287-AF8F-583FABCD2839}"/>
              </a:ext>
            </a:extLst>
          </p:cNvPr>
          <p:cNvSpPr>
            <a:spLocks xmlns:a="http://schemas.openxmlformats.org/drawingml/2006/main" noGrp="1"/>
          </p:cNvSpPr>
          <p:nvPr/>
        </p:nvSpPr>
        <p:spPr>
          <a:xfrm xmlns:a="http://schemas.openxmlformats.org/drawingml/2006/main">
            <a:off x="731520" y="5349240"/>
            <a:ext cx="5349240" cy="10972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Measured with a cuff (sphygmomanometer)</a:t>
            </a:r>
            <a:endParaRPr sz="1300"/>
          </a:p>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Systolic over diastolic</a:t>
            </a:r>
            <a:endParaRPr sz="1300"/>
          </a:p>
        </p:txBody>
      </p:sp>
      <p:sp>
        <p:nvSpPr>
          <p:cNvPr id="8" name="Text 5">
            <a:extLst xmlns:a="http://schemas.openxmlformats.org/drawingml/2006/main">
              <a:ext uri="{FF2B5EF4-FFF2-40B4-BE49-F238E27FC236}">
                <a16:creationId xmlns:a16="http://schemas.microsoft.com/office/drawing/2014/main" id="{67A8045C-7A65-4AFE-BF47-BC363D1E678D}"/>
              </a:ext>
            </a:extLst>
          </p:cNvPr>
          <p:cNvSpPr>
            <a:spLocks xmlns:a="http://schemas.openxmlformats.org/drawingml/2006/main" noGrp="1"/>
          </p:cNvSpPr>
          <p:nvPr/>
        </p:nvSpPr>
        <p:spPr>
          <a:xfrm xmlns:a="http://schemas.openxmlformats.org/drawingml/2006/main">
            <a:off x="6263640" y="5349240"/>
            <a:ext cx="5349240" cy="10972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Normal about 120/80 mmHg</a:t>
            </a:r>
            <a:endParaRPr sz="1300"/>
          </a:p>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A key vital sign</a:t>
            </a:r>
            <a:endParaRPr sz="1300"/>
          </a:p>
        </p:txBody>
      </p:sp>
      <p:sp>
        <p:nvSpPr>
          <p:cNvPr id="10" name="Text 6">
            <a:extLst xmlns:a="http://schemas.openxmlformats.org/drawingml/2006/main">
              <a:ext uri="{FF2B5EF4-FFF2-40B4-BE49-F238E27FC236}">
                <a16:creationId xmlns:a16="http://schemas.microsoft.com/office/drawing/2014/main" id="{66B4670B-4CEA-430C-8A9A-9925DC2E2C49}"/>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20 — Blood Vessels and Circulation</a:t>
            </a:r>
            <a:endParaRPr sz="900"/>
          </a:p>
        </p:txBody>
      </p:sp>
      <p:sp>
        <p:nvSpPr>
          <p:cNvPr id="11" name="Text 7">
            <a:extLst xmlns:a="http://schemas.openxmlformats.org/drawingml/2006/main">
              <a:ext uri="{FF2B5EF4-FFF2-40B4-BE49-F238E27FC236}">
                <a16:creationId xmlns:a16="http://schemas.microsoft.com/office/drawing/2014/main" id="{29399FAF-5E84-4A6D-8F54-E1B4409317F1}"/>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10</a:t>
            </a:r>
            <a:endParaRPr sz="900"/>
          </a:p>
        </p:txBody>
      </p:sp>
    </p:spTree>
    <p:extLst>
      <p:ext uri="{BB962C8B-B14F-4D97-AF65-F5344CB8AC3E}">
        <p14:creationId xmlns:p14="http://schemas.microsoft.com/office/powerpoint/2010/main" val="24344354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60E5563-A616-4151-8673-3AD6DA0C504C}"/>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20.2</a:t>
            </a:r>
            <a:endParaRPr sz="1200"/>
          </a:p>
        </p:txBody>
      </p:sp>
      <p:sp>
        <p:nvSpPr>
          <p:cNvPr id="3" name="Text 1">
            <a:extLst xmlns:a="http://schemas.openxmlformats.org/drawingml/2006/main">
              <a:ext uri="{FF2B5EF4-FFF2-40B4-BE49-F238E27FC236}">
                <a16:creationId xmlns:a16="http://schemas.microsoft.com/office/drawing/2014/main" id="{2F36A6E8-21D4-4CD2-B90A-76058E69727F}"/>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The Skeletal Muscle Pump</a:t>
            </a:r>
            <a:endParaRPr sz="2800"/>
          </a:p>
        </p:txBody>
      </p:sp>
      <p:sp>
        <p:nvSpPr>
          <p:cNvPr id="4" name="Text 2">
            <a:extLst xmlns:a="http://schemas.openxmlformats.org/drawingml/2006/main">
              <a:ext uri="{FF2B5EF4-FFF2-40B4-BE49-F238E27FC236}">
                <a16:creationId xmlns:a16="http://schemas.microsoft.com/office/drawing/2014/main" id="{D4214941-9C97-4B7B-B5D8-A89AECDB86FE}"/>
              </a:ext>
            </a:extLst>
          </p:cNvPr>
          <p:cNvSpPr>
            <a:spLocks xmlns:a="http://schemas.openxmlformats.org/drawingml/2006/main" noGrp="1"/>
          </p:cNvSpPr>
          <p:nvPr/>
        </p:nvSpPr>
        <p:spPr>
          <a:xfrm xmlns:a="http://schemas.openxmlformats.org/drawingml/2006/main">
            <a:off x="548640" y="1783080"/>
            <a:ext cx="4663440" cy="4206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Veins need help returning blood</a:t>
            </a:r>
            <a:endParaRPr sz="1500"/>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Contracting muscles squeeze veins</a:t>
            </a:r>
            <a:endParaRPr sz="1500"/>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Valves keep blood moving up</a:t>
            </a:r>
            <a:endParaRPr sz="1500"/>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Aids venous return to the heart</a:t>
            </a:r>
            <a:endParaRPr sz="1500"/>
          </a:p>
        </p:txBody>
      </p:sp>
      <p:sp>
        <p:nvSpPr>
          <p:cNvPr id="5" name="Shape 3">
            <a:extLst xmlns:a="http://schemas.openxmlformats.org/drawingml/2006/main">
              <a:ext uri="{FF2B5EF4-FFF2-40B4-BE49-F238E27FC236}">
                <a16:creationId xmlns:a16="http://schemas.microsoft.com/office/drawing/2014/main" id="{D1653B63-32F9-4336-BCCB-C81AA87541BD}"/>
              </a:ext>
            </a:extLst>
          </p:cNvPr>
          <p:cNvSpPr>
            <a:spLocks xmlns:a="http://schemas.openxmlformats.org/drawingml/2006/main" noGrp="1"/>
          </p:cNvSpPr>
          <p:nvPr/>
        </p:nvSpPr>
        <p:spPr>
          <a:xfrm xmlns:a="http://schemas.openxmlformats.org/drawingml/2006/main">
            <a:off x="5951752" y="1335024"/>
            <a:ext cx="5287216" cy="4645152"/>
          </a:xfrm>
          <a:prstGeom xmlns:a="http://schemas.openxmlformats.org/drawingml/2006/main" prst="roundRect">
            <a:avLst>
              <a:gd name="adj" fmla="val 1181"/>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79071583f7fc4f1a"/>
          <a:stretch xmlns:a="http://schemas.openxmlformats.org/drawingml/2006/main">
            <a:fillRect l="0" t="0" r="0" b="0"/>
          </a:stretch>
        </p:blipFill>
        <p:spPr>
          <a:xfrm xmlns:a="http://schemas.openxmlformats.org/drawingml/2006/main">
            <a:off x="6034048" y="1417320"/>
            <a:ext cx="5122624" cy="4480560"/>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D4D72FCC-67FB-4EBE-87BC-978BB39685C7}"/>
              </a:ext>
            </a:extLst>
          </p:cNvPr>
          <p:cNvSpPr>
            <a:spLocks xmlns:a="http://schemas.openxmlformats.org/drawingml/2006/main" noGrp="1"/>
          </p:cNvSpPr>
          <p:nvPr/>
        </p:nvSpPr>
        <p:spPr>
          <a:xfrm xmlns:a="http://schemas.openxmlformats.org/drawingml/2006/main">
            <a:off x="5486400" y="5943600"/>
            <a:ext cx="62179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The skeletal muscle pump</a:t>
            </a:r>
            <a:endParaRPr sz="1100"/>
          </a:p>
        </p:txBody>
      </p:sp>
      <p:sp>
        <p:nvSpPr>
          <p:cNvPr id="9" name="Text 5">
            <a:extLst xmlns:a="http://schemas.openxmlformats.org/drawingml/2006/main">
              <a:ext uri="{FF2B5EF4-FFF2-40B4-BE49-F238E27FC236}">
                <a16:creationId xmlns:a16="http://schemas.microsoft.com/office/drawing/2014/main" id="{BDDE8071-28AF-4DAC-86E6-0E918DD0E649}"/>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20 — Blood Vessels and Circulation</a:t>
            </a:r>
            <a:endParaRPr sz="900"/>
          </a:p>
        </p:txBody>
      </p:sp>
      <p:sp>
        <p:nvSpPr>
          <p:cNvPr id="10" name="Text 6">
            <a:extLst xmlns:a="http://schemas.openxmlformats.org/drawingml/2006/main">
              <a:ext uri="{FF2B5EF4-FFF2-40B4-BE49-F238E27FC236}">
                <a16:creationId xmlns:a16="http://schemas.microsoft.com/office/drawing/2014/main" id="{23AD5CF6-F54D-42E4-9F5F-A7338607862A}"/>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11</a:t>
            </a:r>
            <a:endParaRPr sz="900"/>
          </a:p>
        </p:txBody>
      </p:sp>
    </p:spTree>
    <p:extLst>
      <p:ext uri="{BB962C8B-B14F-4D97-AF65-F5344CB8AC3E}">
        <p14:creationId xmlns:p14="http://schemas.microsoft.com/office/powerpoint/2010/main" val="1061877148"/>
      </p:ext>
    </p:extLst>
  </p:cSld>
</p:sld>
</file>

<file path=ppt/slides/slide12.xml><?xml version="1.0" encoding="utf-8"?>
<p:sld xmlns:p="http://schemas.openxmlformats.org/presentationml/2006/main">
  <p:cSld>
    <p:bg>
      <p:bgPr>
        <a:solidFill xmlns:a="http://schemas.openxmlformats.org/drawingml/2006/main">
          <a:srgbClr val="0F4C5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78BE6F93-47D0-4A4F-9D99-6F50A8A15F9E}"/>
              </a:ext>
            </a:extLst>
          </p:cNvPr>
          <p:cNvSpPr>
            <a:spLocks xmlns:a="http://schemas.openxmlformats.org/drawingml/2006/main" noGrp="1"/>
          </p:cNvSpPr>
          <p:nvPr/>
        </p:nvSpPr>
        <p:spPr>
          <a:xfrm xmlns:a="http://schemas.openxmlformats.org/drawingml/2006/main">
            <a:off x="822960" y="2331720"/>
            <a:ext cx="2011680" cy="2011680"/>
          </a:xfrm>
          <a:prstGeom xmlns:a="http://schemas.openxmlformats.org/drawingml/2006/main" prst="ellipse">
            <a:avLst/>
          </a:prstGeom>
          <a:solidFill xmlns:a="http://schemas.openxmlformats.org/drawingml/2006/main">
            <a:srgbClr val="E36414"/>
          </a:solidFill>
        </p:spPr>
      </p:sp>
      <p:sp>
        <p:nvSpPr>
          <p:cNvPr id="3" name="Text 1">
            <a:extLst xmlns:a="http://schemas.openxmlformats.org/drawingml/2006/main">
              <a:ext uri="{FF2B5EF4-FFF2-40B4-BE49-F238E27FC236}">
                <a16:creationId xmlns:a16="http://schemas.microsoft.com/office/drawing/2014/main" id="{E3973397-2498-49F5-8841-5AD32CAC4280}"/>
              </a:ext>
            </a:extLst>
          </p:cNvPr>
          <p:cNvSpPr>
            <a:spLocks xmlns:a="http://schemas.openxmlformats.org/drawingml/2006/main" noGrp="1"/>
          </p:cNvSpPr>
          <p:nvPr/>
        </p:nvSpPr>
        <p:spPr>
          <a:xfrm xmlns:a="http://schemas.openxmlformats.org/drawingml/2006/main">
            <a:off x="822960" y="2331720"/>
            <a:ext cx="2011680" cy="20116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4400" b="1">
                <a:solidFill>
                  <a:srgbClr val="FFFFFF"/>
                </a:solidFill>
                <a:latin typeface="Georgia"/>
                <a:ea typeface="Georgia"/>
                <a:cs typeface="Georgia"/>
              </a:rPr>
              <a:t>20.3</a:t>
            </a:r>
            <a:endParaRPr sz="4400"/>
          </a:p>
        </p:txBody>
      </p:sp>
      <p:sp>
        <p:nvSpPr>
          <p:cNvPr id="4" name="Text 2">
            <a:extLst xmlns:a="http://schemas.openxmlformats.org/drawingml/2006/main">
              <a:ext uri="{FF2B5EF4-FFF2-40B4-BE49-F238E27FC236}">
                <a16:creationId xmlns:a16="http://schemas.microsoft.com/office/drawing/2014/main" id="{30FA167B-FCD1-4CDB-BFBE-B9AA0DB8F24E}"/>
              </a:ext>
            </a:extLst>
          </p:cNvPr>
          <p:cNvSpPr>
            <a:spLocks xmlns:a="http://schemas.openxmlformats.org/drawingml/2006/main" noGrp="1"/>
          </p:cNvSpPr>
          <p:nvPr/>
        </p:nvSpPr>
        <p:spPr>
          <a:xfrm xmlns:a="http://schemas.openxmlformats.org/drawingml/2006/main">
            <a:off x="3200400" y="2468880"/>
            <a:ext cx="7315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9FC2C9"/>
                </a:solidFill>
                <a:latin typeface="Calibri"/>
                <a:ea typeface="Calibri"/>
                <a:cs typeface="Calibri"/>
              </a:rPr>
              <a:t>SECTION</a:t>
            </a:r>
            <a:endParaRPr sz="1400"/>
          </a:p>
        </p:txBody>
      </p:sp>
      <p:sp>
        <p:nvSpPr>
          <p:cNvPr id="5" name="Text 3">
            <a:extLst xmlns:a="http://schemas.openxmlformats.org/drawingml/2006/main">
              <a:ext uri="{FF2B5EF4-FFF2-40B4-BE49-F238E27FC236}">
                <a16:creationId xmlns:a16="http://schemas.microsoft.com/office/drawing/2014/main" id="{9D6ADA34-6537-4CED-AF60-39E03C34A231}"/>
              </a:ext>
            </a:extLst>
          </p:cNvPr>
          <p:cNvSpPr>
            <a:spLocks xmlns:a="http://schemas.openxmlformats.org/drawingml/2006/main" noGrp="1"/>
          </p:cNvSpPr>
          <p:nvPr/>
        </p:nvSpPr>
        <p:spPr>
          <a:xfrm xmlns:a="http://schemas.openxmlformats.org/drawingml/2006/main">
            <a:off x="3154680" y="2788920"/>
            <a:ext cx="8412480" cy="14630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3000" b="1">
                <a:solidFill>
                  <a:srgbClr val="FFFFFF"/>
                </a:solidFill>
                <a:latin typeface="Georgia"/>
                <a:ea typeface="Georgia"/>
                <a:cs typeface="Georgia"/>
              </a:rPr>
              <a:t>Capillary Exchange</a:t>
            </a:r>
            <a:endParaRPr sz="3000"/>
          </a:p>
        </p:txBody>
      </p:sp>
      <p:sp>
        <p:nvSpPr>
          <p:cNvPr id="6" name="Text 4">
            <a:extLst xmlns:a="http://schemas.openxmlformats.org/drawingml/2006/main">
              <a:ext uri="{FF2B5EF4-FFF2-40B4-BE49-F238E27FC236}">
                <a16:creationId xmlns:a16="http://schemas.microsoft.com/office/drawing/2014/main" id="{1FC2367F-3A79-47C3-9AF7-8B464740C83D}"/>
              </a:ext>
            </a:extLst>
          </p:cNvPr>
          <p:cNvSpPr>
            <a:spLocks xmlns:a="http://schemas.openxmlformats.org/drawingml/2006/main" noGrp="1"/>
          </p:cNvSpPr>
          <p:nvPr/>
        </p:nvSpPr>
        <p:spPr>
          <a:xfrm xmlns:a="http://schemas.openxmlformats.org/drawingml/2006/main">
            <a:off x="3200400" y="4160520"/>
            <a:ext cx="813816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0000"/>
              </a:lnSpc>
              <a:buNone/>
            </a:pPr>
            <a:r>
              <a:rPr sz="1500">
                <a:solidFill>
                  <a:srgbClr val="CFE3E7"/>
                </a:solidFill>
                <a:latin typeface="Calibri"/>
                <a:ea typeface="Calibri"/>
                <a:cs typeface="Calibri"/>
              </a:rPr>
              <a:t>Capillary exchange — where blood serves the tissues.</a:t>
            </a:r>
            <a:endParaRPr sz="1500"/>
          </a:p>
        </p:txBody>
      </p:sp>
    </p:spTree>
    <p:extLst>
      <p:ext uri="{BB962C8B-B14F-4D97-AF65-F5344CB8AC3E}">
        <p14:creationId xmlns:p14="http://schemas.microsoft.com/office/powerpoint/2010/main" val="65034884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DFDA13B-18B5-4D62-B5FC-3747C0A17293}"/>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20.3</a:t>
            </a:r>
            <a:endParaRPr sz="1200"/>
          </a:p>
        </p:txBody>
      </p:sp>
      <p:sp>
        <p:nvSpPr>
          <p:cNvPr id="3" name="Text 1">
            <a:extLst xmlns:a="http://schemas.openxmlformats.org/drawingml/2006/main">
              <a:ext uri="{FF2B5EF4-FFF2-40B4-BE49-F238E27FC236}">
                <a16:creationId xmlns:a16="http://schemas.microsoft.com/office/drawing/2014/main" id="{F840A721-5ED9-4622-9A12-D1AE16265FAD}"/>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Capillary Exchange</a:t>
            </a:r>
            <a:endParaRPr sz="2800"/>
          </a:p>
        </p:txBody>
      </p:sp>
      <p:sp>
        <p:nvSpPr>
          <p:cNvPr id="4" name="Shape 2">
            <a:extLst xmlns:a="http://schemas.openxmlformats.org/drawingml/2006/main">
              <a:ext uri="{FF2B5EF4-FFF2-40B4-BE49-F238E27FC236}">
                <a16:creationId xmlns:a16="http://schemas.microsoft.com/office/drawing/2014/main" id="{F0196DEE-5E10-49F9-88F0-8B142E4DF3AD}"/>
              </a:ext>
            </a:extLst>
          </p:cNvPr>
          <p:cNvSpPr>
            <a:spLocks xmlns:a="http://schemas.openxmlformats.org/drawingml/2006/main" noGrp="1"/>
          </p:cNvSpPr>
          <p:nvPr/>
        </p:nvSpPr>
        <p:spPr>
          <a:xfrm xmlns:a="http://schemas.openxmlformats.org/drawingml/2006/main">
            <a:off x="2195013" y="1289304"/>
            <a:ext cx="7817215" cy="3730752"/>
          </a:xfrm>
          <a:prstGeom xmlns:a="http://schemas.openxmlformats.org/drawingml/2006/main" prst="roundRect">
            <a:avLst>
              <a:gd name="adj" fmla="val 1471"/>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d472942af022451c"/>
          <a:stretch xmlns:a="http://schemas.openxmlformats.org/drawingml/2006/main">
            <a:fillRect l="0" t="0" r="0" b="0"/>
          </a:stretch>
        </p:blipFill>
        <p:spPr>
          <a:xfrm xmlns:a="http://schemas.openxmlformats.org/drawingml/2006/main">
            <a:off x="2277309" y="1371600"/>
            <a:ext cx="7652623" cy="356616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F60C2B72-BFB1-425C-AD04-3BBADD735FA6}"/>
              </a:ext>
            </a:extLst>
          </p:cNvPr>
          <p:cNvSpPr>
            <a:spLocks xmlns:a="http://schemas.openxmlformats.org/drawingml/2006/main" noGrp="1"/>
          </p:cNvSpPr>
          <p:nvPr/>
        </p:nvSpPr>
        <p:spPr>
          <a:xfrm xmlns:a="http://schemas.openxmlformats.org/drawingml/2006/main">
            <a:off x="640080" y="4983480"/>
            <a:ext cx="1092708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Fluid exchange at the capillary</a:t>
            </a:r>
            <a:endParaRPr sz="1100"/>
          </a:p>
        </p:txBody>
      </p:sp>
      <p:sp>
        <p:nvSpPr>
          <p:cNvPr id="7" name="Text 4">
            <a:extLst xmlns:a="http://schemas.openxmlformats.org/drawingml/2006/main">
              <a:ext uri="{FF2B5EF4-FFF2-40B4-BE49-F238E27FC236}">
                <a16:creationId xmlns:a16="http://schemas.microsoft.com/office/drawing/2014/main" id="{E34C4BE5-0522-4201-A437-E04080163905}"/>
              </a:ext>
            </a:extLst>
          </p:cNvPr>
          <p:cNvSpPr>
            <a:spLocks xmlns:a="http://schemas.openxmlformats.org/drawingml/2006/main" noGrp="1"/>
          </p:cNvSpPr>
          <p:nvPr/>
        </p:nvSpPr>
        <p:spPr>
          <a:xfrm xmlns:a="http://schemas.openxmlformats.org/drawingml/2006/main">
            <a:off x="731520" y="5349240"/>
            <a:ext cx="5349240" cy="10972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Materials cross the thin capillary wall</a:t>
            </a:r>
            <a:endParaRPr sz="1300"/>
          </a:p>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Pressure pushes fluid out (filtration)</a:t>
            </a:r>
            <a:endParaRPr sz="1300"/>
          </a:p>
        </p:txBody>
      </p:sp>
      <p:sp>
        <p:nvSpPr>
          <p:cNvPr id="8" name="Text 5">
            <a:extLst xmlns:a="http://schemas.openxmlformats.org/drawingml/2006/main">
              <a:ext uri="{FF2B5EF4-FFF2-40B4-BE49-F238E27FC236}">
                <a16:creationId xmlns:a16="http://schemas.microsoft.com/office/drawing/2014/main" id="{1AD4B5B5-4A47-4D90-B98F-D522683F9C6B}"/>
              </a:ext>
            </a:extLst>
          </p:cNvPr>
          <p:cNvSpPr>
            <a:spLocks xmlns:a="http://schemas.openxmlformats.org/drawingml/2006/main" noGrp="1"/>
          </p:cNvSpPr>
          <p:nvPr/>
        </p:nvSpPr>
        <p:spPr>
          <a:xfrm xmlns:a="http://schemas.openxmlformats.org/drawingml/2006/main">
            <a:off x="6263640" y="5349240"/>
            <a:ext cx="5349240" cy="10972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Osmosis pulls fluid back (reabsorption)</a:t>
            </a:r>
            <a:endParaRPr sz="1300"/>
          </a:p>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Delivers nutrients, removes wastes</a:t>
            </a:r>
            <a:endParaRPr sz="1300"/>
          </a:p>
        </p:txBody>
      </p:sp>
      <p:sp>
        <p:nvSpPr>
          <p:cNvPr id="10" name="Text 6">
            <a:extLst xmlns:a="http://schemas.openxmlformats.org/drawingml/2006/main">
              <a:ext uri="{FF2B5EF4-FFF2-40B4-BE49-F238E27FC236}">
                <a16:creationId xmlns:a16="http://schemas.microsoft.com/office/drawing/2014/main" id="{5764C681-E83E-4D6A-A6EC-CCBF9147B856}"/>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20 — Blood Vessels and Circulation</a:t>
            </a:r>
            <a:endParaRPr sz="900"/>
          </a:p>
        </p:txBody>
      </p:sp>
      <p:sp>
        <p:nvSpPr>
          <p:cNvPr id="11" name="Text 7">
            <a:extLst xmlns:a="http://schemas.openxmlformats.org/drawingml/2006/main">
              <a:ext uri="{FF2B5EF4-FFF2-40B4-BE49-F238E27FC236}">
                <a16:creationId xmlns:a16="http://schemas.microsoft.com/office/drawing/2014/main" id="{7183B330-225A-4981-9D4A-86E84410A7D3}"/>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13</a:t>
            </a:r>
            <a:endParaRPr sz="900"/>
          </a:p>
        </p:txBody>
      </p:sp>
    </p:spTree>
    <p:extLst>
      <p:ext uri="{BB962C8B-B14F-4D97-AF65-F5344CB8AC3E}">
        <p14:creationId xmlns:p14="http://schemas.microsoft.com/office/powerpoint/2010/main" val="1455275165"/>
      </p:ext>
    </p:extLst>
  </p:cSld>
</p:sld>
</file>

<file path=ppt/slides/slide14.xml><?xml version="1.0" encoding="utf-8"?>
<p:sld xmlns:p="http://schemas.openxmlformats.org/presentationml/2006/main">
  <p:cSld>
    <p:bg>
      <p:bgPr>
        <a:solidFill xmlns:a="http://schemas.openxmlformats.org/drawingml/2006/main">
          <a:srgbClr val="0F4C5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146BD804-9465-4BF2-8BBD-177FA36011D0}"/>
              </a:ext>
            </a:extLst>
          </p:cNvPr>
          <p:cNvSpPr>
            <a:spLocks xmlns:a="http://schemas.openxmlformats.org/drawingml/2006/main" noGrp="1"/>
          </p:cNvSpPr>
          <p:nvPr/>
        </p:nvSpPr>
        <p:spPr>
          <a:xfrm xmlns:a="http://schemas.openxmlformats.org/drawingml/2006/main">
            <a:off x="822960" y="2331720"/>
            <a:ext cx="2011680" cy="2011680"/>
          </a:xfrm>
          <a:prstGeom xmlns:a="http://schemas.openxmlformats.org/drawingml/2006/main" prst="ellipse">
            <a:avLst/>
          </a:prstGeom>
          <a:solidFill xmlns:a="http://schemas.openxmlformats.org/drawingml/2006/main">
            <a:srgbClr val="E36414"/>
          </a:solidFill>
        </p:spPr>
      </p:sp>
      <p:sp>
        <p:nvSpPr>
          <p:cNvPr id="3" name="Text 1">
            <a:extLst xmlns:a="http://schemas.openxmlformats.org/drawingml/2006/main">
              <a:ext uri="{FF2B5EF4-FFF2-40B4-BE49-F238E27FC236}">
                <a16:creationId xmlns:a16="http://schemas.microsoft.com/office/drawing/2014/main" id="{6E8D7CFF-5DDA-4938-8870-F09E47D1996A}"/>
              </a:ext>
            </a:extLst>
          </p:cNvPr>
          <p:cNvSpPr>
            <a:spLocks xmlns:a="http://schemas.openxmlformats.org/drawingml/2006/main" noGrp="1"/>
          </p:cNvSpPr>
          <p:nvPr/>
        </p:nvSpPr>
        <p:spPr>
          <a:xfrm xmlns:a="http://schemas.openxmlformats.org/drawingml/2006/main">
            <a:off x="822960" y="2331720"/>
            <a:ext cx="2011680" cy="20116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4400" b="1">
                <a:solidFill>
                  <a:srgbClr val="FFFFFF"/>
                </a:solidFill>
                <a:latin typeface="Georgia"/>
                <a:ea typeface="Georgia"/>
                <a:cs typeface="Georgia"/>
              </a:rPr>
              <a:t>20.5</a:t>
            </a:r>
            <a:endParaRPr sz="4400"/>
          </a:p>
        </p:txBody>
      </p:sp>
      <p:sp>
        <p:nvSpPr>
          <p:cNvPr id="4" name="Text 2">
            <a:extLst xmlns:a="http://schemas.openxmlformats.org/drawingml/2006/main">
              <a:ext uri="{FF2B5EF4-FFF2-40B4-BE49-F238E27FC236}">
                <a16:creationId xmlns:a16="http://schemas.microsoft.com/office/drawing/2014/main" id="{EAAFF36B-B444-4869-BBA0-9AC6427B20B9}"/>
              </a:ext>
            </a:extLst>
          </p:cNvPr>
          <p:cNvSpPr>
            <a:spLocks xmlns:a="http://schemas.openxmlformats.org/drawingml/2006/main" noGrp="1"/>
          </p:cNvSpPr>
          <p:nvPr/>
        </p:nvSpPr>
        <p:spPr>
          <a:xfrm xmlns:a="http://schemas.openxmlformats.org/drawingml/2006/main">
            <a:off x="3200400" y="2468880"/>
            <a:ext cx="7315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9FC2C9"/>
                </a:solidFill>
                <a:latin typeface="Calibri"/>
                <a:ea typeface="Calibri"/>
                <a:cs typeface="Calibri"/>
              </a:rPr>
              <a:t>SECTION</a:t>
            </a:r>
            <a:endParaRPr sz="1400"/>
          </a:p>
        </p:txBody>
      </p:sp>
      <p:sp>
        <p:nvSpPr>
          <p:cNvPr id="5" name="Text 3">
            <a:extLst xmlns:a="http://schemas.openxmlformats.org/drawingml/2006/main">
              <a:ext uri="{FF2B5EF4-FFF2-40B4-BE49-F238E27FC236}">
                <a16:creationId xmlns:a16="http://schemas.microsoft.com/office/drawing/2014/main" id="{F4ABDB54-5570-43AF-B620-853AF179E65C}"/>
              </a:ext>
            </a:extLst>
          </p:cNvPr>
          <p:cNvSpPr>
            <a:spLocks xmlns:a="http://schemas.openxmlformats.org/drawingml/2006/main" noGrp="1"/>
          </p:cNvSpPr>
          <p:nvPr/>
        </p:nvSpPr>
        <p:spPr>
          <a:xfrm xmlns:a="http://schemas.openxmlformats.org/drawingml/2006/main">
            <a:off x="3154680" y="2788920"/>
            <a:ext cx="8412480" cy="14630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3000" b="1">
                <a:solidFill>
                  <a:srgbClr val="FFFFFF"/>
                </a:solidFill>
                <a:latin typeface="Georgia"/>
                <a:ea typeface="Georgia"/>
                <a:cs typeface="Georgia"/>
              </a:rPr>
              <a:t>Circulatory Pathways</a:t>
            </a:r>
            <a:endParaRPr sz="3000"/>
          </a:p>
        </p:txBody>
      </p:sp>
      <p:sp>
        <p:nvSpPr>
          <p:cNvPr id="6" name="Text 4">
            <a:extLst xmlns:a="http://schemas.openxmlformats.org/drawingml/2006/main">
              <a:ext uri="{FF2B5EF4-FFF2-40B4-BE49-F238E27FC236}">
                <a16:creationId xmlns:a16="http://schemas.microsoft.com/office/drawing/2014/main" id="{58BF938F-A0BE-4038-AA49-D0554A835873}"/>
              </a:ext>
            </a:extLst>
          </p:cNvPr>
          <p:cNvSpPr>
            <a:spLocks xmlns:a="http://schemas.openxmlformats.org/drawingml/2006/main" noGrp="1"/>
          </p:cNvSpPr>
          <p:nvPr/>
        </p:nvSpPr>
        <p:spPr>
          <a:xfrm xmlns:a="http://schemas.openxmlformats.org/drawingml/2006/main">
            <a:off x="3200400" y="4160520"/>
            <a:ext cx="813816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0000"/>
              </a:lnSpc>
              <a:buNone/>
            </a:pPr>
            <a:r>
              <a:rPr sz="1500">
                <a:solidFill>
                  <a:srgbClr val="CFE3E7"/>
                </a:solidFill>
                <a:latin typeface="Calibri"/>
                <a:ea typeface="Calibri"/>
                <a:cs typeface="Calibri"/>
              </a:rPr>
              <a:t>The major arteries, veins, and circulatory pathways.</a:t>
            </a:r>
            <a:endParaRPr sz="1500"/>
          </a:p>
        </p:txBody>
      </p:sp>
    </p:spTree>
    <p:extLst>
      <p:ext uri="{BB962C8B-B14F-4D97-AF65-F5344CB8AC3E}">
        <p14:creationId xmlns:p14="http://schemas.microsoft.com/office/powerpoint/2010/main" val="148373998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0E2EA34-7615-4CA0-9752-C4DDDFFBFD9B}"/>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20.5</a:t>
            </a:r>
            <a:endParaRPr sz="1200"/>
          </a:p>
        </p:txBody>
      </p:sp>
      <p:sp>
        <p:nvSpPr>
          <p:cNvPr id="3" name="Text 1">
            <a:extLst xmlns:a="http://schemas.openxmlformats.org/drawingml/2006/main">
              <a:ext uri="{FF2B5EF4-FFF2-40B4-BE49-F238E27FC236}">
                <a16:creationId xmlns:a16="http://schemas.microsoft.com/office/drawing/2014/main" id="{FD30A044-6C71-43AD-8DCE-F6CC26AAE044}"/>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Pulmonary &amp; Systemic Circuits</a:t>
            </a:r>
            <a:endParaRPr sz="2800"/>
          </a:p>
        </p:txBody>
      </p:sp>
      <p:sp>
        <p:nvSpPr>
          <p:cNvPr id="4" name="Shape 2">
            <a:extLst xmlns:a="http://schemas.openxmlformats.org/drawingml/2006/main">
              <a:ext uri="{FF2B5EF4-FFF2-40B4-BE49-F238E27FC236}">
                <a16:creationId xmlns:a16="http://schemas.microsoft.com/office/drawing/2014/main" id="{592BA818-CF0C-45D2-9FFA-C85F0668BBF8}"/>
              </a:ext>
            </a:extLst>
          </p:cNvPr>
          <p:cNvSpPr>
            <a:spLocks xmlns:a="http://schemas.openxmlformats.org/drawingml/2006/main" noGrp="1"/>
          </p:cNvSpPr>
          <p:nvPr/>
        </p:nvSpPr>
        <p:spPr>
          <a:xfrm xmlns:a="http://schemas.openxmlformats.org/drawingml/2006/main">
            <a:off x="2922153" y="1289304"/>
            <a:ext cx="6362935" cy="3730752"/>
          </a:xfrm>
          <a:prstGeom xmlns:a="http://schemas.openxmlformats.org/drawingml/2006/main" prst="roundRect">
            <a:avLst>
              <a:gd name="adj" fmla="val 1471"/>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2d45f893ed3c4f5b"/>
          <a:stretch xmlns:a="http://schemas.openxmlformats.org/drawingml/2006/main">
            <a:fillRect l="0" t="0" r="0" b="0"/>
          </a:stretch>
        </p:blipFill>
        <p:spPr>
          <a:xfrm xmlns:a="http://schemas.openxmlformats.org/drawingml/2006/main">
            <a:off x="3004449" y="1371600"/>
            <a:ext cx="6198343" cy="356616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6D62458F-B358-471A-96BB-49FD9AA11632}"/>
              </a:ext>
            </a:extLst>
          </p:cNvPr>
          <p:cNvSpPr>
            <a:spLocks xmlns:a="http://schemas.openxmlformats.org/drawingml/2006/main" noGrp="1"/>
          </p:cNvSpPr>
          <p:nvPr/>
        </p:nvSpPr>
        <p:spPr>
          <a:xfrm xmlns:a="http://schemas.openxmlformats.org/drawingml/2006/main">
            <a:off x="640080" y="4983480"/>
            <a:ext cx="1092708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The pulmonary and systemic circuits</a:t>
            </a:r>
            <a:endParaRPr sz="1100"/>
          </a:p>
        </p:txBody>
      </p:sp>
      <p:sp>
        <p:nvSpPr>
          <p:cNvPr id="7" name="Text 4">
            <a:extLst xmlns:a="http://schemas.openxmlformats.org/drawingml/2006/main">
              <a:ext uri="{FF2B5EF4-FFF2-40B4-BE49-F238E27FC236}">
                <a16:creationId xmlns:a16="http://schemas.microsoft.com/office/drawing/2014/main" id="{A6210F76-B039-4E89-A131-919EED702C82}"/>
              </a:ext>
            </a:extLst>
          </p:cNvPr>
          <p:cNvSpPr>
            <a:spLocks xmlns:a="http://schemas.openxmlformats.org/drawingml/2006/main" noGrp="1"/>
          </p:cNvSpPr>
          <p:nvPr/>
        </p:nvSpPr>
        <p:spPr>
          <a:xfrm xmlns:a="http://schemas.openxmlformats.org/drawingml/2006/main">
            <a:off x="731520" y="5349240"/>
            <a:ext cx="5349240" cy="10972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Two linked circuits</a:t>
            </a:r>
            <a:endParaRPr sz="1300"/>
          </a:p>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Pulmonary: heart ↔ lungs</a:t>
            </a:r>
            <a:endParaRPr sz="1300"/>
          </a:p>
        </p:txBody>
      </p:sp>
      <p:sp>
        <p:nvSpPr>
          <p:cNvPr id="8" name="Text 5">
            <a:extLst xmlns:a="http://schemas.openxmlformats.org/drawingml/2006/main">
              <a:ext uri="{FF2B5EF4-FFF2-40B4-BE49-F238E27FC236}">
                <a16:creationId xmlns:a16="http://schemas.microsoft.com/office/drawing/2014/main" id="{635EE1F5-3B27-4F3E-8524-85BF3C802C5A}"/>
              </a:ext>
            </a:extLst>
          </p:cNvPr>
          <p:cNvSpPr>
            <a:spLocks xmlns:a="http://schemas.openxmlformats.org/drawingml/2006/main" noGrp="1"/>
          </p:cNvSpPr>
          <p:nvPr/>
        </p:nvSpPr>
        <p:spPr>
          <a:xfrm xmlns:a="http://schemas.openxmlformats.org/drawingml/2006/main">
            <a:off x="6263640" y="5349240"/>
            <a:ext cx="5349240" cy="10972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Systemic: heart ↔ body</a:t>
            </a:r>
            <a:endParaRPr sz="1300"/>
          </a:p>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Run in series through the heart</a:t>
            </a:r>
            <a:endParaRPr sz="1300"/>
          </a:p>
        </p:txBody>
      </p:sp>
      <p:sp>
        <p:nvSpPr>
          <p:cNvPr id="10" name="Text 6">
            <a:extLst xmlns:a="http://schemas.openxmlformats.org/drawingml/2006/main">
              <a:ext uri="{FF2B5EF4-FFF2-40B4-BE49-F238E27FC236}">
                <a16:creationId xmlns:a16="http://schemas.microsoft.com/office/drawing/2014/main" id="{63A44148-8288-4D09-A959-7B504B7A0BB3}"/>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20 — Blood Vessels and Circulation</a:t>
            </a:r>
            <a:endParaRPr sz="900"/>
          </a:p>
        </p:txBody>
      </p:sp>
      <p:sp>
        <p:nvSpPr>
          <p:cNvPr id="11" name="Text 7">
            <a:extLst xmlns:a="http://schemas.openxmlformats.org/drawingml/2006/main">
              <a:ext uri="{FF2B5EF4-FFF2-40B4-BE49-F238E27FC236}">
                <a16:creationId xmlns:a16="http://schemas.microsoft.com/office/drawing/2014/main" id="{564415F6-5E6A-4CED-91CA-B0B5E627F9E2}"/>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15</a:t>
            </a:r>
            <a:endParaRPr sz="900"/>
          </a:p>
        </p:txBody>
      </p:sp>
    </p:spTree>
    <p:extLst>
      <p:ext uri="{BB962C8B-B14F-4D97-AF65-F5344CB8AC3E}">
        <p14:creationId xmlns:p14="http://schemas.microsoft.com/office/powerpoint/2010/main" val="64653499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2B2A3E0-3DD3-4382-917C-7A0B3C861A8D}"/>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20.5</a:t>
            </a:r>
            <a:endParaRPr sz="1200"/>
          </a:p>
        </p:txBody>
      </p:sp>
      <p:sp>
        <p:nvSpPr>
          <p:cNvPr id="3" name="Text 1">
            <a:extLst xmlns:a="http://schemas.openxmlformats.org/drawingml/2006/main">
              <a:ext uri="{FF2B5EF4-FFF2-40B4-BE49-F238E27FC236}">
                <a16:creationId xmlns:a16="http://schemas.microsoft.com/office/drawing/2014/main" id="{F21EE7D2-DC08-4B0E-B99B-A816D613C582}"/>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Major Arteries</a:t>
            </a:r>
            <a:endParaRPr sz="2800"/>
          </a:p>
        </p:txBody>
      </p:sp>
      <p:sp>
        <p:nvSpPr>
          <p:cNvPr id="4" name="Shape 2">
            <a:extLst xmlns:a="http://schemas.openxmlformats.org/drawingml/2006/main">
              <a:ext uri="{FF2B5EF4-FFF2-40B4-BE49-F238E27FC236}">
                <a16:creationId xmlns:a16="http://schemas.microsoft.com/office/drawing/2014/main" id="{F7918A8B-02B4-4290-B368-463573EC3CBF}"/>
              </a:ext>
            </a:extLst>
          </p:cNvPr>
          <p:cNvSpPr>
            <a:spLocks xmlns:a="http://schemas.openxmlformats.org/drawingml/2006/main" noGrp="1"/>
          </p:cNvSpPr>
          <p:nvPr/>
        </p:nvSpPr>
        <p:spPr>
          <a:xfrm xmlns:a="http://schemas.openxmlformats.org/drawingml/2006/main">
            <a:off x="1159688" y="1289304"/>
            <a:ext cx="2984144" cy="4736592"/>
          </a:xfrm>
          <a:prstGeom xmlns:a="http://schemas.openxmlformats.org/drawingml/2006/main" prst="roundRect">
            <a:avLst>
              <a:gd name="adj" fmla="val 1839"/>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5" name="Image 0"/>
          <p:cNvPicPr>
            <a:picLocks xmlns:a="http://schemas.openxmlformats.org/drawingml/2006/main" noChangeAspect="1"/>
          </p:cNvPicPr>
          <p:nvPr/>
        </p:nvPicPr>
        <p:blipFill>
          <a:blip xmlns:r="http://schemas.openxmlformats.org/officeDocument/2006/relationships" xmlns:a="http://schemas.openxmlformats.org/drawingml/2006/main" r:embed="Rdbc7d04873ba402b"/>
          <a:stretch xmlns:a="http://schemas.openxmlformats.org/drawingml/2006/main">
            <a:fillRect l="0" t="0" r="0" b="0"/>
          </a:stretch>
        </p:blipFill>
        <p:spPr>
          <a:xfrm xmlns:a="http://schemas.openxmlformats.org/drawingml/2006/main">
            <a:off x="1241984" y="1371600"/>
            <a:ext cx="2819552" cy="457200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9CA06DBB-69F5-484A-9E13-E7739D18B6C1}"/>
              </a:ext>
            </a:extLst>
          </p:cNvPr>
          <p:cNvSpPr>
            <a:spLocks xmlns:a="http://schemas.openxmlformats.org/drawingml/2006/main" noGrp="1"/>
          </p:cNvSpPr>
          <p:nvPr/>
        </p:nvSpPr>
        <p:spPr>
          <a:xfrm xmlns:a="http://schemas.openxmlformats.org/drawingml/2006/main">
            <a:off x="502920" y="5989320"/>
            <a:ext cx="429768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Major arteries of the body</a:t>
            </a:r>
            <a:endParaRPr sz="1100"/>
          </a:p>
        </p:txBody>
      </p:sp>
      <p:sp>
        <p:nvSpPr>
          <p:cNvPr id="7" name="Text 4">
            <a:extLst xmlns:a="http://schemas.openxmlformats.org/drawingml/2006/main">
              <a:ext uri="{FF2B5EF4-FFF2-40B4-BE49-F238E27FC236}">
                <a16:creationId xmlns:a16="http://schemas.microsoft.com/office/drawing/2014/main" id="{B99FE772-7343-4515-AE4F-C95910BB629E}"/>
              </a:ext>
            </a:extLst>
          </p:cNvPr>
          <p:cNvSpPr>
            <a:spLocks xmlns:a="http://schemas.openxmlformats.org/drawingml/2006/main" noGrp="1"/>
          </p:cNvSpPr>
          <p:nvPr/>
        </p:nvSpPr>
        <p:spPr>
          <a:xfrm xmlns:a="http://schemas.openxmlformats.org/drawingml/2006/main">
            <a:off x="5074920" y="1828800"/>
            <a:ext cx="6583680" cy="40233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Arteries carry blood from the heart</a:t>
            </a:r>
            <a:endParaRPr sz="1600"/>
          </a:p>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The aorta is the largest</a:t>
            </a:r>
            <a:endParaRPr sz="1600"/>
          </a:p>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Branches supply every region</a:t>
            </a:r>
            <a:endParaRPr sz="1600"/>
          </a:p>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Usually carry oxygen-rich blood</a:t>
            </a:r>
            <a:endParaRPr sz="1600"/>
          </a:p>
        </p:txBody>
      </p:sp>
      <p:sp>
        <p:nvSpPr>
          <p:cNvPr id="9" name="Text 5">
            <a:extLst xmlns:a="http://schemas.openxmlformats.org/drawingml/2006/main">
              <a:ext uri="{FF2B5EF4-FFF2-40B4-BE49-F238E27FC236}">
                <a16:creationId xmlns:a16="http://schemas.microsoft.com/office/drawing/2014/main" id="{AEF3F1FD-C9D1-4495-923A-626E705CC3EE}"/>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20 — Blood Vessels and Circulation</a:t>
            </a:r>
            <a:endParaRPr sz="900"/>
          </a:p>
        </p:txBody>
      </p:sp>
      <p:sp>
        <p:nvSpPr>
          <p:cNvPr id="10" name="Text 6">
            <a:extLst xmlns:a="http://schemas.openxmlformats.org/drawingml/2006/main">
              <a:ext uri="{FF2B5EF4-FFF2-40B4-BE49-F238E27FC236}">
                <a16:creationId xmlns:a16="http://schemas.microsoft.com/office/drawing/2014/main" id="{1498A987-B703-405D-A3FD-ECA8ECB8C8D1}"/>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16</a:t>
            </a:r>
            <a:endParaRPr sz="900"/>
          </a:p>
        </p:txBody>
      </p:sp>
    </p:spTree>
    <p:extLst>
      <p:ext uri="{BB962C8B-B14F-4D97-AF65-F5344CB8AC3E}">
        <p14:creationId xmlns:p14="http://schemas.microsoft.com/office/powerpoint/2010/main" val="30294370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DAD3C26-80E4-4865-9833-C0BAFB3BF3C9}"/>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20.5</a:t>
            </a:r>
            <a:endParaRPr sz="1200"/>
          </a:p>
        </p:txBody>
      </p:sp>
      <p:sp>
        <p:nvSpPr>
          <p:cNvPr id="3" name="Text 1">
            <a:extLst xmlns:a="http://schemas.openxmlformats.org/drawingml/2006/main">
              <a:ext uri="{FF2B5EF4-FFF2-40B4-BE49-F238E27FC236}">
                <a16:creationId xmlns:a16="http://schemas.microsoft.com/office/drawing/2014/main" id="{096C817B-F836-43D9-A650-8596921144D2}"/>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Major Veins</a:t>
            </a:r>
            <a:endParaRPr sz="2800"/>
          </a:p>
        </p:txBody>
      </p:sp>
      <p:sp>
        <p:nvSpPr>
          <p:cNvPr id="4" name="Text 2">
            <a:extLst xmlns:a="http://schemas.openxmlformats.org/drawingml/2006/main">
              <a:ext uri="{FF2B5EF4-FFF2-40B4-BE49-F238E27FC236}">
                <a16:creationId xmlns:a16="http://schemas.microsoft.com/office/drawing/2014/main" id="{AFBA448D-291E-455E-A486-FF8F4D0C74E1}"/>
              </a:ext>
            </a:extLst>
          </p:cNvPr>
          <p:cNvSpPr>
            <a:spLocks xmlns:a="http://schemas.openxmlformats.org/drawingml/2006/main" noGrp="1"/>
          </p:cNvSpPr>
          <p:nvPr/>
        </p:nvSpPr>
        <p:spPr>
          <a:xfrm xmlns:a="http://schemas.openxmlformats.org/drawingml/2006/main">
            <a:off x="548640" y="1783080"/>
            <a:ext cx="4663440" cy="4206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Veins return blood to the heart</a:t>
            </a:r>
            <a:endParaRPr sz="1500"/>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The venae cavae are the largest</a:t>
            </a:r>
            <a:endParaRPr sz="1500"/>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Drain every body region</a:t>
            </a:r>
            <a:endParaRPr sz="1500"/>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Usually carry oxygen-poor blood</a:t>
            </a:r>
            <a:endParaRPr sz="1500"/>
          </a:p>
        </p:txBody>
      </p:sp>
      <p:sp>
        <p:nvSpPr>
          <p:cNvPr id="5" name="Shape 3">
            <a:extLst xmlns:a="http://schemas.openxmlformats.org/drawingml/2006/main">
              <a:ext uri="{FF2B5EF4-FFF2-40B4-BE49-F238E27FC236}">
                <a16:creationId xmlns:a16="http://schemas.microsoft.com/office/drawing/2014/main" id="{AE601DEB-C67B-487B-82D4-68B4FCD82404}"/>
              </a:ext>
            </a:extLst>
          </p:cNvPr>
          <p:cNvSpPr>
            <a:spLocks xmlns:a="http://schemas.openxmlformats.org/drawingml/2006/main" noGrp="1"/>
          </p:cNvSpPr>
          <p:nvPr/>
        </p:nvSpPr>
        <p:spPr>
          <a:xfrm xmlns:a="http://schemas.openxmlformats.org/drawingml/2006/main">
            <a:off x="6045844" y="1335024"/>
            <a:ext cx="5099033" cy="4645152"/>
          </a:xfrm>
          <a:prstGeom xmlns:a="http://schemas.openxmlformats.org/drawingml/2006/main" prst="roundRect">
            <a:avLst>
              <a:gd name="adj" fmla="val 1181"/>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7a1a73a9055b4f99"/>
          <a:stretch xmlns:a="http://schemas.openxmlformats.org/drawingml/2006/main">
            <a:fillRect l="0" t="0" r="0" b="0"/>
          </a:stretch>
        </p:blipFill>
        <p:spPr>
          <a:xfrm xmlns:a="http://schemas.openxmlformats.org/drawingml/2006/main">
            <a:off x="6128140" y="1417320"/>
            <a:ext cx="4934441" cy="4480560"/>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270A79A0-792D-41C7-9BB6-9CED777B6671}"/>
              </a:ext>
            </a:extLst>
          </p:cNvPr>
          <p:cNvSpPr>
            <a:spLocks xmlns:a="http://schemas.openxmlformats.org/drawingml/2006/main" noGrp="1"/>
          </p:cNvSpPr>
          <p:nvPr/>
        </p:nvSpPr>
        <p:spPr>
          <a:xfrm xmlns:a="http://schemas.openxmlformats.org/drawingml/2006/main">
            <a:off x="5486400" y="5943600"/>
            <a:ext cx="62179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Major veins of the body</a:t>
            </a:r>
            <a:endParaRPr sz="1100"/>
          </a:p>
        </p:txBody>
      </p:sp>
      <p:sp>
        <p:nvSpPr>
          <p:cNvPr id="9" name="Text 5">
            <a:extLst xmlns:a="http://schemas.openxmlformats.org/drawingml/2006/main">
              <a:ext uri="{FF2B5EF4-FFF2-40B4-BE49-F238E27FC236}">
                <a16:creationId xmlns:a16="http://schemas.microsoft.com/office/drawing/2014/main" id="{B9864AD6-BB84-44B4-A94A-8333821165E4}"/>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20 — Blood Vessels and Circulation</a:t>
            </a:r>
            <a:endParaRPr sz="900"/>
          </a:p>
        </p:txBody>
      </p:sp>
      <p:sp>
        <p:nvSpPr>
          <p:cNvPr id="10" name="Text 6">
            <a:extLst xmlns:a="http://schemas.openxmlformats.org/drawingml/2006/main">
              <a:ext uri="{FF2B5EF4-FFF2-40B4-BE49-F238E27FC236}">
                <a16:creationId xmlns:a16="http://schemas.microsoft.com/office/drawing/2014/main" id="{A1FAE5FD-0D84-4006-A2E8-F50430EA6D21}"/>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17</a:t>
            </a:r>
            <a:endParaRPr sz="900"/>
          </a:p>
        </p:txBody>
      </p:sp>
    </p:spTree>
    <p:extLst>
      <p:ext uri="{BB962C8B-B14F-4D97-AF65-F5344CB8AC3E}">
        <p14:creationId xmlns:p14="http://schemas.microsoft.com/office/powerpoint/2010/main" val="1871309749"/>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F567B32-AF30-4366-8DA8-14E316753DA5}"/>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20.5</a:t>
            </a:r>
            <a:endParaRPr sz="1200"/>
          </a:p>
        </p:txBody>
      </p:sp>
      <p:sp>
        <p:nvSpPr>
          <p:cNvPr id="3" name="Text 1">
            <a:extLst xmlns:a="http://schemas.openxmlformats.org/drawingml/2006/main">
              <a:ext uri="{FF2B5EF4-FFF2-40B4-BE49-F238E27FC236}">
                <a16:creationId xmlns:a16="http://schemas.microsoft.com/office/drawing/2014/main" id="{20532EBC-7404-4F46-9245-26671196D102}"/>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The Hepatic Portal System</a:t>
            </a:r>
            <a:endParaRPr sz="2800"/>
          </a:p>
        </p:txBody>
      </p:sp>
      <p:sp>
        <p:nvSpPr>
          <p:cNvPr id="4" name="Shape 2">
            <a:extLst xmlns:a="http://schemas.openxmlformats.org/drawingml/2006/main">
              <a:ext uri="{FF2B5EF4-FFF2-40B4-BE49-F238E27FC236}">
                <a16:creationId xmlns:a16="http://schemas.microsoft.com/office/drawing/2014/main" id="{94842044-AD0A-4B7E-AED7-2DC3B6D96E20}"/>
              </a:ext>
            </a:extLst>
          </p:cNvPr>
          <p:cNvSpPr>
            <a:spLocks xmlns:a="http://schemas.openxmlformats.org/drawingml/2006/main" noGrp="1"/>
          </p:cNvSpPr>
          <p:nvPr/>
        </p:nvSpPr>
        <p:spPr>
          <a:xfrm xmlns:a="http://schemas.openxmlformats.org/drawingml/2006/main">
            <a:off x="3255410" y="1289304"/>
            <a:ext cx="5696419" cy="3730752"/>
          </a:xfrm>
          <a:prstGeom xmlns:a="http://schemas.openxmlformats.org/drawingml/2006/main" prst="roundRect">
            <a:avLst>
              <a:gd name="adj" fmla="val 1471"/>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0a2309da88454cbb"/>
          <a:stretch xmlns:a="http://schemas.openxmlformats.org/drawingml/2006/main">
            <a:fillRect l="0" t="0" r="0" b="0"/>
          </a:stretch>
        </p:blipFill>
        <p:spPr>
          <a:xfrm xmlns:a="http://schemas.openxmlformats.org/drawingml/2006/main">
            <a:off x="3337706" y="1371600"/>
            <a:ext cx="5531827" cy="356616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E9E17A07-7C58-47D7-8751-FCFF36B23A8E}"/>
              </a:ext>
            </a:extLst>
          </p:cNvPr>
          <p:cNvSpPr>
            <a:spLocks xmlns:a="http://schemas.openxmlformats.org/drawingml/2006/main" noGrp="1"/>
          </p:cNvSpPr>
          <p:nvPr/>
        </p:nvSpPr>
        <p:spPr>
          <a:xfrm xmlns:a="http://schemas.openxmlformats.org/drawingml/2006/main">
            <a:off x="640080" y="4983480"/>
            <a:ext cx="1092708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The hepatic portal system</a:t>
            </a:r>
            <a:endParaRPr sz="1100"/>
          </a:p>
        </p:txBody>
      </p:sp>
      <p:sp>
        <p:nvSpPr>
          <p:cNvPr id="7" name="Text 4">
            <a:extLst xmlns:a="http://schemas.openxmlformats.org/drawingml/2006/main">
              <a:ext uri="{FF2B5EF4-FFF2-40B4-BE49-F238E27FC236}">
                <a16:creationId xmlns:a16="http://schemas.microsoft.com/office/drawing/2014/main" id="{5E36D9E9-3E04-4242-90B4-90FB932262C0}"/>
              </a:ext>
            </a:extLst>
          </p:cNvPr>
          <p:cNvSpPr>
            <a:spLocks xmlns:a="http://schemas.openxmlformats.org/drawingml/2006/main" noGrp="1"/>
          </p:cNvSpPr>
          <p:nvPr/>
        </p:nvSpPr>
        <p:spPr>
          <a:xfrm xmlns:a="http://schemas.openxmlformats.org/drawingml/2006/main">
            <a:off x="731520" y="5349240"/>
            <a:ext cx="5349240" cy="10972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A special detour through the liver</a:t>
            </a:r>
            <a:endParaRPr sz="1300"/>
          </a:p>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Drains the digestive organs</a:t>
            </a:r>
            <a:endParaRPr sz="1300"/>
          </a:p>
        </p:txBody>
      </p:sp>
      <p:sp>
        <p:nvSpPr>
          <p:cNvPr id="8" name="Text 5">
            <a:extLst xmlns:a="http://schemas.openxmlformats.org/drawingml/2006/main">
              <a:ext uri="{FF2B5EF4-FFF2-40B4-BE49-F238E27FC236}">
                <a16:creationId xmlns:a16="http://schemas.microsoft.com/office/drawing/2014/main" id="{9B1508FF-D9F4-4AB1-8362-0B9392018033}"/>
              </a:ext>
            </a:extLst>
          </p:cNvPr>
          <p:cNvSpPr>
            <a:spLocks xmlns:a="http://schemas.openxmlformats.org/drawingml/2006/main" noGrp="1"/>
          </p:cNvSpPr>
          <p:nvPr/>
        </p:nvSpPr>
        <p:spPr>
          <a:xfrm xmlns:a="http://schemas.openxmlformats.org/drawingml/2006/main">
            <a:off x="6263640" y="5349240"/>
            <a:ext cx="5349240" cy="10972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Carries nutrient-rich blood to the liver</a:t>
            </a:r>
            <a:endParaRPr sz="1300"/>
          </a:p>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Liver processes it before circulation</a:t>
            </a:r>
            <a:endParaRPr sz="1300"/>
          </a:p>
        </p:txBody>
      </p:sp>
      <p:sp>
        <p:nvSpPr>
          <p:cNvPr id="10" name="Text 6">
            <a:extLst xmlns:a="http://schemas.openxmlformats.org/drawingml/2006/main">
              <a:ext uri="{FF2B5EF4-FFF2-40B4-BE49-F238E27FC236}">
                <a16:creationId xmlns:a16="http://schemas.microsoft.com/office/drawing/2014/main" id="{67BC6D0A-53F4-4514-A4A2-326D202EDF17}"/>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20 — Blood Vessels and Circulation</a:t>
            </a:r>
            <a:endParaRPr sz="900"/>
          </a:p>
        </p:txBody>
      </p:sp>
      <p:sp>
        <p:nvSpPr>
          <p:cNvPr id="11" name="Text 7">
            <a:extLst xmlns:a="http://schemas.openxmlformats.org/drawingml/2006/main">
              <a:ext uri="{FF2B5EF4-FFF2-40B4-BE49-F238E27FC236}">
                <a16:creationId xmlns:a16="http://schemas.microsoft.com/office/drawing/2014/main" id="{B90B1CA2-229F-4638-8252-55E942E60F7A}"/>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18</a:t>
            </a:r>
            <a:endParaRPr sz="900"/>
          </a:p>
        </p:txBody>
      </p:sp>
    </p:spTree>
    <p:extLst>
      <p:ext uri="{BB962C8B-B14F-4D97-AF65-F5344CB8AC3E}">
        <p14:creationId xmlns:p14="http://schemas.microsoft.com/office/powerpoint/2010/main" val="11875834"/>
      </p:ext>
    </p:extLst>
  </p:cSld>
</p:sld>
</file>

<file path=ppt/slides/slide19.xml><?xml version="1.0" encoding="utf-8"?>
<p:sld xmlns:p="http://schemas.openxmlformats.org/presentationml/2006/main">
  <p:cSld>
    <p:bg>
      <p:bgPr>
        <a:solidFill xmlns:a="http://schemas.openxmlformats.org/drawingml/2006/main">
          <a:srgbClr val="0F4C5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38B83E6E-368E-42A9-936C-410F4594E24A}"/>
              </a:ext>
            </a:extLst>
          </p:cNvPr>
          <p:cNvSpPr>
            <a:spLocks xmlns:a="http://schemas.openxmlformats.org/drawingml/2006/main" noGrp="1"/>
          </p:cNvSpPr>
          <p:nvPr/>
        </p:nvSpPr>
        <p:spPr>
          <a:xfrm xmlns:a="http://schemas.openxmlformats.org/drawingml/2006/main">
            <a:off x="822960" y="2331720"/>
            <a:ext cx="2011680" cy="2011680"/>
          </a:xfrm>
          <a:prstGeom xmlns:a="http://schemas.openxmlformats.org/drawingml/2006/main" prst="ellipse">
            <a:avLst/>
          </a:prstGeom>
          <a:solidFill xmlns:a="http://schemas.openxmlformats.org/drawingml/2006/main">
            <a:srgbClr val="E36414"/>
          </a:solidFill>
        </p:spPr>
      </p:sp>
      <p:sp>
        <p:nvSpPr>
          <p:cNvPr id="3" name="Text 1">
            <a:extLst xmlns:a="http://schemas.openxmlformats.org/drawingml/2006/main">
              <a:ext uri="{FF2B5EF4-FFF2-40B4-BE49-F238E27FC236}">
                <a16:creationId xmlns:a16="http://schemas.microsoft.com/office/drawing/2014/main" id="{90D26B72-119E-4AEB-B3DB-9A96F8575434}"/>
              </a:ext>
            </a:extLst>
          </p:cNvPr>
          <p:cNvSpPr>
            <a:spLocks xmlns:a="http://schemas.openxmlformats.org/drawingml/2006/main" noGrp="1"/>
          </p:cNvSpPr>
          <p:nvPr/>
        </p:nvSpPr>
        <p:spPr>
          <a:xfrm xmlns:a="http://schemas.openxmlformats.org/drawingml/2006/main">
            <a:off x="822960" y="2331720"/>
            <a:ext cx="2011680" cy="20116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4400" b="1">
                <a:solidFill>
                  <a:srgbClr val="FFFFFF"/>
                </a:solidFill>
                <a:latin typeface="Georgia"/>
                <a:ea typeface="Georgia"/>
                <a:cs typeface="Georgia"/>
              </a:rPr>
              <a:t>20.6</a:t>
            </a:r>
            <a:endParaRPr sz="4400"/>
          </a:p>
        </p:txBody>
      </p:sp>
      <p:sp>
        <p:nvSpPr>
          <p:cNvPr id="4" name="Text 2">
            <a:extLst xmlns:a="http://schemas.openxmlformats.org/drawingml/2006/main">
              <a:ext uri="{FF2B5EF4-FFF2-40B4-BE49-F238E27FC236}">
                <a16:creationId xmlns:a16="http://schemas.microsoft.com/office/drawing/2014/main" id="{B1C9135D-4F1D-4BB4-A4C2-E8E7731AFFBE}"/>
              </a:ext>
            </a:extLst>
          </p:cNvPr>
          <p:cNvSpPr>
            <a:spLocks xmlns:a="http://schemas.openxmlformats.org/drawingml/2006/main" noGrp="1"/>
          </p:cNvSpPr>
          <p:nvPr/>
        </p:nvSpPr>
        <p:spPr>
          <a:xfrm xmlns:a="http://schemas.openxmlformats.org/drawingml/2006/main">
            <a:off x="3200400" y="2468880"/>
            <a:ext cx="7315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9FC2C9"/>
                </a:solidFill>
                <a:latin typeface="Calibri"/>
                <a:ea typeface="Calibri"/>
                <a:cs typeface="Calibri"/>
              </a:rPr>
              <a:t>SECTION</a:t>
            </a:r>
            <a:endParaRPr sz="1400"/>
          </a:p>
        </p:txBody>
      </p:sp>
      <p:sp>
        <p:nvSpPr>
          <p:cNvPr id="5" name="Text 3">
            <a:extLst xmlns:a="http://schemas.openxmlformats.org/drawingml/2006/main">
              <a:ext uri="{FF2B5EF4-FFF2-40B4-BE49-F238E27FC236}">
                <a16:creationId xmlns:a16="http://schemas.microsoft.com/office/drawing/2014/main" id="{C5AA8E79-F0FD-4A14-930B-981E22386578}"/>
              </a:ext>
            </a:extLst>
          </p:cNvPr>
          <p:cNvSpPr>
            <a:spLocks xmlns:a="http://schemas.openxmlformats.org/drawingml/2006/main" noGrp="1"/>
          </p:cNvSpPr>
          <p:nvPr/>
        </p:nvSpPr>
        <p:spPr>
          <a:xfrm xmlns:a="http://schemas.openxmlformats.org/drawingml/2006/main">
            <a:off x="3154680" y="2788920"/>
            <a:ext cx="8412480" cy="14630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3000" b="1">
                <a:solidFill>
                  <a:srgbClr val="FFFFFF"/>
                </a:solidFill>
                <a:latin typeface="Georgia"/>
                <a:ea typeface="Georgia"/>
                <a:cs typeface="Georgia"/>
              </a:rPr>
              <a:t>Development of Blood Vessels and Fetal Circulation</a:t>
            </a:r>
            <a:endParaRPr sz="3000"/>
          </a:p>
        </p:txBody>
      </p:sp>
      <p:sp>
        <p:nvSpPr>
          <p:cNvPr id="6" name="Text 4">
            <a:extLst xmlns:a="http://schemas.openxmlformats.org/drawingml/2006/main">
              <a:ext uri="{FF2B5EF4-FFF2-40B4-BE49-F238E27FC236}">
                <a16:creationId xmlns:a16="http://schemas.microsoft.com/office/drawing/2014/main" id="{AF799F2D-9E83-4EC1-8928-243C4C8BDD80}"/>
              </a:ext>
            </a:extLst>
          </p:cNvPr>
          <p:cNvSpPr>
            <a:spLocks xmlns:a="http://schemas.openxmlformats.org/drawingml/2006/main" noGrp="1"/>
          </p:cNvSpPr>
          <p:nvPr/>
        </p:nvSpPr>
        <p:spPr>
          <a:xfrm xmlns:a="http://schemas.openxmlformats.org/drawingml/2006/main">
            <a:off x="3200400" y="4160520"/>
            <a:ext cx="813816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0000"/>
              </a:lnSpc>
              <a:buNone/>
            </a:pPr>
            <a:r>
              <a:rPr sz="1500">
                <a:solidFill>
                  <a:srgbClr val="CFE3E7"/>
                </a:solidFill>
                <a:latin typeface="Calibri"/>
                <a:ea typeface="Calibri"/>
                <a:cs typeface="Calibri"/>
              </a:rPr>
              <a:t>Fetal circulation before birth.</a:t>
            </a:r>
            <a:endParaRPr sz="1500"/>
          </a:p>
        </p:txBody>
      </p:sp>
    </p:spTree>
    <p:extLst>
      <p:ext uri="{BB962C8B-B14F-4D97-AF65-F5344CB8AC3E}">
        <p14:creationId xmlns:p14="http://schemas.microsoft.com/office/powerpoint/2010/main" val="122641872"/>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42821F9-952D-4B03-8525-92BE151791B2}"/>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20.6</a:t>
            </a:r>
            <a:endParaRPr sz="1200"/>
          </a:p>
        </p:txBody>
      </p:sp>
      <p:sp>
        <p:nvSpPr>
          <p:cNvPr id="3" name="Text 1">
            <a:extLst xmlns:a="http://schemas.openxmlformats.org/drawingml/2006/main">
              <a:ext uri="{FF2B5EF4-FFF2-40B4-BE49-F238E27FC236}">
                <a16:creationId xmlns:a16="http://schemas.microsoft.com/office/drawing/2014/main" id="{F27A5263-2C1E-4958-ADAE-B137FE5CD576}"/>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Fetal Circulation</a:t>
            </a:r>
            <a:endParaRPr sz="2800"/>
          </a:p>
        </p:txBody>
      </p:sp>
      <p:sp>
        <p:nvSpPr>
          <p:cNvPr id="4" name="Text 2">
            <a:extLst xmlns:a="http://schemas.openxmlformats.org/drawingml/2006/main">
              <a:ext uri="{FF2B5EF4-FFF2-40B4-BE49-F238E27FC236}">
                <a16:creationId xmlns:a16="http://schemas.microsoft.com/office/drawing/2014/main" id="{FCE1EF5C-1A60-4EE5-ADF9-A713D55C98C7}"/>
              </a:ext>
            </a:extLst>
          </p:cNvPr>
          <p:cNvSpPr>
            <a:spLocks xmlns:a="http://schemas.openxmlformats.org/drawingml/2006/main" noGrp="1"/>
          </p:cNvSpPr>
          <p:nvPr/>
        </p:nvSpPr>
        <p:spPr>
          <a:xfrm xmlns:a="http://schemas.openxmlformats.org/drawingml/2006/main">
            <a:off x="548640" y="1783080"/>
            <a:ext cx="4663440" cy="4206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The fetus gets oxygen from the placenta</a:t>
            </a:r>
            <a:endParaRPr sz="1500"/>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The lungs are bypassed before birth</a:t>
            </a:r>
            <a:endParaRPr sz="1500"/>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Shortcuts: ductus arteriosus, foramen ovale</a:t>
            </a:r>
            <a:endParaRPr sz="1500"/>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They close at birth</a:t>
            </a:r>
            <a:endParaRPr sz="1500"/>
          </a:p>
        </p:txBody>
      </p:sp>
      <p:sp>
        <p:nvSpPr>
          <p:cNvPr id="5" name="Shape 3">
            <a:extLst xmlns:a="http://schemas.openxmlformats.org/drawingml/2006/main">
              <a:ext uri="{FF2B5EF4-FFF2-40B4-BE49-F238E27FC236}">
                <a16:creationId xmlns:a16="http://schemas.microsoft.com/office/drawing/2014/main" id="{5BA0A25A-2AD0-439A-B300-B4E33CE211D9}"/>
              </a:ext>
            </a:extLst>
          </p:cNvPr>
          <p:cNvSpPr>
            <a:spLocks xmlns:a="http://schemas.openxmlformats.org/drawingml/2006/main" noGrp="1"/>
          </p:cNvSpPr>
          <p:nvPr/>
        </p:nvSpPr>
        <p:spPr>
          <a:xfrm xmlns:a="http://schemas.openxmlformats.org/drawingml/2006/main">
            <a:off x="6356346" y="1335024"/>
            <a:ext cx="4478027" cy="4645152"/>
          </a:xfrm>
          <a:prstGeom xmlns:a="http://schemas.openxmlformats.org/drawingml/2006/main" prst="roundRect">
            <a:avLst>
              <a:gd name="adj" fmla="val 1225"/>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3aef804c25614f46"/>
          <a:stretch xmlns:a="http://schemas.openxmlformats.org/drawingml/2006/main">
            <a:fillRect l="0" t="0" r="0" b="0"/>
          </a:stretch>
        </p:blipFill>
        <p:spPr>
          <a:xfrm xmlns:a="http://schemas.openxmlformats.org/drawingml/2006/main">
            <a:off x="6438642" y="1417320"/>
            <a:ext cx="4313435" cy="4480560"/>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B3EB5384-BCE5-40A5-BC5E-7B8BC1F11FE1}"/>
              </a:ext>
            </a:extLst>
          </p:cNvPr>
          <p:cNvSpPr>
            <a:spLocks xmlns:a="http://schemas.openxmlformats.org/drawingml/2006/main" noGrp="1"/>
          </p:cNvSpPr>
          <p:nvPr/>
        </p:nvSpPr>
        <p:spPr>
          <a:xfrm xmlns:a="http://schemas.openxmlformats.org/drawingml/2006/main">
            <a:off x="5486400" y="5943600"/>
            <a:ext cx="62179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Fetal circulation</a:t>
            </a:r>
            <a:endParaRPr sz="1100"/>
          </a:p>
        </p:txBody>
      </p:sp>
      <p:sp>
        <p:nvSpPr>
          <p:cNvPr id="9" name="Text 5">
            <a:extLst xmlns:a="http://schemas.openxmlformats.org/drawingml/2006/main">
              <a:ext uri="{FF2B5EF4-FFF2-40B4-BE49-F238E27FC236}">
                <a16:creationId xmlns:a16="http://schemas.microsoft.com/office/drawing/2014/main" id="{7CFB3AF2-037A-478B-8C2F-264676B5E19A}"/>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20 — Blood Vessels and Circulation</a:t>
            </a:r>
            <a:endParaRPr sz="900"/>
          </a:p>
        </p:txBody>
      </p:sp>
      <p:sp>
        <p:nvSpPr>
          <p:cNvPr id="10" name="Text 6">
            <a:extLst xmlns:a="http://schemas.openxmlformats.org/drawingml/2006/main">
              <a:ext uri="{FF2B5EF4-FFF2-40B4-BE49-F238E27FC236}">
                <a16:creationId xmlns:a16="http://schemas.microsoft.com/office/drawing/2014/main" id="{C5F447E3-E653-47CB-AB9C-85C19AF47BE1}"/>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20</a:t>
            </a:r>
            <a:endParaRPr sz="900"/>
          </a:p>
        </p:txBody>
      </p:sp>
    </p:spTree>
    <p:extLst>
      <p:ext uri="{BB962C8B-B14F-4D97-AF65-F5344CB8AC3E}">
        <p14:creationId xmlns:p14="http://schemas.microsoft.com/office/powerpoint/2010/main" val="1526238393"/>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8E86597-B409-47F1-BDC8-ADB61D547701}"/>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CHAPTER 20</a:t>
            </a:r>
            <a:endParaRPr sz="1200"/>
          </a:p>
        </p:txBody>
      </p:sp>
      <p:sp>
        <p:nvSpPr>
          <p:cNvPr id="3" name="Text 1">
            <a:extLst xmlns:a="http://schemas.openxmlformats.org/drawingml/2006/main">
              <a:ext uri="{FF2B5EF4-FFF2-40B4-BE49-F238E27FC236}">
                <a16:creationId xmlns:a16="http://schemas.microsoft.com/office/drawing/2014/main" id="{3FCBE1D6-52B0-4E7A-9657-22BAC4C85A73}"/>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Key Takeaways</a:t>
            </a:r>
            <a:endParaRPr sz="2800"/>
          </a:p>
        </p:txBody>
      </p:sp>
      <p:sp>
        <p:nvSpPr>
          <p:cNvPr id="4" name="Shape 2">
            <a:extLst xmlns:a="http://schemas.openxmlformats.org/drawingml/2006/main">
              <a:ext uri="{FF2B5EF4-FFF2-40B4-BE49-F238E27FC236}">
                <a16:creationId xmlns:a16="http://schemas.microsoft.com/office/drawing/2014/main" id="{A929DE11-20E0-4D1A-8BD1-C067529C798F}"/>
              </a:ext>
            </a:extLst>
          </p:cNvPr>
          <p:cNvSpPr>
            <a:spLocks xmlns:a="http://schemas.openxmlformats.org/drawingml/2006/main" noGrp="1"/>
          </p:cNvSpPr>
          <p:nvPr/>
        </p:nvSpPr>
        <p:spPr>
          <a:xfrm xmlns:a="http://schemas.openxmlformats.org/drawingml/2006/main">
            <a:off x="548640" y="1819656"/>
            <a:ext cx="237744" cy="237744"/>
          </a:xfrm>
          <a:prstGeom xmlns:a="http://schemas.openxmlformats.org/drawingml/2006/main" prst="ellipse">
            <a:avLst/>
          </a:prstGeom>
          <a:solidFill xmlns:a="http://schemas.openxmlformats.org/drawingml/2006/main">
            <a:srgbClr val="E36414"/>
          </a:solidFill>
        </p:spPr>
      </p:sp>
      <p:sp>
        <p:nvSpPr>
          <p:cNvPr id="5" name="Text 3">
            <a:extLst xmlns:a="http://schemas.openxmlformats.org/drawingml/2006/main">
              <a:ext uri="{FF2B5EF4-FFF2-40B4-BE49-F238E27FC236}">
                <a16:creationId xmlns:a16="http://schemas.microsoft.com/office/drawing/2014/main" id="{A9FF053D-CA78-4A32-B47A-85B2E00405CD}"/>
              </a:ext>
            </a:extLst>
          </p:cNvPr>
          <p:cNvSpPr>
            <a:spLocks xmlns:a="http://schemas.openxmlformats.org/drawingml/2006/main" noGrp="1"/>
          </p:cNvSpPr>
          <p:nvPr/>
        </p:nvSpPr>
        <p:spPr>
          <a:xfrm xmlns:a="http://schemas.openxmlformats.org/drawingml/2006/main">
            <a:off x="960120" y="1737360"/>
            <a:ext cx="1060704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50">
                <a:solidFill>
                  <a:srgbClr val="23363B"/>
                </a:solidFill>
                <a:latin typeface="Calibri"/>
                <a:ea typeface="Calibri"/>
                <a:cs typeface="Calibri"/>
              </a:rPr>
              <a:t>Arteries carry blood from the heart, veins return it, and capillaries are where exchange occurs.</a:t>
            </a:r>
            <a:endParaRPr sz="1550"/>
          </a:p>
        </p:txBody>
      </p:sp>
      <p:sp>
        <p:nvSpPr>
          <p:cNvPr id="6" name="Shape 4">
            <a:extLst xmlns:a="http://schemas.openxmlformats.org/drawingml/2006/main">
              <a:ext uri="{FF2B5EF4-FFF2-40B4-BE49-F238E27FC236}">
                <a16:creationId xmlns:a16="http://schemas.microsoft.com/office/drawing/2014/main" id="{56121A41-0FB6-46CF-926E-5C8395056DEE}"/>
              </a:ext>
            </a:extLst>
          </p:cNvPr>
          <p:cNvSpPr>
            <a:spLocks xmlns:a="http://schemas.openxmlformats.org/drawingml/2006/main" noGrp="1"/>
          </p:cNvSpPr>
          <p:nvPr/>
        </p:nvSpPr>
        <p:spPr>
          <a:xfrm xmlns:a="http://schemas.openxmlformats.org/drawingml/2006/main">
            <a:off x="548640" y="2606040"/>
            <a:ext cx="237744" cy="237744"/>
          </a:xfrm>
          <a:prstGeom xmlns:a="http://schemas.openxmlformats.org/drawingml/2006/main" prst="ellipse">
            <a:avLst/>
          </a:prstGeom>
          <a:solidFill xmlns:a="http://schemas.openxmlformats.org/drawingml/2006/main">
            <a:srgbClr val="E36414"/>
          </a:solidFill>
        </p:spPr>
      </p:sp>
      <p:sp>
        <p:nvSpPr>
          <p:cNvPr id="7" name="Text 5">
            <a:extLst xmlns:a="http://schemas.openxmlformats.org/drawingml/2006/main">
              <a:ext uri="{FF2B5EF4-FFF2-40B4-BE49-F238E27FC236}">
                <a16:creationId xmlns:a16="http://schemas.microsoft.com/office/drawing/2014/main" id="{D4A1D538-C049-4A84-9448-69C02F0AFA0F}"/>
              </a:ext>
            </a:extLst>
          </p:cNvPr>
          <p:cNvSpPr>
            <a:spLocks xmlns:a="http://schemas.openxmlformats.org/drawingml/2006/main" noGrp="1"/>
          </p:cNvSpPr>
          <p:nvPr/>
        </p:nvSpPr>
        <p:spPr>
          <a:xfrm xmlns:a="http://schemas.openxmlformats.org/drawingml/2006/main">
            <a:off x="960120" y="2523744"/>
            <a:ext cx="1060704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50">
                <a:solidFill>
                  <a:srgbClr val="23363B"/>
                </a:solidFill>
                <a:latin typeface="Calibri"/>
                <a:ea typeface="Calibri"/>
                <a:cs typeface="Calibri"/>
              </a:rPr>
              <a:t>Blood pressure is highest in the arteries and drives flow through the circuit.</a:t>
            </a:r>
            <a:endParaRPr sz="1550"/>
          </a:p>
        </p:txBody>
      </p:sp>
      <p:sp>
        <p:nvSpPr>
          <p:cNvPr id="8" name="Shape 6">
            <a:extLst xmlns:a="http://schemas.openxmlformats.org/drawingml/2006/main">
              <a:ext uri="{FF2B5EF4-FFF2-40B4-BE49-F238E27FC236}">
                <a16:creationId xmlns:a16="http://schemas.microsoft.com/office/drawing/2014/main" id="{34C9C7BC-D0B5-47B6-9BA3-BAFDFEEDEE71}"/>
              </a:ext>
            </a:extLst>
          </p:cNvPr>
          <p:cNvSpPr>
            <a:spLocks xmlns:a="http://schemas.openxmlformats.org/drawingml/2006/main" noGrp="1"/>
          </p:cNvSpPr>
          <p:nvPr/>
        </p:nvSpPr>
        <p:spPr>
          <a:xfrm xmlns:a="http://schemas.openxmlformats.org/drawingml/2006/main">
            <a:off x="548640" y="3392424"/>
            <a:ext cx="237744" cy="237744"/>
          </a:xfrm>
          <a:prstGeom xmlns:a="http://schemas.openxmlformats.org/drawingml/2006/main" prst="ellipse">
            <a:avLst/>
          </a:prstGeom>
          <a:solidFill xmlns:a="http://schemas.openxmlformats.org/drawingml/2006/main">
            <a:srgbClr val="E36414"/>
          </a:solidFill>
        </p:spPr>
      </p:sp>
      <p:sp>
        <p:nvSpPr>
          <p:cNvPr id="9" name="Text 7">
            <a:extLst xmlns:a="http://schemas.openxmlformats.org/drawingml/2006/main">
              <a:ext uri="{FF2B5EF4-FFF2-40B4-BE49-F238E27FC236}">
                <a16:creationId xmlns:a16="http://schemas.microsoft.com/office/drawing/2014/main" id="{158B1BB7-EF2B-4E20-B928-6ED095AFDC83}"/>
              </a:ext>
            </a:extLst>
          </p:cNvPr>
          <p:cNvSpPr>
            <a:spLocks xmlns:a="http://schemas.openxmlformats.org/drawingml/2006/main" noGrp="1"/>
          </p:cNvSpPr>
          <p:nvPr/>
        </p:nvSpPr>
        <p:spPr>
          <a:xfrm xmlns:a="http://schemas.openxmlformats.org/drawingml/2006/main">
            <a:off x="960120" y="3310128"/>
            <a:ext cx="1060704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50">
                <a:solidFill>
                  <a:srgbClr val="23363B"/>
                </a:solidFill>
                <a:latin typeface="Calibri"/>
                <a:ea typeface="Calibri"/>
                <a:cs typeface="Calibri"/>
              </a:rPr>
              <a:t>Capillary exchange delivers nutrients and removes wastes; imbalance causes edema.</a:t>
            </a:r>
            <a:endParaRPr sz="1550"/>
          </a:p>
        </p:txBody>
      </p:sp>
      <p:sp>
        <p:nvSpPr>
          <p:cNvPr id="10" name="Shape 8">
            <a:extLst xmlns:a="http://schemas.openxmlformats.org/drawingml/2006/main">
              <a:ext uri="{FF2B5EF4-FFF2-40B4-BE49-F238E27FC236}">
                <a16:creationId xmlns:a16="http://schemas.microsoft.com/office/drawing/2014/main" id="{77E49D2D-F8BC-4CBF-8B5B-D0E6A180DACB}"/>
              </a:ext>
            </a:extLst>
          </p:cNvPr>
          <p:cNvSpPr>
            <a:spLocks xmlns:a="http://schemas.openxmlformats.org/drawingml/2006/main" noGrp="1"/>
          </p:cNvSpPr>
          <p:nvPr/>
        </p:nvSpPr>
        <p:spPr>
          <a:xfrm xmlns:a="http://schemas.openxmlformats.org/drawingml/2006/main">
            <a:off x="548640" y="4178808"/>
            <a:ext cx="237744" cy="237744"/>
          </a:xfrm>
          <a:prstGeom xmlns:a="http://schemas.openxmlformats.org/drawingml/2006/main" prst="ellipse">
            <a:avLst/>
          </a:prstGeom>
          <a:solidFill xmlns:a="http://schemas.openxmlformats.org/drawingml/2006/main">
            <a:srgbClr val="E36414"/>
          </a:solidFill>
        </p:spPr>
      </p:sp>
      <p:sp>
        <p:nvSpPr>
          <p:cNvPr id="11" name="Text 9">
            <a:extLst xmlns:a="http://schemas.openxmlformats.org/drawingml/2006/main">
              <a:ext uri="{FF2B5EF4-FFF2-40B4-BE49-F238E27FC236}">
                <a16:creationId xmlns:a16="http://schemas.microsoft.com/office/drawing/2014/main" id="{B2B4CA79-6B4B-464A-8481-D6711969D4D1}"/>
              </a:ext>
            </a:extLst>
          </p:cNvPr>
          <p:cNvSpPr>
            <a:spLocks xmlns:a="http://schemas.openxmlformats.org/drawingml/2006/main" noGrp="1"/>
          </p:cNvSpPr>
          <p:nvPr/>
        </p:nvSpPr>
        <p:spPr>
          <a:xfrm xmlns:a="http://schemas.openxmlformats.org/drawingml/2006/main">
            <a:off x="960120" y="4096512"/>
            <a:ext cx="1060704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50">
                <a:solidFill>
                  <a:srgbClr val="23363B"/>
                </a:solidFill>
                <a:latin typeface="Calibri"/>
                <a:ea typeface="Calibri"/>
                <a:cs typeface="Calibri"/>
              </a:rPr>
              <a:t>The systemic and pulmonary circuits carry blood to the body and the lungs.</a:t>
            </a:r>
            <a:endParaRPr sz="1550"/>
          </a:p>
        </p:txBody>
      </p:sp>
      <p:sp>
        <p:nvSpPr>
          <p:cNvPr id="12" name="Shape 10">
            <a:extLst xmlns:a="http://schemas.openxmlformats.org/drawingml/2006/main">
              <a:ext uri="{FF2B5EF4-FFF2-40B4-BE49-F238E27FC236}">
                <a16:creationId xmlns:a16="http://schemas.microsoft.com/office/drawing/2014/main" id="{B88F1E5D-A2EA-4CA0-9893-121E7D299EC9}"/>
              </a:ext>
            </a:extLst>
          </p:cNvPr>
          <p:cNvSpPr>
            <a:spLocks xmlns:a="http://schemas.openxmlformats.org/drawingml/2006/main" noGrp="1"/>
          </p:cNvSpPr>
          <p:nvPr/>
        </p:nvSpPr>
        <p:spPr>
          <a:xfrm xmlns:a="http://schemas.openxmlformats.org/drawingml/2006/main">
            <a:off x="548640" y="4965192"/>
            <a:ext cx="237744" cy="237744"/>
          </a:xfrm>
          <a:prstGeom xmlns:a="http://schemas.openxmlformats.org/drawingml/2006/main" prst="ellipse">
            <a:avLst/>
          </a:prstGeom>
          <a:solidFill xmlns:a="http://schemas.openxmlformats.org/drawingml/2006/main">
            <a:srgbClr val="E36414"/>
          </a:solidFill>
        </p:spPr>
      </p:sp>
      <p:sp>
        <p:nvSpPr>
          <p:cNvPr id="13" name="Text 11">
            <a:extLst xmlns:a="http://schemas.openxmlformats.org/drawingml/2006/main">
              <a:ext uri="{FF2B5EF4-FFF2-40B4-BE49-F238E27FC236}">
                <a16:creationId xmlns:a16="http://schemas.microsoft.com/office/drawing/2014/main" id="{0086BF28-0D11-47D0-AAF2-3A120D30191C}"/>
              </a:ext>
            </a:extLst>
          </p:cNvPr>
          <p:cNvSpPr>
            <a:spLocks xmlns:a="http://schemas.openxmlformats.org/drawingml/2006/main" noGrp="1"/>
          </p:cNvSpPr>
          <p:nvPr/>
        </p:nvSpPr>
        <p:spPr>
          <a:xfrm xmlns:a="http://schemas.openxmlformats.org/drawingml/2006/main">
            <a:off x="960120" y="4882896"/>
            <a:ext cx="1060704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50">
                <a:solidFill>
                  <a:srgbClr val="23363B"/>
                </a:solidFill>
                <a:latin typeface="Calibri"/>
                <a:ea typeface="Calibri"/>
                <a:cs typeface="Calibri"/>
              </a:rPr>
              <a:t>Fetal circulation bypasses the lungs through shunts that close at birth.</a:t>
            </a:r>
            <a:endParaRPr sz="1550"/>
          </a:p>
        </p:txBody>
      </p:sp>
      <p:sp>
        <p:nvSpPr>
          <p:cNvPr id="14" name="Text 12">
            <a:extLst xmlns:a="http://schemas.openxmlformats.org/drawingml/2006/main">
              <a:ext uri="{FF2B5EF4-FFF2-40B4-BE49-F238E27FC236}">
                <a16:creationId xmlns:a16="http://schemas.microsoft.com/office/drawing/2014/main" id="{334AEB0A-E56C-40B5-BD1C-DC0100BAFD53}"/>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20 — Blood Vessels and Circulation</a:t>
            </a:r>
            <a:endParaRPr sz="900"/>
          </a:p>
        </p:txBody>
      </p:sp>
      <p:sp>
        <p:nvSpPr>
          <p:cNvPr id="15" name="Text 13">
            <a:extLst xmlns:a="http://schemas.openxmlformats.org/drawingml/2006/main">
              <a:ext uri="{FF2B5EF4-FFF2-40B4-BE49-F238E27FC236}">
                <a16:creationId xmlns:a16="http://schemas.microsoft.com/office/drawing/2014/main" id="{D27B3485-1450-4058-BB3B-7B0DC89E6409}"/>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21</a:t>
            </a:r>
            <a:endParaRPr sz="900"/>
          </a:p>
        </p:txBody>
      </p:sp>
    </p:spTree>
    <p:extLst>
      <p:ext uri="{BB962C8B-B14F-4D97-AF65-F5344CB8AC3E}">
        <p14:creationId xmlns:p14="http://schemas.microsoft.com/office/powerpoint/2010/main" val="117429430"/>
      </p:ext>
    </p:extLst>
  </p:cSld>
</p:sld>
</file>

<file path=ppt/slides/slide22.xml><?xml version="1.0" encoding="utf-8"?>
<p:sld xmlns:p="http://schemas.openxmlformats.org/presentationml/2006/main">
  <p:cSld>
    <p:bg>
      <p:bgPr>
        <a:solidFill xmlns:a="http://schemas.openxmlformats.org/drawingml/2006/main">
          <a:srgbClr val="0F4C5C"/>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0A2DC68-371D-425E-B8F4-1E49BF6750DC}"/>
              </a:ext>
            </a:extLst>
          </p:cNvPr>
          <p:cNvSpPr>
            <a:spLocks xmlns:a="http://schemas.openxmlformats.org/drawingml/2006/main" noGrp="1"/>
          </p:cNvSpPr>
          <p:nvPr/>
        </p:nvSpPr>
        <p:spPr>
          <a:xfrm xmlns:a="http://schemas.openxmlformats.org/drawingml/2006/main">
            <a:off x="548640" y="502920"/>
            <a:ext cx="100584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a:solidFill>
                  <a:srgbClr val="E36414"/>
                </a:solidFill>
                <a:latin typeface="Calibri"/>
                <a:ea typeface="Calibri"/>
                <a:cs typeface="Calibri"/>
              </a:rPr>
              <a:t>CLINICAL CONNECTIONS</a:t>
            </a:r>
            <a:endParaRPr sz="1300"/>
          </a:p>
        </p:txBody>
      </p:sp>
      <p:sp>
        <p:nvSpPr>
          <p:cNvPr id="3" name="Text 1">
            <a:extLst xmlns:a="http://schemas.openxmlformats.org/drawingml/2006/main">
              <a:ext uri="{FF2B5EF4-FFF2-40B4-BE49-F238E27FC236}">
                <a16:creationId xmlns:a16="http://schemas.microsoft.com/office/drawing/2014/main" id="{7DA45C0A-CE21-41F1-B7CE-249106CCD1F3}"/>
              </a:ext>
            </a:extLst>
          </p:cNvPr>
          <p:cNvSpPr>
            <a:spLocks xmlns:a="http://schemas.openxmlformats.org/drawingml/2006/main" noGrp="1"/>
          </p:cNvSpPr>
          <p:nvPr/>
        </p:nvSpPr>
        <p:spPr>
          <a:xfrm xmlns:a="http://schemas.openxmlformats.org/drawingml/2006/main">
            <a:off x="530352" y="841248"/>
            <a:ext cx="10972800" cy="6400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500" b="1">
                <a:solidFill>
                  <a:srgbClr val="FFFFFF"/>
                </a:solidFill>
                <a:latin typeface="Georgia"/>
                <a:ea typeface="Georgia"/>
                <a:cs typeface="Georgia"/>
              </a:rPr>
              <a:t>Why Blood Vessels Matter in Practical Nursing</a:t>
            </a:r>
            <a:endParaRPr sz="2500"/>
          </a:p>
        </p:txBody>
      </p:sp>
      <p:sp>
        <p:nvSpPr>
          <p:cNvPr id="4" name="Shape 2">
            <a:extLst xmlns:a="http://schemas.openxmlformats.org/drawingml/2006/main">
              <a:ext uri="{FF2B5EF4-FFF2-40B4-BE49-F238E27FC236}">
                <a16:creationId xmlns:a16="http://schemas.microsoft.com/office/drawing/2014/main" id="{2B75C040-5310-4122-9CD2-0F1143A2E68F}"/>
              </a:ext>
            </a:extLst>
          </p:cNvPr>
          <p:cNvSpPr>
            <a:spLocks xmlns:a="http://schemas.openxmlformats.org/drawingml/2006/main" noGrp="1"/>
          </p:cNvSpPr>
          <p:nvPr/>
        </p:nvSpPr>
        <p:spPr>
          <a:xfrm xmlns:a="http://schemas.openxmlformats.org/drawingml/2006/main">
            <a:off x="548640" y="1783080"/>
            <a:ext cx="5440680" cy="1389888"/>
          </a:xfrm>
          <a:prstGeom xmlns:a="http://schemas.openxmlformats.org/drawingml/2006/main" prst="roundRect">
            <a:avLst>
              <a:gd name="adj" fmla="val 5263"/>
            </a:avLst>
          </a:prstGeom>
          <a:solidFill xmlns:a="http://schemas.openxmlformats.org/drawingml/2006/main">
            <a:srgbClr val="13586A"/>
          </a:solidFill>
          <a:ln xmlns:a="http://schemas.openxmlformats.org/drawingml/2006/main" w="12700">
            <a:solidFill>
              <a:srgbClr val="2A7A8C"/>
            </a:solidFill>
            <a:prstDash val="solid"/>
          </a:ln>
        </p:spPr>
      </p:sp>
      <p:sp>
        <p:nvSpPr>
          <p:cNvPr id="5" name="Text 3">
            <a:extLst xmlns:a="http://schemas.openxmlformats.org/drawingml/2006/main">
              <a:ext uri="{FF2B5EF4-FFF2-40B4-BE49-F238E27FC236}">
                <a16:creationId xmlns:a16="http://schemas.microsoft.com/office/drawing/2014/main" id="{BD8A0C21-32A3-4426-8251-7FD84C559AE4}"/>
              </a:ext>
            </a:extLst>
          </p:cNvPr>
          <p:cNvSpPr>
            <a:spLocks xmlns:a="http://schemas.openxmlformats.org/drawingml/2006/main" noGrp="1"/>
          </p:cNvSpPr>
          <p:nvPr/>
        </p:nvSpPr>
        <p:spPr>
          <a:xfrm xmlns:a="http://schemas.openxmlformats.org/drawingml/2006/main">
            <a:off x="777240" y="1911096"/>
            <a:ext cx="50292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600" b="1">
                <a:solidFill>
                  <a:srgbClr val="7FD0C8"/>
                </a:solidFill>
                <a:latin typeface="Georgia"/>
                <a:ea typeface="Georgia"/>
                <a:cs typeface="Georgia"/>
              </a:rPr>
              <a:t>Hypertension</a:t>
            </a:r>
            <a:endParaRPr sz="1600"/>
          </a:p>
        </p:txBody>
      </p:sp>
      <p:sp>
        <p:nvSpPr>
          <p:cNvPr id="6" name="Text 4">
            <a:extLst xmlns:a="http://schemas.openxmlformats.org/drawingml/2006/main">
              <a:ext uri="{FF2B5EF4-FFF2-40B4-BE49-F238E27FC236}">
                <a16:creationId xmlns:a16="http://schemas.microsoft.com/office/drawing/2014/main" id="{3EAAAC54-58EF-46EA-B1B0-27BB5C101A7F}"/>
              </a:ext>
            </a:extLst>
          </p:cNvPr>
          <p:cNvSpPr>
            <a:spLocks xmlns:a="http://schemas.openxmlformats.org/drawingml/2006/main" noGrp="1"/>
          </p:cNvSpPr>
          <p:nvPr/>
        </p:nvSpPr>
        <p:spPr>
          <a:xfrm xmlns:a="http://schemas.openxmlformats.org/drawingml/2006/main">
            <a:off x="777240" y="2286000"/>
            <a:ext cx="5029200" cy="8229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02000"/>
              </a:lnSpc>
              <a:buNone/>
            </a:pPr>
            <a:r>
              <a:rPr sz="1250">
                <a:solidFill>
                  <a:srgbClr val="E6F1F3"/>
                </a:solidFill>
                <a:latin typeface="Calibri"/>
                <a:ea typeface="Calibri"/>
                <a:cs typeface="Calibri"/>
              </a:rPr>
              <a:t>Chronically high blood pressure damages vessels and organs.</a:t>
            </a:r>
            <a:endParaRPr sz="1250"/>
          </a:p>
        </p:txBody>
      </p:sp>
      <p:sp>
        <p:nvSpPr>
          <p:cNvPr id="7" name="Shape 5">
            <a:extLst xmlns:a="http://schemas.openxmlformats.org/drawingml/2006/main">
              <a:ext uri="{FF2B5EF4-FFF2-40B4-BE49-F238E27FC236}">
                <a16:creationId xmlns:a16="http://schemas.microsoft.com/office/drawing/2014/main" id="{46A43033-27DB-4F53-A9BA-682ECB075D28}"/>
              </a:ext>
            </a:extLst>
          </p:cNvPr>
          <p:cNvSpPr>
            <a:spLocks xmlns:a="http://schemas.openxmlformats.org/drawingml/2006/main" noGrp="1"/>
          </p:cNvSpPr>
          <p:nvPr/>
        </p:nvSpPr>
        <p:spPr>
          <a:xfrm xmlns:a="http://schemas.openxmlformats.org/drawingml/2006/main">
            <a:off x="6172200" y="1783080"/>
            <a:ext cx="5440680" cy="1389888"/>
          </a:xfrm>
          <a:prstGeom xmlns:a="http://schemas.openxmlformats.org/drawingml/2006/main" prst="roundRect">
            <a:avLst>
              <a:gd name="adj" fmla="val 5263"/>
            </a:avLst>
          </a:prstGeom>
          <a:solidFill xmlns:a="http://schemas.openxmlformats.org/drawingml/2006/main">
            <a:srgbClr val="13586A"/>
          </a:solidFill>
          <a:ln xmlns:a="http://schemas.openxmlformats.org/drawingml/2006/main" w="12700">
            <a:solidFill>
              <a:srgbClr val="2A7A8C"/>
            </a:solidFill>
            <a:prstDash val="solid"/>
          </a:ln>
        </p:spPr>
      </p:sp>
      <p:sp>
        <p:nvSpPr>
          <p:cNvPr id="8" name="Text 6">
            <a:extLst xmlns:a="http://schemas.openxmlformats.org/drawingml/2006/main">
              <a:ext uri="{FF2B5EF4-FFF2-40B4-BE49-F238E27FC236}">
                <a16:creationId xmlns:a16="http://schemas.microsoft.com/office/drawing/2014/main" id="{99E64377-F7A8-4B60-80C8-9BE14AA315A8}"/>
              </a:ext>
            </a:extLst>
          </p:cNvPr>
          <p:cNvSpPr>
            <a:spLocks xmlns:a="http://schemas.openxmlformats.org/drawingml/2006/main" noGrp="1"/>
          </p:cNvSpPr>
          <p:nvPr/>
        </p:nvSpPr>
        <p:spPr>
          <a:xfrm xmlns:a="http://schemas.openxmlformats.org/drawingml/2006/main">
            <a:off x="6400800" y="1911096"/>
            <a:ext cx="50292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600" b="1">
                <a:solidFill>
                  <a:srgbClr val="7FD0C8"/>
                </a:solidFill>
                <a:latin typeface="Georgia"/>
                <a:ea typeface="Georgia"/>
                <a:cs typeface="Georgia"/>
              </a:rPr>
              <a:t>Atherosclerosis</a:t>
            </a:r>
            <a:endParaRPr sz="1600"/>
          </a:p>
        </p:txBody>
      </p:sp>
      <p:sp>
        <p:nvSpPr>
          <p:cNvPr id="9" name="Text 7">
            <a:extLst xmlns:a="http://schemas.openxmlformats.org/drawingml/2006/main">
              <a:ext uri="{FF2B5EF4-FFF2-40B4-BE49-F238E27FC236}">
                <a16:creationId xmlns:a16="http://schemas.microsoft.com/office/drawing/2014/main" id="{0E721147-4C9C-4A1D-924E-6A375C90EB1D}"/>
              </a:ext>
            </a:extLst>
          </p:cNvPr>
          <p:cNvSpPr>
            <a:spLocks xmlns:a="http://schemas.openxmlformats.org/drawingml/2006/main" noGrp="1"/>
          </p:cNvSpPr>
          <p:nvPr/>
        </p:nvSpPr>
        <p:spPr>
          <a:xfrm xmlns:a="http://schemas.openxmlformats.org/drawingml/2006/main">
            <a:off x="6400800" y="2286000"/>
            <a:ext cx="5029200" cy="8229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02000"/>
              </a:lnSpc>
              <a:buNone/>
            </a:pPr>
            <a:r>
              <a:rPr sz="1250">
                <a:solidFill>
                  <a:srgbClr val="E6F1F3"/>
                </a:solidFill>
                <a:latin typeface="Calibri"/>
                <a:ea typeface="Calibri"/>
                <a:cs typeface="Calibri"/>
              </a:rPr>
              <a:t>Arterial plaque narrows vessels and raises clot risk.</a:t>
            </a:r>
            <a:endParaRPr sz="1250"/>
          </a:p>
        </p:txBody>
      </p:sp>
      <p:sp>
        <p:nvSpPr>
          <p:cNvPr id="10" name="Shape 8">
            <a:extLst xmlns:a="http://schemas.openxmlformats.org/drawingml/2006/main">
              <a:ext uri="{FF2B5EF4-FFF2-40B4-BE49-F238E27FC236}">
                <a16:creationId xmlns:a16="http://schemas.microsoft.com/office/drawing/2014/main" id="{98D64B6F-C867-4583-9A69-5F88033A7466}"/>
              </a:ext>
            </a:extLst>
          </p:cNvPr>
          <p:cNvSpPr>
            <a:spLocks xmlns:a="http://schemas.openxmlformats.org/drawingml/2006/main" noGrp="1"/>
          </p:cNvSpPr>
          <p:nvPr/>
        </p:nvSpPr>
        <p:spPr>
          <a:xfrm xmlns:a="http://schemas.openxmlformats.org/drawingml/2006/main">
            <a:off x="548640" y="3337560"/>
            <a:ext cx="5440680" cy="1389888"/>
          </a:xfrm>
          <a:prstGeom xmlns:a="http://schemas.openxmlformats.org/drawingml/2006/main" prst="roundRect">
            <a:avLst>
              <a:gd name="adj" fmla="val 5263"/>
            </a:avLst>
          </a:prstGeom>
          <a:solidFill xmlns:a="http://schemas.openxmlformats.org/drawingml/2006/main">
            <a:srgbClr val="13586A"/>
          </a:solidFill>
          <a:ln xmlns:a="http://schemas.openxmlformats.org/drawingml/2006/main" w="12700">
            <a:solidFill>
              <a:srgbClr val="2A7A8C"/>
            </a:solidFill>
            <a:prstDash val="solid"/>
          </a:ln>
        </p:spPr>
      </p:sp>
      <p:sp>
        <p:nvSpPr>
          <p:cNvPr id="11" name="Text 9">
            <a:extLst xmlns:a="http://schemas.openxmlformats.org/drawingml/2006/main">
              <a:ext uri="{FF2B5EF4-FFF2-40B4-BE49-F238E27FC236}">
                <a16:creationId xmlns:a16="http://schemas.microsoft.com/office/drawing/2014/main" id="{6FAA46CC-1D74-4899-BF4F-B3CE51F07A38}"/>
              </a:ext>
            </a:extLst>
          </p:cNvPr>
          <p:cNvSpPr>
            <a:spLocks xmlns:a="http://schemas.openxmlformats.org/drawingml/2006/main" noGrp="1"/>
          </p:cNvSpPr>
          <p:nvPr/>
        </p:nvSpPr>
        <p:spPr>
          <a:xfrm xmlns:a="http://schemas.openxmlformats.org/drawingml/2006/main">
            <a:off x="777240" y="3465576"/>
            <a:ext cx="50292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600" b="1">
                <a:solidFill>
                  <a:srgbClr val="7FD0C8"/>
                </a:solidFill>
                <a:latin typeface="Georgia"/>
                <a:ea typeface="Georgia"/>
                <a:cs typeface="Georgia"/>
              </a:rPr>
              <a:t>Pulse &amp; BP</a:t>
            </a:r>
            <a:endParaRPr sz="1600"/>
          </a:p>
        </p:txBody>
      </p:sp>
      <p:sp>
        <p:nvSpPr>
          <p:cNvPr id="12" name="Text 10">
            <a:extLst xmlns:a="http://schemas.openxmlformats.org/drawingml/2006/main">
              <a:ext uri="{FF2B5EF4-FFF2-40B4-BE49-F238E27FC236}">
                <a16:creationId xmlns:a16="http://schemas.microsoft.com/office/drawing/2014/main" id="{CD2C2BCE-69A7-43B1-8330-BE83E648FDF5}"/>
              </a:ext>
            </a:extLst>
          </p:cNvPr>
          <p:cNvSpPr>
            <a:spLocks xmlns:a="http://schemas.openxmlformats.org/drawingml/2006/main" noGrp="1"/>
          </p:cNvSpPr>
          <p:nvPr/>
        </p:nvSpPr>
        <p:spPr>
          <a:xfrm xmlns:a="http://schemas.openxmlformats.org/drawingml/2006/main">
            <a:off x="777240" y="3840480"/>
            <a:ext cx="5029200" cy="8229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02000"/>
              </a:lnSpc>
              <a:buNone/>
            </a:pPr>
            <a:r>
              <a:rPr sz="1250">
                <a:solidFill>
                  <a:srgbClr val="E6F1F3"/>
                </a:solidFill>
                <a:latin typeface="Calibri"/>
                <a:ea typeface="Calibri"/>
                <a:cs typeface="Calibri"/>
              </a:rPr>
              <a:t>Core vital signs reflecting cardiovascular status.</a:t>
            </a:r>
            <a:endParaRPr sz="1250"/>
          </a:p>
        </p:txBody>
      </p:sp>
      <p:sp>
        <p:nvSpPr>
          <p:cNvPr id="13" name="Shape 11">
            <a:extLst xmlns:a="http://schemas.openxmlformats.org/drawingml/2006/main">
              <a:ext uri="{FF2B5EF4-FFF2-40B4-BE49-F238E27FC236}">
                <a16:creationId xmlns:a16="http://schemas.microsoft.com/office/drawing/2014/main" id="{4DC3D6D8-9408-4283-9941-CDEB29556179}"/>
              </a:ext>
            </a:extLst>
          </p:cNvPr>
          <p:cNvSpPr>
            <a:spLocks xmlns:a="http://schemas.openxmlformats.org/drawingml/2006/main" noGrp="1"/>
          </p:cNvSpPr>
          <p:nvPr/>
        </p:nvSpPr>
        <p:spPr>
          <a:xfrm xmlns:a="http://schemas.openxmlformats.org/drawingml/2006/main">
            <a:off x="6172200" y="3337560"/>
            <a:ext cx="5440680" cy="1389888"/>
          </a:xfrm>
          <a:prstGeom xmlns:a="http://schemas.openxmlformats.org/drawingml/2006/main" prst="roundRect">
            <a:avLst>
              <a:gd name="adj" fmla="val 5263"/>
            </a:avLst>
          </a:prstGeom>
          <a:solidFill xmlns:a="http://schemas.openxmlformats.org/drawingml/2006/main">
            <a:srgbClr val="13586A"/>
          </a:solidFill>
          <a:ln xmlns:a="http://schemas.openxmlformats.org/drawingml/2006/main" w="12700">
            <a:solidFill>
              <a:srgbClr val="2A7A8C"/>
            </a:solidFill>
            <a:prstDash val="solid"/>
          </a:ln>
        </p:spPr>
      </p:sp>
      <p:sp>
        <p:nvSpPr>
          <p:cNvPr id="14" name="Text 12">
            <a:extLst xmlns:a="http://schemas.openxmlformats.org/drawingml/2006/main">
              <a:ext uri="{FF2B5EF4-FFF2-40B4-BE49-F238E27FC236}">
                <a16:creationId xmlns:a16="http://schemas.microsoft.com/office/drawing/2014/main" id="{947BD716-1105-4B87-A575-72DED50CD2E6}"/>
              </a:ext>
            </a:extLst>
          </p:cNvPr>
          <p:cNvSpPr>
            <a:spLocks xmlns:a="http://schemas.openxmlformats.org/drawingml/2006/main" noGrp="1"/>
          </p:cNvSpPr>
          <p:nvPr/>
        </p:nvSpPr>
        <p:spPr>
          <a:xfrm xmlns:a="http://schemas.openxmlformats.org/drawingml/2006/main">
            <a:off x="6400800" y="3465576"/>
            <a:ext cx="50292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600" b="1">
                <a:solidFill>
                  <a:srgbClr val="7FD0C8"/>
                </a:solidFill>
                <a:latin typeface="Georgia"/>
                <a:ea typeface="Georgia"/>
                <a:cs typeface="Georgia"/>
              </a:rPr>
              <a:t>Edema</a:t>
            </a:r>
            <a:endParaRPr sz="1600"/>
          </a:p>
        </p:txBody>
      </p:sp>
      <p:sp>
        <p:nvSpPr>
          <p:cNvPr id="15" name="Text 13">
            <a:extLst xmlns:a="http://schemas.openxmlformats.org/drawingml/2006/main">
              <a:ext uri="{FF2B5EF4-FFF2-40B4-BE49-F238E27FC236}">
                <a16:creationId xmlns:a16="http://schemas.microsoft.com/office/drawing/2014/main" id="{6BCE4A2B-0B8E-4BBA-9567-B214CF2D7F7B}"/>
              </a:ext>
            </a:extLst>
          </p:cNvPr>
          <p:cNvSpPr>
            <a:spLocks xmlns:a="http://schemas.openxmlformats.org/drawingml/2006/main" noGrp="1"/>
          </p:cNvSpPr>
          <p:nvPr/>
        </p:nvSpPr>
        <p:spPr>
          <a:xfrm xmlns:a="http://schemas.openxmlformats.org/drawingml/2006/main">
            <a:off x="6400800" y="3840480"/>
            <a:ext cx="5029200" cy="8229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02000"/>
              </a:lnSpc>
              <a:buNone/>
            </a:pPr>
            <a:r>
              <a:rPr sz="1250">
                <a:solidFill>
                  <a:srgbClr val="E6F1F3"/>
                </a:solidFill>
                <a:latin typeface="Calibri"/>
                <a:ea typeface="Calibri"/>
                <a:cs typeface="Calibri"/>
              </a:rPr>
              <a:t>Fluid leaking from capillaries causes tissue swelling.</a:t>
            </a:r>
            <a:endParaRPr sz="1250"/>
          </a:p>
        </p:txBody>
      </p:sp>
      <p:sp>
        <p:nvSpPr>
          <p:cNvPr id="16" name="Shape 14">
            <a:extLst xmlns:a="http://schemas.openxmlformats.org/drawingml/2006/main">
              <a:ext uri="{FF2B5EF4-FFF2-40B4-BE49-F238E27FC236}">
                <a16:creationId xmlns:a16="http://schemas.microsoft.com/office/drawing/2014/main" id="{9B57B132-8B6F-42EF-92FC-10AFF259B1B9}"/>
              </a:ext>
            </a:extLst>
          </p:cNvPr>
          <p:cNvSpPr>
            <a:spLocks xmlns:a="http://schemas.openxmlformats.org/drawingml/2006/main" noGrp="1"/>
          </p:cNvSpPr>
          <p:nvPr/>
        </p:nvSpPr>
        <p:spPr>
          <a:xfrm xmlns:a="http://schemas.openxmlformats.org/drawingml/2006/main">
            <a:off x="548640" y="4892040"/>
            <a:ext cx="5440680" cy="1389888"/>
          </a:xfrm>
          <a:prstGeom xmlns:a="http://schemas.openxmlformats.org/drawingml/2006/main" prst="roundRect">
            <a:avLst>
              <a:gd name="adj" fmla="val 5263"/>
            </a:avLst>
          </a:prstGeom>
          <a:solidFill xmlns:a="http://schemas.openxmlformats.org/drawingml/2006/main">
            <a:srgbClr val="13586A"/>
          </a:solidFill>
          <a:ln xmlns:a="http://schemas.openxmlformats.org/drawingml/2006/main" w="12700">
            <a:solidFill>
              <a:srgbClr val="2A7A8C"/>
            </a:solidFill>
            <a:prstDash val="solid"/>
          </a:ln>
        </p:spPr>
      </p:sp>
      <p:sp>
        <p:nvSpPr>
          <p:cNvPr id="17" name="Text 15">
            <a:extLst xmlns:a="http://schemas.openxmlformats.org/drawingml/2006/main">
              <a:ext uri="{FF2B5EF4-FFF2-40B4-BE49-F238E27FC236}">
                <a16:creationId xmlns:a16="http://schemas.microsoft.com/office/drawing/2014/main" id="{4901E55A-E100-47F4-8C24-8E7026A483F1}"/>
              </a:ext>
            </a:extLst>
          </p:cNvPr>
          <p:cNvSpPr>
            <a:spLocks xmlns:a="http://schemas.openxmlformats.org/drawingml/2006/main" noGrp="1"/>
          </p:cNvSpPr>
          <p:nvPr/>
        </p:nvSpPr>
        <p:spPr>
          <a:xfrm xmlns:a="http://schemas.openxmlformats.org/drawingml/2006/main">
            <a:off x="777240" y="5020056"/>
            <a:ext cx="50292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600" b="1">
                <a:solidFill>
                  <a:srgbClr val="7FD0C8"/>
                </a:solidFill>
                <a:latin typeface="Georgia"/>
                <a:ea typeface="Georgia"/>
                <a:cs typeface="Georgia"/>
              </a:rPr>
              <a:t>Varicose Veins</a:t>
            </a:r>
            <a:endParaRPr sz="1600"/>
          </a:p>
        </p:txBody>
      </p:sp>
      <p:sp>
        <p:nvSpPr>
          <p:cNvPr id="18" name="Text 16">
            <a:extLst xmlns:a="http://schemas.openxmlformats.org/drawingml/2006/main">
              <a:ext uri="{FF2B5EF4-FFF2-40B4-BE49-F238E27FC236}">
                <a16:creationId xmlns:a16="http://schemas.microsoft.com/office/drawing/2014/main" id="{BA170FBF-06FC-45D8-B71C-3BB8878B472E}"/>
              </a:ext>
            </a:extLst>
          </p:cNvPr>
          <p:cNvSpPr>
            <a:spLocks xmlns:a="http://schemas.openxmlformats.org/drawingml/2006/main" noGrp="1"/>
          </p:cNvSpPr>
          <p:nvPr/>
        </p:nvSpPr>
        <p:spPr>
          <a:xfrm xmlns:a="http://schemas.openxmlformats.org/drawingml/2006/main">
            <a:off x="777240" y="5394960"/>
            <a:ext cx="5029200" cy="8229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02000"/>
              </a:lnSpc>
              <a:buNone/>
            </a:pPr>
            <a:r>
              <a:rPr sz="1250">
                <a:solidFill>
                  <a:srgbClr val="E6F1F3"/>
                </a:solidFill>
                <a:latin typeface="Calibri"/>
                <a:ea typeface="Calibri"/>
                <a:cs typeface="Calibri"/>
              </a:rPr>
              <a:t>Failed venous valves let blood pool in the legs.</a:t>
            </a:r>
            <a:endParaRPr sz="1250"/>
          </a:p>
        </p:txBody>
      </p:sp>
      <p:sp>
        <p:nvSpPr>
          <p:cNvPr id="19" name="Shape 17">
            <a:extLst xmlns:a="http://schemas.openxmlformats.org/drawingml/2006/main">
              <a:ext uri="{FF2B5EF4-FFF2-40B4-BE49-F238E27FC236}">
                <a16:creationId xmlns:a16="http://schemas.microsoft.com/office/drawing/2014/main" id="{B5CC93EB-0C9B-4D18-A150-58545981FABE}"/>
              </a:ext>
            </a:extLst>
          </p:cNvPr>
          <p:cNvSpPr>
            <a:spLocks xmlns:a="http://schemas.openxmlformats.org/drawingml/2006/main" noGrp="1"/>
          </p:cNvSpPr>
          <p:nvPr/>
        </p:nvSpPr>
        <p:spPr>
          <a:xfrm xmlns:a="http://schemas.openxmlformats.org/drawingml/2006/main">
            <a:off x="6172200" y="4892040"/>
            <a:ext cx="5440680" cy="1389888"/>
          </a:xfrm>
          <a:prstGeom xmlns:a="http://schemas.openxmlformats.org/drawingml/2006/main" prst="roundRect">
            <a:avLst>
              <a:gd name="adj" fmla="val 5263"/>
            </a:avLst>
          </a:prstGeom>
          <a:solidFill xmlns:a="http://schemas.openxmlformats.org/drawingml/2006/main">
            <a:srgbClr val="13586A"/>
          </a:solidFill>
          <a:ln xmlns:a="http://schemas.openxmlformats.org/drawingml/2006/main" w="12700">
            <a:solidFill>
              <a:srgbClr val="2A7A8C"/>
            </a:solidFill>
            <a:prstDash val="solid"/>
          </a:ln>
        </p:spPr>
      </p:sp>
      <p:sp>
        <p:nvSpPr>
          <p:cNvPr id="20" name="Text 18">
            <a:extLst xmlns:a="http://schemas.openxmlformats.org/drawingml/2006/main">
              <a:ext uri="{FF2B5EF4-FFF2-40B4-BE49-F238E27FC236}">
                <a16:creationId xmlns:a16="http://schemas.microsoft.com/office/drawing/2014/main" id="{4FD1AC52-1E2E-43BA-942A-BDE08DF56828}"/>
              </a:ext>
            </a:extLst>
          </p:cNvPr>
          <p:cNvSpPr>
            <a:spLocks xmlns:a="http://schemas.openxmlformats.org/drawingml/2006/main" noGrp="1"/>
          </p:cNvSpPr>
          <p:nvPr/>
        </p:nvSpPr>
        <p:spPr>
          <a:xfrm xmlns:a="http://schemas.openxmlformats.org/drawingml/2006/main">
            <a:off x="6400800" y="5020056"/>
            <a:ext cx="50292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600" b="1">
                <a:solidFill>
                  <a:srgbClr val="7FD0C8"/>
                </a:solidFill>
                <a:latin typeface="Georgia"/>
                <a:ea typeface="Georgia"/>
                <a:cs typeface="Georgia"/>
              </a:rPr>
              <a:t>IV Access</a:t>
            </a:r>
            <a:endParaRPr sz="1600"/>
          </a:p>
        </p:txBody>
      </p:sp>
      <p:sp>
        <p:nvSpPr>
          <p:cNvPr id="21" name="Text 19">
            <a:extLst xmlns:a="http://schemas.openxmlformats.org/drawingml/2006/main">
              <a:ext uri="{FF2B5EF4-FFF2-40B4-BE49-F238E27FC236}">
                <a16:creationId xmlns:a16="http://schemas.microsoft.com/office/drawing/2014/main" id="{440966AC-B888-4442-BB92-9B76ED2F8D58}"/>
              </a:ext>
            </a:extLst>
          </p:cNvPr>
          <p:cNvSpPr>
            <a:spLocks xmlns:a="http://schemas.openxmlformats.org/drawingml/2006/main" noGrp="1"/>
          </p:cNvSpPr>
          <p:nvPr/>
        </p:nvSpPr>
        <p:spPr>
          <a:xfrm xmlns:a="http://schemas.openxmlformats.org/drawingml/2006/main">
            <a:off x="6400800" y="5394960"/>
            <a:ext cx="5029200" cy="8229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02000"/>
              </a:lnSpc>
              <a:buNone/>
            </a:pPr>
            <a:r>
              <a:rPr sz="1250">
                <a:solidFill>
                  <a:srgbClr val="E6F1F3"/>
                </a:solidFill>
                <a:latin typeface="Calibri"/>
                <a:ea typeface="Calibri"/>
                <a:cs typeface="Calibri"/>
              </a:rPr>
              <a:t>Superficial veins are used for fluids, medications, and blood draws.</a:t>
            </a:r>
            <a:endParaRPr sz="1250"/>
          </a:p>
        </p:txBody>
      </p:sp>
    </p:spTree>
    <p:extLst>
      <p:ext uri="{BB962C8B-B14F-4D97-AF65-F5344CB8AC3E}">
        <p14:creationId xmlns:p14="http://schemas.microsoft.com/office/powerpoint/2010/main" val="2091000640"/>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2026-08-11T13:00:15.3600000Z</dcterms:created>
  <dcterms:modified xsi:type="dcterms:W3CDTF">2026-08-11T13:00:15.3600000Z</dcterms:modified>
</coreProperties>
</file>