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muscle tissue: three types (skeletal, cardiac, smooth), the detailed structure of skeletal muscle, the sliding-filament mechanism of contraction, how the nervous system controls force, and the special features of cardiac and smooth muscle.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muscle tissues share four properties — excitability, contractility, extensibility, and elasticity. Skeletal muscle (voluntary, striated) moves the skeleton; cardiac muscle (involuntary, striated) pumps blood; smooth muscle (involuntary, non-striated) lines hollow organs.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skeletal muscle is built in nested bundles: the whole muscle (wrapped by epimysium) holds fascicles (perimysium), which hold muscle fibers (endomysium), which hold myofibrils. These connective sheaths converge into the tendon that attaches muscle to bone.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muscle fiber (cell) is multinucleated and packed with myofibrils. Its membrane (sarcolemma) has inward T-tubules, and the sarcoplasmic reticulum stores calcium. The repeating sarcomere units along each myofibril create the striped (striated) appearance.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sarcomere, running between two Z lines, is the functional contractile unit. Thick myosin filaments interdigitate with thin actin filaments; the regulatory proteins troponin and tropomyosin control whether myosin can bind actin. Sarcomere shortening produces contraction.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skeletal muscle fiber contracts only when signaled by a motor neuron at the neuromuscular junction. The neuron releases acetylcholine, which triggers an action potential across the sarcolemma — the first step linking nerve signal to contraction. Many drugs and toxins act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action potential travels down the T-tubules, the sarcoplasmic reticulum releases calcium. Calcium binds troponin, shifting tropomyosin off the actin binding sites so myosin heads can attach and pull — coupling the electrical signal to mechanical contraction.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sliding filament model, the thick and thin filaments do not shrink — they slide past one another. Myosin heads form cross-bridges, pull the actin toward the sarcomere center, release, and repeat, shortening each sarcomere and the whole muscle. This requires ATP.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Muscles need a constant ATP supply. Stored ATP lasts only seconds; creatine phosphate regenerates it for short bursts; aerobic respiration powers sustained activity; and anaerobic glycolysis gives fast energy but yields lactic acid, contributing to fatigue. This underlies exercise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stimulus produces a twitch with a latent period, a contraction period, and a relaxation period. The nervous system grades force by recruiting more motor units (a neuron plus its fibers) and by firing them faster (summation), allowing both delicate and powerful movements.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Skeletal muscle contains slow-twitch (Type I) fibers — fatigue-resistant and rich in mitochondria for endurance — and fast-twitch (Type II) fibers, which contract quickly and forcefully but tire fast. Most muscles blend both, and training can shift the balance, as in marathoners versus sprinters.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changes muscle. Resistance training causes hypertrophy — existing fibers enlarge and strengthen (muscle does not gain new fibers). Endurance training adds mitochondria and blood supply for stamina. Activity also benefits the cardiovascular and skeletal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muscles are not used — during prolonged bed rest, casting, or paralysis — they atrophy, losing mass and strength surprisingly fast. This is why early mobility, repositioning, and physical therapy are priorities for immobile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Cardiac muscle, found only in the heart, is striated like skeletal muscle but involuntary. Its branching cells are linked by intercalated discs with gap junctions, letting electrical signals spread rapidly so the heart contracts as a coordinated unit. It is highly fatigue-resistant.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Smooth muscle lines the walls of hollow organs and blood vessels. It is involuntary and lacks striations, contracting slowly and sustainably with little fatigue. It propels food through the GI tract, regulates blood vessel diameter, and controls many other internal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10</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Muscle Tissue</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How muscle contracts, from sarcomere to whole-body movement.</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5914"/>
            <a:ext cx="4096512" cy="1969053"/>
          </a:xfrm>
          <a:prstGeom prst="roundRect">
            <a:avLst>
              <a:gd name="adj" fmla="val 278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10/img/img01.jpg">    </p:cNvPr>
          <p:cNvPicPr>
            <a:picLocks noChangeAspect="1"/>
          </p:cNvPicPr>
          <p:nvPr/>
        </p:nvPicPr>
        <p:blipFill>
          <a:blip r:embed="rId1"/>
          <a:stretch>
            <a:fillRect/>
          </a:stretch>
        </p:blipFill>
        <p:spPr>
          <a:xfrm>
            <a:off x="7818120" y="2618210"/>
            <a:ext cx="3931920" cy="18044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10</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the organization of muscle tissue</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function and structure of skeletal, cardiac muscle, and smooth muscle</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how muscles work with tendons to move the body</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how muscles contract and relax</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Define the process of muscle metabolism</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how the nervous system controls muscle tension</a:t>
            </a:r>
            <a:endParaRPr lang="en-US" sz="1300" dirty="0"/>
          </a:p>
        </p:txBody>
      </p:sp>
      <p:sp>
        <p:nvSpPr>
          <p:cNvPr id="23" name="Shape 21"/>
          <p:cNvSpPr/>
          <p:nvPr/>
        </p:nvSpPr>
        <p:spPr>
          <a:xfrm>
            <a:off x="8268389" y="1545336"/>
            <a:ext cx="2665622" cy="4370832"/>
          </a:xfrm>
          <a:prstGeom prst="roundRect">
            <a:avLst>
              <a:gd name="adj" fmla="val 205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10/img/img02.jpg">    </p:cNvPr>
          <p:cNvPicPr>
            <a:picLocks noChangeAspect="1"/>
          </p:cNvPicPr>
          <p:nvPr/>
        </p:nvPicPr>
        <p:blipFill>
          <a:blip r:embed="rId1"/>
          <a:stretch>
            <a:fillRect/>
          </a:stretch>
        </p:blipFill>
        <p:spPr>
          <a:xfrm>
            <a:off x="8350685" y="1627632"/>
            <a:ext cx="2501030" cy="4206240"/>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three types of muscle tissue.</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10.1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Overview of Muscle Tissues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three muscle types and the shared properties of muscle tissue.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Three Muscle Types</a:t>
            </a:r>
            <a:endParaRPr lang="en-US" sz="2800" dirty="0"/>
          </a:p>
        </p:txBody>
      </p:sp>
      <p:sp>
        <p:nvSpPr>
          <p:cNvPr id="4" name="Shape 2"/>
          <p:cNvSpPr/>
          <p:nvPr/>
        </p:nvSpPr>
        <p:spPr>
          <a:xfrm>
            <a:off x="1210208" y="1289304"/>
            <a:ext cx="2883103" cy="4736592"/>
          </a:xfrm>
          <a:prstGeom prst="roundRect">
            <a:avLst>
              <a:gd name="adj" fmla="val 190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0/img/img02.jpg">    </p:cNvPr>
          <p:cNvPicPr>
            <a:picLocks noChangeAspect="1"/>
          </p:cNvPicPr>
          <p:nvPr/>
        </p:nvPicPr>
        <p:blipFill>
          <a:blip r:embed="rId1"/>
          <a:stretch>
            <a:fillRect/>
          </a:stretch>
        </p:blipFill>
        <p:spPr>
          <a:xfrm>
            <a:off x="1292504" y="1371600"/>
            <a:ext cx="2718511"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Skeletal, cardiac, and smooth muscle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Skeletal, cardiac, and smooth</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All are excitable and contractile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Skeletal is voluntary and striated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Cardiac and smooth are involuntary</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10.2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Skeletal Muscle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organized structure of skeletal muscle, from whole muscle to sarcomere.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Organization of Skeletal Muscle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Muscle → fascicles → fibers → myofibrils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Connective sheaths wrap each level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Epimysium, perimysium, endomysium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Sheaths merge into the tendon</a:t>
            </a:r>
            <a:endParaRPr lang="en-US" sz="1500" dirty="0"/>
          </a:p>
        </p:txBody>
      </p:sp>
      <p:sp>
        <p:nvSpPr>
          <p:cNvPr id="5" name="Shape 3"/>
          <p:cNvSpPr/>
          <p:nvPr/>
        </p:nvSpPr>
        <p:spPr>
          <a:xfrm>
            <a:off x="6343801" y="1335024"/>
            <a:ext cx="4503118" cy="4645152"/>
          </a:xfrm>
          <a:prstGeom prst="roundRect">
            <a:avLst>
              <a:gd name="adj" fmla="val 121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0/img/img03.jpg">    </p:cNvPr>
          <p:cNvPicPr>
            <a:picLocks noChangeAspect="1"/>
          </p:cNvPicPr>
          <p:nvPr/>
        </p:nvPicPr>
        <p:blipFill>
          <a:blip r:embed="rId1"/>
          <a:stretch>
            <a:fillRect/>
          </a:stretch>
        </p:blipFill>
        <p:spPr>
          <a:xfrm>
            <a:off x="6426097" y="1417320"/>
            <a:ext cx="433852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connective-tissue organization of skeletal muscle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Muscle Fiber</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muscle cell is called a fiber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Sarcolemma is its membrane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Myofibrils run its length</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Striations come from sarcomeres</a:t>
            </a:r>
            <a:endParaRPr lang="en-US" sz="1500" dirty="0"/>
          </a:p>
        </p:txBody>
      </p:sp>
      <p:sp>
        <p:nvSpPr>
          <p:cNvPr id="5" name="Shape 3"/>
          <p:cNvSpPr/>
          <p:nvPr/>
        </p:nvSpPr>
        <p:spPr>
          <a:xfrm>
            <a:off x="5717867" y="1335024"/>
            <a:ext cx="5754987"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0/img/img04.jpg">    </p:cNvPr>
          <p:cNvPicPr>
            <a:picLocks noChangeAspect="1"/>
          </p:cNvPicPr>
          <p:nvPr/>
        </p:nvPicPr>
        <p:blipFill>
          <a:blip r:embed="rId1"/>
          <a:stretch>
            <a:fillRect/>
          </a:stretch>
        </p:blipFill>
        <p:spPr>
          <a:xfrm>
            <a:off x="5800163" y="1417320"/>
            <a:ext cx="559039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Structure of a skeletal muscle fiber</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Sarcomere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contractile unit of muscle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Thick (myosin) and thin (actin) filaments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Bounded by Z lines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Troponin and tropomyosin regulate it</a:t>
            </a:r>
            <a:endParaRPr lang="en-US" sz="1500" dirty="0"/>
          </a:p>
        </p:txBody>
      </p:sp>
      <p:sp>
        <p:nvSpPr>
          <p:cNvPr id="5" name="Shape 3"/>
          <p:cNvSpPr/>
          <p:nvPr/>
        </p:nvSpPr>
        <p:spPr>
          <a:xfrm>
            <a:off x="6082360" y="1335024"/>
            <a:ext cx="5026000"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0/img/img05.jpg">    </p:cNvPr>
          <p:cNvPicPr>
            <a:picLocks noChangeAspect="1"/>
          </p:cNvPicPr>
          <p:nvPr/>
        </p:nvPicPr>
        <p:blipFill>
          <a:blip r:embed="rId1"/>
          <a:stretch>
            <a:fillRect/>
          </a:stretch>
        </p:blipFill>
        <p:spPr>
          <a:xfrm>
            <a:off x="6164656" y="1417320"/>
            <a:ext cx="486140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sarcomere and its filaments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Neuromuscular Junction</a:t>
            </a:r>
            <a:endParaRPr lang="en-US" sz="2800" dirty="0"/>
          </a:p>
        </p:txBody>
      </p:sp>
      <p:sp>
        <p:nvSpPr>
          <p:cNvPr id="4" name="Shape 2"/>
          <p:cNvSpPr/>
          <p:nvPr/>
        </p:nvSpPr>
        <p:spPr>
          <a:xfrm>
            <a:off x="1258900" y="1289304"/>
            <a:ext cx="2785720" cy="4736592"/>
          </a:xfrm>
          <a:prstGeom prst="roundRect">
            <a:avLst>
              <a:gd name="adj" fmla="val 196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0/img/img06.jpg">    </p:cNvPr>
          <p:cNvPicPr>
            <a:picLocks noChangeAspect="1"/>
          </p:cNvPicPr>
          <p:nvPr/>
        </p:nvPicPr>
        <p:blipFill>
          <a:blip r:embed="rId1"/>
          <a:stretch>
            <a:fillRect/>
          </a:stretch>
        </p:blipFill>
        <p:spPr>
          <a:xfrm>
            <a:off x="1341196" y="1371600"/>
            <a:ext cx="262112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neuromuscular junction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Where a motor neuron meets a fiber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Releases acetylcholine (ACh)</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ACh triggers an action potential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Begins excitation–contraction coupling</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10.3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Muscle Fiber Contraction and Relaxation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a muscle fiber contracts and relaxes — the sliding filament model.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Excitation–Contraction Coupling</a:t>
            </a:r>
            <a:endParaRPr lang="en-US" sz="2800" dirty="0"/>
          </a:p>
        </p:txBody>
      </p:sp>
      <p:sp>
        <p:nvSpPr>
          <p:cNvPr id="4" name="Shape 2"/>
          <p:cNvSpPr/>
          <p:nvPr/>
        </p:nvSpPr>
        <p:spPr>
          <a:xfrm>
            <a:off x="835762" y="1289304"/>
            <a:ext cx="3631997" cy="4736592"/>
          </a:xfrm>
          <a:prstGeom prst="roundRect">
            <a:avLst>
              <a:gd name="adj" fmla="val 151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0/img/img07.jpg">    </p:cNvPr>
          <p:cNvPicPr>
            <a:picLocks noChangeAspect="1"/>
          </p:cNvPicPr>
          <p:nvPr/>
        </p:nvPicPr>
        <p:blipFill>
          <a:blip r:embed="rId1"/>
          <a:stretch>
            <a:fillRect/>
          </a:stretch>
        </p:blipFill>
        <p:spPr>
          <a:xfrm>
            <a:off x="918058" y="1371600"/>
            <a:ext cx="3467405"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steps of muscle contraction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Action potential reaches the fiber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Calcium is released from the SR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Calcium exposes actin binding sites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Myosin pulls actin → contraction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Sliding Filament Model</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Filaments slide; they don't shorten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Myosin heads pull actin inward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sarcomere shortens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whole muscle contracts</a:t>
            </a:r>
            <a:endParaRPr lang="en-US" sz="1500" dirty="0"/>
          </a:p>
        </p:txBody>
      </p:sp>
      <p:sp>
        <p:nvSpPr>
          <p:cNvPr id="5" name="Shape 3"/>
          <p:cNvSpPr/>
          <p:nvPr/>
        </p:nvSpPr>
        <p:spPr>
          <a:xfrm>
            <a:off x="6063766" y="1335024"/>
            <a:ext cx="506318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0/img/img09.jpg">    </p:cNvPr>
          <p:cNvPicPr>
            <a:picLocks noChangeAspect="1"/>
          </p:cNvPicPr>
          <p:nvPr/>
        </p:nvPicPr>
        <p:blipFill>
          <a:blip r:embed="rId1"/>
          <a:stretch>
            <a:fillRect/>
          </a:stretch>
        </p:blipFill>
        <p:spPr>
          <a:xfrm>
            <a:off x="6146062" y="1417320"/>
            <a:ext cx="489859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sliding filament model of contraction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Energy for Contraction</a:t>
            </a:r>
            <a:endParaRPr lang="en-US" sz="2800" dirty="0"/>
          </a:p>
        </p:txBody>
      </p:sp>
      <p:sp>
        <p:nvSpPr>
          <p:cNvPr id="4" name="Shape 2"/>
          <p:cNvSpPr/>
          <p:nvPr/>
        </p:nvSpPr>
        <p:spPr>
          <a:xfrm>
            <a:off x="536067" y="1289304"/>
            <a:ext cx="4231386" cy="4736592"/>
          </a:xfrm>
          <a:prstGeom prst="roundRect">
            <a:avLst>
              <a:gd name="adj" fmla="val 129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0/img/img11.jpg">    </p:cNvPr>
          <p:cNvPicPr>
            <a:picLocks noChangeAspect="1"/>
          </p:cNvPicPr>
          <p:nvPr/>
        </p:nvPicPr>
        <p:blipFill>
          <a:blip r:embed="rId1"/>
          <a:stretch>
            <a:fillRect/>
          </a:stretch>
        </p:blipFill>
        <p:spPr>
          <a:xfrm>
            <a:off x="618363" y="1371600"/>
            <a:ext cx="406679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Sources of ATP for muscle contraction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Muscles run on ATP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Creatine phosphate gives a quick burst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Aerobic respiration for endurance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Anaerobic glycolysis makes lactic acid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10.4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Nervous System Control of Muscle Tension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nervous system grades the strength of contraction.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Muscle Twitch</a:t>
            </a:r>
            <a:endParaRPr lang="en-US" sz="2800" dirty="0"/>
          </a:p>
        </p:txBody>
      </p:sp>
      <p:sp>
        <p:nvSpPr>
          <p:cNvPr id="4" name="Shape 2"/>
          <p:cNvSpPr/>
          <p:nvPr/>
        </p:nvSpPr>
        <p:spPr>
          <a:xfrm>
            <a:off x="3240967" y="1289304"/>
            <a:ext cx="572530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0/img/img14.jpg">    </p:cNvPr>
          <p:cNvPicPr>
            <a:picLocks noChangeAspect="1"/>
          </p:cNvPicPr>
          <p:nvPr/>
        </p:nvPicPr>
        <p:blipFill>
          <a:blip r:embed="rId1"/>
          <a:stretch>
            <a:fillRect/>
          </a:stretch>
        </p:blipFill>
        <p:spPr>
          <a:xfrm>
            <a:off x="3323263" y="1371600"/>
            <a:ext cx="556071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phases of a muscle twitch</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twitch is one contraction–relaxation cycle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Latent, contraction, and relaxation periods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Motor units grade fine vs. gross movement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Summation increases force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10.5</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Types of Muscle Fibers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Slow and fast muscle fibers suited to endurance or power.</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Types of Muscle Fibers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Slow-twitch fibers resist fatigue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Suited to endurance activities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Fast-twitch fibers contract powerfully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They fatigue more quickly</a:t>
            </a:r>
            <a:endParaRPr lang="en-US" sz="1500" dirty="0"/>
          </a:p>
        </p:txBody>
      </p:sp>
      <p:sp>
        <p:nvSpPr>
          <p:cNvPr id="5" name="Shape 3"/>
          <p:cNvSpPr/>
          <p:nvPr/>
        </p:nvSpPr>
        <p:spPr>
          <a:xfrm>
            <a:off x="5404104" y="1440469"/>
            <a:ext cx="6382512" cy="4434262"/>
          </a:xfrm>
          <a:prstGeom prst="roundRect">
            <a:avLst>
              <a:gd name="adj" fmla="val 123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0/img/img15.jpg">    </p:cNvPr>
          <p:cNvPicPr>
            <a:picLocks noChangeAspect="1"/>
          </p:cNvPicPr>
          <p:nvPr/>
        </p:nvPicPr>
        <p:blipFill>
          <a:blip r:embed="rId1"/>
          <a:stretch>
            <a:fillRect/>
          </a:stretch>
        </p:blipFill>
        <p:spPr>
          <a:xfrm>
            <a:off x="5486400" y="1522765"/>
            <a:ext cx="6217920" cy="426967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Endurance depends on muscle fiber type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10.6</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Exercise and Muscle Performance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exercise and disuse change muscle size and performance.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Exercise &amp; Hypertrophy</a:t>
            </a:r>
            <a:endParaRPr lang="en-US" sz="2800" dirty="0"/>
          </a:p>
        </p:txBody>
      </p:sp>
      <p:sp>
        <p:nvSpPr>
          <p:cNvPr id="4" name="Shape 2"/>
          <p:cNvSpPr/>
          <p:nvPr/>
        </p:nvSpPr>
        <p:spPr>
          <a:xfrm>
            <a:off x="3346704" y="1289304"/>
            <a:ext cx="5513832"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0/img/img16.jpg">    </p:cNvPr>
          <p:cNvPicPr>
            <a:picLocks noChangeAspect="1"/>
          </p:cNvPicPr>
          <p:nvPr/>
        </p:nvPicPr>
        <p:blipFill>
          <a:blip r:embed="rId1"/>
          <a:stretch>
            <a:fillRect/>
          </a:stretch>
        </p:blipFill>
        <p:spPr>
          <a:xfrm>
            <a:off x="3429000" y="1371600"/>
            <a:ext cx="5349240"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Muscle hypertrophy from exercise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Resistance exercise enlarges fibers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Builds strength and power</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Endurance exercise boosts stamina</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Improves blood supply and metabolism</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Muscle Atrophy</a:t>
            </a:r>
            <a:endParaRPr lang="en-US" sz="2800" dirty="0"/>
          </a:p>
        </p:txBody>
      </p:sp>
      <p:sp>
        <p:nvSpPr>
          <p:cNvPr id="4" name="Shape 2"/>
          <p:cNvSpPr/>
          <p:nvPr/>
        </p:nvSpPr>
        <p:spPr>
          <a:xfrm>
            <a:off x="3009702" y="1289304"/>
            <a:ext cx="6187836"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0/img/img17.jpg">    </p:cNvPr>
          <p:cNvPicPr>
            <a:picLocks noChangeAspect="1"/>
          </p:cNvPicPr>
          <p:nvPr/>
        </p:nvPicPr>
        <p:blipFill>
          <a:blip r:embed="rId1"/>
          <a:stretch>
            <a:fillRect/>
          </a:stretch>
        </p:blipFill>
        <p:spPr>
          <a:xfrm>
            <a:off x="3091998" y="1371600"/>
            <a:ext cx="6023244"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Normal versus atrophied muscle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Disuse shrinks muscle (atrophy)</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Occurs with immobility or bed rest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Strength and mass decline quickly</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Prevented by movement and exercise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10.7</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Cardiac Muscle Tissue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involuntary striated muscle that pumps the heart.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Cardiac Muscle</a:t>
            </a:r>
            <a:endParaRPr lang="en-US" sz="2800" dirty="0"/>
          </a:p>
        </p:txBody>
      </p:sp>
      <p:sp>
        <p:nvSpPr>
          <p:cNvPr id="4" name="Shape 2"/>
          <p:cNvSpPr/>
          <p:nvPr/>
        </p:nvSpPr>
        <p:spPr>
          <a:xfrm>
            <a:off x="2207851" y="1289304"/>
            <a:ext cx="7791538"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0/img/img19.jpg">    </p:cNvPr>
          <p:cNvPicPr>
            <a:picLocks noChangeAspect="1"/>
          </p:cNvPicPr>
          <p:nvPr/>
        </p:nvPicPr>
        <p:blipFill>
          <a:blip r:embed="rId1"/>
          <a:stretch>
            <a:fillRect/>
          </a:stretch>
        </p:blipFill>
        <p:spPr>
          <a:xfrm>
            <a:off x="2290147" y="1371600"/>
            <a:ext cx="7626946"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Cardiac muscle tissue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Found only in the heart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Striated but involuntary</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Cells joined by intercalated discs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Gap junctions coordinate the beat</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10.8</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Smooth Muscle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involuntary muscle of hollow organs and vessels.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10.8</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Smooth Muscle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Lines hollow organs and vessels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Involuntary and non-striated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Slow, sustained contractions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Moves food, blood, and urine</a:t>
            </a:r>
            <a:endParaRPr lang="en-US" sz="1500" dirty="0"/>
          </a:p>
        </p:txBody>
      </p:sp>
      <p:sp>
        <p:nvSpPr>
          <p:cNvPr id="5" name="Shape 3"/>
          <p:cNvSpPr/>
          <p:nvPr/>
        </p:nvSpPr>
        <p:spPr>
          <a:xfrm>
            <a:off x="5874686" y="1335024"/>
            <a:ext cx="544134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0/img/img20.jpg">    </p:cNvPr>
          <p:cNvPicPr>
            <a:picLocks noChangeAspect="1"/>
          </p:cNvPicPr>
          <p:nvPr/>
        </p:nvPicPr>
        <p:blipFill>
          <a:blip r:embed="rId1"/>
          <a:stretch>
            <a:fillRect/>
          </a:stretch>
        </p:blipFill>
        <p:spPr>
          <a:xfrm>
            <a:off x="5956982" y="1417320"/>
            <a:ext cx="527675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Smooth muscle tissue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10</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three muscle types — skeletal, cardiac, and smooth — share excitability and contractility.</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Skeletal muscle is organized from the whole muscle down to the sarcomere.</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Contraction follows the sliding filament model and requires calcium and ATP.</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nervous system grades contraction strength through motor-unit recruitment.</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Cardiac and smooth muscle are involuntary, specialized for the heart and hollow organs.</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10 — Muscle Tissue</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Muscle Tissue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Mobility &amp; Atrophy</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Disuse weakens muscle fast — early movement prevents decline.</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Neuromuscular Drugs</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Many medications act at the neuromuscular junction.</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Energy &amp; Fatigue</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ATP supply and lactic acid shape exercise tolerance.</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Cardiac Muscle</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Coordinated contraction underlies every heartbeat and EKG.</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Smooth Muscle</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It controls blood pressure, airflow, and GI motility.</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Rehabilitation</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Understanding contraction guides strengthening and recovery.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2026-06-23T20:31:45Z</dcterms:created>
  <dcterms:modified xsi:type="dcterms:W3CDTF">2026-06-23T20:31:45Z</dcterms:modified>
</cp:coreProperties>
</file>