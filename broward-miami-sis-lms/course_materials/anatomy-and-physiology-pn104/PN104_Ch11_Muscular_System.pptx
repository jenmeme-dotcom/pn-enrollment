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82880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Muscular System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749808" y="36118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anatomy of skeletal muscle — interactions, naming, and the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and appendicular muscles of the body.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90104" y="1686576"/>
            <a:ext cx="4096512" cy="3667728"/>
          </a:xfrm>
          <a:prstGeom prst="roundRect">
            <a:avLst>
              <a:gd name="adj" fmla="val 149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img/img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768872"/>
            <a:ext cx="3931920" cy="35031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58191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actions and roles of agonists and antagonists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structure of muscle fascicles and their role in generating force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08152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criteria used to name skeletal muscles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83133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major skeletal muscles and their actions on the body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58114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origins and insertions of muscles and the prime movers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58584" y="1774727"/>
            <a:ext cx="4828032" cy="2302706"/>
          </a:xfrm>
          <a:prstGeom prst="roundRect">
            <a:avLst>
              <a:gd name="adj" fmla="val 238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0" descr="img/img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857023"/>
            <a:ext cx="4663440" cy="213811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040880" y="4434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is the product of muscle, bone, and nervous control working together.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1325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83464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Interactions of Skeletal Muscles, Fascicle Arrangement &amp; Lever Systems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muscles work in groups, how fascicle geometry shapes force, and how bones act as levers.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Agonists, Antagonists &amp; Synergists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mover (agonist) produces the main movement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Antagonist opposes and controls the motion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Synergists assist; fixators stabilize the origin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biceps flexes, triceps extends the elbow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71941" y="1335024"/>
            <a:ext cx="5846838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mg/img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237" y="1417320"/>
            <a:ext cx="568224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Biceps brachii acting as a prime mover with synergists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Fascicle Arrangement &amp; Muscle Shapes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Fascicle pattern sets the force–range trade-off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Parallel, fusiform, convergent, circular, pennate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Pennate muscles pack more fibers → greater force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muscles (sphincters) close body openings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35371" y="1335024"/>
            <a:ext cx="4719977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mg/img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667" y="1417320"/>
            <a:ext cx="455538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of fascicle organization seen throughout the body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Lever Systems &amp; Muscle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are levers; joints are fulcrums; muscle is effort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First-, second-, and third-class levers occur in the body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body levers are third-class (favor speed/range)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lets a small effort move a larger load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98574" y="1335024"/>
            <a:ext cx="5193573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mg/img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870" y="1417320"/>
            <a:ext cx="5028981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generates movement by pulling on bony levers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83464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 Skeletal Muscles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names are descriptive codes — decode them to predict location and action.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Skeletal Muscles Are Named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53794" y="1289304"/>
            <a:ext cx="2195932" cy="4736592"/>
          </a:xfrm>
          <a:prstGeom prst="roundRect">
            <a:avLst>
              <a:gd name="adj" fmla="val 249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090" y="1371600"/>
            <a:ext cx="203134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skeletal muscles, anterior and posterior views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by location, shape, size, and fiber direction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by number of origins and by origin/insertion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by action: flexor, extensor, adductor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the name predicts what the muscle does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 Criteria — Worked Examples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0624" y="2732655"/>
            <a:ext cx="4462272" cy="1849891"/>
          </a:xfrm>
          <a:prstGeom prst="roundRect">
            <a:avLst>
              <a:gd name="adj" fmla="val 296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14951"/>
            <a:ext cx="4297680" cy="16852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word roots used in muscle names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each name into root + meaning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"Abductor digiti minimi" → moves the little finger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personal glossary of recurring roots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name to predict location and action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83464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Axial Muscles of the Head, Neck &amp; Back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expression, mastication, eye and tongue movement, neck support, and spinal posture.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Muscles of Facial Expression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81738" y="1289304"/>
            <a:ext cx="6043763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034" y="1371600"/>
            <a:ext cx="5879171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muscles, anterior and lateral views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skin, not bone → move soft tissue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innervated by the facial nerve (CN VII)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Orbicularis oris/oculi, zygomaticus, buccinator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CN VII palsy causes facial drooping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Facial Expression — Reference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31418" y="1289304"/>
            <a:ext cx="3640684" cy="4736592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14" y="1371600"/>
            <a:ext cx="347609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of facial expression: action, origin, insertion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muscles by region: eye, mouth, nose, scalp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shared CN VII innervation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action verbs: elevate, compress, purse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the diagram on the previous slide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Muscles of the Eye &amp; Mastication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99501" y="1289304"/>
            <a:ext cx="7608238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797" y="1371600"/>
            <a:ext cx="7443646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Extraocular muscles and the muscles of mastication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extraocular muscles move the eyeball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Mastication: masseter, temporalis, pterygoids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Chewing muscles served by trigeminal nerve (CN V)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check jaw strength and symmetry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Muscles That Move the Tongue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86694" y="1289304"/>
            <a:ext cx="7433853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990" y="1371600"/>
            <a:ext cx="7269261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of mastication and the tongue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muscles change the tongue's shape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Extrinsic muscles (-glossus) move its position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Innervated by the hypoglossal nerve (CN XII)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speech, chewing, and swallowing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Tongue &amp; Pharyngeal Muscles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52194" y="1289304"/>
            <a:ext cx="6902851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490" y="1371600"/>
            <a:ext cx="6738259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 muscles and associated pharyngeal structures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the oral phase of swallowing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food bolus toward the pharynx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suprahyoid muscles to elevate the larynx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Dysfunction → dysphagia and aspiration risk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 &amp; Neck — Reference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673" y="1289304"/>
            <a:ext cx="3678174" cy="4736592"/>
          </a:xfrm>
          <a:prstGeom prst="roundRect">
            <a:avLst>
              <a:gd name="adj" fmla="val 149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69" y="1371600"/>
            <a:ext cx="351358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of the head and neck: summary table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head and neck muscle actions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each muscle's cranial-nerve supply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prime mover for each motion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targeted review before exams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Anterior Neck — Hyoid Muscles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Suprahyoid muscles elevate the hyoid and larynx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Infrahyoid (strap) muscles depress them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the hyoid for speech and swallowing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for airway and thyroid assessment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31449" y="1335024"/>
            <a:ext cx="5527822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mg/img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745" y="1417320"/>
            <a:ext cx="536323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Suprahyoid and infrahyoid muscles of the neck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Muscles of the Neck &amp; 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0624" y="2837327"/>
            <a:ext cx="4462272" cy="1640545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19623"/>
            <a:ext cx="4297680" cy="14759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and lateral muscles of the neck and back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Sternocleidomastoid flexes and rotates the head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Trapezius and scalenes support posture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muscles stabilize the cervical spine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Scalenes act as accessory respiratory muscles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Back — Erector Spinae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2361" y="1289304"/>
            <a:ext cx="4098798" cy="4736592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57" y="1371600"/>
            <a:ext cx="393420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Erector spinae group and the deep back muscles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Erector spinae = iliocostalis, longissimus, spinalis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and stabilize the vertebral column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upright posture against gravity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source of mechanical low-back strain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83464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Axial Muscles of the Abdominal Wall &amp; Thorax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core, the diaphragm and intercostals of breathing, and the pelvic floor.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Muscles of the Abdominal Wall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Rectus abdominis flexes the trunk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External/internal obliques bend and rotate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Transversus abdominis compresses the abdomen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posture, breathing, and core stability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78639" y="1335024"/>
            <a:ext cx="3633442" cy="4645152"/>
          </a:xfrm>
          <a:prstGeom prst="roundRect">
            <a:avLst>
              <a:gd name="adj" fmla="val 151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mg/img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935" y="1417320"/>
            <a:ext cx="346885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muscles of the anterior abdominal wall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Diaphragm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muscle of inspiration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and flattens → thoracic volume rises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Innervated by the phrenic nerve (C3–C5)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"C3, 4, 5 keep the diaphragm alive"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51049" y="1335024"/>
            <a:ext cx="6288621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mg/img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345" y="1417320"/>
            <a:ext cx="612402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diaphragm, inferior view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Thoracic Muscles &amp; Intercostals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intercostals elevate ribs (inspiration)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intercostals depress ribs (forced expiration)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Accessory muscles assist in respiratory distress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Retractions signal increased work of breathing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835636"/>
            <a:ext cx="6382512" cy="3643927"/>
          </a:xfrm>
          <a:prstGeom prst="roundRect">
            <a:avLst>
              <a:gd name="adj" fmla="val 150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mg/img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917932"/>
            <a:ext cx="6217920" cy="34793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Intercostal muscles of the thoracic wall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Pelvic Floor &amp; Perineum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Levator ani forms the pelvic diaphragm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bladder, rectum, and pelvic organs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continence of urine and stool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→ prolapse and incontinence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36712" y="1335024"/>
            <a:ext cx="6317297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mg/img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008" y="1417320"/>
            <a:ext cx="615270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of the pelvic floor (perineum)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Pelvic Diaphragm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27385" y="1289304"/>
            <a:ext cx="595247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681" y="1371600"/>
            <a:ext cx="578787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diaphragm, male and female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Levator ani + coccygeus = pelvic diaphragm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differences in the openings it transmits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Resists downward intra-abdominal pressure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 bowel, bladder, and sexual function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83464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Muscles of the Pectoral Girdle &amp; Upper Limbs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the scapula, moving the humerus and forearm, and the muscles of the hand.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Pectoral Girdle — Reference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0624" y="1469630"/>
            <a:ext cx="4462272" cy="4375939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1926"/>
            <a:ext cx="4297680" cy="4211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that position the pectoral girdle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the upper limb to the axial skeleton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muscles position the scapula and clavicle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scapula enables efficient arm movement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the humerus muscles that follow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 the Pectoral Girdle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28325" y="1289304"/>
            <a:ext cx="7950589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621" y="1371600"/>
            <a:ext cx="7785997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and posterior muscles of the pectoral girdle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Trapezius and serratus anterior move the scapula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Rhomboids retract; pectoralis minor depresses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the shoulder for lifting and reaching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Serratus anterior weakness → "winged scapula"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Muscles That Move the Humerus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0624" y="1289547"/>
            <a:ext cx="4462272" cy="4736106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843"/>
            <a:ext cx="4297680" cy="45715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that move the humerus, including the rotator cuff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Deltoid abducts; pectoralis major adducts/flexes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Latissimus dorsi extends and medially rotates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Rotator cuff (SITS) stabilizes the joint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mobile — and least stable — joint in the body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Humerus Muscles — Reference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6067" y="1289304"/>
            <a:ext cx="4231386" cy="4736592"/>
          </a:xfrm>
          <a:prstGeom prst="roundRect">
            <a:avLst>
              <a:gd name="adj" fmla="val 129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63" y="1371600"/>
            <a:ext cx="406679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that move the humerus: summary table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movers by action: flex, extend, abduct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rotator cuff from the prime movers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origin/insertion to the motion produced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skills lab and exam review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Muscles That Move the Forearm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6890" y="1289304"/>
            <a:ext cx="3869741" cy="4736592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6" y="1371600"/>
            <a:ext cx="3705149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of the arm that move the forearm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Biceps brachii and brachialis flex the elbow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Triceps brachii extends the elbow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Supinator and pronators rotate the forearm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vs. posterior compartments group them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Forearm — Muscles of the Wrist (Table)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0624" y="1413276"/>
            <a:ext cx="4462272" cy="4488649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95572"/>
            <a:ext cx="4297680" cy="43240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that move the forearm: reference table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compartment flexes wrist and fingers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compartment extends wrist and fingers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tendons cross from forearm into the hand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Median, ulnar, and radial nerve supply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Wrist &amp; Hand — Reference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1939" y="1289304"/>
            <a:ext cx="3539642" cy="4736592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35" y="1371600"/>
            <a:ext cx="337505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of the wrist and hand: reference table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Extrinsic muscles power gross grip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Retinacula stabilize the long tendons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Carpal tunnel transmits the median nerve + tendons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carpal tunnel syndrome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Intrinsic Muscles of the Hand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Thenar, hypothenar, and midpalmar groups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fine, precise finger movements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opposition enables a functional grasp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Nerve injury impairs dexterity and grip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673" y="1335024"/>
            <a:ext cx="4755374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mg/img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969" y="1417320"/>
            <a:ext cx="459078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muscles of the hand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83464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Appendicular Muscles of the Pelvic Girdle &amp; Lower Limbs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hip, thigh, leg, and foot muscles that power standing, walking, and balance.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Muscles of the Gluteal Region &amp; Thigh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9010" y="1289304"/>
            <a:ext cx="3765499" cy="4736592"/>
          </a:xfrm>
          <a:prstGeom prst="roundRect">
            <a:avLst>
              <a:gd name="adj" fmla="val 145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" y="1371600"/>
            <a:ext cx="3600907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of the gluteal region acting on the femur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Gluteus maximus extends the hip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Gluteus medius/minimus abduct and stabilize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Iliopsoas is the main hip flexor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and balance depend on these muscles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Gluteal Region — Reference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103" y="1289304"/>
            <a:ext cx="3201314" cy="4736592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399" y="1371600"/>
            <a:ext cx="303672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of the gluteal region: summary table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flexors, extensors, abductors, rotators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pelvic stabilizers used in gait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fall risk and mobility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clinical skills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Muscles of the Thigh — Reference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28573" y="1289304"/>
            <a:ext cx="3446374" cy="4736592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69" y="1371600"/>
            <a:ext cx="328178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of the thigh: reference table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Quadriceps extend the knee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Hamstrings flex the knee and extend the hip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Adductors pull the thigh medially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muscles for transfers and walking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Muscles That Move the Foot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28959" y="1289304"/>
            <a:ext cx="6149322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255" y="1371600"/>
            <a:ext cx="598473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of the leg that move the foot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leg dorsiflexes (tibialis anterior)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leg plantarflexes (gastrocnemius, soleus)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Calf muscles form the Achilles tendon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fibular nerve injury → "foot drop"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 Muscles — Reference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5027" y="1289304"/>
            <a:ext cx="3493465" cy="4736592"/>
          </a:xfrm>
          <a:prstGeom prst="roundRect">
            <a:avLst>
              <a:gd name="adj" fmla="val 157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23" y="1371600"/>
            <a:ext cx="3328873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of the leg: reference table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compartment: anterior, lateral, posterior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muscle to its foot movement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tendons crossing the ankle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 syndrome awareness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Intrinsic Muscles of the Foot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arches of the foot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balance and fine foot control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plantar muscles cushion body weight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support matters in diabetic foot care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81882" y="1335024"/>
            <a:ext cx="6026957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img/img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178" y="1417320"/>
            <a:ext cx="586236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muscles of the foot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 Muscles — Reference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3661" y="1289304"/>
            <a:ext cx="3416198" cy="473659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76200" dist="25400" dir="5400000" algn="bl" rotWithShape="0">
              <a:srgbClr val="9AA9AE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img/img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57" y="1371600"/>
            <a:ext cx="325160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of the foot: reference table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Plantar muscles arranged in four layers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intrinsic and extrinsic tendons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arches and move the toes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foot assessment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7373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act in coordinated groups — agonist, antagonist, synergist, and fixator.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946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4871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Fascicle arrangement sets the trade-off between force and range of motion.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323697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names encode location, shape, size, direction, action, and attachments.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98678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muscles support the head, neck, trunk, breathing, and continence.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1888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4736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Appendicular muscles move the limbs and underlie gait, grasp, and balance.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11 — The Muscular System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Muscular System Matters in Practical Nursing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Breathing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Diaphragm (C3–C5), intercostals, and accessory muscles drive ventilation — watch for retractions.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Mobility &amp; Transfers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Gluteals, quadriceps, and hamstrings power standing and walking — central to fall risk and safe lifting.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Swallowing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Tongue, suprahyoid, and pharyngeal muscles protect the airway — basis for aspiration precautions.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pelvic floor (levator ani) supports organs and controls elimination — weakness causes incontinence.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Cranial Nerves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muscle groups to CN V (chewing), VII (face), XII (tongue), and XI (SCM/trapezius).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Mechanics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Erector spinae and core muscles protect the back — reinforce lifting technique with every patient.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4047</Words>
  <Application>Microsoft Office PowerPoint</Application>
  <PresentationFormat>Widescreen</PresentationFormat>
  <Paragraphs>456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Darline B Riggs</cp:lastModifiedBy>
  <cp:revision>1</cp:revision>
  <dcterms:created xsi:type="dcterms:W3CDTF">2026-06-23T19:32:21Z</dcterms:created>
  <dcterms:modified xsi:type="dcterms:W3CDTF">2026-06-23T19:52:06Z</dcterms:modified>
</cp:coreProperties>
</file>