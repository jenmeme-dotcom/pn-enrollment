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f921ca4b1e4ef4" /><Relationship Type="http://schemas.openxmlformats.org/officeDocument/2006/relationships/extended-properties" Target="/docProps/app.xml" Id="R7a2f9b5c227e45af" /><Relationship Type="http://schemas.openxmlformats.org/officeDocument/2006/relationships/officeDocument" Target="/ppt/presentation.xml" Id="Reea90a8c179945f8" /></Relationships>
</file>

<file path=ppt/presentation.xml><?xml version="1.0" encoding="utf-8"?>
<p:presentation xmlns:p="http://schemas.openxmlformats.org/presentationml/2006/main">
  <p:sldMasterIdLst>
    <p:sldMasterId xmlns:r="http://schemas.openxmlformats.org/officeDocument/2006/relationships" id="2147483648" r:id="R3b819c4814104244"/>
  </p:sldMasterIdLst>
  <p:notesMasterIdLst>
    <p:notesMasterId xmlns:r="http://schemas.openxmlformats.org/officeDocument/2006/relationships" r:id="R23fdbe43d87142e5"/>
  </p:notesMasterIdLst>
  <p:sldIdLst>
    <p:sldId xmlns:r="http://schemas.openxmlformats.org/officeDocument/2006/relationships" id="256" r:id="R6718ab208760433a"/>
    <p:sldId xmlns:r="http://schemas.openxmlformats.org/officeDocument/2006/relationships" id="257" r:id="R90fce832f8a54c40"/>
    <p:sldId xmlns:r="http://schemas.openxmlformats.org/officeDocument/2006/relationships" id="258" r:id="R5ba70ed55dba410d"/>
    <p:sldId xmlns:r="http://schemas.openxmlformats.org/officeDocument/2006/relationships" id="259" r:id="R23053f3978eb4434"/>
    <p:sldId xmlns:r="http://schemas.openxmlformats.org/officeDocument/2006/relationships" id="260" r:id="R6395719694f04e01"/>
    <p:sldId xmlns:r="http://schemas.openxmlformats.org/officeDocument/2006/relationships" id="261" r:id="Rd028134059dd4819"/>
    <p:sldId xmlns:r="http://schemas.openxmlformats.org/officeDocument/2006/relationships" id="262" r:id="R360ab429c7754d35"/>
    <p:sldId xmlns:r="http://schemas.openxmlformats.org/officeDocument/2006/relationships" id="263" r:id="R976b92383a024af4"/>
    <p:sldId xmlns:r="http://schemas.openxmlformats.org/officeDocument/2006/relationships" id="264" r:id="R41fef8c5a8dc4867"/>
    <p:sldId xmlns:r="http://schemas.openxmlformats.org/officeDocument/2006/relationships" id="265" r:id="R3290450039524cb4"/>
    <p:sldId xmlns:r="http://schemas.openxmlformats.org/officeDocument/2006/relationships" id="266" r:id="R80788661ab7640ac"/>
    <p:sldId xmlns:r="http://schemas.openxmlformats.org/officeDocument/2006/relationships" id="267" r:id="R544b8cbfbea247f2"/>
    <p:sldId xmlns:r="http://schemas.openxmlformats.org/officeDocument/2006/relationships" id="268" r:id="Rf454133c57cb4da9"/>
    <p:sldId xmlns:r="http://schemas.openxmlformats.org/officeDocument/2006/relationships" id="269" r:id="Rf4bb40963efc4617"/>
    <p:sldId xmlns:r="http://schemas.openxmlformats.org/officeDocument/2006/relationships" id="270" r:id="R782da2d674f94e7a"/>
    <p:sldId xmlns:r="http://schemas.openxmlformats.org/officeDocument/2006/relationships" id="271" r:id="R79f009e5fc384042"/>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6a04f43bd064a31" /><Relationship Type="http://schemas.openxmlformats.org/officeDocument/2006/relationships/slideMaster" Target="/ppt/slideMasters/slideMaster1.xml" Id="R3b819c4814104244" /><Relationship Type="http://schemas.openxmlformats.org/officeDocument/2006/relationships/notesMaster" Target="/ppt/notesMasters/notesMaster1.xml" Id="R23fdbe43d87142e5" /><Relationship Type="http://schemas.openxmlformats.org/officeDocument/2006/relationships/presProps" Target="/ppt/presProps.xml" Id="Rd047104014b740fc" /><Relationship Type="http://schemas.openxmlformats.org/officeDocument/2006/relationships/viewProps" Target="/ppt/viewProps.xml" Id="Rbb1b95eab43c41fb" /><Relationship Type="http://schemas.openxmlformats.org/officeDocument/2006/relationships/tableStyles" Target="/ppt/tableStyles.xml" Id="Rbbeb21bb8d9f4194" /><Relationship Type="http://schemas.openxmlformats.org/officeDocument/2006/relationships/slide" Target="/ppt/slides/slide1.xml" Id="R6718ab208760433a" /><Relationship Type="http://schemas.openxmlformats.org/officeDocument/2006/relationships/slide" Target="/ppt/slides/slide2.xml" Id="R90fce832f8a54c40" /><Relationship Type="http://schemas.openxmlformats.org/officeDocument/2006/relationships/slide" Target="/ppt/slides/slide3.xml" Id="R5ba70ed55dba410d" /><Relationship Type="http://schemas.openxmlformats.org/officeDocument/2006/relationships/slide" Target="/ppt/slides/slide4.xml" Id="R23053f3978eb4434" /><Relationship Type="http://schemas.openxmlformats.org/officeDocument/2006/relationships/slide" Target="/ppt/slides/slide5.xml" Id="R6395719694f04e01" /><Relationship Type="http://schemas.openxmlformats.org/officeDocument/2006/relationships/slide" Target="/ppt/slides/slide6.xml" Id="Rd028134059dd4819" /><Relationship Type="http://schemas.openxmlformats.org/officeDocument/2006/relationships/slide" Target="/ppt/slides/slide7.xml" Id="R360ab429c7754d35" /><Relationship Type="http://schemas.openxmlformats.org/officeDocument/2006/relationships/slide" Target="/ppt/slides/slide8.xml" Id="R976b92383a024af4" /><Relationship Type="http://schemas.openxmlformats.org/officeDocument/2006/relationships/slide" Target="/ppt/slides/slide9.xml" Id="R41fef8c5a8dc4867" /><Relationship Type="http://schemas.openxmlformats.org/officeDocument/2006/relationships/slide" Target="/ppt/slides/slide10.xml" Id="R3290450039524cb4" /><Relationship Type="http://schemas.openxmlformats.org/officeDocument/2006/relationships/slide" Target="/ppt/slides/slide11.xml" Id="R80788661ab7640ac" /><Relationship Type="http://schemas.openxmlformats.org/officeDocument/2006/relationships/slide" Target="/ppt/slides/slide12.xml" Id="R544b8cbfbea247f2" /><Relationship Type="http://schemas.openxmlformats.org/officeDocument/2006/relationships/slide" Target="/ppt/slides/slide13.xml" Id="Rf454133c57cb4da9" /><Relationship Type="http://schemas.openxmlformats.org/officeDocument/2006/relationships/slide" Target="/ppt/slides/slide14.xml" Id="Rf4bb40963efc4617" /><Relationship Type="http://schemas.openxmlformats.org/officeDocument/2006/relationships/slide" Target="/ppt/slides/slide15.xml" Id="R782da2d674f94e7a" /><Relationship Type="http://schemas.openxmlformats.org/officeDocument/2006/relationships/slide" Target="/ppt/slides/slide16.xml" Id="R79f009e5fc3840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9b631f640345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5b12d870704529" /><Relationship Type="http://schemas.openxmlformats.org/officeDocument/2006/relationships/notesMaster" Target="/ppt/notesMasters/notesMaster1.xml" Id="R2f93c9e9dd784d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a8e5bd8fe74a4f" /><Relationship Type="http://schemas.openxmlformats.org/officeDocument/2006/relationships/notesMaster" Target="/ppt/notesMasters/notesMaster1.xml" Id="R7a7d159c30b140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a3568e4c2d4d08" /><Relationship Type="http://schemas.openxmlformats.org/officeDocument/2006/relationships/notesMaster" Target="/ppt/notesMasters/notesMaster1.xml" Id="Rfe5feb00039142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5fa45e07344d53" /><Relationship Type="http://schemas.openxmlformats.org/officeDocument/2006/relationships/notesMaster" Target="/ppt/notesMasters/notesMaster1.xml" Id="Re2573830dfda4a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9df17948894851" /><Relationship Type="http://schemas.openxmlformats.org/officeDocument/2006/relationships/notesMaster" Target="/ppt/notesMasters/notesMaster1.xml" Id="R009b0d5b7dc943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8aecfe6c63440f" /><Relationship Type="http://schemas.openxmlformats.org/officeDocument/2006/relationships/notesMaster" Target="/ppt/notesMasters/notesMaster1.xml" Id="Rae56eb3ee7c842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ecbe1d7ba74f56" /><Relationship Type="http://schemas.openxmlformats.org/officeDocument/2006/relationships/notesMaster" Target="/ppt/notesMasters/notesMaster1.xml" Id="R2755fe939ba743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a694fbc3504d78" /><Relationship Type="http://schemas.openxmlformats.org/officeDocument/2006/relationships/notesMaster" Target="/ppt/notesMasters/notesMaster1.xml" Id="R14cfc1334c1f4b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d1334d485f4e9a" /><Relationship Type="http://schemas.openxmlformats.org/officeDocument/2006/relationships/notesMaster" Target="/ppt/notesMasters/notesMaster1.xml" Id="R955a9c25a6a94b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b71c8f435249ca" /><Relationship Type="http://schemas.openxmlformats.org/officeDocument/2006/relationships/notesMaster" Target="/ppt/notesMasters/notesMaster1.xml" Id="R040376e4fabf49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9817b825fe4e37" /><Relationship Type="http://schemas.openxmlformats.org/officeDocument/2006/relationships/notesMaster" Target="/ppt/notesMasters/notesMaster1.xml" Id="R93b1e14f8aed474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56cacf00cf4824" /><Relationship Type="http://schemas.openxmlformats.org/officeDocument/2006/relationships/notesMaster" Target="/ppt/notesMasters/notesMaster1.xml" Id="R00b8306b9f39425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0f8d82081b4b61" /><Relationship Type="http://schemas.openxmlformats.org/officeDocument/2006/relationships/notesMaster" Target="/ppt/notesMasters/notesMaster1.xml" Id="R8ceed5fcdd1d47a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7c2cd781904698" /><Relationship Type="http://schemas.openxmlformats.org/officeDocument/2006/relationships/notesMaster" Target="/ppt/notesMasters/notesMaster1.xml" Id="Rb268818bc14b45f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62dfa4b2a1a4e8d" /><Relationship Type="http://schemas.openxmlformats.org/officeDocument/2006/relationships/notesMaster" Target="/ppt/notesMasters/notesMaster1.xml" Id="R168b5d90b3a744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64cc8ec8ebd4715" /><Relationship Type="http://schemas.openxmlformats.org/officeDocument/2006/relationships/notesMaster" Target="/ppt/notesMasters/notesMaster1.xml" Id="Rb1f9dd3f512648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Today we are beginning Chapter 15, the autonomic nervous system. In this chapter, we will connect the names and locations of skeletal structures with their functions and with the observations that matter in practical nursing care. As we move through the slides, focus on how structure supports protection, movement, stability, mineral balance, and patient safety. By the end, you should be able to explain the major concepts in your own words and apply them to a patient-care situation.</a:t>
            </a:r>
          </a:p>
          <a:p xmlns:a="http://schemas.openxmlformats.org/drawingml/2006/main">
            <a:r>
              <a:t/>
            </a:r>
          </a:p>
          <a:p xmlns:a="http://schemas.openxmlformats.org/drawingml/2006/main">
            <a:r>
              <a:t>[Sources]</a:t>
            </a:r>
          </a:p>
          <a:p xmlns:a="http://schemas.openxmlformats.org/drawingml/2006/main">
            <a:r>
              <a:t>- BMHI PN 104 Chapter 15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These are our learning objectives for Chapter 15. By the end of the chapter, you should be able to do the following: Describe the components of the autonomic nervous system. Differentiate between the structures of the sympathetic and parasympathetic divisions in the autonomic nervous system. Name the components of a visceral reflex specific to the autonomic division to which it belongs. Predict the response of a target effector to autonomic input on the basis of the released signaling molecule. The autonomic nervous system: involuntary control. Do not treat these as isolated facts. Use them as a checklist for what you should be able to identify, explain, and connect to safe practical nursing care.</a:t>
            </a:r>
          </a:p>
          <a:p xmlns:a="http://schemas.openxmlformats.org/drawingml/2006/main">
            <a:r>
              <a:t/>
            </a:r>
          </a:p>
          <a:p xmlns:a="http://schemas.openxmlformats.org/drawingml/2006/main">
            <a:r>
              <a:t>[Sources]</a:t>
            </a:r>
          </a:p>
          <a:p xmlns:a="http://schemas.openxmlformats.org/drawingml/2006/main">
            <a:r>
              <a:t>- BMHI PN 104 Chapter 15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Divisions of the Autonomic Nervous System. The sympathetic and parasympathetic divisions of the autonomic system.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15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Sympathetic Division. The sympathetic division. The "fight-or-flight" system. Prepares the body for action. Raises heart rate and breathing. Arises from the thoracolumbar cord. Connect sympathetic activation with increased heart rate, dilated airways and pupils, reduced digestive activity, and the body's response to stress or danger. Take a moment to identify the structure on the image and explain how its form supports its function. This is slide 4 of 16.</a:t>
            </a:r>
          </a:p>
          <a:p xmlns:a="http://schemas.openxmlformats.org/drawingml/2006/main">
            <a:r>
              <a:t/>
            </a:r>
          </a:p>
          <a:p xmlns:a="http://schemas.openxmlformats.org/drawingml/2006/main">
            <a:r>
              <a:t>[Sources]</a:t>
            </a:r>
          </a:p>
          <a:p xmlns:a="http://schemas.openxmlformats.org/drawingml/2006/main">
            <a:r>
              <a:t>- BMHI PN 104 Chapter 15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Parasympathetic Division. The parasympathetic division. The "rest-and-digest" system. Conserves energy at rest. Slows the heart, aids digestion. Arises from cranial and sacral regions. Connect sympathetic activation with increased heart rate, dilated airways and pupils, reduced digestive activity, and the body's response to stress or danger. Take a moment to identify the structure on the image and explain how its form supports its function. This is slide 5 of 16.</a:t>
            </a:r>
          </a:p>
          <a:p xmlns:a="http://schemas.openxmlformats.org/drawingml/2006/main">
            <a:r>
              <a:t/>
            </a:r>
          </a:p>
          <a:p xmlns:a="http://schemas.openxmlformats.org/drawingml/2006/main">
            <a:r>
              <a:t>[Sources]</a:t>
            </a:r>
          </a:p>
          <a:p xmlns:a="http://schemas.openxmlformats.org/drawingml/2006/main">
            <a:r>
              <a:t>- BMHI PN 104 Chapter 15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Autonomic Neurotransmitters. Neurotransmitters of the autonomic system. A two-neuron pathway to the target. Acetylcholine and norepinephrine. Receptor type determines the effect. The basis of many drug actions. Medication effects and adverse reactions often depend on the receptor being stimulated or blocked, so monitor vital signs, breathing, alertness, and safety. Take a moment to identify the structure on the image and explain how its form supports its function. This is slide 6 of 16.</a:t>
            </a:r>
          </a:p>
          <a:p xmlns:a="http://schemas.openxmlformats.org/drawingml/2006/main">
            <a:r>
              <a:t/>
            </a:r>
          </a:p>
          <a:p xmlns:a="http://schemas.openxmlformats.org/drawingml/2006/main">
            <a:r>
              <a:t>[Sources]</a:t>
            </a:r>
          </a:p>
          <a:p xmlns:a="http://schemas.openxmlformats.org/drawingml/2006/main">
            <a:r>
              <a:t>- BMHI PN 104 Chapter 15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Autonomic Reflexes and Homeostasis. How autonomic reflexes keep internal conditions stable.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15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Dual Innervation. Most organs get both divisions. The two usually oppose each other. Balance fine-tunes organ activity. Maintains homeostasis. Sympathetic and parasympathetic effects on organs. Connect sympathetic activation with increased heart rate, dilated airways and pupils, reduced digestive activity, and the body's response to stress or danger. Take a moment to identify the structure on the image and explain how its form supports its function. This is slide 8 of 16.</a:t>
            </a:r>
          </a:p>
          <a:p xmlns:a="http://schemas.openxmlformats.org/drawingml/2006/main">
            <a:r>
              <a:t/>
            </a:r>
          </a:p>
          <a:p xmlns:a="http://schemas.openxmlformats.org/drawingml/2006/main">
            <a:r>
              <a:t>[Sources]</a:t>
            </a:r>
          </a:p>
          <a:p xmlns:a="http://schemas.openxmlformats.org/drawingml/2006/main">
            <a:r>
              <a:t>- BMHI PN 104 Chapter 15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Autonomic Reflexes. Automatic responses to stimuli. Sensory input → CNS → autonomic output. Control heart rate, BP, digestion. Operate without awareness. Long and short autonomic reflexes. Autonomic changes can appear in heart rate, blood pressure, breathing, pupils, digestion, sweating, and bladder function, making careful assessment and reporting essential. Take a moment to identify the structure on the image and explain how its form supports its function. This is slide 9 of 16.</a:t>
            </a:r>
          </a:p>
          <a:p xmlns:a="http://schemas.openxmlformats.org/drawingml/2006/main">
            <a:r>
              <a:t/>
            </a:r>
          </a:p>
          <a:p xmlns:a="http://schemas.openxmlformats.org/drawingml/2006/main">
            <a:r>
              <a:t>[Sources]</a:t>
            </a:r>
          </a:p>
          <a:p xmlns:a="http://schemas.openxmlformats.org/drawingml/2006/main">
            <a:r>
              <a:t>- BMHI PN 104 Chapter 15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Central Control. How the brain oversees the autonomic nervous system.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15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Central Control. The hypothalamus is the main controller. Integrates autonomic and endocrine output. Brainstem centers run vital reflexes. Linked to emotion and stress. Central control of the autonomic system. Autonomic changes can appear in heart rate, blood pressure, breathing, pupils, digestion, sweating, and bladder function, making careful assessment and reporting essential. Take a moment to identify the structure on the image and explain how its form supports its function. This is slide 11 of 16.</a:t>
            </a:r>
          </a:p>
          <a:p xmlns:a="http://schemas.openxmlformats.org/drawingml/2006/main">
            <a:r>
              <a:t/>
            </a:r>
          </a:p>
          <a:p xmlns:a="http://schemas.openxmlformats.org/drawingml/2006/main">
            <a:r>
              <a:t>[Sources]</a:t>
            </a:r>
          </a:p>
          <a:p xmlns:a="http://schemas.openxmlformats.org/drawingml/2006/main">
            <a:r>
              <a:t>- BMHI PN 104 Chapter 15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Drugs that Affect the Autonomic System. How drugs act on the autonomic system to treat disease.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15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Autonomic Drug Targets. Drugs mimic or block autonomic signals. Affect the heart, vessels, lungs, eyes. Beta-blockers slow the heart. Many common medications act here. Autonomic control of the heart — a drug target. Autonomic changes can appear in heart rate, blood pressure, breathing, pupils, digestion, sweating, and bladder function, making careful assessment and reporting essential. Take a moment to identify the structure on the image and explain how its form supports its function. This is slide 13 of 16.</a:t>
            </a:r>
          </a:p>
          <a:p xmlns:a="http://schemas.openxmlformats.org/drawingml/2006/main">
            <a:r>
              <a:t/>
            </a:r>
          </a:p>
          <a:p xmlns:a="http://schemas.openxmlformats.org/drawingml/2006/main">
            <a:r>
              <a:t>[Sources]</a:t>
            </a:r>
          </a:p>
          <a:p xmlns:a="http://schemas.openxmlformats.org/drawingml/2006/main">
            <a:r>
              <a:t>- BMHI PN 104 Chapter 15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Drug Effects on the Pupil. Autonomic drug effects on the pupil. Autonomic drugs change pupil size. Sympathetic action dilates (mydriasis). Parasympathetic action constricts (miosis). Used in eye exams and diagnosis. Connect sympathetic activation with increased heart rate, dilated airways and pupils, reduced digestive activity, and the body's response to stress or danger. Take a moment to identify the structure on the image and explain how its form supports its function. This is slide 14 of 16.</a:t>
            </a:r>
          </a:p>
          <a:p xmlns:a="http://schemas.openxmlformats.org/drawingml/2006/main">
            <a:r>
              <a:t/>
            </a:r>
          </a:p>
          <a:p xmlns:a="http://schemas.openxmlformats.org/drawingml/2006/main">
            <a:r>
              <a:t>[Sources]</a:t>
            </a:r>
          </a:p>
          <a:p xmlns:a="http://schemas.openxmlformats.org/drawingml/2006/main">
            <a:r>
              <a:t>- BMHI PN 104 Chapter 15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Let us review the major takeaways from Chapter 15. The autonomic nervous system controls involuntary functions of organs, glands, and vessels. The sympathetic division drives "fight-or-flight"; the parasympathetic handles "rest-and-digest.". A two-neuron pathway uses acetylcholine and norepinephrine, with receptor type setting the effect. Most organs receive both divisions, whose balance maintains homeostasis. The hypothalamus and brainstem control the system, a major target for drugs. Before moving on, pause and explain each point without reading the slide. If any statement is difficult to explain, mark that topic for review before the quiz.</a:t>
            </a:r>
          </a:p>
          <a:p xmlns:a="http://schemas.openxmlformats.org/drawingml/2006/main">
            <a:r>
              <a:t/>
            </a:r>
          </a:p>
          <a:p xmlns:a="http://schemas.openxmlformats.org/drawingml/2006/main">
            <a:r>
              <a:t>[Sources]</a:t>
            </a:r>
          </a:p>
          <a:p xmlns:a="http://schemas.openxmlformats.org/drawingml/2006/main">
            <a:r>
              <a:t>- BMHI PN 104 Chapter 15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This final slide connects Chapter 15 to practical nursing. Blood Pressure. Autonomic reflexes regulate BP and are altered by many drugs. Beta-Blockers. Block sympathetic signals to slow the heart and lower BP. Fight-or-Flight. The stress response explains symptoms of anxiety and shock. Pupil Assessment. Pupil size and reactivity reveal autonomic and brain function. Bladder &amp; Bowel. Autonomic control underlies continence and digestion. Atropine. Blocks parasympathetic effects to speed the heart and dry secretions. Your role is to observe carefully, protect safety, follow orders and precautions, document objectively, and report changes through the appropriate chain of command. Use these examples to connect anatomy with the care you will provide.</a:t>
            </a:r>
          </a:p>
          <a:p xmlns:a="http://schemas.openxmlformats.org/drawingml/2006/main">
            <a:r>
              <a:t/>
            </a:r>
          </a:p>
          <a:p xmlns:a="http://schemas.openxmlformats.org/drawingml/2006/main">
            <a:r>
              <a:t>[Sources]</a:t>
            </a:r>
          </a:p>
          <a:p xmlns:a="http://schemas.openxmlformats.org/drawingml/2006/main">
            <a:r>
              <a:t>- BMHI PN 104 Chapter 15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29722ccf6e413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b612aa995a473c" /><Relationship Type="http://schemas.openxmlformats.org/officeDocument/2006/relationships/slideLayout" Target="/ppt/slideLayouts/slideLayout1.xml" Id="Rd3decc7603ba477d"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decc7603ba477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c73834a347440b7" /><Relationship Type="http://schemas.openxmlformats.org/officeDocument/2006/relationships/image" Target="/ppt/media/image.jpeg" Id="Ra246bdb840984329" /><Relationship Type="http://schemas.openxmlformats.org/officeDocument/2006/relationships/notesSlide" Target="/ppt/notesSlides/notesSlide1.xml" Id="R9375bb8771794f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8a7ef1883f4ac8" /><Relationship Type="http://schemas.openxmlformats.org/officeDocument/2006/relationships/image" Target="/ppt/media/image2.jpeg" Id="R442da1a487b748ab" /><Relationship Type="http://schemas.openxmlformats.org/officeDocument/2006/relationships/notesSlide" Target="/ppt/notesSlides/notesSlide2.xml" Id="Rfc279446d5ce4e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bfea9cb4bb42fa" /><Relationship Type="http://schemas.openxmlformats.org/officeDocument/2006/relationships/notesSlide" Target="/ppt/notesSlides/notesSlide3.xml" Id="R7812470794bd4d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072c354cd04dd5" /><Relationship Type="http://schemas.openxmlformats.org/officeDocument/2006/relationships/image" Target="/ppt/media/image3.jpeg" Id="R7be1cd1ddcca4854" /><Relationship Type="http://schemas.openxmlformats.org/officeDocument/2006/relationships/notesSlide" Target="/ppt/notesSlides/notesSlide4.xml" Id="Rf9fedf355f3340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07630748c748ec" /><Relationship Type="http://schemas.openxmlformats.org/officeDocument/2006/relationships/image" Target="/ppt/media/image4.jpeg" Id="R33929cce3c2d41d7" /><Relationship Type="http://schemas.openxmlformats.org/officeDocument/2006/relationships/notesSlide" Target="/ppt/notesSlides/notesSlide5.xml" Id="R07692a3eab8b4c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49c5fc764b4caa" /><Relationship Type="http://schemas.openxmlformats.org/officeDocument/2006/relationships/image" Target="/ppt/media/image5.jpeg" Id="Rfc6493b479924121" /><Relationship Type="http://schemas.openxmlformats.org/officeDocument/2006/relationships/notesSlide" Target="/ppt/notesSlides/notesSlide6.xml" Id="R2a775ba47a0540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515b523d954f29" /><Relationship Type="http://schemas.openxmlformats.org/officeDocument/2006/relationships/notesSlide" Target="/ppt/notesSlides/notesSlide7.xml" Id="R5b731e56ad1d48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0f6a921d70b4f04" /><Relationship Type="http://schemas.openxmlformats.org/officeDocument/2006/relationships/image" Target="/ppt/media/image6.jpeg" Id="R67bbe44ce3fd47f9" /><Relationship Type="http://schemas.openxmlformats.org/officeDocument/2006/relationships/notesSlide" Target="/ppt/notesSlides/notesSlide8.xml" Id="R6e203ef4e32341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543707bb0347e0" /><Relationship Type="http://schemas.openxmlformats.org/officeDocument/2006/relationships/image" Target="/ppt/media/image7.jpeg" Id="Radd889b247a04363" /><Relationship Type="http://schemas.openxmlformats.org/officeDocument/2006/relationships/notesSlide" Target="/ppt/notesSlides/notesSlide9.xml" Id="R159ab8a3b02043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6b6dae1a5a47be" /><Relationship Type="http://schemas.openxmlformats.org/officeDocument/2006/relationships/notesSlide" Target="/ppt/notesSlides/notesSlide10.xml" Id="R36c651ff98fa4a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3c42d7295b44e68" /><Relationship Type="http://schemas.openxmlformats.org/officeDocument/2006/relationships/image" Target="/ppt/media/image8.jpeg" Id="R57e750fbdad24bd9" /><Relationship Type="http://schemas.openxmlformats.org/officeDocument/2006/relationships/notesSlide" Target="/ppt/notesSlides/notesSlide11.xml" Id="R7abb50057ddd4e5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72fe6f91c01413f" /><Relationship Type="http://schemas.openxmlformats.org/officeDocument/2006/relationships/notesSlide" Target="/ppt/notesSlides/notesSlide12.xml" Id="R93deb23f611a4a0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fe47822fd124a7c" /><Relationship Type="http://schemas.openxmlformats.org/officeDocument/2006/relationships/image" Target="/ppt/media/image9.jpeg" Id="Rf54ebc8c18024f00" /><Relationship Type="http://schemas.openxmlformats.org/officeDocument/2006/relationships/notesSlide" Target="/ppt/notesSlides/notesSlide13.xml" Id="R63da839f0b404f5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43449db36244992" /><Relationship Type="http://schemas.openxmlformats.org/officeDocument/2006/relationships/image" Target="/ppt/media/image10.jpeg" Id="Rd2bc5306f2b348d0" /><Relationship Type="http://schemas.openxmlformats.org/officeDocument/2006/relationships/notesSlide" Target="/ppt/notesSlides/notesSlide14.xml" Id="R40d3a8cf16d044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2e088225e9e4194" /><Relationship Type="http://schemas.openxmlformats.org/officeDocument/2006/relationships/notesSlide" Target="/ppt/notesSlides/notesSlide15.xml" Id="R1a74c8d27f364dc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163a860fc55432d" /><Relationship Type="http://schemas.openxmlformats.org/officeDocument/2006/relationships/notesSlide" Target="/ppt/notesSlides/notesSlide16.xml" Id="R8d2ab5a2cb834cab" /></Relationships>
</file>

<file path=ppt/slides/slide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8D7580F-4A9E-4776-B8B0-31BED1F2186A}"/>
              </a:ext>
            </a:extLst>
          </p:cNvPr>
          <p:cNvSpPr>
            <a:spLocks xmlns:a="http://schemas.openxmlformats.org/drawingml/2006/main" noGrp="1"/>
          </p:cNvSpPr>
          <p:nvPr/>
        </p:nvSpPr>
        <p:spPr>
          <a:xfrm xmlns:a="http://schemas.openxmlformats.org/drawingml/2006/main">
            <a:off x="731520" y="1325880"/>
            <a:ext cx="6400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E36414"/>
                </a:solidFill>
                <a:latin typeface="Calibri"/>
                <a:ea typeface="Calibri"/>
                <a:cs typeface="Calibri"/>
              </a:rPr>
              <a:t>CHAPTER 15</a:t>
            </a:r>
          </a:p>
        </p:txBody>
      </p:sp>
      <p:sp>
        <p:nvSpPr>
          <p:cNvPr id="3" name="Text 1">
            <a:extLst xmlns:a="http://schemas.openxmlformats.org/drawingml/2006/main">
              <a:ext uri="{FF2B5EF4-FFF2-40B4-BE49-F238E27FC236}">
                <a16:creationId xmlns:a16="http://schemas.microsoft.com/office/drawing/2014/main" id="{CAE696F1-2F7B-460D-BCEC-AE1B38253785}"/>
              </a:ext>
            </a:extLst>
          </p:cNvPr>
          <p:cNvSpPr>
            <a:spLocks xmlns:a="http://schemas.openxmlformats.org/drawingml/2006/main" noGrp="1"/>
          </p:cNvSpPr>
          <p:nvPr/>
        </p:nvSpPr>
        <p:spPr>
          <a:xfrm xmlns:a="http://schemas.openxmlformats.org/drawingml/2006/main">
            <a:off x="713232" y="1783080"/>
            <a:ext cx="6858000" cy="1920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4400" b="1">
                <a:solidFill>
                  <a:srgbClr val="FFFFFF"/>
                </a:solidFill>
                <a:latin typeface="Georgia"/>
                <a:ea typeface="Georgia"/>
                <a:cs typeface="Georgia"/>
              </a:rPr>
              <a:t>The Autonomic Nervous System</a:t>
            </a:r>
          </a:p>
        </p:txBody>
      </p:sp>
      <p:sp>
        <p:nvSpPr>
          <p:cNvPr id="4" name="Text 2">
            <a:extLst xmlns:a="http://schemas.openxmlformats.org/drawingml/2006/main">
              <a:ext uri="{FF2B5EF4-FFF2-40B4-BE49-F238E27FC236}">
                <a16:creationId xmlns:a16="http://schemas.microsoft.com/office/drawing/2014/main" id="{397E3CE7-AA70-493B-9B7A-CF431727B964}"/>
              </a:ext>
            </a:extLst>
          </p:cNvPr>
          <p:cNvSpPr>
            <a:spLocks xmlns:a="http://schemas.openxmlformats.org/drawingml/2006/main" noGrp="1"/>
          </p:cNvSpPr>
          <p:nvPr/>
        </p:nvSpPr>
        <p:spPr>
          <a:xfrm xmlns:a="http://schemas.openxmlformats.org/drawingml/2006/main">
            <a:off x="749808" y="3886200"/>
            <a:ext cx="64008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600">
                <a:solidFill>
                  <a:srgbClr val="CFE3E7"/>
                </a:solidFill>
                <a:latin typeface="Calibri"/>
                <a:ea typeface="Calibri"/>
                <a:cs typeface="Calibri"/>
              </a:rPr>
              <a:t>Involuntary control of the body's organs and internal balance.</a:t>
            </a:r>
          </a:p>
        </p:txBody>
      </p:sp>
      <p:sp>
        <p:nvSpPr>
          <p:cNvPr id="5" name="Text 3">
            <a:extLst xmlns:a="http://schemas.openxmlformats.org/drawingml/2006/main">
              <a:ext uri="{FF2B5EF4-FFF2-40B4-BE49-F238E27FC236}">
                <a16:creationId xmlns:a16="http://schemas.microsoft.com/office/drawing/2014/main" id="{2E3D3612-83D1-4774-B772-2633FA029392}"/>
              </a:ext>
            </a:extLst>
          </p:cNvPr>
          <p:cNvSpPr>
            <a:spLocks xmlns:a="http://schemas.openxmlformats.org/drawingml/2006/main" noGrp="1"/>
          </p:cNvSpPr>
          <p:nvPr/>
        </p:nvSpPr>
        <p:spPr>
          <a:xfrm xmlns:a="http://schemas.openxmlformats.org/drawingml/2006/main">
            <a:off x="749808" y="5806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9FC2C9"/>
                </a:solidFill>
                <a:latin typeface="Calibri"/>
                <a:ea typeface="Calibri"/>
                <a:cs typeface="Calibri"/>
              </a:rPr>
              <a:t>Anatomy &amp; Physiology  ·  Broward-Miami Health Institute</a:t>
            </a:r>
          </a:p>
        </p:txBody>
      </p:sp>
      <p:sp>
        <p:nvSpPr>
          <p:cNvPr id="6" name="Text 4">
            <a:extLst xmlns:a="http://schemas.openxmlformats.org/drawingml/2006/main">
              <a:ext uri="{FF2B5EF4-FFF2-40B4-BE49-F238E27FC236}">
                <a16:creationId xmlns:a16="http://schemas.microsoft.com/office/drawing/2014/main" id="{8A4E4BAE-AD78-476B-BDDD-60DDD481C7BC}"/>
              </a:ext>
            </a:extLst>
          </p:cNvPr>
          <p:cNvSpPr>
            <a:spLocks xmlns:a="http://schemas.openxmlformats.org/drawingml/2006/main" noGrp="1"/>
          </p:cNvSpPr>
          <p:nvPr/>
        </p:nvSpPr>
        <p:spPr>
          <a:xfrm xmlns:a="http://schemas.openxmlformats.org/drawingml/2006/main">
            <a:off x="749808" y="6144768"/>
            <a:ext cx="3657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E36414"/>
                </a:solidFill>
                <a:latin typeface="Calibri"/>
                <a:ea typeface="Calibri"/>
                <a:cs typeface="Calibri"/>
              </a:rPr>
              <a:t>FACULTY EDITION</a:t>
            </a:r>
          </a:p>
        </p:txBody>
      </p:sp>
      <p:sp>
        <p:nvSpPr>
          <p:cNvPr id="7" name="Shape 5">
            <a:extLst xmlns:a="http://schemas.openxmlformats.org/drawingml/2006/main">
              <a:ext uri="{FF2B5EF4-FFF2-40B4-BE49-F238E27FC236}">
                <a16:creationId xmlns:a16="http://schemas.microsoft.com/office/drawing/2014/main" id="{5DD6094A-9899-4102-B6BC-D508BFFF3D64}"/>
              </a:ext>
            </a:extLst>
          </p:cNvPr>
          <p:cNvSpPr>
            <a:spLocks xmlns:a="http://schemas.openxmlformats.org/drawingml/2006/main" noGrp="1"/>
          </p:cNvSpPr>
          <p:nvPr/>
        </p:nvSpPr>
        <p:spPr>
          <a:xfrm xmlns:a="http://schemas.openxmlformats.org/drawingml/2006/main">
            <a:off x="7735824" y="2537732"/>
            <a:ext cx="4096512" cy="1965416"/>
          </a:xfrm>
          <a:prstGeom xmlns:a="http://schemas.openxmlformats.org/drawingml/2006/main" prst="roundRect">
            <a:avLst>
              <a:gd name="adj" fmla="val 279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a246bdb840984329"/>
          <a:stretch xmlns:a="http://schemas.openxmlformats.org/drawingml/2006/main">
            <a:fillRect l="0" t="0" r="0" b="0"/>
          </a:stretch>
        </p:blipFill>
        <p:spPr>
          <a:xfrm xmlns:a="http://schemas.openxmlformats.org/drawingml/2006/main">
            <a:off x="7818120" y="2620028"/>
            <a:ext cx="3931920" cy="1800824"/>
          </a:xfrm>
          <a:prstGeom xmlns:a="http://schemas.openxmlformats.org/drawingml/2006/main" prst="rect">
            <a:avLst/>
          </a:prstGeom>
        </p:spPr>
      </p:pic>
    </p:spTree>
    <p:extLst>
      <p:ext uri="{BB962C8B-B14F-4D97-AF65-F5344CB8AC3E}">
        <p14:creationId xmlns:p14="http://schemas.microsoft.com/office/powerpoint/2010/main" val="8194887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D2055D1-D822-4DDD-87C2-305D850F5929}"/>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15</a:t>
            </a:r>
          </a:p>
        </p:txBody>
      </p:sp>
      <p:sp>
        <p:nvSpPr>
          <p:cNvPr id="3" name="Text 1">
            <a:extLst xmlns:a="http://schemas.openxmlformats.org/drawingml/2006/main">
              <a:ext uri="{FF2B5EF4-FFF2-40B4-BE49-F238E27FC236}">
                <a16:creationId xmlns:a16="http://schemas.microsoft.com/office/drawing/2014/main" id="{BDA1F7AF-79EF-42C4-AD79-4A8E26DF628F}"/>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Learning Objectives</a:t>
            </a:r>
          </a:p>
        </p:txBody>
      </p:sp>
      <p:sp>
        <p:nvSpPr>
          <p:cNvPr id="4" name="Text 2">
            <a:extLst xmlns:a="http://schemas.openxmlformats.org/drawingml/2006/main">
              <a:ext uri="{FF2B5EF4-FFF2-40B4-BE49-F238E27FC236}">
                <a16:creationId xmlns:a16="http://schemas.microsoft.com/office/drawing/2014/main" id="{BB1874D0-DEFF-496D-944F-E1763D33CF59}"/>
              </a:ext>
            </a:extLst>
          </p:cNvPr>
          <p:cNvSpPr>
            <a:spLocks xmlns:a="http://schemas.openxmlformats.org/drawingml/2006/main" noGrp="1"/>
          </p:cNvSpPr>
          <p:nvPr/>
        </p:nvSpPr>
        <p:spPr>
          <a:xfrm xmlns:a="http://schemas.openxmlformats.org/drawingml/2006/main">
            <a:off x="548640" y="137160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A6B70"/>
                </a:solidFill>
                <a:latin typeface="Calibri"/>
                <a:ea typeface="Calibri"/>
                <a:cs typeface="Calibri"/>
              </a:rPr>
              <a:t>After studying this chapter, students will be able to:</a:t>
            </a:r>
          </a:p>
        </p:txBody>
      </p:sp>
      <p:sp>
        <p:nvSpPr>
          <p:cNvPr id="5" name="Shape 3">
            <a:extLst xmlns:a="http://schemas.openxmlformats.org/drawingml/2006/main">
              <a:ext uri="{FF2B5EF4-FFF2-40B4-BE49-F238E27FC236}">
                <a16:creationId xmlns:a16="http://schemas.microsoft.com/office/drawing/2014/main" id="{5FD35864-BC36-4EB5-91AD-B37E6DD41FC6}"/>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ellipse">
            <a:avLst/>
          </a:prstGeom>
          <a:solidFill xmlns:a="http://schemas.openxmlformats.org/drawingml/2006/main">
            <a:srgbClr val="0F4C5C"/>
          </a:solidFill>
        </p:spPr>
      </p:sp>
      <p:sp>
        <p:nvSpPr>
          <p:cNvPr id="6" name="Text 4">
            <a:extLst xmlns:a="http://schemas.openxmlformats.org/drawingml/2006/main">
              <a:ext uri="{FF2B5EF4-FFF2-40B4-BE49-F238E27FC236}">
                <a16:creationId xmlns:a16="http://schemas.microsoft.com/office/drawing/2014/main" id="{4D0786CD-EBFC-451D-B592-4C8E80317404}"/>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1</a:t>
            </a:r>
          </a:p>
        </p:txBody>
      </p:sp>
      <p:sp>
        <p:nvSpPr>
          <p:cNvPr id="7" name="Text 5">
            <a:extLst xmlns:a="http://schemas.openxmlformats.org/drawingml/2006/main">
              <a:ext uri="{FF2B5EF4-FFF2-40B4-BE49-F238E27FC236}">
                <a16:creationId xmlns:a16="http://schemas.microsoft.com/office/drawing/2014/main" id="{FDDD7628-26DD-421C-BBB9-26CC45DE533A}"/>
              </a:ext>
            </a:extLst>
          </p:cNvPr>
          <p:cNvSpPr>
            <a:spLocks xmlns:a="http://schemas.openxmlformats.org/drawingml/2006/main" noGrp="1"/>
          </p:cNvSpPr>
          <p:nvPr/>
        </p:nvSpPr>
        <p:spPr>
          <a:xfrm xmlns:a="http://schemas.openxmlformats.org/drawingml/2006/main">
            <a:off x="1115568" y="1645920"/>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Describe the components of the autonomic nervous system</a:t>
            </a:r>
          </a:p>
        </p:txBody>
      </p:sp>
      <p:sp>
        <p:nvSpPr>
          <p:cNvPr id="8" name="Shape 6">
            <a:extLst xmlns:a="http://schemas.openxmlformats.org/drawingml/2006/main">
              <a:ext uri="{FF2B5EF4-FFF2-40B4-BE49-F238E27FC236}">
                <a16:creationId xmlns:a16="http://schemas.microsoft.com/office/drawing/2014/main" id="{28EBBED6-87E2-49B7-A3B5-ABD33031A2F1}"/>
              </a:ext>
            </a:extLst>
          </p:cNvPr>
          <p:cNvSpPr>
            <a:spLocks xmlns:a="http://schemas.openxmlformats.org/drawingml/2006/main" noGrp="1"/>
          </p:cNvSpPr>
          <p:nvPr/>
        </p:nvSpPr>
        <p:spPr>
          <a:xfrm xmlns:a="http://schemas.openxmlformats.org/drawingml/2006/main">
            <a:off x="548640" y="2450592"/>
            <a:ext cx="384048" cy="384048"/>
          </a:xfrm>
          <a:prstGeom xmlns:a="http://schemas.openxmlformats.org/drawingml/2006/main" prst="ellipse">
            <a:avLst/>
          </a:prstGeom>
          <a:solidFill xmlns:a="http://schemas.openxmlformats.org/drawingml/2006/main">
            <a:srgbClr val="0F4C5C"/>
          </a:solidFill>
        </p:spPr>
      </p:sp>
      <p:sp>
        <p:nvSpPr>
          <p:cNvPr id="9" name="Text 7">
            <a:extLst xmlns:a="http://schemas.openxmlformats.org/drawingml/2006/main">
              <a:ext uri="{FF2B5EF4-FFF2-40B4-BE49-F238E27FC236}">
                <a16:creationId xmlns:a16="http://schemas.microsoft.com/office/drawing/2014/main" id="{07C4BF91-1347-48F8-B006-3FAF5413E57F}"/>
              </a:ext>
            </a:extLst>
          </p:cNvPr>
          <p:cNvSpPr>
            <a:spLocks xmlns:a="http://schemas.openxmlformats.org/drawingml/2006/main" noGrp="1"/>
          </p:cNvSpPr>
          <p:nvPr/>
        </p:nvSpPr>
        <p:spPr>
          <a:xfrm xmlns:a="http://schemas.openxmlformats.org/drawingml/2006/main">
            <a:off x="548640" y="2450592"/>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2</a:t>
            </a:r>
          </a:p>
        </p:txBody>
      </p:sp>
      <p:sp>
        <p:nvSpPr>
          <p:cNvPr id="10" name="Text 8">
            <a:extLst xmlns:a="http://schemas.openxmlformats.org/drawingml/2006/main">
              <a:ext uri="{FF2B5EF4-FFF2-40B4-BE49-F238E27FC236}">
                <a16:creationId xmlns:a16="http://schemas.microsoft.com/office/drawing/2014/main" id="{84F5C5FD-2CA9-4436-8990-433C0598E1AF}"/>
              </a:ext>
            </a:extLst>
          </p:cNvPr>
          <p:cNvSpPr>
            <a:spLocks xmlns:a="http://schemas.openxmlformats.org/drawingml/2006/main" noGrp="1"/>
          </p:cNvSpPr>
          <p:nvPr/>
        </p:nvSpPr>
        <p:spPr>
          <a:xfrm xmlns:a="http://schemas.openxmlformats.org/drawingml/2006/main">
            <a:off x="1115568" y="2432304"/>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Differentiate between the structures of the sympathetic and parasympathetic divisions in the autonomic nervous system</a:t>
            </a:r>
          </a:p>
        </p:txBody>
      </p:sp>
      <p:sp>
        <p:nvSpPr>
          <p:cNvPr id="11" name="Shape 9">
            <a:extLst xmlns:a="http://schemas.openxmlformats.org/drawingml/2006/main">
              <a:ext uri="{FF2B5EF4-FFF2-40B4-BE49-F238E27FC236}">
                <a16:creationId xmlns:a16="http://schemas.microsoft.com/office/drawing/2014/main" id="{1A17D991-1273-43BB-AE11-0DF4EEDA106D}"/>
              </a:ext>
            </a:extLst>
          </p:cNvPr>
          <p:cNvSpPr>
            <a:spLocks xmlns:a="http://schemas.openxmlformats.org/drawingml/2006/main" noGrp="1"/>
          </p:cNvSpPr>
          <p:nvPr/>
        </p:nvSpPr>
        <p:spPr>
          <a:xfrm xmlns:a="http://schemas.openxmlformats.org/drawingml/2006/main">
            <a:off x="548640" y="3236976"/>
            <a:ext cx="384048" cy="384048"/>
          </a:xfrm>
          <a:prstGeom xmlns:a="http://schemas.openxmlformats.org/drawingml/2006/main" prst="ellipse">
            <a:avLst/>
          </a:prstGeom>
          <a:solidFill xmlns:a="http://schemas.openxmlformats.org/drawingml/2006/main">
            <a:srgbClr val="0F4C5C"/>
          </a:solidFill>
        </p:spPr>
      </p:sp>
      <p:sp>
        <p:nvSpPr>
          <p:cNvPr id="12" name="Text 10">
            <a:extLst xmlns:a="http://schemas.openxmlformats.org/drawingml/2006/main">
              <a:ext uri="{FF2B5EF4-FFF2-40B4-BE49-F238E27FC236}">
                <a16:creationId xmlns:a16="http://schemas.microsoft.com/office/drawing/2014/main" id="{5C7A4D2F-35F7-4183-87D7-C1CD0780EB77}"/>
              </a:ext>
            </a:extLst>
          </p:cNvPr>
          <p:cNvSpPr>
            <a:spLocks xmlns:a="http://schemas.openxmlformats.org/drawingml/2006/main" noGrp="1"/>
          </p:cNvSpPr>
          <p:nvPr/>
        </p:nvSpPr>
        <p:spPr>
          <a:xfrm xmlns:a="http://schemas.openxmlformats.org/drawingml/2006/main">
            <a:off x="548640" y="3236976"/>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3</a:t>
            </a:r>
          </a:p>
        </p:txBody>
      </p:sp>
      <p:sp>
        <p:nvSpPr>
          <p:cNvPr id="13" name="Text 11">
            <a:extLst xmlns:a="http://schemas.openxmlformats.org/drawingml/2006/main">
              <a:ext uri="{FF2B5EF4-FFF2-40B4-BE49-F238E27FC236}">
                <a16:creationId xmlns:a16="http://schemas.microsoft.com/office/drawing/2014/main" id="{037A77D0-8247-480F-8A96-1397B109EE22}"/>
              </a:ext>
            </a:extLst>
          </p:cNvPr>
          <p:cNvSpPr>
            <a:spLocks xmlns:a="http://schemas.openxmlformats.org/drawingml/2006/main" noGrp="1"/>
          </p:cNvSpPr>
          <p:nvPr/>
        </p:nvSpPr>
        <p:spPr>
          <a:xfrm xmlns:a="http://schemas.openxmlformats.org/drawingml/2006/main">
            <a:off x="1115568" y="3218688"/>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Name the components of a visceral reflex specific to the autonomic division to which it belongs</a:t>
            </a:r>
          </a:p>
        </p:txBody>
      </p:sp>
      <p:sp>
        <p:nvSpPr>
          <p:cNvPr id="14" name="Shape 12">
            <a:extLst xmlns:a="http://schemas.openxmlformats.org/drawingml/2006/main">
              <a:ext uri="{FF2B5EF4-FFF2-40B4-BE49-F238E27FC236}">
                <a16:creationId xmlns:a16="http://schemas.microsoft.com/office/drawing/2014/main" id="{92CC49A9-94D2-4230-8500-F60AAFB55312}"/>
              </a:ext>
            </a:extLst>
          </p:cNvPr>
          <p:cNvSpPr>
            <a:spLocks xmlns:a="http://schemas.openxmlformats.org/drawingml/2006/main" noGrp="1"/>
          </p:cNvSpPr>
          <p:nvPr/>
        </p:nvSpPr>
        <p:spPr>
          <a:xfrm xmlns:a="http://schemas.openxmlformats.org/drawingml/2006/main">
            <a:off x="548640" y="4023360"/>
            <a:ext cx="384048" cy="384048"/>
          </a:xfrm>
          <a:prstGeom xmlns:a="http://schemas.openxmlformats.org/drawingml/2006/main" prst="ellipse">
            <a:avLst/>
          </a:prstGeom>
          <a:solidFill xmlns:a="http://schemas.openxmlformats.org/drawingml/2006/main">
            <a:srgbClr val="0F4C5C"/>
          </a:solidFill>
        </p:spPr>
      </p:sp>
      <p:sp>
        <p:nvSpPr>
          <p:cNvPr id="15" name="Text 13">
            <a:extLst xmlns:a="http://schemas.openxmlformats.org/drawingml/2006/main">
              <a:ext uri="{FF2B5EF4-FFF2-40B4-BE49-F238E27FC236}">
                <a16:creationId xmlns:a16="http://schemas.microsoft.com/office/drawing/2014/main" id="{3AE661F3-864D-4CA5-B12A-34C57B115278}"/>
              </a:ext>
            </a:extLst>
          </p:cNvPr>
          <p:cNvSpPr>
            <a:spLocks xmlns:a="http://schemas.openxmlformats.org/drawingml/2006/main" noGrp="1"/>
          </p:cNvSpPr>
          <p:nvPr/>
        </p:nvSpPr>
        <p:spPr>
          <a:xfrm xmlns:a="http://schemas.openxmlformats.org/drawingml/2006/main">
            <a:off x="548640" y="402336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4</a:t>
            </a:r>
          </a:p>
        </p:txBody>
      </p:sp>
      <p:sp>
        <p:nvSpPr>
          <p:cNvPr id="16" name="Text 14">
            <a:extLst xmlns:a="http://schemas.openxmlformats.org/drawingml/2006/main">
              <a:ext uri="{FF2B5EF4-FFF2-40B4-BE49-F238E27FC236}">
                <a16:creationId xmlns:a16="http://schemas.microsoft.com/office/drawing/2014/main" id="{3E024B25-839E-4A6C-964D-C695FB5F5C60}"/>
              </a:ext>
            </a:extLst>
          </p:cNvPr>
          <p:cNvSpPr>
            <a:spLocks xmlns:a="http://schemas.openxmlformats.org/drawingml/2006/main" noGrp="1"/>
          </p:cNvSpPr>
          <p:nvPr/>
        </p:nvSpPr>
        <p:spPr>
          <a:xfrm xmlns:a="http://schemas.openxmlformats.org/drawingml/2006/main">
            <a:off x="1115568" y="4005072"/>
            <a:ext cx="5943600" cy="786384"/>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00">
                <a:solidFill>
                  <a:srgbClr val="23363B"/>
                </a:solidFill>
                <a:latin typeface="Calibri"/>
                <a:ea typeface="Calibri"/>
                <a:cs typeface="Calibri"/>
              </a:rPr>
              <a:t>Predict the response of a target effector to autonomic input on the basis of the released signaling molecule</a:t>
            </a:r>
          </a:p>
        </p:txBody>
      </p:sp>
      <p:sp>
        <p:nvSpPr>
          <p:cNvPr id="17" name="Shape 15">
            <a:extLst xmlns:a="http://schemas.openxmlformats.org/drawingml/2006/main">
              <a:ext uri="{FF2B5EF4-FFF2-40B4-BE49-F238E27FC236}">
                <a16:creationId xmlns:a16="http://schemas.microsoft.com/office/drawing/2014/main" id="{7BF56AAA-E899-4ABE-8DB8-05CA1FD6FF9E}"/>
              </a:ext>
            </a:extLst>
          </p:cNvPr>
          <p:cNvSpPr>
            <a:spLocks xmlns:a="http://schemas.openxmlformats.org/drawingml/2006/main" noGrp="1"/>
          </p:cNvSpPr>
          <p:nvPr/>
        </p:nvSpPr>
        <p:spPr>
          <a:xfrm xmlns:a="http://schemas.openxmlformats.org/drawingml/2006/main">
            <a:off x="8091516" y="1545336"/>
            <a:ext cx="3019367" cy="4370832"/>
          </a:xfrm>
          <a:prstGeom xmlns:a="http://schemas.openxmlformats.org/drawingml/2006/main" prst="roundRect">
            <a:avLst>
              <a:gd name="adj" fmla="val 1817"/>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442da1a487b748ab"/>
          <a:stretch xmlns:a="http://schemas.openxmlformats.org/drawingml/2006/main">
            <a:fillRect l="0" t="0" r="0" b="0"/>
          </a:stretch>
        </p:blipFill>
        <p:spPr>
          <a:xfrm xmlns:a="http://schemas.openxmlformats.org/drawingml/2006/main">
            <a:off x="8173812" y="1627632"/>
            <a:ext cx="2854775" cy="4206240"/>
          </a:xfrm>
          <a:prstGeom xmlns:a="http://schemas.openxmlformats.org/drawingml/2006/main" prst="rect">
            <a:avLst/>
          </a:prstGeom>
        </p:spPr>
      </p:pic>
      <p:sp>
        <p:nvSpPr>
          <p:cNvPr id="19" name="Text 16">
            <a:extLst xmlns:a="http://schemas.openxmlformats.org/drawingml/2006/main">
              <a:ext uri="{FF2B5EF4-FFF2-40B4-BE49-F238E27FC236}">
                <a16:creationId xmlns:a16="http://schemas.microsoft.com/office/drawing/2014/main" id="{B73E48DC-3A0F-45D6-ACE9-BD4C64DDA846}"/>
              </a:ext>
            </a:extLst>
          </p:cNvPr>
          <p:cNvSpPr>
            <a:spLocks xmlns:a="http://schemas.openxmlformats.org/drawingml/2006/main" noGrp="1"/>
          </p:cNvSpPr>
          <p:nvPr/>
        </p:nvSpPr>
        <p:spPr>
          <a:xfrm xmlns:a="http://schemas.openxmlformats.org/drawingml/2006/main">
            <a:off x="7498080" y="5943600"/>
            <a:ext cx="4206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autonomic nervous system: involuntary control.</a:t>
            </a:r>
          </a:p>
        </p:txBody>
      </p:sp>
      <p:sp>
        <p:nvSpPr>
          <p:cNvPr id="21" name="Text 17">
            <a:extLst xmlns:a="http://schemas.openxmlformats.org/drawingml/2006/main">
              <a:ext uri="{FF2B5EF4-FFF2-40B4-BE49-F238E27FC236}">
                <a16:creationId xmlns:a16="http://schemas.microsoft.com/office/drawing/2014/main" id="{C160F07E-C819-4D86-BD63-A60CD09BFF5F}"/>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15 — The Autonomic Nervous System</a:t>
            </a:r>
          </a:p>
        </p:txBody>
      </p:sp>
      <p:sp>
        <p:nvSpPr>
          <p:cNvPr id="22" name="Text 18">
            <a:extLst xmlns:a="http://schemas.openxmlformats.org/drawingml/2006/main">
              <a:ext uri="{FF2B5EF4-FFF2-40B4-BE49-F238E27FC236}">
                <a16:creationId xmlns:a16="http://schemas.microsoft.com/office/drawing/2014/main" id="{A009689C-5264-485D-A633-40DAF9C864C5}"/>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a:t>
            </a:r>
          </a:p>
        </p:txBody>
      </p:sp>
    </p:spTree>
    <p:extLst>
      <p:ext uri="{BB962C8B-B14F-4D97-AF65-F5344CB8AC3E}">
        <p14:creationId xmlns:p14="http://schemas.microsoft.com/office/powerpoint/2010/main" val="679182846"/>
      </p:ext>
    </p:extLst>
  </p:cSld>
</p:sld>
</file>

<file path=ppt/slides/slide3.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7A1086F-B6A0-4492-A73A-92EF0DED2FED}"/>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1AB6C75F-16B5-4FA9-A19D-8E5CCBA3D48A}"/>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15.1</a:t>
            </a:r>
          </a:p>
        </p:txBody>
      </p:sp>
      <p:sp>
        <p:nvSpPr>
          <p:cNvPr id="4" name="Text 2">
            <a:extLst xmlns:a="http://schemas.openxmlformats.org/drawingml/2006/main">
              <a:ext uri="{FF2B5EF4-FFF2-40B4-BE49-F238E27FC236}">
                <a16:creationId xmlns:a16="http://schemas.microsoft.com/office/drawing/2014/main" id="{88C01048-4516-4488-A2B7-5CF44CBFF4E5}"/>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D5AF5251-C8E5-4739-9F1D-BE8C2D3C26F0}"/>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Divisions of the Autonomic Nervous System</a:t>
            </a:r>
          </a:p>
        </p:txBody>
      </p:sp>
      <p:sp>
        <p:nvSpPr>
          <p:cNvPr id="6" name="Text 4">
            <a:extLst xmlns:a="http://schemas.openxmlformats.org/drawingml/2006/main">
              <a:ext uri="{FF2B5EF4-FFF2-40B4-BE49-F238E27FC236}">
                <a16:creationId xmlns:a16="http://schemas.microsoft.com/office/drawing/2014/main" id="{29F4A24D-4CA9-4B20-9A39-A092EC5409E8}"/>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sympathetic and parasympathetic divisions of the autonomic system.</a:t>
            </a:r>
          </a:p>
        </p:txBody>
      </p:sp>
    </p:spTree>
    <p:extLst>
      <p:ext uri="{BB962C8B-B14F-4D97-AF65-F5344CB8AC3E}">
        <p14:creationId xmlns:p14="http://schemas.microsoft.com/office/powerpoint/2010/main" val="15016961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89693CD-BBCF-4301-8229-F69C856952BF}"/>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15.1</a:t>
            </a:r>
          </a:p>
        </p:txBody>
      </p:sp>
      <p:sp>
        <p:nvSpPr>
          <p:cNvPr id="3" name="Text 1">
            <a:extLst xmlns:a="http://schemas.openxmlformats.org/drawingml/2006/main">
              <a:ext uri="{FF2B5EF4-FFF2-40B4-BE49-F238E27FC236}">
                <a16:creationId xmlns:a16="http://schemas.microsoft.com/office/drawing/2014/main" id="{3C922E37-36D3-42AF-A148-E985C7FE1C4A}"/>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Sympathetic Division</a:t>
            </a:r>
          </a:p>
        </p:txBody>
      </p:sp>
      <p:sp>
        <p:nvSpPr>
          <p:cNvPr id="4" name="Shape 2">
            <a:extLst xmlns:a="http://schemas.openxmlformats.org/drawingml/2006/main">
              <a:ext uri="{FF2B5EF4-FFF2-40B4-BE49-F238E27FC236}">
                <a16:creationId xmlns:a16="http://schemas.microsoft.com/office/drawing/2014/main" id="{2397B06A-7FEF-4778-8561-D9A30D11A87C}"/>
              </a:ext>
            </a:extLst>
          </p:cNvPr>
          <p:cNvSpPr>
            <a:spLocks xmlns:a="http://schemas.openxmlformats.org/drawingml/2006/main" noGrp="1"/>
          </p:cNvSpPr>
          <p:nvPr/>
        </p:nvSpPr>
        <p:spPr>
          <a:xfrm xmlns:a="http://schemas.openxmlformats.org/drawingml/2006/main">
            <a:off x="1017956" y="1289304"/>
            <a:ext cx="3267608" cy="4736592"/>
          </a:xfrm>
          <a:prstGeom xmlns:a="http://schemas.openxmlformats.org/drawingml/2006/main" prst="roundRect">
            <a:avLst>
              <a:gd name="adj" fmla="val 1679"/>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7be1cd1ddcca4854"/>
          <a:stretch xmlns:a="http://schemas.openxmlformats.org/drawingml/2006/main">
            <a:fillRect l="0" t="0" r="0" b="0"/>
          </a:stretch>
        </p:blipFill>
        <p:spPr>
          <a:xfrm xmlns:a="http://schemas.openxmlformats.org/drawingml/2006/main">
            <a:off x="1100252" y="1371600"/>
            <a:ext cx="3103016"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FCB21E0C-5CB6-4621-8529-23D58CD88708}"/>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sympathetic division</a:t>
            </a:r>
          </a:p>
        </p:txBody>
      </p:sp>
      <p:sp>
        <p:nvSpPr>
          <p:cNvPr id="7" name="Text 4">
            <a:extLst xmlns:a="http://schemas.openxmlformats.org/drawingml/2006/main">
              <a:ext uri="{FF2B5EF4-FFF2-40B4-BE49-F238E27FC236}">
                <a16:creationId xmlns:a16="http://schemas.microsoft.com/office/drawing/2014/main" id="{BDA7F94F-D70D-481C-9D23-016AA18E3738}"/>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The "fight-or-flight" system</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Prepares the body for action</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Raises heart rate and breathing</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Arises from the thoracolumbar cord</a:t>
            </a:r>
          </a:p>
        </p:txBody>
      </p:sp>
      <p:sp>
        <p:nvSpPr>
          <p:cNvPr id="9" name="Text 5">
            <a:extLst xmlns:a="http://schemas.openxmlformats.org/drawingml/2006/main">
              <a:ext uri="{FF2B5EF4-FFF2-40B4-BE49-F238E27FC236}">
                <a16:creationId xmlns:a16="http://schemas.microsoft.com/office/drawing/2014/main" id="{2AAEC382-D3D2-44D0-8421-CE8B1E55350E}"/>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15 — The Autonomic Nervous System</a:t>
            </a:r>
          </a:p>
        </p:txBody>
      </p:sp>
      <p:sp>
        <p:nvSpPr>
          <p:cNvPr id="10" name="Text 6">
            <a:extLst xmlns:a="http://schemas.openxmlformats.org/drawingml/2006/main">
              <a:ext uri="{FF2B5EF4-FFF2-40B4-BE49-F238E27FC236}">
                <a16:creationId xmlns:a16="http://schemas.microsoft.com/office/drawing/2014/main" id="{8EBB2557-F234-499F-8B04-82483C898F76}"/>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4</a:t>
            </a:r>
          </a:p>
        </p:txBody>
      </p:sp>
    </p:spTree>
    <p:extLst>
      <p:ext uri="{BB962C8B-B14F-4D97-AF65-F5344CB8AC3E}">
        <p14:creationId xmlns:p14="http://schemas.microsoft.com/office/powerpoint/2010/main" val="11279629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9AC53E8-C674-4A8B-BF0D-F8D2671CE687}"/>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15.1</a:t>
            </a:r>
          </a:p>
        </p:txBody>
      </p:sp>
      <p:sp>
        <p:nvSpPr>
          <p:cNvPr id="3" name="Text 1">
            <a:extLst xmlns:a="http://schemas.openxmlformats.org/drawingml/2006/main">
              <a:ext uri="{FF2B5EF4-FFF2-40B4-BE49-F238E27FC236}">
                <a16:creationId xmlns:a16="http://schemas.microsoft.com/office/drawing/2014/main" id="{3070C09B-09CC-4CB1-8790-D6F4BEE24934}"/>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Parasympathetic Division</a:t>
            </a:r>
          </a:p>
        </p:txBody>
      </p:sp>
      <p:sp>
        <p:nvSpPr>
          <p:cNvPr id="4" name="Shape 2">
            <a:extLst xmlns:a="http://schemas.openxmlformats.org/drawingml/2006/main">
              <a:ext uri="{FF2B5EF4-FFF2-40B4-BE49-F238E27FC236}">
                <a16:creationId xmlns:a16="http://schemas.microsoft.com/office/drawing/2014/main" id="{B314AC82-C0B5-41B6-A955-8C47CAEE2924}"/>
              </a:ext>
            </a:extLst>
          </p:cNvPr>
          <p:cNvSpPr>
            <a:spLocks xmlns:a="http://schemas.openxmlformats.org/drawingml/2006/main" noGrp="1"/>
          </p:cNvSpPr>
          <p:nvPr/>
        </p:nvSpPr>
        <p:spPr>
          <a:xfrm xmlns:a="http://schemas.openxmlformats.org/drawingml/2006/main">
            <a:off x="1083564" y="1289304"/>
            <a:ext cx="3136392" cy="4736592"/>
          </a:xfrm>
          <a:prstGeom xmlns:a="http://schemas.openxmlformats.org/drawingml/2006/main" prst="roundRect">
            <a:avLst>
              <a:gd name="adj" fmla="val 1749"/>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33929cce3c2d41d7"/>
          <a:stretch xmlns:a="http://schemas.openxmlformats.org/drawingml/2006/main">
            <a:fillRect l="0" t="0" r="0" b="0"/>
          </a:stretch>
        </p:blipFill>
        <p:spPr>
          <a:xfrm xmlns:a="http://schemas.openxmlformats.org/drawingml/2006/main">
            <a:off x="1165860" y="1371600"/>
            <a:ext cx="2971800"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F4E52101-E7C5-4752-AF89-E45718344927}"/>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parasympathetic division</a:t>
            </a:r>
          </a:p>
        </p:txBody>
      </p:sp>
      <p:sp>
        <p:nvSpPr>
          <p:cNvPr id="7" name="Text 4">
            <a:extLst xmlns:a="http://schemas.openxmlformats.org/drawingml/2006/main">
              <a:ext uri="{FF2B5EF4-FFF2-40B4-BE49-F238E27FC236}">
                <a16:creationId xmlns:a16="http://schemas.microsoft.com/office/drawing/2014/main" id="{AEF41465-6579-444B-841D-DD91003BEDB3}"/>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The "rest-and-digest" system</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Conserves energy at rest</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Slows the heart, aids digestion</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Arises from cranial and sacral regions</a:t>
            </a:r>
          </a:p>
        </p:txBody>
      </p:sp>
      <p:sp>
        <p:nvSpPr>
          <p:cNvPr id="9" name="Text 5">
            <a:extLst xmlns:a="http://schemas.openxmlformats.org/drawingml/2006/main">
              <a:ext uri="{FF2B5EF4-FFF2-40B4-BE49-F238E27FC236}">
                <a16:creationId xmlns:a16="http://schemas.microsoft.com/office/drawing/2014/main" id="{BFE4FB97-4C20-4850-A0F8-B062775A2B58}"/>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15 — The Autonomic Nervous System</a:t>
            </a:r>
          </a:p>
        </p:txBody>
      </p:sp>
      <p:sp>
        <p:nvSpPr>
          <p:cNvPr id="10" name="Text 6">
            <a:extLst xmlns:a="http://schemas.openxmlformats.org/drawingml/2006/main">
              <a:ext uri="{FF2B5EF4-FFF2-40B4-BE49-F238E27FC236}">
                <a16:creationId xmlns:a16="http://schemas.microsoft.com/office/drawing/2014/main" id="{31F3C1D8-A56C-4FB0-AF9B-EE18F6A1DF21}"/>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5</a:t>
            </a:r>
          </a:p>
        </p:txBody>
      </p:sp>
    </p:spTree>
    <p:extLst>
      <p:ext uri="{BB962C8B-B14F-4D97-AF65-F5344CB8AC3E}">
        <p14:creationId xmlns:p14="http://schemas.microsoft.com/office/powerpoint/2010/main" val="9191053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9D2144E-2BF3-44AE-8B98-4DECA53E8A89}"/>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15.1</a:t>
            </a:r>
          </a:p>
        </p:txBody>
      </p:sp>
      <p:sp>
        <p:nvSpPr>
          <p:cNvPr id="3" name="Text 1">
            <a:extLst xmlns:a="http://schemas.openxmlformats.org/drawingml/2006/main">
              <a:ext uri="{FF2B5EF4-FFF2-40B4-BE49-F238E27FC236}">
                <a16:creationId xmlns:a16="http://schemas.microsoft.com/office/drawing/2014/main" id="{EA47487E-9B42-4314-85E3-B1F7179BFEB6}"/>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Autonomic Neurotransmitters</a:t>
            </a:r>
          </a:p>
        </p:txBody>
      </p:sp>
      <p:sp>
        <p:nvSpPr>
          <p:cNvPr id="4" name="Shape 2">
            <a:extLst xmlns:a="http://schemas.openxmlformats.org/drawingml/2006/main">
              <a:ext uri="{FF2B5EF4-FFF2-40B4-BE49-F238E27FC236}">
                <a16:creationId xmlns:a16="http://schemas.microsoft.com/office/drawing/2014/main" id="{2F56038B-BBDD-4DB1-9256-35C7D3D31F51}"/>
              </a:ext>
            </a:extLst>
          </p:cNvPr>
          <p:cNvSpPr>
            <a:spLocks xmlns:a="http://schemas.openxmlformats.org/drawingml/2006/main" noGrp="1"/>
          </p:cNvSpPr>
          <p:nvPr/>
        </p:nvSpPr>
        <p:spPr>
          <a:xfrm xmlns:a="http://schemas.openxmlformats.org/drawingml/2006/main">
            <a:off x="1861755" y="1289304"/>
            <a:ext cx="8483730"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fc6493b479924121"/>
          <a:stretch xmlns:a="http://schemas.openxmlformats.org/drawingml/2006/main">
            <a:fillRect l="0" t="0" r="0" b="0"/>
          </a:stretch>
        </p:blipFill>
        <p:spPr>
          <a:xfrm xmlns:a="http://schemas.openxmlformats.org/drawingml/2006/main">
            <a:off x="1944051" y="1371600"/>
            <a:ext cx="8319138"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88A50CE1-4343-43CE-8F0C-C0A48FDC3410}"/>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Neurotransmitters of the autonomic system</a:t>
            </a:r>
          </a:p>
        </p:txBody>
      </p:sp>
      <p:sp>
        <p:nvSpPr>
          <p:cNvPr id="7" name="Text 4">
            <a:extLst xmlns:a="http://schemas.openxmlformats.org/drawingml/2006/main">
              <a:ext uri="{FF2B5EF4-FFF2-40B4-BE49-F238E27FC236}">
                <a16:creationId xmlns:a16="http://schemas.microsoft.com/office/drawing/2014/main" id="{ABC6E192-F1F2-426E-A614-64040B49F95F}"/>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 two-neuron pathway to the target</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Acetylcholine and norepinephrine</a:t>
            </a:r>
          </a:p>
        </p:txBody>
      </p:sp>
      <p:sp>
        <p:nvSpPr>
          <p:cNvPr id="8" name="Text 5">
            <a:extLst xmlns:a="http://schemas.openxmlformats.org/drawingml/2006/main">
              <a:ext uri="{FF2B5EF4-FFF2-40B4-BE49-F238E27FC236}">
                <a16:creationId xmlns:a16="http://schemas.microsoft.com/office/drawing/2014/main" id="{7C26E5E1-B67B-4AE4-8D46-558BB11EDD60}"/>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Receptor type determines the effect</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The basis of many drug actions</a:t>
            </a:r>
          </a:p>
        </p:txBody>
      </p:sp>
      <p:sp>
        <p:nvSpPr>
          <p:cNvPr id="10" name="Text 6">
            <a:extLst xmlns:a="http://schemas.openxmlformats.org/drawingml/2006/main">
              <a:ext uri="{FF2B5EF4-FFF2-40B4-BE49-F238E27FC236}">
                <a16:creationId xmlns:a16="http://schemas.microsoft.com/office/drawing/2014/main" id="{F4AF4CF0-D7C6-4B54-88A2-07B1DFD93F3A}"/>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15 — The Autonomic Nervous System</a:t>
            </a:r>
          </a:p>
        </p:txBody>
      </p:sp>
      <p:sp>
        <p:nvSpPr>
          <p:cNvPr id="11" name="Text 7">
            <a:extLst xmlns:a="http://schemas.openxmlformats.org/drawingml/2006/main">
              <a:ext uri="{FF2B5EF4-FFF2-40B4-BE49-F238E27FC236}">
                <a16:creationId xmlns:a16="http://schemas.microsoft.com/office/drawing/2014/main" id="{B476B6A2-917C-41A6-9098-EABD90D3D332}"/>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6</a:t>
            </a:r>
          </a:p>
        </p:txBody>
      </p:sp>
    </p:spTree>
    <p:extLst>
      <p:ext uri="{BB962C8B-B14F-4D97-AF65-F5344CB8AC3E}">
        <p14:creationId xmlns:p14="http://schemas.microsoft.com/office/powerpoint/2010/main" val="1311189111"/>
      </p:ext>
    </p:extLst>
  </p:cSld>
</p:sld>
</file>

<file path=ppt/slides/slide7.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A1F29CF-616F-4EB7-B8B2-DCB35A301CB2}"/>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0E8A3DE6-86E1-4785-98B9-7E97F1F4B82F}"/>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15.2</a:t>
            </a:r>
          </a:p>
        </p:txBody>
      </p:sp>
      <p:sp>
        <p:nvSpPr>
          <p:cNvPr id="4" name="Text 2">
            <a:extLst xmlns:a="http://schemas.openxmlformats.org/drawingml/2006/main">
              <a:ext uri="{FF2B5EF4-FFF2-40B4-BE49-F238E27FC236}">
                <a16:creationId xmlns:a16="http://schemas.microsoft.com/office/drawing/2014/main" id="{6BC1505A-1470-49D6-AC46-8C49940F337C}"/>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0BDEC993-E546-4B7E-8E82-42571E93DF0B}"/>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Autonomic Reflexes and Homeostasis</a:t>
            </a:r>
          </a:p>
        </p:txBody>
      </p:sp>
      <p:sp>
        <p:nvSpPr>
          <p:cNvPr id="6" name="Text 4">
            <a:extLst xmlns:a="http://schemas.openxmlformats.org/drawingml/2006/main">
              <a:ext uri="{FF2B5EF4-FFF2-40B4-BE49-F238E27FC236}">
                <a16:creationId xmlns:a16="http://schemas.microsoft.com/office/drawing/2014/main" id="{AE671D4B-B934-401E-ACCE-FA7E2917971D}"/>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How autonomic reflexes keep internal conditions stable.</a:t>
            </a:r>
          </a:p>
        </p:txBody>
      </p:sp>
    </p:spTree>
    <p:extLst>
      <p:ext uri="{BB962C8B-B14F-4D97-AF65-F5344CB8AC3E}">
        <p14:creationId xmlns:p14="http://schemas.microsoft.com/office/powerpoint/2010/main" val="3227821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969829-D2AD-408B-8297-0555C7C0E016}"/>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15.2</a:t>
            </a:r>
          </a:p>
        </p:txBody>
      </p:sp>
      <p:sp>
        <p:nvSpPr>
          <p:cNvPr id="3" name="Text 1">
            <a:extLst xmlns:a="http://schemas.openxmlformats.org/drawingml/2006/main">
              <a:ext uri="{FF2B5EF4-FFF2-40B4-BE49-F238E27FC236}">
                <a16:creationId xmlns:a16="http://schemas.microsoft.com/office/drawing/2014/main" id="{F4C0481A-30B1-45C2-9D9F-C9CC1906E6F6}"/>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Dual Innervation</a:t>
            </a:r>
          </a:p>
        </p:txBody>
      </p:sp>
      <p:sp>
        <p:nvSpPr>
          <p:cNvPr id="4" name="Text 2">
            <a:extLst xmlns:a="http://schemas.openxmlformats.org/drawingml/2006/main">
              <a:ext uri="{FF2B5EF4-FFF2-40B4-BE49-F238E27FC236}">
                <a16:creationId xmlns:a16="http://schemas.microsoft.com/office/drawing/2014/main" id="{A9581340-E36F-41F8-9ECD-E1B5B290F1AE}"/>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Most organs get both divisions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 two usually oppose each other</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Balance fine-tunes organ activity</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Maintains homeostasis</a:t>
            </a:r>
          </a:p>
        </p:txBody>
      </p:sp>
      <p:sp>
        <p:nvSpPr>
          <p:cNvPr id="5" name="Shape 3">
            <a:extLst xmlns:a="http://schemas.openxmlformats.org/drawingml/2006/main">
              <a:ext uri="{FF2B5EF4-FFF2-40B4-BE49-F238E27FC236}">
                <a16:creationId xmlns:a16="http://schemas.microsoft.com/office/drawing/2014/main" id="{B674C7A8-3F2C-40E4-AE6D-0F216E547C8D}"/>
              </a:ext>
            </a:extLst>
          </p:cNvPr>
          <p:cNvSpPr>
            <a:spLocks xmlns:a="http://schemas.openxmlformats.org/drawingml/2006/main" noGrp="1"/>
          </p:cNvSpPr>
          <p:nvPr/>
        </p:nvSpPr>
        <p:spPr>
          <a:xfrm xmlns:a="http://schemas.openxmlformats.org/drawingml/2006/main">
            <a:off x="5404104" y="1394955"/>
            <a:ext cx="6382512" cy="4525291"/>
          </a:xfrm>
          <a:prstGeom xmlns:a="http://schemas.openxmlformats.org/drawingml/2006/main" prst="roundRect">
            <a:avLst>
              <a:gd name="adj" fmla="val 1212"/>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67bbe44ce3fd47f9"/>
          <a:stretch xmlns:a="http://schemas.openxmlformats.org/drawingml/2006/main">
            <a:fillRect l="0" t="0" r="0" b="0"/>
          </a:stretch>
        </p:blipFill>
        <p:spPr>
          <a:xfrm xmlns:a="http://schemas.openxmlformats.org/drawingml/2006/main">
            <a:off x="5486400" y="1477251"/>
            <a:ext cx="6217920" cy="4360699"/>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1AC8A012-9B6E-4A73-B099-EC19B2616C38}"/>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Sympathetic and parasympathetic effects on organs</a:t>
            </a:r>
          </a:p>
        </p:txBody>
      </p:sp>
      <p:sp>
        <p:nvSpPr>
          <p:cNvPr id="9" name="Text 5">
            <a:extLst xmlns:a="http://schemas.openxmlformats.org/drawingml/2006/main">
              <a:ext uri="{FF2B5EF4-FFF2-40B4-BE49-F238E27FC236}">
                <a16:creationId xmlns:a16="http://schemas.microsoft.com/office/drawing/2014/main" id="{5B05E3ED-FFFA-415B-9D24-0E37937E4B33}"/>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15 — The Autonomic Nervous System</a:t>
            </a:r>
          </a:p>
        </p:txBody>
      </p:sp>
      <p:sp>
        <p:nvSpPr>
          <p:cNvPr id="10" name="Text 6">
            <a:extLst xmlns:a="http://schemas.openxmlformats.org/drawingml/2006/main">
              <a:ext uri="{FF2B5EF4-FFF2-40B4-BE49-F238E27FC236}">
                <a16:creationId xmlns:a16="http://schemas.microsoft.com/office/drawing/2014/main" id="{A28227B0-00EB-4B9E-BF18-354FC65E282F}"/>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8</a:t>
            </a:r>
          </a:p>
        </p:txBody>
      </p:sp>
    </p:spTree>
    <p:extLst>
      <p:ext uri="{BB962C8B-B14F-4D97-AF65-F5344CB8AC3E}">
        <p14:creationId xmlns:p14="http://schemas.microsoft.com/office/powerpoint/2010/main" val="15057374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E628C13-835E-4863-AE3D-72435175D63F}"/>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15.2</a:t>
            </a:r>
          </a:p>
        </p:txBody>
      </p:sp>
      <p:sp>
        <p:nvSpPr>
          <p:cNvPr id="3" name="Text 1">
            <a:extLst xmlns:a="http://schemas.openxmlformats.org/drawingml/2006/main">
              <a:ext uri="{FF2B5EF4-FFF2-40B4-BE49-F238E27FC236}">
                <a16:creationId xmlns:a16="http://schemas.microsoft.com/office/drawing/2014/main" id="{0D8C15A8-969D-44AD-BCA4-3BE666C23C3D}"/>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Autonomic Reflexes</a:t>
            </a:r>
          </a:p>
        </p:txBody>
      </p:sp>
      <p:sp>
        <p:nvSpPr>
          <p:cNvPr id="4" name="Text 2">
            <a:extLst xmlns:a="http://schemas.openxmlformats.org/drawingml/2006/main">
              <a:ext uri="{FF2B5EF4-FFF2-40B4-BE49-F238E27FC236}">
                <a16:creationId xmlns:a16="http://schemas.microsoft.com/office/drawing/2014/main" id="{7E323883-51E5-4F48-BCEC-4EC0F73B2D72}"/>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Automatic responses to stimuli</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Sensory input → CNS → autonomic output</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Control heart rate, BP, digestion</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Operate without awareness</a:t>
            </a:r>
          </a:p>
        </p:txBody>
      </p:sp>
      <p:sp>
        <p:nvSpPr>
          <p:cNvPr id="5" name="Shape 3">
            <a:extLst xmlns:a="http://schemas.openxmlformats.org/drawingml/2006/main">
              <a:ext uri="{FF2B5EF4-FFF2-40B4-BE49-F238E27FC236}">
                <a16:creationId xmlns:a16="http://schemas.microsoft.com/office/drawing/2014/main" id="{F73918AE-0CFD-4F88-B68B-728D154C400D}"/>
              </a:ext>
            </a:extLst>
          </p:cNvPr>
          <p:cNvSpPr>
            <a:spLocks xmlns:a="http://schemas.openxmlformats.org/drawingml/2006/main" noGrp="1"/>
          </p:cNvSpPr>
          <p:nvPr/>
        </p:nvSpPr>
        <p:spPr>
          <a:xfrm xmlns:a="http://schemas.openxmlformats.org/drawingml/2006/main">
            <a:off x="6189222" y="1335024"/>
            <a:ext cx="4812277"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add889b247a04363"/>
          <a:stretch xmlns:a="http://schemas.openxmlformats.org/drawingml/2006/main">
            <a:fillRect l="0" t="0" r="0" b="0"/>
          </a:stretch>
        </p:blipFill>
        <p:spPr>
          <a:xfrm xmlns:a="http://schemas.openxmlformats.org/drawingml/2006/main">
            <a:off x="6271518" y="1417320"/>
            <a:ext cx="4647685"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F0C9C5E9-FBA8-4375-93CF-66FF0912AED6}"/>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Long and short autonomic reflexes</a:t>
            </a:r>
          </a:p>
        </p:txBody>
      </p:sp>
      <p:sp>
        <p:nvSpPr>
          <p:cNvPr id="9" name="Text 5">
            <a:extLst xmlns:a="http://schemas.openxmlformats.org/drawingml/2006/main">
              <a:ext uri="{FF2B5EF4-FFF2-40B4-BE49-F238E27FC236}">
                <a16:creationId xmlns:a16="http://schemas.microsoft.com/office/drawing/2014/main" id="{33B24021-14F1-4AC1-9337-51056BE35684}"/>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15 — The Autonomic Nervous System</a:t>
            </a:r>
          </a:p>
        </p:txBody>
      </p:sp>
      <p:sp>
        <p:nvSpPr>
          <p:cNvPr id="10" name="Text 6">
            <a:extLst xmlns:a="http://schemas.openxmlformats.org/drawingml/2006/main">
              <a:ext uri="{FF2B5EF4-FFF2-40B4-BE49-F238E27FC236}">
                <a16:creationId xmlns:a16="http://schemas.microsoft.com/office/drawing/2014/main" id="{85D34EB3-C870-447F-A99E-FC32A153C71D}"/>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9</a:t>
            </a:r>
          </a:p>
        </p:txBody>
      </p:sp>
    </p:spTree>
    <p:extLst>
      <p:ext uri="{BB962C8B-B14F-4D97-AF65-F5344CB8AC3E}">
        <p14:creationId xmlns:p14="http://schemas.microsoft.com/office/powerpoint/2010/main" val="1561185838"/>
      </p:ext>
    </p:extLst>
  </p:cSld>
</p:sld>
</file>

<file path=ppt/slides/slide10.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5C6E37A-45C8-474D-9120-976097CE2A78}"/>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9054257C-0688-4E47-902C-A24C478852BD}"/>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15.3</a:t>
            </a:r>
          </a:p>
        </p:txBody>
      </p:sp>
      <p:sp>
        <p:nvSpPr>
          <p:cNvPr id="4" name="Text 2">
            <a:extLst xmlns:a="http://schemas.openxmlformats.org/drawingml/2006/main">
              <a:ext uri="{FF2B5EF4-FFF2-40B4-BE49-F238E27FC236}">
                <a16:creationId xmlns:a16="http://schemas.microsoft.com/office/drawing/2014/main" id="{2EDCBD43-8B54-47FC-BE8C-F8AE86C54500}"/>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691294DB-D45A-4679-8ED5-4DE3258CA83F}"/>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Central Control</a:t>
            </a:r>
          </a:p>
        </p:txBody>
      </p:sp>
      <p:sp>
        <p:nvSpPr>
          <p:cNvPr id="6" name="Text 4">
            <a:extLst xmlns:a="http://schemas.openxmlformats.org/drawingml/2006/main">
              <a:ext uri="{FF2B5EF4-FFF2-40B4-BE49-F238E27FC236}">
                <a16:creationId xmlns:a16="http://schemas.microsoft.com/office/drawing/2014/main" id="{F9196C20-6A1E-4DED-8ED5-1D6F587F8E42}"/>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How the brain oversees the autonomic nervous system.</a:t>
            </a:r>
          </a:p>
        </p:txBody>
      </p:sp>
    </p:spTree>
    <p:extLst>
      <p:ext uri="{BB962C8B-B14F-4D97-AF65-F5344CB8AC3E}">
        <p14:creationId xmlns:p14="http://schemas.microsoft.com/office/powerpoint/2010/main" val="3499522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2553F14-F07A-44DB-A74E-5D28EA33B5E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15.3</a:t>
            </a:r>
          </a:p>
        </p:txBody>
      </p:sp>
      <p:sp>
        <p:nvSpPr>
          <p:cNvPr id="3" name="Text 1">
            <a:extLst xmlns:a="http://schemas.openxmlformats.org/drawingml/2006/main">
              <a:ext uri="{FF2B5EF4-FFF2-40B4-BE49-F238E27FC236}">
                <a16:creationId xmlns:a16="http://schemas.microsoft.com/office/drawing/2014/main" id="{1BE966AE-E4EC-458E-B84E-289AF4E0BE30}"/>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Central Control</a:t>
            </a:r>
          </a:p>
        </p:txBody>
      </p:sp>
      <p:sp>
        <p:nvSpPr>
          <p:cNvPr id="4" name="Text 2">
            <a:extLst xmlns:a="http://schemas.openxmlformats.org/drawingml/2006/main">
              <a:ext uri="{FF2B5EF4-FFF2-40B4-BE49-F238E27FC236}">
                <a16:creationId xmlns:a16="http://schemas.microsoft.com/office/drawing/2014/main" id="{F0786A48-A56A-4DDD-A09D-DE9981E6A461}"/>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 hypothalamus is the main controller</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Integrates autonomic and endocrine output</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Brainstem centers run vital reflexes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Linked to emotion and stress</a:t>
            </a:r>
          </a:p>
        </p:txBody>
      </p:sp>
      <p:sp>
        <p:nvSpPr>
          <p:cNvPr id="5" name="Shape 3">
            <a:extLst xmlns:a="http://schemas.openxmlformats.org/drawingml/2006/main">
              <a:ext uri="{FF2B5EF4-FFF2-40B4-BE49-F238E27FC236}">
                <a16:creationId xmlns:a16="http://schemas.microsoft.com/office/drawing/2014/main" id="{DC81E954-7798-4464-9627-5F336104B92A}"/>
              </a:ext>
            </a:extLst>
          </p:cNvPr>
          <p:cNvSpPr>
            <a:spLocks xmlns:a="http://schemas.openxmlformats.org/drawingml/2006/main" noGrp="1"/>
          </p:cNvSpPr>
          <p:nvPr/>
        </p:nvSpPr>
        <p:spPr>
          <a:xfrm xmlns:a="http://schemas.openxmlformats.org/drawingml/2006/main">
            <a:off x="6009103" y="1335024"/>
            <a:ext cx="5172514"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57e750fbdad24bd9"/>
          <a:stretch xmlns:a="http://schemas.openxmlformats.org/drawingml/2006/main">
            <a:fillRect l="0" t="0" r="0" b="0"/>
          </a:stretch>
        </p:blipFill>
        <p:spPr>
          <a:xfrm xmlns:a="http://schemas.openxmlformats.org/drawingml/2006/main">
            <a:off x="6091399" y="1417320"/>
            <a:ext cx="5007922"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41EA6A27-E51E-42AF-8CDC-744278DD042B}"/>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Central control of the autonomic system</a:t>
            </a:r>
          </a:p>
        </p:txBody>
      </p:sp>
      <p:sp>
        <p:nvSpPr>
          <p:cNvPr id="9" name="Text 5">
            <a:extLst xmlns:a="http://schemas.openxmlformats.org/drawingml/2006/main">
              <a:ext uri="{FF2B5EF4-FFF2-40B4-BE49-F238E27FC236}">
                <a16:creationId xmlns:a16="http://schemas.microsoft.com/office/drawing/2014/main" id="{5736191F-7078-4E5A-B9A9-2B4560900677}"/>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15 — The Autonomic Nervous System</a:t>
            </a:r>
          </a:p>
        </p:txBody>
      </p:sp>
      <p:sp>
        <p:nvSpPr>
          <p:cNvPr id="10" name="Text 6">
            <a:extLst xmlns:a="http://schemas.openxmlformats.org/drawingml/2006/main">
              <a:ext uri="{FF2B5EF4-FFF2-40B4-BE49-F238E27FC236}">
                <a16:creationId xmlns:a16="http://schemas.microsoft.com/office/drawing/2014/main" id="{B4EE21D3-A720-4960-B665-9C240959ABDF}"/>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11</a:t>
            </a:r>
          </a:p>
        </p:txBody>
      </p:sp>
    </p:spTree>
    <p:extLst>
      <p:ext uri="{BB962C8B-B14F-4D97-AF65-F5344CB8AC3E}">
        <p14:creationId xmlns:p14="http://schemas.microsoft.com/office/powerpoint/2010/main" val="1617096018"/>
      </p:ext>
    </p:extLst>
  </p:cSld>
</p:sld>
</file>

<file path=ppt/slides/slide12.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F42F6AC-0324-47ED-AAA0-0E7F585E0F04}"/>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B64EEC15-ACBC-4DCE-9689-2F3E0FB6781A}"/>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15.4</a:t>
            </a:r>
          </a:p>
        </p:txBody>
      </p:sp>
      <p:sp>
        <p:nvSpPr>
          <p:cNvPr id="4" name="Text 2">
            <a:extLst xmlns:a="http://schemas.openxmlformats.org/drawingml/2006/main">
              <a:ext uri="{FF2B5EF4-FFF2-40B4-BE49-F238E27FC236}">
                <a16:creationId xmlns:a16="http://schemas.microsoft.com/office/drawing/2014/main" id="{7CB65085-0349-4721-855D-3E14CFB09903}"/>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3F280275-4B35-46E1-BE76-8315B2775485}"/>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Drugs that Affect the Autonomic System</a:t>
            </a:r>
          </a:p>
        </p:txBody>
      </p:sp>
      <p:sp>
        <p:nvSpPr>
          <p:cNvPr id="6" name="Text 4">
            <a:extLst xmlns:a="http://schemas.openxmlformats.org/drawingml/2006/main">
              <a:ext uri="{FF2B5EF4-FFF2-40B4-BE49-F238E27FC236}">
                <a16:creationId xmlns:a16="http://schemas.microsoft.com/office/drawing/2014/main" id="{366E9EC9-43BA-43AA-BE1F-18C05D0424AB}"/>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How drugs act on the autonomic system to treat disease.</a:t>
            </a:r>
          </a:p>
        </p:txBody>
      </p:sp>
    </p:spTree>
    <p:extLst>
      <p:ext uri="{BB962C8B-B14F-4D97-AF65-F5344CB8AC3E}">
        <p14:creationId xmlns:p14="http://schemas.microsoft.com/office/powerpoint/2010/main" val="59662711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830539-45F7-4459-83DC-2057DA7E746D}"/>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15.4</a:t>
            </a:r>
          </a:p>
        </p:txBody>
      </p:sp>
      <p:sp>
        <p:nvSpPr>
          <p:cNvPr id="3" name="Text 1">
            <a:extLst xmlns:a="http://schemas.openxmlformats.org/drawingml/2006/main">
              <a:ext uri="{FF2B5EF4-FFF2-40B4-BE49-F238E27FC236}">
                <a16:creationId xmlns:a16="http://schemas.microsoft.com/office/drawing/2014/main" id="{184D1026-46EB-40CF-A22C-E60BA31057C8}"/>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Autonomic Drug Targets</a:t>
            </a:r>
          </a:p>
        </p:txBody>
      </p:sp>
      <p:sp>
        <p:nvSpPr>
          <p:cNvPr id="4" name="Text 2">
            <a:extLst xmlns:a="http://schemas.openxmlformats.org/drawingml/2006/main">
              <a:ext uri="{FF2B5EF4-FFF2-40B4-BE49-F238E27FC236}">
                <a16:creationId xmlns:a16="http://schemas.microsoft.com/office/drawing/2014/main" id="{C159C3DB-A8AD-4201-A821-A25580E8CE30}"/>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Drugs mimic or block autonomic signals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Affect the heart, vessels, lungs, eyes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Beta-blockers slow the heart</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Many common medications act here</a:t>
            </a:r>
          </a:p>
        </p:txBody>
      </p:sp>
      <p:sp>
        <p:nvSpPr>
          <p:cNvPr id="5" name="Shape 3">
            <a:extLst xmlns:a="http://schemas.openxmlformats.org/drawingml/2006/main">
              <a:ext uri="{FF2B5EF4-FFF2-40B4-BE49-F238E27FC236}">
                <a16:creationId xmlns:a16="http://schemas.microsoft.com/office/drawing/2014/main" id="{D6D5CA33-1732-4625-98F1-394074A3DCB9}"/>
              </a:ext>
            </a:extLst>
          </p:cNvPr>
          <p:cNvSpPr>
            <a:spLocks xmlns:a="http://schemas.openxmlformats.org/drawingml/2006/main" noGrp="1"/>
          </p:cNvSpPr>
          <p:nvPr/>
        </p:nvSpPr>
        <p:spPr>
          <a:xfrm xmlns:a="http://schemas.openxmlformats.org/drawingml/2006/main">
            <a:off x="5924196" y="1335024"/>
            <a:ext cx="5342327"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f54ebc8c18024f00"/>
          <a:stretch xmlns:a="http://schemas.openxmlformats.org/drawingml/2006/main">
            <a:fillRect l="0" t="0" r="0" b="0"/>
          </a:stretch>
        </p:blipFill>
        <p:spPr>
          <a:xfrm xmlns:a="http://schemas.openxmlformats.org/drawingml/2006/main">
            <a:off x="6006492" y="1417320"/>
            <a:ext cx="5177735"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658793EA-35D4-4CDC-9DA6-9B811D7FFC5E}"/>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Autonomic control of the heart — a drug target</a:t>
            </a:r>
          </a:p>
        </p:txBody>
      </p:sp>
      <p:sp>
        <p:nvSpPr>
          <p:cNvPr id="9" name="Text 5">
            <a:extLst xmlns:a="http://schemas.openxmlformats.org/drawingml/2006/main">
              <a:ext uri="{FF2B5EF4-FFF2-40B4-BE49-F238E27FC236}">
                <a16:creationId xmlns:a16="http://schemas.microsoft.com/office/drawing/2014/main" id="{C877CB42-0E69-4714-A682-49740FE059CA}"/>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15 — The Autonomic Nervous System</a:t>
            </a:r>
          </a:p>
        </p:txBody>
      </p:sp>
      <p:sp>
        <p:nvSpPr>
          <p:cNvPr id="10" name="Text 6">
            <a:extLst xmlns:a="http://schemas.openxmlformats.org/drawingml/2006/main">
              <a:ext uri="{FF2B5EF4-FFF2-40B4-BE49-F238E27FC236}">
                <a16:creationId xmlns:a16="http://schemas.microsoft.com/office/drawing/2014/main" id="{5DBFC4A6-6F1F-4BC5-A353-19729C13F5D0}"/>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13</a:t>
            </a:r>
          </a:p>
        </p:txBody>
      </p:sp>
    </p:spTree>
    <p:extLst>
      <p:ext uri="{BB962C8B-B14F-4D97-AF65-F5344CB8AC3E}">
        <p14:creationId xmlns:p14="http://schemas.microsoft.com/office/powerpoint/2010/main" val="13674017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C1D4105-92D4-44D5-9019-7A7F45BEA492}"/>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15.4</a:t>
            </a:r>
          </a:p>
        </p:txBody>
      </p:sp>
      <p:sp>
        <p:nvSpPr>
          <p:cNvPr id="3" name="Text 1">
            <a:extLst xmlns:a="http://schemas.openxmlformats.org/drawingml/2006/main">
              <a:ext uri="{FF2B5EF4-FFF2-40B4-BE49-F238E27FC236}">
                <a16:creationId xmlns:a16="http://schemas.microsoft.com/office/drawing/2014/main" id="{960801D6-12F6-4CBD-BD2C-95CC4F58B84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Drug Effects on the Pupil</a:t>
            </a:r>
          </a:p>
        </p:txBody>
      </p:sp>
      <p:sp>
        <p:nvSpPr>
          <p:cNvPr id="4" name="Shape 2">
            <a:extLst xmlns:a="http://schemas.openxmlformats.org/drawingml/2006/main">
              <a:ext uri="{FF2B5EF4-FFF2-40B4-BE49-F238E27FC236}">
                <a16:creationId xmlns:a16="http://schemas.microsoft.com/office/drawing/2014/main" id="{90E9FE49-EB50-44CF-AE2F-DA88B2A2351F}"/>
              </a:ext>
            </a:extLst>
          </p:cNvPr>
          <p:cNvSpPr>
            <a:spLocks xmlns:a="http://schemas.openxmlformats.org/drawingml/2006/main" noGrp="1"/>
          </p:cNvSpPr>
          <p:nvPr/>
        </p:nvSpPr>
        <p:spPr>
          <a:xfrm xmlns:a="http://schemas.openxmlformats.org/drawingml/2006/main">
            <a:off x="897465" y="1289304"/>
            <a:ext cx="10412309"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d2bc5306f2b348d0"/>
          <a:stretch xmlns:a="http://schemas.openxmlformats.org/drawingml/2006/main">
            <a:fillRect l="0" t="0" r="0" b="0"/>
          </a:stretch>
        </p:blipFill>
        <p:spPr>
          <a:xfrm xmlns:a="http://schemas.openxmlformats.org/drawingml/2006/main">
            <a:off x="979761" y="1371600"/>
            <a:ext cx="10247717"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051DC8AD-C94E-46DE-932A-4EC9354F70DD}"/>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Autonomic drug effects on the pupil</a:t>
            </a:r>
          </a:p>
        </p:txBody>
      </p:sp>
      <p:sp>
        <p:nvSpPr>
          <p:cNvPr id="7" name="Text 4">
            <a:extLst xmlns:a="http://schemas.openxmlformats.org/drawingml/2006/main">
              <a:ext uri="{FF2B5EF4-FFF2-40B4-BE49-F238E27FC236}">
                <a16:creationId xmlns:a16="http://schemas.microsoft.com/office/drawing/2014/main" id="{365FBF46-FA19-43E6-9E83-93B89B9490CB}"/>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Autonomic drugs change pupil size</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Sympathetic action dilates (mydriasis)</a:t>
            </a:r>
          </a:p>
        </p:txBody>
      </p:sp>
      <p:sp>
        <p:nvSpPr>
          <p:cNvPr id="8" name="Text 5">
            <a:extLst xmlns:a="http://schemas.openxmlformats.org/drawingml/2006/main">
              <a:ext uri="{FF2B5EF4-FFF2-40B4-BE49-F238E27FC236}">
                <a16:creationId xmlns:a16="http://schemas.microsoft.com/office/drawing/2014/main" id="{751C8740-DDD6-413B-A4EC-9E50C096134E}"/>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Parasympathetic action constricts (miosis)</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Used in eye exams and diagnosis</a:t>
            </a:r>
          </a:p>
        </p:txBody>
      </p:sp>
      <p:sp>
        <p:nvSpPr>
          <p:cNvPr id="10" name="Text 6">
            <a:extLst xmlns:a="http://schemas.openxmlformats.org/drawingml/2006/main">
              <a:ext uri="{FF2B5EF4-FFF2-40B4-BE49-F238E27FC236}">
                <a16:creationId xmlns:a16="http://schemas.microsoft.com/office/drawing/2014/main" id="{469273FE-26AC-4774-BBD3-D09A4039AC2F}"/>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15 — The Autonomic Nervous System</a:t>
            </a:r>
          </a:p>
        </p:txBody>
      </p:sp>
      <p:sp>
        <p:nvSpPr>
          <p:cNvPr id="11" name="Text 7">
            <a:extLst xmlns:a="http://schemas.openxmlformats.org/drawingml/2006/main">
              <a:ext uri="{FF2B5EF4-FFF2-40B4-BE49-F238E27FC236}">
                <a16:creationId xmlns:a16="http://schemas.microsoft.com/office/drawing/2014/main" id="{143CD0B0-1551-46E7-AA06-4EEE09D3CACE}"/>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14</a:t>
            </a:r>
          </a:p>
        </p:txBody>
      </p:sp>
    </p:spTree>
    <p:extLst>
      <p:ext uri="{BB962C8B-B14F-4D97-AF65-F5344CB8AC3E}">
        <p14:creationId xmlns:p14="http://schemas.microsoft.com/office/powerpoint/2010/main" val="41003003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3593E67-592B-42CA-A08E-36CFAC550896}"/>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15</a:t>
            </a:r>
          </a:p>
        </p:txBody>
      </p:sp>
      <p:sp>
        <p:nvSpPr>
          <p:cNvPr id="3" name="Text 1">
            <a:extLst xmlns:a="http://schemas.openxmlformats.org/drawingml/2006/main">
              <a:ext uri="{FF2B5EF4-FFF2-40B4-BE49-F238E27FC236}">
                <a16:creationId xmlns:a16="http://schemas.microsoft.com/office/drawing/2014/main" id="{598E5DAA-18E7-4CEE-86BA-A5A97B5C0D9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Key Takeaways</a:t>
            </a:r>
          </a:p>
        </p:txBody>
      </p:sp>
      <p:sp>
        <p:nvSpPr>
          <p:cNvPr id="4" name="Shape 2">
            <a:extLst xmlns:a="http://schemas.openxmlformats.org/drawingml/2006/main">
              <a:ext uri="{FF2B5EF4-FFF2-40B4-BE49-F238E27FC236}">
                <a16:creationId xmlns:a16="http://schemas.microsoft.com/office/drawing/2014/main" id="{C6A023E1-F9CF-4785-B5D1-CBBAA6D4EE1C}"/>
              </a:ext>
            </a:extLst>
          </p:cNvPr>
          <p:cNvSpPr>
            <a:spLocks xmlns:a="http://schemas.openxmlformats.org/drawingml/2006/main" noGrp="1"/>
          </p:cNvSpPr>
          <p:nvPr/>
        </p:nvSpPr>
        <p:spPr>
          <a:xfrm xmlns:a="http://schemas.openxmlformats.org/drawingml/2006/main">
            <a:off x="548640" y="1819656"/>
            <a:ext cx="237744" cy="237744"/>
          </a:xfrm>
          <a:prstGeom xmlns:a="http://schemas.openxmlformats.org/drawingml/2006/main" prst="ellipse">
            <a:avLst/>
          </a:prstGeom>
          <a:solidFill xmlns:a="http://schemas.openxmlformats.org/drawingml/2006/main">
            <a:srgbClr val="E36414"/>
          </a:solidFill>
        </p:spPr>
      </p:sp>
      <p:sp>
        <p:nvSpPr>
          <p:cNvPr id="5" name="Text 3">
            <a:extLst xmlns:a="http://schemas.openxmlformats.org/drawingml/2006/main">
              <a:ext uri="{FF2B5EF4-FFF2-40B4-BE49-F238E27FC236}">
                <a16:creationId xmlns:a16="http://schemas.microsoft.com/office/drawing/2014/main" id="{D08C4DB4-25BC-454A-9D48-4D26F11B3474}"/>
              </a:ext>
            </a:extLst>
          </p:cNvPr>
          <p:cNvSpPr>
            <a:spLocks xmlns:a="http://schemas.openxmlformats.org/drawingml/2006/main" noGrp="1"/>
          </p:cNvSpPr>
          <p:nvPr/>
        </p:nvSpPr>
        <p:spPr>
          <a:xfrm xmlns:a="http://schemas.openxmlformats.org/drawingml/2006/main">
            <a:off x="960120" y="1737360"/>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autonomic nervous system controls involuntary functions of organs, glands, and vessels.</a:t>
            </a:r>
          </a:p>
        </p:txBody>
      </p:sp>
      <p:sp>
        <p:nvSpPr>
          <p:cNvPr id="6" name="Shape 4">
            <a:extLst xmlns:a="http://schemas.openxmlformats.org/drawingml/2006/main">
              <a:ext uri="{FF2B5EF4-FFF2-40B4-BE49-F238E27FC236}">
                <a16:creationId xmlns:a16="http://schemas.microsoft.com/office/drawing/2014/main" id="{66DCC938-E8BA-439D-B7A4-0F188AAEE384}"/>
              </a:ext>
            </a:extLst>
          </p:cNvPr>
          <p:cNvSpPr>
            <a:spLocks xmlns:a="http://schemas.openxmlformats.org/drawingml/2006/main" noGrp="1"/>
          </p:cNvSpPr>
          <p:nvPr/>
        </p:nvSpPr>
        <p:spPr>
          <a:xfrm xmlns:a="http://schemas.openxmlformats.org/drawingml/2006/main">
            <a:off x="548640" y="2606040"/>
            <a:ext cx="237744" cy="237744"/>
          </a:xfrm>
          <a:prstGeom xmlns:a="http://schemas.openxmlformats.org/drawingml/2006/main" prst="ellipse">
            <a:avLst/>
          </a:prstGeom>
          <a:solidFill xmlns:a="http://schemas.openxmlformats.org/drawingml/2006/main">
            <a:srgbClr val="E36414"/>
          </a:solidFill>
        </p:spPr>
      </p:sp>
      <p:sp>
        <p:nvSpPr>
          <p:cNvPr id="7" name="Text 5">
            <a:extLst xmlns:a="http://schemas.openxmlformats.org/drawingml/2006/main">
              <a:ext uri="{FF2B5EF4-FFF2-40B4-BE49-F238E27FC236}">
                <a16:creationId xmlns:a16="http://schemas.microsoft.com/office/drawing/2014/main" id="{6354BB85-19CA-4DC0-AEC7-6363D49FCD46}"/>
              </a:ext>
            </a:extLst>
          </p:cNvPr>
          <p:cNvSpPr>
            <a:spLocks xmlns:a="http://schemas.openxmlformats.org/drawingml/2006/main" noGrp="1"/>
          </p:cNvSpPr>
          <p:nvPr/>
        </p:nvSpPr>
        <p:spPr>
          <a:xfrm xmlns:a="http://schemas.openxmlformats.org/drawingml/2006/main">
            <a:off x="960120" y="2523744"/>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sympathetic division drives "fight-or-flight"; the parasympathetic handles "rest-and-digest."</a:t>
            </a:r>
          </a:p>
        </p:txBody>
      </p:sp>
      <p:sp>
        <p:nvSpPr>
          <p:cNvPr id="8" name="Shape 6">
            <a:extLst xmlns:a="http://schemas.openxmlformats.org/drawingml/2006/main">
              <a:ext uri="{FF2B5EF4-FFF2-40B4-BE49-F238E27FC236}">
                <a16:creationId xmlns:a16="http://schemas.microsoft.com/office/drawing/2014/main" id="{7B18BBB3-FEA5-4FEA-B773-C416EB755D19}"/>
              </a:ext>
            </a:extLst>
          </p:cNvPr>
          <p:cNvSpPr>
            <a:spLocks xmlns:a="http://schemas.openxmlformats.org/drawingml/2006/main" noGrp="1"/>
          </p:cNvSpPr>
          <p:nvPr/>
        </p:nvSpPr>
        <p:spPr>
          <a:xfrm xmlns:a="http://schemas.openxmlformats.org/drawingml/2006/main">
            <a:off x="548640" y="3392424"/>
            <a:ext cx="237744" cy="237744"/>
          </a:xfrm>
          <a:prstGeom xmlns:a="http://schemas.openxmlformats.org/drawingml/2006/main" prst="ellipse">
            <a:avLst/>
          </a:prstGeom>
          <a:solidFill xmlns:a="http://schemas.openxmlformats.org/drawingml/2006/main">
            <a:srgbClr val="E36414"/>
          </a:solidFill>
        </p:spPr>
      </p:sp>
      <p:sp>
        <p:nvSpPr>
          <p:cNvPr id="9" name="Text 7">
            <a:extLst xmlns:a="http://schemas.openxmlformats.org/drawingml/2006/main">
              <a:ext uri="{FF2B5EF4-FFF2-40B4-BE49-F238E27FC236}">
                <a16:creationId xmlns:a16="http://schemas.microsoft.com/office/drawing/2014/main" id="{C042331D-B82A-4D30-85B7-F4DAFA3C36EC}"/>
              </a:ext>
            </a:extLst>
          </p:cNvPr>
          <p:cNvSpPr>
            <a:spLocks xmlns:a="http://schemas.openxmlformats.org/drawingml/2006/main" noGrp="1"/>
          </p:cNvSpPr>
          <p:nvPr/>
        </p:nvSpPr>
        <p:spPr>
          <a:xfrm xmlns:a="http://schemas.openxmlformats.org/drawingml/2006/main">
            <a:off x="960120" y="3310128"/>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A two-neuron pathway uses acetylcholine and norepinephrine, with receptor type setting the effect.</a:t>
            </a:r>
          </a:p>
        </p:txBody>
      </p:sp>
      <p:sp>
        <p:nvSpPr>
          <p:cNvPr id="10" name="Shape 8">
            <a:extLst xmlns:a="http://schemas.openxmlformats.org/drawingml/2006/main">
              <a:ext uri="{FF2B5EF4-FFF2-40B4-BE49-F238E27FC236}">
                <a16:creationId xmlns:a16="http://schemas.microsoft.com/office/drawing/2014/main" id="{740795E6-1094-47C8-89AA-7266F54D98A8}"/>
              </a:ext>
            </a:extLst>
          </p:cNvPr>
          <p:cNvSpPr>
            <a:spLocks xmlns:a="http://schemas.openxmlformats.org/drawingml/2006/main" noGrp="1"/>
          </p:cNvSpPr>
          <p:nvPr/>
        </p:nvSpPr>
        <p:spPr>
          <a:xfrm xmlns:a="http://schemas.openxmlformats.org/drawingml/2006/main">
            <a:off x="548640" y="4178808"/>
            <a:ext cx="237744" cy="237744"/>
          </a:xfrm>
          <a:prstGeom xmlns:a="http://schemas.openxmlformats.org/drawingml/2006/main" prst="ellipse">
            <a:avLst/>
          </a:prstGeom>
          <a:solidFill xmlns:a="http://schemas.openxmlformats.org/drawingml/2006/main">
            <a:srgbClr val="E36414"/>
          </a:solidFill>
        </p:spPr>
      </p:sp>
      <p:sp>
        <p:nvSpPr>
          <p:cNvPr id="11" name="Text 9">
            <a:extLst xmlns:a="http://schemas.openxmlformats.org/drawingml/2006/main">
              <a:ext uri="{FF2B5EF4-FFF2-40B4-BE49-F238E27FC236}">
                <a16:creationId xmlns:a16="http://schemas.microsoft.com/office/drawing/2014/main" id="{34B1209C-C221-42E6-B708-C6FBB0E3DFD3}"/>
              </a:ext>
            </a:extLst>
          </p:cNvPr>
          <p:cNvSpPr>
            <a:spLocks xmlns:a="http://schemas.openxmlformats.org/drawingml/2006/main" noGrp="1"/>
          </p:cNvSpPr>
          <p:nvPr/>
        </p:nvSpPr>
        <p:spPr>
          <a:xfrm xmlns:a="http://schemas.openxmlformats.org/drawingml/2006/main">
            <a:off x="960120" y="4096512"/>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Most organs receive both divisions, whose balance maintains homeostasis.</a:t>
            </a:r>
          </a:p>
        </p:txBody>
      </p:sp>
      <p:sp>
        <p:nvSpPr>
          <p:cNvPr id="12" name="Shape 10">
            <a:extLst xmlns:a="http://schemas.openxmlformats.org/drawingml/2006/main">
              <a:ext uri="{FF2B5EF4-FFF2-40B4-BE49-F238E27FC236}">
                <a16:creationId xmlns:a16="http://schemas.microsoft.com/office/drawing/2014/main" id="{17145082-0800-4011-A4F2-DD3D3C1D5FDB}"/>
              </a:ext>
            </a:extLst>
          </p:cNvPr>
          <p:cNvSpPr>
            <a:spLocks xmlns:a="http://schemas.openxmlformats.org/drawingml/2006/main" noGrp="1"/>
          </p:cNvSpPr>
          <p:nvPr/>
        </p:nvSpPr>
        <p:spPr>
          <a:xfrm xmlns:a="http://schemas.openxmlformats.org/drawingml/2006/main">
            <a:off x="548640" y="4965192"/>
            <a:ext cx="237744" cy="237744"/>
          </a:xfrm>
          <a:prstGeom xmlns:a="http://schemas.openxmlformats.org/drawingml/2006/main" prst="ellipse">
            <a:avLst/>
          </a:prstGeom>
          <a:solidFill xmlns:a="http://schemas.openxmlformats.org/drawingml/2006/main">
            <a:srgbClr val="E36414"/>
          </a:solidFill>
        </p:spPr>
      </p:sp>
      <p:sp>
        <p:nvSpPr>
          <p:cNvPr id="13" name="Text 11">
            <a:extLst xmlns:a="http://schemas.openxmlformats.org/drawingml/2006/main">
              <a:ext uri="{FF2B5EF4-FFF2-40B4-BE49-F238E27FC236}">
                <a16:creationId xmlns:a16="http://schemas.microsoft.com/office/drawing/2014/main" id="{7683C9B7-B748-49E1-865A-ECE2ECE21803}"/>
              </a:ext>
            </a:extLst>
          </p:cNvPr>
          <p:cNvSpPr>
            <a:spLocks xmlns:a="http://schemas.openxmlformats.org/drawingml/2006/main" noGrp="1"/>
          </p:cNvSpPr>
          <p:nvPr/>
        </p:nvSpPr>
        <p:spPr>
          <a:xfrm xmlns:a="http://schemas.openxmlformats.org/drawingml/2006/main">
            <a:off x="960120" y="4882896"/>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hypothalamus and brainstem control the system, a major target for drugs.</a:t>
            </a:r>
          </a:p>
        </p:txBody>
      </p:sp>
      <p:sp>
        <p:nvSpPr>
          <p:cNvPr id="14" name="Text 12">
            <a:extLst xmlns:a="http://schemas.openxmlformats.org/drawingml/2006/main">
              <a:ext uri="{FF2B5EF4-FFF2-40B4-BE49-F238E27FC236}">
                <a16:creationId xmlns:a16="http://schemas.microsoft.com/office/drawing/2014/main" id="{F2A35034-7A21-407C-AD38-349BE6633DD4}"/>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15 — The Autonomic Nervous System</a:t>
            </a:r>
          </a:p>
        </p:txBody>
      </p:sp>
      <p:sp>
        <p:nvSpPr>
          <p:cNvPr id="15" name="Text 13">
            <a:extLst xmlns:a="http://schemas.openxmlformats.org/drawingml/2006/main">
              <a:ext uri="{FF2B5EF4-FFF2-40B4-BE49-F238E27FC236}">
                <a16:creationId xmlns:a16="http://schemas.microsoft.com/office/drawing/2014/main" id="{527090CF-3636-4D03-8A18-1C2C7FE98577}"/>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15</a:t>
            </a:r>
          </a:p>
        </p:txBody>
      </p:sp>
    </p:spTree>
    <p:extLst>
      <p:ext uri="{BB962C8B-B14F-4D97-AF65-F5344CB8AC3E}">
        <p14:creationId xmlns:p14="http://schemas.microsoft.com/office/powerpoint/2010/main" val="1162135064"/>
      </p:ext>
    </p:extLst>
  </p:cSld>
</p:sld>
</file>

<file path=ppt/slides/slide16.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B616517-EAE4-434D-BA96-E446D3D883DA}"/>
              </a:ext>
            </a:extLst>
          </p:cNvPr>
          <p:cNvSpPr>
            <a:spLocks xmlns:a="http://schemas.openxmlformats.org/drawingml/2006/main" noGrp="1"/>
          </p:cNvSpPr>
          <p:nvPr/>
        </p:nvSpPr>
        <p:spPr>
          <a:xfrm xmlns:a="http://schemas.openxmlformats.org/drawingml/2006/main">
            <a:off x="548640" y="50292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E36414"/>
                </a:solidFill>
                <a:latin typeface="Calibri"/>
                <a:ea typeface="Calibri"/>
                <a:cs typeface="Calibri"/>
              </a:rPr>
              <a:t>CLINICAL CONNECTIONS</a:t>
            </a:r>
          </a:p>
        </p:txBody>
      </p:sp>
      <p:sp>
        <p:nvSpPr>
          <p:cNvPr id="3" name="Text 1">
            <a:extLst xmlns:a="http://schemas.openxmlformats.org/drawingml/2006/main">
              <a:ext uri="{FF2B5EF4-FFF2-40B4-BE49-F238E27FC236}">
                <a16:creationId xmlns:a16="http://schemas.microsoft.com/office/drawing/2014/main" id="{1A9CDE6F-70AF-4E70-AD7E-234CF6DFDBAC}"/>
              </a:ext>
            </a:extLst>
          </p:cNvPr>
          <p:cNvSpPr>
            <a:spLocks xmlns:a="http://schemas.openxmlformats.org/drawingml/2006/main" noGrp="1"/>
          </p:cNvSpPr>
          <p:nvPr/>
        </p:nvSpPr>
        <p:spPr>
          <a:xfrm xmlns:a="http://schemas.openxmlformats.org/drawingml/2006/main">
            <a:off x="530352" y="841248"/>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500" b="1">
                <a:solidFill>
                  <a:srgbClr val="FFFFFF"/>
                </a:solidFill>
                <a:latin typeface="Georgia"/>
                <a:ea typeface="Georgia"/>
                <a:cs typeface="Georgia"/>
              </a:rPr>
              <a:t>Why the Autonomic System Matters in Practical Nursing</a:t>
            </a:r>
          </a:p>
        </p:txBody>
      </p:sp>
      <p:sp>
        <p:nvSpPr>
          <p:cNvPr id="4" name="Shape 2">
            <a:extLst xmlns:a="http://schemas.openxmlformats.org/drawingml/2006/main">
              <a:ext uri="{FF2B5EF4-FFF2-40B4-BE49-F238E27FC236}">
                <a16:creationId xmlns:a16="http://schemas.microsoft.com/office/drawing/2014/main" id="{5509F29F-FBA2-4F46-A475-30AE25FD33DB}"/>
              </a:ext>
            </a:extLst>
          </p:cNvPr>
          <p:cNvSpPr>
            <a:spLocks xmlns:a="http://schemas.openxmlformats.org/drawingml/2006/main" noGrp="1"/>
          </p:cNvSpPr>
          <p:nvPr/>
        </p:nvSpPr>
        <p:spPr>
          <a:xfrm xmlns:a="http://schemas.openxmlformats.org/drawingml/2006/main">
            <a:off x="548640" y="178308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5" name="Text 3">
            <a:extLst xmlns:a="http://schemas.openxmlformats.org/drawingml/2006/main">
              <a:ext uri="{FF2B5EF4-FFF2-40B4-BE49-F238E27FC236}">
                <a16:creationId xmlns:a16="http://schemas.microsoft.com/office/drawing/2014/main" id="{331DA7DA-AB5D-496D-8FA6-FA0D98C4F7DD}"/>
              </a:ext>
            </a:extLst>
          </p:cNvPr>
          <p:cNvSpPr>
            <a:spLocks xmlns:a="http://schemas.openxmlformats.org/drawingml/2006/main" noGrp="1"/>
          </p:cNvSpPr>
          <p:nvPr/>
        </p:nvSpPr>
        <p:spPr>
          <a:xfrm xmlns:a="http://schemas.openxmlformats.org/drawingml/2006/main">
            <a:off x="777240" y="191109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Blood Pressure</a:t>
            </a:r>
          </a:p>
        </p:txBody>
      </p:sp>
      <p:sp>
        <p:nvSpPr>
          <p:cNvPr id="6" name="Text 4">
            <a:extLst xmlns:a="http://schemas.openxmlformats.org/drawingml/2006/main">
              <a:ext uri="{FF2B5EF4-FFF2-40B4-BE49-F238E27FC236}">
                <a16:creationId xmlns:a16="http://schemas.microsoft.com/office/drawing/2014/main" id="{2845312E-67FB-4CB7-BAB2-020ADF0DBADA}"/>
              </a:ext>
            </a:extLst>
          </p:cNvPr>
          <p:cNvSpPr>
            <a:spLocks xmlns:a="http://schemas.openxmlformats.org/drawingml/2006/main" noGrp="1"/>
          </p:cNvSpPr>
          <p:nvPr/>
        </p:nvSpPr>
        <p:spPr>
          <a:xfrm xmlns:a="http://schemas.openxmlformats.org/drawingml/2006/main">
            <a:off x="777240" y="228600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Autonomic reflexes regulate BP and are altered by many drugs.</a:t>
            </a:r>
          </a:p>
        </p:txBody>
      </p:sp>
      <p:sp>
        <p:nvSpPr>
          <p:cNvPr id="7" name="Shape 5">
            <a:extLst xmlns:a="http://schemas.openxmlformats.org/drawingml/2006/main">
              <a:ext uri="{FF2B5EF4-FFF2-40B4-BE49-F238E27FC236}">
                <a16:creationId xmlns:a16="http://schemas.microsoft.com/office/drawing/2014/main" id="{7473F4A8-7604-4835-A7EC-7435A4839654}"/>
              </a:ext>
            </a:extLst>
          </p:cNvPr>
          <p:cNvSpPr>
            <a:spLocks xmlns:a="http://schemas.openxmlformats.org/drawingml/2006/main" noGrp="1"/>
          </p:cNvSpPr>
          <p:nvPr/>
        </p:nvSpPr>
        <p:spPr>
          <a:xfrm xmlns:a="http://schemas.openxmlformats.org/drawingml/2006/main">
            <a:off x="6172200" y="178308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8" name="Text 6">
            <a:extLst xmlns:a="http://schemas.openxmlformats.org/drawingml/2006/main">
              <a:ext uri="{FF2B5EF4-FFF2-40B4-BE49-F238E27FC236}">
                <a16:creationId xmlns:a16="http://schemas.microsoft.com/office/drawing/2014/main" id="{D40CF5E2-6125-4767-89AF-158B7798A17C}"/>
              </a:ext>
            </a:extLst>
          </p:cNvPr>
          <p:cNvSpPr>
            <a:spLocks xmlns:a="http://schemas.openxmlformats.org/drawingml/2006/main" noGrp="1"/>
          </p:cNvSpPr>
          <p:nvPr/>
        </p:nvSpPr>
        <p:spPr>
          <a:xfrm xmlns:a="http://schemas.openxmlformats.org/drawingml/2006/main">
            <a:off x="6400800" y="191109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Beta-Blockers</a:t>
            </a:r>
          </a:p>
        </p:txBody>
      </p:sp>
      <p:sp>
        <p:nvSpPr>
          <p:cNvPr id="9" name="Text 7">
            <a:extLst xmlns:a="http://schemas.openxmlformats.org/drawingml/2006/main">
              <a:ext uri="{FF2B5EF4-FFF2-40B4-BE49-F238E27FC236}">
                <a16:creationId xmlns:a16="http://schemas.microsoft.com/office/drawing/2014/main" id="{06EC2A3C-78EF-4290-9962-90E1A8B4E42A}"/>
              </a:ext>
            </a:extLst>
          </p:cNvPr>
          <p:cNvSpPr>
            <a:spLocks xmlns:a="http://schemas.openxmlformats.org/drawingml/2006/main" noGrp="1"/>
          </p:cNvSpPr>
          <p:nvPr/>
        </p:nvSpPr>
        <p:spPr>
          <a:xfrm xmlns:a="http://schemas.openxmlformats.org/drawingml/2006/main">
            <a:off x="6400800" y="228600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Block sympathetic signals to slow the heart and lower BP.</a:t>
            </a:r>
          </a:p>
        </p:txBody>
      </p:sp>
      <p:sp>
        <p:nvSpPr>
          <p:cNvPr id="10" name="Shape 8">
            <a:extLst xmlns:a="http://schemas.openxmlformats.org/drawingml/2006/main">
              <a:ext uri="{FF2B5EF4-FFF2-40B4-BE49-F238E27FC236}">
                <a16:creationId xmlns:a16="http://schemas.microsoft.com/office/drawing/2014/main" id="{EFB37DF6-3188-47FA-8634-C096599DF765}"/>
              </a:ext>
            </a:extLst>
          </p:cNvPr>
          <p:cNvSpPr>
            <a:spLocks xmlns:a="http://schemas.openxmlformats.org/drawingml/2006/main" noGrp="1"/>
          </p:cNvSpPr>
          <p:nvPr/>
        </p:nvSpPr>
        <p:spPr>
          <a:xfrm xmlns:a="http://schemas.openxmlformats.org/drawingml/2006/main">
            <a:off x="548640" y="333756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1" name="Text 9">
            <a:extLst xmlns:a="http://schemas.openxmlformats.org/drawingml/2006/main">
              <a:ext uri="{FF2B5EF4-FFF2-40B4-BE49-F238E27FC236}">
                <a16:creationId xmlns:a16="http://schemas.microsoft.com/office/drawing/2014/main" id="{F506CB70-2980-4B0F-A5B2-695B0A7B95E0}"/>
              </a:ext>
            </a:extLst>
          </p:cNvPr>
          <p:cNvSpPr>
            <a:spLocks xmlns:a="http://schemas.openxmlformats.org/drawingml/2006/main" noGrp="1"/>
          </p:cNvSpPr>
          <p:nvPr/>
        </p:nvSpPr>
        <p:spPr>
          <a:xfrm xmlns:a="http://schemas.openxmlformats.org/drawingml/2006/main">
            <a:off x="777240" y="346557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Fight-or-Flight</a:t>
            </a:r>
          </a:p>
        </p:txBody>
      </p:sp>
      <p:sp>
        <p:nvSpPr>
          <p:cNvPr id="12" name="Text 10">
            <a:extLst xmlns:a="http://schemas.openxmlformats.org/drawingml/2006/main">
              <a:ext uri="{FF2B5EF4-FFF2-40B4-BE49-F238E27FC236}">
                <a16:creationId xmlns:a16="http://schemas.microsoft.com/office/drawing/2014/main" id="{A22074A0-0EBF-43A8-A38A-BCD0D3B521BC}"/>
              </a:ext>
            </a:extLst>
          </p:cNvPr>
          <p:cNvSpPr>
            <a:spLocks xmlns:a="http://schemas.openxmlformats.org/drawingml/2006/main" noGrp="1"/>
          </p:cNvSpPr>
          <p:nvPr/>
        </p:nvSpPr>
        <p:spPr>
          <a:xfrm xmlns:a="http://schemas.openxmlformats.org/drawingml/2006/main">
            <a:off x="777240" y="384048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The stress response explains symptoms of anxiety and shock.</a:t>
            </a:r>
          </a:p>
        </p:txBody>
      </p:sp>
      <p:sp>
        <p:nvSpPr>
          <p:cNvPr id="13" name="Shape 11">
            <a:extLst xmlns:a="http://schemas.openxmlformats.org/drawingml/2006/main">
              <a:ext uri="{FF2B5EF4-FFF2-40B4-BE49-F238E27FC236}">
                <a16:creationId xmlns:a16="http://schemas.microsoft.com/office/drawing/2014/main" id="{69B75CDB-91BE-4A27-A313-0B3E721F74F5}"/>
              </a:ext>
            </a:extLst>
          </p:cNvPr>
          <p:cNvSpPr>
            <a:spLocks xmlns:a="http://schemas.openxmlformats.org/drawingml/2006/main" noGrp="1"/>
          </p:cNvSpPr>
          <p:nvPr/>
        </p:nvSpPr>
        <p:spPr>
          <a:xfrm xmlns:a="http://schemas.openxmlformats.org/drawingml/2006/main">
            <a:off x="6172200" y="333756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4" name="Text 12">
            <a:extLst xmlns:a="http://schemas.openxmlformats.org/drawingml/2006/main">
              <a:ext uri="{FF2B5EF4-FFF2-40B4-BE49-F238E27FC236}">
                <a16:creationId xmlns:a16="http://schemas.microsoft.com/office/drawing/2014/main" id="{ED9D47F4-C837-4FFF-AFA1-54B7741A054E}"/>
              </a:ext>
            </a:extLst>
          </p:cNvPr>
          <p:cNvSpPr>
            <a:spLocks xmlns:a="http://schemas.openxmlformats.org/drawingml/2006/main" noGrp="1"/>
          </p:cNvSpPr>
          <p:nvPr/>
        </p:nvSpPr>
        <p:spPr>
          <a:xfrm xmlns:a="http://schemas.openxmlformats.org/drawingml/2006/main">
            <a:off x="6400800" y="346557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Pupil Assessment</a:t>
            </a:r>
          </a:p>
        </p:txBody>
      </p:sp>
      <p:sp>
        <p:nvSpPr>
          <p:cNvPr id="15" name="Text 13">
            <a:extLst xmlns:a="http://schemas.openxmlformats.org/drawingml/2006/main">
              <a:ext uri="{FF2B5EF4-FFF2-40B4-BE49-F238E27FC236}">
                <a16:creationId xmlns:a16="http://schemas.microsoft.com/office/drawing/2014/main" id="{77C8F58C-C89E-4FC4-B4B1-87625A9188DA}"/>
              </a:ext>
            </a:extLst>
          </p:cNvPr>
          <p:cNvSpPr>
            <a:spLocks xmlns:a="http://schemas.openxmlformats.org/drawingml/2006/main" noGrp="1"/>
          </p:cNvSpPr>
          <p:nvPr/>
        </p:nvSpPr>
        <p:spPr>
          <a:xfrm xmlns:a="http://schemas.openxmlformats.org/drawingml/2006/main">
            <a:off x="6400800" y="384048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Pupil size and reactivity reveal autonomic and brain function.</a:t>
            </a:r>
          </a:p>
        </p:txBody>
      </p:sp>
      <p:sp>
        <p:nvSpPr>
          <p:cNvPr id="16" name="Shape 14">
            <a:extLst xmlns:a="http://schemas.openxmlformats.org/drawingml/2006/main">
              <a:ext uri="{FF2B5EF4-FFF2-40B4-BE49-F238E27FC236}">
                <a16:creationId xmlns:a16="http://schemas.microsoft.com/office/drawing/2014/main" id="{3CBB8C17-8EC9-4EBD-ABFD-C0DD31C93CD9}"/>
              </a:ext>
            </a:extLst>
          </p:cNvPr>
          <p:cNvSpPr>
            <a:spLocks xmlns:a="http://schemas.openxmlformats.org/drawingml/2006/main" noGrp="1"/>
          </p:cNvSpPr>
          <p:nvPr/>
        </p:nvSpPr>
        <p:spPr>
          <a:xfrm xmlns:a="http://schemas.openxmlformats.org/drawingml/2006/main">
            <a:off x="548640" y="489204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7" name="Text 15">
            <a:extLst xmlns:a="http://schemas.openxmlformats.org/drawingml/2006/main">
              <a:ext uri="{FF2B5EF4-FFF2-40B4-BE49-F238E27FC236}">
                <a16:creationId xmlns:a16="http://schemas.microsoft.com/office/drawing/2014/main" id="{BA0B4D0A-F16B-4086-BF43-7D47AF62E4A4}"/>
              </a:ext>
            </a:extLst>
          </p:cNvPr>
          <p:cNvSpPr>
            <a:spLocks xmlns:a="http://schemas.openxmlformats.org/drawingml/2006/main" noGrp="1"/>
          </p:cNvSpPr>
          <p:nvPr/>
        </p:nvSpPr>
        <p:spPr>
          <a:xfrm xmlns:a="http://schemas.openxmlformats.org/drawingml/2006/main">
            <a:off x="777240" y="50200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Bladder &amp; Bowel</a:t>
            </a:r>
          </a:p>
        </p:txBody>
      </p:sp>
      <p:sp>
        <p:nvSpPr>
          <p:cNvPr id="18" name="Text 16">
            <a:extLst xmlns:a="http://schemas.openxmlformats.org/drawingml/2006/main">
              <a:ext uri="{FF2B5EF4-FFF2-40B4-BE49-F238E27FC236}">
                <a16:creationId xmlns:a16="http://schemas.microsoft.com/office/drawing/2014/main" id="{384DA170-FEF7-4A39-8122-624537359ACF}"/>
              </a:ext>
            </a:extLst>
          </p:cNvPr>
          <p:cNvSpPr>
            <a:spLocks xmlns:a="http://schemas.openxmlformats.org/drawingml/2006/main" noGrp="1"/>
          </p:cNvSpPr>
          <p:nvPr/>
        </p:nvSpPr>
        <p:spPr>
          <a:xfrm xmlns:a="http://schemas.openxmlformats.org/drawingml/2006/main">
            <a:off x="777240" y="53949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Autonomic control underlies continence and digestion.</a:t>
            </a:r>
          </a:p>
        </p:txBody>
      </p:sp>
      <p:sp>
        <p:nvSpPr>
          <p:cNvPr id="19" name="Shape 17">
            <a:extLst xmlns:a="http://schemas.openxmlformats.org/drawingml/2006/main">
              <a:ext uri="{FF2B5EF4-FFF2-40B4-BE49-F238E27FC236}">
                <a16:creationId xmlns:a16="http://schemas.microsoft.com/office/drawing/2014/main" id="{B1D828F1-1829-4D44-9529-D213E8F14AEE}"/>
              </a:ext>
            </a:extLst>
          </p:cNvPr>
          <p:cNvSpPr>
            <a:spLocks xmlns:a="http://schemas.openxmlformats.org/drawingml/2006/main" noGrp="1"/>
          </p:cNvSpPr>
          <p:nvPr/>
        </p:nvSpPr>
        <p:spPr>
          <a:xfrm xmlns:a="http://schemas.openxmlformats.org/drawingml/2006/main">
            <a:off x="6172200" y="489204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20" name="Text 18">
            <a:extLst xmlns:a="http://schemas.openxmlformats.org/drawingml/2006/main">
              <a:ext uri="{FF2B5EF4-FFF2-40B4-BE49-F238E27FC236}">
                <a16:creationId xmlns:a16="http://schemas.microsoft.com/office/drawing/2014/main" id="{9A1BB3E4-3790-4FB8-9610-72F0BA29E704}"/>
              </a:ext>
            </a:extLst>
          </p:cNvPr>
          <p:cNvSpPr>
            <a:spLocks xmlns:a="http://schemas.openxmlformats.org/drawingml/2006/main" noGrp="1"/>
          </p:cNvSpPr>
          <p:nvPr/>
        </p:nvSpPr>
        <p:spPr>
          <a:xfrm xmlns:a="http://schemas.openxmlformats.org/drawingml/2006/main">
            <a:off x="6400800" y="50200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Atropine</a:t>
            </a:r>
          </a:p>
        </p:txBody>
      </p:sp>
      <p:sp>
        <p:nvSpPr>
          <p:cNvPr id="21" name="Text 19">
            <a:extLst xmlns:a="http://schemas.openxmlformats.org/drawingml/2006/main">
              <a:ext uri="{FF2B5EF4-FFF2-40B4-BE49-F238E27FC236}">
                <a16:creationId xmlns:a16="http://schemas.microsoft.com/office/drawing/2014/main" id="{C78269C0-3DF1-426C-953D-6DE76BBA6407}"/>
              </a:ext>
            </a:extLst>
          </p:cNvPr>
          <p:cNvSpPr>
            <a:spLocks xmlns:a="http://schemas.openxmlformats.org/drawingml/2006/main" noGrp="1"/>
          </p:cNvSpPr>
          <p:nvPr/>
        </p:nvSpPr>
        <p:spPr>
          <a:xfrm xmlns:a="http://schemas.openxmlformats.org/drawingml/2006/main">
            <a:off x="6400800" y="53949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Blocks parasympathetic effects to speed the heart and dry secretions.</a:t>
            </a:r>
          </a:p>
        </p:txBody>
      </p:sp>
    </p:spTree>
    <p:extLst>
      <p:ext uri="{BB962C8B-B14F-4D97-AF65-F5344CB8AC3E}">
        <p14:creationId xmlns:p14="http://schemas.microsoft.com/office/powerpoint/2010/main" val="62992201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2026-08-05T01:15:55.4910000Z</dcterms:created>
  <dcterms:modified xsi:type="dcterms:W3CDTF">2026-08-05T01:15:55.4910000Z</dcterms:modified>
</coreProperties>
</file>