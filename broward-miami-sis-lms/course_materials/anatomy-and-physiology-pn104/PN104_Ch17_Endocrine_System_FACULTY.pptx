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endocrine system: glands that release hormones into the blood to control metabolism, growth, and balance; how hormones act on target cells; negative feedback; and the major glands — pituitary, thyroid, parathyroids, and pancreas — most important in nursing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endocrine system controls the body chemically. Glands — pituitary, thyroid, parathyroids, adrenals, pancreas, pineal, and gonads — secrete hormones into the bloodstream that travel to distant target cells. Compared with the fast nervous system, endocrine control is slower but longer-lasting, governing metabolism, growth, reproduction, and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Lipid-soluble hormones (steroids like cortisol and the sex hormones, plus thyroid hormone) cross the cell membrane and bind receptors inside the cell. The hormone-receptor complex acts on DNA to turn genes on or off, changing which proteins the cell makes. Effects are slower but longer-lasting.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Water-soluble hormones (most, like peptide hormones and epinephrine) cannot cross the membrane, so they bind surface receptors and trigger an internal "second messenger" such as cAMP. This relays the signal inside, activating enzymes for a fast response — the basis of how many hormones and drugs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Hormone levels are kept stable mainly by negative feedback: a hormone produces an effect that, once sufficient, signals the gland to stop releasing it — like a thermostat. This loop (seen in the hypothalamus-pituitary-adrenal axis for cortisol) keeps hormones in a healthy range and is disrupted in many endocrine disorders.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pituitary gland hangs below the hypothalamus, which controls it. The posterior lobe stores and releases hypothalamic hormones (ADH and oxytocin), while the anterior lobe makes its own hormones under hypothalamic command. Because it directs several other glands, the pituitary is often called the "master gland."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anterior pituitary secretes growth hormone, prolactin, and tropic hormones (TSH, ACTH, FSH, LH) that command the thyroid, adrenal cortex, and gonads. The posterior pituitary releases ADH (water balance) and oxytocin (labor and milk release). Together they regulate growth, metabolism, stress, reproduction, and fluid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thyroid gland sits in the front of the neck, wrapped around the trachea below the larynx. Its follicles make thyroid hormones (T3 and T4) from iodine and tyrosine. These hormones set the body's metabolic rate, affecting nearly every tissue. It also makes calcitonin, which lowers blood calcium.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hypothalamus and pituitary control the thyroid: TSH stimulates T3/T4 release, which then feeds back to limit further TSH — classic negative feedback. Too much hormone (hyperthyroidism) speeds metabolism; too little (hypothyroidism) slows it, causing fatigue, weight gain, and cold intolerance.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goiter is an enlarged thyroid, classically from iodine deficiency but also seen in both hyper- and hypothyroidism. It appears as a swelling in the neck. Iodized salt has made deficiency goiter rare in many places, but thyroid disorders remain very common, especially in women.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small parathyroid glands sit on the back of the thyroid. They secrete parathyroid hormone (PTH), the main regulator of blood calcium. Despite their size, they are vital — and may be accidentally damaged in thyroid surgery, causing dangerous calcium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blood calcium falls, PTH raises it by releasing calcium from bone, conserving it in the kidney, and (with vitamin D) increasing intestinal absorption; calcitonin from the thyroid lowers high calcium. This tight balance is essential because calcium controls nerve, muscle, and clotting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Within the pancreas, clusters called pancreatic islets carry out its endocrine role. Alpha cells secrete glucagon (which raises blood glucose) and beta cells secrete insulin (which lowers it). The rest of the pancreas is exocrine, making digestive enzymes.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Insulin and glucagon work in opposition to keep blood glucose stable: after eating, insulin moves glucose into cells; between meals, glucagon releases stored glucose. When insulin is lacking or ineffective, blood glucose rises — diabetes mellitus — a disease central to nursing care and patient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17</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The Endocrine System</a:t>
            </a:r>
            <a:endParaRPr lang="en-US" sz="4400" dirty="0"/>
          </a:p>
        </p:txBody>
      </p:sp>
      <p:sp>
        <p:nvSpPr>
          <p:cNvPr id="4" name="Text 2"/>
          <p:cNvSpPr/>
          <p:nvPr/>
        </p:nvSpPr>
        <p:spPr>
          <a:xfrm>
            <a:off x="749808" y="388620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Chemical control of the body through hormones.</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536410"/>
            <a:ext cx="4096512" cy="1968060"/>
          </a:xfrm>
          <a:prstGeom prst="roundRect">
            <a:avLst>
              <a:gd name="adj" fmla="val 278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17/img/img01.jpg">    </p:cNvPr>
          <p:cNvPicPr>
            <a:picLocks noChangeAspect="1"/>
          </p:cNvPicPr>
          <p:nvPr/>
        </p:nvPicPr>
        <p:blipFill>
          <a:blip r:embed="rId1"/>
          <a:stretch>
            <a:fillRect/>
          </a:stretch>
        </p:blipFill>
        <p:spPr>
          <a:xfrm>
            <a:off x="7818120" y="2618706"/>
            <a:ext cx="3931920" cy="18034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17</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Identify the contributions of the endocrine system to homeostasis</a:t>
            </a:r>
            <a:endParaRPr lang="en-US" sz="1300" dirty="0"/>
          </a:p>
        </p:txBody>
      </p:sp>
      <p:sp>
        <p:nvSpPr>
          <p:cNvPr id="8" name="Shape 6"/>
          <p:cNvSpPr/>
          <p:nvPr/>
        </p:nvSpPr>
        <p:spPr>
          <a:xfrm>
            <a:off x="548640" y="2418588"/>
            <a:ext cx="384048" cy="384048"/>
          </a:xfrm>
          <a:prstGeom prst="ellipse">
            <a:avLst/>
          </a:prstGeom>
          <a:solidFill>
            <a:srgbClr val="0F4C5C"/>
          </a:solidFill>
          <a:ln/>
        </p:spPr>
      </p:sp>
      <p:sp>
        <p:nvSpPr>
          <p:cNvPr id="9" name="Text 7"/>
          <p:cNvSpPr/>
          <p:nvPr/>
        </p:nvSpPr>
        <p:spPr>
          <a:xfrm>
            <a:off x="548640" y="241858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0030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Discuss the chemical composition of hormones and the mechanisms of hormone action</a:t>
            </a:r>
            <a:endParaRPr lang="en-US" sz="1300" dirty="0"/>
          </a:p>
        </p:txBody>
      </p:sp>
      <p:sp>
        <p:nvSpPr>
          <p:cNvPr id="11" name="Shape 9"/>
          <p:cNvSpPr/>
          <p:nvPr/>
        </p:nvSpPr>
        <p:spPr>
          <a:xfrm>
            <a:off x="548640" y="3172968"/>
            <a:ext cx="384048" cy="384048"/>
          </a:xfrm>
          <a:prstGeom prst="ellipse">
            <a:avLst/>
          </a:prstGeom>
          <a:solidFill>
            <a:srgbClr val="0F4C5C"/>
          </a:solidFill>
          <a:ln/>
        </p:spPr>
      </p:sp>
      <p:sp>
        <p:nvSpPr>
          <p:cNvPr id="12" name="Text 10"/>
          <p:cNvSpPr/>
          <p:nvPr/>
        </p:nvSpPr>
        <p:spPr>
          <a:xfrm>
            <a:off x="548640" y="317296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15468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Discuss the hormonal regulation of the reproductive system</a:t>
            </a:r>
            <a:endParaRPr lang="en-US" sz="1300" dirty="0"/>
          </a:p>
        </p:txBody>
      </p:sp>
      <p:sp>
        <p:nvSpPr>
          <p:cNvPr id="14" name="Shape 12"/>
          <p:cNvSpPr/>
          <p:nvPr/>
        </p:nvSpPr>
        <p:spPr>
          <a:xfrm>
            <a:off x="548640" y="3927348"/>
            <a:ext cx="384048" cy="384048"/>
          </a:xfrm>
          <a:prstGeom prst="ellipse">
            <a:avLst/>
          </a:prstGeom>
          <a:solidFill>
            <a:srgbClr val="0F4C5C"/>
          </a:solidFill>
          <a:ln/>
        </p:spPr>
      </p:sp>
      <p:sp>
        <p:nvSpPr>
          <p:cNvPr id="15" name="Text 13"/>
          <p:cNvSpPr/>
          <p:nvPr/>
        </p:nvSpPr>
        <p:spPr>
          <a:xfrm>
            <a:off x="548640" y="392734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390906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Explain the role of the pancreatic endocrine cells in the regulation of blood glucose</a:t>
            </a:r>
            <a:endParaRPr lang="en-US" sz="1300" dirty="0"/>
          </a:p>
        </p:txBody>
      </p:sp>
      <p:sp>
        <p:nvSpPr>
          <p:cNvPr id="17" name="Shape 15"/>
          <p:cNvSpPr/>
          <p:nvPr/>
        </p:nvSpPr>
        <p:spPr>
          <a:xfrm>
            <a:off x="548640" y="4681728"/>
            <a:ext cx="384048" cy="384048"/>
          </a:xfrm>
          <a:prstGeom prst="ellipse">
            <a:avLst/>
          </a:prstGeom>
          <a:solidFill>
            <a:srgbClr val="0F4C5C"/>
          </a:solidFill>
          <a:ln/>
        </p:spPr>
      </p:sp>
      <p:sp>
        <p:nvSpPr>
          <p:cNvPr id="18" name="Text 16"/>
          <p:cNvSpPr/>
          <p:nvPr/>
        </p:nvSpPr>
        <p:spPr>
          <a:xfrm>
            <a:off x="548640" y="468172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115568" y="466344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Identify the hormones released by the heart, kidneys, and other organs with secondary endocrine functions</a:t>
            </a:r>
            <a:endParaRPr lang="en-US" sz="1300" dirty="0"/>
          </a:p>
        </p:txBody>
      </p:sp>
      <p:sp>
        <p:nvSpPr>
          <p:cNvPr id="20" name="Shape 18"/>
          <p:cNvSpPr/>
          <p:nvPr/>
        </p:nvSpPr>
        <p:spPr>
          <a:xfrm>
            <a:off x="548640" y="5436108"/>
            <a:ext cx="384048" cy="384048"/>
          </a:xfrm>
          <a:prstGeom prst="ellipse">
            <a:avLst/>
          </a:prstGeom>
          <a:solidFill>
            <a:srgbClr val="0F4C5C"/>
          </a:solidFill>
          <a:ln/>
        </p:spPr>
      </p:sp>
      <p:sp>
        <p:nvSpPr>
          <p:cNvPr id="21" name="Text 19"/>
          <p:cNvSpPr/>
          <p:nvPr/>
        </p:nvSpPr>
        <p:spPr>
          <a:xfrm>
            <a:off x="548640" y="54361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22" name="Text 20"/>
          <p:cNvSpPr/>
          <p:nvPr/>
        </p:nvSpPr>
        <p:spPr>
          <a:xfrm>
            <a:off x="1115568" y="54178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Discuss several common diseases associated with endocrine system dysfunction</a:t>
            </a:r>
            <a:endParaRPr lang="en-US" sz="1300" dirty="0"/>
          </a:p>
        </p:txBody>
      </p:sp>
      <p:sp>
        <p:nvSpPr>
          <p:cNvPr id="23" name="Shape 21"/>
          <p:cNvSpPr/>
          <p:nvPr/>
        </p:nvSpPr>
        <p:spPr>
          <a:xfrm>
            <a:off x="7415784" y="1686956"/>
            <a:ext cx="4370832" cy="4087591"/>
          </a:xfrm>
          <a:prstGeom prst="roundRect">
            <a:avLst>
              <a:gd name="adj" fmla="val 1342"/>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24" name="Image 0" descr="/home/claude/all/ch17/img/img02.jpg">    </p:cNvPr>
          <p:cNvPicPr>
            <a:picLocks noChangeAspect="1"/>
          </p:cNvPicPr>
          <p:nvPr/>
        </p:nvPicPr>
        <p:blipFill>
          <a:blip r:embed="rId1"/>
          <a:stretch>
            <a:fillRect/>
          </a:stretch>
        </p:blipFill>
        <p:spPr>
          <a:xfrm>
            <a:off x="7498080" y="1769252"/>
            <a:ext cx="4206240" cy="3922999"/>
          </a:xfrm>
          <a:prstGeom prst="rect">
            <a:avLst/>
          </a:prstGeom>
        </p:spPr>
      </p:pic>
      <p:sp>
        <p:nvSpPr>
          <p:cNvPr id="25" name="Text 22"/>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major endocrine glands of the body.</a:t>
            </a:r>
            <a:endParaRPr lang="en-US" sz="1100" dirty="0"/>
          </a:p>
        </p:txBody>
      </p:sp>
      <p:sp>
        <p:nvSpPr>
          <p:cNvPr id="27" name="Text 23"/>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17 — The Endocrine System</a:t>
            </a:r>
            <a:endParaRPr lang="en-US" sz="900" dirty="0"/>
          </a:p>
        </p:txBody>
      </p:sp>
      <p:sp>
        <p:nvSpPr>
          <p:cNvPr id="28" name="Text 24"/>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17.1</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An Overview of the Endocrine System</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endocrine system — chemical control through hormones.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17.1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Endocrine Glands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Glands secrete hormones into the blood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Hormones travel to distant targets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Control slow, widespread processes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Work alongside the nervous system</a:t>
            </a:r>
            <a:endParaRPr lang="en-US" sz="1500" dirty="0"/>
          </a:p>
        </p:txBody>
      </p:sp>
      <p:sp>
        <p:nvSpPr>
          <p:cNvPr id="5" name="Shape 3"/>
          <p:cNvSpPr/>
          <p:nvPr/>
        </p:nvSpPr>
        <p:spPr>
          <a:xfrm>
            <a:off x="6111036" y="1335024"/>
            <a:ext cx="4968648"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7/img/img02.jpg">    </p:cNvPr>
          <p:cNvPicPr>
            <a:picLocks noChangeAspect="1"/>
          </p:cNvPicPr>
          <p:nvPr/>
        </p:nvPicPr>
        <p:blipFill>
          <a:blip r:embed="rId1"/>
          <a:stretch>
            <a:fillRect/>
          </a:stretch>
        </p:blipFill>
        <p:spPr>
          <a:xfrm>
            <a:off x="6193332" y="1417320"/>
            <a:ext cx="4804056"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major endocrine glands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17 — The Endocrine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17.2</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Hormones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What hormones are and how they act on target cells.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17.2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Steroid Hormone Action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Lipid-soluble hormones enter the cell</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They pass through the membrane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Bind receptors inside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Switch genes on or off</a:t>
            </a:r>
            <a:endParaRPr lang="en-US" sz="1500" dirty="0"/>
          </a:p>
        </p:txBody>
      </p:sp>
      <p:sp>
        <p:nvSpPr>
          <p:cNvPr id="5" name="Shape 3"/>
          <p:cNvSpPr/>
          <p:nvPr/>
        </p:nvSpPr>
        <p:spPr>
          <a:xfrm>
            <a:off x="5404104" y="1498510"/>
            <a:ext cx="6382512" cy="4318179"/>
          </a:xfrm>
          <a:prstGeom prst="roundRect">
            <a:avLst>
              <a:gd name="adj" fmla="val 12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7/img/img04.jpg">    </p:cNvPr>
          <p:cNvPicPr>
            <a:picLocks noChangeAspect="1"/>
          </p:cNvPicPr>
          <p:nvPr/>
        </p:nvPicPr>
        <p:blipFill>
          <a:blip r:embed="rId1"/>
          <a:stretch>
            <a:fillRect/>
          </a:stretch>
        </p:blipFill>
        <p:spPr>
          <a:xfrm>
            <a:off x="5486400" y="1580806"/>
            <a:ext cx="6217920" cy="4153587"/>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How a lipid-soluble (steroid) hormone acts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17 — The Endocrine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17.2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Water-Soluble Hormone Action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Water-soluble hormones can't enter the cell</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They bind receptors on the surface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Trigger a second messenger (cAMP)</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Produce rapid responses</a:t>
            </a:r>
            <a:endParaRPr lang="en-US" sz="1500" dirty="0"/>
          </a:p>
        </p:txBody>
      </p:sp>
      <p:sp>
        <p:nvSpPr>
          <p:cNvPr id="5" name="Shape 3"/>
          <p:cNvSpPr/>
          <p:nvPr/>
        </p:nvSpPr>
        <p:spPr>
          <a:xfrm>
            <a:off x="5555670" y="1335024"/>
            <a:ext cx="6079379"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7/img/img05.jpg">    </p:cNvPr>
          <p:cNvPicPr>
            <a:picLocks noChangeAspect="1"/>
          </p:cNvPicPr>
          <p:nvPr/>
        </p:nvPicPr>
        <p:blipFill>
          <a:blip r:embed="rId1"/>
          <a:stretch>
            <a:fillRect/>
          </a:stretch>
        </p:blipFill>
        <p:spPr>
          <a:xfrm>
            <a:off x="5637966" y="1417320"/>
            <a:ext cx="5914787"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How a water-soluble hormone acts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17 — The Endocrine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17.2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Negative Feedback</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Most hormones are feedback-controlled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 change triggers a correcting response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response shuts off the signal</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Keeps levels in a stable range</a:t>
            </a:r>
            <a:endParaRPr lang="en-US" sz="1500" dirty="0"/>
          </a:p>
        </p:txBody>
      </p:sp>
      <p:sp>
        <p:nvSpPr>
          <p:cNvPr id="5" name="Shape 3"/>
          <p:cNvSpPr/>
          <p:nvPr/>
        </p:nvSpPr>
        <p:spPr>
          <a:xfrm>
            <a:off x="6225738" y="1335024"/>
            <a:ext cx="4739244"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7/img/img06.jpg">    </p:cNvPr>
          <p:cNvPicPr>
            <a:picLocks noChangeAspect="1"/>
          </p:cNvPicPr>
          <p:nvPr/>
        </p:nvPicPr>
        <p:blipFill>
          <a:blip r:embed="rId1"/>
          <a:stretch>
            <a:fillRect/>
          </a:stretch>
        </p:blipFill>
        <p:spPr>
          <a:xfrm>
            <a:off x="6308034" y="1417320"/>
            <a:ext cx="4574652"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Negative feedback control of hormones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17 — The Endocrine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17.3</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Pituitary Gland and Hypothalamus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pituitary and hypothalamus — the hormonal command center.</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17.3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Pituitary Gland</a:t>
            </a:r>
            <a:endParaRPr lang="en-US" sz="2800" dirty="0"/>
          </a:p>
        </p:txBody>
      </p:sp>
      <p:sp>
        <p:nvSpPr>
          <p:cNvPr id="4" name="Shape 2"/>
          <p:cNvSpPr/>
          <p:nvPr/>
        </p:nvSpPr>
        <p:spPr>
          <a:xfrm>
            <a:off x="2953713" y="1289304"/>
            <a:ext cx="6299814"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7/img/img07.jpg">    </p:cNvPr>
          <p:cNvPicPr>
            <a:picLocks noChangeAspect="1"/>
          </p:cNvPicPr>
          <p:nvPr/>
        </p:nvPicPr>
        <p:blipFill>
          <a:blip r:embed="rId1"/>
          <a:stretch>
            <a:fillRect/>
          </a:stretch>
        </p:blipFill>
        <p:spPr>
          <a:xfrm>
            <a:off x="3036009" y="1371600"/>
            <a:ext cx="6135222"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pituitary gland and hypothalamus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Sits beneath the hypothalamus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Has anterior and posterior lobes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Controlled by the hypothalamus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Often called the "master gland"</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17 — The Endocrine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17.3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Pituitary Hormones</a:t>
            </a:r>
            <a:endParaRPr lang="en-US" sz="2800" dirty="0"/>
          </a:p>
        </p:txBody>
      </p:sp>
      <p:sp>
        <p:nvSpPr>
          <p:cNvPr id="4" name="Shape 2"/>
          <p:cNvSpPr/>
          <p:nvPr/>
        </p:nvSpPr>
        <p:spPr>
          <a:xfrm>
            <a:off x="420624" y="1300918"/>
            <a:ext cx="4462272" cy="4713364"/>
          </a:xfrm>
          <a:prstGeom prst="roundRect">
            <a:avLst>
              <a:gd name="adj" fmla="val 123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7/img/img11.jpg">    </p:cNvPr>
          <p:cNvPicPr>
            <a:picLocks noChangeAspect="1"/>
          </p:cNvPicPr>
          <p:nvPr/>
        </p:nvPicPr>
        <p:blipFill>
          <a:blip r:embed="rId1"/>
          <a:stretch>
            <a:fillRect/>
          </a:stretch>
        </p:blipFill>
        <p:spPr>
          <a:xfrm>
            <a:off x="502920" y="1383214"/>
            <a:ext cx="4297680" cy="4548772"/>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Pituitary hormones and their targets</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Anterior lobe makes tropic hormones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Control the thyroid, adrenals, and gonads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Plus growth hormone and prolactin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Posterior releases ADH and oxytocin</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17 — The Endocrine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17.4</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Thyroid Gland</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thyroid gland and its role in metabolism.</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17.4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Thyroid Gland</a:t>
            </a:r>
            <a:endParaRPr lang="en-US" sz="2800" dirty="0"/>
          </a:p>
        </p:txBody>
      </p:sp>
      <p:sp>
        <p:nvSpPr>
          <p:cNvPr id="4" name="Shape 2"/>
          <p:cNvSpPr/>
          <p:nvPr/>
        </p:nvSpPr>
        <p:spPr>
          <a:xfrm>
            <a:off x="1374572" y="1289304"/>
            <a:ext cx="2554376" cy="4736592"/>
          </a:xfrm>
          <a:prstGeom prst="roundRect">
            <a:avLst>
              <a:gd name="adj" fmla="val 214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7/img/img12.jpg">    </p:cNvPr>
          <p:cNvPicPr>
            <a:picLocks noChangeAspect="1"/>
          </p:cNvPicPr>
          <p:nvPr/>
        </p:nvPicPr>
        <p:blipFill>
          <a:blip r:embed="rId1"/>
          <a:stretch>
            <a:fillRect/>
          </a:stretch>
        </p:blipFill>
        <p:spPr>
          <a:xfrm>
            <a:off x="1456868" y="1371600"/>
            <a:ext cx="2389784"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thyroid gland</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Located in the front of the neck</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Wraps around the trachea</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Makes thyroid hormone (T3, T4)</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Requires iodine</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17 — The Endocrine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17.4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Thyroid Function &amp; Feedback</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TSH from the pituitary drives it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T3 and T4 raise metabolic rate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Feedback keeps levels balanced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Imbalance causes disease</a:t>
            </a:r>
            <a:endParaRPr lang="en-US" sz="1500" dirty="0"/>
          </a:p>
        </p:txBody>
      </p:sp>
      <p:sp>
        <p:nvSpPr>
          <p:cNvPr id="5" name="Shape 3"/>
          <p:cNvSpPr/>
          <p:nvPr/>
        </p:nvSpPr>
        <p:spPr>
          <a:xfrm>
            <a:off x="6221706" y="1335024"/>
            <a:ext cx="4747309"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7/img/img13.jpg">    </p:cNvPr>
          <p:cNvPicPr>
            <a:picLocks noChangeAspect="1"/>
          </p:cNvPicPr>
          <p:nvPr/>
        </p:nvPicPr>
        <p:blipFill>
          <a:blip r:embed="rId1"/>
          <a:stretch>
            <a:fillRect/>
          </a:stretch>
        </p:blipFill>
        <p:spPr>
          <a:xfrm>
            <a:off x="6304002" y="1417320"/>
            <a:ext cx="4582717"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Control of thyroid hormone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17 — The Endocrine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17.4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Goiter</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An enlarged thyroid gland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Often from iodine deficiency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Can occur with over- or underactivity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 visible neck swelling</a:t>
            </a:r>
            <a:endParaRPr lang="en-US" sz="1500" dirty="0"/>
          </a:p>
        </p:txBody>
      </p:sp>
      <p:sp>
        <p:nvSpPr>
          <p:cNvPr id="5" name="Shape 3"/>
          <p:cNvSpPr/>
          <p:nvPr/>
        </p:nvSpPr>
        <p:spPr>
          <a:xfrm>
            <a:off x="5524979" y="1335024"/>
            <a:ext cx="6140763"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7/img/img14.jpg">    </p:cNvPr>
          <p:cNvPicPr>
            <a:picLocks noChangeAspect="1"/>
          </p:cNvPicPr>
          <p:nvPr/>
        </p:nvPicPr>
        <p:blipFill>
          <a:blip r:embed="rId1"/>
          <a:stretch>
            <a:fillRect/>
          </a:stretch>
        </p:blipFill>
        <p:spPr>
          <a:xfrm>
            <a:off x="5607275" y="1417320"/>
            <a:ext cx="5976171"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Goiter (enlarged thyroid)</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17 — The Endocrine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17.5</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Parathyroid Glands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parathyroid glands and calcium balance.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17.5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Parathyroid Glands</a:t>
            </a:r>
            <a:endParaRPr lang="en-US" sz="2800" dirty="0"/>
          </a:p>
        </p:txBody>
      </p:sp>
      <p:sp>
        <p:nvSpPr>
          <p:cNvPr id="4" name="Shape 2"/>
          <p:cNvSpPr/>
          <p:nvPr/>
        </p:nvSpPr>
        <p:spPr>
          <a:xfrm>
            <a:off x="1139786" y="1289304"/>
            <a:ext cx="9927668"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7/img/img15.jpg">    </p:cNvPr>
          <p:cNvPicPr>
            <a:picLocks noChangeAspect="1"/>
          </p:cNvPicPr>
          <p:nvPr/>
        </p:nvPicPr>
        <p:blipFill>
          <a:blip r:embed="rId1"/>
          <a:stretch>
            <a:fillRect/>
          </a:stretch>
        </p:blipFill>
        <p:spPr>
          <a:xfrm>
            <a:off x="1222082" y="1371600"/>
            <a:ext cx="9763076"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parathyroid glands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Four small glands behind the thyroid</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Make parathyroid hormone (PTH)</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Tiny but essential</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Regulate blood calcium</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17 — The Endocrine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17.5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Calcium Regulation</a:t>
            </a:r>
            <a:endParaRPr lang="en-US" sz="2800" dirty="0"/>
          </a:p>
        </p:txBody>
      </p:sp>
      <p:sp>
        <p:nvSpPr>
          <p:cNvPr id="4" name="Shape 2"/>
          <p:cNvSpPr/>
          <p:nvPr/>
        </p:nvSpPr>
        <p:spPr>
          <a:xfrm>
            <a:off x="666826" y="1289304"/>
            <a:ext cx="3969868" cy="4736592"/>
          </a:xfrm>
          <a:prstGeom prst="roundRect">
            <a:avLst>
              <a:gd name="adj" fmla="val 1382"/>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7/img/img16.jpg">    </p:cNvPr>
          <p:cNvPicPr>
            <a:picLocks noChangeAspect="1"/>
          </p:cNvPicPr>
          <p:nvPr/>
        </p:nvPicPr>
        <p:blipFill>
          <a:blip r:embed="rId1"/>
          <a:stretch>
            <a:fillRect/>
          </a:stretch>
        </p:blipFill>
        <p:spPr>
          <a:xfrm>
            <a:off x="749122" y="1371600"/>
            <a:ext cx="3805276"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Hormonal control of blood calcium</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PTH raises blood calcium</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Acts on bone, kidney, and intestine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Calcitonin lowers calcium</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Balance is tightly controlled</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17 — The Endocrine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17.9</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Endocrine Pancreas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pancreas and the control of blood sugar.</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17.9</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Endocrine Pancreas</a:t>
            </a:r>
            <a:endParaRPr lang="en-US" sz="2800" dirty="0"/>
          </a:p>
        </p:txBody>
      </p:sp>
      <p:sp>
        <p:nvSpPr>
          <p:cNvPr id="4" name="Shape 2"/>
          <p:cNvSpPr/>
          <p:nvPr/>
        </p:nvSpPr>
        <p:spPr>
          <a:xfrm>
            <a:off x="2483515" y="1289304"/>
            <a:ext cx="7240210"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7/img/img17.jpg">    </p:cNvPr>
          <p:cNvPicPr>
            <a:picLocks noChangeAspect="1"/>
          </p:cNvPicPr>
          <p:nvPr/>
        </p:nvPicPr>
        <p:blipFill>
          <a:blip r:embed="rId1"/>
          <a:stretch>
            <a:fillRect/>
          </a:stretch>
        </p:blipFill>
        <p:spPr>
          <a:xfrm>
            <a:off x="2565811" y="1371600"/>
            <a:ext cx="7075618"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endocrine pancreas and its islets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Islets scattered in the pancreas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Alpha cells make glucagon</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Beta cells make insulin</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Both regulate blood glucose</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17 — The Endocrine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17.9</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Blood Glucose Regulation</a:t>
            </a:r>
            <a:endParaRPr lang="en-US" sz="2800" dirty="0"/>
          </a:p>
        </p:txBody>
      </p:sp>
      <p:sp>
        <p:nvSpPr>
          <p:cNvPr id="4" name="Shape 2"/>
          <p:cNvSpPr/>
          <p:nvPr/>
        </p:nvSpPr>
        <p:spPr>
          <a:xfrm>
            <a:off x="943432" y="1289304"/>
            <a:ext cx="3416656" cy="4736592"/>
          </a:xfrm>
          <a:prstGeom prst="roundRect">
            <a:avLst>
              <a:gd name="adj" fmla="val 160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7/img/img18.jpg">    </p:cNvPr>
          <p:cNvPicPr>
            <a:picLocks noChangeAspect="1"/>
          </p:cNvPicPr>
          <p:nvPr/>
        </p:nvPicPr>
        <p:blipFill>
          <a:blip r:embed="rId1"/>
          <a:stretch>
            <a:fillRect/>
          </a:stretch>
        </p:blipFill>
        <p:spPr>
          <a:xfrm>
            <a:off x="1025728" y="1371600"/>
            <a:ext cx="3252064"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Insulin, glucagon, and blood glucose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Insulin lowers blood glucose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Glucagon raises it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two oppose to keep balance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Failure causes diabetes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17 — The Endocrine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17</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endocrine system uses hormones in the blood to control slow, widespread body processes.</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Lipid-soluble hormones act on genes inside the cell; water-soluble ones use surface receptors.</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Negative feedback keeps most hormone levels in a stable range.</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pituitary and hypothalamus direct the thyroid, adrenal glands, and gonads.</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thyroid, parathyroids, and pancreas control metabolism, calcium, and blood sugar.</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17 — The Endocrine System</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Why the Endocrine System Matters in Practical Nursing</a:t>
            </a:r>
            <a:endParaRPr lang="en-US" sz="2500" dirty="0"/>
          </a:p>
        </p:txBody>
      </p:sp>
      <p:sp>
        <p:nvSpPr>
          <p:cNvPr id="4" name="Shape 2"/>
          <p:cNvSpPr/>
          <p:nvPr/>
        </p:nvSpPr>
        <p:spPr>
          <a:xfrm>
            <a:off x="548640" y="1783080"/>
            <a:ext cx="5440680" cy="1389888"/>
          </a:xfrm>
          <a:prstGeom prst="roundRect">
            <a:avLst>
              <a:gd name="adj" fmla="val 5263"/>
            </a:avLst>
          </a:prstGeom>
          <a:solidFill>
            <a:srgbClr val="13586A"/>
          </a:solidFill>
          <a:ln w="12700">
            <a:solidFill>
              <a:srgbClr val="2A7A8C"/>
            </a:solidFill>
            <a:prstDash val="solid"/>
          </a:ln>
        </p:spPr>
      </p:sp>
      <p:sp>
        <p:nvSpPr>
          <p:cNvPr id="5" name="Text 3"/>
          <p:cNvSpPr/>
          <p:nvPr/>
        </p:nvSpPr>
        <p:spPr>
          <a:xfrm>
            <a:off x="77724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Diabetes Mellitus</a:t>
            </a:r>
            <a:endParaRPr lang="en-US" sz="1600" dirty="0"/>
          </a:p>
        </p:txBody>
      </p:sp>
      <p:sp>
        <p:nvSpPr>
          <p:cNvPr id="6" name="Text 4"/>
          <p:cNvSpPr/>
          <p:nvPr/>
        </p:nvSpPr>
        <p:spPr>
          <a:xfrm>
            <a:off x="77724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Insulin problems disrupt blood sugar — a major focus of nursing care.</a:t>
            </a:r>
            <a:endParaRPr lang="en-US" sz="1250" dirty="0"/>
          </a:p>
        </p:txBody>
      </p:sp>
      <p:sp>
        <p:nvSpPr>
          <p:cNvPr id="7" name="Shape 5"/>
          <p:cNvSpPr/>
          <p:nvPr/>
        </p:nvSpPr>
        <p:spPr>
          <a:xfrm>
            <a:off x="6172200" y="1783080"/>
            <a:ext cx="5440680" cy="1389888"/>
          </a:xfrm>
          <a:prstGeom prst="roundRect">
            <a:avLst>
              <a:gd name="adj" fmla="val 5263"/>
            </a:avLst>
          </a:prstGeom>
          <a:solidFill>
            <a:srgbClr val="13586A"/>
          </a:solidFill>
          <a:ln w="12700">
            <a:solidFill>
              <a:srgbClr val="2A7A8C"/>
            </a:solidFill>
            <a:prstDash val="solid"/>
          </a:ln>
        </p:spPr>
      </p:sp>
      <p:sp>
        <p:nvSpPr>
          <p:cNvPr id="8" name="Text 6"/>
          <p:cNvSpPr/>
          <p:nvPr/>
        </p:nvSpPr>
        <p:spPr>
          <a:xfrm>
            <a:off x="640080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Thyroid Disorders</a:t>
            </a:r>
            <a:endParaRPr lang="en-US" sz="1600" dirty="0"/>
          </a:p>
        </p:txBody>
      </p:sp>
      <p:sp>
        <p:nvSpPr>
          <p:cNvPr id="9" name="Text 7"/>
          <p:cNvSpPr/>
          <p:nvPr/>
        </p:nvSpPr>
        <p:spPr>
          <a:xfrm>
            <a:off x="640080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Hypo- and hyperthyroidism are common and very treatable.</a:t>
            </a:r>
            <a:endParaRPr lang="en-US" sz="1250" dirty="0"/>
          </a:p>
        </p:txBody>
      </p:sp>
      <p:sp>
        <p:nvSpPr>
          <p:cNvPr id="10" name="Shape 8"/>
          <p:cNvSpPr/>
          <p:nvPr/>
        </p:nvSpPr>
        <p:spPr>
          <a:xfrm>
            <a:off x="548640" y="3337560"/>
            <a:ext cx="5440680" cy="1389888"/>
          </a:xfrm>
          <a:prstGeom prst="roundRect">
            <a:avLst>
              <a:gd name="adj" fmla="val 5263"/>
            </a:avLst>
          </a:prstGeom>
          <a:solidFill>
            <a:srgbClr val="13586A"/>
          </a:solidFill>
          <a:ln w="12700">
            <a:solidFill>
              <a:srgbClr val="2A7A8C"/>
            </a:solidFill>
            <a:prstDash val="solid"/>
          </a:ln>
        </p:spPr>
      </p:sp>
      <p:sp>
        <p:nvSpPr>
          <p:cNvPr id="11" name="Text 9"/>
          <p:cNvSpPr/>
          <p:nvPr/>
        </p:nvSpPr>
        <p:spPr>
          <a:xfrm>
            <a:off x="77724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Hormone Feedback</a:t>
            </a:r>
            <a:endParaRPr lang="en-US" sz="1600" dirty="0"/>
          </a:p>
        </p:txBody>
      </p:sp>
      <p:sp>
        <p:nvSpPr>
          <p:cNvPr id="12" name="Text 10"/>
          <p:cNvSpPr/>
          <p:nvPr/>
        </p:nvSpPr>
        <p:spPr>
          <a:xfrm>
            <a:off x="77724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Many endocrine diseases stem from broken feedback loops.</a:t>
            </a:r>
            <a:endParaRPr lang="en-US" sz="1250" dirty="0"/>
          </a:p>
        </p:txBody>
      </p:sp>
      <p:sp>
        <p:nvSpPr>
          <p:cNvPr id="13" name="Shape 11"/>
          <p:cNvSpPr/>
          <p:nvPr/>
        </p:nvSpPr>
        <p:spPr>
          <a:xfrm>
            <a:off x="6172200" y="3337560"/>
            <a:ext cx="5440680" cy="1389888"/>
          </a:xfrm>
          <a:prstGeom prst="roundRect">
            <a:avLst>
              <a:gd name="adj" fmla="val 5263"/>
            </a:avLst>
          </a:prstGeom>
          <a:solidFill>
            <a:srgbClr val="13586A"/>
          </a:solidFill>
          <a:ln w="12700">
            <a:solidFill>
              <a:srgbClr val="2A7A8C"/>
            </a:solidFill>
            <a:prstDash val="solid"/>
          </a:ln>
        </p:spPr>
      </p:sp>
      <p:sp>
        <p:nvSpPr>
          <p:cNvPr id="14" name="Text 12"/>
          <p:cNvSpPr/>
          <p:nvPr/>
        </p:nvSpPr>
        <p:spPr>
          <a:xfrm>
            <a:off x="640080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Calcium Balance</a:t>
            </a:r>
            <a:endParaRPr lang="en-US" sz="1600" dirty="0"/>
          </a:p>
        </p:txBody>
      </p:sp>
      <p:sp>
        <p:nvSpPr>
          <p:cNvPr id="15" name="Text 13"/>
          <p:cNvSpPr/>
          <p:nvPr/>
        </p:nvSpPr>
        <p:spPr>
          <a:xfrm>
            <a:off x="640080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Parathyroid problems disturb calcium and nerve/muscle function.</a:t>
            </a:r>
            <a:endParaRPr lang="en-US" sz="1250" dirty="0"/>
          </a:p>
        </p:txBody>
      </p:sp>
      <p:sp>
        <p:nvSpPr>
          <p:cNvPr id="16" name="Shape 14"/>
          <p:cNvSpPr/>
          <p:nvPr/>
        </p:nvSpPr>
        <p:spPr>
          <a:xfrm>
            <a:off x="548640" y="4892040"/>
            <a:ext cx="5440680" cy="1389888"/>
          </a:xfrm>
          <a:prstGeom prst="roundRect">
            <a:avLst>
              <a:gd name="adj" fmla="val 5263"/>
            </a:avLst>
          </a:prstGeom>
          <a:solidFill>
            <a:srgbClr val="13586A"/>
          </a:solidFill>
          <a:ln w="12700">
            <a:solidFill>
              <a:srgbClr val="2A7A8C"/>
            </a:solidFill>
            <a:prstDash val="solid"/>
          </a:ln>
        </p:spPr>
      </p:sp>
      <p:sp>
        <p:nvSpPr>
          <p:cNvPr id="17" name="Text 15"/>
          <p:cNvSpPr/>
          <p:nvPr/>
        </p:nvSpPr>
        <p:spPr>
          <a:xfrm>
            <a:off x="77724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The Stress Response</a:t>
            </a:r>
            <a:endParaRPr lang="en-US" sz="1600" dirty="0"/>
          </a:p>
        </p:txBody>
      </p:sp>
      <p:sp>
        <p:nvSpPr>
          <p:cNvPr id="18" name="Text 16"/>
          <p:cNvSpPr/>
          <p:nvPr/>
        </p:nvSpPr>
        <p:spPr>
          <a:xfrm>
            <a:off x="77724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Cortisol and the HPA axis shape illness and recovery.</a:t>
            </a:r>
            <a:endParaRPr lang="en-US" sz="1250" dirty="0"/>
          </a:p>
        </p:txBody>
      </p:sp>
      <p:sp>
        <p:nvSpPr>
          <p:cNvPr id="19" name="Shape 17"/>
          <p:cNvSpPr/>
          <p:nvPr/>
        </p:nvSpPr>
        <p:spPr>
          <a:xfrm>
            <a:off x="6172200" y="4892040"/>
            <a:ext cx="5440680" cy="1389888"/>
          </a:xfrm>
          <a:prstGeom prst="roundRect">
            <a:avLst>
              <a:gd name="adj" fmla="val 5263"/>
            </a:avLst>
          </a:prstGeom>
          <a:solidFill>
            <a:srgbClr val="13586A"/>
          </a:solidFill>
          <a:ln w="12700">
            <a:solidFill>
              <a:srgbClr val="2A7A8C"/>
            </a:solidFill>
            <a:prstDash val="solid"/>
          </a:ln>
        </p:spPr>
      </p:sp>
      <p:sp>
        <p:nvSpPr>
          <p:cNvPr id="20" name="Text 18"/>
          <p:cNvSpPr/>
          <p:nvPr/>
        </p:nvSpPr>
        <p:spPr>
          <a:xfrm>
            <a:off x="640080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Growth &amp; Development</a:t>
            </a:r>
            <a:endParaRPr lang="en-US" sz="1600" dirty="0"/>
          </a:p>
        </p:txBody>
      </p:sp>
      <p:sp>
        <p:nvSpPr>
          <p:cNvPr id="21" name="Text 19"/>
          <p:cNvSpPr/>
          <p:nvPr/>
        </p:nvSpPr>
        <p:spPr>
          <a:xfrm>
            <a:off x="640080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Pituitary hormones affect growth across the lifespan.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2026-06-23T21:03:36Z</dcterms:created>
  <dcterms:modified xsi:type="dcterms:W3CDTF">2026-06-23T21:03:36Z</dcterms:modified>
</cp:coreProperties>
</file>