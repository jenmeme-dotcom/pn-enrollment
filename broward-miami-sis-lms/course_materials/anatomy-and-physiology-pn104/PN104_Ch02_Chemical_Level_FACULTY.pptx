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chapter: matter is built from atoms that bond into molecules; reactions rearrange them; water and pH set the chemical environment; and four macromolecules build and run the body. Stress that this chemistry underlies every later topic — from electrolytes to nutrition to acid-base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body is built from four elements — oxygen, carbon, hydrogen, and nitrogen — with calcium, phosphorus, and several trace elements making up the rest. Trace elements such as iron and iodine are needed in tiny amounts but are essential: iron for hemoglobin, iodine for thyroid hormone.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atom has a dense nucleus of positively charged protons and neutral neutrons, surrounded by negatively charged electrons. The number of protons (the atomic number) defines the element. The outer-shell electrons determine how an atom bonds with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periodic table arranges elements by atomic number; columns (groups) behave similarly because they share outer-electron arrangements. Students only need to recognize the roughly two dozen elements found in the human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Isotopes are atoms of the same element with different numbers of neutrons. Some are unstable (radioactive) and emit radiation as they decay — the basis of nuclear medicine, including PET imaging and certain cancer treatments.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ionic bond, one atom donates an electron and another accepts it, forming charged ions that attract one another. Sodium and chloride combine this way to make table salt. In the body these ions — electrolytes — are critical for nerve and muscle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Covalent bonds form when atoms share electrons; they are strong and stable, forming the skeleton of every organic molecule. Carbon's ability to form four covalent bonds makes the vast diversity of biological molecules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water, oxygen attracts the shared electrons more strongly, creating partial charges (polarity). Polar molecules attract one another through weak hydrogen bonds, giving water its cohesion, high heat capacity, and solvent power — all essential to physiology.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(anabolic) reactions combine reactants into larger products; decomposition (catabolic) reactions break them down; exchange reactions do both. The NOTE + BOOK becoming NOTEBOOK analogy helps the pattern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reaction needs an initial energy push (activation energy). Enzymes are biological catalysts that lower this barrier so reactions run fast enough for life, without being consumed. Temperature and pH strongly affect enzyme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water is polar, it pulls ionic compounds apart and surrounds the ions with hydration shells, dissolving them. Most body chemistry occurs in this watery (aqueous) medium — which is why fluid balance matters so much clinically.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 reflects hydrogen-ion concentration on a 0-to-14 scale. The body holds blood pH in a narrow range around 7.35–7.45, defended by buffers, the lungs, and the kidneys. Even small deviations (acidosis or alkalosis) are dangerous — a key clinical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Carbohydrates range from simple sugars such as glucose to polysaccharides like glycogen and starch. Glucose is the body's primary energy source, and excess is stored as glycogen in the liver and muscle — directly tied to blood-glucose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Lipids include triglycerides (energy storage), phospholipids (the basis of membranes), and steroids (cholesterol and hormones). Saturated fats have no double bonds and pack tightly; unsaturated fats have double bonds. Relevant to cardiovascular-health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Proteins are polymers of amino acids, each with an amino group, a carboxyl group, and a variable R side chain. Amino acids link by peptide bonds. Proteins do most of the body's work — structure, transport, defense, and catalysis.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protein's amino-acid sequence (primary) folds into local patterns (secondary), a three-dimensional shape (tertiary), and sometimes multiple subunits (quaternary). Shape is everything — heat or extreme pH can denature a protein and destroy its function, which is why high fevers are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Nucleic acids (DNA and RNA) carry genetic information as sequences of nucleotides. DNA's double helix pairs adenine with thymine and guanine with cytosine. This code directs protein synthesis — the bridge into the cellular machinery of the next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ATP is the cell's energy currency: breaking its terminal phosphate bond releases energy for cellular work, and it is regenerated from ADP during cellular respiration. Nearly every active process — muscle contraction, transport, synthesis — runs on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chapter and reconnect each idea to patient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chapter's concepts to bedside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Chemical Level of Organization</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Atoms, bonds, reactions, and the molecules of life.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2/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fundamental composition of matter</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three subatomic particles</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four most abundant elements in the body</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the relationship between an atom’s number of electrons and its relative stability</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Distinguish between ionic bonds, covalent bonds, and hydrogen bonds</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how energy is invested, stored, and released via chemical reactions, particularly those reactions that are critical to life</a:t>
            </a:r>
            <a:endParaRPr lang="en-US" sz="1300" dirty="0"/>
          </a:p>
        </p:txBody>
      </p:sp>
      <p:sp>
        <p:nvSpPr>
          <p:cNvPr id="23" name="Shape 21"/>
          <p:cNvSpPr/>
          <p:nvPr/>
        </p:nvSpPr>
        <p:spPr>
          <a:xfrm>
            <a:off x="8135051" y="1545336"/>
            <a:ext cx="2932298" cy="4370832"/>
          </a:xfrm>
          <a:prstGeom prst="roundRect">
            <a:avLst>
              <a:gd name="adj" fmla="val 18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02/img/img03.jpg">    </p:cNvPr>
          <p:cNvPicPr>
            <a:picLocks noChangeAspect="1"/>
          </p:cNvPicPr>
          <p:nvPr/>
        </p:nvPicPr>
        <p:blipFill>
          <a:blip r:embed="rId1"/>
          <a:stretch>
            <a:fillRect/>
          </a:stretch>
        </p:blipFill>
        <p:spPr>
          <a:xfrm>
            <a:off x="8217347" y="1627632"/>
            <a:ext cx="2767706" cy="4206240"/>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Atoms — the building blocks of all matter.</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Elements and Atoms: The Building Blocks of Matter</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What everything is made of — elements, atoms, and isotopes.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Elements in the Human Body</a:t>
            </a:r>
            <a:endParaRPr lang="en-US" sz="2800" dirty="0"/>
          </a:p>
        </p:txBody>
      </p:sp>
      <p:sp>
        <p:nvSpPr>
          <p:cNvPr id="4" name="Shape 2"/>
          <p:cNvSpPr/>
          <p:nvPr/>
        </p:nvSpPr>
        <p:spPr>
          <a:xfrm>
            <a:off x="2848511" y="1289304"/>
            <a:ext cx="651021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02.jpg">    </p:cNvPr>
          <p:cNvPicPr>
            <a:picLocks noChangeAspect="1"/>
          </p:cNvPicPr>
          <p:nvPr/>
        </p:nvPicPr>
        <p:blipFill>
          <a:blip r:embed="rId1"/>
          <a:stretch>
            <a:fillRect/>
          </a:stretch>
        </p:blipFill>
        <p:spPr>
          <a:xfrm>
            <a:off x="2930807" y="1371600"/>
            <a:ext cx="634562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major and trace elements of the body</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Four elements make up ~96% of body mass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Oxygen, carbon, hydrogen, nitrogen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Trace elements are vital in tiny amounts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Matter has mass and takes up space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Structure of an Atom</a:t>
            </a:r>
            <a:endParaRPr lang="en-US" sz="2800" dirty="0"/>
          </a:p>
        </p:txBody>
      </p:sp>
      <p:sp>
        <p:nvSpPr>
          <p:cNvPr id="4" name="Shape 2"/>
          <p:cNvSpPr/>
          <p:nvPr/>
        </p:nvSpPr>
        <p:spPr>
          <a:xfrm>
            <a:off x="1065276" y="1289304"/>
            <a:ext cx="3172968" cy="4736592"/>
          </a:xfrm>
          <a:prstGeom prst="roundRect">
            <a:avLst>
              <a:gd name="adj" fmla="val 172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03.jpg">    </p:cNvPr>
          <p:cNvPicPr>
            <a:picLocks noChangeAspect="1"/>
          </p:cNvPicPr>
          <p:nvPr/>
        </p:nvPicPr>
        <p:blipFill>
          <a:blip r:embed="rId1"/>
          <a:stretch>
            <a:fillRect/>
          </a:stretch>
        </p:blipFill>
        <p:spPr>
          <a:xfrm>
            <a:off x="1147572" y="1371600"/>
            <a:ext cx="300837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Planetary and electron-cloud models of the atom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Protons, neutrons, and electrons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Nucleus holds protons (+) and neutrons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Electrons (–) occupy outer shells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Atomic number = number of protons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Periodic Table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Organizes all known elements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Arranged by atomic number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Groups share chemical behavior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About two dozen elements occur in the body</a:t>
            </a:r>
            <a:endParaRPr lang="en-US" sz="1500" dirty="0"/>
          </a:p>
        </p:txBody>
      </p:sp>
      <p:sp>
        <p:nvSpPr>
          <p:cNvPr id="5" name="Shape 3"/>
          <p:cNvSpPr/>
          <p:nvPr/>
        </p:nvSpPr>
        <p:spPr>
          <a:xfrm>
            <a:off x="5628479" y="1335024"/>
            <a:ext cx="593376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2/img/img04.jpg">    </p:cNvPr>
          <p:cNvPicPr>
            <a:picLocks noChangeAspect="1"/>
          </p:cNvPicPr>
          <p:nvPr/>
        </p:nvPicPr>
        <p:blipFill>
          <a:blip r:embed="rId1"/>
          <a:stretch>
            <a:fillRect/>
          </a:stretch>
        </p:blipFill>
        <p:spPr>
          <a:xfrm>
            <a:off x="5710775" y="1417320"/>
            <a:ext cx="576916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periodic table of the elements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Isotopes</a:t>
            </a:r>
            <a:endParaRPr lang="en-US" sz="2800" dirty="0"/>
          </a:p>
        </p:txBody>
      </p:sp>
      <p:sp>
        <p:nvSpPr>
          <p:cNvPr id="4" name="Shape 2"/>
          <p:cNvSpPr/>
          <p:nvPr/>
        </p:nvSpPr>
        <p:spPr>
          <a:xfrm>
            <a:off x="907272" y="1289304"/>
            <a:ext cx="1039269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05.jpg">    </p:cNvPr>
          <p:cNvPicPr>
            <a:picLocks noChangeAspect="1"/>
          </p:cNvPicPr>
          <p:nvPr/>
        </p:nvPicPr>
        <p:blipFill>
          <a:blip r:embed="rId1"/>
          <a:stretch>
            <a:fillRect/>
          </a:stretch>
        </p:blipFill>
        <p:spPr>
          <a:xfrm>
            <a:off x="989568" y="1371600"/>
            <a:ext cx="1022810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Isotopes of hydrogen (protium, deuterium, tritium)</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Same element, different neutron count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Some isotopes are radioactive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Radioisotopes used in imaging and therapy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Example: the isotopes of hydrogen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Chemical Bonds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atoms join together — ionic, covalent, and hydrogen bonds.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Ionic Bonds</a:t>
            </a:r>
            <a:endParaRPr lang="en-US" sz="2800" dirty="0"/>
          </a:p>
        </p:txBody>
      </p:sp>
      <p:sp>
        <p:nvSpPr>
          <p:cNvPr id="4" name="Shape 2"/>
          <p:cNvSpPr/>
          <p:nvPr/>
        </p:nvSpPr>
        <p:spPr>
          <a:xfrm>
            <a:off x="1078992" y="1289304"/>
            <a:ext cx="3145536" cy="4736592"/>
          </a:xfrm>
          <a:prstGeom prst="roundRect">
            <a:avLst>
              <a:gd name="adj" fmla="val 174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08.jpg">    </p:cNvPr>
          <p:cNvPicPr>
            <a:picLocks noChangeAspect="1"/>
          </p:cNvPicPr>
          <p:nvPr/>
        </p:nvPicPr>
        <p:blipFill>
          <a:blip r:embed="rId1"/>
          <a:stretch>
            <a:fillRect/>
          </a:stretch>
        </p:blipFill>
        <p:spPr>
          <a:xfrm>
            <a:off x="1161288" y="1371600"/>
            <a:ext cx="29809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Ion formation and ionic bonding</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Electrons are transferred between atoms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Creates charged ions (cations and anions)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Opposite charges attract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Example: Na⁺ and Cl⁻ form salt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Covalent Bonds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Atoms share pairs of electrons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Single, double, or triple bonds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Strong and stable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backbone of organic molecules</a:t>
            </a:r>
            <a:endParaRPr lang="en-US" sz="1500" dirty="0"/>
          </a:p>
        </p:txBody>
      </p:sp>
      <p:sp>
        <p:nvSpPr>
          <p:cNvPr id="5" name="Shape 3"/>
          <p:cNvSpPr/>
          <p:nvPr/>
        </p:nvSpPr>
        <p:spPr>
          <a:xfrm>
            <a:off x="5474796" y="1335024"/>
            <a:ext cx="624112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2/img/img09.jpg">    </p:cNvPr>
          <p:cNvPicPr>
            <a:picLocks noChangeAspect="1"/>
          </p:cNvPicPr>
          <p:nvPr/>
        </p:nvPicPr>
        <p:blipFill>
          <a:blip r:embed="rId1"/>
          <a:stretch>
            <a:fillRect/>
          </a:stretch>
        </p:blipFill>
        <p:spPr>
          <a:xfrm>
            <a:off x="5557092" y="1417320"/>
            <a:ext cx="607653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Single and double covalent bonds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Polar Bonds &amp; Water</a:t>
            </a:r>
            <a:endParaRPr lang="en-US" sz="2800" dirty="0"/>
          </a:p>
        </p:txBody>
      </p:sp>
      <p:sp>
        <p:nvSpPr>
          <p:cNvPr id="4" name="Shape 2"/>
          <p:cNvSpPr/>
          <p:nvPr/>
        </p:nvSpPr>
        <p:spPr>
          <a:xfrm>
            <a:off x="443713" y="1289304"/>
            <a:ext cx="4416095" cy="4736592"/>
          </a:xfrm>
          <a:prstGeom prst="roundRect">
            <a:avLst>
              <a:gd name="adj" fmla="val 124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10.jpg">    </p:cNvPr>
          <p:cNvPicPr>
            <a:picLocks noChangeAspect="1"/>
          </p:cNvPicPr>
          <p:nvPr/>
        </p:nvPicPr>
        <p:blipFill>
          <a:blip r:embed="rId1"/>
          <a:stretch>
            <a:fillRect/>
          </a:stretch>
        </p:blipFill>
        <p:spPr>
          <a:xfrm>
            <a:off x="526009" y="1371600"/>
            <a:ext cx="4251503"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Polarity of water and hydrogen bonding</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Unequal sharing makes water polar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Slightly positive and negative regions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Hydrogen bonds link water molecules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Source of water's unique properties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Chemical Reactions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matter is rearranged — synthesis, decomposition, and the role of enzymes.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Chemical Reactions</a:t>
            </a:r>
            <a:endParaRPr lang="en-US" sz="2800" dirty="0"/>
          </a:p>
        </p:txBody>
      </p:sp>
      <p:sp>
        <p:nvSpPr>
          <p:cNvPr id="4" name="Shape 2"/>
          <p:cNvSpPr/>
          <p:nvPr/>
        </p:nvSpPr>
        <p:spPr>
          <a:xfrm>
            <a:off x="1409923" y="1289304"/>
            <a:ext cx="938739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12.jpg">    </p:cNvPr>
          <p:cNvPicPr>
            <a:picLocks noChangeAspect="1"/>
          </p:cNvPicPr>
          <p:nvPr/>
        </p:nvPicPr>
        <p:blipFill>
          <a:blip r:embed="rId1"/>
          <a:stretch>
            <a:fillRect/>
          </a:stretch>
        </p:blipFill>
        <p:spPr>
          <a:xfrm>
            <a:off x="1492219" y="1371600"/>
            <a:ext cx="922280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Synthesis, decomposition, and exchange reactions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Synthesis builds larger molecules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Decomposition breaks molecules apart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Exchange reactions swap components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Some reactions are reversible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Enzymes &amp; Activation Energy</a:t>
            </a:r>
            <a:endParaRPr lang="en-US" sz="2800" dirty="0"/>
          </a:p>
        </p:txBody>
      </p:sp>
      <p:sp>
        <p:nvSpPr>
          <p:cNvPr id="4" name="Shape 2"/>
          <p:cNvSpPr/>
          <p:nvPr/>
        </p:nvSpPr>
        <p:spPr>
          <a:xfrm>
            <a:off x="1593223" y="1289304"/>
            <a:ext cx="902079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13.jpg">    </p:cNvPr>
          <p:cNvPicPr>
            <a:picLocks noChangeAspect="1"/>
          </p:cNvPicPr>
          <p:nvPr/>
        </p:nvPicPr>
        <p:blipFill>
          <a:blip r:embed="rId1"/>
          <a:stretch>
            <a:fillRect/>
          </a:stretch>
        </p:blipFill>
        <p:spPr>
          <a:xfrm>
            <a:off x="1675519" y="1371600"/>
            <a:ext cx="885620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Enzymes lower the activation energy of reactions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Reactions need activation energy to start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Enzymes lower that energy barrier</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Speed reactions without being used up</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Most are proteins ending in -ase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Inorganic Compounds Essential to Human Functioning</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Water, acids, bases, and the pH the body must keep in balance.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Water as the Body's Solvent</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Water is the universal biological solvent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Polar substances dissolve readily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Ions are surrounded (hydrated)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medium for nearly all reactions</a:t>
            </a:r>
            <a:endParaRPr lang="en-US" sz="1500" dirty="0"/>
          </a:p>
        </p:txBody>
      </p:sp>
      <p:sp>
        <p:nvSpPr>
          <p:cNvPr id="5" name="Shape 3"/>
          <p:cNvSpPr/>
          <p:nvPr/>
        </p:nvSpPr>
        <p:spPr>
          <a:xfrm>
            <a:off x="6283313" y="1335024"/>
            <a:ext cx="4624093" cy="4645152"/>
          </a:xfrm>
          <a:prstGeom prst="roundRect">
            <a:avLst>
              <a:gd name="adj" fmla="val 118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2/img/img15.jpg">    </p:cNvPr>
          <p:cNvPicPr>
            <a:picLocks noChangeAspect="1"/>
          </p:cNvPicPr>
          <p:nvPr/>
        </p:nvPicPr>
        <p:blipFill>
          <a:blip r:embed="rId1"/>
          <a:stretch>
            <a:fillRect/>
          </a:stretch>
        </p:blipFill>
        <p:spPr>
          <a:xfrm>
            <a:off x="6365609" y="1417320"/>
            <a:ext cx="445950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Sodium chloride dissolving in water</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pH Scale</a:t>
            </a:r>
            <a:endParaRPr lang="en-US" sz="2800" dirty="0"/>
          </a:p>
        </p:txBody>
      </p:sp>
      <p:sp>
        <p:nvSpPr>
          <p:cNvPr id="4" name="Shape 2"/>
          <p:cNvSpPr/>
          <p:nvPr/>
        </p:nvSpPr>
        <p:spPr>
          <a:xfrm>
            <a:off x="1443152" y="1289304"/>
            <a:ext cx="2417216" cy="4736592"/>
          </a:xfrm>
          <a:prstGeom prst="roundRect">
            <a:avLst>
              <a:gd name="adj" fmla="val 227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17.jpg">    </p:cNvPr>
          <p:cNvPicPr>
            <a:picLocks noChangeAspect="1"/>
          </p:cNvPicPr>
          <p:nvPr/>
        </p:nvPicPr>
        <p:blipFill>
          <a:blip r:embed="rId1"/>
          <a:stretch>
            <a:fillRect/>
          </a:stretch>
        </p:blipFill>
        <p:spPr>
          <a:xfrm>
            <a:off x="1525448" y="1371600"/>
            <a:ext cx="225262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pH scale with common substances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Measures acidity and alkalinity (0–14)</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Lower is acidic; higher is basic</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Blood pH held near 7.4</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Buffers resist pH change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Organic Compounds Essential to Human Functioning</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four macromolecules of life — carbohydrates, lipids, proteins, and nucleic acids.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Carbohydrates</a:t>
            </a:r>
            <a:endParaRPr lang="en-US" sz="2800" dirty="0"/>
          </a:p>
        </p:txBody>
      </p:sp>
      <p:sp>
        <p:nvSpPr>
          <p:cNvPr id="4" name="Shape 2"/>
          <p:cNvSpPr/>
          <p:nvPr/>
        </p:nvSpPr>
        <p:spPr>
          <a:xfrm>
            <a:off x="857881" y="1289304"/>
            <a:ext cx="1049147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20.jpg">    </p:cNvPr>
          <p:cNvPicPr>
            <a:picLocks noChangeAspect="1"/>
          </p:cNvPicPr>
          <p:nvPr/>
        </p:nvPicPr>
        <p:blipFill>
          <a:blip r:embed="rId1"/>
          <a:stretch>
            <a:fillRect/>
          </a:stretch>
        </p:blipFill>
        <p:spPr>
          <a:xfrm>
            <a:off x="940177" y="1371600"/>
            <a:ext cx="1032688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Polysaccharides: starch, glycogen, and cellulose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Made of carbon, hydrogen, and oxygen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Monosaccharides build polysaccharides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Glucose is the body's main fuel</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Stored as glycogen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Lipids</a:t>
            </a:r>
            <a:endParaRPr lang="en-US" sz="2800" dirty="0"/>
          </a:p>
        </p:txBody>
      </p:sp>
      <p:sp>
        <p:nvSpPr>
          <p:cNvPr id="4" name="Shape 2"/>
          <p:cNvSpPr/>
          <p:nvPr/>
        </p:nvSpPr>
        <p:spPr>
          <a:xfrm>
            <a:off x="557784" y="1440600"/>
            <a:ext cx="11091672" cy="3428160"/>
          </a:xfrm>
          <a:prstGeom prst="roundRect">
            <a:avLst>
              <a:gd name="adj" fmla="val 160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21.jpg">    </p:cNvPr>
          <p:cNvPicPr>
            <a:picLocks noChangeAspect="1"/>
          </p:cNvPicPr>
          <p:nvPr/>
        </p:nvPicPr>
        <p:blipFill>
          <a:blip r:embed="rId1"/>
          <a:stretch>
            <a:fillRect/>
          </a:stretch>
        </p:blipFill>
        <p:spPr>
          <a:xfrm>
            <a:off x="640080" y="1522896"/>
            <a:ext cx="10927080" cy="3263568"/>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Saturated and unsaturated fatty acids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Hydrophobic — do not dissolve in water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Triglycerides store energy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Saturated vs. unsaturated fatty acids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Phospholipids build cell membranes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Proteins — Amino Acids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Built from 20 amino acids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Amino group + carboxyl group + R side chain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Joined by peptide bonds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side chain gives each its identity</a:t>
            </a:r>
            <a:endParaRPr lang="en-US" sz="1500" dirty="0"/>
          </a:p>
        </p:txBody>
      </p:sp>
      <p:sp>
        <p:nvSpPr>
          <p:cNvPr id="5" name="Shape 3"/>
          <p:cNvSpPr/>
          <p:nvPr/>
        </p:nvSpPr>
        <p:spPr>
          <a:xfrm>
            <a:off x="5451945" y="1335024"/>
            <a:ext cx="628682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2/img/img24.jpg">    </p:cNvPr>
          <p:cNvPicPr>
            <a:picLocks noChangeAspect="1"/>
          </p:cNvPicPr>
          <p:nvPr/>
        </p:nvPicPr>
        <p:blipFill>
          <a:blip r:embed="rId1"/>
          <a:stretch>
            <a:fillRect/>
          </a:stretch>
        </p:blipFill>
        <p:spPr>
          <a:xfrm>
            <a:off x="5534241" y="1417320"/>
            <a:ext cx="612223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general structure of an amino acid</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Protein Structure &amp; Function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Four levels: primary to quaternary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Shape determines function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Heat or pH can denature proteins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Enzymes, antibodies, and more</a:t>
            </a:r>
            <a:endParaRPr lang="en-US" sz="1500" dirty="0"/>
          </a:p>
        </p:txBody>
      </p:sp>
      <p:sp>
        <p:nvSpPr>
          <p:cNvPr id="5" name="Shape 3"/>
          <p:cNvSpPr/>
          <p:nvPr/>
        </p:nvSpPr>
        <p:spPr>
          <a:xfrm>
            <a:off x="5875358" y="1335024"/>
            <a:ext cx="544000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2/img/img26.jpg">    </p:cNvPr>
          <p:cNvPicPr>
            <a:picLocks noChangeAspect="1"/>
          </p:cNvPicPr>
          <p:nvPr/>
        </p:nvPicPr>
        <p:blipFill>
          <a:blip r:embed="rId1"/>
          <a:stretch>
            <a:fillRect/>
          </a:stretch>
        </p:blipFill>
        <p:spPr>
          <a:xfrm>
            <a:off x="5957654" y="1417320"/>
            <a:ext cx="527541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four levels of protein structure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Nucleic Acids — DNA</a:t>
            </a:r>
            <a:endParaRPr lang="en-US" sz="2800" dirty="0"/>
          </a:p>
        </p:txBody>
      </p:sp>
      <p:sp>
        <p:nvSpPr>
          <p:cNvPr id="4" name="Shape 2"/>
          <p:cNvSpPr/>
          <p:nvPr/>
        </p:nvSpPr>
        <p:spPr>
          <a:xfrm>
            <a:off x="795528" y="1289304"/>
            <a:ext cx="3712464" cy="4736592"/>
          </a:xfrm>
          <a:prstGeom prst="roundRect">
            <a:avLst>
              <a:gd name="adj" fmla="val 147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2/img/img29.jpg">    </p:cNvPr>
          <p:cNvPicPr>
            <a:picLocks noChangeAspect="1"/>
          </p:cNvPicPr>
          <p:nvPr/>
        </p:nvPicPr>
        <p:blipFill>
          <a:blip r:embed="rId1"/>
          <a:stretch>
            <a:fillRect/>
          </a:stretch>
        </p:blipFill>
        <p:spPr>
          <a:xfrm>
            <a:off x="877824" y="1371600"/>
            <a:ext cx="354787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DNA double helix and base pairing</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DNA and RNA store genetic information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Built from nucleotides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Base pairing: A–T and G–C</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double helix holds the code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ATP — Energy Currency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Adenosine triphosphate powers the cell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Energy stored in phosphate bonds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ATP ⇌ ADP releases and stores energy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Made mainly in mitochondria</a:t>
            </a:r>
            <a:endParaRPr lang="en-US" sz="1500" dirty="0"/>
          </a:p>
        </p:txBody>
      </p:sp>
      <p:sp>
        <p:nvSpPr>
          <p:cNvPr id="5" name="Shape 3"/>
          <p:cNvSpPr/>
          <p:nvPr/>
        </p:nvSpPr>
        <p:spPr>
          <a:xfrm>
            <a:off x="5945927" y="1335024"/>
            <a:ext cx="529886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2/img/img30.jpg">    </p:cNvPr>
          <p:cNvPicPr>
            <a:picLocks noChangeAspect="1"/>
          </p:cNvPicPr>
          <p:nvPr/>
        </p:nvPicPr>
        <p:blipFill>
          <a:blip r:embed="rId1"/>
          <a:stretch>
            <a:fillRect/>
          </a:stretch>
        </p:blipFill>
        <p:spPr>
          <a:xfrm>
            <a:off x="6028223" y="1417320"/>
            <a:ext cx="513427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ATP</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All matter is built from elements and atoms; four elements make up most of the body.</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Atoms join through ionic, covalent, and hydrogen bonds.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Water's polarity makes it the body's solvent and gives it life-supporting properties.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body defends a narrow blood pH using buffers, the lungs, and the kidneys.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Four macromolecules — carbohydrates, lipids, proteins, and nucleic acids — build and run the body.</a:t>
            </a:r>
            <a:endParaRPr lang="en-US" sz="1550" dirty="0"/>
          </a:p>
        </p:txBody>
      </p:sp>
      <p:sp>
        <p:nvSpPr>
          <p:cNvPr id="15"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 — The Chemical Level of Organization</a:t>
            </a:r>
            <a:endParaRPr lang="en-US" sz="900" dirty="0"/>
          </a:p>
        </p:txBody>
      </p:sp>
      <p:sp>
        <p:nvSpPr>
          <p:cNvPr id="16"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Chemistry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Electrolytes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Ions like Na⁺, K⁺, and Ca²⁺ drive nerve and muscle function — imbalances are dangerous.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Acid–Base Balance</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Blood pH must stay near 7.4; acidosis and alkalosis are emergencies.</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Blood Glucose</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Glucose is the body's fuel — the center of diabetes care.</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Nuclear Medicine</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Radioisotopes power PET scans and some cancer treatments.</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Nutrition</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Carbohydrates, fats, and proteins are the macronutrients you counsel patients on.</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Enzymes &amp; Fever</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High fever can denature enzymes — why dangerous temperatures are treated.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2026-06-23T20:04:50Z</dcterms:created>
  <dcterms:modified xsi:type="dcterms:W3CDTF">2026-06-23T20:04:50Z</dcterms:modified>
</cp:coreProperties>
</file>