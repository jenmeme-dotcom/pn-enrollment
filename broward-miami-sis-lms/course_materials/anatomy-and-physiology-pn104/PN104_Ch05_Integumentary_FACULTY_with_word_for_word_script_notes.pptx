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71b0fde8cea42b2" /><Relationship Type="http://schemas.openxmlformats.org/officeDocument/2006/relationships/extended-properties" Target="/docProps/app.xml" Id="R5622c1d90da047a2" /><Relationship Type="http://schemas.openxmlformats.org/officeDocument/2006/relationships/officeDocument" Target="/ppt/presentation.xml" Id="R08a5ab070d5e4548" /></Relationships>
</file>

<file path=ppt/presentation.xml><?xml version="1.0" encoding="utf-8"?>
<p:presentation xmlns:p="http://schemas.openxmlformats.org/presentationml/2006/main">
  <p:sldMasterIdLst>
    <p:sldMasterId xmlns:r="http://schemas.openxmlformats.org/officeDocument/2006/relationships" id="2147483648" r:id="R9108c773255443c0"/>
  </p:sldMasterIdLst>
  <p:notesMasterIdLst>
    <p:notesMasterId xmlns:r="http://schemas.openxmlformats.org/officeDocument/2006/relationships" r:id="Re7beb641eb784395"/>
  </p:notesMasterIdLst>
  <p:sldIdLst>
    <p:sldId xmlns:r="http://schemas.openxmlformats.org/officeDocument/2006/relationships" id="256" r:id="Rb2d30d3649ad4ad3"/>
    <p:sldId xmlns:r="http://schemas.openxmlformats.org/officeDocument/2006/relationships" id="257" r:id="Ra70ff5d4c46d4810"/>
    <p:sldId xmlns:r="http://schemas.openxmlformats.org/officeDocument/2006/relationships" id="258" r:id="R195b9974b8264079"/>
    <p:sldId xmlns:r="http://schemas.openxmlformats.org/officeDocument/2006/relationships" id="259" r:id="R2100113192ee4aa8"/>
    <p:sldId xmlns:r="http://schemas.openxmlformats.org/officeDocument/2006/relationships" id="260" r:id="R7abe2b7ad3434977"/>
    <p:sldId xmlns:r="http://schemas.openxmlformats.org/officeDocument/2006/relationships" id="261" r:id="R25dc465472764c68"/>
    <p:sldId xmlns:r="http://schemas.openxmlformats.org/officeDocument/2006/relationships" id="262" r:id="R3a83a5d850e94c13"/>
    <p:sldId xmlns:r="http://schemas.openxmlformats.org/officeDocument/2006/relationships" id="263" r:id="Rce65db1c93e04dbb"/>
    <p:sldId xmlns:r="http://schemas.openxmlformats.org/officeDocument/2006/relationships" id="264" r:id="R79956747a89747a7"/>
    <p:sldId xmlns:r="http://schemas.openxmlformats.org/officeDocument/2006/relationships" id="265" r:id="R1670423af50f46ad"/>
    <p:sldId xmlns:r="http://schemas.openxmlformats.org/officeDocument/2006/relationships" id="266" r:id="R44c0d926934946d5"/>
    <p:sldId xmlns:r="http://schemas.openxmlformats.org/officeDocument/2006/relationships" id="267" r:id="Rd16bae3852ca4ff6"/>
    <p:sldId xmlns:r="http://schemas.openxmlformats.org/officeDocument/2006/relationships" id="268" r:id="Re337f9d0dca94fb5"/>
    <p:sldId xmlns:r="http://schemas.openxmlformats.org/officeDocument/2006/relationships" id="269" r:id="R4254a64b28ff4c1d"/>
    <p:sldId xmlns:r="http://schemas.openxmlformats.org/officeDocument/2006/relationships" id="270" r:id="Rbb52578f8ba843db"/>
    <p:sldId xmlns:r="http://schemas.openxmlformats.org/officeDocument/2006/relationships" id="271" r:id="R18deb1e873d042fc"/>
    <p:sldId xmlns:r="http://schemas.openxmlformats.org/officeDocument/2006/relationships" id="272" r:id="Rc790507bbf5c4d9f"/>
    <p:sldId xmlns:r="http://schemas.openxmlformats.org/officeDocument/2006/relationships" id="273" r:id="Rfc4fd9afe74e42cc"/>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63741c566b749ba" /><Relationship Type="http://schemas.openxmlformats.org/officeDocument/2006/relationships/slideMaster" Target="/ppt/slideMasters/slideMaster1.xml" Id="R9108c773255443c0" /><Relationship Type="http://schemas.openxmlformats.org/officeDocument/2006/relationships/notesMaster" Target="/ppt/notesMasters/notesMaster1.xml" Id="Re7beb641eb784395" /><Relationship Type="http://schemas.openxmlformats.org/officeDocument/2006/relationships/presProps" Target="/ppt/presProps.xml" Id="Rb35758c39f7c4146" /><Relationship Type="http://schemas.openxmlformats.org/officeDocument/2006/relationships/viewProps" Target="/ppt/viewProps.xml" Id="Rcfc5dc3f92fe4994" /><Relationship Type="http://schemas.openxmlformats.org/officeDocument/2006/relationships/tableStyles" Target="/ppt/tableStyles.xml" Id="R607a5ab68662422e" /><Relationship Type="http://schemas.openxmlformats.org/officeDocument/2006/relationships/slide" Target="/ppt/slides/slide1.xml" Id="Rb2d30d3649ad4ad3" /><Relationship Type="http://schemas.openxmlformats.org/officeDocument/2006/relationships/slide" Target="/ppt/slides/slide2.xml" Id="Ra70ff5d4c46d4810" /><Relationship Type="http://schemas.openxmlformats.org/officeDocument/2006/relationships/slide" Target="/ppt/slides/slide3.xml" Id="R195b9974b8264079" /><Relationship Type="http://schemas.openxmlformats.org/officeDocument/2006/relationships/slide" Target="/ppt/slides/slide4.xml" Id="R2100113192ee4aa8" /><Relationship Type="http://schemas.openxmlformats.org/officeDocument/2006/relationships/slide" Target="/ppt/slides/slide5.xml" Id="R7abe2b7ad3434977" /><Relationship Type="http://schemas.openxmlformats.org/officeDocument/2006/relationships/slide" Target="/ppt/slides/slide6.xml" Id="R25dc465472764c68" /><Relationship Type="http://schemas.openxmlformats.org/officeDocument/2006/relationships/slide" Target="/ppt/slides/slide7.xml" Id="R3a83a5d850e94c13" /><Relationship Type="http://schemas.openxmlformats.org/officeDocument/2006/relationships/slide" Target="/ppt/slides/slide8.xml" Id="Rce65db1c93e04dbb" /><Relationship Type="http://schemas.openxmlformats.org/officeDocument/2006/relationships/slide" Target="/ppt/slides/slide9.xml" Id="R79956747a89747a7" /><Relationship Type="http://schemas.openxmlformats.org/officeDocument/2006/relationships/slide" Target="/ppt/slides/slide10.xml" Id="R1670423af50f46ad" /><Relationship Type="http://schemas.openxmlformats.org/officeDocument/2006/relationships/slide" Target="/ppt/slides/slide11.xml" Id="R44c0d926934946d5" /><Relationship Type="http://schemas.openxmlformats.org/officeDocument/2006/relationships/slide" Target="/ppt/slides/slide12.xml" Id="Rd16bae3852ca4ff6" /><Relationship Type="http://schemas.openxmlformats.org/officeDocument/2006/relationships/slide" Target="/ppt/slides/slide13.xml" Id="Re337f9d0dca94fb5" /><Relationship Type="http://schemas.openxmlformats.org/officeDocument/2006/relationships/slide" Target="/ppt/slides/slide14.xml" Id="R4254a64b28ff4c1d" /><Relationship Type="http://schemas.openxmlformats.org/officeDocument/2006/relationships/slide" Target="/ppt/slides/slide15.xml" Id="Rbb52578f8ba843db" /><Relationship Type="http://schemas.openxmlformats.org/officeDocument/2006/relationships/slide" Target="/ppt/slides/slide16.xml" Id="R18deb1e873d042fc" /><Relationship Type="http://schemas.openxmlformats.org/officeDocument/2006/relationships/slide" Target="/ppt/slides/slide17.xml" Id="Rc790507bbf5c4d9f" /><Relationship Type="http://schemas.openxmlformats.org/officeDocument/2006/relationships/slide" Target="/ppt/slides/slide18.xml" Id="Rfc4fd9afe74e42c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d777f5f14e43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24be12071464018" /><Relationship Type="http://schemas.openxmlformats.org/officeDocument/2006/relationships/notesMaster" Target="/ppt/notesMasters/notesMaster1.xml" Id="Ra9e0ca728c0e40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5b8429af724016" /><Relationship Type="http://schemas.openxmlformats.org/officeDocument/2006/relationships/notesMaster" Target="/ppt/notesMasters/notesMaster1.xml" Id="R43b2b49358254f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52c264044f4db3" /><Relationship Type="http://schemas.openxmlformats.org/officeDocument/2006/relationships/notesMaster" Target="/ppt/notesMasters/notesMaster1.xml" Id="R2d4ff5e2d4144b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a4df5c37df64274" /><Relationship Type="http://schemas.openxmlformats.org/officeDocument/2006/relationships/notesMaster" Target="/ppt/notesMasters/notesMaster1.xml" Id="R7f1b7a3b65b74971"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9ed642275d4f76" /><Relationship Type="http://schemas.openxmlformats.org/officeDocument/2006/relationships/notesMaster" Target="/ppt/notesMasters/notesMaster1.xml" Id="Re34b28d87c9c43a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23ec3bde3f84911" /><Relationship Type="http://schemas.openxmlformats.org/officeDocument/2006/relationships/notesMaster" Target="/ppt/notesMasters/notesMaster1.xml" Id="Re4c99d22217b4af3"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92c799b9314fb4" /><Relationship Type="http://schemas.openxmlformats.org/officeDocument/2006/relationships/notesMaster" Target="/ppt/notesMasters/notesMaster1.xml" Id="R16f6dabc3056413e" /></Relationships>
</file>

<file path=ppt/notesSlides/_rels/notesSlide8.xml.rels>&#65279;<?xml version="1.0" encoding="utf-8"?><Relationships xmlns="http://schemas.openxmlformats.org/package/2006/relationships"><Relationship Type="http://schemas.openxmlformats.org/officeDocument/2006/relationships/slide" Target="/ppt/slides/slide8.xml" Id="Rf413ed14ae2b4b6c" /><Relationship Type="http://schemas.openxmlformats.org/officeDocument/2006/relationships/notesMaster" Target="/ppt/notesMasters/notesMaster1.xml" Id="R3a75d21d4a4441bb" /></Relationships>
</file>

<file path=ppt/notesSlides/_rels/notesSlide9.xml.rels>&#65279;<?xml version="1.0" encoding="utf-8"?><Relationships xmlns="http://schemas.openxmlformats.org/package/2006/relationships"><Relationship Type="http://schemas.openxmlformats.org/officeDocument/2006/relationships/slide" Target="/ppt/slides/slide9.xml" Id="R60941da12e954e41" /><Relationship Type="http://schemas.openxmlformats.org/officeDocument/2006/relationships/notesMaster" Target="/ppt/notesMasters/notesMaster1.xml" Id="Redc2b7bac2254ae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6b10b04ecb847cc" /><Relationship Type="http://schemas.openxmlformats.org/officeDocument/2006/relationships/notesMaster" Target="/ppt/notesMasters/notesMaster1.xml" Id="R58acfc45d4514fc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ac591568ea94256" /><Relationship Type="http://schemas.openxmlformats.org/officeDocument/2006/relationships/notesMaster" Target="/ppt/notesMasters/notesMaster1.xml" Id="Rf2d4f57d448f44d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58c8b0ab94c46ef" /><Relationship Type="http://schemas.openxmlformats.org/officeDocument/2006/relationships/notesMaster" Target="/ppt/notesMasters/notesMaster1.xml" Id="R47ad66d34a17445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1a522cac254461f" /><Relationship Type="http://schemas.openxmlformats.org/officeDocument/2006/relationships/notesMaster" Target="/ppt/notesMasters/notesMaster1.xml" Id="Rf78921213bad414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2c74abf20f347bc" /><Relationship Type="http://schemas.openxmlformats.org/officeDocument/2006/relationships/notesMaster" Target="/ppt/notesMasters/notesMaster1.xml" Id="Re6cb678a6e724ca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9c99df291e44c39" /><Relationship Type="http://schemas.openxmlformats.org/officeDocument/2006/relationships/notesMaster" Target="/ppt/notesMasters/notesMaster1.xml" Id="Rdf97703832ac471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e1547ef23574cc8" /><Relationship Type="http://schemas.openxmlformats.org/officeDocument/2006/relationships/notesMaster" Target="/ppt/notesMasters/notesMaster1.xml" Id="Rb3e79f999e75443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915d83263674fe8" /><Relationship Type="http://schemas.openxmlformats.org/officeDocument/2006/relationships/notesMaster" Target="/ppt/notesMasters/notesMaster1.xml" Id="R2cfdd25722fb44c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a109d92eb474ff4" /><Relationship Type="http://schemas.openxmlformats.org/officeDocument/2006/relationships/notesMaster" Target="/ppt/notesMasters/notesMaster1.xml" Id="Rb8844d93b5154f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Today we are beginning Chapter 5, the integumentary system. In this chapter, we will connect the major structures and processes with their functions and with the observations that matter in practical nursing care. As we move through the slides, focus on how this system supports circulation, perfusion, protection, and patient safety. By the end, you should be able to explain the major concepts in your own words and apply them to a patient-care situation.</a:t>
            </a:r>
            <a:endParaRPr/>
          </a:p>
          <a:p xmlns:a="http://schemas.openxmlformats.org/drawingml/2006/main">
            <a:r>
              <a:t/>
            </a:r>
            <a:endParaRPr/>
          </a:p>
          <a:p xmlns:a="http://schemas.openxmlformats.org/drawingml/2006/main">
            <a:r>
              <a:t>[Sources]</a:t>
            </a:r>
            <a:endParaRPr/>
          </a:p>
          <a:p xmlns:a="http://schemas.openxmlformats.org/drawingml/2006/main">
            <a:r>
              <a:t>- BMHI PN 104 Chapter 5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These are our learning objectives for Chapter 5. By the end of the chapter, you should be able to do the following: Describe the integumentary system and the role it plays in homeostasis. Describe the layers of the skin and the functions of each layer. Describe the accessory structures of the skin and the functions of each. Describe the changes that occur in the integumentary system during the aging process. Discuss several common diseases, disorders, and injuries that affect the integumentary system. Do not treat these as isolated facts. Use them as a checklist for what you should be able to identify, explain, and connect to safe practical nursing care.</a:t>
            </a:r>
            <a:endParaRPr/>
          </a:p>
          <a:p xmlns:a="http://schemas.openxmlformats.org/drawingml/2006/main">
            <a:r>
              <a:t/>
            </a:r>
            <a:endParaRPr/>
          </a:p>
          <a:p xmlns:a="http://schemas.openxmlformats.org/drawingml/2006/main">
            <a:r>
              <a:t>[Sources]</a:t>
            </a:r>
            <a:endParaRPr/>
          </a:p>
          <a:p xmlns:a="http://schemas.openxmlformats.org/drawingml/2006/main">
            <a:r>
              <a:t>- BMHI PN 104 Chapter 5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We are now moving into Layers of the Skin. The epidermis, dermis, and hypodermis — the layered structure of the skin. As we begin this section, listen for the major structures, their locations, and the functions they perform. Then ask yourself what a change in this area might look like during patient care.</a:t>
            </a:r>
            <a:endParaRPr/>
          </a:p>
          <a:p xmlns:a="http://schemas.openxmlformats.org/drawingml/2006/main">
            <a:r>
              <a:t/>
            </a:r>
            <a:endParaRPr/>
          </a:p>
          <a:p xmlns:a="http://schemas.openxmlformats.org/drawingml/2006/main">
            <a:r>
              <a:t>[Sources]</a:t>
            </a:r>
            <a:endParaRPr/>
          </a:p>
          <a:p xmlns:a="http://schemas.openxmlformats.org/drawingml/2006/main">
            <a:r>
              <a:t>- BMHI PN 104 Chapter 5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Structure of the Skin. Three layers: epidermis, dermis, hypodermis. Epidermis is avascular epithelium. Dermis holds vessels, nerves, glands. Hypodermis stores fat and anchors skin. The layers of the skin and underlying tissue. Describe skin findings by exact layer or location when known, and document color, temperature, moisture, integrity, tenderness, swelling, and drainage objectively. Take a moment to identify the structure on the image and explain how its form supports its function. This is slide 4 of 18.</a:t>
            </a:r>
            <a:endParaRPr/>
          </a:p>
          <a:p xmlns:a="http://schemas.openxmlformats.org/drawingml/2006/main">
            <a:r>
              <a:t/>
            </a:r>
            <a:endParaRPr/>
          </a:p>
          <a:p xmlns:a="http://schemas.openxmlformats.org/drawingml/2006/main">
            <a:r>
              <a:t>[Sources]</a:t>
            </a:r>
            <a:endParaRPr/>
          </a:p>
          <a:p xmlns:a="http://schemas.openxmlformats.org/drawingml/2006/main">
            <a:r>
              <a:t>- BMHI PN 104 Chapter 5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Layers of the Epidermis. Up to five layers in thick skin. Stratum basale up to stratum corneum. Keratinocytes fill with keratin and shed. Melanocytes and immune cells reside here. The strata of the epidermis. Describe skin findings by exact layer or location when known, and document color, temperature, moisture, integrity, tenderness, swelling, and drainage objectively. Take a moment to identify the structure on the image and explain how its form supports its function. This is slide 5 of 18.</a:t>
            </a:r>
            <a:endParaRPr/>
          </a:p>
          <a:p xmlns:a="http://schemas.openxmlformats.org/drawingml/2006/main">
            <a:r>
              <a:t/>
            </a:r>
            <a:endParaRPr/>
          </a:p>
          <a:p xmlns:a="http://schemas.openxmlformats.org/drawingml/2006/main">
            <a:r>
              <a:t>[Sources]</a:t>
            </a:r>
            <a:endParaRPr/>
          </a:p>
          <a:p xmlns:a="http://schemas.openxmlformats.org/drawingml/2006/main">
            <a:r>
              <a:t>- BMHI PN 104 Chapter 5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Skin Pigmentation. Melanin determines skin color. Made by melanocytes in the basale. Protects DNA from UV damage. Everyone has similar melanocyte numbers. Melanin production and skin color. Skin assessment is a routine nursing responsibility because the integumentary system provides protection, sensation, temperature regulation, vitamin D support, and visible clues about overall health. Take a moment to identify the structure on the image and explain how its form supports its function. This is slide 6 of 18.</a:t>
            </a:r>
            <a:endParaRPr/>
          </a:p>
          <a:p xmlns:a="http://schemas.openxmlformats.org/drawingml/2006/main">
            <a:r>
              <a:t/>
            </a:r>
            <a:endParaRPr/>
          </a:p>
          <a:p xmlns:a="http://schemas.openxmlformats.org/drawingml/2006/main">
            <a:r>
              <a:t>[Sources]</a:t>
            </a:r>
            <a:endParaRPr/>
          </a:p>
          <a:p xmlns:a="http://schemas.openxmlformats.org/drawingml/2006/main">
            <a:r>
              <a:t>- BMHI PN 104 Chapter 5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We are now moving into Accessory Structures of the Skin. Hair, nails, and glands — the structures that arise from the skin. As we begin this section, listen for the major structures, their locations, and the functions they perform. Then ask yourself what a change in this area might look like during patient care.</a:t>
            </a:r>
            <a:endParaRPr/>
          </a:p>
          <a:p xmlns:a="http://schemas.openxmlformats.org/drawingml/2006/main">
            <a:r>
              <a:t/>
            </a:r>
            <a:endParaRPr/>
          </a:p>
          <a:p xmlns:a="http://schemas.openxmlformats.org/drawingml/2006/main">
            <a:r>
              <a:t>[Sources]</a:t>
            </a:r>
            <a:endParaRPr/>
          </a:p>
          <a:p xmlns:a="http://schemas.openxmlformats.org/drawingml/2006/main">
            <a:r>
              <a:t>- BMHI PN 104 Chapter 5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Hair and the Hair Follicle. Structure of a hair and its follicle. Hair grows from follicles in the dermis. Shaft is visible; root is embedded. Arrector pili muscle causes goosebumps. Provides protection and sensation. Describe skin findings by exact layer or location when known, and document color, temperature, moisture, integrity, tenderness, swelling, and drainage objectively. Take a moment to identify the structure on the image and explain how its form supports its function. This is slide 8 of 18.</a:t>
            </a:r>
            <a:endParaRPr/>
          </a:p>
          <a:p xmlns:a="http://schemas.openxmlformats.org/drawingml/2006/main">
            <a:r>
              <a:t/>
            </a:r>
            <a:endParaRPr/>
          </a:p>
          <a:p xmlns:a="http://schemas.openxmlformats.org/drawingml/2006/main">
            <a:r>
              <a:t>[Sources]</a:t>
            </a:r>
            <a:endParaRPr/>
          </a:p>
          <a:p xmlns:a="http://schemas.openxmlformats.org/drawingml/2006/main">
            <a:r>
              <a:t>- BMHI PN 104 Chapter 5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Nails. Structure of a nail. Keratinized plates over the digits. Protect fingertips and toes. Nail bed, lunula, and cuticle. Useful in clinical assessment. Hair, nails, and glands can reveal changes in circulation, nutrition, hygiene, endocrine function, infection, and self-care ability. Take a moment to identify the structure on the image and explain how its form supports its function. This is slide 9 of 18.</a:t>
            </a:r>
            <a:endParaRPr/>
          </a:p>
          <a:p xmlns:a="http://schemas.openxmlformats.org/drawingml/2006/main">
            <a:r>
              <a:t/>
            </a:r>
            <a:endParaRPr/>
          </a:p>
          <a:p xmlns:a="http://schemas.openxmlformats.org/drawingml/2006/main">
            <a:r>
              <a:t>[Sources]</a:t>
            </a:r>
            <a:endParaRPr/>
          </a:p>
          <a:p xmlns:a="http://schemas.openxmlformats.org/drawingml/2006/main">
            <a:r>
              <a:t>- BMHI PN 104 Chapter 5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Glands of the Skin. Eccrine sweat glands cool the body. Sweat evaporates to lose heat. Sebaceous glands secrete oily sebum. Sebum lubricates skin and hair. Sweat and sebaceous glands of the skin. Skin supports temperature control through sweating and blood-vessel changes, so monitor hydration, environment, medications, and vulnerable patients closely. Take a moment to identify the structure on the image and explain how its form supports its function. This is slide 10 of 18.</a:t>
            </a:r>
            <a:endParaRPr/>
          </a:p>
          <a:p xmlns:a="http://schemas.openxmlformats.org/drawingml/2006/main">
            <a:r>
              <a:t/>
            </a:r>
            <a:endParaRPr/>
          </a:p>
          <a:p xmlns:a="http://schemas.openxmlformats.org/drawingml/2006/main">
            <a:r>
              <a:t>[Sources]</a:t>
            </a:r>
            <a:endParaRPr/>
          </a:p>
          <a:p xmlns:a="http://schemas.openxmlformats.org/drawingml/2006/main">
            <a:r>
              <a:t>- BMHI PN 104 Chapter 5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We are now moving into Functions of the Integumentary System. Protection, sensation, thermoregulation, and vitamin D — what the skin does. As we begin this section, listen for the major structures, their locations, and the functions they perform. Then ask yourself what a change in this area might look like during patient care.</a:t>
            </a:r>
            <a:endParaRPr/>
          </a:p>
          <a:p xmlns:a="http://schemas.openxmlformats.org/drawingml/2006/main">
            <a:r>
              <a:t/>
            </a:r>
            <a:endParaRPr/>
          </a:p>
          <a:p xmlns:a="http://schemas.openxmlformats.org/drawingml/2006/main">
            <a:r>
              <a:t>[Sources]</a:t>
            </a:r>
            <a:endParaRPr/>
          </a:p>
          <a:p xmlns:a="http://schemas.openxmlformats.org/drawingml/2006/main">
            <a:r>
              <a:t>- BMHI PN 104 Chapter 5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Thermoregulation. The skin's role in thermoregulation. The skin helps control body temperature. Sweating and evaporation cool the body. Vasodilation releases heat. Vasoconstriction conserves heat. Skin supports temperature control through sweating and blood-vessel changes, so monitor hydration, environment, medications, and vulnerable patients closely. Take a moment to identify the structure on the image and explain how its form supports its function. This is slide 12 of 18.</a:t>
            </a:r>
            <a:endParaRPr/>
          </a:p>
          <a:p xmlns:a="http://schemas.openxmlformats.org/drawingml/2006/main">
            <a:r>
              <a:t/>
            </a:r>
            <a:endParaRPr/>
          </a:p>
          <a:p xmlns:a="http://schemas.openxmlformats.org/drawingml/2006/main">
            <a:r>
              <a:t>[Sources]</a:t>
            </a:r>
            <a:endParaRPr/>
          </a:p>
          <a:p xmlns:a="http://schemas.openxmlformats.org/drawingml/2006/main">
            <a:r>
              <a:t>- BMHI PN 104 Chapter 5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We are now moving into Diseases, Disorders, and Injuries of the Integumentary System. Burns, skin cancer, acne, and other disorders of the skin. As we begin this section, listen for the major structures, their locations, and the functions they perform. Then ask yourself what a change in this area might look like during patient care.</a:t>
            </a:r>
            <a:endParaRPr/>
          </a:p>
          <a:p xmlns:a="http://schemas.openxmlformats.org/drawingml/2006/main">
            <a:r>
              <a:t/>
            </a:r>
            <a:endParaRPr/>
          </a:p>
          <a:p xmlns:a="http://schemas.openxmlformats.org/drawingml/2006/main">
            <a:r>
              <a:t>[Sources]</a:t>
            </a:r>
            <a:endParaRPr/>
          </a:p>
          <a:p xmlns:a="http://schemas.openxmlformats.org/drawingml/2006/main">
            <a:r>
              <a:t>- BMHI PN 104 Chapter 5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Skin Cancer &amp; the ABCDE Rule. Three main types of skin cancer. Basal cell, squamous cell, melanoma. Melanoma is the most dangerous. Watch moles for ABCDE changes. Moles and the ABCDE signs of melanoma. Skin assessment is a routine nursing responsibility because the integumentary system provides protection, sensation, temperature regulation, vitamin D support, and visible clues about overall health. Take a moment to identify the structure on the image and explain how its form supports its function. This is slide 14 of 18.</a:t>
            </a:r>
            <a:endParaRPr/>
          </a:p>
          <a:p xmlns:a="http://schemas.openxmlformats.org/drawingml/2006/main">
            <a:r>
              <a:t/>
            </a:r>
            <a:endParaRPr/>
          </a:p>
          <a:p xmlns:a="http://schemas.openxmlformats.org/drawingml/2006/main">
            <a:r>
              <a:t>[Sources]</a:t>
            </a:r>
            <a:endParaRPr/>
          </a:p>
          <a:p xmlns:a="http://schemas.openxmlformats.org/drawingml/2006/main">
            <a:r>
              <a:t>- BMHI PN 104 Chapter 5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Acne. The development of acne. A follicle becomes plugged with sebum. Bacteria multiply and inflame it. Ranges from comedones to cysts. Common during hormonal changes. Skin assessment is a routine nursing responsibility because the integumentary system provides protection, sensation, temperature regulation, vitamin D support, and visible clues about overall health. Take a moment to identify the structure on the image and explain how its form supports its function. This is slide 15 of 18.</a:t>
            </a:r>
            <a:endParaRPr/>
          </a:p>
          <a:p xmlns:a="http://schemas.openxmlformats.org/drawingml/2006/main">
            <a:r>
              <a:t/>
            </a:r>
            <a:endParaRPr/>
          </a:p>
          <a:p xmlns:a="http://schemas.openxmlformats.org/drawingml/2006/main">
            <a:r>
              <a:t>[Sources]</a:t>
            </a:r>
            <a:endParaRPr/>
          </a:p>
          <a:p xmlns:a="http://schemas.openxmlformats.org/drawingml/2006/main">
            <a:r>
              <a:t>- BMHI PN 104 Chapter 5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Now let's focus on Burns and the Rule of Nines. The rule of nines for estimating burn area. Classified by depth and extent. Superficial, partial, and full thickness. Rule of nines estimates body area. Guides fluid resuscitation. Burn priorities include scene safety, airway and breathing, circulation, pain, temperature control, infection prevention, fluid balance, and rapid escalation according to severity. Take a moment to identify the structure on the image and explain how its form supports its function. This is slide 16 of 18.</a:t>
            </a:r>
            <a:endParaRPr/>
          </a:p>
          <a:p xmlns:a="http://schemas.openxmlformats.org/drawingml/2006/main">
            <a:r>
              <a:t/>
            </a:r>
            <a:endParaRPr/>
          </a:p>
          <a:p xmlns:a="http://schemas.openxmlformats.org/drawingml/2006/main">
            <a:r>
              <a:t>[Sources]</a:t>
            </a:r>
            <a:endParaRPr/>
          </a:p>
          <a:p xmlns:a="http://schemas.openxmlformats.org/drawingml/2006/main">
            <a:r>
              <a:t>- BMHI PN 104 Chapter 5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Let us review the major takeaways from Chapter 5. The skin has three layers — epidermis, dermis, and hypodermis — and is the body's largest organ. Keratinocytes and melanin give the epidermis its protection and color. Hair, nails, and glands are accessory structures that arise from the skin. The skin protects, senses, makes vitamin D, and regulates temperature. Burns, skin cancers, and infections are common, clinically important disorders. Before moving on, pause and explain each point without reading the slide. If any statement is difficult to explain, mark that topic for review before the quiz.</a:t>
            </a:r>
            <a:endParaRPr/>
          </a:p>
          <a:p xmlns:a="http://schemas.openxmlformats.org/drawingml/2006/main">
            <a:r>
              <a:t/>
            </a:r>
            <a:endParaRPr/>
          </a:p>
          <a:p xmlns:a="http://schemas.openxmlformats.org/drawingml/2006/main">
            <a:r>
              <a:t>[Sources]</a:t>
            </a:r>
            <a:endParaRPr/>
          </a:p>
          <a:p xmlns:a="http://schemas.openxmlformats.org/drawingml/2006/main">
            <a:r>
              <a:t>- BMHI PN 104 Chapter 5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endParaRPr/>
          </a:p>
          <a:p xmlns:a="http://schemas.openxmlformats.org/drawingml/2006/main">
            <a:r>
              <a:t/>
            </a:r>
            <a:endParaRPr/>
          </a:p>
          <a:p xmlns:a="http://schemas.openxmlformats.org/drawingml/2006/main">
            <a:r>
              <a:t>This final slide connects Chapter 5 to practical nursing. Skin Assessment. Color, temperature, turgor, and lesions reveal a patient's overall status. Pressure Injuries. Prolonged pressure breaks down skin — prevention is vital in immobile patients. Burn Care. Depth and the rule of nines guide fluid resuscitation and treatment. Infection Barrier. Intact skin is the body's first defense against pathogens. Skin Cancer. Teach the ABCDE rule and the importance of sun protection. Thermoregulation. Sweating and skin blood flow help control body temperature. Your role is to observe carefully, protect safety, follow orders and precautions, document objectively, and report changes through the appropriate chain of command. Use these examples to connect anatomy with the care you will provide.</a:t>
            </a:r>
            <a:endParaRPr/>
          </a:p>
          <a:p xmlns:a="http://schemas.openxmlformats.org/drawingml/2006/main">
            <a:r>
              <a:t/>
            </a:r>
            <a:endParaRPr/>
          </a:p>
          <a:p xmlns:a="http://schemas.openxmlformats.org/drawingml/2006/main">
            <a:r>
              <a:t>[Sources]</a:t>
            </a:r>
            <a:endParaRPr/>
          </a:p>
          <a:p xmlns:a="http://schemas.openxmlformats.org/drawingml/2006/main">
            <a:r>
              <a:t>- BMHI PN 104 Chapter 5 faculty PowerPoint slide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00ab5dba4a4b8c"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bc5e3555d74ba3" /><Relationship Type="http://schemas.openxmlformats.org/officeDocument/2006/relationships/slideLayout" Target="/ppt/slideLayouts/slideLayout1.xml" Id="R03c1c48873b541de"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c1c48873b541de"/>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a105e9509724810" /><Relationship Type="http://schemas.openxmlformats.org/officeDocument/2006/relationships/image" Target="/ppt/media/image.jpeg" Id="R15f207969be4414e" /><Relationship Type="http://schemas.openxmlformats.org/officeDocument/2006/relationships/notesSlide" Target="/ppt/notesSlides/notesSlide1.xml" Id="R7a8802abf406469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0ae81f7e9754851" /><Relationship Type="http://schemas.openxmlformats.org/officeDocument/2006/relationships/image" Target="/ppt/media/image2.jpeg" Id="Rcac3333a25e84bff" /><Relationship Type="http://schemas.openxmlformats.org/officeDocument/2006/relationships/notesSlide" Target="/ppt/notesSlides/notesSlide2.xml" Id="R75f2d860c1a348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4ccfbe7eb474d11" /><Relationship Type="http://schemas.openxmlformats.org/officeDocument/2006/relationships/notesSlide" Target="/ppt/notesSlides/notesSlide3.xml" Id="Rba34c374bcf64ad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34542599cb348f1" /><Relationship Type="http://schemas.openxmlformats.org/officeDocument/2006/relationships/image" Target="/ppt/media/image3.jpeg" Id="R408db68908ef4e8d" /><Relationship Type="http://schemas.openxmlformats.org/officeDocument/2006/relationships/notesSlide" Target="/ppt/notesSlides/notesSlide4.xml" Id="R1285795c053d48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999392312bd4e46" /><Relationship Type="http://schemas.openxmlformats.org/officeDocument/2006/relationships/image" Target="/ppt/media/image4.jpeg" Id="Ra5e24cc7132b42f7" /><Relationship Type="http://schemas.openxmlformats.org/officeDocument/2006/relationships/notesSlide" Target="/ppt/notesSlides/notesSlide5.xml" Id="Rcf17676fcf6849f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0167d12b97e4448" /><Relationship Type="http://schemas.openxmlformats.org/officeDocument/2006/relationships/image" Target="/ppt/media/image5.jpeg" Id="R60560c90f2bf4214" /><Relationship Type="http://schemas.openxmlformats.org/officeDocument/2006/relationships/notesSlide" Target="/ppt/notesSlides/notesSlide6.xml" Id="Rd08e7eaec0084ba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72149587c584d5f" /><Relationship Type="http://schemas.openxmlformats.org/officeDocument/2006/relationships/notesSlide" Target="/ppt/notesSlides/notesSlide7.xml" Id="R05068e6e91d74da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517f810fda24f0b" /><Relationship Type="http://schemas.openxmlformats.org/officeDocument/2006/relationships/image" Target="/ppt/media/image6.jpeg" Id="R0042bd44f14f44c9" /><Relationship Type="http://schemas.openxmlformats.org/officeDocument/2006/relationships/notesSlide" Target="/ppt/notesSlides/notesSlide8.xml" Id="R274368f8ab674c9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c248030653b407b" /><Relationship Type="http://schemas.openxmlformats.org/officeDocument/2006/relationships/image" Target="/ppt/media/image7.jpeg" Id="R46ac873173e34cf7" /><Relationship Type="http://schemas.openxmlformats.org/officeDocument/2006/relationships/notesSlide" Target="/ppt/notesSlides/notesSlide9.xml" Id="Race90d8357a34bc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b3b35549d214214" /><Relationship Type="http://schemas.openxmlformats.org/officeDocument/2006/relationships/image" Target="/ppt/media/image8.jpeg" Id="R84afc7f798b84d66" /><Relationship Type="http://schemas.openxmlformats.org/officeDocument/2006/relationships/notesSlide" Target="/ppt/notesSlides/notesSlide10.xml" Id="Rdbda04fccf4a49c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61578d126fd49e4" /><Relationship Type="http://schemas.openxmlformats.org/officeDocument/2006/relationships/notesSlide" Target="/ppt/notesSlides/notesSlide11.xml" Id="Rda73bef7be4942c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c7853f358b64247" /><Relationship Type="http://schemas.openxmlformats.org/officeDocument/2006/relationships/image" Target="/ppt/media/image9.jpeg" Id="Raf310b3aaa16440c" /><Relationship Type="http://schemas.openxmlformats.org/officeDocument/2006/relationships/notesSlide" Target="/ppt/notesSlides/notesSlide12.xml" Id="Rdb3d03823a3642e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67390d2e75348f3" /><Relationship Type="http://schemas.openxmlformats.org/officeDocument/2006/relationships/notesSlide" Target="/ppt/notesSlides/notesSlide13.xml" Id="Reb0c0d4402ee432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d7aea293a1041ec" /><Relationship Type="http://schemas.openxmlformats.org/officeDocument/2006/relationships/image" Target="/ppt/media/image10.jpeg" Id="R0ab1b55cd53744d1" /><Relationship Type="http://schemas.openxmlformats.org/officeDocument/2006/relationships/notesSlide" Target="/ppt/notesSlides/notesSlide14.xml" Id="Rf8bdc2225e81489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e327be3069c4f16" /><Relationship Type="http://schemas.openxmlformats.org/officeDocument/2006/relationships/image" Target="/ppt/media/image11.jpeg" Id="R4461eff3a4424d7b" /><Relationship Type="http://schemas.openxmlformats.org/officeDocument/2006/relationships/notesSlide" Target="/ppt/notesSlides/notesSlide15.xml" Id="R97b55116c9804fc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1bbc85122e8471c" /><Relationship Type="http://schemas.openxmlformats.org/officeDocument/2006/relationships/image" Target="/ppt/media/image12.jpeg" Id="R824140ff006a485f" /><Relationship Type="http://schemas.openxmlformats.org/officeDocument/2006/relationships/notesSlide" Target="/ppt/notesSlides/notesSlide16.xml" Id="R1bf0e0d9dc3544d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cdcb6eebb1e48ae" /><Relationship Type="http://schemas.openxmlformats.org/officeDocument/2006/relationships/notesSlide" Target="/ppt/notesSlides/notesSlide17.xml" Id="R315664f7a3794f5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0d87cc0d8804176" /><Relationship Type="http://schemas.openxmlformats.org/officeDocument/2006/relationships/notesSlide" Target="/ppt/notesSlides/notesSlide18.xml" Id="R4784d1ab034043fb" /></Relationships>
</file>

<file path=ppt/slides/slide1.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0ACF4B5-E4A9-48C9-9C5F-1733B1119FBE}"/>
              </a:ext>
            </a:extLst>
          </p:cNvPr>
          <p:cNvSpPr>
            <a:spLocks xmlns:a="http://schemas.openxmlformats.org/drawingml/2006/main" noGrp="1"/>
          </p:cNvSpPr>
          <p:nvPr/>
        </p:nvSpPr>
        <p:spPr>
          <a:xfrm xmlns:a="http://schemas.openxmlformats.org/drawingml/2006/main">
            <a:off x="731520" y="1325880"/>
            <a:ext cx="6400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800" b="1">
                <a:solidFill>
                  <a:srgbClr val="E36414"/>
                </a:solidFill>
                <a:latin typeface="Calibri"/>
                <a:ea typeface="Calibri"/>
                <a:cs typeface="Calibri"/>
              </a:rPr>
              <a:t>CHAPTER 5</a:t>
            </a:r>
            <a:endParaRPr sz="1800"/>
          </a:p>
        </p:txBody>
      </p:sp>
      <p:sp>
        <p:nvSpPr>
          <p:cNvPr id="3" name="Text 1">
            <a:extLst xmlns:a="http://schemas.openxmlformats.org/drawingml/2006/main">
              <a:ext uri="{FF2B5EF4-FFF2-40B4-BE49-F238E27FC236}">
                <a16:creationId xmlns:a16="http://schemas.microsoft.com/office/drawing/2014/main" id="{411E7CA1-E523-4186-AEE5-20435CA69C22}"/>
              </a:ext>
            </a:extLst>
          </p:cNvPr>
          <p:cNvSpPr>
            <a:spLocks xmlns:a="http://schemas.openxmlformats.org/drawingml/2006/main" noGrp="1"/>
          </p:cNvSpPr>
          <p:nvPr/>
        </p:nvSpPr>
        <p:spPr>
          <a:xfrm xmlns:a="http://schemas.openxmlformats.org/drawingml/2006/main">
            <a:off x="713232" y="1783080"/>
            <a:ext cx="6858000" cy="1920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4400" b="1">
                <a:solidFill>
                  <a:srgbClr val="FFFFFF"/>
                </a:solidFill>
                <a:latin typeface="Georgia"/>
                <a:ea typeface="Georgia"/>
                <a:cs typeface="Georgia"/>
              </a:rPr>
              <a:t>The Integumentary System</a:t>
            </a:r>
            <a:endParaRPr sz="4400"/>
          </a:p>
        </p:txBody>
      </p:sp>
      <p:sp>
        <p:nvSpPr>
          <p:cNvPr id="4" name="Text 2">
            <a:extLst xmlns:a="http://schemas.openxmlformats.org/drawingml/2006/main">
              <a:ext uri="{FF2B5EF4-FFF2-40B4-BE49-F238E27FC236}">
                <a16:creationId xmlns:a16="http://schemas.microsoft.com/office/drawing/2014/main" id="{0B420243-7600-45DB-99C1-E13C2F588EAF}"/>
              </a:ext>
            </a:extLst>
          </p:cNvPr>
          <p:cNvSpPr>
            <a:spLocks xmlns:a="http://schemas.openxmlformats.org/drawingml/2006/main" noGrp="1"/>
          </p:cNvSpPr>
          <p:nvPr/>
        </p:nvSpPr>
        <p:spPr>
          <a:xfrm xmlns:a="http://schemas.openxmlformats.org/drawingml/2006/main">
            <a:off x="749808" y="3886200"/>
            <a:ext cx="640080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600">
                <a:solidFill>
                  <a:srgbClr val="CFE3E7"/>
                </a:solidFill>
                <a:latin typeface="Calibri"/>
                <a:ea typeface="Calibri"/>
                <a:cs typeface="Calibri"/>
              </a:rPr>
              <a:t>The skin, its accessory structures, functions, and disorders.</a:t>
            </a:r>
            <a:endParaRPr sz="1600"/>
          </a:p>
        </p:txBody>
      </p:sp>
      <p:sp>
        <p:nvSpPr>
          <p:cNvPr id="5" name="Text 3">
            <a:extLst xmlns:a="http://schemas.openxmlformats.org/drawingml/2006/main">
              <a:ext uri="{FF2B5EF4-FFF2-40B4-BE49-F238E27FC236}">
                <a16:creationId xmlns:a16="http://schemas.microsoft.com/office/drawing/2014/main" id="{310A3E2D-168F-4170-A9B1-136920AC30CD}"/>
              </a:ext>
            </a:extLst>
          </p:cNvPr>
          <p:cNvSpPr>
            <a:spLocks xmlns:a="http://schemas.openxmlformats.org/drawingml/2006/main" noGrp="1"/>
          </p:cNvSpPr>
          <p:nvPr/>
        </p:nvSpPr>
        <p:spPr>
          <a:xfrm xmlns:a="http://schemas.openxmlformats.org/drawingml/2006/main">
            <a:off x="749808" y="5806440"/>
            <a:ext cx="8229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9FC2C9"/>
                </a:solidFill>
                <a:latin typeface="Calibri"/>
                <a:ea typeface="Calibri"/>
                <a:cs typeface="Calibri"/>
              </a:rPr>
              <a:t>Anatomy &amp; Physiology  ·  Broward-Miami Health Institute</a:t>
            </a:r>
            <a:endParaRPr sz="1300"/>
          </a:p>
        </p:txBody>
      </p:sp>
      <p:sp>
        <p:nvSpPr>
          <p:cNvPr id="6" name="Text 4">
            <a:extLst xmlns:a="http://schemas.openxmlformats.org/drawingml/2006/main">
              <a:ext uri="{FF2B5EF4-FFF2-40B4-BE49-F238E27FC236}">
                <a16:creationId xmlns:a16="http://schemas.microsoft.com/office/drawing/2014/main" id="{DBC2A120-BFB3-4C1A-A9AE-047C4EDA70C3}"/>
              </a:ext>
            </a:extLst>
          </p:cNvPr>
          <p:cNvSpPr>
            <a:spLocks xmlns:a="http://schemas.openxmlformats.org/drawingml/2006/main" noGrp="1"/>
          </p:cNvSpPr>
          <p:nvPr/>
        </p:nvSpPr>
        <p:spPr>
          <a:xfrm xmlns:a="http://schemas.openxmlformats.org/drawingml/2006/main">
            <a:off x="749808" y="6144768"/>
            <a:ext cx="3657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E36414"/>
                </a:solidFill>
                <a:latin typeface="Calibri"/>
                <a:ea typeface="Calibri"/>
                <a:cs typeface="Calibri"/>
              </a:rPr>
              <a:t>FACULTY EDITION</a:t>
            </a:r>
            <a:endParaRPr sz="1100"/>
          </a:p>
        </p:txBody>
      </p:sp>
      <p:sp>
        <p:nvSpPr>
          <p:cNvPr id="7" name="Shape 5">
            <a:extLst xmlns:a="http://schemas.openxmlformats.org/drawingml/2006/main">
              <a:ext uri="{FF2B5EF4-FFF2-40B4-BE49-F238E27FC236}">
                <a16:creationId xmlns:a16="http://schemas.microsoft.com/office/drawing/2014/main" id="{68CCD4BE-7559-4B28-B4A9-5853F015C22E}"/>
              </a:ext>
            </a:extLst>
          </p:cNvPr>
          <p:cNvSpPr>
            <a:spLocks xmlns:a="http://schemas.openxmlformats.org/drawingml/2006/main" noGrp="1"/>
          </p:cNvSpPr>
          <p:nvPr/>
        </p:nvSpPr>
        <p:spPr>
          <a:xfrm xmlns:a="http://schemas.openxmlformats.org/drawingml/2006/main">
            <a:off x="7735824" y="2798870"/>
            <a:ext cx="4096512" cy="1443140"/>
          </a:xfrm>
          <a:prstGeom xmlns:a="http://schemas.openxmlformats.org/drawingml/2006/main" prst="roundRect">
            <a:avLst>
              <a:gd name="adj" fmla="val 3802"/>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15f207969be4414e"/>
          <a:stretch xmlns:a="http://schemas.openxmlformats.org/drawingml/2006/main">
            <a:fillRect l="0" t="0" r="0" b="0"/>
          </a:stretch>
        </p:blipFill>
        <p:spPr>
          <a:xfrm xmlns:a="http://schemas.openxmlformats.org/drawingml/2006/main">
            <a:off x="7818120" y="2881166"/>
            <a:ext cx="3931920" cy="1278548"/>
          </a:xfrm>
          <a:prstGeom xmlns:a="http://schemas.openxmlformats.org/drawingml/2006/main" prst="rect">
            <a:avLst/>
          </a:prstGeom>
        </p:spPr>
      </p:pic>
    </p:spTree>
    <p:extLst>
      <p:ext uri="{BB962C8B-B14F-4D97-AF65-F5344CB8AC3E}">
        <p14:creationId xmlns:p14="http://schemas.microsoft.com/office/powerpoint/2010/main" val="844089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EB73900-641E-4A19-8E53-94FD5AE834D3}"/>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CHAPTER 5</a:t>
            </a:r>
            <a:endParaRPr sz="1200"/>
          </a:p>
        </p:txBody>
      </p:sp>
      <p:sp>
        <p:nvSpPr>
          <p:cNvPr id="3" name="Text 1">
            <a:extLst xmlns:a="http://schemas.openxmlformats.org/drawingml/2006/main">
              <a:ext uri="{FF2B5EF4-FFF2-40B4-BE49-F238E27FC236}">
                <a16:creationId xmlns:a16="http://schemas.microsoft.com/office/drawing/2014/main" id="{3C7ABF72-3B35-4A04-9443-E0658FFC43FC}"/>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Learning Objectives</a:t>
            </a:r>
            <a:endParaRPr sz="2800"/>
          </a:p>
        </p:txBody>
      </p:sp>
      <p:sp>
        <p:nvSpPr>
          <p:cNvPr id="4" name="Text 2">
            <a:extLst xmlns:a="http://schemas.openxmlformats.org/drawingml/2006/main">
              <a:ext uri="{FF2B5EF4-FFF2-40B4-BE49-F238E27FC236}">
                <a16:creationId xmlns:a16="http://schemas.microsoft.com/office/drawing/2014/main" id="{2E989683-7F0F-4F61-8E81-5E06B8565FF1}"/>
              </a:ext>
            </a:extLst>
          </p:cNvPr>
          <p:cNvSpPr>
            <a:spLocks xmlns:a="http://schemas.openxmlformats.org/drawingml/2006/main" noGrp="1"/>
          </p:cNvSpPr>
          <p:nvPr/>
        </p:nvSpPr>
        <p:spPr>
          <a:xfrm xmlns:a="http://schemas.openxmlformats.org/drawingml/2006/main">
            <a:off x="548640" y="137160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i="1">
                <a:solidFill>
                  <a:srgbClr val="5A6B70"/>
                </a:solidFill>
                <a:latin typeface="Calibri"/>
                <a:ea typeface="Calibri"/>
                <a:cs typeface="Calibri"/>
              </a:rPr>
              <a:t>After studying this chapter, students will be able to:</a:t>
            </a:r>
            <a:endParaRPr sz="1200"/>
          </a:p>
        </p:txBody>
      </p:sp>
      <p:sp>
        <p:nvSpPr>
          <p:cNvPr id="5" name="Shape 3">
            <a:extLst xmlns:a="http://schemas.openxmlformats.org/drawingml/2006/main">
              <a:ext uri="{FF2B5EF4-FFF2-40B4-BE49-F238E27FC236}">
                <a16:creationId xmlns:a16="http://schemas.microsoft.com/office/drawing/2014/main" id="{AABB6215-C492-44C8-AE67-E88431B31846}"/>
              </a:ext>
            </a:extLst>
          </p:cNvPr>
          <p:cNvSpPr>
            <a:spLocks xmlns:a="http://schemas.openxmlformats.org/drawingml/2006/main" noGrp="1"/>
          </p:cNvSpPr>
          <p:nvPr/>
        </p:nvSpPr>
        <p:spPr>
          <a:xfrm xmlns:a="http://schemas.openxmlformats.org/drawingml/2006/main">
            <a:off x="548640" y="1664208"/>
            <a:ext cx="384048" cy="384048"/>
          </a:xfrm>
          <a:prstGeom xmlns:a="http://schemas.openxmlformats.org/drawingml/2006/main" prst="ellipse">
            <a:avLst/>
          </a:prstGeom>
          <a:solidFill xmlns:a="http://schemas.openxmlformats.org/drawingml/2006/main">
            <a:srgbClr val="0F4C5C"/>
          </a:solidFill>
        </p:spPr>
      </p:sp>
      <p:sp>
        <p:nvSpPr>
          <p:cNvPr id="6" name="Text 4">
            <a:extLst xmlns:a="http://schemas.openxmlformats.org/drawingml/2006/main">
              <a:ext uri="{FF2B5EF4-FFF2-40B4-BE49-F238E27FC236}">
                <a16:creationId xmlns:a16="http://schemas.microsoft.com/office/drawing/2014/main" id="{1A96E9C2-29C2-4E23-B81C-594B74CD2DE1}"/>
              </a:ext>
            </a:extLst>
          </p:cNvPr>
          <p:cNvSpPr>
            <a:spLocks xmlns:a="http://schemas.openxmlformats.org/drawingml/2006/main" noGrp="1"/>
          </p:cNvSpPr>
          <p:nvPr/>
        </p:nvSpPr>
        <p:spPr>
          <a:xfrm xmlns:a="http://schemas.openxmlformats.org/drawingml/2006/main">
            <a:off x="548640" y="166420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1</a:t>
            </a:r>
            <a:endParaRPr sz="1500"/>
          </a:p>
        </p:txBody>
      </p:sp>
      <p:sp>
        <p:nvSpPr>
          <p:cNvPr id="7" name="Text 5">
            <a:extLst xmlns:a="http://schemas.openxmlformats.org/drawingml/2006/main">
              <a:ext uri="{FF2B5EF4-FFF2-40B4-BE49-F238E27FC236}">
                <a16:creationId xmlns:a16="http://schemas.microsoft.com/office/drawing/2014/main" id="{A1FB5B51-887D-4EF5-BCD8-4388B82EFE24}"/>
              </a:ext>
            </a:extLst>
          </p:cNvPr>
          <p:cNvSpPr>
            <a:spLocks xmlns:a="http://schemas.openxmlformats.org/drawingml/2006/main" noGrp="1"/>
          </p:cNvSpPr>
          <p:nvPr/>
        </p:nvSpPr>
        <p:spPr>
          <a:xfrm xmlns:a="http://schemas.openxmlformats.org/drawingml/2006/main">
            <a:off x="1115568" y="1645920"/>
            <a:ext cx="5943600" cy="78638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00">
                <a:solidFill>
                  <a:srgbClr val="23363B"/>
                </a:solidFill>
                <a:latin typeface="Calibri"/>
                <a:ea typeface="Calibri"/>
                <a:cs typeface="Calibri"/>
              </a:rPr>
              <a:t>Describe the integumentary system and the role it plays in homeostasis</a:t>
            </a:r>
            <a:endParaRPr sz="1400"/>
          </a:p>
        </p:txBody>
      </p:sp>
      <p:sp>
        <p:nvSpPr>
          <p:cNvPr id="8" name="Shape 6">
            <a:extLst xmlns:a="http://schemas.openxmlformats.org/drawingml/2006/main">
              <a:ext uri="{FF2B5EF4-FFF2-40B4-BE49-F238E27FC236}">
                <a16:creationId xmlns:a16="http://schemas.microsoft.com/office/drawing/2014/main" id="{C2B3508A-E0C5-4DBF-9E76-79CC6F5141CE}"/>
              </a:ext>
            </a:extLst>
          </p:cNvPr>
          <p:cNvSpPr>
            <a:spLocks xmlns:a="http://schemas.openxmlformats.org/drawingml/2006/main" noGrp="1"/>
          </p:cNvSpPr>
          <p:nvPr/>
        </p:nvSpPr>
        <p:spPr>
          <a:xfrm xmlns:a="http://schemas.openxmlformats.org/drawingml/2006/main">
            <a:off x="548640" y="2450592"/>
            <a:ext cx="384048" cy="384048"/>
          </a:xfrm>
          <a:prstGeom xmlns:a="http://schemas.openxmlformats.org/drawingml/2006/main" prst="ellipse">
            <a:avLst/>
          </a:prstGeom>
          <a:solidFill xmlns:a="http://schemas.openxmlformats.org/drawingml/2006/main">
            <a:srgbClr val="0F4C5C"/>
          </a:solidFill>
        </p:spPr>
      </p:sp>
      <p:sp>
        <p:nvSpPr>
          <p:cNvPr id="9" name="Text 7">
            <a:extLst xmlns:a="http://schemas.openxmlformats.org/drawingml/2006/main">
              <a:ext uri="{FF2B5EF4-FFF2-40B4-BE49-F238E27FC236}">
                <a16:creationId xmlns:a16="http://schemas.microsoft.com/office/drawing/2014/main" id="{D2D7D532-D5AB-455E-A686-DB3579BAC148}"/>
              </a:ext>
            </a:extLst>
          </p:cNvPr>
          <p:cNvSpPr>
            <a:spLocks xmlns:a="http://schemas.openxmlformats.org/drawingml/2006/main" noGrp="1"/>
          </p:cNvSpPr>
          <p:nvPr/>
        </p:nvSpPr>
        <p:spPr>
          <a:xfrm xmlns:a="http://schemas.openxmlformats.org/drawingml/2006/main">
            <a:off x="548640" y="2450592"/>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2</a:t>
            </a:r>
            <a:endParaRPr sz="1500"/>
          </a:p>
        </p:txBody>
      </p:sp>
      <p:sp>
        <p:nvSpPr>
          <p:cNvPr id="10" name="Text 8">
            <a:extLst xmlns:a="http://schemas.openxmlformats.org/drawingml/2006/main">
              <a:ext uri="{FF2B5EF4-FFF2-40B4-BE49-F238E27FC236}">
                <a16:creationId xmlns:a16="http://schemas.microsoft.com/office/drawing/2014/main" id="{6822B72B-8969-4FB0-B765-2CCC49812985}"/>
              </a:ext>
            </a:extLst>
          </p:cNvPr>
          <p:cNvSpPr>
            <a:spLocks xmlns:a="http://schemas.openxmlformats.org/drawingml/2006/main" noGrp="1"/>
          </p:cNvSpPr>
          <p:nvPr/>
        </p:nvSpPr>
        <p:spPr>
          <a:xfrm xmlns:a="http://schemas.openxmlformats.org/drawingml/2006/main">
            <a:off x="1115568" y="2432304"/>
            <a:ext cx="5943600" cy="78638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00">
                <a:solidFill>
                  <a:srgbClr val="23363B"/>
                </a:solidFill>
                <a:latin typeface="Calibri"/>
                <a:ea typeface="Calibri"/>
                <a:cs typeface="Calibri"/>
              </a:rPr>
              <a:t>Describe the layers of the skin and the functions of each layer</a:t>
            </a:r>
            <a:endParaRPr sz="1400"/>
          </a:p>
        </p:txBody>
      </p:sp>
      <p:sp>
        <p:nvSpPr>
          <p:cNvPr id="11" name="Shape 9">
            <a:extLst xmlns:a="http://schemas.openxmlformats.org/drawingml/2006/main">
              <a:ext uri="{FF2B5EF4-FFF2-40B4-BE49-F238E27FC236}">
                <a16:creationId xmlns:a16="http://schemas.microsoft.com/office/drawing/2014/main" id="{1278EC43-60C4-445E-9DF1-9253BEF1C279}"/>
              </a:ext>
            </a:extLst>
          </p:cNvPr>
          <p:cNvSpPr>
            <a:spLocks xmlns:a="http://schemas.openxmlformats.org/drawingml/2006/main" noGrp="1"/>
          </p:cNvSpPr>
          <p:nvPr/>
        </p:nvSpPr>
        <p:spPr>
          <a:xfrm xmlns:a="http://schemas.openxmlformats.org/drawingml/2006/main">
            <a:off x="548640" y="3236976"/>
            <a:ext cx="384048" cy="384048"/>
          </a:xfrm>
          <a:prstGeom xmlns:a="http://schemas.openxmlformats.org/drawingml/2006/main" prst="ellipse">
            <a:avLst/>
          </a:prstGeom>
          <a:solidFill xmlns:a="http://schemas.openxmlformats.org/drawingml/2006/main">
            <a:srgbClr val="0F4C5C"/>
          </a:solidFill>
        </p:spPr>
      </p:sp>
      <p:sp>
        <p:nvSpPr>
          <p:cNvPr id="12" name="Text 10">
            <a:extLst xmlns:a="http://schemas.openxmlformats.org/drawingml/2006/main">
              <a:ext uri="{FF2B5EF4-FFF2-40B4-BE49-F238E27FC236}">
                <a16:creationId xmlns:a16="http://schemas.microsoft.com/office/drawing/2014/main" id="{698E16F7-1CA6-45FC-879D-157C87F62476}"/>
              </a:ext>
            </a:extLst>
          </p:cNvPr>
          <p:cNvSpPr>
            <a:spLocks xmlns:a="http://schemas.openxmlformats.org/drawingml/2006/main" noGrp="1"/>
          </p:cNvSpPr>
          <p:nvPr/>
        </p:nvSpPr>
        <p:spPr>
          <a:xfrm xmlns:a="http://schemas.openxmlformats.org/drawingml/2006/main">
            <a:off x="548640" y="3236976"/>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3</a:t>
            </a:r>
            <a:endParaRPr sz="1500"/>
          </a:p>
        </p:txBody>
      </p:sp>
      <p:sp>
        <p:nvSpPr>
          <p:cNvPr id="13" name="Text 11">
            <a:extLst xmlns:a="http://schemas.openxmlformats.org/drawingml/2006/main">
              <a:ext uri="{FF2B5EF4-FFF2-40B4-BE49-F238E27FC236}">
                <a16:creationId xmlns:a16="http://schemas.microsoft.com/office/drawing/2014/main" id="{ADB394B2-979D-44AC-8CD5-F18B87782D8A}"/>
              </a:ext>
            </a:extLst>
          </p:cNvPr>
          <p:cNvSpPr>
            <a:spLocks xmlns:a="http://schemas.openxmlformats.org/drawingml/2006/main" noGrp="1"/>
          </p:cNvSpPr>
          <p:nvPr/>
        </p:nvSpPr>
        <p:spPr>
          <a:xfrm xmlns:a="http://schemas.openxmlformats.org/drawingml/2006/main">
            <a:off x="1115568" y="3218688"/>
            <a:ext cx="5943600" cy="78638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00">
                <a:solidFill>
                  <a:srgbClr val="23363B"/>
                </a:solidFill>
                <a:latin typeface="Calibri"/>
                <a:ea typeface="Calibri"/>
                <a:cs typeface="Calibri"/>
              </a:rPr>
              <a:t>Describe the accessory structures of the skin and the functions of each</a:t>
            </a:r>
            <a:endParaRPr sz="1400"/>
          </a:p>
        </p:txBody>
      </p:sp>
      <p:sp>
        <p:nvSpPr>
          <p:cNvPr id="14" name="Shape 12">
            <a:extLst xmlns:a="http://schemas.openxmlformats.org/drawingml/2006/main">
              <a:ext uri="{FF2B5EF4-FFF2-40B4-BE49-F238E27FC236}">
                <a16:creationId xmlns:a16="http://schemas.microsoft.com/office/drawing/2014/main" id="{7B676614-AF99-4067-B475-F4AE8735199A}"/>
              </a:ext>
            </a:extLst>
          </p:cNvPr>
          <p:cNvSpPr>
            <a:spLocks xmlns:a="http://schemas.openxmlformats.org/drawingml/2006/main" noGrp="1"/>
          </p:cNvSpPr>
          <p:nvPr/>
        </p:nvSpPr>
        <p:spPr>
          <a:xfrm xmlns:a="http://schemas.openxmlformats.org/drawingml/2006/main">
            <a:off x="548640" y="4023360"/>
            <a:ext cx="384048" cy="384048"/>
          </a:xfrm>
          <a:prstGeom xmlns:a="http://schemas.openxmlformats.org/drawingml/2006/main" prst="ellipse">
            <a:avLst/>
          </a:prstGeom>
          <a:solidFill xmlns:a="http://schemas.openxmlformats.org/drawingml/2006/main">
            <a:srgbClr val="0F4C5C"/>
          </a:solidFill>
        </p:spPr>
      </p:sp>
      <p:sp>
        <p:nvSpPr>
          <p:cNvPr id="15" name="Text 13">
            <a:extLst xmlns:a="http://schemas.openxmlformats.org/drawingml/2006/main">
              <a:ext uri="{FF2B5EF4-FFF2-40B4-BE49-F238E27FC236}">
                <a16:creationId xmlns:a16="http://schemas.microsoft.com/office/drawing/2014/main" id="{E39DA079-C8BF-4D55-9FE3-85E57DB3AB89}"/>
              </a:ext>
            </a:extLst>
          </p:cNvPr>
          <p:cNvSpPr>
            <a:spLocks xmlns:a="http://schemas.openxmlformats.org/drawingml/2006/main" noGrp="1"/>
          </p:cNvSpPr>
          <p:nvPr/>
        </p:nvSpPr>
        <p:spPr>
          <a:xfrm xmlns:a="http://schemas.openxmlformats.org/drawingml/2006/main">
            <a:off x="548640" y="4023360"/>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4</a:t>
            </a:r>
            <a:endParaRPr sz="1500"/>
          </a:p>
        </p:txBody>
      </p:sp>
      <p:sp>
        <p:nvSpPr>
          <p:cNvPr id="16" name="Text 14">
            <a:extLst xmlns:a="http://schemas.openxmlformats.org/drawingml/2006/main">
              <a:ext uri="{FF2B5EF4-FFF2-40B4-BE49-F238E27FC236}">
                <a16:creationId xmlns:a16="http://schemas.microsoft.com/office/drawing/2014/main" id="{D9DB23EC-478F-4862-9402-8EF37A57E7AF}"/>
              </a:ext>
            </a:extLst>
          </p:cNvPr>
          <p:cNvSpPr>
            <a:spLocks xmlns:a="http://schemas.openxmlformats.org/drawingml/2006/main" noGrp="1"/>
          </p:cNvSpPr>
          <p:nvPr/>
        </p:nvSpPr>
        <p:spPr>
          <a:xfrm xmlns:a="http://schemas.openxmlformats.org/drawingml/2006/main">
            <a:off x="1115568" y="4005072"/>
            <a:ext cx="5943600" cy="78638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00">
                <a:solidFill>
                  <a:srgbClr val="23363B"/>
                </a:solidFill>
                <a:latin typeface="Calibri"/>
                <a:ea typeface="Calibri"/>
                <a:cs typeface="Calibri"/>
              </a:rPr>
              <a:t>Describe the changes that occur in the integumentary system during the aging process</a:t>
            </a:r>
            <a:endParaRPr sz="1400"/>
          </a:p>
        </p:txBody>
      </p:sp>
      <p:sp>
        <p:nvSpPr>
          <p:cNvPr id="17" name="Shape 15">
            <a:extLst xmlns:a="http://schemas.openxmlformats.org/drawingml/2006/main">
              <a:ext uri="{FF2B5EF4-FFF2-40B4-BE49-F238E27FC236}">
                <a16:creationId xmlns:a16="http://schemas.microsoft.com/office/drawing/2014/main" id="{A9D583DD-3EC1-4264-93C4-FF1EC8D6E61B}"/>
              </a:ext>
            </a:extLst>
          </p:cNvPr>
          <p:cNvSpPr>
            <a:spLocks xmlns:a="http://schemas.openxmlformats.org/drawingml/2006/main" noGrp="1"/>
          </p:cNvSpPr>
          <p:nvPr/>
        </p:nvSpPr>
        <p:spPr>
          <a:xfrm xmlns:a="http://schemas.openxmlformats.org/drawingml/2006/main">
            <a:off x="548640" y="4809744"/>
            <a:ext cx="384048" cy="384048"/>
          </a:xfrm>
          <a:prstGeom xmlns:a="http://schemas.openxmlformats.org/drawingml/2006/main" prst="ellipse">
            <a:avLst/>
          </a:prstGeom>
          <a:solidFill xmlns:a="http://schemas.openxmlformats.org/drawingml/2006/main">
            <a:srgbClr val="0F4C5C"/>
          </a:solidFill>
        </p:spPr>
      </p:sp>
      <p:sp>
        <p:nvSpPr>
          <p:cNvPr id="18" name="Text 16">
            <a:extLst xmlns:a="http://schemas.openxmlformats.org/drawingml/2006/main">
              <a:ext uri="{FF2B5EF4-FFF2-40B4-BE49-F238E27FC236}">
                <a16:creationId xmlns:a16="http://schemas.microsoft.com/office/drawing/2014/main" id="{5099B052-5069-4972-A6AC-6C6005C9482F}"/>
              </a:ext>
            </a:extLst>
          </p:cNvPr>
          <p:cNvSpPr>
            <a:spLocks xmlns:a="http://schemas.openxmlformats.org/drawingml/2006/main" noGrp="1"/>
          </p:cNvSpPr>
          <p:nvPr/>
        </p:nvSpPr>
        <p:spPr>
          <a:xfrm xmlns:a="http://schemas.openxmlformats.org/drawingml/2006/main">
            <a:off x="548640" y="4809744"/>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5</a:t>
            </a:r>
            <a:endParaRPr sz="1500"/>
          </a:p>
        </p:txBody>
      </p:sp>
      <p:sp>
        <p:nvSpPr>
          <p:cNvPr id="19" name="Text 17">
            <a:extLst xmlns:a="http://schemas.openxmlformats.org/drawingml/2006/main">
              <a:ext uri="{FF2B5EF4-FFF2-40B4-BE49-F238E27FC236}">
                <a16:creationId xmlns:a16="http://schemas.microsoft.com/office/drawing/2014/main" id="{D459BA15-E401-46CD-9A38-3832F8C8BA86}"/>
              </a:ext>
            </a:extLst>
          </p:cNvPr>
          <p:cNvSpPr>
            <a:spLocks xmlns:a="http://schemas.openxmlformats.org/drawingml/2006/main" noGrp="1"/>
          </p:cNvSpPr>
          <p:nvPr/>
        </p:nvSpPr>
        <p:spPr>
          <a:xfrm xmlns:a="http://schemas.openxmlformats.org/drawingml/2006/main">
            <a:off x="1115568" y="4791456"/>
            <a:ext cx="5943600" cy="78638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00">
                <a:solidFill>
                  <a:srgbClr val="23363B"/>
                </a:solidFill>
                <a:latin typeface="Calibri"/>
                <a:ea typeface="Calibri"/>
                <a:cs typeface="Calibri"/>
              </a:rPr>
              <a:t>Discuss several common diseases, disorders, and injuries that affect the integumentary system</a:t>
            </a:r>
            <a:endParaRPr sz="1400"/>
          </a:p>
        </p:txBody>
      </p:sp>
      <p:sp>
        <p:nvSpPr>
          <p:cNvPr id="20" name="Shape 18">
            <a:extLst xmlns:a="http://schemas.openxmlformats.org/drawingml/2006/main">
              <a:ext uri="{FF2B5EF4-FFF2-40B4-BE49-F238E27FC236}">
                <a16:creationId xmlns:a16="http://schemas.microsoft.com/office/drawing/2014/main" id="{6D5516A1-BCDD-4622-AD23-59EC986167C7}"/>
              </a:ext>
            </a:extLst>
          </p:cNvPr>
          <p:cNvSpPr>
            <a:spLocks xmlns:a="http://schemas.openxmlformats.org/drawingml/2006/main" noGrp="1"/>
          </p:cNvSpPr>
          <p:nvPr/>
        </p:nvSpPr>
        <p:spPr>
          <a:xfrm xmlns:a="http://schemas.openxmlformats.org/drawingml/2006/main">
            <a:off x="7415784" y="2001017"/>
            <a:ext cx="4370832" cy="3459469"/>
          </a:xfrm>
          <a:prstGeom xmlns:a="http://schemas.openxmlformats.org/drawingml/2006/main" prst="roundRect">
            <a:avLst>
              <a:gd name="adj" fmla="val 1586"/>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cac3333a25e84bff"/>
          <a:stretch xmlns:a="http://schemas.openxmlformats.org/drawingml/2006/main">
            <a:fillRect l="0" t="0" r="0" b="0"/>
          </a:stretch>
        </p:blipFill>
        <p:spPr>
          <a:xfrm xmlns:a="http://schemas.openxmlformats.org/drawingml/2006/main">
            <a:off x="7498080" y="2083313"/>
            <a:ext cx="4206240" cy="3294877"/>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5FDF0E44-2E86-469E-AC84-0CAF83F804A8}"/>
              </a:ext>
            </a:extLst>
          </p:cNvPr>
          <p:cNvSpPr>
            <a:spLocks xmlns:a="http://schemas.openxmlformats.org/drawingml/2006/main" noGrp="1"/>
          </p:cNvSpPr>
          <p:nvPr/>
        </p:nvSpPr>
        <p:spPr>
          <a:xfrm xmlns:a="http://schemas.openxmlformats.org/drawingml/2006/main">
            <a:off x="7498080" y="5943600"/>
            <a:ext cx="4206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skin — the body's largest organ.</a:t>
            </a:r>
            <a:endParaRPr sz="1100"/>
          </a:p>
        </p:txBody>
      </p:sp>
      <p:sp>
        <p:nvSpPr>
          <p:cNvPr id="24" name="Text 20">
            <a:extLst xmlns:a="http://schemas.openxmlformats.org/drawingml/2006/main">
              <a:ext uri="{FF2B5EF4-FFF2-40B4-BE49-F238E27FC236}">
                <a16:creationId xmlns:a16="http://schemas.microsoft.com/office/drawing/2014/main" id="{4D0F9E6E-6C45-4C8C-BB87-27E1F28BC17C}"/>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5 — The Integumentary System</a:t>
            </a:r>
            <a:endParaRPr sz="900"/>
          </a:p>
        </p:txBody>
      </p:sp>
      <p:sp>
        <p:nvSpPr>
          <p:cNvPr id="25" name="Text 21">
            <a:extLst xmlns:a="http://schemas.openxmlformats.org/drawingml/2006/main">
              <a:ext uri="{FF2B5EF4-FFF2-40B4-BE49-F238E27FC236}">
                <a16:creationId xmlns:a16="http://schemas.microsoft.com/office/drawing/2014/main" id="{DF48A933-87CA-4D55-844D-819DD196D373}"/>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2</a:t>
            </a:r>
            <a:endParaRPr sz="900"/>
          </a:p>
        </p:txBody>
      </p:sp>
    </p:spTree>
    <p:extLst>
      <p:ext uri="{BB962C8B-B14F-4D97-AF65-F5344CB8AC3E}">
        <p14:creationId xmlns:p14="http://schemas.microsoft.com/office/powerpoint/2010/main" val="1030161490"/>
      </p:ext>
    </p:extLst>
  </p:cSld>
</p:sld>
</file>

<file path=ppt/slides/slide3.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CFC76FB-3DED-44FF-A0D0-9E628252C65E}"/>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AE91291A-2B6B-469C-8D0B-3E27138DED18}"/>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800" b="1">
                <a:solidFill>
                  <a:srgbClr val="FFFFFF"/>
                </a:solidFill>
                <a:latin typeface="Georgia"/>
                <a:ea typeface="Georgia"/>
                <a:cs typeface="Georgia"/>
              </a:rPr>
              <a:t>5.1</a:t>
            </a:r>
            <a:endParaRPr sz="4800"/>
          </a:p>
        </p:txBody>
      </p:sp>
      <p:sp>
        <p:nvSpPr>
          <p:cNvPr id="4" name="Text 2">
            <a:extLst xmlns:a="http://schemas.openxmlformats.org/drawingml/2006/main">
              <a:ext uri="{FF2B5EF4-FFF2-40B4-BE49-F238E27FC236}">
                <a16:creationId xmlns:a16="http://schemas.microsoft.com/office/drawing/2014/main" id="{7FC3C420-7119-4000-973A-308813767801}"/>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endParaRPr sz="1400"/>
          </a:p>
        </p:txBody>
      </p:sp>
      <p:sp>
        <p:nvSpPr>
          <p:cNvPr id="5" name="Text 3">
            <a:extLst xmlns:a="http://schemas.openxmlformats.org/drawingml/2006/main">
              <a:ext uri="{FF2B5EF4-FFF2-40B4-BE49-F238E27FC236}">
                <a16:creationId xmlns:a16="http://schemas.microsoft.com/office/drawing/2014/main" id="{947A9993-9D87-47C3-986D-9F64DE6ACF5B}"/>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Layers of the Skin</a:t>
            </a:r>
            <a:endParaRPr sz="3000"/>
          </a:p>
        </p:txBody>
      </p:sp>
      <p:sp>
        <p:nvSpPr>
          <p:cNvPr id="6" name="Text 4">
            <a:extLst xmlns:a="http://schemas.openxmlformats.org/drawingml/2006/main">
              <a:ext uri="{FF2B5EF4-FFF2-40B4-BE49-F238E27FC236}">
                <a16:creationId xmlns:a16="http://schemas.microsoft.com/office/drawing/2014/main" id="{1EF59558-589A-414E-82F4-2E0BEFE1D610}"/>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The epidermis, dermis, and hypodermis — the layered structure of the skin.</a:t>
            </a:r>
            <a:endParaRPr sz="1500"/>
          </a:p>
        </p:txBody>
      </p:sp>
    </p:spTree>
    <p:extLst>
      <p:ext uri="{BB962C8B-B14F-4D97-AF65-F5344CB8AC3E}">
        <p14:creationId xmlns:p14="http://schemas.microsoft.com/office/powerpoint/2010/main" val="192579957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74D0CA7-2CC1-4EEE-A40A-90E5E8D2F967}"/>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5.1</a:t>
            </a:r>
            <a:endParaRPr sz="1200"/>
          </a:p>
        </p:txBody>
      </p:sp>
      <p:sp>
        <p:nvSpPr>
          <p:cNvPr id="3" name="Text 1">
            <a:extLst xmlns:a="http://schemas.openxmlformats.org/drawingml/2006/main">
              <a:ext uri="{FF2B5EF4-FFF2-40B4-BE49-F238E27FC236}">
                <a16:creationId xmlns:a16="http://schemas.microsoft.com/office/drawing/2014/main" id="{53D0F416-E601-48EA-AD0D-CD97FC0B537B}"/>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Structure of the Skin</a:t>
            </a:r>
            <a:endParaRPr sz="2800"/>
          </a:p>
        </p:txBody>
      </p:sp>
      <p:sp>
        <p:nvSpPr>
          <p:cNvPr id="4" name="Text 2">
            <a:extLst xmlns:a="http://schemas.openxmlformats.org/drawingml/2006/main">
              <a:ext uri="{FF2B5EF4-FFF2-40B4-BE49-F238E27FC236}">
                <a16:creationId xmlns:a16="http://schemas.microsoft.com/office/drawing/2014/main" id="{05B1FC2B-647C-47FF-B4C2-ED8836B82816}"/>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Three layers: epidermis, dermis, hypodermis</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Epidermis is avascular epithelium</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Dermis holds vessels, nerves, glands</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Hypodermis stores fat and anchors skin</a:t>
            </a:r>
            <a:endParaRPr sz="1500"/>
          </a:p>
        </p:txBody>
      </p:sp>
      <p:sp>
        <p:nvSpPr>
          <p:cNvPr id="5" name="Shape 3">
            <a:extLst xmlns:a="http://schemas.openxmlformats.org/drawingml/2006/main">
              <a:ext uri="{FF2B5EF4-FFF2-40B4-BE49-F238E27FC236}">
                <a16:creationId xmlns:a16="http://schemas.microsoft.com/office/drawing/2014/main" id="{769B40F6-E715-4808-A281-DC646EB2C88B}"/>
              </a:ext>
            </a:extLst>
          </p:cNvPr>
          <p:cNvSpPr>
            <a:spLocks xmlns:a="http://schemas.openxmlformats.org/drawingml/2006/main" noGrp="1"/>
          </p:cNvSpPr>
          <p:nvPr/>
        </p:nvSpPr>
        <p:spPr>
          <a:xfrm xmlns:a="http://schemas.openxmlformats.org/drawingml/2006/main">
            <a:off x="5653123" y="1335024"/>
            <a:ext cx="5884475"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408db68908ef4e8d"/>
          <a:stretch xmlns:a="http://schemas.openxmlformats.org/drawingml/2006/main">
            <a:fillRect l="0" t="0" r="0" b="0"/>
          </a:stretch>
        </p:blipFill>
        <p:spPr>
          <a:xfrm xmlns:a="http://schemas.openxmlformats.org/drawingml/2006/main">
            <a:off x="5735419" y="1417320"/>
            <a:ext cx="5719883"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F71F8CB2-F670-4C66-BB2D-F681E604A7F0}"/>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layers of the skin and underlying tissue</a:t>
            </a:r>
            <a:endParaRPr sz="1100"/>
          </a:p>
        </p:txBody>
      </p:sp>
      <p:sp>
        <p:nvSpPr>
          <p:cNvPr id="9" name="Text 5">
            <a:extLst xmlns:a="http://schemas.openxmlformats.org/drawingml/2006/main">
              <a:ext uri="{FF2B5EF4-FFF2-40B4-BE49-F238E27FC236}">
                <a16:creationId xmlns:a16="http://schemas.microsoft.com/office/drawing/2014/main" id="{6A77008B-4241-41D8-889B-E37084325266}"/>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5 — The Integumentary System</a:t>
            </a:r>
            <a:endParaRPr sz="900"/>
          </a:p>
        </p:txBody>
      </p:sp>
      <p:sp>
        <p:nvSpPr>
          <p:cNvPr id="10" name="Text 6">
            <a:extLst xmlns:a="http://schemas.openxmlformats.org/drawingml/2006/main">
              <a:ext uri="{FF2B5EF4-FFF2-40B4-BE49-F238E27FC236}">
                <a16:creationId xmlns:a16="http://schemas.microsoft.com/office/drawing/2014/main" id="{96DFEA86-1324-4B35-9772-D06FBE7DAD8B}"/>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4</a:t>
            </a:r>
            <a:endParaRPr sz="900"/>
          </a:p>
        </p:txBody>
      </p:sp>
    </p:spTree>
    <p:extLst>
      <p:ext uri="{BB962C8B-B14F-4D97-AF65-F5344CB8AC3E}">
        <p14:creationId xmlns:p14="http://schemas.microsoft.com/office/powerpoint/2010/main" val="129391923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2B0E2E8-353D-4B0F-BC28-3EB26D61A619}"/>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5.1</a:t>
            </a:r>
            <a:endParaRPr sz="1200"/>
          </a:p>
        </p:txBody>
      </p:sp>
      <p:sp>
        <p:nvSpPr>
          <p:cNvPr id="3" name="Text 1">
            <a:extLst xmlns:a="http://schemas.openxmlformats.org/drawingml/2006/main">
              <a:ext uri="{FF2B5EF4-FFF2-40B4-BE49-F238E27FC236}">
                <a16:creationId xmlns:a16="http://schemas.microsoft.com/office/drawing/2014/main" id="{46E955FD-4AA7-4194-BC4D-79D2EEC299CA}"/>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Layers of the Epidermis</a:t>
            </a:r>
            <a:endParaRPr sz="2800"/>
          </a:p>
        </p:txBody>
      </p:sp>
      <p:sp>
        <p:nvSpPr>
          <p:cNvPr id="4" name="Text 2">
            <a:extLst xmlns:a="http://schemas.openxmlformats.org/drawingml/2006/main">
              <a:ext uri="{FF2B5EF4-FFF2-40B4-BE49-F238E27FC236}">
                <a16:creationId xmlns:a16="http://schemas.microsoft.com/office/drawing/2014/main" id="{767C240F-0141-4F6E-A8F2-5F3C6DEF5990}"/>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Up to five layers in thick skin</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Stratum basale up to stratum corneum</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Keratinocytes fill with keratin and shed</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Melanocytes and immune cells reside here</a:t>
            </a:r>
            <a:endParaRPr sz="1500"/>
          </a:p>
        </p:txBody>
      </p:sp>
      <p:sp>
        <p:nvSpPr>
          <p:cNvPr id="5" name="Shape 3">
            <a:extLst xmlns:a="http://schemas.openxmlformats.org/drawingml/2006/main">
              <a:ext uri="{FF2B5EF4-FFF2-40B4-BE49-F238E27FC236}">
                <a16:creationId xmlns:a16="http://schemas.microsoft.com/office/drawing/2014/main" id="{C14F7EB5-9231-4DF2-BCF3-D969B9293DF4}"/>
              </a:ext>
            </a:extLst>
          </p:cNvPr>
          <p:cNvSpPr>
            <a:spLocks xmlns:a="http://schemas.openxmlformats.org/drawingml/2006/main" noGrp="1"/>
          </p:cNvSpPr>
          <p:nvPr/>
        </p:nvSpPr>
        <p:spPr>
          <a:xfrm xmlns:a="http://schemas.openxmlformats.org/drawingml/2006/main">
            <a:off x="5680006" y="1335024"/>
            <a:ext cx="5830708"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a5e24cc7132b42f7"/>
          <a:stretch xmlns:a="http://schemas.openxmlformats.org/drawingml/2006/main">
            <a:fillRect l="0" t="0" r="0" b="0"/>
          </a:stretch>
        </p:blipFill>
        <p:spPr>
          <a:xfrm xmlns:a="http://schemas.openxmlformats.org/drawingml/2006/main">
            <a:off x="5762302" y="1417320"/>
            <a:ext cx="5666116"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4C04616D-6F8C-45ED-A9FD-589B4F76B990}"/>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strata of the epidermis</a:t>
            </a:r>
            <a:endParaRPr sz="1100"/>
          </a:p>
        </p:txBody>
      </p:sp>
      <p:sp>
        <p:nvSpPr>
          <p:cNvPr id="9" name="Text 5">
            <a:extLst xmlns:a="http://schemas.openxmlformats.org/drawingml/2006/main">
              <a:ext uri="{FF2B5EF4-FFF2-40B4-BE49-F238E27FC236}">
                <a16:creationId xmlns:a16="http://schemas.microsoft.com/office/drawing/2014/main" id="{2126314E-0BA8-44E3-84DB-A195FC984061}"/>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5 — The Integumentary System</a:t>
            </a:r>
            <a:endParaRPr sz="900"/>
          </a:p>
        </p:txBody>
      </p:sp>
      <p:sp>
        <p:nvSpPr>
          <p:cNvPr id="10" name="Text 6">
            <a:extLst xmlns:a="http://schemas.openxmlformats.org/drawingml/2006/main">
              <a:ext uri="{FF2B5EF4-FFF2-40B4-BE49-F238E27FC236}">
                <a16:creationId xmlns:a16="http://schemas.microsoft.com/office/drawing/2014/main" id="{46A1BE5B-1527-4029-BC42-A9DED75F8F15}"/>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5</a:t>
            </a:r>
            <a:endParaRPr sz="900"/>
          </a:p>
        </p:txBody>
      </p:sp>
    </p:spTree>
    <p:extLst>
      <p:ext uri="{BB962C8B-B14F-4D97-AF65-F5344CB8AC3E}">
        <p14:creationId xmlns:p14="http://schemas.microsoft.com/office/powerpoint/2010/main" val="25755196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2FD2165-50AC-4665-8763-13877CA81C3F}"/>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5.1</a:t>
            </a:r>
            <a:endParaRPr sz="1200"/>
          </a:p>
        </p:txBody>
      </p:sp>
      <p:sp>
        <p:nvSpPr>
          <p:cNvPr id="3" name="Text 1">
            <a:extLst xmlns:a="http://schemas.openxmlformats.org/drawingml/2006/main">
              <a:ext uri="{FF2B5EF4-FFF2-40B4-BE49-F238E27FC236}">
                <a16:creationId xmlns:a16="http://schemas.microsoft.com/office/drawing/2014/main" id="{E13311D5-76B8-4F28-9AC1-035C3721DCD0}"/>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Skin Pigmentation</a:t>
            </a:r>
            <a:endParaRPr sz="2800"/>
          </a:p>
        </p:txBody>
      </p:sp>
      <p:sp>
        <p:nvSpPr>
          <p:cNvPr id="4" name="Text 2">
            <a:extLst xmlns:a="http://schemas.openxmlformats.org/drawingml/2006/main">
              <a:ext uri="{FF2B5EF4-FFF2-40B4-BE49-F238E27FC236}">
                <a16:creationId xmlns:a16="http://schemas.microsoft.com/office/drawing/2014/main" id="{42C96508-01E8-43FA-84C1-3ACC48DF7022}"/>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Melanin determines skin color</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Made by melanocytes in the basale</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Protects DNA from UV damage</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Everyone has similar melanocyte numbers</a:t>
            </a:r>
            <a:endParaRPr sz="1500"/>
          </a:p>
        </p:txBody>
      </p:sp>
      <p:sp>
        <p:nvSpPr>
          <p:cNvPr id="5" name="Shape 3">
            <a:extLst xmlns:a="http://schemas.openxmlformats.org/drawingml/2006/main">
              <a:ext uri="{FF2B5EF4-FFF2-40B4-BE49-F238E27FC236}">
                <a16:creationId xmlns:a16="http://schemas.microsoft.com/office/drawing/2014/main" id="{5868472E-1755-4EC6-9D1C-204714BEF780}"/>
              </a:ext>
            </a:extLst>
          </p:cNvPr>
          <p:cNvSpPr>
            <a:spLocks xmlns:a="http://schemas.openxmlformats.org/drawingml/2006/main" noGrp="1"/>
          </p:cNvSpPr>
          <p:nvPr/>
        </p:nvSpPr>
        <p:spPr>
          <a:xfrm xmlns:a="http://schemas.openxmlformats.org/drawingml/2006/main">
            <a:off x="5673957" y="1335024"/>
            <a:ext cx="5842806"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60560c90f2bf4214"/>
          <a:stretch xmlns:a="http://schemas.openxmlformats.org/drawingml/2006/main">
            <a:fillRect l="0" t="0" r="0" b="0"/>
          </a:stretch>
        </p:blipFill>
        <p:spPr>
          <a:xfrm xmlns:a="http://schemas.openxmlformats.org/drawingml/2006/main">
            <a:off x="5756253" y="1417320"/>
            <a:ext cx="5678214"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FF492B87-9541-40C6-9BC8-8840CF5E4B1C}"/>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Melanin production and skin color</a:t>
            </a:r>
            <a:endParaRPr sz="1100"/>
          </a:p>
        </p:txBody>
      </p:sp>
      <p:sp>
        <p:nvSpPr>
          <p:cNvPr id="9" name="Text 5">
            <a:extLst xmlns:a="http://schemas.openxmlformats.org/drawingml/2006/main">
              <a:ext uri="{FF2B5EF4-FFF2-40B4-BE49-F238E27FC236}">
                <a16:creationId xmlns:a16="http://schemas.microsoft.com/office/drawing/2014/main" id="{5C6C6B56-E0B7-46AD-945D-A4FA3A1D33FB}"/>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5 — The Integumentary System</a:t>
            </a:r>
            <a:endParaRPr sz="900"/>
          </a:p>
        </p:txBody>
      </p:sp>
      <p:sp>
        <p:nvSpPr>
          <p:cNvPr id="10" name="Text 6">
            <a:extLst xmlns:a="http://schemas.openxmlformats.org/drawingml/2006/main">
              <a:ext uri="{FF2B5EF4-FFF2-40B4-BE49-F238E27FC236}">
                <a16:creationId xmlns:a16="http://schemas.microsoft.com/office/drawing/2014/main" id="{65849D79-CAF1-468A-8BED-032B14DF3331}"/>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6</a:t>
            </a:r>
            <a:endParaRPr sz="900"/>
          </a:p>
        </p:txBody>
      </p:sp>
    </p:spTree>
    <p:extLst>
      <p:ext uri="{BB962C8B-B14F-4D97-AF65-F5344CB8AC3E}">
        <p14:creationId xmlns:p14="http://schemas.microsoft.com/office/powerpoint/2010/main" val="365688238"/>
      </p:ext>
    </p:extLst>
  </p:cSld>
</p:sld>
</file>

<file path=ppt/slides/slide7.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7D9289E-9F01-4A3E-ADFF-7867932B3B01}"/>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FF66E385-A25D-4BFD-9062-5BB36923244F}"/>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800" b="1">
                <a:solidFill>
                  <a:srgbClr val="FFFFFF"/>
                </a:solidFill>
                <a:latin typeface="Georgia"/>
                <a:ea typeface="Georgia"/>
                <a:cs typeface="Georgia"/>
              </a:rPr>
              <a:t>5.2</a:t>
            </a:r>
            <a:endParaRPr sz="4800"/>
          </a:p>
        </p:txBody>
      </p:sp>
      <p:sp>
        <p:nvSpPr>
          <p:cNvPr id="4" name="Text 2">
            <a:extLst xmlns:a="http://schemas.openxmlformats.org/drawingml/2006/main">
              <a:ext uri="{FF2B5EF4-FFF2-40B4-BE49-F238E27FC236}">
                <a16:creationId xmlns:a16="http://schemas.microsoft.com/office/drawing/2014/main" id="{766BFC7C-7F46-43BE-951D-01D5C318C7FA}"/>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endParaRPr sz="1400"/>
          </a:p>
        </p:txBody>
      </p:sp>
      <p:sp>
        <p:nvSpPr>
          <p:cNvPr id="5" name="Text 3">
            <a:extLst xmlns:a="http://schemas.openxmlformats.org/drawingml/2006/main">
              <a:ext uri="{FF2B5EF4-FFF2-40B4-BE49-F238E27FC236}">
                <a16:creationId xmlns:a16="http://schemas.microsoft.com/office/drawing/2014/main" id="{B34053FE-2058-430B-A967-257276418F73}"/>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Accessory Structures of the Skin</a:t>
            </a:r>
            <a:endParaRPr sz="3000"/>
          </a:p>
        </p:txBody>
      </p:sp>
      <p:sp>
        <p:nvSpPr>
          <p:cNvPr id="6" name="Text 4">
            <a:extLst xmlns:a="http://schemas.openxmlformats.org/drawingml/2006/main">
              <a:ext uri="{FF2B5EF4-FFF2-40B4-BE49-F238E27FC236}">
                <a16:creationId xmlns:a16="http://schemas.microsoft.com/office/drawing/2014/main" id="{83B2AFAE-BCA1-4084-B5A7-CFAD1B256C1C}"/>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Hair, nails, and glands — the structures that arise from the skin.</a:t>
            </a:r>
            <a:endParaRPr sz="1500"/>
          </a:p>
        </p:txBody>
      </p:sp>
    </p:spTree>
    <p:extLst>
      <p:ext uri="{BB962C8B-B14F-4D97-AF65-F5344CB8AC3E}">
        <p14:creationId xmlns:p14="http://schemas.microsoft.com/office/powerpoint/2010/main" val="106538528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2075560-1DBD-4F0A-9757-449E1814C92E}"/>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5.2</a:t>
            </a:r>
            <a:endParaRPr sz="1200"/>
          </a:p>
        </p:txBody>
      </p:sp>
      <p:sp>
        <p:nvSpPr>
          <p:cNvPr id="3" name="Text 1">
            <a:extLst xmlns:a="http://schemas.openxmlformats.org/drawingml/2006/main">
              <a:ext uri="{FF2B5EF4-FFF2-40B4-BE49-F238E27FC236}">
                <a16:creationId xmlns:a16="http://schemas.microsoft.com/office/drawing/2014/main" id="{F57CBF41-4EB7-41B6-BEC2-0EF4FFC585AF}"/>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Hair and the Hair Follicle</a:t>
            </a:r>
            <a:endParaRPr sz="2800"/>
          </a:p>
        </p:txBody>
      </p:sp>
      <p:sp>
        <p:nvSpPr>
          <p:cNvPr id="4" name="Shape 2">
            <a:extLst xmlns:a="http://schemas.openxmlformats.org/drawingml/2006/main">
              <a:ext uri="{FF2B5EF4-FFF2-40B4-BE49-F238E27FC236}">
                <a16:creationId xmlns:a16="http://schemas.microsoft.com/office/drawing/2014/main" id="{2A3CCBB8-60FD-42A4-97C8-939CE3CF51A0}"/>
              </a:ext>
            </a:extLst>
          </p:cNvPr>
          <p:cNvSpPr>
            <a:spLocks xmlns:a="http://schemas.openxmlformats.org/drawingml/2006/main" noGrp="1"/>
          </p:cNvSpPr>
          <p:nvPr/>
        </p:nvSpPr>
        <p:spPr>
          <a:xfrm xmlns:a="http://schemas.openxmlformats.org/drawingml/2006/main">
            <a:off x="695401" y="1289304"/>
            <a:ext cx="3912718" cy="4736592"/>
          </a:xfrm>
          <a:prstGeom xmlns:a="http://schemas.openxmlformats.org/drawingml/2006/main" prst="roundRect">
            <a:avLst>
              <a:gd name="adj" fmla="val 1402"/>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0042bd44f14f44c9"/>
          <a:stretch xmlns:a="http://schemas.openxmlformats.org/drawingml/2006/main">
            <a:fillRect l="0" t="0" r="0" b="0"/>
          </a:stretch>
        </p:blipFill>
        <p:spPr>
          <a:xfrm xmlns:a="http://schemas.openxmlformats.org/drawingml/2006/main">
            <a:off x="777697" y="1371600"/>
            <a:ext cx="3748126"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44AB2590-2FF3-4F9D-8745-3D401BF78711}"/>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Structure of a hair and its follicle</a:t>
            </a:r>
            <a:endParaRPr sz="1100"/>
          </a:p>
        </p:txBody>
      </p:sp>
      <p:sp>
        <p:nvSpPr>
          <p:cNvPr id="7" name="Text 4">
            <a:extLst xmlns:a="http://schemas.openxmlformats.org/drawingml/2006/main">
              <a:ext uri="{FF2B5EF4-FFF2-40B4-BE49-F238E27FC236}">
                <a16:creationId xmlns:a16="http://schemas.microsoft.com/office/drawing/2014/main" id="{18D65AF1-CA19-4C7E-B25C-90BEEE30A888}"/>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Hair grows from follicles in the dermis</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Shaft is visible; root is embedded</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Arrector pili muscle causes goosebumps</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Provides protection and sensation</a:t>
            </a:r>
            <a:endParaRPr sz="1600"/>
          </a:p>
        </p:txBody>
      </p:sp>
      <p:sp>
        <p:nvSpPr>
          <p:cNvPr id="9" name="Text 5">
            <a:extLst xmlns:a="http://schemas.openxmlformats.org/drawingml/2006/main">
              <a:ext uri="{FF2B5EF4-FFF2-40B4-BE49-F238E27FC236}">
                <a16:creationId xmlns:a16="http://schemas.microsoft.com/office/drawing/2014/main" id="{8C8EEF60-B60E-4D3F-999E-56619BABC4A2}"/>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5 — The Integumentary System</a:t>
            </a:r>
            <a:endParaRPr sz="900"/>
          </a:p>
        </p:txBody>
      </p:sp>
      <p:sp>
        <p:nvSpPr>
          <p:cNvPr id="10" name="Text 6">
            <a:extLst xmlns:a="http://schemas.openxmlformats.org/drawingml/2006/main">
              <a:ext uri="{FF2B5EF4-FFF2-40B4-BE49-F238E27FC236}">
                <a16:creationId xmlns:a16="http://schemas.microsoft.com/office/drawing/2014/main" id="{E30016DD-32DA-439C-ADC2-3A695BBA9561}"/>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8</a:t>
            </a:r>
            <a:endParaRPr sz="900"/>
          </a:p>
        </p:txBody>
      </p:sp>
    </p:spTree>
    <p:extLst>
      <p:ext uri="{BB962C8B-B14F-4D97-AF65-F5344CB8AC3E}">
        <p14:creationId xmlns:p14="http://schemas.microsoft.com/office/powerpoint/2010/main" val="178976064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10B67D3-B712-4158-8630-318012ED18D6}"/>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5.2</a:t>
            </a:r>
            <a:endParaRPr sz="1200"/>
          </a:p>
        </p:txBody>
      </p:sp>
      <p:sp>
        <p:nvSpPr>
          <p:cNvPr id="3" name="Text 1">
            <a:extLst xmlns:a="http://schemas.openxmlformats.org/drawingml/2006/main">
              <a:ext uri="{FF2B5EF4-FFF2-40B4-BE49-F238E27FC236}">
                <a16:creationId xmlns:a16="http://schemas.microsoft.com/office/drawing/2014/main" id="{914A8BC7-5BB8-4425-9D36-FE84987B6246}"/>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Nails</a:t>
            </a:r>
            <a:endParaRPr sz="2800"/>
          </a:p>
        </p:txBody>
      </p:sp>
      <p:sp>
        <p:nvSpPr>
          <p:cNvPr id="4" name="Shape 2">
            <a:extLst xmlns:a="http://schemas.openxmlformats.org/drawingml/2006/main">
              <a:ext uri="{FF2B5EF4-FFF2-40B4-BE49-F238E27FC236}">
                <a16:creationId xmlns:a16="http://schemas.microsoft.com/office/drawing/2014/main" id="{13655976-C825-441C-B228-97A31C8D7B95}"/>
              </a:ext>
            </a:extLst>
          </p:cNvPr>
          <p:cNvSpPr>
            <a:spLocks xmlns:a="http://schemas.openxmlformats.org/drawingml/2006/main" noGrp="1"/>
          </p:cNvSpPr>
          <p:nvPr/>
        </p:nvSpPr>
        <p:spPr>
          <a:xfrm xmlns:a="http://schemas.openxmlformats.org/drawingml/2006/main">
            <a:off x="1086650" y="1289304"/>
            <a:ext cx="10033940"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46ac873173e34cf7"/>
          <a:stretch xmlns:a="http://schemas.openxmlformats.org/drawingml/2006/main">
            <a:fillRect l="0" t="0" r="0" b="0"/>
          </a:stretch>
        </p:blipFill>
        <p:spPr>
          <a:xfrm xmlns:a="http://schemas.openxmlformats.org/drawingml/2006/main">
            <a:off x="1168946" y="1371600"/>
            <a:ext cx="9869348"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A1990A70-8AC0-499A-A5D9-D6325BBD4304}"/>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Structure of a nail</a:t>
            </a:r>
            <a:endParaRPr sz="1100"/>
          </a:p>
        </p:txBody>
      </p:sp>
      <p:sp>
        <p:nvSpPr>
          <p:cNvPr id="7" name="Text 4">
            <a:extLst xmlns:a="http://schemas.openxmlformats.org/drawingml/2006/main">
              <a:ext uri="{FF2B5EF4-FFF2-40B4-BE49-F238E27FC236}">
                <a16:creationId xmlns:a16="http://schemas.microsoft.com/office/drawing/2014/main" id="{94C11BD3-E1DA-477A-8DDA-6F765FEBF23B}"/>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Keratinized plates over the digits</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Protect fingertips and toes</a:t>
            </a:r>
            <a:endParaRPr sz="1300"/>
          </a:p>
        </p:txBody>
      </p:sp>
      <p:sp>
        <p:nvSpPr>
          <p:cNvPr id="8" name="Text 5">
            <a:extLst xmlns:a="http://schemas.openxmlformats.org/drawingml/2006/main">
              <a:ext uri="{FF2B5EF4-FFF2-40B4-BE49-F238E27FC236}">
                <a16:creationId xmlns:a16="http://schemas.microsoft.com/office/drawing/2014/main" id="{A333C4A4-CA22-46BC-BB7A-67FF85D999C1}"/>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Nail bed, lunula, and cuticle</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Useful in clinical assessment</a:t>
            </a:r>
            <a:endParaRPr sz="1300"/>
          </a:p>
        </p:txBody>
      </p:sp>
      <p:sp>
        <p:nvSpPr>
          <p:cNvPr id="10" name="Text 6">
            <a:extLst xmlns:a="http://schemas.openxmlformats.org/drawingml/2006/main">
              <a:ext uri="{FF2B5EF4-FFF2-40B4-BE49-F238E27FC236}">
                <a16:creationId xmlns:a16="http://schemas.microsoft.com/office/drawing/2014/main" id="{9F3B50EC-E667-44E6-82A7-454A878BC690}"/>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5 — The Integumentary System</a:t>
            </a:r>
            <a:endParaRPr sz="900"/>
          </a:p>
        </p:txBody>
      </p:sp>
      <p:sp>
        <p:nvSpPr>
          <p:cNvPr id="11" name="Text 7">
            <a:extLst xmlns:a="http://schemas.openxmlformats.org/drawingml/2006/main">
              <a:ext uri="{FF2B5EF4-FFF2-40B4-BE49-F238E27FC236}">
                <a16:creationId xmlns:a16="http://schemas.microsoft.com/office/drawing/2014/main" id="{BBFBD0A9-128F-47C2-9061-26B00B8F1963}"/>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9</a:t>
            </a:r>
            <a:endParaRPr sz="900"/>
          </a:p>
        </p:txBody>
      </p:sp>
    </p:spTree>
    <p:extLst>
      <p:ext uri="{BB962C8B-B14F-4D97-AF65-F5344CB8AC3E}">
        <p14:creationId xmlns:p14="http://schemas.microsoft.com/office/powerpoint/2010/main" val="16585592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2822C0F-B49C-4350-843D-F78FEBB20A87}"/>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5.2</a:t>
            </a:r>
            <a:endParaRPr sz="1200"/>
          </a:p>
        </p:txBody>
      </p:sp>
      <p:sp>
        <p:nvSpPr>
          <p:cNvPr id="3" name="Text 1">
            <a:extLst xmlns:a="http://schemas.openxmlformats.org/drawingml/2006/main">
              <a:ext uri="{FF2B5EF4-FFF2-40B4-BE49-F238E27FC236}">
                <a16:creationId xmlns:a16="http://schemas.microsoft.com/office/drawing/2014/main" id="{B7394923-1354-41E5-AFDD-05CCBE4768FF}"/>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Glands of the Skin</a:t>
            </a:r>
            <a:endParaRPr sz="2800"/>
          </a:p>
        </p:txBody>
      </p:sp>
      <p:sp>
        <p:nvSpPr>
          <p:cNvPr id="4" name="Text 2">
            <a:extLst xmlns:a="http://schemas.openxmlformats.org/drawingml/2006/main">
              <a:ext uri="{FF2B5EF4-FFF2-40B4-BE49-F238E27FC236}">
                <a16:creationId xmlns:a16="http://schemas.microsoft.com/office/drawing/2014/main" id="{7F685948-4CE0-450A-8564-72818C3BC5A9}"/>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Eccrine sweat glands cool the body</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Sweat evaporates to lose heat</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Sebaceous glands secrete oily sebum</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Sebum lubricates skin and hair</a:t>
            </a:r>
            <a:endParaRPr sz="1500"/>
          </a:p>
        </p:txBody>
      </p:sp>
      <p:sp>
        <p:nvSpPr>
          <p:cNvPr id="5" name="Shape 3">
            <a:extLst xmlns:a="http://schemas.openxmlformats.org/drawingml/2006/main">
              <a:ext uri="{FF2B5EF4-FFF2-40B4-BE49-F238E27FC236}">
                <a16:creationId xmlns:a16="http://schemas.microsoft.com/office/drawing/2014/main" id="{FA1F1A94-19E8-480F-A21B-AE30144CB090}"/>
              </a:ext>
            </a:extLst>
          </p:cNvPr>
          <p:cNvSpPr>
            <a:spLocks xmlns:a="http://schemas.openxmlformats.org/drawingml/2006/main" noGrp="1"/>
          </p:cNvSpPr>
          <p:nvPr/>
        </p:nvSpPr>
        <p:spPr>
          <a:xfrm xmlns:a="http://schemas.openxmlformats.org/drawingml/2006/main">
            <a:off x="6186309" y="1335024"/>
            <a:ext cx="4818102"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84afc7f798b84d66"/>
          <a:stretch xmlns:a="http://schemas.openxmlformats.org/drawingml/2006/main">
            <a:fillRect l="0" t="0" r="0" b="0"/>
          </a:stretch>
        </p:blipFill>
        <p:spPr>
          <a:xfrm xmlns:a="http://schemas.openxmlformats.org/drawingml/2006/main">
            <a:off x="6268605" y="1417320"/>
            <a:ext cx="4653510"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06124283-FB33-448A-BC13-A4C28A19B5CA}"/>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Sweat and sebaceous glands of the skin</a:t>
            </a:r>
            <a:endParaRPr sz="1100"/>
          </a:p>
        </p:txBody>
      </p:sp>
      <p:sp>
        <p:nvSpPr>
          <p:cNvPr id="9" name="Text 5">
            <a:extLst xmlns:a="http://schemas.openxmlformats.org/drawingml/2006/main">
              <a:ext uri="{FF2B5EF4-FFF2-40B4-BE49-F238E27FC236}">
                <a16:creationId xmlns:a16="http://schemas.microsoft.com/office/drawing/2014/main" id="{F23B4A39-FA9E-4FE7-A2A3-57AC882ED40D}"/>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5 — The Integumentary System</a:t>
            </a:r>
            <a:endParaRPr sz="900"/>
          </a:p>
        </p:txBody>
      </p:sp>
      <p:sp>
        <p:nvSpPr>
          <p:cNvPr id="10" name="Text 6">
            <a:extLst xmlns:a="http://schemas.openxmlformats.org/drawingml/2006/main">
              <a:ext uri="{FF2B5EF4-FFF2-40B4-BE49-F238E27FC236}">
                <a16:creationId xmlns:a16="http://schemas.microsoft.com/office/drawing/2014/main" id="{6F7801D8-DFC7-40C6-A5A3-F1BB660D46FE}"/>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10</a:t>
            </a:r>
            <a:endParaRPr sz="900"/>
          </a:p>
        </p:txBody>
      </p:sp>
    </p:spTree>
    <p:extLst>
      <p:ext uri="{BB962C8B-B14F-4D97-AF65-F5344CB8AC3E}">
        <p14:creationId xmlns:p14="http://schemas.microsoft.com/office/powerpoint/2010/main" val="1833390107"/>
      </p:ext>
    </p:extLst>
  </p:cSld>
</p:sld>
</file>

<file path=ppt/slides/slide11.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4F4C4C1-1DE4-46A7-B98B-8D99B8F51348}"/>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E8A7F0B6-574B-4434-AF6D-1B388EA98331}"/>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800" b="1">
                <a:solidFill>
                  <a:srgbClr val="FFFFFF"/>
                </a:solidFill>
                <a:latin typeface="Georgia"/>
                <a:ea typeface="Georgia"/>
                <a:cs typeface="Georgia"/>
              </a:rPr>
              <a:t>5.3</a:t>
            </a:r>
            <a:endParaRPr sz="4800"/>
          </a:p>
        </p:txBody>
      </p:sp>
      <p:sp>
        <p:nvSpPr>
          <p:cNvPr id="4" name="Text 2">
            <a:extLst xmlns:a="http://schemas.openxmlformats.org/drawingml/2006/main">
              <a:ext uri="{FF2B5EF4-FFF2-40B4-BE49-F238E27FC236}">
                <a16:creationId xmlns:a16="http://schemas.microsoft.com/office/drawing/2014/main" id="{EB1EAD24-CCC9-4B32-AF93-217069CC9639}"/>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endParaRPr sz="1400"/>
          </a:p>
        </p:txBody>
      </p:sp>
      <p:sp>
        <p:nvSpPr>
          <p:cNvPr id="5" name="Text 3">
            <a:extLst xmlns:a="http://schemas.openxmlformats.org/drawingml/2006/main">
              <a:ext uri="{FF2B5EF4-FFF2-40B4-BE49-F238E27FC236}">
                <a16:creationId xmlns:a16="http://schemas.microsoft.com/office/drawing/2014/main" id="{A8535FB1-5D73-401D-9C78-69BBDFFACEF2}"/>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Functions of the Integumentary System</a:t>
            </a:r>
            <a:endParaRPr sz="3000"/>
          </a:p>
        </p:txBody>
      </p:sp>
      <p:sp>
        <p:nvSpPr>
          <p:cNvPr id="6" name="Text 4">
            <a:extLst xmlns:a="http://schemas.openxmlformats.org/drawingml/2006/main">
              <a:ext uri="{FF2B5EF4-FFF2-40B4-BE49-F238E27FC236}">
                <a16:creationId xmlns:a16="http://schemas.microsoft.com/office/drawing/2014/main" id="{DF5B75E8-C620-41A9-964C-030F2068CBFB}"/>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Protection, sensation, thermoregulation, and vitamin D — what the skin does.</a:t>
            </a:r>
            <a:endParaRPr sz="1500"/>
          </a:p>
        </p:txBody>
      </p:sp>
    </p:spTree>
    <p:extLst>
      <p:ext uri="{BB962C8B-B14F-4D97-AF65-F5344CB8AC3E}">
        <p14:creationId xmlns:p14="http://schemas.microsoft.com/office/powerpoint/2010/main" val="75917096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1F0B471-C708-48BF-ACE8-400332FD7AAC}"/>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5.3</a:t>
            </a:r>
            <a:endParaRPr sz="1200"/>
          </a:p>
        </p:txBody>
      </p:sp>
      <p:sp>
        <p:nvSpPr>
          <p:cNvPr id="3" name="Text 1">
            <a:extLst xmlns:a="http://schemas.openxmlformats.org/drawingml/2006/main">
              <a:ext uri="{FF2B5EF4-FFF2-40B4-BE49-F238E27FC236}">
                <a16:creationId xmlns:a16="http://schemas.microsoft.com/office/drawing/2014/main" id="{2012E53A-F367-4E2A-B359-8B1C9AB89C73}"/>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Thermoregulation</a:t>
            </a:r>
            <a:endParaRPr sz="2800"/>
          </a:p>
        </p:txBody>
      </p:sp>
      <p:sp>
        <p:nvSpPr>
          <p:cNvPr id="4" name="Shape 2">
            <a:extLst xmlns:a="http://schemas.openxmlformats.org/drawingml/2006/main">
              <a:ext uri="{FF2B5EF4-FFF2-40B4-BE49-F238E27FC236}">
                <a16:creationId xmlns:a16="http://schemas.microsoft.com/office/drawing/2014/main" id="{359CB05F-22A7-4985-AB79-C4A91FA99E91}"/>
              </a:ext>
            </a:extLst>
          </p:cNvPr>
          <p:cNvSpPr>
            <a:spLocks xmlns:a="http://schemas.openxmlformats.org/drawingml/2006/main" noGrp="1"/>
          </p:cNvSpPr>
          <p:nvPr/>
        </p:nvSpPr>
        <p:spPr>
          <a:xfrm xmlns:a="http://schemas.openxmlformats.org/drawingml/2006/main">
            <a:off x="1989602" y="1289304"/>
            <a:ext cx="8228036"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af310b3aaa16440c"/>
          <a:stretch xmlns:a="http://schemas.openxmlformats.org/drawingml/2006/main">
            <a:fillRect l="0" t="0" r="0" b="0"/>
          </a:stretch>
        </p:blipFill>
        <p:spPr>
          <a:xfrm xmlns:a="http://schemas.openxmlformats.org/drawingml/2006/main">
            <a:off x="2071898" y="1371600"/>
            <a:ext cx="8063444"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E6962ADE-1EE3-4909-8446-0E87EF69EADE}"/>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skin's role in thermoregulation</a:t>
            </a:r>
            <a:endParaRPr sz="1100"/>
          </a:p>
        </p:txBody>
      </p:sp>
      <p:sp>
        <p:nvSpPr>
          <p:cNvPr id="7" name="Text 4">
            <a:extLst xmlns:a="http://schemas.openxmlformats.org/drawingml/2006/main">
              <a:ext uri="{FF2B5EF4-FFF2-40B4-BE49-F238E27FC236}">
                <a16:creationId xmlns:a16="http://schemas.microsoft.com/office/drawing/2014/main" id="{C27343E5-79EF-44FF-95B1-905355479BAB}"/>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The skin helps control body temperature</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Sweating and evaporation cool the body</a:t>
            </a:r>
            <a:endParaRPr sz="1300"/>
          </a:p>
        </p:txBody>
      </p:sp>
      <p:sp>
        <p:nvSpPr>
          <p:cNvPr id="8" name="Text 5">
            <a:extLst xmlns:a="http://schemas.openxmlformats.org/drawingml/2006/main">
              <a:ext uri="{FF2B5EF4-FFF2-40B4-BE49-F238E27FC236}">
                <a16:creationId xmlns:a16="http://schemas.microsoft.com/office/drawing/2014/main" id="{5DB999FD-1417-49BE-B207-056589BE5DBC}"/>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Vasodilation releases heat</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Vasoconstriction conserves heat</a:t>
            </a:r>
            <a:endParaRPr sz="1300"/>
          </a:p>
        </p:txBody>
      </p:sp>
      <p:sp>
        <p:nvSpPr>
          <p:cNvPr id="10" name="Text 6">
            <a:extLst xmlns:a="http://schemas.openxmlformats.org/drawingml/2006/main">
              <a:ext uri="{FF2B5EF4-FFF2-40B4-BE49-F238E27FC236}">
                <a16:creationId xmlns:a16="http://schemas.microsoft.com/office/drawing/2014/main" id="{ABF086D4-1B1E-4726-9BAF-6A391F59714E}"/>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5 — The Integumentary System</a:t>
            </a:r>
            <a:endParaRPr sz="900"/>
          </a:p>
        </p:txBody>
      </p:sp>
      <p:sp>
        <p:nvSpPr>
          <p:cNvPr id="11" name="Text 7">
            <a:extLst xmlns:a="http://schemas.openxmlformats.org/drawingml/2006/main">
              <a:ext uri="{FF2B5EF4-FFF2-40B4-BE49-F238E27FC236}">
                <a16:creationId xmlns:a16="http://schemas.microsoft.com/office/drawing/2014/main" id="{45377266-A901-40EF-973E-690E95CAA9F3}"/>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12</a:t>
            </a:r>
            <a:endParaRPr sz="900"/>
          </a:p>
        </p:txBody>
      </p:sp>
    </p:spTree>
    <p:extLst>
      <p:ext uri="{BB962C8B-B14F-4D97-AF65-F5344CB8AC3E}">
        <p14:creationId xmlns:p14="http://schemas.microsoft.com/office/powerpoint/2010/main" val="1670972998"/>
      </p:ext>
    </p:extLst>
  </p:cSld>
</p:sld>
</file>

<file path=ppt/slides/slide13.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3B92471-98F5-4C52-AB2A-BE774B6F4131}"/>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63AC82E9-B9CA-4376-823F-C9BD8C4C8AA8}"/>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800" b="1">
                <a:solidFill>
                  <a:srgbClr val="FFFFFF"/>
                </a:solidFill>
                <a:latin typeface="Georgia"/>
                <a:ea typeface="Georgia"/>
                <a:cs typeface="Georgia"/>
              </a:rPr>
              <a:t>5.4</a:t>
            </a:r>
            <a:endParaRPr sz="4800"/>
          </a:p>
        </p:txBody>
      </p:sp>
      <p:sp>
        <p:nvSpPr>
          <p:cNvPr id="4" name="Text 2">
            <a:extLst xmlns:a="http://schemas.openxmlformats.org/drawingml/2006/main">
              <a:ext uri="{FF2B5EF4-FFF2-40B4-BE49-F238E27FC236}">
                <a16:creationId xmlns:a16="http://schemas.microsoft.com/office/drawing/2014/main" id="{47C05A21-36F2-4CF9-B811-3E2E224CBF7C}"/>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endParaRPr sz="1400"/>
          </a:p>
        </p:txBody>
      </p:sp>
      <p:sp>
        <p:nvSpPr>
          <p:cNvPr id="5" name="Text 3">
            <a:extLst xmlns:a="http://schemas.openxmlformats.org/drawingml/2006/main">
              <a:ext uri="{FF2B5EF4-FFF2-40B4-BE49-F238E27FC236}">
                <a16:creationId xmlns:a16="http://schemas.microsoft.com/office/drawing/2014/main" id="{DA2C830C-DD18-4A13-A782-B5661AC1837D}"/>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Diseases, Disorders, and Injuries of the Integumentary System</a:t>
            </a:r>
            <a:endParaRPr sz="3000"/>
          </a:p>
        </p:txBody>
      </p:sp>
      <p:sp>
        <p:nvSpPr>
          <p:cNvPr id="6" name="Text 4">
            <a:extLst xmlns:a="http://schemas.openxmlformats.org/drawingml/2006/main">
              <a:ext uri="{FF2B5EF4-FFF2-40B4-BE49-F238E27FC236}">
                <a16:creationId xmlns:a16="http://schemas.microsoft.com/office/drawing/2014/main" id="{235CD89F-2823-474C-812F-429E4E0746D9}"/>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Burns, skin cancer, acne, and other disorders of the skin.</a:t>
            </a:r>
            <a:endParaRPr sz="1500"/>
          </a:p>
        </p:txBody>
      </p:sp>
    </p:spTree>
    <p:extLst>
      <p:ext uri="{BB962C8B-B14F-4D97-AF65-F5344CB8AC3E}">
        <p14:creationId xmlns:p14="http://schemas.microsoft.com/office/powerpoint/2010/main" val="89499058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E977D8C-0F14-43EA-8892-04EF1336AF4A}"/>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5.4</a:t>
            </a:r>
            <a:endParaRPr sz="1200"/>
          </a:p>
        </p:txBody>
      </p:sp>
      <p:sp>
        <p:nvSpPr>
          <p:cNvPr id="3" name="Text 1">
            <a:extLst xmlns:a="http://schemas.openxmlformats.org/drawingml/2006/main">
              <a:ext uri="{FF2B5EF4-FFF2-40B4-BE49-F238E27FC236}">
                <a16:creationId xmlns:a16="http://schemas.microsoft.com/office/drawing/2014/main" id="{B100E308-BD66-4793-B738-3A19D11901C6}"/>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Skin Cancer &amp; the ABCDE Rule</a:t>
            </a:r>
            <a:endParaRPr sz="2800"/>
          </a:p>
        </p:txBody>
      </p:sp>
      <p:sp>
        <p:nvSpPr>
          <p:cNvPr id="4" name="Text 2">
            <a:extLst xmlns:a="http://schemas.openxmlformats.org/drawingml/2006/main">
              <a:ext uri="{FF2B5EF4-FFF2-40B4-BE49-F238E27FC236}">
                <a16:creationId xmlns:a16="http://schemas.microsoft.com/office/drawing/2014/main" id="{AB04928D-48AF-40BA-BD7A-1FC2B68E1569}"/>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Three main types of skin cancer</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Basal cell, squamous cell, melanoma</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Melanoma is the most dangerous</a:t>
            </a:r>
            <a:endParaRPr sz="1500"/>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Watch moles for ABCDE changes</a:t>
            </a:r>
            <a:endParaRPr sz="1500"/>
          </a:p>
        </p:txBody>
      </p:sp>
      <p:sp>
        <p:nvSpPr>
          <p:cNvPr id="5" name="Shape 3">
            <a:extLst xmlns:a="http://schemas.openxmlformats.org/drawingml/2006/main">
              <a:ext uri="{FF2B5EF4-FFF2-40B4-BE49-F238E27FC236}">
                <a16:creationId xmlns:a16="http://schemas.microsoft.com/office/drawing/2014/main" id="{668A5062-B7F0-496C-B806-71DE3F7F18F7}"/>
              </a:ext>
            </a:extLst>
          </p:cNvPr>
          <p:cNvSpPr>
            <a:spLocks xmlns:a="http://schemas.openxmlformats.org/drawingml/2006/main" noGrp="1"/>
          </p:cNvSpPr>
          <p:nvPr/>
        </p:nvSpPr>
        <p:spPr>
          <a:xfrm xmlns:a="http://schemas.openxmlformats.org/drawingml/2006/main">
            <a:off x="6167043" y="1335024"/>
            <a:ext cx="4856634"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0ab1b55cd53744d1"/>
          <a:stretch xmlns:a="http://schemas.openxmlformats.org/drawingml/2006/main">
            <a:fillRect l="0" t="0" r="0" b="0"/>
          </a:stretch>
        </p:blipFill>
        <p:spPr>
          <a:xfrm xmlns:a="http://schemas.openxmlformats.org/drawingml/2006/main">
            <a:off x="6249339" y="1417320"/>
            <a:ext cx="4692042"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A41F5967-2D0E-4B1E-A23C-49C322C3E99C}"/>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Moles and the ABCDE signs of melanoma</a:t>
            </a:r>
            <a:endParaRPr sz="1100"/>
          </a:p>
        </p:txBody>
      </p:sp>
      <p:sp>
        <p:nvSpPr>
          <p:cNvPr id="9" name="Text 5">
            <a:extLst xmlns:a="http://schemas.openxmlformats.org/drawingml/2006/main">
              <a:ext uri="{FF2B5EF4-FFF2-40B4-BE49-F238E27FC236}">
                <a16:creationId xmlns:a16="http://schemas.microsoft.com/office/drawing/2014/main" id="{F765877C-BAA1-457D-8588-65333F2BB0DC}"/>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5 — The Integumentary System</a:t>
            </a:r>
            <a:endParaRPr sz="900"/>
          </a:p>
        </p:txBody>
      </p:sp>
      <p:sp>
        <p:nvSpPr>
          <p:cNvPr id="10" name="Text 6">
            <a:extLst xmlns:a="http://schemas.openxmlformats.org/drawingml/2006/main">
              <a:ext uri="{FF2B5EF4-FFF2-40B4-BE49-F238E27FC236}">
                <a16:creationId xmlns:a16="http://schemas.microsoft.com/office/drawing/2014/main" id="{D629C091-F654-45B3-9E17-7EF482F699DB}"/>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14</a:t>
            </a:r>
            <a:endParaRPr sz="900"/>
          </a:p>
        </p:txBody>
      </p:sp>
    </p:spTree>
    <p:extLst>
      <p:ext uri="{BB962C8B-B14F-4D97-AF65-F5344CB8AC3E}">
        <p14:creationId xmlns:p14="http://schemas.microsoft.com/office/powerpoint/2010/main" val="115367990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D780316-580D-433C-B357-94BA31B51E98}"/>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5.4</a:t>
            </a:r>
            <a:endParaRPr sz="1200"/>
          </a:p>
        </p:txBody>
      </p:sp>
      <p:sp>
        <p:nvSpPr>
          <p:cNvPr id="3" name="Text 1">
            <a:extLst xmlns:a="http://schemas.openxmlformats.org/drawingml/2006/main">
              <a:ext uri="{FF2B5EF4-FFF2-40B4-BE49-F238E27FC236}">
                <a16:creationId xmlns:a16="http://schemas.microsoft.com/office/drawing/2014/main" id="{3AE15AE3-E486-4DF9-8740-E1B05E55241C}"/>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Acne</a:t>
            </a:r>
            <a:endParaRPr sz="2800"/>
          </a:p>
        </p:txBody>
      </p:sp>
      <p:sp>
        <p:nvSpPr>
          <p:cNvPr id="4" name="Shape 2">
            <a:extLst xmlns:a="http://schemas.openxmlformats.org/drawingml/2006/main">
              <a:ext uri="{FF2B5EF4-FFF2-40B4-BE49-F238E27FC236}">
                <a16:creationId xmlns:a16="http://schemas.microsoft.com/office/drawing/2014/main" id="{6D8F2675-190F-447A-9162-0FE809D71E1B}"/>
              </a:ext>
            </a:extLst>
          </p:cNvPr>
          <p:cNvSpPr>
            <a:spLocks xmlns:a="http://schemas.openxmlformats.org/drawingml/2006/main" noGrp="1"/>
          </p:cNvSpPr>
          <p:nvPr/>
        </p:nvSpPr>
        <p:spPr>
          <a:xfrm xmlns:a="http://schemas.openxmlformats.org/drawingml/2006/main">
            <a:off x="2742953" y="1289304"/>
            <a:ext cx="6721334"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4461eff3a4424d7b"/>
          <a:stretch xmlns:a="http://schemas.openxmlformats.org/drawingml/2006/main">
            <a:fillRect l="0" t="0" r="0" b="0"/>
          </a:stretch>
        </p:blipFill>
        <p:spPr>
          <a:xfrm xmlns:a="http://schemas.openxmlformats.org/drawingml/2006/main">
            <a:off x="2825249" y="1371600"/>
            <a:ext cx="6556742"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A7388AD3-1848-48BA-A3DA-5E7A791DE1C0}"/>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development of acne</a:t>
            </a:r>
            <a:endParaRPr sz="1100"/>
          </a:p>
        </p:txBody>
      </p:sp>
      <p:sp>
        <p:nvSpPr>
          <p:cNvPr id="7" name="Text 4">
            <a:extLst xmlns:a="http://schemas.openxmlformats.org/drawingml/2006/main">
              <a:ext uri="{FF2B5EF4-FFF2-40B4-BE49-F238E27FC236}">
                <a16:creationId xmlns:a16="http://schemas.microsoft.com/office/drawing/2014/main" id="{2F99A0B3-7B67-4CFB-B61A-41380755DDEE}"/>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A follicle becomes plugged with sebum</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Bacteria multiply and inflame it</a:t>
            </a:r>
            <a:endParaRPr sz="1300"/>
          </a:p>
        </p:txBody>
      </p:sp>
      <p:sp>
        <p:nvSpPr>
          <p:cNvPr id="8" name="Text 5">
            <a:extLst xmlns:a="http://schemas.openxmlformats.org/drawingml/2006/main">
              <a:ext uri="{FF2B5EF4-FFF2-40B4-BE49-F238E27FC236}">
                <a16:creationId xmlns:a16="http://schemas.microsoft.com/office/drawing/2014/main" id="{4EC4F7D3-D4EF-4B5E-B17C-17DBDA3FD100}"/>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Ranges from comedones to cysts</a:t>
            </a:r>
            <a:endParaRPr sz="1300"/>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Common during hormonal changes</a:t>
            </a:r>
            <a:endParaRPr sz="1300"/>
          </a:p>
        </p:txBody>
      </p:sp>
      <p:sp>
        <p:nvSpPr>
          <p:cNvPr id="10" name="Text 6">
            <a:extLst xmlns:a="http://schemas.openxmlformats.org/drawingml/2006/main">
              <a:ext uri="{FF2B5EF4-FFF2-40B4-BE49-F238E27FC236}">
                <a16:creationId xmlns:a16="http://schemas.microsoft.com/office/drawing/2014/main" id="{47DC3A12-DA03-4792-AF30-DE3D3E2D0834}"/>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5 — The Integumentary System</a:t>
            </a:r>
            <a:endParaRPr sz="900"/>
          </a:p>
        </p:txBody>
      </p:sp>
      <p:sp>
        <p:nvSpPr>
          <p:cNvPr id="11" name="Text 7">
            <a:extLst xmlns:a="http://schemas.openxmlformats.org/drawingml/2006/main">
              <a:ext uri="{FF2B5EF4-FFF2-40B4-BE49-F238E27FC236}">
                <a16:creationId xmlns:a16="http://schemas.microsoft.com/office/drawing/2014/main" id="{C909EACA-90D3-4628-872B-B0FDEB9272FC}"/>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15</a:t>
            </a:r>
            <a:endParaRPr sz="900"/>
          </a:p>
        </p:txBody>
      </p:sp>
    </p:spTree>
    <p:extLst>
      <p:ext uri="{BB962C8B-B14F-4D97-AF65-F5344CB8AC3E}">
        <p14:creationId xmlns:p14="http://schemas.microsoft.com/office/powerpoint/2010/main" val="211076303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E8846F3-BA43-49AD-BC35-027C8650B585}"/>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5.4</a:t>
            </a:r>
            <a:endParaRPr sz="1200"/>
          </a:p>
        </p:txBody>
      </p:sp>
      <p:sp>
        <p:nvSpPr>
          <p:cNvPr id="3" name="Text 1">
            <a:extLst xmlns:a="http://schemas.openxmlformats.org/drawingml/2006/main">
              <a:ext uri="{FF2B5EF4-FFF2-40B4-BE49-F238E27FC236}">
                <a16:creationId xmlns:a16="http://schemas.microsoft.com/office/drawing/2014/main" id="{15F9CC9E-9872-4290-B8DC-4D956B8E8B89}"/>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Burns and the Rule of Nines</a:t>
            </a:r>
            <a:endParaRPr sz="2800"/>
          </a:p>
        </p:txBody>
      </p:sp>
      <p:sp>
        <p:nvSpPr>
          <p:cNvPr id="4" name="Shape 2">
            <a:extLst xmlns:a="http://schemas.openxmlformats.org/drawingml/2006/main">
              <a:ext uri="{FF2B5EF4-FFF2-40B4-BE49-F238E27FC236}">
                <a16:creationId xmlns:a16="http://schemas.microsoft.com/office/drawing/2014/main" id="{FAB90E79-8135-4196-A7DC-F62DC06569F4}"/>
              </a:ext>
            </a:extLst>
          </p:cNvPr>
          <p:cNvSpPr>
            <a:spLocks xmlns:a="http://schemas.openxmlformats.org/drawingml/2006/main" noGrp="1"/>
          </p:cNvSpPr>
          <p:nvPr/>
        </p:nvSpPr>
        <p:spPr>
          <a:xfrm xmlns:a="http://schemas.openxmlformats.org/drawingml/2006/main">
            <a:off x="529666" y="1289304"/>
            <a:ext cx="4244188" cy="4736592"/>
          </a:xfrm>
          <a:prstGeom xmlns:a="http://schemas.openxmlformats.org/drawingml/2006/main" prst="roundRect">
            <a:avLst>
              <a:gd name="adj" fmla="val 1293"/>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824140ff006a485f"/>
          <a:stretch xmlns:a="http://schemas.openxmlformats.org/drawingml/2006/main">
            <a:fillRect l="0" t="0" r="0" b="0"/>
          </a:stretch>
        </p:blipFill>
        <p:spPr>
          <a:xfrm xmlns:a="http://schemas.openxmlformats.org/drawingml/2006/main">
            <a:off x="611962" y="1371600"/>
            <a:ext cx="4079596"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01155805-A1A9-4FA3-BEF9-B2D05DBB64B6}"/>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rule of nines for estimating burn area</a:t>
            </a:r>
            <a:endParaRPr sz="1100"/>
          </a:p>
        </p:txBody>
      </p:sp>
      <p:sp>
        <p:nvSpPr>
          <p:cNvPr id="7" name="Text 4">
            <a:extLst xmlns:a="http://schemas.openxmlformats.org/drawingml/2006/main">
              <a:ext uri="{FF2B5EF4-FFF2-40B4-BE49-F238E27FC236}">
                <a16:creationId xmlns:a16="http://schemas.microsoft.com/office/drawing/2014/main" id="{278B6778-4F3C-4705-8E6B-24180417D5E6}"/>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Classified by depth and extent</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Superficial, partial, and full thickness</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Rule of nines estimates body area</a:t>
            </a:r>
            <a:endParaRPr sz="1600"/>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Guides fluid resuscitation</a:t>
            </a:r>
            <a:endParaRPr sz="1600"/>
          </a:p>
        </p:txBody>
      </p:sp>
      <p:sp>
        <p:nvSpPr>
          <p:cNvPr id="9" name="Text 5">
            <a:extLst xmlns:a="http://schemas.openxmlformats.org/drawingml/2006/main">
              <a:ext uri="{FF2B5EF4-FFF2-40B4-BE49-F238E27FC236}">
                <a16:creationId xmlns:a16="http://schemas.microsoft.com/office/drawing/2014/main" id="{D572BA9F-A4BB-4B11-BFEE-C6FFB07CA32C}"/>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5 — The Integumentary System</a:t>
            </a:r>
            <a:endParaRPr sz="900"/>
          </a:p>
        </p:txBody>
      </p:sp>
      <p:sp>
        <p:nvSpPr>
          <p:cNvPr id="10" name="Text 6">
            <a:extLst xmlns:a="http://schemas.openxmlformats.org/drawingml/2006/main">
              <a:ext uri="{FF2B5EF4-FFF2-40B4-BE49-F238E27FC236}">
                <a16:creationId xmlns:a16="http://schemas.microsoft.com/office/drawing/2014/main" id="{3C6125DE-EB47-491D-AF4F-FFDFC1E27DDD}"/>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16</a:t>
            </a:r>
            <a:endParaRPr sz="900"/>
          </a:p>
        </p:txBody>
      </p:sp>
    </p:spTree>
    <p:extLst>
      <p:ext uri="{BB962C8B-B14F-4D97-AF65-F5344CB8AC3E}">
        <p14:creationId xmlns:p14="http://schemas.microsoft.com/office/powerpoint/2010/main" val="53690065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B114D3E-9D39-4119-8E9F-C391A945BB8C}"/>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CHAPTER 5</a:t>
            </a:r>
            <a:endParaRPr sz="1200"/>
          </a:p>
        </p:txBody>
      </p:sp>
      <p:sp>
        <p:nvSpPr>
          <p:cNvPr id="3" name="Text 1">
            <a:extLst xmlns:a="http://schemas.openxmlformats.org/drawingml/2006/main">
              <a:ext uri="{FF2B5EF4-FFF2-40B4-BE49-F238E27FC236}">
                <a16:creationId xmlns:a16="http://schemas.microsoft.com/office/drawing/2014/main" id="{484C46BF-836A-4CDB-858D-63E54E200D2E}"/>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Key Takeaways</a:t>
            </a:r>
            <a:endParaRPr sz="2800"/>
          </a:p>
        </p:txBody>
      </p:sp>
      <p:sp>
        <p:nvSpPr>
          <p:cNvPr id="4" name="Shape 2">
            <a:extLst xmlns:a="http://schemas.openxmlformats.org/drawingml/2006/main">
              <a:ext uri="{FF2B5EF4-FFF2-40B4-BE49-F238E27FC236}">
                <a16:creationId xmlns:a16="http://schemas.microsoft.com/office/drawing/2014/main" id="{83B807EE-E79D-45A6-A6B6-73D91FCE5EA2}"/>
              </a:ext>
            </a:extLst>
          </p:cNvPr>
          <p:cNvSpPr>
            <a:spLocks xmlns:a="http://schemas.openxmlformats.org/drawingml/2006/main" noGrp="1"/>
          </p:cNvSpPr>
          <p:nvPr/>
        </p:nvSpPr>
        <p:spPr>
          <a:xfrm xmlns:a="http://schemas.openxmlformats.org/drawingml/2006/main">
            <a:off x="548640" y="1819656"/>
            <a:ext cx="237744" cy="237744"/>
          </a:xfrm>
          <a:prstGeom xmlns:a="http://schemas.openxmlformats.org/drawingml/2006/main" prst="ellipse">
            <a:avLst/>
          </a:prstGeom>
          <a:solidFill xmlns:a="http://schemas.openxmlformats.org/drawingml/2006/main">
            <a:srgbClr val="E36414"/>
          </a:solidFill>
        </p:spPr>
      </p:sp>
      <p:sp>
        <p:nvSpPr>
          <p:cNvPr id="5" name="Text 3">
            <a:extLst xmlns:a="http://schemas.openxmlformats.org/drawingml/2006/main">
              <a:ext uri="{FF2B5EF4-FFF2-40B4-BE49-F238E27FC236}">
                <a16:creationId xmlns:a16="http://schemas.microsoft.com/office/drawing/2014/main" id="{A0D21084-9CC2-4D98-9B64-36424F90571D}"/>
              </a:ext>
            </a:extLst>
          </p:cNvPr>
          <p:cNvSpPr>
            <a:spLocks xmlns:a="http://schemas.openxmlformats.org/drawingml/2006/main" noGrp="1"/>
          </p:cNvSpPr>
          <p:nvPr/>
        </p:nvSpPr>
        <p:spPr>
          <a:xfrm xmlns:a="http://schemas.openxmlformats.org/drawingml/2006/main">
            <a:off x="960120" y="1737360"/>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The skin has three layers — epidermis, dermis, and hypodermis — and is the body's largest organ.</a:t>
            </a:r>
            <a:endParaRPr sz="1550"/>
          </a:p>
        </p:txBody>
      </p:sp>
      <p:sp>
        <p:nvSpPr>
          <p:cNvPr id="6" name="Shape 4">
            <a:extLst xmlns:a="http://schemas.openxmlformats.org/drawingml/2006/main">
              <a:ext uri="{FF2B5EF4-FFF2-40B4-BE49-F238E27FC236}">
                <a16:creationId xmlns:a16="http://schemas.microsoft.com/office/drawing/2014/main" id="{3B78B061-982A-413C-83D8-BADD4448E183}"/>
              </a:ext>
            </a:extLst>
          </p:cNvPr>
          <p:cNvSpPr>
            <a:spLocks xmlns:a="http://schemas.openxmlformats.org/drawingml/2006/main" noGrp="1"/>
          </p:cNvSpPr>
          <p:nvPr/>
        </p:nvSpPr>
        <p:spPr>
          <a:xfrm xmlns:a="http://schemas.openxmlformats.org/drawingml/2006/main">
            <a:off x="548640" y="2606040"/>
            <a:ext cx="237744" cy="237744"/>
          </a:xfrm>
          <a:prstGeom xmlns:a="http://schemas.openxmlformats.org/drawingml/2006/main" prst="ellipse">
            <a:avLst/>
          </a:prstGeom>
          <a:solidFill xmlns:a="http://schemas.openxmlformats.org/drawingml/2006/main">
            <a:srgbClr val="E36414"/>
          </a:solidFill>
        </p:spPr>
      </p:sp>
      <p:sp>
        <p:nvSpPr>
          <p:cNvPr id="7" name="Text 5">
            <a:extLst xmlns:a="http://schemas.openxmlformats.org/drawingml/2006/main">
              <a:ext uri="{FF2B5EF4-FFF2-40B4-BE49-F238E27FC236}">
                <a16:creationId xmlns:a16="http://schemas.microsoft.com/office/drawing/2014/main" id="{AAE88B17-083B-46C7-AFE6-81B762129F1C}"/>
              </a:ext>
            </a:extLst>
          </p:cNvPr>
          <p:cNvSpPr>
            <a:spLocks xmlns:a="http://schemas.openxmlformats.org/drawingml/2006/main" noGrp="1"/>
          </p:cNvSpPr>
          <p:nvPr/>
        </p:nvSpPr>
        <p:spPr>
          <a:xfrm xmlns:a="http://schemas.openxmlformats.org/drawingml/2006/main">
            <a:off x="960120" y="2523744"/>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Keratinocytes and melanin give the epidermis its protection and color.</a:t>
            </a:r>
            <a:endParaRPr sz="1550"/>
          </a:p>
        </p:txBody>
      </p:sp>
      <p:sp>
        <p:nvSpPr>
          <p:cNvPr id="8" name="Shape 6">
            <a:extLst xmlns:a="http://schemas.openxmlformats.org/drawingml/2006/main">
              <a:ext uri="{FF2B5EF4-FFF2-40B4-BE49-F238E27FC236}">
                <a16:creationId xmlns:a16="http://schemas.microsoft.com/office/drawing/2014/main" id="{05093BF3-1330-4372-AD1C-769E8128868B}"/>
              </a:ext>
            </a:extLst>
          </p:cNvPr>
          <p:cNvSpPr>
            <a:spLocks xmlns:a="http://schemas.openxmlformats.org/drawingml/2006/main" noGrp="1"/>
          </p:cNvSpPr>
          <p:nvPr/>
        </p:nvSpPr>
        <p:spPr>
          <a:xfrm xmlns:a="http://schemas.openxmlformats.org/drawingml/2006/main">
            <a:off x="548640" y="3392424"/>
            <a:ext cx="237744" cy="237744"/>
          </a:xfrm>
          <a:prstGeom xmlns:a="http://schemas.openxmlformats.org/drawingml/2006/main" prst="ellipse">
            <a:avLst/>
          </a:prstGeom>
          <a:solidFill xmlns:a="http://schemas.openxmlformats.org/drawingml/2006/main">
            <a:srgbClr val="E36414"/>
          </a:solidFill>
        </p:spPr>
      </p:sp>
      <p:sp>
        <p:nvSpPr>
          <p:cNvPr id="9" name="Text 7">
            <a:extLst xmlns:a="http://schemas.openxmlformats.org/drawingml/2006/main">
              <a:ext uri="{FF2B5EF4-FFF2-40B4-BE49-F238E27FC236}">
                <a16:creationId xmlns:a16="http://schemas.microsoft.com/office/drawing/2014/main" id="{B2A21854-3D85-48D9-B8BF-F43EA415A4CC}"/>
              </a:ext>
            </a:extLst>
          </p:cNvPr>
          <p:cNvSpPr>
            <a:spLocks xmlns:a="http://schemas.openxmlformats.org/drawingml/2006/main" noGrp="1"/>
          </p:cNvSpPr>
          <p:nvPr/>
        </p:nvSpPr>
        <p:spPr>
          <a:xfrm xmlns:a="http://schemas.openxmlformats.org/drawingml/2006/main">
            <a:off x="960120" y="3310128"/>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Hair, nails, and glands are accessory structures that arise from the skin.</a:t>
            </a:r>
            <a:endParaRPr sz="1550"/>
          </a:p>
        </p:txBody>
      </p:sp>
      <p:sp>
        <p:nvSpPr>
          <p:cNvPr id="10" name="Shape 8">
            <a:extLst xmlns:a="http://schemas.openxmlformats.org/drawingml/2006/main">
              <a:ext uri="{FF2B5EF4-FFF2-40B4-BE49-F238E27FC236}">
                <a16:creationId xmlns:a16="http://schemas.microsoft.com/office/drawing/2014/main" id="{5BD96832-2ED8-49A3-B6DC-EE16B68B8062}"/>
              </a:ext>
            </a:extLst>
          </p:cNvPr>
          <p:cNvSpPr>
            <a:spLocks xmlns:a="http://schemas.openxmlformats.org/drawingml/2006/main" noGrp="1"/>
          </p:cNvSpPr>
          <p:nvPr/>
        </p:nvSpPr>
        <p:spPr>
          <a:xfrm xmlns:a="http://schemas.openxmlformats.org/drawingml/2006/main">
            <a:off x="548640" y="4178808"/>
            <a:ext cx="237744" cy="237744"/>
          </a:xfrm>
          <a:prstGeom xmlns:a="http://schemas.openxmlformats.org/drawingml/2006/main" prst="ellipse">
            <a:avLst/>
          </a:prstGeom>
          <a:solidFill xmlns:a="http://schemas.openxmlformats.org/drawingml/2006/main">
            <a:srgbClr val="E36414"/>
          </a:solidFill>
        </p:spPr>
      </p:sp>
      <p:sp>
        <p:nvSpPr>
          <p:cNvPr id="11" name="Text 9">
            <a:extLst xmlns:a="http://schemas.openxmlformats.org/drawingml/2006/main">
              <a:ext uri="{FF2B5EF4-FFF2-40B4-BE49-F238E27FC236}">
                <a16:creationId xmlns:a16="http://schemas.microsoft.com/office/drawing/2014/main" id="{B78070EB-215F-4B77-91F5-0DDC74FB733F}"/>
              </a:ext>
            </a:extLst>
          </p:cNvPr>
          <p:cNvSpPr>
            <a:spLocks xmlns:a="http://schemas.openxmlformats.org/drawingml/2006/main" noGrp="1"/>
          </p:cNvSpPr>
          <p:nvPr/>
        </p:nvSpPr>
        <p:spPr>
          <a:xfrm xmlns:a="http://schemas.openxmlformats.org/drawingml/2006/main">
            <a:off x="960120" y="4096512"/>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The skin protects, senses, makes vitamin D, and regulates temperature.</a:t>
            </a:r>
            <a:endParaRPr sz="1550"/>
          </a:p>
        </p:txBody>
      </p:sp>
      <p:sp>
        <p:nvSpPr>
          <p:cNvPr id="12" name="Shape 10">
            <a:extLst xmlns:a="http://schemas.openxmlformats.org/drawingml/2006/main">
              <a:ext uri="{FF2B5EF4-FFF2-40B4-BE49-F238E27FC236}">
                <a16:creationId xmlns:a16="http://schemas.microsoft.com/office/drawing/2014/main" id="{B5527502-F79A-4F1B-9BF1-D28AC3A8C4D0}"/>
              </a:ext>
            </a:extLst>
          </p:cNvPr>
          <p:cNvSpPr>
            <a:spLocks xmlns:a="http://schemas.openxmlformats.org/drawingml/2006/main" noGrp="1"/>
          </p:cNvSpPr>
          <p:nvPr/>
        </p:nvSpPr>
        <p:spPr>
          <a:xfrm xmlns:a="http://schemas.openxmlformats.org/drawingml/2006/main">
            <a:off x="548640" y="4965192"/>
            <a:ext cx="237744" cy="237744"/>
          </a:xfrm>
          <a:prstGeom xmlns:a="http://schemas.openxmlformats.org/drawingml/2006/main" prst="ellipse">
            <a:avLst/>
          </a:prstGeom>
          <a:solidFill xmlns:a="http://schemas.openxmlformats.org/drawingml/2006/main">
            <a:srgbClr val="E36414"/>
          </a:solidFill>
        </p:spPr>
      </p:sp>
      <p:sp>
        <p:nvSpPr>
          <p:cNvPr id="13" name="Text 11">
            <a:extLst xmlns:a="http://schemas.openxmlformats.org/drawingml/2006/main">
              <a:ext uri="{FF2B5EF4-FFF2-40B4-BE49-F238E27FC236}">
                <a16:creationId xmlns:a16="http://schemas.microsoft.com/office/drawing/2014/main" id="{198DA081-3122-49D0-B089-0B2F1C978750}"/>
              </a:ext>
            </a:extLst>
          </p:cNvPr>
          <p:cNvSpPr>
            <a:spLocks xmlns:a="http://schemas.openxmlformats.org/drawingml/2006/main" noGrp="1"/>
          </p:cNvSpPr>
          <p:nvPr/>
        </p:nvSpPr>
        <p:spPr>
          <a:xfrm xmlns:a="http://schemas.openxmlformats.org/drawingml/2006/main">
            <a:off x="960120" y="4882896"/>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Burns, skin cancers, and infections are common, clinically important disorders.</a:t>
            </a:r>
            <a:endParaRPr sz="1550"/>
          </a:p>
        </p:txBody>
      </p:sp>
      <p:sp>
        <p:nvSpPr>
          <p:cNvPr id="14" name="Text 12">
            <a:extLst xmlns:a="http://schemas.openxmlformats.org/drawingml/2006/main">
              <a:ext uri="{FF2B5EF4-FFF2-40B4-BE49-F238E27FC236}">
                <a16:creationId xmlns:a16="http://schemas.microsoft.com/office/drawing/2014/main" id="{13AC0F0A-C253-42AA-85FD-DC108A9DFFD2}"/>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5 — The Integumentary System</a:t>
            </a:r>
            <a:endParaRPr sz="900"/>
          </a:p>
        </p:txBody>
      </p:sp>
      <p:sp>
        <p:nvSpPr>
          <p:cNvPr id="15" name="Text 13">
            <a:extLst xmlns:a="http://schemas.openxmlformats.org/drawingml/2006/main">
              <a:ext uri="{FF2B5EF4-FFF2-40B4-BE49-F238E27FC236}">
                <a16:creationId xmlns:a16="http://schemas.microsoft.com/office/drawing/2014/main" id="{902C4C18-A813-45F1-B2A7-187EDB6D3FFB}"/>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17</a:t>
            </a:r>
            <a:endParaRPr sz="900"/>
          </a:p>
        </p:txBody>
      </p:sp>
    </p:spTree>
    <p:extLst>
      <p:ext uri="{BB962C8B-B14F-4D97-AF65-F5344CB8AC3E}">
        <p14:creationId xmlns:p14="http://schemas.microsoft.com/office/powerpoint/2010/main" val="348052882"/>
      </p:ext>
    </p:extLst>
  </p:cSld>
</p:sld>
</file>

<file path=ppt/slides/slide18.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FAF7E3B-4D2C-4FBA-8BDF-49BEEBC4D2DE}"/>
              </a:ext>
            </a:extLst>
          </p:cNvPr>
          <p:cNvSpPr>
            <a:spLocks xmlns:a="http://schemas.openxmlformats.org/drawingml/2006/main" noGrp="1"/>
          </p:cNvSpPr>
          <p:nvPr/>
        </p:nvSpPr>
        <p:spPr>
          <a:xfrm xmlns:a="http://schemas.openxmlformats.org/drawingml/2006/main">
            <a:off x="548640" y="502920"/>
            <a:ext cx="10058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E36414"/>
                </a:solidFill>
                <a:latin typeface="Calibri"/>
                <a:ea typeface="Calibri"/>
                <a:cs typeface="Calibri"/>
              </a:rPr>
              <a:t>CLINICAL CONNECTIONS</a:t>
            </a:r>
            <a:endParaRPr sz="1300"/>
          </a:p>
        </p:txBody>
      </p:sp>
      <p:sp>
        <p:nvSpPr>
          <p:cNvPr id="3" name="Text 1">
            <a:extLst xmlns:a="http://schemas.openxmlformats.org/drawingml/2006/main">
              <a:ext uri="{FF2B5EF4-FFF2-40B4-BE49-F238E27FC236}">
                <a16:creationId xmlns:a16="http://schemas.microsoft.com/office/drawing/2014/main" id="{7D2BD4C5-B7E2-40CE-8610-CAA466660EB4}"/>
              </a:ext>
            </a:extLst>
          </p:cNvPr>
          <p:cNvSpPr>
            <a:spLocks xmlns:a="http://schemas.openxmlformats.org/drawingml/2006/main" noGrp="1"/>
          </p:cNvSpPr>
          <p:nvPr/>
        </p:nvSpPr>
        <p:spPr>
          <a:xfrm xmlns:a="http://schemas.openxmlformats.org/drawingml/2006/main">
            <a:off x="530352" y="841248"/>
            <a:ext cx="1097280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FFFFFF"/>
                </a:solidFill>
                <a:latin typeface="Georgia"/>
                <a:ea typeface="Georgia"/>
                <a:cs typeface="Georgia"/>
              </a:rPr>
              <a:t>Why the Skin Matters in Practical Nursing</a:t>
            </a:r>
            <a:endParaRPr sz="2600"/>
          </a:p>
        </p:txBody>
      </p:sp>
      <p:sp>
        <p:nvSpPr>
          <p:cNvPr id="4" name="Shape 2">
            <a:extLst xmlns:a="http://schemas.openxmlformats.org/drawingml/2006/main">
              <a:ext uri="{FF2B5EF4-FFF2-40B4-BE49-F238E27FC236}">
                <a16:creationId xmlns:a16="http://schemas.microsoft.com/office/drawing/2014/main" id="{B058EB7A-784E-4FB5-BD1E-EB3586C62B16}"/>
              </a:ext>
            </a:extLst>
          </p:cNvPr>
          <p:cNvSpPr>
            <a:spLocks xmlns:a="http://schemas.openxmlformats.org/drawingml/2006/main" noGrp="1"/>
          </p:cNvSpPr>
          <p:nvPr/>
        </p:nvSpPr>
        <p:spPr>
          <a:xfrm xmlns:a="http://schemas.openxmlformats.org/drawingml/2006/main">
            <a:off x="548640" y="1691640"/>
            <a:ext cx="5440680" cy="1417320"/>
          </a:xfrm>
          <a:prstGeom xmlns:a="http://schemas.openxmlformats.org/drawingml/2006/main" prst="roundRect">
            <a:avLst>
              <a:gd name="adj" fmla="val 5161"/>
            </a:avLst>
          </a:prstGeom>
          <a:solidFill xmlns:a="http://schemas.openxmlformats.org/drawingml/2006/main">
            <a:srgbClr val="13586A"/>
          </a:solidFill>
          <a:ln xmlns:a="http://schemas.openxmlformats.org/drawingml/2006/main" w="12700">
            <a:solidFill>
              <a:srgbClr val="2A7A8C"/>
            </a:solidFill>
            <a:prstDash val="solid"/>
          </a:ln>
        </p:spPr>
      </p:sp>
      <p:sp>
        <p:nvSpPr>
          <p:cNvPr id="5" name="Text 3">
            <a:extLst xmlns:a="http://schemas.openxmlformats.org/drawingml/2006/main">
              <a:ext uri="{FF2B5EF4-FFF2-40B4-BE49-F238E27FC236}">
                <a16:creationId xmlns:a16="http://schemas.microsoft.com/office/drawing/2014/main" id="{93B653F2-F476-45A1-A0AD-BAF1F2FB8629}"/>
              </a:ext>
            </a:extLst>
          </p:cNvPr>
          <p:cNvSpPr>
            <a:spLocks xmlns:a="http://schemas.openxmlformats.org/drawingml/2006/main" noGrp="1"/>
          </p:cNvSpPr>
          <p:nvPr/>
        </p:nvSpPr>
        <p:spPr>
          <a:xfrm xmlns:a="http://schemas.openxmlformats.org/drawingml/2006/main">
            <a:off x="777240" y="181965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Skin Assessment</a:t>
            </a:r>
            <a:endParaRPr sz="1600"/>
          </a:p>
        </p:txBody>
      </p:sp>
      <p:sp>
        <p:nvSpPr>
          <p:cNvPr id="6" name="Text 4">
            <a:extLst xmlns:a="http://schemas.openxmlformats.org/drawingml/2006/main">
              <a:ext uri="{FF2B5EF4-FFF2-40B4-BE49-F238E27FC236}">
                <a16:creationId xmlns:a16="http://schemas.microsoft.com/office/drawing/2014/main" id="{7E4E04C0-2177-46A2-9149-6617F9359A9B}"/>
              </a:ext>
            </a:extLst>
          </p:cNvPr>
          <p:cNvSpPr>
            <a:spLocks xmlns:a="http://schemas.openxmlformats.org/drawingml/2006/main" noGrp="1"/>
          </p:cNvSpPr>
          <p:nvPr/>
        </p:nvSpPr>
        <p:spPr>
          <a:xfrm xmlns:a="http://schemas.openxmlformats.org/drawingml/2006/main">
            <a:off x="777240" y="219456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Color, temperature, turgor, and lesions reveal a patient's overall status.</a:t>
            </a:r>
            <a:endParaRPr sz="1250"/>
          </a:p>
        </p:txBody>
      </p:sp>
      <p:sp>
        <p:nvSpPr>
          <p:cNvPr id="7" name="Shape 5">
            <a:extLst xmlns:a="http://schemas.openxmlformats.org/drawingml/2006/main">
              <a:ext uri="{FF2B5EF4-FFF2-40B4-BE49-F238E27FC236}">
                <a16:creationId xmlns:a16="http://schemas.microsoft.com/office/drawing/2014/main" id="{014CC6BC-93CD-4400-A385-1DF2A492FCCC}"/>
              </a:ext>
            </a:extLst>
          </p:cNvPr>
          <p:cNvSpPr>
            <a:spLocks xmlns:a="http://schemas.openxmlformats.org/drawingml/2006/main" noGrp="1"/>
          </p:cNvSpPr>
          <p:nvPr/>
        </p:nvSpPr>
        <p:spPr>
          <a:xfrm xmlns:a="http://schemas.openxmlformats.org/drawingml/2006/main">
            <a:off x="6172200" y="1691640"/>
            <a:ext cx="5440680" cy="1417320"/>
          </a:xfrm>
          <a:prstGeom xmlns:a="http://schemas.openxmlformats.org/drawingml/2006/main" prst="roundRect">
            <a:avLst>
              <a:gd name="adj" fmla="val 5161"/>
            </a:avLst>
          </a:prstGeom>
          <a:solidFill xmlns:a="http://schemas.openxmlformats.org/drawingml/2006/main">
            <a:srgbClr val="13586A"/>
          </a:solidFill>
          <a:ln xmlns:a="http://schemas.openxmlformats.org/drawingml/2006/main" w="12700">
            <a:solidFill>
              <a:srgbClr val="2A7A8C"/>
            </a:solidFill>
            <a:prstDash val="solid"/>
          </a:ln>
        </p:spPr>
      </p:sp>
      <p:sp>
        <p:nvSpPr>
          <p:cNvPr id="8" name="Text 6">
            <a:extLst xmlns:a="http://schemas.openxmlformats.org/drawingml/2006/main">
              <a:ext uri="{FF2B5EF4-FFF2-40B4-BE49-F238E27FC236}">
                <a16:creationId xmlns:a16="http://schemas.microsoft.com/office/drawing/2014/main" id="{300C2EF6-A549-4B29-B9E4-DA0ABD53D17E}"/>
              </a:ext>
            </a:extLst>
          </p:cNvPr>
          <p:cNvSpPr>
            <a:spLocks xmlns:a="http://schemas.openxmlformats.org/drawingml/2006/main" noGrp="1"/>
          </p:cNvSpPr>
          <p:nvPr/>
        </p:nvSpPr>
        <p:spPr>
          <a:xfrm xmlns:a="http://schemas.openxmlformats.org/drawingml/2006/main">
            <a:off x="6400800" y="181965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Pressure Injuries</a:t>
            </a:r>
            <a:endParaRPr sz="1600"/>
          </a:p>
        </p:txBody>
      </p:sp>
      <p:sp>
        <p:nvSpPr>
          <p:cNvPr id="9" name="Text 7">
            <a:extLst xmlns:a="http://schemas.openxmlformats.org/drawingml/2006/main">
              <a:ext uri="{FF2B5EF4-FFF2-40B4-BE49-F238E27FC236}">
                <a16:creationId xmlns:a16="http://schemas.microsoft.com/office/drawing/2014/main" id="{B6D867A8-D841-42AF-9429-68279AEA5906}"/>
              </a:ext>
            </a:extLst>
          </p:cNvPr>
          <p:cNvSpPr>
            <a:spLocks xmlns:a="http://schemas.openxmlformats.org/drawingml/2006/main" noGrp="1"/>
          </p:cNvSpPr>
          <p:nvPr/>
        </p:nvSpPr>
        <p:spPr>
          <a:xfrm xmlns:a="http://schemas.openxmlformats.org/drawingml/2006/main">
            <a:off x="6400800" y="219456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Prolonged pressure breaks down skin — prevention is vital in immobile patients.</a:t>
            </a:r>
            <a:endParaRPr sz="1250"/>
          </a:p>
        </p:txBody>
      </p:sp>
      <p:sp>
        <p:nvSpPr>
          <p:cNvPr id="10" name="Shape 8">
            <a:extLst xmlns:a="http://schemas.openxmlformats.org/drawingml/2006/main">
              <a:ext uri="{FF2B5EF4-FFF2-40B4-BE49-F238E27FC236}">
                <a16:creationId xmlns:a16="http://schemas.microsoft.com/office/drawing/2014/main" id="{FFF8D5E6-9870-4498-9F00-96022E21F5AB}"/>
              </a:ext>
            </a:extLst>
          </p:cNvPr>
          <p:cNvSpPr>
            <a:spLocks xmlns:a="http://schemas.openxmlformats.org/drawingml/2006/main" noGrp="1"/>
          </p:cNvSpPr>
          <p:nvPr/>
        </p:nvSpPr>
        <p:spPr>
          <a:xfrm xmlns:a="http://schemas.openxmlformats.org/drawingml/2006/main">
            <a:off x="548640" y="3264408"/>
            <a:ext cx="5440680" cy="1417320"/>
          </a:xfrm>
          <a:prstGeom xmlns:a="http://schemas.openxmlformats.org/drawingml/2006/main" prst="roundRect">
            <a:avLst>
              <a:gd name="adj" fmla="val 5161"/>
            </a:avLst>
          </a:prstGeom>
          <a:solidFill xmlns:a="http://schemas.openxmlformats.org/drawingml/2006/main">
            <a:srgbClr val="13586A"/>
          </a:solidFill>
          <a:ln xmlns:a="http://schemas.openxmlformats.org/drawingml/2006/main" w="12700">
            <a:solidFill>
              <a:srgbClr val="2A7A8C"/>
            </a:solidFill>
            <a:prstDash val="solid"/>
          </a:ln>
        </p:spPr>
      </p:sp>
      <p:sp>
        <p:nvSpPr>
          <p:cNvPr id="11" name="Text 9">
            <a:extLst xmlns:a="http://schemas.openxmlformats.org/drawingml/2006/main">
              <a:ext uri="{FF2B5EF4-FFF2-40B4-BE49-F238E27FC236}">
                <a16:creationId xmlns:a16="http://schemas.microsoft.com/office/drawing/2014/main" id="{6E9E8D6A-DE90-44B4-988F-2EB074328A92}"/>
              </a:ext>
            </a:extLst>
          </p:cNvPr>
          <p:cNvSpPr>
            <a:spLocks xmlns:a="http://schemas.openxmlformats.org/drawingml/2006/main" noGrp="1"/>
          </p:cNvSpPr>
          <p:nvPr/>
        </p:nvSpPr>
        <p:spPr>
          <a:xfrm xmlns:a="http://schemas.openxmlformats.org/drawingml/2006/main">
            <a:off x="777240" y="3392424"/>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Burn Care</a:t>
            </a:r>
            <a:endParaRPr sz="1600"/>
          </a:p>
        </p:txBody>
      </p:sp>
      <p:sp>
        <p:nvSpPr>
          <p:cNvPr id="12" name="Text 10">
            <a:extLst xmlns:a="http://schemas.openxmlformats.org/drawingml/2006/main">
              <a:ext uri="{FF2B5EF4-FFF2-40B4-BE49-F238E27FC236}">
                <a16:creationId xmlns:a16="http://schemas.microsoft.com/office/drawing/2014/main" id="{132001A9-7464-46D4-8C83-08FC4035C30A}"/>
              </a:ext>
            </a:extLst>
          </p:cNvPr>
          <p:cNvSpPr>
            <a:spLocks xmlns:a="http://schemas.openxmlformats.org/drawingml/2006/main" noGrp="1"/>
          </p:cNvSpPr>
          <p:nvPr/>
        </p:nvSpPr>
        <p:spPr>
          <a:xfrm xmlns:a="http://schemas.openxmlformats.org/drawingml/2006/main">
            <a:off x="777240" y="3767328"/>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Depth and the rule of nines guide fluid resuscitation and treatment.</a:t>
            </a:r>
            <a:endParaRPr sz="1250"/>
          </a:p>
        </p:txBody>
      </p:sp>
      <p:sp>
        <p:nvSpPr>
          <p:cNvPr id="13" name="Shape 11">
            <a:extLst xmlns:a="http://schemas.openxmlformats.org/drawingml/2006/main">
              <a:ext uri="{FF2B5EF4-FFF2-40B4-BE49-F238E27FC236}">
                <a16:creationId xmlns:a16="http://schemas.microsoft.com/office/drawing/2014/main" id="{9A3471B4-3A98-462E-B035-1B48A1EB5B0E}"/>
              </a:ext>
            </a:extLst>
          </p:cNvPr>
          <p:cNvSpPr>
            <a:spLocks xmlns:a="http://schemas.openxmlformats.org/drawingml/2006/main" noGrp="1"/>
          </p:cNvSpPr>
          <p:nvPr/>
        </p:nvSpPr>
        <p:spPr>
          <a:xfrm xmlns:a="http://schemas.openxmlformats.org/drawingml/2006/main">
            <a:off x="6172200" y="3264408"/>
            <a:ext cx="5440680" cy="1417320"/>
          </a:xfrm>
          <a:prstGeom xmlns:a="http://schemas.openxmlformats.org/drawingml/2006/main" prst="roundRect">
            <a:avLst>
              <a:gd name="adj" fmla="val 5161"/>
            </a:avLst>
          </a:prstGeom>
          <a:solidFill xmlns:a="http://schemas.openxmlformats.org/drawingml/2006/main">
            <a:srgbClr val="13586A"/>
          </a:solidFill>
          <a:ln xmlns:a="http://schemas.openxmlformats.org/drawingml/2006/main" w="12700">
            <a:solidFill>
              <a:srgbClr val="2A7A8C"/>
            </a:solidFill>
            <a:prstDash val="solid"/>
          </a:ln>
        </p:spPr>
      </p:sp>
      <p:sp>
        <p:nvSpPr>
          <p:cNvPr id="14" name="Text 12">
            <a:extLst xmlns:a="http://schemas.openxmlformats.org/drawingml/2006/main">
              <a:ext uri="{FF2B5EF4-FFF2-40B4-BE49-F238E27FC236}">
                <a16:creationId xmlns:a16="http://schemas.microsoft.com/office/drawing/2014/main" id="{235E7769-A498-4F9E-83BD-D62E24E31B29}"/>
              </a:ext>
            </a:extLst>
          </p:cNvPr>
          <p:cNvSpPr>
            <a:spLocks xmlns:a="http://schemas.openxmlformats.org/drawingml/2006/main" noGrp="1"/>
          </p:cNvSpPr>
          <p:nvPr/>
        </p:nvSpPr>
        <p:spPr>
          <a:xfrm xmlns:a="http://schemas.openxmlformats.org/drawingml/2006/main">
            <a:off x="6400800" y="3392424"/>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Infection Barrier</a:t>
            </a:r>
            <a:endParaRPr sz="1600"/>
          </a:p>
        </p:txBody>
      </p:sp>
      <p:sp>
        <p:nvSpPr>
          <p:cNvPr id="15" name="Text 13">
            <a:extLst xmlns:a="http://schemas.openxmlformats.org/drawingml/2006/main">
              <a:ext uri="{FF2B5EF4-FFF2-40B4-BE49-F238E27FC236}">
                <a16:creationId xmlns:a16="http://schemas.microsoft.com/office/drawing/2014/main" id="{F9D9CEAC-3AF3-41DB-A326-E28255AB6B5D}"/>
              </a:ext>
            </a:extLst>
          </p:cNvPr>
          <p:cNvSpPr>
            <a:spLocks xmlns:a="http://schemas.openxmlformats.org/drawingml/2006/main" noGrp="1"/>
          </p:cNvSpPr>
          <p:nvPr/>
        </p:nvSpPr>
        <p:spPr>
          <a:xfrm xmlns:a="http://schemas.openxmlformats.org/drawingml/2006/main">
            <a:off x="6400800" y="3767328"/>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Intact skin is the body's first defense against pathogens.</a:t>
            </a:r>
            <a:endParaRPr sz="1250"/>
          </a:p>
        </p:txBody>
      </p:sp>
      <p:sp>
        <p:nvSpPr>
          <p:cNvPr id="16" name="Shape 14">
            <a:extLst xmlns:a="http://schemas.openxmlformats.org/drawingml/2006/main">
              <a:ext uri="{FF2B5EF4-FFF2-40B4-BE49-F238E27FC236}">
                <a16:creationId xmlns:a16="http://schemas.microsoft.com/office/drawing/2014/main" id="{408E21CB-119E-4960-9D2E-07F8DB3CB56B}"/>
              </a:ext>
            </a:extLst>
          </p:cNvPr>
          <p:cNvSpPr>
            <a:spLocks xmlns:a="http://schemas.openxmlformats.org/drawingml/2006/main" noGrp="1"/>
          </p:cNvSpPr>
          <p:nvPr/>
        </p:nvSpPr>
        <p:spPr>
          <a:xfrm xmlns:a="http://schemas.openxmlformats.org/drawingml/2006/main">
            <a:off x="548640" y="4837176"/>
            <a:ext cx="5440680" cy="1417320"/>
          </a:xfrm>
          <a:prstGeom xmlns:a="http://schemas.openxmlformats.org/drawingml/2006/main" prst="roundRect">
            <a:avLst>
              <a:gd name="adj" fmla="val 5161"/>
            </a:avLst>
          </a:prstGeom>
          <a:solidFill xmlns:a="http://schemas.openxmlformats.org/drawingml/2006/main">
            <a:srgbClr val="13586A"/>
          </a:solidFill>
          <a:ln xmlns:a="http://schemas.openxmlformats.org/drawingml/2006/main" w="12700">
            <a:solidFill>
              <a:srgbClr val="2A7A8C"/>
            </a:solidFill>
            <a:prstDash val="solid"/>
          </a:ln>
        </p:spPr>
      </p:sp>
      <p:sp>
        <p:nvSpPr>
          <p:cNvPr id="17" name="Text 15">
            <a:extLst xmlns:a="http://schemas.openxmlformats.org/drawingml/2006/main">
              <a:ext uri="{FF2B5EF4-FFF2-40B4-BE49-F238E27FC236}">
                <a16:creationId xmlns:a16="http://schemas.microsoft.com/office/drawing/2014/main" id="{1EA6AE2B-2BCE-4367-9EE8-1BE3A658F9C5}"/>
              </a:ext>
            </a:extLst>
          </p:cNvPr>
          <p:cNvSpPr>
            <a:spLocks xmlns:a="http://schemas.openxmlformats.org/drawingml/2006/main" noGrp="1"/>
          </p:cNvSpPr>
          <p:nvPr/>
        </p:nvSpPr>
        <p:spPr>
          <a:xfrm xmlns:a="http://schemas.openxmlformats.org/drawingml/2006/main">
            <a:off x="777240" y="4965192"/>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Skin Cancer</a:t>
            </a:r>
            <a:endParaRPr sz="1600"/>
          </a:p>
        </p:txBody>
      </p:sp>
      <p:sp>
        <p:nvSpPr>
          <p:cNvPr id="18" name="Text 16">
            <a:extLst xmlns:a="http://schemas.openxmlformats.org/drawingml/2006/main">
              <a:ext uri="{FF2B5EF4-FFF2-40B4-BE49-F238E27FC236}">
                <a16:creationId xmlns:a16="http://schemas.microsoft.com/office/drawing/2014/main" id="{5AB6A5BC-81A9-4971-9C9F-BADE9D8B72E8}"/>
              </a:ext>
            </a:extLst>
          </p:cNvPr>
          <p:cNvSpPr>
            <a:spLocks xmlns:a="http://schemas.openxmlformats.org/drawingml/2006/main" noGrp="1"/>
          </p:cNvSpPr>
          <p:nvPr/>
        </p:nvSpPr>
        <p:spPr>
          <a:xfrm xmlns:a="http://schemas.openxmlformats.org/drawingml/2006/main">
            <a:off x="777240" y="5340096"/>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Teach the ABCDE rule and the importance of sun protection.</a:t>
            </a:r>
            <a:endParaRPr sz="1250"/>
          </a:p>
        </p:txBody>
      </p:sp>
      <p:sp>
        <p:nvSpPr>
          <p:cNvPr id="19" name="Shape 17">
            <a:extLst xmlns:a="http://schemas.openxmlformats.org/drawingml/2006/main">
              <a:ext uri="{FF2B5EF4-FFF2-40B4-BE49-F238E27FC236}">
                <a16:creationId xmlns:a16="http://schemas.microsoft.com/office/drawing/2014/main" id="{B9AAE602-7D74-425D-A55C-AAB4A494B5CC}"/>
              </a:ext>
            </a:extLst>
          </p:cNvPr>
          <p:cNvSpPr>
            <a:spLocks xmlns:a="http://schemas.openxmlformats.org/drawingml/2006/main" noGrp="1"/>
          </p:cNvSpPr>
          <p:nvPr/>
        </p:nvSpPr>
        <p:spPr>
          <a:xfrm xmlns:a="http://schemas.openxmlformats.org/drawingml/2006/main">
            <a:off x="6172200" y="4837176"/>
            <a:ext cx="5440680" cy="1417320"/>
          </a:xfrm>
          <a:prstGeom xmlns:a="http://schemas.openxmlformats.org/drawingml/2006/main" prst="roundRect">
            <a:avLst>
              <a:gd name="adj" fmla="val 5161"/>
            </a:avLst>
          </a:prstGeom>
          <a:solidFill xmlns:a="http://schemas.openxmlformats.org/drawingml/2006/main">
            <a:srgbClr val="13586A"/>
          </a:solidFill>
          <a:ln xmlns:a="http://schemas.openxmlformats.org/drawingml/2006/main" w="12700">
            <a:solidFill>
              <a:srgbClr val="2A7A8C"/>
            </a:solidFill>
            <a:prstDash val="solid"/>
          </a:ln>
        </p:spPr>
      </p:sp>
      <p:sp>
        <p:nvSpPr>
          <p:cNvPr id="20" name="Text 18">
            <a:extLst xmlns:a="http://schemas.openxmlformats.org/drawingml/2006/main">
              <a:ext uri="{FF2B5EF4-FFF2-40B4-BE49-F238E27FC236}">
                <a16:creationId xmlns:a16="http://schemas.microsoft.com/office/drawing/2014/main" id="{8E5C13F7-A5D6-40BA-932B-30C611D7E0A4}"/>
              </a:ext>
            </a:extLst>
          </p:cNvPr>
          <p:cNvSpPr>
            <a:spLocks xmlns:a="http://schemas.openxmlformats.org/drawingml/2006/main" noGrp="1"/>
          </p:cNvSpPr>
          <p:nvPr/>
        </p:nvSpPr>
        <p:spPr>
          <a:xfrm xmlns:a="http://schemas.openxmlformats.org/drawingml/2006/main">
            <a:off x="6400800" y="4965192"/>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Thermoregulation</a:t>
            </a:r>
            <a:endParaRPr sz="1600"/>
          </a:p>
        </p:txBody>
      </p:sp>
      <p:sp>
        <p:nvSpPr>
          <p:cNvPr id="21" name="Text 19">
            <a:extLst xmlns:a="http://schemas.openxmlformats.org/drawingml/2006/main">
              <a:ext uri="{FF2B5EF4-FFF2-40B4-BE49-F238E27FC236}">
                <a16:creationId xmlns:a16="http://schemas.microsoft.com/office/drawing/2014/main" id="{3905EB93-803F-4048-808D-5DDBABB2968A}"/>
              </a:ext>
            </a:extLst>
          </p:cNvPr>
          <p:cNvSpPr>
            <a:spLocks xmlns:a="http://schemas.openxmlformats.org/drawingml/2006/main" noGrp="1"/>
          </p:cNvSpPr>
          <p:nvPr/>
        </p:nvSpPr>
        <p:spPr>
          <a:xfrm xmlns:a="http://schemas.openxmlformats.org/drawingml/2006/main">
            <a:off x="6400800" y="5340096"/>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Sweating and skin blood flow help control body temperature.</a:t>
            </a:r>
            <a:endParaRPr sz="1250"/>
          </a:p>
        </p:txBody>
      </p:sp>
    </p:spTree>
    <p:extLst>
      <p:ext uri="{BB962C8B-B14F-4D97-AF65-F5344CB8AC3E}">
        <p14:creationId xmlns:p14="http://schemas.microsoft.com/office/powerpoint/2010/main" val="56203549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2026-08-11T15:20:16.7080000Z</dcterms:created>
  <dcterms:modified xsi:type="dcterms:W3CDTF">2026-08-11T15:20:16.7080000Z</dcterms:modified>
</coreProperties>
</file>