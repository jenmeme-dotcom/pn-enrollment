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lymphatic and immune systems: the vessels and organs that drain fluid and house immune cells, the fast innate defenses (barriers and inflammation), and the specific adaptive responses of T and B cells that create lasting immunity.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lymphatic system is a one-way network of vessels and organs that collects fluid leaked from capillaries and returns it to the blood, absorbs fats from the gut, and houses immune cells. Its organs include the lymph nodes, spleen, thymus, and tonsils.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 capillaries constantly leak a little fluid into the tissues. Lymphatic capillaries collect this excess (now called lymph) and carry it through larger vessels and nodes, eventually emptying it back into the great veins near the heart. This keeps tissue fluid balanced and prevents swelling.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Lymph nodes are bean-shaped filters spaced along the lymphatic vessels. As lymph passes through, macrophages and lymphocytes inside trap and destroy pathogens, cancer cells, and debris. Nodes swell and become tender during infection — the "swollen glands" you can feel in the 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Immunity has two arms. Innate immunity is fast and general — physical barriers (skin, mucous membranes), plus cells and chemicals that attack any invader. Adaptive immunity is slower but specific, learning to target a particular pathogen and remembering it. Together they form a layered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Inflammation is a key innate response to injury or infection. Damaged cells and mast cells release histamine, dilating local vessels and making them leaky. This brings more blood and immune cells to the area, producing the classic signs — redness, heat, swelling, and pain — that help wall off and clear the threat.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cells can't recognize whole pathogens directly. Antigen-presenting cells (like dendritic cells) engulf a pathogen and display its fragments on MHC molecules at their surface. A T cell whose receptor matches that antigen is activated — the trigger that launches the adaptive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Activated T cells specialize. Helper T cells (CD4) release signals that direct and amplify the whole immune response — the cells destroyed in HIV/AIDS. Cytotoxic T cells (CD8) directly kill virus-infected and cancerous cells. Memory T cells persist to respond faster if the same pathogen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Antibodies (immunoglobulins) are Y-shaped proteins. The two tips of the Y have variable regions that bind one specific antigen, while the stem signals other immune components. Antibodies neutralize toxins, clump pathogens, and flag them for destruction — they don't kill directly but mark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B cell meets its matching antigen (usually with helper T cell assistance), it multiplies into plasma cells that mass-produce antibodies against that antigen. Some become memory B cells, ready to respond quickly to a future exposure — the basis of long-term immunity.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exposure to a pathogen produces a slow, modest antibody response while memory cells form. A second exposure to the same pathogen triggers a much faster, stronger response that often stops illness before it starts. Vaccines exploit this by safely creating memory without causing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infection calls on every layer at once. Barriers and innate cells respond immediately, antigen-presenting cells alert the adaptive system, T and B cells mount a specific attack, and memory cells remain afterward. This coordinated, overlapping defense is what clears most infections and protects against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21</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3800" b="1" dirty="0">
                <a:solidFill>
                  <a:srgbClr val="FFFFFF"/>
                </a:solidFill>
                <a:latin typeface="Georgia" pitchFamily="34" charset="0"/>
                <a:ea typeface="Georgia" pitchFamily="34" charset="-122"/>
                <a:cs typeface="Georgia" pitchFamily="34" charset="-120"/>
              </a:rPr>
              <a:t>The Lymphatic and Immune System</a:t>
            </a:r>
            <a:endParaRPr lang="en-US" sz="38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How the body defends itself against infection.</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8231360" y="1380744"/>
            <a:ext cx="3105440" cy="4279392"/>
          </a:xfrm>
          <a:prstGeom prst="roundRect">
            <a:avLst>
              <a:gd name="adj" fmla="val 176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21/img/img01.jpg">    </p:cNvPr>
          <p:cNvPicPr>
            <a:picLocks noChangeAspect="1"/>
          </p:cNvPicPr>
          <p:nvPr/>
        </p:nvPicPr>
        <p:blipFill>
          <a:blip r:embed="rId1"/>
          <a:stretch>
            <a:fillRect/>
          </a:stretch>
        </p:blipFill>
        <p:spPr>
          <a:xfrm>
            <a:off x="8313656" y="1463040"/>
            <a:ext cx="2940848" cy="4114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Identify the components and anatomy of the lymphatic system</a:t>
            </a:r>
            <a:endParaRPr lang="en-US" sz="1400" dirty="0"/>
          </a:p>
        </p:txBody>
      </p:sp>
      <p:sp>
        <p:nvSpPr>
          <p:cNvPr id="8" name="Shape 6"/>
          <p:cNvSpPr/>
          <p:nvPr/>
        </p:nvSpPr>
        <p:spPr>
          <a:xfrm>
            <a:off x="548640" y="2505456"/>
            <a:ext cx="384048" cy="384048"/>
          </a:xfrm>
          <a:prstGeom prst="ellipse">
            <a:avLst/>
          </a:prstGeom>
          <a:solidFill>
            <a:srgbClr val="0F4C5C"/>
          </a:solidFill>
          <a:ln/>
        </p:spPr>
      </p:sp>
      <p:sp>
        <p:nvSpPr>
          <p:cNvPr id="9" name="Text 7"/>
          <p:cNvSpPr/>
          <p:nvPr/>
        </p:nvSpPr>
        <p:spPr>
          <a:xfrm>
            <a:off x="548640" y="250545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87168"/>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Discuss the role of the innate immune response against pathogens</a:t>
            </a:r>
            <a:endParaRPr lang="en-US" sz="1400" dirty="0"/>
          </a:p>
        </p:txBody>
      </p:sp>
      <p:sp>
        <p:nvSpPr>
          <p:cNvPr id="11" name="Shape 9"/>
          <p:cNvSpPr/>
          <p:nvPr/>
        </p:nvSpPr>
        <p:spPr>
          <a:xfrm>
            <a:off x="548640" y="3346704"/>
            <a:ext cx="384048" cy="384048"/>
          </a:xfrm>
          <a:prstGeom prst="ellipse">
            <a:avLst/>
          </a:prstGeom>
          <a:solidFill>
            <a:srgbClr val="0F4C5C"/>
          </a:solidFill>
          <a:ln/>
        </p:spPr>
      </p:sp>
      <p:sp>
        <p:nvSpPr>
          <p:cNvPr id="12" name="Text 10"/>
          <p:cNvSpPr/>
          <p:nvPr/>
        </p:nvSpPr>
        <p:spPr>
          <a:xfrm>
            <a:off x="548640" y="334670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328416"/>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power of the adaptive immune response to cure disease</a:t>
            </a:r>
            <a:endParaRPr lang="en-US" sz="1400" dirty="0"/>
          </a:p>
        </p:txBody>
      </p:sp>
      <p:sp>
        <p:nvSpPr>
          <p:cNvPr id="14" name="Shape 12"/>
          <p:cNvSpPr/>
          <p:nvPr/>
        </p:nvSpPr>
        <p:spPr>
          <a:xfrm>
            <a:off x="548640" y="4187952"/>
            <a:ext cx="384048" cy="384048"/>
          </a:xfrm>
          <a:prstGeom prst="ellipse">
            <a:avLst/>
          </a:prstGeom>
          <a:solidFill>
            <a:srgbClr val="0F4C5C"/>
          </a:solidFill>
          <a:ln/>
        </p:spPr>
      </p:sp>
      <p:sp>
        <p:nvSpPr>
          <p:cNvPr id="15" name="Text 13"/>
          <p:cNvSpPr/>
          <p:nvPr/>
        </p:nvSpPr>
        <p:spPr>
          <a:xfrm>
            <a:off x="548640" y="418795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169664"/>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Explain immunological deficiencies and over-reactions of the immune system</a:t>
            </a:r>
            <a:endParaRPr lang="en-US" sz="1400" dirty="0"/>
          </a:p>
        </p:txBody>
      </p:sp>
      <p:sp>
        <p:nvSpPr>
          <p:cNvPr id="17" name="Shape 15"/>
          <p:cNvSpPr/>
          <p:nvPr/>
        </p:nvSpPr>
        <p:spPr>
          <a:xfrm>
            <a:off x="548640" y="5029200"/>
            <a:ext cx="384048" cy="384048"/>
          </a:xfrm>
          <a:prstGeom prst="ellipse">
            <a:avLst/>
          </a:prstGeom>
          <a:solidFill>
            <a:srgbClr val="0F4C5C"/>
          </a:solidFill>
          <a:ln/>
        </p:spPr>
      </p:sp>
      <p:sp>
        <p:nvSpPr>
          <p:cNvPr id="18" name="Text 16"/>
          <p:cNvSpPr/>
          <p:nvPr/>
        </p:nvSpPr>
        <p:spPr>
          <a:xfrm>
            <a:off x="548640" y="502920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5010912"/>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Discuss the role of the immune response in transplantation and cancer</a:t>
            </a:r>
            <a:endParaRPr lang="en-US" sz="1400" dirty="0"/>
          </a:p>
        </p:txBody>
      </p:sp>
      <p:sp>
        <p:nvSpPr>
          <p:cNvPr id="20" name="Shape 18"/>
          <p:cNvSpPr/>
          <p:nvPr/>
        </p:nvSpPr>
        <p:spPr>
          <a:xfrm>
            <a:off x="7415784" y="1795324"/>
            <a:ext cx="4370832" cy="3870857"/>
          </a:xfrm>
          <a:prstGeom prst="roundRect">
            <a:avLst>
              <a:gd name="adj" fmla="val 141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1" name="Image 0" descr="/home/claude/all/ch21/img/img11.jpg">    </p:cNvPr>
          <p:cNvPicPr>
            <a:picLocks noChangeAspect="1"/>
          </p:cNvPicPr>
          <p:nvPr/>
        </p:nvPicPr>
        <p:blipFill>
          <a:blip r:embed="rId1"/>
          <a:stretch>
            <a:fillRect/>
          </a:stretch>
        </p:blipFill>
        <p:spPr>
          <a:xfrm>
            <a:off x="7498080" y="1877620"/>
            <a:ext cx="4206240" cy="3706265"/>
          </a:xfrm>
          <a:prstGeom prst="rect">
            <a:avLst/>
          </a:prstGeom>
        </p:spPr>
      </p:pic>
      <p:sp>
        <p:nvSpPr>
          <p:cNvPr id="22" name="Text 19"/>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body's innate and adaptive defenses.</a:t>
            </a:r>
            <a:endParaRPr lang="en-US" sz="1100" dirty="0"/>
          </a:p>
        </p:txBody>
      </p:sp>
      <p:sp>
        <p:nvSpPr>
          <p:cNvPr id="24" name="Text 20"/>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25" name="Text 21"/>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21.1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Anatomy of the Lymphatic and Immune Systems</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lymphatic vessels and organs that drain fluid and house immune cells.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Lymphatic System</a:t>
            </a:r>
            <a:endParaRPr lang="en-US" sz="2800" dirty="0"/>
          </a:p>
        </p:txBody>
      </p:sp>
      <p:sp>
        <p:nvSpPr>
          <p:cNvPr id="4" name="Shape 2"/>
          <p:cNvSpPr/>
          <p:nvPr/>
        </p:nvSpPr>
        <p:spPr>
          <a:xfrm>
            <a:off x="935660" y="1289304"/>
            <a:ext cx="3432200" cy="4736592"/>
          </a:xfrm>
          <a:prstGeom prst="roundRect">
            <a:avLst>
              <a:gd name="adj" fmla="val 159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1/img/img01.jpg">    </p:cNvPr>
          <p:cNvPicPr>
            <a:picLocks noChangeAspect="1"/>
          </p:cNvPicPr>
          <p:nvPr/>
        </p:nvPicPr>
        <p:blipFill>
          <a:blip r:embed="rId1"/>
          <a:stretch>
            <a:fillRect/>
          </a:stretch>
        </p:blipFill>
        <p:spPr>
          <a:xfrm>
            <a:off x="1017956" y="1371600"/>
            <a:ext cx="326760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lymphatic system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Vessels, nodes, and lymphoid organs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Returns leaked fluid to the blood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Houses and transports immune cells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Includes spleen, thymus, tonsils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Formation of Lymph</a:t>
            </a:r>
            <a:endParaRPr lang="en-US" sz="2800" dirty="0"/>
          </a:p>
        </p:txBody>
      </p:sp>
      <p:sp>
        <p:nvSpPr>
          <p:cNvPr id="4" name="Shape 2"/>
          <p:cNvSpPr/>
          <p:nvPr/>
        </p:nvSpPr>
        <p:spPr>
          <a:xfrm>
            <a:off x="2938379" y="1289304"/>
            <a:ext cx="6330483"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1/img/img02.jpg">    </p:cNvPr>
          <p:cNvPicPr>
            <a:picLocks noChangeAspect="1"/>
          </p:cNvPicPr>
          <p:nvPr/>
        </p:nvPicPr>
        <p:blipFill>
          <a:blip r:embed="rId1"/>
          <a:stretch>
            <a:fillRect/>
          </a:stretch>
        </p:blipFill>
        <p:spPr>
          <a:xfrm>
            <a:off x="3020675" y="1371600"/>
            <a:ext cx="6165891"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How lymph forms and drains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Capillaries leak fluid into tissues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Lymphatic capillaries collect it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fluid is now called lymph</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It returns to the bloodstream</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Lymph Nodes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Small filtering organs along the vessels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Trap pathogens and debris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Packed with immune cells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Swell during infection</a:t>
            </a:r>
            <a:endParaRPr lang="en-US" sz="1500" dirty="0"/>
          </a:p>
        </p:txBody>
      </p:sp>
      <p:sp>
        <p:nvSpPr>
          <p:cNvPr id="5" name="Shape 3"/>
          <p:cNvSpPr/>
          <p:nvPr/>
        </p:nvSpPr>
        <p:spPr>
          <a:xfrm>
            <a:off x="5404104" y="1395566"/>
            <a:ext cx="6382512" cy="4524068"/>
          </a:xfrm>
          <a:prstGeom prst="roundRect">
            <a:avLst>
              <a:gd name="adj" fmla="val 121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1/img/img06.jpg">    </p:cNvPr>
          <p:cNvPicPr>
            <a:picLocks noChangeAspect="1"/>
          </p:cNvPicPr>
          <p:nvPr/>
        </p:nvPicPr>
        <p:blipFill>
          <a:blip r:embed="rId1"/>
          <a:stretch>
            <a:fillRect/>
          </a:stretch>
        </p:blipFill>
        <p:spPr>
          <a:xfrm>
            <a:off x="5486400" y="1477862"/>
            <a:ext cx="6217920" cy="4359476"/>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a lymph node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21.2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Barrier Defenses and the Innate Immune Response</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body's first lines of defense — barriers and the innate response.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Innate vs. Adaptive Immunity</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Two arms of defense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Innate: fast, general, present at birth</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Adaptive: slower, specific, learned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Barriers are the first line</a:t>
            </a:r>
            <a:endParaRPr lang="en-US" sz="1500" dirty="0"/>
          </a:p>
        </p:txBody>
      </p:sp>
      <p:sp>
        <p:nvSpPr>
          <p:cNvPr id="5" name="Shape 3"/>
          <p:cNvSpPr/>
          <p:nvPr/>
        </p:nvSpPr>
        <p:spPr>
          <a:xfrm>
            <a:off x="5970570" y="1335024"/>
            <a:ext cx="5249580"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1/img/img11.jpg">    </p:cNvPr>
          <p:cNvPicPr>
            <a:picLocks noChangeAspect="1"/>
          </p:cNvPicPr>
          <p:nvPr/>
        </p:nvPicPr>
        <p:blipFill>
          <a:blip r:embed="rId1"/>
          <a:stretch>
            <a:fillRect/>
          </a:stretch>
        </p:blipFill>
        <p:spPr>
          <a:xfrm>
            <a:off x="6052866" y="1417320"/>
            <a:ext cx="5084988"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Innate and adaptive immunity</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Inflammation</a:t>
            </a:r>
            <a:endParaRPr lang="en-US" sz="2800" dirty="0"/>
          </a:p>
        </p:txBody>
      </p:sp>
      <p:sp>
        <p:nvSpPr>
          <p:cNvPr id="4" name="Shape 2"/>
          <p:cNvSpPr/>
          <p:nvPr/>
        </p:nvSpPr>
        <p:spPr>
          <a:xfrm>
            <a:off x="492633" y="1289304"/>
            <a:ext cx="4318254" cy="4736592"/>
          </a:xfrm>
          <a:prstGeom prst="roundRect">
            <a:avLst>
              <a:gd name="adj" fmla="val 12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1/img/img13.jpg">    </p:cNvPr>
          <p:cNvPicPr>
            <a:picLocks noChangeAspect="1"/>
          </p:cNvPicPr>
          <p:nvPr/>
        </p:nvPicPr>
        <p:blipFill>
          <a:blip r:embed="rId1"/>
          <a:stretch>
            <a:fillRect/>
          </a:stretch>
        </p:blipFill>
        <p:spPr>
          <a:xfrm>
            <a:off x="574929" y="1371600"/>
            <a:ext cx="415366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inflammatory response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 core innate response to injury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Mast cells release histamine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Vessels dilate and become leaky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Causes redness, heat, swelling, pain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21.3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The Adaptive Immune Response: T lymphocytes and Their Functional Types</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Adaptive immunity carried out by T lymphocytes.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Antigen Presentation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 cells must be shown the enemy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Antigen-presenting cells display antigens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Displayed on MHC molecules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This activates the matching T cell</a:t>
            </a:r>
            <a:endParaRPr lang="en-US" sz="1500" dirty="0"/>
          </a:p>
        </p:txBody>
      </p:sp>
      <p:sp>
        <p:nvSpPr>
          <p:cNvPr id="5" name="Shape 3"/>
          <p:cNvSpPr/>
          <p:nvPr/>
        </p:nvSpPr>
        <p:spPr>
          <a:xfrm>
            <a:off x="5751919" y="1335024"/>
            <a:ext cx="5686882"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1/img/img15.jpg">    </p:cNvPr>
          <p:cNvPicPr>
            <a:picLocks noChangeAspect="1"/>
          </p:cNvPicPr>
          <p:nvPr/>
        </p:nvPicPr>
        <p:blipFill>
          <a:blip r:embed="rId1"/>
          <a:stretch>
            <a:fillRect/>
          </a:stretch>
        </p:blipFill>
        <p:spPr>
          <a:xfrm>
            <a:off x="5834215" y="1417320"/>
            <a:ext cx="552229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Antigen presentation to a T cell</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Types of T Cells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Helper T cells coordinate the response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Cytotoxic T cells kill infected cells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Memory T cells remember the pathogen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Central to adaptive immunity</a:t>
            </a:r>
            <a:endParaRPr lang="en-US" sz="1500" dirty="0"/>
          </a:p>
        </p:txBody>
      </p:sp>
      <p:sp>
        <p:nvSpPr>
          <p:cNvPr id="5" name="Shape 3"/>
          <p:cNvSpPr/>
          <p:nvPr/>
        </p:nvSpPr>
        <p:spPr>
          <a:xfrm>
            <a:off x="6178020" y="1335024"/>
            <a:ext cx="4834680"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1/img/img17.jpg">    </p:cNvPr>
          <p:cNvPicPr>
            <a:picLocks noChangeAspect="1"/>
          </p:cNvPicPr>
          <p:nvPr/>
        </p:nvPicPr>
        <p:blipFill>
          <a:blip r:embed="rId1"/>
          <a:stretch>
            <a:fillRect/>
          </a:stretch>
        </p:blipFill>
        <p:spPr>
          <a:xfrm>
            <a:off x="6260316" y="1417320"/>
            <a:ext cx="4670088"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Helper and cytotoxic T cells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21.4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The Adaptive Immune Response: B-lymphocytes and Antibodies</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Adaptive immunity carried out by B lymphocytes and antibodies.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Antibody Structure</a:t>
            </a:r>
            <a:endParaRPr lang="en-US" sz="2800" dirty="0"/>
          </a:p>
        </p:txBody>
      </p:sp>
      <p:sp>
        <p:nvSpPr>
          <p:cNvPr id="4" name="Shape 2"/>
          <p:cNvSpPr/>
          <p:nvPr/>
        </p:nvSpPr>
        <p:spPr>
          <a:xfrm>
            <a:off x="1540444" y="1289304"/>
            <a:ext cx="9126352"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1/img/img19.jpg">    </p:cNvPr>
          <p:cNvPicPr>
            <a:picLocks noChangeAspect="1"/>
          </p:cNvPicPr>
          <p:nvPr/>
        </p:nvPicPr>
        <p:blipFill>
          <a:blip r:embed="rId1"/>
          <a:stretch>
            <a:fillRect/>
          </a:stretch>
        </p:blipFill>
        <p:spPr>
          <a:xfrm>
            <a:off x="1622740" y="1371600"/>
            <a:ext cx="8961760"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an antibody</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Y-shaped proteins made by B cells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Two antigen-binding tips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Each binds one specific antigen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Tag pathogens for destruction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 Cell Activation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 cells make antibodies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Activated B cells become plasma cells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Plasma cells pump out antibodies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Memory B cells remain behind</a:t>
            </a:r>
            <a:endParaRPr lang="en-US" sz="1500" dirty="0"/>
          </a:p>
        </p:txBody>
      </p:sp>
      <p:sp>
        <p:nvSpPr>
          <p:cNvPr id="5" name="Shape 3"/>
          <p:cNvSpPr/>
          <p:nvPr/>
        </p:nvSpPr>
        <p:spPr>
          <a:xfrm>
            <a:off x="6066902" y="1335024"/>
            <a:ext cx="5056915"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1/img/img21.jpg">    </p:cNvPr>
          <p:cNvPicPr>
            <a:picLocks noChangeAspect="1"/>
          </p:cNvPicPr>
          <p:nvPr/>
        </p:nvPicPr>
        <p:blipFill>
          <a:blip r:embed="rId1"/>
          <a:stretch>
            <a:fillRect/>
          </a:stretch>
        </p:blipFill>
        <p:spPr>
          <a:xfrm>
            <a:off x="6149198" y="1417320"/>
            <a:ext cx="4892323"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 cell activation and antibody production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Primary vs. Secondary Response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First exposure → slow, weak response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Memory cells are formed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Second exposure → fast, strong response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principle behind vaccines</a:t>
            </a:r>
            <a:endParaRPr lang="en-US" sz="1500" dirty="0"/>
          </a:p>
        </p:txBody>
      </p:sp>
      <p:sp>
        <p:nvSpPr>
          <p:cNvPr id="5" name="Shape 3"/>
          <p:cNvSpPr/>
          <p:nvPr/>
        </p:nvSpPr>
        <p:spPr>
          <a:xfrm>
            <a:off x="5404104" y="1415104"/>
            <a:ext cx="6382512" cy="4484992"/>
          </a:xfrm>
          <a:prstGeom prst="roundRect">
            <a:avLst>
              <a:gd name="adj" fmla="val 122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1/img/img22.jpg">    </p:cNvPr>
          <p:cNvPicPr>
            <a:picLocks noChangeAspect="1"/>
          </p:cNvPicPr>
          <p:nvPr/>
        </p:nvPicPr>
        <p:blipFill>
          <a:blip r:embed="rId1"/>
          <a:stretch>
            <a:fillRect/>
          </a:stretch>
        </p:blipFill>
        <p:spPr>
          <a:xfrm>
            <a:off x="5486400" y="1497400"/>
            <a:ext cx="6217920" cy="432040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primary and secondary immune response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21.5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The Immune Response against Pathogens</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immune defenses work together against an infection.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21.5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 Coordinated Immune Response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defenses work as a team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Barriers and innate cells respond first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Adaptive immunity targets the pathogen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Memory protects against reinfection</a:t>
            </a:r>
            <a:endParaRPr lang="en-US" sz="1500" dirty="0"/>
          </a:p>
        </p:txBody>
      </p:sp>
      <p:sp>
        <p:nvSpPr>
          <p:cNvPr id="5" name="Shape 3"/>
          <p:cNvSpPr/>
          <p:nvPr/>
        </p:nvSpPr>
        <p:spPr>
          <a:xfrm>
            <a:off x="6137023" y="1335024"/>
            <a:ext cx="491667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1/img/img24.jpg">    </p:cNvPr>
          <p:cNvPicPr>
            <a:picLocks noChangeAspect="1"/>
          </p:cNvPicPr>
          <p:nvPr/>
        </p:nvPicPr>
        <p:blipFill>
          <a:blip r:embed="rId1"/>
          <a:stretch>
            <a:fillRect/>
          </a:stretch>
        </p:blipFill>
        <p:spPr>
          <a:xfrm>
            <a:off x="6219319" y="1417320"/>
            <a:ext cx="475208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 coordinated immune response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lymphatic system drains tissue fluid and houses the immune system.</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Innate immunity provides fast, general defense; adaptive immunity is specific and remembers.</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Inflammation brings defenses to the site of injury or infection.</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 cells coordinate the response and kill infected cells; B cells make antibodies.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Immune memory underlies long-term protection and the success of vaccines.</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21 — The Lymphatic and Immune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the Immune System Matters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Vaccination</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Builds immune memory without causing the disease.</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Allergies</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An overactive immune response to harmless substances.</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Autoimmune Disease</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immune system attacks the body's own tissues.</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HIV/AIDS</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virus destroys helper T cells, crippling immunity.</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Lymph Node Exam</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Swollen nodes can signal infection or, sometimes, cancer.</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Immunocompromise</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Weakened immunity raises infection risk in many patients.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2026-06-23T22:02:05Z</dcterms:created>
  <dcterms:modified xsi:type="dcterms:W3CDTF">2026-06-23T22:02:05Z</dcterms:modified>
</cp:coreProperties>
</file>