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6238125c12451e" /><Relationship Type="http://schemas.openxmlformats.org/officeDocument/2006/relationships/extended-properties" Target="/docProps/app.xml" Id="R02530e8dc59142d1" /><Relationship Type="http://schemas.openxmlformats.org/officeDocument/2006/relationships/officeDocument" Target="/ppt/presentation.xml" Id="R2522415ff170457d" /></Relationships>
</file>

<file path=ppt/presentation.xml><?xml version="1.0" encoding="utf-8"?>
<p:presentation xmlns:p="http://schemas.openxmlformats.org/presentationml/2006/main">
  <p:sldMasterIdLst>
    <p:sldMasterId xmlns:r="http://schemas.openxmlformats.org/officeDocument/2006/relationships" id="2147483648" r:id="R4810239939c6476d"/>
  </p:sldMasterIdLst>
  <p:notesMasterIdLst>
    <p:notesMasterId xmlns:r="http://schemas.openxmlformats.org/officeDocument/2006/relationships" r:id="R415bd99af49b4743"/>
  </p:notesMasterIdLst>
  <p:sldIdLst>
    <p:sldId xmlns:r="http://schemas.openxmlformats.org/officeDocument/2006/relationships" id="256" r:id="R34e1fb35a56c4e95"/>
    <p:sldId xmlns:r="http://schemas.openxmlformats.org/officeDocument/2006/relationships" id="257" r:id="R0365ca900b424bed"/>
    <p:sldId xmlns:r="http://schemas.openxmlformats.org/officeDocument/2006/relationships" id="258" r:id="Rb6e59e85c9b343ef"/>
    <p:sldId xmlns:r="http://schemas.openxmlformats.org/officeDocument/2006/relationships" id="259" r:id="R8211372e49364acf"/>
    <p:sldId xmlns:r="http://schemas.openxmlformats.org/officeDocument/2006/relationships" id="260" r:id="R5a97f5f4435e46ec"/>
    <p:sldId xmlns:r="http://schemas.openxmlformats.org/officeDocument/2006/relationships" id="261" r:id="Rc5d3b1fa7b84437f"/>
    <p:sldId xmlns:r="http://schemas.openxmlformats.org/officeDocument/2006/relationships" id="262" r:id="R1a2d5a1bd5dd44c2"/>
    <p:sldId xmlns:r="http://schemas.openxmlformats.org/officeDocument/2006/relationships" id="263" r:id="R4a162ae8f2d04e59"/>
    <p:sldId xmlns:r="http://schemas.openxmlformats.org/officeDocument/2006/relationships" id="264" r:id="Rfdb98015d65c4aa7"/>
    <p:sldId xmlns:r="http://schemas.openxmlformats.org/officeDocument/2006/relationships" id="265" r:id="R16f16ddaeba24a69"/>
    <p:sldId xmlns:r="http://schemas.openxmlformats.org/officeDocument/2006/relationships" id="266" r:id="R89b7653189c8443d"/>
    <p:sldId xmlns:r="http://schemas.openxmlformats.org/officeDocument/2006/relationships" id="267" r:id="R6ffdf76dd80c4e19"/>
    <p:sldId xmlns:r="http://schemas.openxmlformats.org/officeDocument/2006/relationships" id="268" r:id="R0612b1877c0142ee"/>
    <p:sldId xmlns:r="http://schemas.openxmlformats.org/officeDocument/2006/relationships" id="269" r:id="R9cbe7c6a3ae14f46"/>
    <p:sldId xmlns:r="http://schemas.openxmlformats.org/officeDocument/2006/relationships" id="270" r:id="R291526e50a974ff7"/>
    <p:sldId xmlns:r="http://schemas.openxmlformats.org/officeDocument/2006/relationships" id="271" r:id="R7280c0cc1df14990"/>
    <p:sldId xmlns:r="http://schemas.openxmlformats.org/officeDocument/2006/relationships" id="272" r:id="R4b3dfc1ba3aa4c0f"/>
    <p:sldId xmlns:r="http://schemas.openxmlformats.org/officeDocument/2006/relationships" id="273" r:id="R155a9691df7244c9"/>
    <p:sldId xmlns:r="http://schemas.openxmlformats.org/officeDocument/2006/relationships" id="274" r:id="R8d71372702cc4a93"/>
    <p:sldId xmlns:r="http://schemas.openxmlformats.org/officeDocument/2006/relationships" id="275" r:id="Rc1559fd804ac4fac"/>
    <p:sldId xmlns:r="http://schemas.openxmlformats.org/officeDocument/2006/relationships" id="276" r:id="Rca3cf15f9f3848f3"/>
    <p:sldId xmlns:r="http://schemas.openxmlformats.org/officeDocument/2006/relationships" id="277" r:id="R803a2c7357004e96"/>
    <p:sldId xmlns:r="http://schemas.openxmlformats.org/officeDocument/2006/relationships" id="278" r:id="R3bec8b1ecb2748dc"/>
    <p:sldId xmlns:r="http://schemas.openxmlformats.org/officeDocument/2006/relationships" id="279" r:id="R181011ba1ea34d5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df0f3efcf44415" /><Relationship Type="http://schemas.openxmlformats.org/officeDocument/2006/relationships/slideMaster" Target="/ppt/slideMasters/slideMaster1.xml" Id="R4810239939c6476d" /><Relationship Type="http://schemas.openxmlformats.org/officeDocument/2006/relationships/notesMaster" Target="/ppt/notesMasters/notesMaster1.xml" Id="R415bd99af49b4743" /><Relationship Type="http://schemas.openxmlformats.org/officeDocument/2006/relationships/presProps" Target="/ppt/presProps.xml" Id="R5e5524a4790f4afb" /><Relationship Type="http://schemas.openxmlformats.org/officeDocument/2006/relationships/viewProps" Target="/ppt/viewProps.xml" Id="R3d027e3c7728414d" /><Relationship Type="http://schemas.openxmlformats.org/officeDocument/2006/relationships/tableStyles" Target="/ppt/tableStyles.xml" Id="R44f7dded57e74382" /><Relationship Type="http://schemas.openxmlformats.org/officeDocument/2006/relationships/slide" Target="/ppt/slides/slide1.xml" Id="R34e1fb35a56c4e95" /><Relationship Type="http://schemas.openxmlformats.org/officeDocument/2006/relationships/slide" Target="/ppt/slides/slide2.xml" Id="R0365ca900b424bed" /><Relationship Type="http://schemas.openxmlformats.org/officeDocument/2006/relationships/slide" Target="/ppt/slides/slide3.xml" Id="Rb6e59e85c9b343ef" /><Relationship Type="http://schemas.openxmlformats.org/officeDocument/2006/relationships/slide" Target="/ppt/slides/slide4.xml" Id="R8211372e49364acf" /><Relationship Type="http://schemas.openxmlformats.org/officeDocument/2006/relationships/slide" Target="/ppt/slides/slide5.xml" Id="R5a97f5f4435e46ec" /><Relationship Type="http://schemas.openxmlformats.org/officeDocument/2006/relationships/slide" Target="/ppt/slides/slide6.xml" Id="Rc5d3b1fa7b84437f" /><Relationship Type="http://schemas.openxmlformats.org/officeDocument/2006/relationships/slide" Target="/ppt/slides/slide7.xml" Id="R1a2d5a1bd5dd44c2" /><Relationship Type="http://schemas.openxmlformats.org/officeDocument/2006/relationships/slide" Target="/ppt/slides/slide8.xml" Id="R4a162ae8f2d04e59" /><Relationship Type="http://schemas.openxmlformats.org/officeDocument/2006/relationships/slide" Target="/ppt/slides/slide9.xml" Id="Rfdb98015d65c4aa7" /><Relationship Type="http://schemas.openxmlformats.org/officeDocument/2006/relationships/slide" Target="/ppt/slides/slide10.xml" Id="R16f16ddaeba24a69" /><Relationship Type="http://schemas.openxmlformats.org/officeDocument/2006/relationships/slide" Target="/ppt/slides/slide11.xml" Id="R89b7653189c8443d" /><Relationship Type="http://schemas.openxmlformats.org/officeDocument/2006/relationships/slide" Target="/ppt/slides/slide12.xml" Id="R6ffdf76dd80c4e19" /><Relationship Type="http://schemas.openxmlformats.org/officeDocument/2006/relationships/slide" Target="/ppt/slides/slide13.xml" Id="R0612b1877c0142ee" /><Relationship Type="http://schemas.openxmlformats.org/officeDocument/2006/relationships/slide" Target="/ppt/slides/slide14.xml" Id="R9cbe7c6a3ae14f46" /><Relationship Type="http://schemas.openxmlformats.org/officeDocument/2006/relationships/slide" Target="/ppt/slides/slide15.xml" Id="R291526e50a974ff7" /><Relationship Type="http://schemas.openxmlformats.org/officeDocument/2006/relationships/slide" Target="/ppt/slides/slide16.xml" Id="R7280c0cc1df14990" /><Relationship Type="http://schemas.openxmlformats.org/officeDocument/2006/relationships/slide" Target="/ppt/slides/slide17.xml" Id="R4b3dfc1ba3aa4c0f" /><Relationship Type="http://schemas.openxmlformats.org/officeDocument/2006/relationships/slide" Target="/ppt/slides/slide18.xml" Id="R155a9691df7244c9" /><Relationship Type="http://schemas.openxmlformats.org/officeDocument/2006/relationships/slide" Target="/ppt/slides/slide19.xml" Id="R8d71372702cc4a93" /><Relationship Type="http://schemas.openxmlformats.org/officeDocument/2006/relationships/slide" Target="/ppt/slides/slide20.xml" Id="Rc1559fd804ac4fac" /><Relationship Type="http://schemas.openxmlformats.org/officeDocument/2006/relationships/slide" Target="/ppt/slides/slide21.xml" Id="Rca3cf15f9f3848f3" /><Relationship Type="http://schemas.openxmlformats.org/officeDocument/2006/relationships/slide" Target="/ppt/slides/slide22.xml" Id="R803a2c7357004e96" /><Relationship Type="http://schemas.openxmlformats.org/officeDocument/2006/relationships/slide" Target="/ppt/slides/slide23.xml" Id="R3bec8b1ecb2748dc" /><Relationship Type="http://schemas.openxmlformats.org/officeDocument/2006/relationships/slide" Target="/ppt/slides/slide24.xml" Id="R181011ba1ea34d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edd0d773ed49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d257378fad4407" /><Relationship Type="http://schemas.openxmlformats.org/officeDocument/2006/relationships/notesMaster" Target="/ppt/notesMasters/notesMaster1.xml" Id="Rb95b54af30b349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db0beb268649ed" /><Relationship Type="http://schemas.openxmlformats.org/officeDocument/2006/relationships/notesMaster" Target="/ppt/notesMasters/notesMaster1.xml" Id="Rf0fc224c863f40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e4aabecf354622" /><Relationship Type="http://schemas.openxmlformats.org/officeDocument/2006/relationships/notesMaster" Target="/ppt/notesMasters/notesMaster1.xml" Id="R26d49f2685f04a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842fc0493a4665" /><Relationship Type="http://schemas.openxmlformats.org/officeDocument/2006/relationships/notesMaster" Target="/ppt/notesMasters/notesMaster1.xml" Id="R43592ad26c5646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d9092b18c94333" /><Relationship Type="http://schemas.openxmlformats.org/officeDocument/2006/relationships/notesMaster" Target="/ppt/notesMasters/notesMaster1.xml" Id="Rb97e18e1596f47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35c61d105a41b2" /><Relationship Type="http://schemas.openxmlformats.org/officeDocument/2006/relationships/notesMaster" Target="/ppt/notesMasters/notesMaster1.xml" Id="R8b9b853c85184e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ae8aea01ea4c16" /><Relationship Type="http://schemas.openxmlformats.org/officeDocument/2006/relationships/notesMaster" Target="/ppt/notesMasters/notesMaster1.xml" Id="R4c113362b26a4e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b699a70e564173" /><Relationship Type="http://schemas.openxmlformats.org/officeDocument/2006/relationships/notesMaster" Target="/ppt/notesMasters/notesMaster1.xml" Id="R32d5e81fae3a42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e72949dfc742f3" /><Relationship Type="http://schemas.openxmlformats.org/officeDocument/2006/relationships/notesMaster" Target="/ppt/notesMasters/notesMaster1.xml" Id="Rb8102a255d7b4f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f7651bc8c14aa1" /><Relationship Type="http://schemas.openxmlformats.org/officeDocument/2006/relationships/notesMaster" Target="/ppt/notesMasters/notesMaster1.xml" Id="R0985dd8b2a8542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f05c23d14148f7" /><Relationship Type="http://schemas.openxmlformats.org/officeDocument/2006/relationships/notesMaster" Target="/ppt/notesMasters/notesMaster1.xml" Id="R1d0fed129b1342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6b1203211c494b" /><Relationship Type="http://schemas.openxmlformats.org/officeDocument/2006/relationships/notesMaster" Target="/ppt/notesMasters/notesMaster1.xml" Id="R7d8253dc23794b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a7626fcdfd4f21" /><Relationship Type="http://schemas.openxmlformats.org/officeDocument/2006/relationships/notesMaster" Target="/ppt/notesMasters/notesMaster1.xml" Id="Rcd8f5795b26640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f46654c9554160" /><Relationship Type="http://schemas.openxmlformats.org/officeDocument/2006/relationships/notesMaster" Target="/ppt/notesMasters/notesMaster1.xml" Id="Rf2e4edff66e449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182d9fd9bc4643" /><Relationship Type="http://schemas.openxmlformats.org/officeDocument/2006/relationships/notesMaster" Target="/ppt/notesMasters/notesMaster1.xml" Id="R391d856378ec41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ad984a45994629" /><Relationship Type="http://schemas.openxmlformats.org/officeDocument/2006/relationships/notesMaster" Target="/ppt/notesMasters/notesMaster1.xml" Id="R881fe630ae8d45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49fd4341314165" /><Relationship Type="http://schemas.openxmlformats.org/officeDocument/2006/relationships/notesMaster" Target="/ppt/notesMasters/notesMaster1.xml" Id="R3f6ab0700f8948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dfc98fa50b4092" /><Relationship Type="http://schemas.openxmlformats.org/officeDocument/2006/relationships/notesMaster" Target="/ppt/notesMasters/notesMaster1.xml" Id="Rdbd122e3664c4c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760bb99e9f4997" /><Relationship Type="http://schemas.openxmlformats.org/officeDocument/2006/relationships/notesMaster" Target="/ppt/notesMasters/notesMaster1.xml" Id="Re0751d1b5dea4c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cfa7868e674ab2" /><Relationship Type="http://schemas.openxmlformats.org/officeDocument/2006/relationships/notesMaster" Target="/ppt/notesMasters/notesMaster1.xml" Id="R820cd73303384a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abadafd6514a39" /><Relationship Type="http://schemas.openxmlformats.org/officeDocument/2006/relationships/notesMaster" Target="/ppt/notesMasters/notesMaster1.xml" Id="R4d27a9ada55e49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c252ccf32e4590" /><Relationship Type="http://schemas.openxmlformats.org/officeDocument/2006/relationships/notesMaster" Target="/ppt/notesMasters/notesMaster1.xml" Id="R63e528cc80484c8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fc2beae72f4001" /><Relationship Type="http://schemas.openxmlformats.org/officeDocument/2006/relationships/notesMaster" Target="/ppt/notesMasters/notesMaster1.xml" Id="R4a58e79bae0f4cc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04d3608cb0437a" /><Relationship Type="http://schemas.openxmlformats.org/officeDocument/2006/relationships/notesMaster" Target="/ppt/notesMasters/notesMaster1.xml" Id="Rc47353c75cdd4b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Today we are beginning Chapter 4, the tissue level of organization. In this chapter, we will connect the major structures and processes with their functions and with the observations that matter in practical nursing care. As we move through the slides, focus on how this system supports circulation, perfusion, protection, and patient safety. By the end, you should be able to explain the major concepts in your own words and apply them to a patient-care situation.</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These are our learning objectives for Chapter 4. By the end of the chapter, you should be able to do the following: Identify the main tissue types and discuss their roles in the human body. Identify the four types of tissue membranes and the characteristics of each that make them functional. Explain the functions of various epithelial tissues and how their forms enable their functions. Explain the functions of various connective tissues and how their forms enable their functions. Describe the characteristics of muscle tissue and how these enable function. Do not treat these as isolated facts. Use them as a checklist for what you should be able to identify, explain, and connect to safe practical nursing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Types of Tissues. The four primary tissues and the membranes they form.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Four Tissue Types. The four primary tissue types. Epithelial, connective, muscle, nervous. Tissue = similar cells + their matrix. Tissues combine to form organs. Each type has distinct functions. Epithelial tissue protects surfaces and forms glands, so connect disruption with infection risk, fluid loss, impaired secretion, and delayed healing. Take a moment to identify the structure on the image and explain how its form supports its function. This is slide 4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Body Membranes. The body's epithelial membranes. Membranes line and cover surfaces. Mucous membranes line passages to the outside. Serous membranes line closed cavities. The cutaneous membrane is the skin. Epithelial tissue protects surfaces and forms glands, so connect disruption with infection risk, fluid loss, impaired secretion, and delayed healing. Take a moment to identify the structure on the image and explain how its form supports its function. This is slide 5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Epithelial Tissue. Covering and lining tissue — classified by cell shape and layering.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Cell Junctions. Types of cell junctions. Bind epithelial cells together. Tight junctions seal gaps. Desmosomes anchor cells. Gap junctions allow communication. Epithelial tissue protects surfaces and forms glands, so connect disruption with infection risk, fluid loss, impaired secretion, and delayed healing. Take a moment to identify the structure on the image and explain how its form supports its function. This is slide 7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Classifying Epithelium. Named by cell shape and number of layers. Shapes: squamous, cuboidal, columnar. Simple (one layer) vs. stratified (many). Structure matches function. Classification of epithelial tissues. Epithelial tissue protects surfaces and forms glands, so connect disruption with infection risk, fluid loss, impaired secretion, and delayed healing. Take a moment to identify the structure on the image and explain how its form supports its function. This is slide 8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Modes of Glandular Secretion. Exocrine glands secrete onto surfaces. Merocrine: released by exocytosis. Apocrine: part of the cell pinches off. Holocrine: the whole cell ruptures. Merocrine, apocrine, and holocrine secretion. At the tissue level, nursing assessment focuses on integrity, color, temperature, moisture, swelling, pain, drainage, sensation, movement, and signs of impaired healing. Take a moment to identify the structure on the image and explain how its form supports its function. This is slide 9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Connective Tissue Supports and Protects. The body's most diverse tissue — binding, supporting, and transporting.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Connective Tissue Overview. Loose connective tissue and its components. Cells scattered in an extracellular matrix. Matrix = ground substance + fibers. Fibroblasts and immune cells reside here. The most abundant, diverse tissue. Connective tissue supports, binds, stores, and transports; injury or disease may appear as poor wound strength, swelling, reduced mobility, or altered cushioning and insulation. Take a moment to identify the structure on the image and explain how its form supports its function. This is slide 11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Adipose Tissue. Adipose (fat) tissue. Stores energy as fat. Cushions and insulates organs. Cells are filled with lipid droplets. An active endocrine tissue. Connective tissue supports, binds, stores, and transports; injury or disease may appear as poor wound strength, swelling, reduced mobility, or altered cushioning and insulation. Take a moment to identify the structure on the image and explain how its form supports its function. This is slide 12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Dense Connective Tissue. Packed with collagen fibers. Dense regular: tendons and ligaments. Dense irregular: dermis and capsules. Provides tensile strength. Dense regular and irregular connective tissue. Connective tissue supports, binds, stores, and transports; injury or disease may appear as poor wound strength, swelling, reduced mobility, or altered cushioning and insulation. Take a moment to identify the structure on the image and explain how its form supports its function. This is slide 13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Cartilage. Hyaline, fibrocartilage, and elastic cartilage. Firm but flexible matrix. Hyaline: joints, nose, trachea. Fibrocartilage: discs and menisci. Elastic: ear and epiglottis. At the tissue level, nursing assessment focuses on integrity, color, temperature, moisture, swelling, pain, drainage, sensation, movement, and signs of impaired healing. Take a moment to identify the structure on the image and explain how its form supports its function. This is slide 14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Blood. Blood: erythrocytes and leukocytes. A fluid connective tissue. Plasma is the liquid matrix. Red cells carry oxygen. White cells defend; platelets clot. Connective tissue supports, binds, stores, and transports; injury or disease may appear as poor wound strength, swelling, reduced mobility, or altered cushioning and insulation. Take a moment to identify the structure on the image and explain how its form supports its function. This is slide 15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Muscle Tissue and Motion. The three muscle types that generate movement.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Three Muscle Tissues. Skeletal, cardiac, and smooth muscle. Skeletal: voluntary, striated. Cardiac: involuntary, striated, branched. Smooth: involuntary, non-striated. All convert energy into movement. Relate muscle and nervous tissue to movement, sensation, communication, swallowing, breathing, circulation, and changes in functional status. Take a moment to identify the structure on the image and explain how its form supports its function. This is slide 17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Nervous Tissue Mediates Perception and Response. The communication tissue — neurons and their supporting cells.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Nervous Tissue. A neuron of nervous tissue. Neurons transmit electrical signals. Cell body, dendrites, and axon. Dendrites receive; axons send. Glial cells support neurons. Relate muscle and nervous tissue to movement, sensation, communication, swallowing, breathing, circulation, and changes in functional status. Take a moment to identify the structure on the image and explain how its form supports its function. This is slide 19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Tissue Injury and Aging. How tissues respond to damage, repair themselves, and change with age.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Tissue Injury &amp; Repair. The tissue inflammation and repair process. Inflammation is the first response. A clot forms and immune cells arrive. Granulation tissue rebuilds the area. Healing by regeneration or scarring. Healing depends on perfusion, oxygenation, nutrition, immune function, pressure relief, and control of moisture and contamination. Take a moment to identify the structure on the image and explain how its form supports its function. This is slide 21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Tissue Aging &amp; Neoplasia. Abnormal cell division and tissue change. Tissues lose efficiency with age. Repair slows and tissues thin. Uncontrolled division → neoplasia. Malignant tumors invade and spread. Healing depends on perfusion, oxygenation, nutrition, immune function, pressure relief, and control of moisture and contamination. Take a moment to identify the structure on the image and explain how its form supports its function. This is slide 22 of 24.</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Let us review the major takeaways from Chapter 4. Four primary tissues — epithelial, connective, muscle, and nervous — build every organ. Epithelium covers and lines, classified by cell shape and layering. Connective tissue is the most diverse, defined by its extracellular matrix. Muscle generates movement; nervous tissue enables communication. Tissues respond to injury through inflammation and repair, and change with age. Before moving on, pause and explain each point without reading the slide. If any statement is difficult to explain, mark that topic for review before the quiz.</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This final slide connects Chapter 4 to practical nursing. Wound Care. Inflammation and repair guide every dressing change and healing assessment. Skin Integrity. Epithelial membranes are the body's first barrier against infection. Mobility. The three muscle types underlie movement, heartbeat, and organ function. Mucous Membranes. Assessing moist linings reveals hydration status and infection. Cancer Awareness. Uncontrolled cell division produces tumors that invade and spread. Aging Patients. Slower tissue repair raises the risk of pressure injuries and delayed healing. Your role is to observe carefully, protect safety, follow orders and precautions, document objectively, and report changes through the appropriate chain of command. Use these examples to connect anatomy with the care you will provide.</a:t>
            </a:r>
            <a:endParaRPr/>
          </a:p>
          <a:p xmlns:a="http://schemas.openxmlformats.org/drawingml/2006/main">
            <a:r>
              <a:t/>
            </a:r>
            <a:endParaRPr/>
          </a:p>
          <a:p xmlns:a="http://schemas.openxmlformats.org/drawingml/2006/main">
            <a:r>
              <a:t>[Sources]</a:t>
            </a:r>
            <a:endParaRPr/>
          </a:p>
          <a:p xmlns:a="http://schemas.openxmlformats.org/drawingml/2006/main">
            <a:r>
              <a:t>- BMHI PN 104 Chapter 4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4febc0027442a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fed991c2624c13" /><Relationship Type="http://schemas.openxmlformats.org/officeDocument/2006/relationships/slideLayout" Target="/ppt/slideLayouts/slideLayout1.xml" Id="R8e06df422747452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06df422747452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fad6ceaf284437" /><Relationship Type="http://schemas.openxmlformats.org/officeDocument/2006/relationships/image" Target="/ppt/media/image.jpeg" Id="R87a45da295d04931" /><Relationship Type="http://schemas.openxmlformats.org/officeDocument/2006/relationships/notesSlide" Target="/ppt/notesSlides/notesSlide1.xml" Id="R2d9a051f809f4e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159e0b1a1f44de" /><Relationship Type="http://schemas.openxmlformats.org/officeDocument/2006/relationships/image" Target="/ppt/media/image2.jpeg" Id="R37a450e4a455470e" /><Relationship Type="http://schemas.openxmlformats.org/officeDocument/2006/relationships/notesSlide" Target="/ppt/notesSlides/notesSlide2.xml" Id="R1ef9921b1ee1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953b1097cb477a" /><Relationship Type="http://schemas.openxmlformats.org/officeDocument/2006/relationships/notesSlide" Target="/ppt/notesSlides/notesSlide3.xml" Id="Ra082c7e87f684a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7d7f46c52b4827" /><Relationship Type="http://schemas.openxmlformats.org/officeDocument/2006/relationships/image" Target="/ppt/media/image3.jpeg" Id="Rbf8a3e32495d42f3" /><Relationship Type="http://schemas.openxmlformats.org/officeDocument/2006/relationships/notesSlide" Target="/ppt/notesSlides/notesSlide4.xml" Id="R94bf5d88e760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a1c9b123334f50" /><Relationship Type="http://schemas.openxmlformats.org/officeDocument/2006/relationships/image" Target="/ppt/media/image4.jpeg" Id="R10ccbb927b0d4f5e" /><Relationship Type="http://schemas.openxmlformats.org/officeDocument/2006/relationships/notesSlide" Target="/ppt/notesSlides/notesSlide5.xml" Id="R6c29fb75c5f449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7e901cef47493b" /><Relationship Type="http://schemas.openxmlformats.org/officeDocument/2006/relationships/notesSlide" Target="/ppt/notesSlides/notesSlide6.xml" Id="R255da817a6d84b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0ec47b804742c2" /><Relationship Type="http://schemas.openxmlformats.org/officeDocument/2006/relationships/image" Target="/ppt/media/image5.jpeg" Id="Rae25a265679b4c11" /><Relationship Type="http://schemas.openxmlformats.org/officeDocument/2006/relationships/notesSlide" Target="/ppt/notesSlides/notesSlide7.xml" Id="R6dcdb6c45c7d49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4b36708e69478d" /><Relationship Type="http://schemas.openxmlformats.org/officeDocument/2006/relationships/image" Target="/ppt/media/image6.jpeg" Id="Recb9af5ba8a14ea0" /><Relationship Type="http://schemas.openxmlformats.org/officeDocument/2006/relationships/notesSlide" Target="/ppt/notesSlides/notesSlide8.xml" Id="R14e8b7a3766b42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719e33b9a046ca" /><Relationship Type="http://schemas.openxmlformats.org/officeDocument/2006/relationships/image" Target="/ppt/media/image7.jpeg" Id="R0f68a2574a874504" /><Relationship Type="http://schemas.openxmlformats.org/officeDocument/2006/relationships/notesSlide" Target="/ppt/notesSlides/notesSlide9.xml" Id="Rbb7d2378a74245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9cac8cd202432f" /><Relationship Type="http://schemas.openxmlformats.org/officeDocument/2006/relationships/notesSlide" Target="/ppt/notesSlides/notesSlide10.xml" Id="Re802cce2d1f741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cc684123884f9a" /><Relationship Type="http://schemas.openxmlformats.org/officeDocument/2006/relationships/image" Target="/ppt/media/image8.jpeg" Id="Ra458a0c1dbef416a" /><Relationship Type="http://schemas.openxmlformats.org/officeDocument/2006/relationships/notesSlide" Target="/ppt/notesSlides/notesSlide11.xml" Id="R3951fd1b15c84f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9a60d0a125493e" /><Relationship Type="http://schemas.openxmlformats.org/officeDocument/2006/relationships/image" Target="/ppt/media/image9.jpeg" Id="Recb579a27a124bd1" /><Relationship Type="http://schemas.openxmlformats.org/officeDocument/2006/relationships/notesSlide" Target="/ppt/notesSlides/notesSlide12.xml" Id="R6fc6dfb2a3114b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dab62932ae47b5" /><Relationship Type="http://schemas.openxmlformats.org/officeDocument/2006/relationships/image" Target="/ppt/media/image10.jpeg" Id="R3b4f31dda6e047ba" /><Relationship Type="http://schemas.openxmlformats.org/officeDocument/2006/relationships/notesSlide" Target="/ppt/notesSlides/notesSlide13.xml" Id="Raa55b4a437344b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fb1cb635b846f3" /><Relationship Type="http://schemas.openxmlformats.org/officeDocument/2006/relationships/image" Target="/ppt/media/image11.jpeg" Id="R799daca5d1e6493f" /><Relationship Type="http://schemas.openxmlformats.org/officeDocument/2006/relationships/notesSlide" Target="/ppt/notesSlides/notesSlide14.xml" Id="R5aec1f1e6c554c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885243f2964e82" /><Relationship Type="http://schemas.openxmlformats.org/officeDocument/2006/relationships/image" Target="/ppt/media/image12.jpeg" Id="Ra56dd3faa6e94f3e" /><Relationship Type="http://schemas.openxmlformats.org/officeDocument/2006/relationships/notesSlide" Target="/ppt/notesSlides/notesSlide15.xml" Id="R89a1ea50dd9d4e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fdce20a52c4a85" /><Relationship Type="http://schemas.openxmlformats.org/officeDocument/2006/relationships/notesSlide" Target="/ppt/notesSlides/notesSlide16.xml" Id="Rfa13e35344a440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677b62fef3461a" /><Relationship Type="http://schemas.openxmlformats.org/officeDocument/2006/relationships/image" Target="/ppt/media/image13.jpeg" Id="R0f0dc200dc5f4f68" /><Relationship Type="http://schemas.openxmlformats.org/officeDocument/2006/relationships/notesSlide" Target="/ppt/notesSlides/notesSlide17.xml" Id="R723aea682e8946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3b85b188a9427a" /><Relationship Type="http://schemas.openxmlformats.org/officeDocument/2006/relationships/notesSlide" Target="/ppt/notesSlides/notesSlide18.xml" Id="Rbec6feaebeae4c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382948b01fa434c" /><Relationship Type="http://schemas.openxmlformats.org/officeDocument/2006/relationships/image" Target="/ppt/media/image14.jpeg" Id="R61a1b1bf5b04434d" /><Relationship Type="http://schemas.openxmlformats.org/officeDocument/2006/relationships/notesSlide" Target="/ppt/notesSlides/notesSlide19.xml" Id="R0749fbf1dfd349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524bee48e234309" /><Relationship Type="http://schemas.openxmlformats.org/officeDocument/2006/relationships/notesSlide" Target="/ppt/notesSlides/notesSlide20.xml" Id="Rafb160427b29445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2401cc1c7b4058" /><Relationship Type="http://schemas.openxmlformats.org/officeDocument/2006/relationships/image" Target="/ppt/media/image15.jpeg" Id="R18603bc1d14a4a7e" /><Relationship Type="http://schemas.openxmlformats.org/officeDocument/2006/relationships/notesSlide" Target="/ppt/notesSlides/notesSlide21.xml" Id="R5bff2a225d8246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6fc23dc5bfe4160" /><Relationship Type="http://schemas.openxmlformats.org/officeDocument/2006/relationships/image" Target="/ppt/media/image16.jpeg" Id="R6be9313c4c9c4206" /><Relationship Type="http://schemas.openxmlformats.org/officeDocument/2006/relationships/notesSlide" Target="/ppt/notesSlides/notesSlide22.xml" Id="R3f7f88bfbb7749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f5588f69dea4b60" /><Relationship Type="http://schemas.openxmlformats.org/officeDocument/2006/relationships/notesSlide" Target="/ppt/notesSlides/notesSlide23.xml" Id="Rcfdfdf848e7647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0c08b2cb5874e7d" /><Relationship Type="http://schemas.openxmlformats.org/officeDocument/2006/relationships/notesSlide" Target="/ppt/notesSlides/notesSlide24.xml" Id="Rfeb97b96a2514e2a"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412323-B079-4F59-AE30-36330A0D601A}"/>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4</a:t>
            </a:r>
            <a:endParaRPr sz="1800"/>
          </a:p>
        </p:txBody>
      </p:sp>
      <p:sp>
        <p:nvSpPr>
          <p:cNvPr id="3" name="Text 1">
            <a:extLst xmlns:a="http://schemas.openxmlformats.org/drawingml/2006/main">
              <a:ext uri="{FF2B5EF4-FFF2-40B4-BE49-F238E27FC236}">
                <a16:creationId xmlns:a16="http://schemas.microsoft.com/office/drawing/2014/main" id="{BFDA536B-66CE-4EC0-A9DD-BF06C715ED8A}"/>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Tissue Level of Organization</a:t>
            </a:r>
            <a:endParaRPr sz="4400"/>
          </a:p>
        </p:txBody>
      </p:sp>
      <p:sp>
        <p:nvSpPr>
          <p:cNvPr id="4" name="Text 2">
            <a:extLst xmlns:a="http://schemas.openxmlformats.org/drawingml/2006/main">
              <a:ext uri="{FF2B5EF4-FFF2-40B4-BE49-F238E27FC236}">
                <a16:creationId xmlns:a16="http://schemas.microsoft.com/office/drawing/2014/main" id="{F0EEBAB5-A1BA-4E54-82AC-CB6B32E73CE6}"/>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The four primary tissues, their membranes, and how tissues heal.</a:t>
            </a:r>
            <a:endParaRPr sz="1600"/>
          </a:p>
        </p:txBody>
      </p:sp>
      <p:sp>
        <p:nvSpPr>
          <p:cNvPr id="5" name="Text 3">
            <a:extLst xmlns:a="http://schemas.openxmlformats.org/drawingml/2006/main">
              <a:ext uri="{FF2B5EF4-FFF2-40B4-BE49-F238E27FC236}">
                <a16:creationId xmlns:a16="http://schemas.microsoft.com/office/drawing/2014/main" id="{1EDDB862-680D-4661-BA1D-D1D673992E92}"/>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endParaRPr sz="1300"/>
          </a:p>
        </p:txBody>
      </p:sp>
      <p:sp>
        <p:nvSpPr>
          <p:cNvPr id="6" name="Text 4">
            <a:extLst xmlns:a="http://schemas.openxmlformats.org/drawingml/2006/main">
              <a:ext uri="{FF2B5EF4-FFF2-40B4-BE49-F238E27FC236}">
                <a16:creationId xmlns:a16="http://schemas.microsoft.com/office/drawing/2014/main" id="{79A1D0EC-B890-4401-A2A5-B4DD735AB071}"/>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endParaRPr sz="1100"/>
          </a:p>
        </p:txBody>
      </p:sp>
      <p:sp>
        <p:nvSpPr>
          <p:cNvPr id="7" name="Shape 5">
            <a:extLst xmlns:a="http://schemas.openxmlformats.org/drawingml/2006/main">
              <a:ext uri="{FF2B5EF4-FFF2-40B4-BE49-F238E27FC236}">
                <a16:creationId xmlns:a16="http://schemas.microsoft.com/office/drawing/2014/main" id="{724A7CBA-63B8-44D7-A202-9E3AB6940D92}"/>
              </a:ext>
            </a:extLst>
          </p:cNvPr>
          <p:cNvSpPr>
            <a:spLocks xmlns:a="http://schemas.openxmlformats.org/drawingml/2006/main" noGrp="1"/>
          </p:cNvSpPr>
          <p:nvPr/>
        </p:nvSpPr>
        <p:spPr>
          <a:xfrm xmlns:a="http://schemas.openxmlformats.org/drawingml/2006/main">
            <a:off x="7735824" y="2536410"/>
            <a:ext cx="4096512" cy="1968060"/>
          </a:xfrm>
          <a:prstGeom xmlns:a="http://schemas.openxmlformats.org/drawingml/2006/main" prst="roundRect">
            <a:avLst>
              <a:gd name="adj" fmla="val 278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87a45da295d04931"/>
          <a:stretch xmlns:a="http://schemas.openxmlformats.org/drawingml/2006/main">
            <a:fillRect l="0" t="0" r="0" b="0"/>
          </a:stretch>
        </p:blipFill>
        <p:spPr>
          <a:xfrm xmlns:a="http://schemas.openxmlformats.org/drawingml/2006/main">
            <a:off x="7818120" y="2618706"/>
            <a:ext cx="3931920" cy="1803468"/>
          </a:xfrm>
          <a:prstGeom xmlns:a="http://schemas.openxmlformats.org/drawingml/2006/main" prst="rect">
            <a:avLst/>
          </a:prstGeom>
        </p:spPr>
      </p:pic>
    </p:spTree>
    <p:extLst>
      <p:ext uri="{BB962C8B-B14F-4D97-AF65-F5344CB8AC3E}">
        <p14:creationId xmlns:p14="http://schemas.microsoft.com/office/powerpoint/2010/main" val="19883161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EFEB04-34AD-44B3-95DF-DDA877C5D3B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4</a:t>
            </a:r>
            <a:endParaRPr sz="1200"/>
          </a:p>
        </p:txBody>
      </p:sp>
      <p:sp>
        <p:nvSpPr>
          <p:cNvPr id="3" name="Text 1">
            <a:extLst xmlns:a="http://schemas.openxmlformats.org/drawingml/2006/main">
              <a:ext uri="{FF2B5EF4-FFF2-40B4-BE49-F238E27FC236}">
                <a16:creationId xmlns:a16="http://schemas.microsoft.com/office/drawing/2014/main" id="{76E839BF-DF60-4A5B-BD61-307B3C0D6A2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endParaRPr sz="2800"/>
          </a:p>
        </p:txBody>
      </p:sp>
      <p:sp>
        <p:nvSpPr>
          <p:cNvPr id="4" name="Text 2">
            <a:extLst xmlns:a="http://schemas.openxmlformats.org/drawingml/2006/main">
              <a:ext uri="{FF2B5EF4-FFF2-40B4-BE49-F238E27FC236}">
                <a16:creationId xmlns:a16="http://schemas.microsoft.com/office/drawing/2014/main" id="{9865DB53-A980-44DB-96DA-D376F3E6C32B}"/>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endParaRPr sz="1200"/>
          </a:p>
        </p:txBody>
      </p:sp>
      <p:sp>
        <p:nvSpPr>
          <p:cNvPr id="5" name="Shape 3">
            <a:extLst xmlns:a="http://schemas.openxmlformats.org/drawingml/2006/main">
              <a:ext uri="{FF2B5EF4-FFF2-40B4-BE49-F238E27FC236}">
                <a16:creationId xmlns:a16="http://schemas.microsoft.com/office/drawing/2014/main" id="{A7100DC1-7C4D-479B-89E3-CC8CA7B8E078}"/>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9C6A08B8-AF3A-474C-9E51-ADF1CC3809EC}"/>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endParaRPr sz="1500"/>
          </a:p>
        </p:txBody>
      </p:sp>
      <p:sp>
        <p:nvSpPr>
          <p:cNvPr id="7" name="Text 5">
            <a:extLst xmlns:a="http://schemas.openxmlformats.org/drawingml/2006/main">
              <a:ext uri="{FF2B5EF4-FFF2-40B4-BE49-F238E27FC236}">
                <a16:creationId xmlns:a16="http://schemas.microsoft.com/office/drawing/2014/main" id="{FF9AEF0E-81EE-4208-A35C-9FF841E067EB}"/>
              </a:ext>
            </a:extLst>
          </p:cNvPr>
          <p:cNvSpPr>
            <a:spLocks xmlns:a="http://schemas.openxmlformats.org/drawingml/2006/main" noGrp="1"/>
          </p:cNvSpPr>
          <p:nvPr/>
        </p:nvSpPr>
        <p:spPr>
          <a:xfrm xmlns:a="http://schemas.openxmlformats.org/drawingml/2006/main">
            <a:off x="1115568" y="1645920"/>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Identify the main tissue types and discuss their roles in the human body</a:t>
            </a:r>
            <a:endParaRPr sz="1400"/>
          </a:p>
        </p:txBody>
      </p:sp>
      <p:sp>
        <p:nvSpPr>
          <p:cNvPr id="8" name="Shape 6">
            <a:extLst xmlns:a="http://schemas.openxmlformats.org/drawingml/2006/main">
              <a:ext uri="{FF2B5EF4-FFF2-40B4-BE49-F238E27FC236}">
                <a16:creationId xmlns:a16="http://schemas.microsoft.com/office/drawing/2014/main" id="{3355068C-1EEA-42DF-B2C4-4D3A3758A0DF}"/>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EEF05E25-E75D-45E7-A292-CCB2E5C3EF26}"/>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endParaRPr sz="1500"/>
          </a:p>
        </p:txBody>
      </p:sp>
      <p:sp>
        <p:nvSpPr>
          <p:cNvPr id="10" name="Text 8">
            <a:extLst xmlns:a="http://schemas.openxmlformats.org/drawingml/2006/main">
              <a:ext uri="{FF2B5EF4-FFF2-40B4-BE49-F238E27FC236}">
                <a16:creationId xmlns:a16="http://schemas.microsoft.com/office/drawing/2014/main" id="{48143117-F5EA-48C4-A7AF-79C137823DF5}"/>
              </a:ext>
            </a:extLst>
          </p:cNvPr>
          <p:cNvSpPr>
            <a:spLocks xmlns:a="http://schemas.openxmlformats.org/drawingml/2006/main" noGrp="1"/>
          </p:cNvSpPr>
          <p:nvPr/>
        </p:nvSpPr>
        <p:spPr>
          <a:xfrm xmlns:a="http://schemas.openxmlformats.org/drawingml/2006/main">
            <a:off x="1115568" y="2432304"/>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Identify the four types of tissue membranes and the characteristics of each that make them functional</a:t>
            </a:r>
            <a:endParaRPr sz="1400"/>
          </a:p>
        </p:txBody>
      </p:sp>
      <p:sp>
        <p:nvSpPr>
          <p:cNvPr id="11" name="Shape 9">
            <a:extLst xmlns:a="http://schemas.openxmlformats.org/drawingml/2006/main">
              <a:ext uri="{FF2B5EF4-FFF2-40B4-BE49-F238E27FC236}">
                <a16:creationId xmlns:a16="http://schemas.microsoft.com/office/drawing/2014/main" id="{492F441A-A9EA-4163-AC24-A69E14B97E5D}"/>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636FE067-2D1C-49D2-966B-94F0C91A4FB2}"/>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endParaRPr sz="1500"/>
          </a:p>
        </p:txBody>
      </p:sp>
      <p:sp>
        <p:nvSpPr>
          <p:cNvPr id="13" name="Text 11">
            <a:extLst xmlns:a="http://schemas.openxmlformats.org/drawingml/2006/main">
              <a:ext uri="{FF2B5EF4-FFF2-40B4-BE49-F238E27FC236}">
                <a16:creationId xmlns:a16="http://schemas.microsoft.com/office/drawing/2014/main" id="{3B408305-BC0B-48C8-9A0D-D06A2207E4A2}"/>
              </a:ext>
            </a:extLst>
          </p:cNvPr>
          <p:cNvSpPr>
            <a:spLocks xmlns:a="http://schemas.openxmlformats.org/drawingml/2006/main" noGrp="1"/>
          </p:cNvSpPr>
          <p:nvPr/>
        </p:nvSpPr>
        <p:spPr>
          <a:xfrm xmlns:a="http://schemas.openxmlformats.org/drawingml/2006/main">
            <a:off x="1115568" y="3218688"/>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Explain the functions of various epithelial tissues and how their forms enable their functions</a:t>
            </a:r>
            <a:endParaRPr sz="1400"/>
          </a:p>
        </p:txBody>
      </p:sp>
      <p:sp>
        <p:nvSpPr>
          <p:cNvPr id="14" name="Shape 12">
            <a:extLst xmlns:a="http://schemas.openxmlformats.org/drawingml/2006/main">
              <a:ext uri="{FF2B5EF4-FFF2-40B4-BE49-F238E27FC236}">
                <a16:creationId xmlns:a16="http://schemas.microsoft.com/office/drawing/2014/main" id="{B172FF6F-2D6F-4DB6-B114-2CB355F1AD15}"/>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7D552250-052A-46B3-AF39-5A35257773A5}"/>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endParaRPr sz="1500"/>
          </a:p>
        </p:txBody>
      </p:sp>
      <p:sp>
        <p:nvSpPr>
          <p:cNvPr id="16" name="Text 14">
            <a:extLst xmlns:a="http://schemas.openxmlformats.org/drawingml/2006/main">
              <a:ext uri="{FF2B5EF4-FFF2-40B4-BE49-F238E27FC236}">
                <a16:creationId xmlns:a16="http://schemas.microsoft.com/office/drawing/2014/main" id="{10360F1C-F141-4F14-B656-85B18520CCC3}"/>
              </a:ext>
            </a:extLst>
          </p:cNvPr>
          <p:cNvSpPr>
            <a:spLocks xmlns:a="http://schemas.openxmlformats.org/drawingml/2006/main" noGrp="1"/>
          </p:cNvSpPr>
          <p:nvPr/>
        </p:nvSpPr>
        <p:spPr>
          <a:xfrm xmlns:a="http://schemas.openxmlformats.org/drawingml/2006/main">
            <a:off x="1115568" y="4005072"/>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Explain the functions of various connective tissues and how their forms enable their functions</a:t>
            </a:r>
            <a:endParaRPr sz="1400"/>
          </a:p>
        </p:txBody>
      </p:sp>
      <p:sp>
        <p:nvSpPr>
          <p:cNvPr id="17" name="Shape 15">
            <a:extLst xmlns:a="http://schemas.openxmlformats.org/drawingml/2006/main">
              <a:ext uri="{FF2B5EF4-FFF2-40B4-BE49-F238E27FC236}">
                <a16:creationId xmlns:a16="http://schemas.microsoft.com/office/drawing/2014/main" id="{2899F04A-0635-49ED-B2D9-BE7942093EEC}"/>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F7308B01-EDAA-4D36-A0FB-3118ACE7E569}"/>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endParaRPr sz="1500"/>
          </a:p>
        </p:txBody>
      </p:sp>
      <p:sp>
        <p:nvSpPr>
          <p:cNvPr id="19" name="Text 17">
            <a:extLst xmlns:a="http://schemas.openxmlformats.org/drawingml/2006/main">
              <a:ext uri="{FF2B5EF4-FFF2-40B4-BE49-F238E27FC236}">
                <a16:creationId xmlns:a16="http://schemas.microsoft.com/office/drawing/2014/main" id="{F49B9429-5A05-4C09-807D-EB451F1D8D95}"/>
              </a:ext>
            </a:extLst>
          </p:cNvPr>
          <p:cNvSpPr>
            <a:spLocks xmlns:a="http://schemas.openxmlformats.org/drawingml/2006/main" noGrp="1"/>
          </p:cNvSpPr>
          <p:nvPr/>
        </p:nvSpPr>
        <p:spPr>
          <a:xfrm xmlns:a="http://schemas.openxmlformats.org/drawingml/2006/main">
            <a:off x="1115568" y="4791456"/>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characteristics of muscle tissue and how these enable function</a:t>
            </a:r>
            <a:endParaRPr sz="1400"/>
          </a:p>
        </p:txBody>
      </p:sp>
      <p:sp>
        <p:nvSpPr>
          <p:cNvPr id="20" name="Shape 18">
            <a:extLst xmlns:a="http://schemas.openxmlformats.org/drawingml/2006/main">
              <a:ext uri="{FF2B5EF4-FFF2-40B4-BE49-F238E27FC236}">
                <a16:creationId xmlns:a16="http://schemas.microsoft.com/office/drawing/2014/main" id="{83AA138B-EF9D-4259-B686-4CC065BD9976}"/>
              </a:ext>
            </a:extLst>
          </p:cNvPr>
          <p:cNvSpPr>
            <a:spLocks xmlns:a="http://schemas.openxmlformats.org/drawingml/2006/main" noGrp="1"/>
          </p:cNvSpPr>
          <p:nvPr/>
        </p:nvSpPr>
        <p:spPr>
          <a:xfrm xmlns:a="http://schemas.openxmlformats.org/drawingml/2006/main">
            <a:off x="7569943" y="1545336"/>
            <a:ext cx="4062515" cy="4370832"/>
          </a:xfrm>
          <a:prstGeom xmlns:a="http://schemas.openxmlformats.org/drawingml/2006/main" prst="roundRect">
            <a:avLst>
              <a:gd name="adj" fmla="val 135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37a450e4a455470e"/>
          <a:stretch xmlns:a="http://schemas.openxmlformats.org/drawingml/2006/main">
            <a:fillRect l="0" t="0" r="0" b="0"/>
          </a:stretch>
        </p:blipFill>
        <p:spPr>
          <a:xfrm xmlns:a="http://schemas.openxmlformats.org/drawingml/2006/main">
            <a:off x="7652239" y="1627632"/>
            <a:ext cx="3897923" cy="4206240"/>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AF6B8B34-534A-4A06-8AC1-0FDCE7CAE880}"/>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Four primary tissue types build every organ.</a:t>
            </a:r>
            <a:endParaRPr sz="1100"/>
          </a:p>
        </p:txBody>
      </p:sp>
      <p:sp>
        <p:nvSpPr>
          <p:cNvPr id="24" name="Text 20">
            <a:extLst xmlns:a="http://schemas.openxmlformats.org/drawingml/2006/main">
              <a:ext uri="{FF2B5EF4-FFF2-40B4-BE49-F238E27FC236}">
                <a16:creationId xmlns:a16="http://schemas.microsoft.com/office/drawing/2014/main" id="{F45B310B-3701-48DF-8F15-6DB892D9E34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25" name="Text 21">
            <a:extLst xmlns:a="http://schemas.openxmlformats.org/drawingml/2006/main">
              <a:ext uri="{FF2B5EF4-FFF2-40B4-BE49-F238E27FC236}">
                <a16:creationId xmlns:a16="http://schemas.microsoft.com/office/drawing/2014/main" id="{58C187AE-023D-4949-8AFE-D019CB4B6CB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endParaRPr sz="900"/>
          </a:p>
        </p:txBody>
      </p:sp>
    </p:spTree>
    <p:extLst>
      <p:ext uri="{BB962C8B-B14F-4D97-AF65-F5344CB8AC3E}">
        <p14:creationId xmlns:p14="http://schemas.microsoft.com/office/powerpoint/2010/main" val="2126572778"/>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277D81-2581-447C-85BB-67B1BE7FED5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87BEF33D-7D76-4764-B058-6C021456764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4.1</a:t>
            </a:r>
            <a:endParaRPr sz="4800"/>
          </a:p>
        </p:txBody>
      </p:sp>
      <p:sp>
        <p:nvSpPr>
          <p:cNvPr id="4" name="Text 2">
            <a:extLst xmlns:a="http://schemas.openxmlformats.org/drawingml/2006/main">
              <a:ext uri="{FF2B5EF4-FFF2-40B4-BE49-F238E27FC236}">
                <a16:creationId xmlns:a16="http://schemas.microsoft.com/office/drawing/2014/main" id="{E7A845DD-164A-49DB-B128-FD5D2178F03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0C861706-C804-42D0-A4E2-1F87989C57C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Types of Tissues</a:t>
            </a:r>
            <a:endParaRPr sz="3000"/>
          </a:p>
        </p:txBody>
      </p:sp>
      <p:sp>
        <p:nvSpPr>
          <p:cNvPr id="6" name="Text 4">
            <a:extLst xmlns:a="http://schemas.openxmlformats.org/drawingml/2006/main">
              <a:ext uri="{FF2B5EF4-FFF2-40B4-BE49-F238E27FC236}">
                <a16:creationId xmlns:a16="http://schemas.microsoft.com/office/drawing/2014/main" id="{218397BD-9547-4416-8E98-82B888CE2DE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four primary tissues and the membranes they form.</a:t>
            </a:r>
            <a:endParaRPr sz="1500"/>
          </a:p>
        </p:txBody>
      </p:sp>
    </p:spTree>
    <p:extLst>
      <p:ext uri="{BB962C8B-B14F-4D97-AF65-F5344CB8AC3E}">
        <p14:creationId xmlns:p14="http://schemas.microsoft.com/office/powerpoint/2010/main" val="558655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05F071-8002-49AB-A410-13B185BECE6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4.1</a:t>
            </a:r>
            <a:endParaRPr sz="1200"/>
          </a:p>
        </p:txBody>
      </p:sp>
      <p:sp>
        <p:nvSpPr>
          <p:cNvPr id="3" name="Text 1">
            <a:extLst xmlns:a="http://schemas.openxmlformats.org/drawingml/2006/main">
              <a:ext uri="{FF2B5EF4-FFF2-40B4-BE49-F238E27FC236}">
                <a16:creationId xmlns:a16="http://schemas.microsoft.com/office/drawing/2014/main" id="{D94A7E69-E66F-4C77-B6A7-816518A5E5D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Four Tissue Types</a:t>
            </a:r>
            <a:endParaRPr sz="2800"/>
          </a:p>
        </p:txBody>
      </p:sp>
      <p:sp>
        <p:nvSpPr>
          <p:cNvPr id="4" name="Shape 2">
            <a:extLst xmlns:a="http://schemas.openxmlformats.org/drawingml/2006/main">
              <a:ext uri="{FF2B5EF4-FFF2-40B4-BE49-F238E27FC236}">
                <a16:creationId xmlns:a16="http://schemas.microsoft.com/office/drawing/2014/main" id="{6E23E1D6-7115-44B4-81A0-C01A617B7351}"/>
              </a:ext>
            </a:extLst>
          </p:cNvPr>
          <p:cNvSpPr>
            <a:spLocks xmlns:a="http://schemas.openxmlformats.org/drawingml/2006/main" noGrp="1"/>
          </p:cNvSpPr>
          <p:nvPr/>
        </p:nvSpPr>
        <p:spPr>
          <a:xfrm xmlns:a="http://schemas.openxmlformats.org/drawingml/2006/main">
            <a:off x="451028" y="1289304"/>
            <a:ext cx="4401464" cy="4736592"/>
          </a:xfrm>
          <a:prstGeom xmlns:a="http://schemas.openxmlformats.org/drawingml/2006/main" prst="roundRect">
            <a:avLst>
              <a:gd name="adj" fmla="val 124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bf8a3e32495d42f3"/>
          <a:stretch xmlns:a="http://schemas.openxmlformats.org/drawingml/2006/main">
            <a:fillRect l="0" t="0" r="0" b="0"/>
          </a:stretch>
        </p:blipFill>
        <p:spPr>
          <a:xfrm xmlns:a="http://schemas.openxmlformats.org/drawingml/2006/main">
            <a:off x="533324" y="1371600"/>
            <a:ext cx="423687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7AB4D88-B7F2-4515-A221-7A1DED542394}"/>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four primary tissue types</a:t>
            </a:r>
            <a:endParaRPr sz="1100"/>
          </a:p>
        </p:txBody>
      </p:sp>
      <p:sp>
        <p:nvSpPr>
          <p:cNvPr id="7" name="Text 4">
            <a:extLst xmlns:a="http://schemas.openxmlformats.org/drawingml/2006/main">
              <a:ext uri="{FF2B5EF4-FFF2-40B4-BE49-F238E27FC236}">
                <a16:creationId xmlns:a16="http://schemas.microsoft.com/office/drawing/2014/main" id="{6BB21C3B-5727-4E26-A8E5-F383672E3BA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Epithelial, connective, muscle, nervous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Tissue = similar cells + their matrix</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Tissues combine to form organs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Each type has distinct functions</a:t>
            </a:r>
            <a:endParaRPr sz="1600"/>
          </a:p>
        </p:txBody>
      </p:sp>
      <p:sp>
        <p:nvSpPr>
          <p:cNvPr id="9" name="Text 5">
            <a:extLst xmlns:a="http://schemas.openxmlformats.org/drawingml/2006/main">
              <a:ext uri="{FF2B5EF4-FFF2-40B4-BE49-F238E27FC236}">
                <a16:creationId xmlns:a16="http://schemas.microsoft.com/office/drawing/2014/main" id="{900FAB3D-1890-44C7-B306-53D42F91EB4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B216988A-F4CB-4ED2-A3A5-4A470F239E1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endParaRPr sz="900"/>
          </a:p>
        </p:txBody>
      </p:sp>
    </p:spTree>
    <p:extLst>
      <p:ext uri="{BB962C8B-B14F-4D97-AF65-F5344CB8AC3E}">
        <p14:creationId xmlns:p14="http://schemas.microsoft.com/office/powerpoint/2010/main" val="17951745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4DD901-0E3A-404C-9EB4-3C6C174D810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4.1</a:t>
            </a:r>
            <a:endParaRPr sz="1200"/>
          </a:p>
        </p:txBody>
      </p:sp>
      <p:sp>
        <p:nvSpPr>
          <p:cNvPr id="3" name="Text 1">
            <a:extLst xmlns:a="http://schemas.openxmlformats.org/drawingml/2006/main">
              <a:ext uri="{FF2B5EF4-FFF2-40B4-BE49-F238E27FC236}">
                <a16:creationId xmlns:a16="http://schemas.microsoft.com/office/drawing/2014/main" id="{00A4CCFF-91BF-4825-8837-5EB689AB9445}"/>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Body Membranes</a:t>
            </a:r>
            <a:endParaRPr sz="2800"/>
          </a:p>
        </p:txBody>
      </p:sp>
      <p:sp>
        <p:nvSpPr>
          <p:cNvPr id="4" name="Shape 2">
            <a:extLst xmlns:a="http://schemas.openxmlformats.org/drawingml/2006/main">
              <a:ext uri="{FF2B5EF4-FFF2-40B4-BE49-F238E27FC236}">
                <a16:creationId xmlns:a16="http://schemas.microsoft.com/office/drawing/2014/main" id="{3703E176-E3EE-48B8-9D80-710E54B6037C}"/>
              </a:ext>
            </a:extLst>
          </p:cNvPr>
          <p:cNvSpPr>
            <a:spLocks xmlns:a="http://schemas.openxmlformats.org/drawingml/2006/main" noGrp="1"/>
          </p:cNvSpPr>
          <p:nvPr/>
        </p:nvSpPr>
        <p:spPr>
          <a:xfrm xmlns:a="http://schemas.openxmlformats.org/drawingml/2006/main">
            <a:off x="1003554" y="1289304"/>
            <a:ext cx="3296412" cy="4736592"/>
          </a:xfrm>
          <a:prstGeom xmlns:a="http://schemas.openxmlformats.org/drawingml/2006/main" prst="roundRect">
            <a:avLst>
              <a:gd name="adj" fmla="val 1664"/>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10ccbb927b0d4f5e"/>
          <a:stretch xmlns:a="http://schemas.openxmlformats.org/drawingml/2006/main">
            <a:fillRect l="0" t="0" r="0" b="0"/>
          </a:stretch>
        </p:blipFill>
        <p:spPr>
          <a:xfrm xmlns:a="http://schemas.openxmlformats.org/drawingml/2006/main">
            <a:off x="1085850" y="1371600"/>
            <a:ext cx="313182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C8942D9-235A-416B-8043-427CC003E7D9}"/>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body's epithelial membranes</a:t>
            </a:r>
            <a:endParaRPr sz="1100"/>
          </a:p>
        </p:txBody>
      </p:sp>
      <p:sp>
        <p:nvSpPr>
          <p:cNvPr id="7" name="Text 4">
            <a:extLst xmlns:a="http://schemas.openxmlformats.org/drawingml/2006/main">
              <a:ext uri="{FF2B5EF4-FFF2-40B4-BE49-F238E27FC236}">
                <a16:creationId xmlns:a16="http://schemas.microsoft.com/office/drawing/2014/main" id="{AB7A1CB6-D2B1-4822-865C-942E84D15F60}"/>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Membranes line and cover surfaces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Mucous membranes line passages to the outside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Serous membranes line closed cavities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cutaneous membrane is the skin</a:t>
            </a:r>
            <a:endParaRPr sz="1600"/>
          </a:p>
        </p:txBody>
      </p:sp>
      <p:sp>
        <p:nvSpPr>
          <p:cNvPr id="9" name="Text 5">
            <a:extLst xmlns:a="http://schemas.openxmlformats.org/drawingml/2006/main">
              <a:ext uri="{FF2B5EF4-FFF2-40B4-BE49-F238E27FC236}">
                <a16:creationId xmlns:a16="http://schemas.microsoft.com/office/drawing/2014/main" id="{61B1616C-CBE1-4DC4-81CC-7B952CA8FD2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8EF020B1-FF62-4B82-BAD3-7E854BC1A19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endParaRPr sz="900"/>
          </a:p>
        </p:txBody>
      </p:sp>
    </p:spTree>
    <p:extLst>
      <p:ext uri="{BB962C8B-B14F-4D97-AF65-F5344CB8AC3E}">
        <p14:creationId xmlns:p14="http://schemas.microsoft.com/office/powerpoint/2010/main" val="282445237"/>
      </p:ext>
    </p:extLst>
  </p:cSld>
</p:sld>
</file>

<file path=ppt/slides/slide6.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E177DD-23CC-47CD-8A35-72B7887CD012}"/>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735A94C0-259C-47B1-8BAD-6FDAFD1C1BBB}"/>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4.2</a:t>
            </a:r>
            <a:endParaRPr sz="4800"/>
          </a:p>
        </p:txBody>
      </p:sp>
      <p:sp>
        <p:nvSpPr>
          <p:cNvPr id="4" name="Text 2">
            <a:extLst xmlns:a="http://schemas.openxmlformats.org/drawingml/2006/main">
              <a:ext uri="{FF2B5EF4-FFF2-40B4-BE49-F238E27FC236}">
                <a16:creationId xmlns:a16="http://schemas.microsoft.com/office/drawing/2014/main" id="{F73E5FD6-94E2-4D9A-BDF2-2BF56FF836E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8771757B-8484-4B2D-84F1-E816D797F52F}"/>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Epithelial Tissue</a:t>
            </a:r>
            <a:endParaRPr sz="3000"/>
          </a:p>
        </p:txBody>
      </p:sp>
      <p:sp>
        <p:nvSpPr>
          <p:cNvPr id="6" name="Text 4">
            <a:extLst xmlns:a="http://schemas.openxmlformats.org/drawingml/2006/main">
              <a:ext uri="{FF2B5EF4-FFF2-40B4-BE49-F238E27FC236}">
                <a16:creationId xmlns:a16="http://schemas.microsoft.com/office/drawing/2014/main" id="{AE13FD39-5DE6-4760-B147-83E234E3E216}"/>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Covering and lining tissue — classified by cell shape and layering.</a:t>
            </a:r>
            <a:endParaRPr sz="1500"/>
          </a:p>
        </p:txBody>
      </p:sp>
    </p:spTree>
    <p:extLst>
      <p:ext uri="{BB962C8B-B14F-4D97-AF65-F5344CB8AC3E}">
        <p14:creationId xmlns:p14="http://schemas.microsoft.com/office/powerpoint/2010/main" val="8170208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E48366E-A4A9-45D3-93E5-86BF8388352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4.2</a:t>
            </a:r>
            <a:endParaRPr sz="1200"/>
          </a:p>
        </p:txBody>
      </p:sp>
      <p:sp>
        <p:nvSpPr>
          <p:cNvPr id="3" name="Text 1">
            <a:extLst xmlns:a="http://schemas.openxmlformats.org/drawingml/2006/main">
              <a:ext uri="{FF2B5EF4-FFF2-40B4-BE49-F238E27FC236}">
                <a16:creationId xmlns:a16="http://schemas.microsoft.com/office/drawing/2014/main" id="{0EF4A940-7AC4-4786-86AF-B2D1FCA6708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Cell Junctions</a:t>
            </a:r>
            <a:endParaRPr sz="2800"/>
          </a:p>
        </p:txBody>
      </p:sp>
      <p:sp>
        <p:nvSpPr>
          <p:cNvPr id="4" name="Shape 2">
            <a:extLst xmlns:a="http://schemas.openxmlformats.org/drawingml/2006/main">
              <a:ext uri="{FF2B5EF4-FFF2-40B4-BE49-F238E27FC236}">
                <a16:creationId xmlns:a16="http://schemas.microsoft.com/office/drawing/2014/main" id="{3465F658-BD07-4DC4-AF52-B91AF6E330F0}"/>
              </a:ext>
            </a:extLst>
          </p:cNvPr>
          <p:cNvSpPr>
            <a:spLocks xmlns:a="http://schemas.openxmlformats.org/drawingml/2006/main" noGrp="1"/>
          </p:cNvSpPr>
          <p:nvPr/>
        </p:nvSpPr>
        <p:spPr>
          <a:xfrm xmlns:a="http://schemas.openxmlformats.org/drawingml/2006/main">
            <a:off x="609905" y="1289304"/>
            <a:ext cx="4083710" cy="4736592"/>
          </a:xfrm>
          <a:prstGeom xmlns:a="http://schemas.openxmlformats.org/drawingml/2006/main" prst="roundRect">
            <a:avLst>
              <a:gd name="adj" fmla="val 134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e25a265679b4c11"/>
          <a:stretch xmlns:a="http://schemas.openxmlformats.org/drawingml/2006/main">
            <a:fillRect l="0" t="0" r="0" b="0"/>
          </a:stretch>
        </p:blipFill>
        <p:spPr>
          <a:xfrm xmlns:a="http://schemas.openxmlformats.org/drawingml/2006/main">
            <a:off x="692201" y="1371600"/>
            <a:ext cx="391911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026D6FC-BAE8-4A56-BA36-E0A5DF16393B}"/>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Types of cell junctions</a:t>
            </a:r>
            <a:endParaRPr sz="1100"/>
          </a:p>
        </p:txBody>
      </p:sp>
      <p:sp>
        <p:nvSpPr>
          <p:cNvPr id="7" name="Text 4">
            <a:extLst xmlns:a="http://schemas.openxmlformats.org/drawingml/2006/main">
              <a:ext uri="{FF2B5EF4-FFF2-40B4-BE49-F238E27FC236}">
                <a16:creationId xmlns:a16="http://schemas.microsoft.com/office/drawing/2014/main" id="{2B7F239E-CDD5-459E-8041-BCC1011B622F}"/>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Bind epithelial cells together</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Tight junctions seal gaps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Desmosomes anchor cells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Gap junctions allow communication</a:t>
            </a:r>
            <a:endParaRPr sz="1600"/>
          </a:p>
        </p:txBody>
      </p:sp>
      <p:sp>
        <p:nvSpPr>
          <p:cNvPr id="9" name="Text 5">
            <a:extLst xmlns:a="http://schemas.openxmlformats.org/drawingml/2006/main">
              <a:ext uri="{FF2B5EF4-FFF2-40B4-BE49-F238E27FC236}">
                <a16:creationId xmlns:a16="http://schemas.microsoft.com/office/drawing/2014/main" id="{7900CF29-8759-491A-8A84-10BD6BCCB1F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022E592F-50FC-409C-9006-BFDB4C66284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endParaRPr sz="900"/>
          </a:p>
        </p:txBody>
      </p:sp>
    </p:spTree>
    <p:extLst>
      <p:ext uri="{BB962C8B-B14F-4D97-AF65-F5344CB8AC3E}">
        <p14:creationId xmlns:p14="http://schemas.microsoft.com/office/powerpoint/2010/main" val="13548408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4AE124-1756-4271-8B2F-1647A9106F4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4.2</a:t>
            </a:r>
            <a:endParaRPr sz="1200"/>
          </a:p>
        </p:txBody>
      </p:sp>
      <p:sp>
        <p:nvSpPr>
          <p:cNvPr id="3" name="Text 1">
            <a:extLst xmlns:a="http://schemas.openxmlformats.org/drawingml/2006/main">
              <a:ext uri="{FF2B5EF4-FFF2-40B4-BE49-F238E27FC236}">
                <a16:creationId xmlns:a16="http://schemas.microsoft.com/office/drawing/2014/main" id="{82E02097-13C8-4755-B672-69EDACCC81D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Classifying Epithelium</a:t>
            </a:r>
            <a:endParaRPr sz="2800"/>
          </a:p>
        </p:txBody>
      </p:sp>
      <p:sp>
        <p:nvSpPr>
          <p:cNvPr id="4" name="Text 2">
            <a:extLst xmlns:a="http://schemas.openxmlformats.org/drawingml/2006/main">
              <a:ext uri="{FF2B5EF4-FFF2-40B4-BE49-F238E27FC236}">
                <a16:creationId xmlns:a16="http://schemas.microsoft.com/office/drawing/2014/main" id="{B6CA7BA4-C38D-46C1-AD1A-BE1CD4D3335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Named by cell shape and number of layers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Shapes: squamous, cuboidal, columnar</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Simple (one layer) vs. stratified (many)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Structure matches function</a:t>
            </a:r>
            <a:endParaRPr sz="1500"/>
          </a:p>
        </p:txBody>
      </p:sp>
      <p:sp>
        <p:nvSpPr>
          <p:cNvPr id="5" name="Shape 3">
            <a:extLst xmlns:a="http://schemas.openxmlformats.org/drawingml/2006/main">
              <a:ext uri="{FF2B5EF4-FFF2-40B4-BE49-F238E27FC236}">
                <a16:creationId xmlns:a16="http://schemas.microsoft.com/office/drawing/2014/main" id="{AC78F7DC-B286-41F1-85A0-642B8B997AA3}"/>
              </a:ext>
            </a:extLst>
          </p:cNvPr>
          <p:cNvSpPr>
            <a:spLocks xmlns:a="http://schemas.openxmlformats.org/drawingml/2006/main" noGrp="1"/>
          </p:cNvSpPr>
          <p:nvPr/>
        </p:nvSpPr>
        <p:spPr>
          <a:xfrm xmlns:a="http://schemas.openxmlformats.org/drawingml/2006/main">
            <a:off x="5720779" y="1335024"/>
            <a:ext cx="574916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cb9af5ba8a14ea0"/>
          <a:stretch xmlns:a="http://schemas.openxmlformats.org/drawingml/2006/main">
            <a:fillRect l="0" t="0" r="0" b="0"/>
          </a:stretch>
        </p:blipFill>
        <p:spPr>
          <a:xfrm xmlns:a="http://schemas.openxmlformats.org/drawingml/2006/main">
            <a:off x="5803075" y="1417320"/>
            <a:ext cx="558457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72D2B34-3783-420D-965D-BB55A08F9A5B}"/>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Classification of epithelial tissues</a:t>
            </a:r>
            <a:endParaRPr sz="1100"/>
          </a:p>
        </p:txBody>
      </p:sp>
      <p:sp>
        <p:nvSpPr>
          <p:cNvPr id="9" name="Text 5">
            <a:extLst xmlns:a="http://schemas.openxmlformats.org/drawingml/2006/main">
              <a:ext uri="{FF2B5EF4-FFF2-40B4-BE49-F238E27FC236}">
                <a16:creationId xmlns:a16="http://schemas.microsoft.com/office/drawing/2014/main" id="{7A528B19-F0F5-48FC-B7E2-63821468CFA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3C327209-7C27-4FBF-BBE2-90172199C80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endParaRPr sz="900"/>
          </a:p>
        </p:txBody>
      </p:sp>
    </p:spTree>
    <p:extLst>
      <p:ext uri="{BB962C8B-B14F-4D97-AF65-F5344CB8AC3E}">
        <p14:creationId xmlns:p14="http://schemas.microsoft.com/office/powerpoint/2010/main" val="466707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0EC2F9-68BD-4B6F-83B3-0E3645AC553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4.2</a:t>
            </a:r>
            <a:endParaRPr sz="1200"/>
          </a:p>
        </p:txBody>
      </p:sp>
      <p:sp>
        <p:nvSpPr>
          <p:cNvPr id="3" name="Text 1">
            <a:extLst xmlns:a="http://schemas.openxmlformats.org/drawingml/2006/main">
              <a:ext uri="{FF2B5EF4-FFF2-40B4-BE49-F238E27FC236}">
                <a16:creationId xmlns:a16="http://schemas.microsoft.com/office/drawing/2014/main" id="{79B63F38-E306-4B0D-8EF0-63D8F71AE41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Modes of Glandular Secretion</a:t>
            </a:r>
            <a:endParaRPr sz="2800"/>
          </a:p>
        </p:txBody>
      </p:sp>
      <p:sp>
        <p:nvSpPr>
          <p:cNvPr id="4" name="Text 2">
            <a:extLst xmlns:a="http://schemas.openxmlformats.org/drawingml/2006/main">
              <a:ext uri="{FF2B5EF4-FFF2-40B4-BE49-F238E27FC236}">
                <a16:creationId xmlns:a16="http://schemas.microsoft.com/office/drawing/2014/main" id="{150BA68F-4B35-4F7B-83EE-E7BBFFD214C4}"/>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Exocrine glands secrete onto surfaces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Merocrine: released by exocytosis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Apocrine: part of the cell pinches off</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Holocrine: the whole cell ruptures</a:t>
            </a:r>
            <a:endParaRPr sz="1500"/>
          </a:p>
        </p:txBody>
      </p:sp>
      <p:sp>
        <p:nvSpPr>
          <p:cNvPr id="5" name="Shape 3">
            <a:extLst xmlns:a="http://schemas.openxmlformats.org/drawingml/2006/main">
              <a:ext uri="{FF2B5EF4-FFF2-40B4-BE49-F238E27FC236}">
                <a16:creationId xmlns:a16="http://schemas.microsoft.com/office/drawing/2014/main" id="{7D9CE88E-2773-4DC2-9EE9-6C8F51404C96}"/>
              </a:ext>
            </a:extLst>
          </p:cNvPr>
          <p:cNvSpPr>
            <a:spLocks xmlns:a="http://schemas.openxmlformats.org/drawingml/2006/main" noGrp="1"/>
          </p:cNvSpPr>
          <p:nvPr/>
        </p:nvSpPr>
        <p:spPr>
          <a:xfrm xmlns:a="http://schemas.openxmlformats.org/drawingml/2006/main">
            <a:off x="6311541" y="1335024"/>
            <a:ext cx="4567638" cy="4645152"/>
          </a:xfrm>
          <a:prstGeom xmlns:a="http://schemas.openxmlformats.org/drawingml/2006/main" prst="roundRect">
            <a:avLst>
              <a:gd name="adj" fmla="val 120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f68a2574a874504"/>
          <a:stretch xmlns:a="http://schemas.openxmlformats.org/drawingml/2006/main">
            <a:fillRect l="0" t="0" r="0" b="0"/>
          </a:stretch>
        </p:blipFill>
        <p:spPr>
          <a:xfrm xmlns:a="http://schemas.openxmlformats.org/drawingml/2006/main">
            <a:off x="6393837" y="1417320"/>
            <a:ext cx="4403046"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05293041-41F9-47EB-BD87-D62649334BB7}"/>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Merocrine, apocrine, and holocrine secretion</a:t>
            </a:r>
            <a:endParaRPr sz="1100"/>
          </a:p>
        </p:txBody>
      </p:sp>
      <p:sp>
        <p:nvSpPr>
          <p:cNvPr id="9" name="Text 5">
            <a:extLst xmlns:a="http://schemas.openxmlformats.org/drawingml/2006/main">
              <a:ext uri="{FF2B5EF4-FFF2-40B4-BE49-F238E27FC236}">
                <a16:creationId xmlns:a16="http://schemas.microsoft.com/office/drawing/2014/main" id="{ADEFE432-4AE5-4460-B351-54380C0CD80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13B6698E-6997-4C2D-A3F9-A96BE97FBA6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endParaRPr sz="900"/>
          </a:p>
        </p:txBody>
      </p:sp>
    </p:spTree>
    <p:extLst>
      <p:ext uri="{BB962C8B-B14F-4D97-AF65-F5344CB8AC3E}">
        <p14:creationId xmlns:p14="http://schemas.microsoft.com/office/powerpoint/2010/main" val="1300208190"/>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576B48-3035-4B87-AB01-1BA88341AC2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BC4AE43E-B5A4-41A7-B618-4773BFFE57E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4.3</a:t>
            </a:r>
            <a:endParaRPr sz="4800"/>
          </a:p>
        </p:txBody>
      </p:sp>
      <p:sp>
        <p:nvSpPr>
          <p:cNvPr id="4" name="Text 2">
            <a:extLst xmlns:a="http://schemas.openxmlformats.org/drawingml/2006/main">
              <a:ext uri="{FF2B5EF4-FFF2-40B4-BE49-F238E27FC236}">
                <a16:creationId xmlns:a16="http://schemas.microsoft.com/office/drawing/2014/main" id="{7330328A-71A4-4382-8CCF-45630F86B144}"/>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3AADD978-ED01-4074-A8DE-79E2DC7E4160}"/>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Connective Tissue Supports and Protects</a:t>
            </a:r>
            <a:endParaRPr sz="3000"/>
          </a:p>
        </p:txBody>
      </p:sp>
      <p:sp>
        <p:nvSpPr>
          <p:cNvPr id="6" name="Text 4">
            <a:extLst xmlns:a="http://schemas.openxmlformats.org/drawingml/2006/main">
              <a:ext uri="{FF2B5EF4-FFF2-40B4-BE49-F238E27FC236}">
                <a16:creationId xmlns:a16="http://schemas.microsoft.com/office/drawing/2014/main" id="{26551909-DDC0-4B4A-9551-F113354CDE58}"/>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body's most diverse tissue — binding, supporting, and transporting.</a:t>
            </a:r>
            <a:endParaRPr sz="1500"/>
          </a:p>
        </p:txBody>
      </p:sp>
    </p:spTree>
    <p:extLst>
      <p:ext uri="{BB962C8B-B14F-4D97-AF65-F5344CB8AC3E}">
        <p14:creationId xmlns:p14="http://schemas.microsoft.com/office/powerpoint/2010/main" val="14175101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9BB742-8D60-4064-B3DC-981A6915E51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4.3</a:t>
            </a:r>
            <a:endParaRPr sz="1200"/>
          </a:p>
        </p:txBody>
      </p:sp>
      <p:sp>
        <p:nvSpPr>
          <p:cNvPr id="3" name="Text 1">
            <a:extLst xmlns:a="http://schemas.openxmlformats.org/drawingml/2006/main">
              <a:ext uri="{FF2B5EF4-FFF2-40B4-BE49-F238E27FC236}">
                <a16:creationId xmlns:a16="http://schemas.microsoft.com/office/drawing/2014/main" id="{B5D863D3-2F84-4C95-A505-CD58F49EFB5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Connective Tissue Overview</a:t>
            </a:r>
            <a:endParaRPr sz="2800"/>
          </a:p>
        </p:txBody>
      </p:sp>
      <p:sp>
        <p:nvSpPr>
          <p:cNvPr id="4" name="Shape 2">
            <a:extLst xmlns:a="http://schemas.openxmlformats.org/drawingml/2006/main">
              <a:ext uri="{FF2B5EF4-FFF2-40B4-BE49-F238E27FC236}">
                <a16:creationId xmlns:a16="http://schemas.microsoft.com/office/drawing/2014/main" id="{91677BB5-0F78-47C3-8EE4-3399FCE4E0CF}"/>
              </a:ext>
            </a:extLst>
          </p:cNvPr>
          <p:cNvSpPr>
            <a:spLocks xmlns:a="http://schemas.openxmlformats.org/drawingml/2006/main" noGrp="1"/>
          </p:cNvSpPr>
          <p:nvPr/>
        </p:nvSpPr>
        <p:spPr>
          <a:xfrm xmlns:a="http://schemas.openxmlformats.org/drawingml/2006/main">
            <a:off x="557784" y="1381932"/>
            <a:ext cx="11091672" cy="3545495"/>
          </a:xfrm>
          <a:prstGeom xmlns:a="http://schemas.openxmlformats.org/drawingml/2006/main" prst="roundRect">
            <a:avLst>
              <a:gd name="adj" fmla="val 154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458a0c1dbef416a"/>
          <a:stretch xmlns:a="http://schemas.openxmlformats.org/drawingml/2006/main">
            <a:fillRect l="0" t="0" r="0" b="0"/>
          </a:stretch>
        </p:blipFill>
        <p:spPr>
          <a:xfrm xmlns:a="http://schemas.openxmlformats.org/drawingml/2006/main">
            <a:off x="640080" y="1464228"/>
            <a:ext cx="10927080" cy="3380903"/>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47A4ACA-56A3-484A-AA5D-CCFF0F97A9E8}"/>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Loose connective tissue and its components</a:t>
            </a:r>
            <a:endParaRPr sz="1100"/>
          </a:p>
        </p:txBody>
      </p:sp>
      <p:sp>
        <p:nvSpPr>
          <p:cNvPr id="7" name="Text 4">
            <a:extLst xmlns:a="http://schemas.openxmlformats.org/drawingml/2006/main">
              <a:ext uri="{FF2B5EF4-FFF2-40B4-BE49-F238E27FC236}">
                <a16:creationId xmlns:a16="http://schemas.microsoft.com/office/drawing/2014/main" id="{AF159A14-3B45-4792-9B63-4E69FBB6D2FB}"/>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Cells scattered in an extracellular matrix</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Matrix = ground substance + fibers</a:t>
            </a:r>
            <a:endParaRPr sz="1300"/>
          </a:p>
        </p:txBody>
      </p:sp>
      <p:sp>
        <p:nvSpPr>
          <p:cNvPr id="8" name="Text 5">
            <a:extLst xmlns:a="http://schemas.openxmlformats.org/drawingml/2006/main">
              <a:ext uri="{FF2B5EF4-FFF2-40B4-BE49-F238E27FC236}">
                <a16:creationId xmlns:a16="http://schemas.microsoft.com/office/drawing/2014/main" id="{044E6B30-08D5-4BC1-8F8D-9E8CD7F8E63B}"/>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Fibroblasts and immune cells reside here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most abundant, diverse tissue</a:t>
            </a:r>
            <a:endParaRPr sz="1300"/>
          </a:p>
        </p:txBody>
      </p:sp>
      <p:sp>
        <p:nvSpPr>
          <p:cNvPr id="10" name="Text 6">
            <a:extLst xmlns:a="http://schemas.openxmlformats.org/drawingml/2006/main">
              <a:ext uri="{FF2B5EF4-FFF2-40B4-BE49-F238E27FC236}">
                <a16:creationId xmlns:a16="http://schemas.microsoft.com/office/drawing/2014/main" id="{A9B69FBD-0CDB-43DB-882F-23A414338F7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1" name="Text 7">
            <a:extLst xmlns:a="http://schemas.openxmlformats.org/drawingml/2006/main">
              <a:ext uri="{FF2B5EF4-FFF2-40B4-BE49-F238E27FC236}">
                <a16:creationId xmlns:a16="http://schemas.microsoft.com/office/drawing/2014/main" id="{E1D23ADC-7C70-4819-83A6-8D2E7707B94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endParaRPr sz="900"/>
          </a:p>
        </p:txBody>
      </p:sp>
    </p:spTree>
    <p:extLst>
      <p:ext uri="{BB962C8B-B14F-4D97-AF65-F5344CB8AC3E}">
        <p14:creationId xmlns:p14="http://schemas.microsoft.com/office/powerpoint/2010/main" val="7300081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480756-D718-4736-BDFE-41D3AF6F827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4.3</a:t>
            </a:r>
            <a:endParaRPr sz="1200"/>
          </a:p>
        </p:txBody>
      </p:sp>
      <p:sp>
        <p:nvSpPr>
          <p:cNvPr id="3" name="Text 1">
            <a:extLst xmlns:a="http://schemas.openxmlformats.org/drawingml/2006/main">
              <a:ext uri="{FF2B5EF4-FFF2-40B4-BE49-F238E27FC236}">
                <a16:creationId xmlns:a16="http://schemas.microsoft.com/office/drawing/2014/main" id="{8AAE40D3-32BF-4FF1-8383-8672A84A3B5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Adipose Tissue</a:t>
            </a:r>
            <a:endParaRPr sz="2800"/>
          </a:p>
        </p:txBody>
      </p:sp>
      <p:sp>
        <p:nvSpPr>
          <p:cNvPr id="4" name="Shape 2">
            <a:extLst xmlns:a="http://schemas.openxmlformats.org/drawingml/2006/main">
              <a:ext uri="{FF2B5EF4-FFF2-40B4-BE49-F238E27FC236}">
                <a16:creationId xmlns:a16="http://schemas.microsoft.com/office/drawing/2014/main" id="{0FDA1A2B-615E-4924-8F83-1490D0D9CD7D}"/>
              </a:ext>
            </a:extLst>
          </p:cNvPr>
          <p:cNvSpPr>
            <a:spLocks xmlns:a="http://schemas.openxmlformats.org/drawingml/2006/main" noGrp="1"/>
          </p:cNvSpPr>
          <p:nvPr/>
        </p:nvSpPr>
        <p:spPr>
          <a:xfrm xmlns:a="http://schemas.openxmlformats.org/drawingml/2006/main">
            <a:off x="1578424" y="1289304"/>
            <a:ext cx="9050393"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cb579a27a124bd1"/>
          <a:stretch xmlns:a="http://schemas.openxmlformats.org/drawingml/2006/main">
            <a:fillRect l="0" t="0" r="0" b="0"/>
          </a:stretch>
        </p:blipFill>
        <p:spPr>
          <a:xfrm xmlns:a="http://schemas.openxmlformats.org/drawingml/2006/main">
            <a:off x="1660720" y="1371600"/>
            <a:ext cx="8885801"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7958B3A-951C-4DD2-AF20-92CD0C8700D2}"/>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Adipose (fat) tissue</a:t>
            </a:r>
            <a:endParaRPr sz="1100"/>
          </a:p>
        </p:txBody>
      </p:sp>
      <p:sp>
        <p:nvSpPr>
          <p:cNvPr id="7" name="Text 4">
            <a:extLst xmlns:a="http://schemas.openxmlformats.org/drawingml/2006/main">
              <a:ext uri="{FF2B5EF4-FFF2-40B4-BE49-F238E27FC236}">
                <a16:creationId xmlns:a16="http://schemas.microsoft.com/office/drawing/2014/main" id="{39AAFA86-A6BE-4C21-A912-066D58EB5924}"/>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Stores energy as fat</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Cushions and insulates organs</a:t>
            </a:r>
            <a:endParaRPr sz="1300"/>
          </a:p>
        </p:txBody>
      </p:sp>
      <p:sp>
        <p:nvSpPr>
          <p:cNvPr id="8" name="Text 5">
            <a:extLst xmlns:a="http://schemas.openxmlformats.org/drawingml/2006/main">
              <a:ext uri="{FF2B5EF4-FFF2-40B4-BE49-F238E27FC236}">
                <a16:creationId xmlns:a16="http://schemas.microsoft.com/office/drawing/2014/main" id="{81090986-438A-4056-8A18-8E8493E358C0}"/>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Cells are filled with lipid droplets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An active endocrine tissue</a:t>
            </a:r>
            <a:endParaRPr sz="1300"/>
          </a:p>
        </p:txBody>
      </p:sp>
      <p:sp>
        <p:nvSpPr>
          <p:cNvPr id="10" name="Text 6">
            <a:extLst xmlns:a="http://schemas.openxmlformats.org/drawingml/2006/main">
              <a:ext uri="{FF2B5EF4-FFF2-40B4-BE49-F238E27FC236}">
                <a16:creationId xmlns:a16="http://schemas.microsoft.com/office/drawing/2014/main" id="{35CD48E2-6078-4761-B29D-4303A5AA994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1" name="Text 7">
            <a:extLst xmlns:a="http://schemas.openxmlformats.org/drawingml/2006/main">
              <a:ext uri="{FF2B5EF4-FFF2-40B4-BE49-F238E27FC236}">
                <a16:creationId xmlns:a16="http://schemas.microsoft.com/office/drawing/2014/main" id="{45C3B783-AD8A-48AE-8FEF-7DFCB20C3C7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endParaRPr sz="900"/>
          </a:p>
        </p:txBody>
      </p:sp>
    </p:spTree>
    <p:extLst>
      <p:ext uri="{BB962C8B-B14F-4D97-AF65-F5344CB8AC3E}">
        <p14:creationId xmlns:p14="http://schemas.microsoft.com/office/powerpoint/2010/main" val="5045541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0D6F19-5CFD-4666-AB3C-7697B41C560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4.3</a:t>
            </a:r>
            <a:endParaRPr sz="1200"/>
          </a:p>
        </p:txBody>
      </p:sp>
      <p:sp>
        <p:nvSpPr>
          <p:cNvPr id="3" name="Text 1">
            <a:extLst xmlns:a="http://schemas.openxmlformats.org/drawingml/2006/main">
              <a:ext uri="{FF2B5EF4-FFF2-40B4-BE49-F238E27FC236}">
                <a16:creationId xmlns:a16="http://schemas.microsoft.com/office/drawing/2014/main" id="{4C89A50C-9E6C-40ED-AE98-A79902D5810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Dense Connective Tissue</a:t>
            </a:r>
            <a:endParaRPr sz="2800"/>
          </a:p>
        </p:txBody>
      </p:sp>
      <p:sp>
        <p:nvSpPr>
          <p:cNvPr id="4" name="Text 2">
            <a:extLst xmlns:a="http://schemas.openxmlformats.org/drawingml/2006/main">
              <a:ext uri="{FF2B5EF4-FFF2-40B4-BE49-F238E27FC236}">
                <a16:creationId xmlns:a16="http://schemas.microsoft.com/office/drawing/2014/main" id="{9E3CAB4C-6A17-4C1E-BF45-EC05C68195E8}"/>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Packed with collagen fibers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Dense regular: tendons and ligaments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Dense irregular: dermis and capsules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Provides tensile strength</a:t>
            </a:r>
            <a:endParaRPr sz="1500"/>
          </a:p>
        </p:txBody>
      </p:sp>
      <p:sp>
        <p:nvSpPr>
          <p:cNvPr id="5" name="Shape 3">
            <a:extLst xmlns:a="http://schemas.openxmlformats.org/drawingml/2006/main">
              <a:ext uri="{FF2B5EF4-FFF2-40B4-BE49-F238E27FC236}">
                <a16:creationId xmlns:a16="http://schemas.microsoft.com/office/drawing/2014/main" id="{E8E50704-8D72-4BE0-B47A-AEAC3F61410E}"/>
              </a:ext>
            </a:extLst>
          </p:cNvPr>
          <p:cNvSpPr>
            <a:spLocks xmlns:a="http://schemas.openxmlformats.org/drawingml/2006/main" noGrp="1"/>
          </p:cNvSpPr>
          <p:nvPr/>
        </p:nvSpPr>
        <p:spPr>
          <a:xfrm xmlns:a="http://schemas.openxmlformats.org/drawingml/2006/main">
            <a:off x="5404104" y="1413602"/>
            <a:ext cx="6382512" cy="4487996"/>
          </a:xfrm>
          <a:prstGeom xmlns:a="http://schemas.openxmlformats.org/drawingml/2006/main" prst="roundRect">
            <a:avLst>
              <a:gd name="adj" fmla="val 122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b4f31dda6e047ba"/>
          <a:stretch xmlns:a="http://schemas.openxmlformats.org/drawingml/2006/main">
            <a:fillRect l="0" t="0" r="0" b="0"/>
          </a:stretch>
        </p:blipFill>
        <p:spPr>
          <a:xfrm xmlns:a="http://schemas.openxmlformats.org/drawingml/2006/main">
            <a:off x="5486400" y="1495898"/>
            <a:ext cx="6217920" cy="432340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94F9823-7517-41A2-A80B-5CD04B730AA2}"/>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Dense regular and irregular connective tissue</a:t>
            </a:r>
            <a:endParaRPr sz="1100"/>
          </a:p>
        </p:txBody>
      </p:sp>
      <p:sp>
        <p:nvSpPr>
          <p:cNvPr id="9" name="Text 5">
            <a:extLst xmlns:a="http://schemas.openxmlformats.org/drawingml/2006/main">
              <a:ext uri="{FF2B5EF4-FFF2-40B4-BE49-F238E27FC236}">
                <a16:creationId xmlns:a16="http://schemas.microsoft.com/office/drawing/2014/main" id="{5780CA9B-020E-4CC8-B4F7-A199F70B00F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998F2948-4413-4A05-873E-27EE28C61F6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endParaRPr sz="900"/>
          </a:p>
        </p:txBody>
      </p:sp>
    </p:spTree>
    <p:extLst>
      <p:ext uri="{BB962C8B-B14F-4D97-AF65-F5344CB8AC3E}">
        <p14:creationId xmlns:p14="http://schemas.microsoft.com/office/powerpoint/2010/main" val="14733557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450CEB-76F6-4107-883B-379B97E47C6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4.3</a:t>
            </a:r>
            <a:endParaRPr sz="1200"/>
          </a:p>
        </p:txBody>
      </p:sp>
      <p:sp>
        <p:nvSpPr>
          <p:cNvPr id="3" name="Text 1">
            <a:extLst xmlns:a="http://schemas.openxmlformats.org/drawingml/2006/main">
              <a:ext uri="{FF2B5EF4-FFF2-40B4-BE49-F238E27FC236}">
                <a16:creationId xmlns:a16="http://schemas.microsoft.com/office/drawing/2014/main" id="{49E4AF87-ACD3-4828-8A04-82918EDD03B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Cartilage</a:t>
            </a:r>
            <a:endParaRPr sz="2800"/>
          </a:p>
        </p:txBody>
      </p:sp>
      <p:sp>
        <p:nvSpPr>
          <p:cNvPr id="4" name="Shape 2">
            <a:extLst xmlns:a="http://schemas.openxmlformats.org/drawingml/2006/main">
              <a:ext uri="{FF2B5EF4-FFF2-40B4-BE49-F238E27FC236}">
                <a16:creationId xmlns:a16="http://schemas.microsoft.com/office/drawing/2014/main" id="{2CDC7BED-6A47-4467-B572-2C63118ADC8D}"/>
              </a:ext>
            </a:extLst>
          </p:cNvPr>
          <p:cNvSpPr>
            <a:spLocks xmlns:a="http://schemas.openxmlformats.org/drawingml/2006/main" noGrp="1"/>
          </p:cNvSpPr>
          <p:nvPr/>
        </p:nvSpPr>
        <p:spPr>
          <a:xfrm xmlns:a="http://schemas.openxmlformats.org/drawingml/2006/main">
            <a:off x="638480" y="1289304"/>
            <a:ext cx="4026560" cy="4736592"/>
          </a:xfrm>
          <a:prstGeom xmlns:a="http://schemas.openxmlformats.org/drawingml/2006/main" prst="roundRect">
            <a:avLst>
              <a:gd name="adj" fmla="val 136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799daca5d1e6493f"/>
          <a:stretch xmlns:a="http://schemas.openxmlformats.org/drawingml/2006/main">
            <a:fillRect l="0" t="0" r="0" b="0"/>
          </a:stretch>
        </p:blipFill>
        <p:spPr>
          <a:xfrm xmlns:a="http://schemas.openxmlformats.org/drawingml/2006/main">
            <a:off x="720776" y="1371600"/>
            <a:ext cx="386196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25BCFA1-8220-4E08-8CBD-2ADC61DE7EEB}"/>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Hyaline, fibrocartilage, and elastic cartilage</a:t>
            </a:r>
            <a:endParaRPr sz="1100"/>
          </a:p>
        </p:txBody>
      </p:sp>
      <p:sp>
        <p:nvSpPr>
          <p:cNvPr id="7" name="Text 4">
            <a:extLst xmlns:a="http://schemas.openxmlformats.org/drawingml/2006/main">
              <a:ext uri="{FF2B5EF4-FFF2-40B4-BE49-F238E27FC236}">
                <a16:creationId xmlns:a16="http://schemas.microsoft.com/office/drawing/2014/main" id="{17E514B4-9CE2-4E0C-B455-E316BBB2643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Firm but flexible matrix</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Hyaline: joints, nose, trachea</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Fibrocartilage: discs and menisci</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Elastic: ear and epiglottis</a:t>
            </a:r>
            <a:endParaRPr sz="1600"/>
          </a:p>
        </p:txBody>
      </p:sp>
      <p:sp>
        <p:nvSpPr>
          <p:cNvPr id="9" name="Text 5">
            <a:extLst xmlns:a="http://schemas.openxmlformats.org/drawingml/2006/main">
              <a:ext uri="{FF2B5EF4-FFF2-40B4-BE49-F238E27FC236}">
                <a16:creationId xmlns:a16="http://schemas.microsoft.com/office/drawing/2014/main" id="{06F751C2-4231-4E2E-9957-10F4551E503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204843EF-5B81-41A0-A153-43C7B89DD19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endParaRPr sz="900"/>
          </a:p>
        </p:txBody>
      </p:sp>
    </p:spTree>
    <p:extLst>
      <p:ext uri="{BB962C8B-B14F-4D97-AF65-F5344CB8AC3E}">
        <p14:creationId xmlns:p14="http://schemas.microsoft.com/office/powerpoint/2010/main" val="12247329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2C6F94-30DD-43D2-BD31-454206C45A3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4.3</a:t>
            </a:r>
            <a:endParaRPr sz="1200"/>
          </a:p>
        </p:txBody>
      </p:sp>
      <p:sp>
        <p:nvSpPr>
          <p:cNvPr id="3" name="Text 1">
            <a:extLst xmlns:a="http://schemas.openxmlformats.org/drawingml/2006/main">
              <a:ext uri="{FF2B5EF4-FFF2-40B4-BE49-F238E27FC236}">
                <a16:creationId xmlns:a16="http://schemas.microsoft.com/office/drawing/2014/main" id="{2AA855F0-1A9C-46E7-8911-54A82E4F3EC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Blood</a:t>
            </a:r>
            <a:endParaRPr sz="2800"/>
          </a:p>
        </p:txBody>
      </p:sp>
      <p:sp>
        <p:nvSpPr>
          <p:cNvPr id="4" name="Shape 2">
            <a:extLst xmlns:a="http://schemas.openxmlformats.org/drawingml/2006/main">
              <a:ext uri="{FF2B5EF4-FFF2-40B4-BE49-F238E27FC236}">
                <a16:creationId xmlns:a16="http://schemas.microsoft.com/office/drawing/2014/main" id="{EDB78284-32BC-4452-A30F-4550566D5F91}"/>
              </a:ext>
            </a:extLst>
          </p:cNvPr>
          <p:cNvSpPr>
            <a:spLocks xmlns:a="http://schemas.openxmlformats.org/drawingml/2006/main" noGrp="1"/>
          </p:cNvSpPr>
          <p:nvPr/>
        </p:nvSpPr>
        <p:spPr>
          <a:xfrm xmlns:a="http://schemas.openxmlformats.org/drawingml/2006/main">
            <a:off x="2645240" y="1289304"/>
            <a:ext cx="6916759"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56dd3faa6e94f3e"/>
          <a:stretch xmlns:a="http://schemas.openxmlformats.org/drawingml/2006/main">
            <a:fillRect l="0" t="0" r="0" b="0"/>
          </a:stretch>
        </p:blipFill>
        <p:spPr>
          <a:xfrm xmlns:a="http://schemas.openxmlformats.org/drawingml/2006/main">
            <a:off x="2727536" y="1371600"/>
            <a:ext cx="6752167"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68C27D4-4EF3-4DC2-9BE4-B4668726DD24}"/>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Blood: erythrocytes and leukocytes</a:t>
            </a:r>
            <a:endParaRPr sz="1100"/>
          </a:p>
        </p:txBody>
      </p:sp>
      <p:sp>
        <p:nvSpPr>
          <p:cNvPr id="7" name="Text 4">
            <a:extLst xmlns:a="http://schemas.openxmlformats.org/drawingml/2006/main">
              <a:ext uri="{FF2B5EF4-FFF2-40B4-BE49-F238E27FC236}">
                <a16:creationId xmlns:a16="http://schemas.microsoft.com/office/drawing/2014/main" id="{98AE5EE5-A3D6-4EAC-AFE1-42731A21FD21}"/>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fluid connective tissue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Plasma is the liquid matrix</a:t>
            </a:r>
            <a:endParaRPr sz="1300"/>
          </a:p>
        </p:txBody>
      </p:sp>
      <p:sp>
        <p:nvSpPr>
          <p:cNvPr id="8" name="Text 5">
            <a:extLst xmlns:a="http://schemas.openxmlformats.org/drawingml/2006/main">
              <a:ext uri="{FF2B5EF4-FFF2-40B4-BE49-F238E27FC236}">
                <a16:creationId xmlns:a16="http://schemas.microsoft.com/office/drawing/2014/main" id="{1048E1ED-041F-452B-BD74-0265BCDE3F5D}"/>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Red cells carry oxygen</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White cells defend; platelets clot</a:t>
            </a:r>
            <a:endParaRPr sz="1300"/>
          </a:p>
        </p:txBody>
      </p:sp>
      <p:sp>
        <p:nvSpPr>
          <p:cNvPr id="10" name="Text 6">
            <a:extLst xmlns:a="http://schemas.openxmlformats.org/drawingml/2006/main">
              <a:ext uri="{FF2B5EF4-FFF2-40B4-BE49-F238E27FC236}">
                <a16:creationId xmlns:a16="http://schemas.microsoft.com/office/drawing/2014/main" id="{B2F3E329-AFA0-4959-BDA7-5B69230C1A5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1" name="Text 7">
            <a:extLst xmlns:a="http://schemas.openxmlformats.org/drawingml/2006/main">
              <a:ext uri="{FF2B5EF4-FFF2-40B4-BE49-F238E27FC236}">
                <a16:creationId xmlns:a16="http://schemas.microsoft.com/office/drawing/2014/main" id="{9BFED4B1-40F7-4C23-B52F-E2651BA9F33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endParaRPr sz="900"/>
          </a:p>
        </p:txBody>
      </p:sp>
    </p:spTree>
    <p:extLst>
      <p:ext uri="{BB962C8B-B14F-4D97-AF65-F5344CB8AC3E}">
        <p14:creationId xmlns:p14="http://schemas.microsoft.com/office/powerpoint/2010/main" val="2114431681"/>
      </p:ext>
    </p:extLst>
  </p:cSld>
</p:sld>
</file>

<file path=ppt/slides/slide16.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2B33C9A-B3DC-4FB6-98A9-82FC0067A50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CBAD7524-66AD-44AF-A85D-36BAC2535E26}"/>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4.4</a:t>
            </a:r>
            <a:endParaRPr sz="4800"/>
          </a:p>
        </p:txBody>
      </p:sp>
      <p:sp>
        <p:nvSpPr>
          <p:cNvPr id="4" name="Text 2">
            <a:extLst xmlns:a="http://schemas.openxmlformats.org/drawingml/2006/main">
              <a:ext uri="{FF2B5EF4-FFF2-40B4-BE49-F238E27FC236}">
                <a16:creationId xmlns:a16="http://schemas.microsoft.com/office/drawing/2014/main" id="{8DE91762-D450-4E4E-8638-78A8B4ED6ED7}"/>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168B5410-F054-492F-B3AD-9B9F09A1FB97}"/>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Muscle Tissue and Motion</a:t>
            </a:r>
            <a:endParaRPr sz="3000"/>
          </a:p>
        </p:txBody>
      </p:sp>
      <p:sp>
        <p:nvSpPr>
          <p:cNvPr id="6" name="Text 4">
            <a:extLst xmlns:a="http://schemas.openxmlformats.org/drawingml/2006/main">
              <a:ext uri="{FF2B5EF4-FFF2-40B4-BE49-F238E27FC236}">
                <a16:creationId xmlns:a16="http://schemas.microsoft.com/office/drawing/2014/main" id="{98E5FA92-9889-4F85-98FA-B913230D303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three muscle types that generate movement.</a:t>
            </a:r>
            <a:endParaRPr sz="1500"/>
          </a:p>
        </p:txBody>
      </p:sp>
    </p:spTree>
    <p:extLst>
      <p:ext uri="{BB962C8B-B14F-4D97-AF65-F5344CB8AC3E}">
        <p14:creationId xmlns:p14="http://schemas.microsoft.com/office/powerpoint/2010/main" val="8880546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DE1BDA2-774B-4D0D-97FB-CC678149EF0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4.4</a:t>
            </a:r>
            <a:endParaRPr sz="1200"/>
          </a:p>
        </p:txBody>
      </p:sp>
      <p:sp>
        <p:nvSpPr>
          <p:cNvPr id="3" name="Text 1">
            <a:extLst xmlns:a="http://schemas.openxmlformats.org/drawingml/2006/main">
              <a:ext uri="{FF2B5EF4-FFF2-40B4-BE49-F238E27FC236}">
                <a16:creationId xmlns:a16="http://schemas.microsoft.com/office/drawing/2014/main" id="{0A647248-6277-426B-B654-B203C825F21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Three Muscle Tissues</a:t>
            </a:r>
            <a:endParaRPr sz="2800"/>
          </a:p>
        </p:txBody>
      </p:sp>
      <p:sp>
        <p:nvSpPr>
          <p:cNvPr id="4" name="Shape 2">
            <a:extLst xmlns:a="http://schemas.openxmlformats.org/drawingml/2006/main">
              <a:ext uri="{FF2B5EF4-FFF2-40B4-BE49-F238E27FC236}">
                <a16:creationId xmlns:a16="http://schemas.microsoft.com/office/drawing/2014/main" id="{2610BC33-8C91-47F3-83BA-62871346F072}"/>
              </a:ext>
            </a:extLst>
          </p:cNvPr>
          <p:cNvSpPr>
            <a:spLocks xmlns:a="http://schemas.openxmlformats.org/drawingml/2006/main" noGrp="1"/>
          </p:cNvSpPr>
          <p:nvPr/>
        </p:nvSpPr>
        <p:spPr>
          <a:xfrm xmlns:a="http://schemas.openxmlformats.org/drawingml/2006/main">
            <a:off x="1210208" y="1289304"/>
            <a:ext cx="2883103" cy="4736592"/>
          </a:xfrm>
          <a:prstGeom xmlns:a="http://schemas.openxmlformats.org/drawingml/2006/main" prst="roundRect">
            <a:avLst>
              <a:gd name="adj" fmla="val 190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0f0dc200dc5f4f68"/>
          <a:stretch xmlns:a="http://schemas.openxmlformats.org/drawingml/2006/main">
            <a:fillRect l="0" t="0" r="0" b="0"/>
          </a:stretch>
        </p:blipFill>
        <p:spPr>
          <a:xfrm xmlns:a="http://schemas.openxmlformats.org/drawingml/2006/main">
            <a:off x="1292504" y="1371600"/>
            <a:ext cx="2718511"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AB3F6D2-C68E-4A06-9621-BEE3F7E32C42}"/>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Skeletal, cardiac, and smooth muscle</a:t>
            </a:r>
            <a:endParaRPr sz="1100"/>
          </a:p>
        </p:txBody>
      </p:sp>
      <p:sp>
        <p:nvSpPr>
          <p:cNvPr id="7" name="Text 4">
            <a:extLst xmlns:a="http://schemas.openxmlformats.org/drawingml/2006/main">
              <a:ext uri="{FF2B5EF4-FFF2-40B4-BE49-F238E27FC236}">
                <a16:creationId xmlns:a16="http://schemas.microsoft.com/office/drawing/2014/main" id="{3D574463-50A2-4E15-A430-9F3F7088F077}"/>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Skeletal: voluntary, striated</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Cardiac: involuntary, striated, branched</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Smooth: involuntary, non-striated</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All convert energy into movement</a:t>
            </a:r>
            <a:endParaRPr sz="1600"/>
          </a:p>
        </p:txBody>
      </p:sp>
      <p:sp>
        <p:nvSpPr>
          <p:cNvPr id="9" name="Text 5">
            <a:extLst xmlns:a="http://schemas.openxmlformats.org/drawingml/2006/main">
              <a:ext uri="{FF2B5EF4-FFF2-40B4-BE49-F238E27FC236}">
                <a16:creationId xmlns:a16="http://schemas.microsoft.com/office/drawing/2014/main" id="{36616AA6-D4E4-4637-ABCE-65EF4975A75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8CCB3109-672B-4C4F-89C5-D6637621D8D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endParaRPr sz="900"/>
          </a:p>
        </p:txBody>
      </p:sp>
    </p:spTree>
    <p:extLst>
      <p:ext uri="{BB962C8B-B14F-4D97-AF65-F5344CB8AC3E}">
        <p14:creationId xmlns:p14="http://schemas.microsoft.com/office/powerpoint/2010/main" val="2137346332"/>
      </p:ext>
    </p:extLst>
  </p:cSld>
</p:sld>
</file>

<file path=ppt/slides/slide18.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6C37CAF-03FD-4B46-92A4-4E3BC4107B39}"/>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7D056BF-AB7C-49F4-BC56-F9EF42ACC96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4.5</a:t>
            </a:r>
            <a:endParaRPr sz="4800"/>
          </a:p>
        </p:txBody>
      </p:sp>
      <p:sp>
        <p:nvSpPr>
          <p:cNvPr id="4" name="Text 2">
            <a:extLst xmlns:a="http://schemas.openxmlformats.org/drawingml/2006/main">
              <a:ext uri="{FF2B5EF4-FFF2-40B4-BE49-F238E27FC236}">
                <a16:creationId xmlns:a16="http://schemas.microsoft.com/office/drawing/2014/main" id="{8C793F4F-BB85-4589-AF73-B9EA36136B0B}"/>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2A984893-7AC4-406F-9071-3F909D1FCEFD}"/>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Nervous Tissue Mediates Perception and Response</a:t>
            </a:r>
            <a:endParaRPr sz="3000"/>
          </a:p>
        </p:txBody>
      </p:sp>
      <p:sp>
        <p:nvSpPr>
          <p:cNvPr id="6" name="Text 4">
            <a:extLst xmlns:a="http://schemas.openxmlformats.org/drawingml/2006/main">
              <a:ext uri="{FF2B5EF4-FFF2-40B4-BE49-F238E27FC236}">
                <a16:creationId xmlns:a16="http://schemas.microsoft.com/office/drawing/2014/main" id="{7EA8025E-654D-4885-B822-30AF118A9FF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communication tissue — neurons and their supporting cells.</a:t>
            </a:r>
            <a:endParaRPr sz="1500"/>
          </a:p>
        </p:txBody>
      </p:sp>
    </p:spTree>
    <p:extLst>
      <p:ext uri="{BB962C8B-B14F-4D97-AF65-F5344CB8AC3E}">
        <p14:creationId xmlns:p14="http://schemas.microsoft.com/office/powerpoint/2010/main" val="6577110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52245E-C382-4357-94D7-D3C2B5FFD90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4.5</a:t>
            </a:r>
            <a:endParaRPr sz="1200"/>
          </a:p>
        </p:txBody>
      </p:sp>
      <p:sp>
        <p:nvSpPr>
          <p:cNvPr id="3" name="Text 1">
            <a:extLst xmlns:a="http://schemas.openxmlformats.org/drawingml/2006/main">
              <a:ext uri="{FF2B5EF4-FFF2-40B4-BE49-F238E27FC236}">
                <a16:creationId xmlns:a16="http://schemas.microsoft.com/office/drawing/2014/main" id="{893B88E8-061E-4477-A914-A3F184792E87}"/>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Nervous Tissue</a:t>
            </a:r>
            <a:endParaRPr sz="2800"/>
          </a:p>
        </p:txBody>
      </p:sp>
      <p:sp>
        <p:nvSpPr>
          <p:cNvPr id="4" name="Shape 2">
            <a:extLst xmlns:a="http://schemas.openxmlformats.org/drawingml/2006/main">
              <a:ext uri="{FF2B5EF4-FFF2-40B4-BE49-F238E27FC236}">
                <a16:creationId xmlns:a16="http://schemas.microsoft.com/office/drawing/2014/main" id="{4AB6EA77-CBDC-4357-9200-FF0C60A075EF}"/>
              </a:ext>
            </a:extLst>
          </p:cNvPr>
          <p:cNvSpPr>
            <a:spLocks xmlns:a="http://schemas.openxmlformats.org/drawingml/2006/main" noGrp="1"/>
          </p:cNvSpPr>
          <p:nvPr/>
        </p:nvSpPr>
        <p:spPr>
          <a:xfrm xmlns:a="http://schemas.openxmlformats.org/drawingml/2006/main">
            <a:off x="3277342" y="1289304"/>
            <a:ext cx="5652556"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1a1b1bf5b04434d"/>
          <a:stretch xmlns:a="http://schemas.openxmlformats.org/drawingml/2006/main">
            <a:fillRect l="0" t="0" r="0" b="0"/>
          </a:stretch>
        </p:blipFill>
        <p:spPr>
          <a:xfrm xmlns:a="http://schemas.openxmlformats.org/drawingml/2006/main">
            <a:off x="3359638" y="1371600"/>
            <a:ext cx="5487964"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9CDFD0E-B073-4CB0-8D01-E41908799A2F}"/>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 neuron of nervous tissue</a:t>
            </a:r>
            <a:endParaRPr sz="1100"/>
          </a:p>
        </p:txBody>
      </p:sp>
      <p:sp>
        <p:nvSpPr>
          <p:cNvPr id="7" name="Text 4">
            <a:extLst xmlns:a="http://schemas.openxmlformats.org/drawingml/2006/main">
              <a:ext uri="{FF2B5EF4-FFF2-40B4-BE49-F238E27FC236}">
                <a16:creationId xmlns:a16="http://schemas.microsoft.com/office/drawing/2014/main" id="{CACABFDF-8137-4C34-A0C5-71D4E8CB8B21}"/>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Neurons transmit electrical signals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Cell body, dendrites, and axon</a:t>
            </a:r>
            <a:endParaRPr sz="1300"/>
          </a:p>
        </p:txBody>
      </p:sp>
      <p:sp>
        <p:nvSpPr>
          <p:cNvPr id="8" name="Text 5">
            <a:extLst xmlns:a="http://schemas.openxmlformats.org/drawingml/2006/main">
              <a:ext uri="{FF2B5EF4-FFF2-40B4-BE49-F238E27FC236}">
                <a16:creationId xmlns:a16="http://schemas.microsoft.com/office/drawing/2014/main" id="{F409537F-ADA7-446E-8DFE-7183CFC6A4A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Dendrites receive; axons send</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Glial cells support neurons</a:t>
            </a:r>
            <a:endParaRPr sz="1300"/>
          </a:p>
        </p:txBody>
      </p:sp>
      <p:sp>
        <p:nvSpPr>
          <p:cNvPr id="10" name="Text 6">
            <a:extLst xmlns:a="http://schemas.openxmlformats.org/drawingml/2006/main">
              <a:ext uri="{FF2B5EF4-FFF2-40B4-BE49-F238E27FC236}">
                <a16:creationId xmlns:a16="http://schemas.microsoft.com/office/drawing/2014/main" id="{225A9918-B046-4E35-B035-CD385268E14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1" name="Text 7">
            <a:extLst xmlns:a="http://schemas.openxmlformats.org/drawingml/2006/main">
              <a:ext uri="{FF2B5EF4-FFF2-40B4-BE49-F238E27FC236}">
                <a16:creationId xmlns:a16="http://schemas.microsoft.com/office/drawing/2014/main" id="{FC3C95A5-3007-4E56-B05B-4ED648CACDF8}"/>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endParaRPr sz="900"/>
          </a:p>
        </p:txBody>
      </p:sp>
    </p:spTree>
    <p:extLst>
      <p:ext uri="{BB962C8B-B14F-4D97-AF65-F5344CB8AC3E}">
        <p14:creationId xmlns:p14="http://schemas.microsoft.com/office/powerpoint/2010/main" val="1010951879"/>
      </p:ext>
    </p:extLst>
  </p:cSld>
</p:sld>
</file>

<file path=ppt/slides/slide2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EAAA13-E384-4B02-A754-249A443DC6A3}"/>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77C1247-EDBD-4B14-BB28-24FC30C9495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4.6</a:t>
            </a:r>
            <a:endParaRPr sz="4800"/>
          </a:p>
        </p:txBody>
      </p:sp>
      <p:sp>
        <p:nvSpPr>
          <p:cNvPr id="4" name="Text 2">
            <a:extLst xmlns:a="http://schemas.openxmlformats.org/drawingml/2006/main">
              <a:ext uri="{FF2B5EF4-FFF2-40B4-BE49-F238E27FC236}">
                <a16:creationId xmlns:a16="http://schemas.microsoft.com/office/drawing/2014/main" id="{3E147506-49CA-4B84-8662-C1E2E235BF7B}"/>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3924101C-A53B-40F5-A793-AD4DE250E6DD}"/>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Tissue Injury and Aging</a:t>
            </a:r>
            <a:endParaRPr sz="3000"/>
          </a:p>
        </p:txBody>
      </p:sp>
      <p:sp>
        <p:nvSpPr>
          <p:cNvPr id="6" name="Text 4">
            <a:extLst xmlns:a="http://schemas.openxmlformats.org/drawingml/2006/main">
              <a:ext uri="{FF2B5EF4-FFF2-40B4-BE49-F238E27FC236}">
                <a16:creationId xmlns:a16="http://schemas.microsoft.com/office/drawing/2014/main" id="{B50367B4-56DB-476F-B155-CBB41C1A77A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tissues respond to damage, repair themselves, and change with age.</a:t>
            </a:r>
            <a:endParaRPr sz="1500"/>
          </a:p>
        </p:txBody>
      </p:sp>
    </p:spTree>
    <p:extLst>
      <p:ext uri="{BB962C8B-B14F-4D97-AF65-F5344CB8AC3E}">
        <p14:creationId xmlns:p14="http://schemas.microsoft.com/office/powerpoint/2010/main" val="16452848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FC91A1-CEE7-4524-B073-3BCB5FD4991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4.6</a:t>
            </a:r>
            <a:endParaRPr sz="1200"/>
          </a:p>
        </p:txBody>
      </p:sp>
      <p:sp>
        <p:nvSpPr>
          <p:cNvPr id="3" name="Text 1">
            <a:extLst xmlns:a="http://schemas.openxmlformats.org/drawingml/2006/main">
              <a:ext uri="{FF2B5EF4-FFF2-40B4-BE49-F238E27FC236}">
                <a16:creationId xmlns:a16="http://schemas.microsoft.com/office/drawing/2014/main" id="{4FAC2B67-B660-49D5-A07F-9635DE6D3D4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Tissue Injury &amp; Repair</a:t>
            </a:r>
            <a:endParaRPr sz="2800"/>
          </a:p>
        </p:txBody>
      </p:sp>
      <p:sp>
        <p:nvSpPr>
          <p:cNvPr id="4" name="Shape 2">
            <a:extLst xmlns:a="http://schemas.openxmlformats.org/drawingml/2006/main">
              <a:ext uri="{FF2B5EF4-FFF2-40B4-BE49-F238E27FC236}">
                <a16:creationId xmlns:a16="http://schemas.microsoft.com/office/drawing/2014/main" id="{F8A8C9B1-0927-4315-8882-90B5F4BFA16B}"/>
              </a:ext>
            </a:extLst>
          </p:cNvPr>
          <p:cNvSpPr>
            <a:spLocks xmlns:a="http://schemas.openxmlformats.org/drawingml/2006/main" noGrp="1"/>
          </p:cNvSpPr>
          <p:nvPr/>
        </p:nvSpPr>
        <p:spPr>
          <a:xfrm xmlns:a="http://schemas.openxmlformats.org/drawingml/2006/main">
            <a:off x="1290634" y="1289304"/>
            <a:ext cx="9625971"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8603bc1d14a4a7e"/>
          <a:stretch xmlns:a="http://schemas.openxmlformats.org/drawingml/2006/main">
            <a:fillRect l="0" t="0" r="0" b="0"/>
          </a:stretch>
        </p:blipFill>
        <p:spPr>
          <a:xfrm xmlns:a="http://schemas.openxmlformats.org/drawingml/2006/main">
            <a:off x="1372930" y="1371600"/>
            <a:ext cx="9461379"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76B5F7C-50D7-43F3-9EE0-A3BC276C1494}"/>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tissue inflammation and repair process</a:t>
            </a:r>
            <a:endParaRPr sz="1100"/>
          </a:p>
        </p:txBody>
      </p:sp>
      <p:sp>
        <p:nvSpPr>
          <p:cNvPr id="7" name="Text 4">
            <a:extLst xmlns:a="http://schemas.openxmlformats.org/drawingml/2006/main">
              <a:ext uri="{FF2B5EF4-FFF2-40B4-BE49-F238E27FC236}">
                <a16:creationId xmlns:a16="http://schemas.microsoft.com/office/drawing/2014/main" id="{6B8C079E-2BF2-4DD0-9D44-8014C6E4B9D5}"/>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Inflammation is the first response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clot forms and immune cells arrive</a:t>
            </a:r>
            <a:endParaRPr sz="1300"/>
          </a:p>
        </p:txBody>
      </p:sp>
      <p:sp>
        <p:nvSpPr>
          <p:cNvPr id="8" name="Text 5">
            <a:extLst xmlns:a="http://schemas.openxmlformats.org/drawingml/2006/main">
              <a:ext uri="{FF2B5EF4-FFF2-40B4-BE49-F238E27FC236}">
                <a16:creationId xmlns:a16="http://schemas.microsoft.com/office/drawing/2014/main" id="{1AE61587-5BC1-4FCA-8009-775B8BFA2A81}"/>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Granulation tissue rebuilds the area</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Healing by regeneration or scarring</a:t>
            </a:r>
            <a:endParaRPr sz="1300"/>
          </a:p>
        </p:txBody>
      </p:sp>
      <p:sp>
        <p:nvSpPr>
          <p:cNvPr id="10" name="Text 6">
            <a:extLst xmlns:a="http://schemas.openxmlformats.org/drawingml/2006/main">
              <a:ext uri="{FF2B5EF4-FFF2-40B4-BE49-F238E27FC236}">
                <a16:creationId xmlns:a16="http://schemas.microsoft.com/office/drawing/2014/main" id="{E0554376-3743-429A-9F0B-B1DBFF331D5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1" name="Text 7">
            <a:extLst xmlns:a="http://schemas.openxmlformats.org/drawingml/2006/main">
              <a:ext uri="{FF2B5EF4-FFF2-40B4-BE49-F238E27FC236}">
                <a16:creationId xmlns:a16="http://schemas.microsoft.com/office/drawing/2014/main" id="{83A40822-3C32-46E3-9B95-F9A9B99FF25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21</a:t>
            </a:r>
            <a:endParaRPr sz="900"/>
          </a:p>
        </p:txBody>
      </p:sp>
    </p:spTree>
    <p:extLst>
      <p:ext uri="{BB962C8B-B14F-4D97-AF65-F5344CB8AC3E}">
        <p14:creationId xmlns:p14="http://schemas.microsoft.com/office/powerpoint/2010/main" val="20216530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1BA2BE-CD2F-4064-AC7C-BE35B7BCE6B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4.6</a:t>
            </a:r>
            <a:endParaRPr sz="1200"/>
          </a:p>
        </p:txBody>
      </p:sp>
      <p:sp>
        <p:nvSpPr>
          <p:cNvPr id="3" name="Text 1">
            <a:extLst xmlns:a="http://schemas.openxmlformats.org/drawingml/2006/main">
              <a:ext uri="{FF2B5EF4-FFF2-40B4-BE49-F238E27FC236}">
                <a16:creationId xmlns:a16="http://schemas.microsoft.com/office/drawing/2014/main" id="{B7E74BBC-3E6A-4A2F-AAB0-D334CDC68DA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Tissue Aging &amp; Neoplasia</a:t>
            </a:r>
            <a:endParaRPr sz="2800"/>
          </a:p>
        </p:txBody>
      </p:sp>
      <p:sp>
        <p:nvSpPr>
          <p:cNvPr id="4" name="Shape 2">
            <a:extLst xmlns:a="http://schemas.openxmlformats.org/drawingml/2006/main">
              <a:ext uri="{FF2B5EF4-FFF2-40B4-BE49-F238E27FC236}">
                <a16:creationId xmlns:a16="http://schemas.microsoft.com/office/drawing/2014/main" id="{FCA54E8E-21AA-413F-930E-0BEB0D95A54C}"/>
              </a:ext>
            </a:extLst>
          </p:cNvPr>
          <p:cNvSpPr>
            <a:spLocks xmlns:a="http://schemas.openxmlformats.org/drawingml/2006/main" noGrp="1"/>
          </p:cNvSpPr>
          <p:nvPr/>
        </p:nvSpPr>
        <p:spPr>
          <a:xfrm xmlns:a="http://schemas.openxmlformats.org/drawingml/2006/main">
            <a:off x="1495958" y="1289304"/>
            <a:ext cx="2311603" cy="4736592"/>
          </a:xfrm>
          <a:prstGeom xmlns:a="http://schemas.openxmlformats.org/drawingml/2006/main" prst="roundRect">
            <a:avLst>
              <a:gd name="adj" fmla="val 237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6be9313c4c9c4206"/>
          <a:stretch xmlns:a="http://schemas.openxmlformats.org/drawingml/2006/main">
            <a:fillRect l="0" t="0" r="0" b="0"/>
          </a:stretch>
        </p:blipFill>
        <p:spPr>
          <a:xfrm xmlns:a="http://schemas.openxmlformats.org/drawingml/2006/main">
            <a:off x="1578254" y="1371600"/>
            <a:ext cx="2147011"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A88AAAC-30A9-414D-9732-91BE5DC49EDA}"/>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Abnormal cell division and tissue change</a:t>
            </a:r>
            <a:endParaRPr sz="1100"/>
          </a:p>
        </p:txBody>
      </p:sp>
      <p:sp>
        <p:nvSpPr>
          <p:cNvPr id="7" name="Text 4">
            <a:extLst xmlns:a="http://schemas.openxmlformats.org/drawingml/2006/main">
              <a:ext uri="{FF2B5EF4-FFF2-40B4-BE49-F238E27FC236}">
                <a16:creationId xmlns:a16="http://schemas.microsoft.com/office/drawing/2014/main" id="{51678FA5-9A23-41AA-B9AB-EB1F2F08FA27}"/>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Tissues lose efficiency with age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Repair slows and tissues thin</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Uncontrolled division → neoplasia</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Malignant tumors invade and spread</a:t>
            </a:r>
            <a:endParaRPr sz="1600"/>
          </a:p>
        </p:txBody>
      </p:sp>
      <p:sp>
        <p:nvSpPr>
          <p:cNvPr id="9" name="Text 5">
            <a:extLst xmlns:a="http://schemas.openxmlformats.org/drawingml/2006/main">
              <a:ext uri="{FF2B5EF4-FFF2-40B4-BE49-F238E27FC236}">
                <a16:creationId xmlns:a16="http://schemas.microsoft.com/office/drawing/2014/main" id="{08F55D0B-97AF-4F2D-A790-3BF0BBA35A0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0" name="Text 6">
            <a:extLst xmlns:a="http://schemas.openxmlformats.org/drawingml/2006/main">
              <a:ext uri="{FF2B5EF4-FFF2-40B4-BE49-F238E27FC236}">
                <a16:creationId xmlns:a16="http://schemas.microsoft.com/office/drawing/2014/main" id="{FFE07D12-7799-403B-9301-38213C6DBC0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22</a:t>
            </a:r>
            <a:endParaRPr sz="900"/>
          </a:p>
        </p:txBody>
      </p:sp>
    </p:spTree>
    <p:extLst>
      <p:ext uri="{BB962C8B-B14F-4D97-AF65-F5344CB8AC3E}">
        <p14:creationId xmlns:p14="http://schemas.microsoft.com/office/powerpoint/2010/main" val="650217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9D38B0-15AB-48FF-B619-6585AFA5C5F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4</a:t>
            </a:r>
            <a:endParaRPr sz="1200"/>
          </a:p>
        </p:txBody>
      </p:sp>
      <p:sp>
        <p:nvSpPr>
          <p:cNvPr id="3" name="Text 1">
            <a:extLst xmlns:a="http://schemas.openxmlformats.org/drawingml/2006/main">
              <a:ext uri="{FF2B5EF4-FFF2-40B4-BE49-F238E27FC236}">
                <a16:creationId xmlns:a16="http://schemas.microsoft.com/office/drawing/2014/main" id="{B6B23986-D0D5-4F93-B13B-C11AE9C667E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endParaRPr sz="2800"/>
          </a:p>
        </p:txBody>
      </p:sp>
      <p:sp>
        <p:nvSpPr>
          <p:cNvPr id="4" name="Shape 2">
            <a:extLst xmlns:a="http://schemas.openxmlformats.org/drawingml/2006/main">
              <a:ext uri="{FF2B5EF4-FFF2-40B4-BE49-F238E27FC236}">
                <a16:creationId xmlns:a16="http://schemas.microsoft.com/office/drawing/2014/main" id="{4581B228-F683-48AA-B43E-8B1EDC140DFF}"/>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8DDD59F3-971C-419C-8A57-851E0DEA13C2}"/>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Four primary tissues — epithelial, connective, muscle, and nervous — build every organ.</a:t>
            </a:r>
            <a:endParaRPr sz="1550"/>
          </a:p>
        </p:txBody>
      </p:sp>
      <p:sp>
        <p:nvSpPr>
          <p:cNvPr id="6" name="Shape 4">
            <a:extLst xmlns:a="http://schemas.openxmlformats.org/drawingml/2006/main">
              <a:ext uri="{FF2B5EF4-FFF2-40B4-BE49-F238E27FC236}">
                <a16:creationId xmlns:a16="http://schemas.microsoft.com/office/drawing/2014/main" id="{F9E5524A-9AA1-4AAF-B964-CD1ADD0A83D9}"/>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15C37B13-D755-4676-BC25-B24F5E6A453E}"/>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Epithelium covers and lines, classified by cell shape and layering.</a:t>
            </a:r>
            <a:endParaRPr sz="1550"/>
          </a:p>
        </p:txBody>
      </p:sp>
      <p:sp>
        <p:nvSpPr>
          <p:cNvPr id="8" name="Shape 6">
            <a:extLst xmlns:a="http://schemas.openxmlformats.org/drawingml/2006/main">
              <a:ext uri="{FF2B5EF4-FFF2-40B4-BE49-F238E27FC236}">
                <a16:creationId xmlns:a16="http://schemas.microsoft.com/office/drawing/2014/main" id="{77BB9CA7-14A4-466A-A736-B7F81BF28E95}"/>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E3A2BBB5-FDB3-4B89-9BD7-C436F28AFB40}"/>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Connective tissue is the most diverse, defined by its extracellular matrix.</a:t>
            </a:r>
            <a:endParaRPr sz="1550"/>
          </a:p>
        </p:txBody>
      </p:sp>
      <p:sp>
        <p:nvSpPr>
          <p:cNvPr id="10" name="Shape 8">
            <a:extLst xmlns:a="http://schemas.openxmlformats.org/drawingml/2006/main">
              <a:ext uri="{FF2B5EF4-FFF2-40B4-BE49-F238E27FC236}">
                <a16:creationId xmlns:a16="http://schemas.microsoft.com/office/drawing/2014/main" id="{EFD766E5-A905-42D5-BF5B-7F3A935E71F9}"/>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0822F3F1-4BBD-413C-9456-26B6E167FF8D}"/>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Muscle generates movement; nervous tissue enables communication.</a:t>
            </a:r>
            <a:endParaRPr sz="1550"/>
          </a:p>
        </p:txBody>
      </p:sp>
      <p:sp>
        <p:nvSpPr>
          <p:cNvPr id="12" name="Shape 10">
            <a:extLst xmlns:a="http://schemas.openxmlformats.org/drawingml/2006/main">
              <a:ext uri="{FF2B5EF4-FFF2-40B4-BE49-F238E27FC236}">
                <a16:creationId xmlns:a16="http://schemas.microsoft.com/office/drawing/2014/main" id="{EC08B3FB-2515-4029-9062-27C5478E1077}"/>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4C50EF2E-353B-407D-BB8E-0BA4C9B08B50}"/>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Tissues respond to injury through inflammation and repair, and change with age.</a:t>
            </a:r>
            <a:endParaRPr sz="1550"/>
          </a:p>
        </p:txBody>
      </p:sp>
      <p:sp>
        <p:nvSpPr>
          <p:cNvPr id="15" name="Text 12">
            <a:extLst xmlns:a="http://schemas.openxmlformats.org/drawingml/2006/main">
              <a:ext uri="{FF2B5EF4-FFF2-40B4-BE49-F238E27FC236}">
                <a16:creationId xmlns:a16="http://schemas.microsoft.com/office/drawing/2014/main" id="{D10E4324-6378-4415-9987-730817DEC71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4 — The Tissue Level of Organization</a:t>
            </a:r>
            <a:endParaRPr sz="900"/>
          </a:p>
        </p:txBody>
      </p:sp>
      <p:sp>
        <p:nvSpPr>
          <p:cNvPr id="16" name="Text 13">
            <a:extLst xmlns:a="http://schemas.openxmlformats.org/drawingml/2006/main">
              <a:ext uri="{FF2B5EF4-FFF2-40B4-BE49-F238E27FC236}">
                <a16:creationId xmlns:a16="http://schemas.microsoft.com/office/drawing/2014/main" id="{37677096-BB78-47F7-880E-1D8B616AC3F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23</a:t>
            </a:r>
            <a:endParaRPr sz="900"/>
          </a:p>
        </p:txBody>
      </p:sp>
    </p:spTree>
    <p:extLst>
      <p:ext uri="{BB962C8B-B14F-4D97-AF65-F5344CB8AC3E}">
        <p14:creationId xmlns:p14="http://schemas.microsoft.com/office/powerpoint/2010/main" val="681757606"/>
      </p:ext>
    </p:extLst>
  </p:cSld>
</p:sld>
</file>

<file path=ppt/slides/slide2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DA0248-71AA-465F-902E-C1BD2D82FA95}"/>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endParaRPr sz="1300"/>
          </a:p>
        </p:txBody>
      </p:sp>
      <p:sp>
        <p:nvSpPr>
          <p:cNvPr id="3" name="Text 1">
            <a:extLst xmlns:a="http://schemas.openxmlformats.org/drawingml/2006/main">
              <a:ext uri="{FF2B5EF4-FFF2-40B4-BE49-F238E27FC236}">
                <a16:creationId xmlns:a16="http://schemas.microsoft.com/office/drawing/2014/main" id="{C663242F-764C-442B-A3FB-FB67107CD50A}"/>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Georgia"/>
                <a:ea typeface="Georgia"/>
                <a:cs typeface="Georgia"/>
              </a:rPr>
              <a:t>Why Tissues Matter in Practical Nursing</a:t>
            </a:r>
            <a:endParaRPr sz="2600"/>
          </a:p>
        </p:txBody>
      </p:sp>
      <p:sp>
        <p:nvSpPr>
          <p:cNvPr id="4" name="Shape 2">
            <a:extLst xmlns:a="http://schemas.openxmlformats.org/drawingml/2006/main">
              <a:ext uri="{FF2B5EF4-FFF2-40B4-BE49-F238E27FC236}">
                <a16:creationId xmlns:a16="http://schemas.microsoft.com/office/drawing/2014/main" id="{D4060FBB-5BF5-4D3D-8199-15711C0EC4D1}"/>
              </a:ext>
            </a:extLst>
          </p:cNvPr>
          <p:cNvSpPr>
            <a:spLocks xmlns:a="http://schemas.openxmlformats.org/drawingml/2006/main" noGrp="1"/>
          </p:cNvSpPr>
          <p:nvPr/>
        </p:nvSpPr>
        <p:spPr>
          <a:xfrm xmlns:a="http://schemas.openxmlformats.org/drawingml/2006/main">
            <a:off x="54864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1FB7D7F4-31ED-49FC-9819-95A7B9A5E62D}"/>
              </a:ext>
            </a:extLst>
          </p:cNvPr>
          <p:cNvSpPr>
            <a:spLocks xmlns:a="http://schemas.openxmlformats.org/drawingml/2006/main" noGrp="1"/>
          </p:cNvSpPr>
          <p:nvPr/>
        </p:nvSpPr>
        <p:spPr>
          <a:xfrm xmlns:a="http://schemas.openxmlformats.org/drawingml/2006/main">
            <a:off x="77724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Wound Care</a:t>
            </a:r>
            <a:endParaRPr sz="1600"/>
          </a:p>
        </p:txBody>
      </p:sp>
      <p:sp>
        <p:nvSpPr>
          <p:cNvPr id="6" name="Text 4">
            <a:extLst xmlns:a="http://schemas.openxmlformats.org/drawingml/2006/main">
              <a:ext uri="{FF2B5EF4-FFF2-40B4-BE49-F238E27FC236}">
                <a16:creationId xmlns:a16="http://schemas.microsoft.com/office/drawing/2014/main" id="{B74C5973-2470-472F-8ADA-04A0F26EB864}"/>
              </a:ext>
            </a:extLst>
          </p:cNvPr>
          <p:cNvSpPr>
            <a:spLocks xmlns:a="http://schemas.openxmlformats.org/drawingml/2006/main" noGrp="1"/>
          </p:cNvSpPr>
          <p:nvPr/>
        </p:nvSpPr>
        <p:spPr>
          <a:xfrm xmlns:a="http://schemas.openxmlformats.org/drawingml/2006/main">
            <a:off x="77724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Inflammation and repair guide every dressing change and healing assessment.</a:t>
            </a:r>
            <a:endParaRPr sz="1250"/>
          </a:p>
        </p:txBody>
      </p:sp>
      <p:sp>
        <p:nvSpPr>
          <p:cNvPr id="7" name="Shape 5">
            <a:extLst xmlns:a="http://schemas.openxmlformats.org/drawingml/2006/main">
              <a:ext uri="{FF2B5EF4-FFF2-40B4-BE49-F238E27FC236}">
                <a16:creationId xmlns:a16="http://schemas.microsoft.com/office/drawing/2014/main" id="{328F7125-3E7C-4C91-A9EA-DA1902D46725}"/>
              </a:ext>
            </a:extLst>
          </p:cNvPr>
          <p:cNvSpPr>
            <a:spLocks xmlns:a="http://schemas.openxmlformats.org/drawingml/2006/main" noGrp="1"/>
          </p:cNvSpPr>
          <p:nvPr/>
        </p:nvSpPr>
        <p:spPr>
          <a:xfrm xmlns:a="http://schemas.openxmlformats.org/drawingml/2006/main">
            <a:off x="617220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7A422143-EDCD-439D-8917-4BEC4E0B4E55}"/>
              </a:ext>
            </a:extLst>
          </p:cNvPr>
          <p:cNvSpPr>
            <a:spLocks xmlns:a="http://schemas.openxmlformats.org/drawingml/2006/main" noGrp="1"/>
          </p:cNvSpPr>
          <p:nvPr/>
        </p:nvSpPr>
        <p:spPr>
          <a:xfrm xmlns:a="http://schemas.openxmlformats.org/drawingml/2006/main">
            <a:off x="640080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Skin Integrity</a:t>
            </a:r>
            <a:endParaRPr sz="1600"/>
          </a:p>
        </p:txBody>
      </p:sp>
      <p:sp>
        <p:nvSpPr>
          <p:cNvPr id="9" name="Text 7">
            <a:extLst xmlns:a="http://schemas.openxmlformats.org/drawingml/2006/main">
              <a:ext uri="{FF2B5EF4-FFF2-40B4-BE49-F238E27FC236}">
                <a16:creationId xmlns:a16="http://schemas.microsoft.com/office/drawing/2014/main" id="{897A49F0-F5AF-4932-8BCE-4587115F68FC}"/>
              </a:ext>
            </a:extLst>
          </p:cNvPr>
          <p:cNvSpPr>
            <a:spLocks xmlns:a="http://schemas.openxmlformats.org/drawingml/2006/main" noGrp="1"/>
          </p:cNvSpPr>
          <p:nvPr/>
        </p:nvSpPr>
        <p:spPr>
          <a:xfrm xmlns:a="http://schemas.openxmlformats.org/drawingml/2006/main">
            <a:off x="640080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Epithelial membranes are the body's first barrier against infection.</a:t>
            </a:r>
            <a:endParaRPr sz="1250"/>
          </a:p>
        </p:txBody>
      </p:sp>
      <p:sp>
        <p:nvSpPr>
          <p:cNvPr id="10" name="Shape 8">
            <a:extLst xmlns:a="http://schemas.openxmlformats.org/drawingml/2006/main">
              <a:ext uri="{FF2B5EF4-FFF2-40B4-BE49-F238E27FC236}">
                <a16:creationId xmlns:a16="http://schemas.microsoft.com/office/drawing/2014/main" id="{DA201B12-1456-422E-AD3D-BEB8A40F446A}"/>
              </a:ext>
            </a:extLst>
          </p:cNvPr>
          <p:cNvSpPr>
            <a:spLocks xmlns:a="http://schemas.openxmlformats.org/drawingml/2006/main" noGrp="1"/>
          </p:cNvSpPr>
          <p:nvPr/>
        </p:nvSpPr>
        <p:spPr>
          <a:xfrm xmlns:a="http://schemas.openxmlformats.org/drawingml/2006/main">
            <a:off x="54864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2593E92E-254D-4735-8111-4C335CE47BBA}"/>
              </a:ext>
            </a:extLst>
          </p:cNvPr>
          <p:cNvSpPr>
            <a:spLocks xmlns:a="http://schemas.openxmlformats.org/drawingml/2006/main" noGrp="1"/>
          </p:cNvSpPr>
          <p:nvPr/>
        </p:nvSpPr>
        <p:spPr>
          <a:xfrm xmlns:a="http://schemas.openxmlformats.org/drawingml/2006/main">
            <a:off x="77724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Mobility</a:t>
            </a:r>
            <a:endParaRPr sz="1600"/>
          </a:p>
        </p:txBody>
      </p:sp>
      <p:sp>
        <p:nvSpPr>
          <p:cNvPr id="12" name="Text 10">
            <a:extLst xmlns:a="http://schemas.openxmlformats.org/drawingml/2006/main">
              <a:ext uri="{FF2B5EF4-FFF2-40B4-BE49-F238E27FC236}">
                <a16:creationId xmlns:a16="http://schemas.microsoft.com/office/drawing/2014/main" id="{1EC52C54-12BD-4049-ACEF-DAD993125852}"/>
              </a:ext>
            </a:extLst>
          </p:cNvPr>
          <p:cNvSpPr>
            <a:spLocks xmlns:a="http://schemas.openxmlformats.org/drawingml/2006/main" noGrp="1"/>
          </p:cNvSpPr>
          <p:nvPr/>
        </p:nvSpPr>
        <p:spPr>
          <a:xfrm xmlns:a="http://schemas.openxmlformats.org/drawingml/2006/main">
            <a:off x="77724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three muscle types underlie movement, heartbeat, and organ function.</a:t>
            </a:r>
            <a:endParaRPr sz="1250"/>
          </a:p>
        </p:txBody>
      </p:sp>
      <p:sp>
        <p:nvSpPr>
          <p:cNvPr id="13" name="Shape 11">
            <a:extLst xmlns:a="http://schemas.openxmlformats.org/drawingml/2006/main">
              <a:ext uri="{FF2B5EF4-FFF2-40B4-BE49-F238E27FC236}">
                <a16:creationId xmlns:a16="http://schemas.microsoft.com/office/drawing/2014/main" id="{366440B7-F88E-41C2-BCFA-8B4D97523F2B}"/>
              </a:ext>
            </a:extLst>
          </p:cNvPr>
          <p:cNvSpPr>
            <a:spLocks xmlns:a="http://schemas.openxmlformats.org/drawingml/2006/main" noGrp="1"/>
          </p:cNvSpPr>
          <p:nvPr/>
        </p:nvSpPr>
        <p:spPr>
          <a:xfrm xmlns:a="http://schemas.openxmlformats.org/drawingml/2006/main">
            <a:off x="617220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3F8EC093-EFF1-4FB1-879E-97BC4E4951B0}"/>
              </a:ext>
            </a:extLst>
          </p:cNvPr>
          <p:cNvSpPr>
            <a:spLocks xmlns:a="http://schemas.openxmlformats.org/drawingml/2006/main" noGrp="1"/>
          </p:cNvSpPr>
          <p:nvPr/>
        </p:nvSpPr>
        <p:spPr>
          <a:xfrm xmlns:a="http://schemas.openxmlformats.org/drawingml/2006/main">
            <a:off x="640080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Mucous Membranes</a:t>
            </a:r>
            <a:endParaRPr sz="1600"/>
          </a:p>
        </p:txBody>
      </p:sp>
      <p:sp>
        <p:nvSpPr>
          <p:cNvPr id="15" name="Text 13">
            <a:extLst xmlns:a="http://schemas.openxmlformats.org/drawingml/2006/main">
              <a:ext uri="{FF2B5EF4-FFF2-40B4-BE49-F238E27FC236}">
                <a16:creationId xmlns:a16="http://schemas.microsoft.com/office/drawing/2014/main" id="{BC148D09-37B2-438B-B00A-65D3212DA5B9}"/>
              </a:ext>
            </a:extLst>
          </p:cNvPr>
          <p:cNvSpPr>
            <a:spLocks xmlns:a="http://schemas.openxmlformats.org/drawingml/2006/main" noGrp="1"/>
          </p:cNvSpPr>
          <p:nvPr/>
        </p:nvSpPr>
        <p:spPr>
          <a:xfrm xmlns:a="http://schemas.openxmlformats.org/drawingml/2006/main">
            <a:off x="640080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Assessing moist linings reveals hydration status and infection.</a:t>
            </a:r>
            <a:endParaRPr sz="1250"/>
          </a:p>
        </p:txBody>
      </p:sp>
      <p:sp>
        <p:nvSpPr>
          <p:cNvPr id="16" name="Shape 14">
            <a:extLst xmlns:a="http://schemas.openxmlformats.org/drawingml/2006/main">
              <a:ext uri="{FF2B5EF4-FFF2-40B4-BE49-F238E27FC236}">
                <a16:creationId xmlns:a16="http://schemas.microsoft.com/office/drawing/2014/main" id="{A5E9FDBC-6C43-45FC-BA3C-95DA139AC974}"/>
              </a:ext>
            </a:extLst>
          </p:cNvPr>
          <p:cNvSpPr>
            <a:spLocks xmlns:a="http://schemas.openxmlformats.org/drawingml/2006/main" noGrp="1"/>
          </p:cNvSpPr>
          <p:nvPr/>
        </p:nvSpPr>
        <p:spPr>
          <a:xfrm xmlns:a="http://schemas.openxmlformats.org/drawingml/2006/main">
            <a:off x="54864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A62AA616-652B-4C1B-BF46-09AFF57CF399}"/>
              </a:ext>
            </a:extLst>
          </p:cNvPr>
          <p:cNvSpPr>
            <a:spLocks xmlns:a="http://schemas.openxmlformats.org/drawingml/2006/main" noGrp="1"/>
          </p:cNvSpPr>
          <p:nvPr/>
        </p:nvSpPr>
        <p:spPr>
          <a:xfrm xmlns:a="http://schemas.openxmlformats.org/drawingml/2006/main">
            <a:off x="77724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Cancer Awareness</a:t>
            </a:r>
            <a:endParaRPr sz="1600"/>
          </a:p>
        </p:txBody>
      </p:sp>
      <p:sp>
        <p:nvSpPr>
          <p:cNvPr id="18" name="Text 16">
            <a:extLst xmlns:a="http://schemas.openxmlformats.org/drawingml/2006/main">
              <a:ext uri="{FF2B5EF4-FFF2-40B4-BE49-F238E27FC236}">
                <a16:creationId xmlns:a16="http://schemas.microsoft.com/office/drawing/2014/main" id="{3FE8AC1C-142E-429F-AE73-2E9EFDF21BFB}"/>
              </a:ext>
            </a:extLst>
          </p:cNvPr>
          <p:cNvSpPr>
            <a:spLocks xmlns:a="http://schemas.openxmlformats.org/drawingml/2006/main" noGrp="1"/>
          </p:cNvSpPr>
          <p:nvPr/>
        </p:nvSpPr>
        <p:spPr>
          <a:xfrm xmlns:a="http://schemas.openxmlformats.org/drawingml/2006/main">
            <a:off x="77724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Uncontrolled cell division produces tumors that invade and spread.</a:t>
            </a:r>
            <a:endParaRPr sz="1250"/>
          </a:p>
        </p:txBody>
      </p:sp>
      <p:sp>
        <p:nvSpPr>
          <p:cNvPr id="19" name="Shape 17">
            <a:extLst xmlns:a="http://schemas.openxmlformats.org/drawingml/2006/main">
              <a:ext uri="{FF2B5EF4-FFF2-40B4-BE49-F238E27FC236}">
                <a16:creationId xmlns:a16="http://schemas.microsoft.com/office/drawing/2014/main" id="{27F07212-3B44-425E-AAD8-13DDBA0E1274}"/>
              </a:ext>
            </a:extLst>
          </p:cNvPr>
          <p:cNvSpPr>
            <a:spLocks xmlns:a="http://schemas.openxmlformats.org/drawingml/2006/main" noGrp="1"/>
          </p:cNvSpPr>
          <p:nvPr/>
        </p:nvSpPr>
        <p:spPr>
          <a:xfrm xmlns:a="http://schemas.openxmlformats.org/drawingml/2006/main">
            <a:off x="617220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71A51594-50FC-46F5-ACFC-A6C2DF27E01E}"/>
              </a:ext>
            </a:extLst>
          </p:cNvPr>
          <p:cNvSpPr>
            <a:spLocks xmlns:a="http://schemas.openxmlformats.org/drawingml/2006/main" noGrp="1"/>
          </p:cNvSpPr>
          <p:nvPr/>
        </p:nvSpPr>
        <p:spPr>
          <a:xfrm xmlns:a="http://schemas.openxmlformats.org/drawingml/2006/main">
            <a:off x="640080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Aging Patients</a:t>
            </a:r>
            <a:endParaRPr sz="1600"/>
          </a:p>
        </p:txBody>
      </p:sp>
      <p:sp>
        <p:nvSpPr>
          <p:cNvPr id="21" name="Text 19">
            <a:extLst xmlns:a="http://schemas.openxmlformats.org/drawingml/2006/main">
              <a:ext uri="{FF2B5EF4-FFF2-40B4-BE49-F238E27FC236}">
                <a16:creationId xmlns:a16="http://schemas.microsoft.com/office/drawing/2014/main" id="{CA96BB26-4EEE-4A9D-BB8A-ED3147086130}"/>
              </a:ext>
            </a:extLst>
          </p:cNvPr>
          <p:cNvSpPr>
            <a:spLocks xmlns:a="http://schemas.openxmlformats.org/drawingml/2006/main" noGrp="1"/>
          </p:cNvSpPr>
          <p:nvPr/>
        </p:nvSpPr>
        <p:spPr>
          <a:xfrm xmlns:a="http://schemas.openxmlformats.org/drawingml/2006/main">
            <a:off x="640080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Slower tissue repair raises the risk of pressure injuries and delayed healing.</a:t>
            </a:r>
            <a:endParaRPr sz="1250"/>
          </a:p>
        </p:txBody>
      </p:sp>
    </p:spTree>
    <p:extLst>
      <p:ext uri="{BB962C8B-B14F-4D97-AF65-F5344CB8AC3E}">
        <p14:creationId xmlns:p14="http://schemas.microsoft.com/office/powerpoint/2010/main" val="2883485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2026-08-11T15:20:15.4560000Z</dcterms:created>
  <dcterms:modified xsi:type="dcterms:W3CDTF">2026-08-11T15:20:15.4560000Z</dcterms:modified>
</coreProperties>
</file>