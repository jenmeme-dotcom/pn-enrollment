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b30af041e344722" /><Relationship Type="http://schemas.openxmlformats.org/officeDocument/2006/relationships/extended-properties" Target="/docProps/app.xml" Id="R5a55940c44164f7c" /><Relationship Type="http://schemas.openxmlformats.org/officeDocument/2006/relationships/officeDocument" Target="/ppt/presentation.xml" Id="R7318af3f5bc641f3" /></Relationships>
</file>

<file path=ppt/presentation.xml><?xml version="1.0" encoding="utf-8"?>
<p:presentation xmlns:p="http://schemas.openxmlformats.org/presentationml/2006/main">
  <p:sldMasterIdLst>
    <p:sldMasterId xmlns:r="http://schemas.openxmlformats.org/officeDocument/2006/relationships" id="2147483648" r:id="R9d38d9efdc1743cb"/>
  </p:sldMasterIdLst>
  <p:notesMasterIdLst>
    <p:notesMasterId xmlns:r="http://schemas.openxmlformats.org/officeDocument/2006/relationships" r:id="Rabf11debf9d145f7"/>
  </p:notesMasterIdLst>
  <p:sldIdLst>
    <p:sldId xmlns:r="http://schemas.openxmlformats.org/officeDocument/2006/relationships" id="256" r:id="R1bb00f889a914ffc"/>
    <p:sldId xmlns:r="http://schemas.openxmlformats.org/officeDocument/2006/relationships" id="257" r:id="R7fafed87dfae4f57"/>
    <p:sldId xmlns:r="http://schemas.openxmlformats.org/officeDocument/2006/relationships" id="258" r:id="R4645548f4d3c46e6"/>
    <p:sldId xmlns:r="http://schemas.openxmlformats.org/officeDocument/2006/relationships" id="259" r:id="Rbbdf8ca759354c88"/>
    <p:sldId xmlns:r="http://schemas.openxmlformats.org/officeDocument/2006/relationships" id="260" r:id="R97b9c76829c544bb"/>
    <p:sldId xmlns:r="http://schemas.openxmlformats.org/officeDocument/2006/relationships" id="261" r:id="R7c5c6097226f4056"/>
    <p:sldId xmlns:r="http://schemas.openxmlformats.org/officeDocument/2006/relationships" id="262" r:id="R3339517607e2467f"/>
    <p:sldId xmlns:r="http://schemas.openxmlformats.org/officeDocument/2006/relationships" id="263" r:id="Rd993bb82d8ff44b7"/>
    <p:sldId xmlns:r="http://schemas.openxmlformats.org/officeDocument/2006/relationships" id="264" r:id="Ra40766ba661340af"/>
    <p:sldId xmlns:r="http://schemas.openxmlformats.org/officeDocument/2006/relationships" id="265" r:id="Rbf72215f98ed4a42"/>
    <p:sldId xmlns:r="http://schemas.openxmlformats.org/officeDocument/2006/relationships" id="266" r:id="R41f7a109a0fc4a3a"/>
    <p:sldId xmlns:r="http://schemas.openxmlformats.org/officeDocument/2006/relationships" id="267" r:id="Re8e1135a1aa041f2"/>
    <p:sldId xmlns:r="http://schemas.openxmlformats.org/officeDocument/2006/relationships" id="268" r:id="Rb67fa3f9e9de4eb1"/>
    <p:sldId xmlns:r="http://schemas.openxmlformats.org/officeDocument/2006/relationships" id="269" r:id="Rb618aa6494a64517"/>
    <p:sldId xmlns:r="http://schemas.openxmlformats.org/officeDocument/2006/relationships" id="270" r:id="Rf259379b9e4b4504"/>
    <p:sldId xmlns:r="http://schemas.openxmlformats.org/officeDocument/2006/relationships" id="271" r:id="R337b505092904df9"/>
    <p:sldId xmlns:r="http://schemas.openxmlformats.org/officeDocument/2006/relationships" id="272" r:id="R6048981bc7a74393"/>
    <p:sldId xmlns:r="http://schemas.openxmlformats.org/officeDocument/2006/relationships" id="273" r:id="Rdd11f222229a4a2f"/>
    <p:sldId xmlns:r="http://schemas.openxmlformats.org/officeDocument/2006/relationships" id="274" r:id="R3049bd44a9324c7e"/>
    <p:sldId xmlns:r="http://schemas.openxmlformats.org/officeDocument/2006/relationships" id="275" r:id="R2399dd858dc94e5d"/>
    <p:sldId xmlns:r="http://schemas.openxmlformats.org/officeDocument/2006/relationships" id="276" r:id="Rdb19a43e55f94f84"/>
    <p:sldId xmlns:r="http://schemas.openxmlformats.org/officeDocument/2006/relationships" id="277" r:id="Rcfd95bef30e6465e"/>
    <p:sldId xmlns:r="http://schemas.openxmlformats.org/officeDocument/2006/relationships" id="278" r:id="R9505e41131fa477f"/>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ea35b63ce86b4fbb" /><Relationship Type="http://schemas.openxmlformats.org/officeDocument/2006/relationships/slideMaster" Target="/ppt/slideMasters/slideMaster1.xml" Id="R9d38d9efdc1743cb" /><Relationship Type="http://schemas.openxmlformats.org/officeDocument/2006/relationships/notesMaster" Target="/ppt/notesMasters/notesMaster1.xml" Id="Rabf11debf9d145f7" /><Relationship Type="http://schemas.openxmlformats.org/officeDocument/2006/relationships/presProps" Target="/ppt/presProps.xml" Id="R262412a0f40142c4" /><Relationship Type="http://schemas.openxmlformats.org/officeDocument/2006/relationships/viewProps" Target="/ppt/viewProps.xml" Id="R07e96b7237e34b57" /><Relationship Type="http://schemas.openxmlformats.org/officeDocument/2006/relationships/tableStyles" Target="/ppt/tableStyles.xml" Id="Rcce2aa7a12a54591" /><Relationship Type="http://schemas.openxmlformats.org/officeDocument/2006/relationships/slide" Target="/ppt/slides/slide1.xml" Id="R1bb00f889a914ffc" /><Relationship Type="http://schemas.openxmlformats.org/officeDocument/2006/relationships/slide" Target="/ppt/slides/slide2.xml" Id="R7fafed87dfae4f57" /><Relationship Type="http://schemas.openxmlformats.org/officeDocument/2006/relationships/slide" Target="/ppt/slides/slide3.xml" Id="R4645548f4d3c46e6" /><Relationship Type="http://schemas.openxmlformats.org/officeDocument/2006/relationships/slide" Target="/ppt/slides/slide4.xml" Id="Rbbdf8ca759354c88" /><Relationship Type="http://schemas.openxmlformats.org/officeDocument/2006/relationships/slide" Target="/ppt/slides/slide5.xml" Id="R97b9c76829c544bb" /><Relationship Type="http://schemas.openxmlformats.org/officeDocument/2006/relationships/slide" Target="/ppt/slides/slide6.xml" Id="R7c5c6097226f4056" /><Relationship Type="http://schemas.openxmlformats.org/officeDocument/2006/relationships/slide" Target="/ppt/slides/slide7.xml" Id="R3339517607e2467f" /><Relationship Type="http://schemas.openxmlformats.org/officeDocument/2006/relationships/slide" Target="/ppt/slides/slide8.xml" Id="Rd993bb82d8ff44b7" /><Relationship Type="http://schemas.openxmlformats.org/officeDocument/2006/relationships/slide" Target="/ppt/slides/slide9.xml" Id="Ra40766ba661340af" /><Relationship Type="http://schemas.openxmlformats.org/officeDocument/2006/relationships/slide" Target="/ppt/slides/slide10.xml" Id="Rbf72215f98ed4a42" /><Relationship Type="http://schemas.openxmlformats.org/officeDocument/2006/relationships/slide" Target="/ppt/slides/slide11.xml" Id="R41f7a109a0fc4a3a" /><Relationship Type="http://schemas.openxmlformats.org/officeDocument/2006/relationships/slide" Target="/ppt/slides/slide12.xml" Id="Re8e1135a1aa041f2" /><Relationship Type="http://schemas.openxmlformats.org/officeDocument/2006/relationships/slide" Target="/ppt/slides/slide13.xml" Id="Rb67fa3f9e9de4eb1" /><Relationship Type="http://schemas.openxmlformats.org/officeDocument/2006/relationships/slide" Target="/ppt/slides/slide14.xml" Id="Rb618aa6494a64517" /><Relationship Type="http://schemas.openxmlformats.org/officeDocument/2006/relationships/slide" Target="/ppt/slides/slide15.xml" Id="Rf259379b9e4b4504" /><Relationship Type="http://schemas.openxmlformats.org/officeDocument/2006/relationships/slide" Target="/ppt/slides/slide16.xml" Id="R337b505092904df9" /><Relationship Type="http://schemas.openxmlformats.org/officeDocument/2006/relationships/slide" Target="/ppt/slides/slide17.xml" Id="R6048981bc7a74393" /><Relationship Type="http://schemas.openxmlformats.org/officeDocument/2006/relationships/slide" Target="/ppt/slides/slide18.xml" Id="Rdd11f222229a4a2f" /><Relationship Type="http://schemas.openxmlformats.org/officeDocument/2006/relationships/slide" Target="/ppt/slides/slide19.xml" Id="R3049bd44a9324c7e" /><Relationship Type="http://schemas.openxmlformats.org/officeDocument/2006/relationships/slide" Target="/ppt/slides/slide20.xml" Id="R2399dd858dc94e5d" /><Relationship Type="http://schemas.openxmlformats.org/officeDocument/2006/relationships/slide" Target="/ppt/slides/slide21.xml" Id="Rdb19a43e55f94f84" /><Relationship Type="http://schemas.openxmlformats.org/officeDocument/2006/relationships/slide" Target="/ppt/slides/slide22.xml" Id="Rcfd95bef30e6465e" /><Relationship Type="http://schemas.openxmlformats.org/officeDocument/2006/relationships/slide" Target="/ppt/slides/slide23.xml" Id="R9505e41131fa477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29b159e8fab4dc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fbd2c4867314901" /><Relationship Type="http://schemas.openxmlformats.org/officeDocument/2006/relationships/notesMaster" Target="/ppt/notesMasters/notesMaster1.xml" Id="Raa804441bd44422a" /></Relationships>
</file>

<file path=ppt/notesSlides/_rels/notesSlide2.xml.rels>&#65279;<?xml version="1.0" encoding="utf-8"?><Relationships xmlns="http://schemas.openxmlformats.org/package/2006/relationships"><Relationship Type="http://schemas.openxmlformats.org/officeDocument/2006/relationships/slide" Target="/ppt/slides/slide2.xml" Id="Rb03ebf3172e44c65" /><Relationship Type="http://schemas.openxmlformats.org/officeDocument/2006/relationships/notesMaster" Target="/ppt/notesMasters/notesMaster1.xml" Id="Radef79b078e042ec" /></Relationships>
</file>

<file path=ppt/notesSlides/_rels/notesSlide3.xml.rels>&#65279;<?xml version="1.0" encoding="utf-8"?><Relationships xmlns="http://schemas.openxmlformats.org/package/2006/relationships"><Relationship Type="http://schemas.openxmlformats.org/officeDocument/2006/relationships/slide" Target="/ppt/slides/slide3.xml" Id="Rd21c580c31e749a8" /><Relationship Type="http://schemas.openxmlformats.org/officeDocument/2006/relationships/notesMaster" Target="/ppt/notesMasters/notesMaster1.xml" Id="R2a5f3a8aed1d4796" /></Relationships>
</file>

<file path=ppt/notesSlides/_rels/notesSlide4.xml.rels>&#65279;<?xml version="1.0" encoding="utf-8"?><Relationships xmlns="http://schemas.openxmlformats.org/package/2006/relationships"><Relationship Type="http://schemas.openxmlformats.org/officeDocument/2006/relationships/slide" Target="/ppt/slides/slide4.xml" Id="R311d52a021b04e58" /><Relationship Type="http://schemas.openxmlformats.org/officeDocument/2006/relationships/notesMaster" Target="/ppt/notesMasters/notesMaster1.xml" Id="R5b37daf7f8a64b67" /></Relationships>
</file>

<file path=ppt/notesSlides/_rels/notesSlide5.xml.rels>&#65279;<?xml version="1.0" encoding="utf-8"?><Relationships xmlns="http://schemas.openxmlformats.org/package/2006/relationships"><Relationship Type="http://schemas.openxmlformats.org/officeDocument/2006/relationships/slide" Target="/ppt/slides/slide5.xml" Id="R5cc944dcb3624fc8" /><Relationship Type="http://schemas.openxmlformats.org/officeDocument/2006/relationships/notesMaster" Target="/ppt/notesMasters/notesMaster1.xml" Id="R2c83ce9a2b0d4c5b" /></Relationships>
</file>

<file path=ppt/notesSlides/_rels/notesSlide6.xml.rels>&#65279;<?xml version="1.0" encoding="utf-8"?><Relationships xmlns="http://schemas.openxmlformats.org/package/2006/relationships"><Relationship Type="http://schemas.openxmlformats.org/officeDocument/2006/relationships/slide" Target="/ppt/slides/slide6.xml" Id="Rff97886053c449c5" /><Relationship Type="http://schemas.openxmlformats.org/officeDocument/2006/relationships/notesMaster" Target="/ppt/notesMasters/notesMaster1.xml" Id="Rae860ecf2f904ffa" /></Relationships>
</file>

<file path=ppt/notesSlides/_rels/notesSlide7.xml.rels>&#65279;<?xml version="1.0" encoding="utf-8"?><Relationships xmlns="http://schemas.openxmlformats.org/package/2006/relationships"><Relationship Type="http://schemas.openxmlformats.org/officeDocument/2006/relationships/slide" Target="/ppt/slides/slide7.xml" Id="R6d35df68687e44cb" /><Relationship Type="http://schemas.openxmlformats.org/officeDocument/2006/relationships/notesMaster" Target="/ppt/notesMasters/notesMaster1.xml" Id="Rc7e8c2d200944511" /></Relationships>
</file>

<file path=ppt/notesSlides/_rels/notesSlide8.xml.rels>&#65279;<?xml version="1.0" encoding="utf-8"?><Relationships xmlns="http://schemas.openxmlformats.org/package/2006/relationships"><Relationship Type="http://schemas.openxmlformats.org/officeDocument/2006/relationships/slide" Target="/ppt/slides/slide8.xml" Id="R5603ccdb8b7a4a7b" /><Relationship Type="http://schemas.openxmlformats.org/officeDocument/2006/relationships/notesMaster" Target="/ppt/notesMasters/notesMaster1.xml" Id="R0d649f88c41f4da7" /></Relationships>
</file>

<file path=ppt/notesSlides/_rels/notesSlide9.xml.rels>&#65279;<?xml version="1.0" encoding="utf-8"?><Relationships xmlns="http://schemas.openxmlformats.org/package/2006/relationships"><Relationship Type="http://schemas.openxmlformats.org/officeDocument/2006/relationships/slide" Target="/ppt/slides/slide9.xml" Id="R24b2464b56444145" /><Relationship Type="http://schemas.openxmlformats.org/officeDocument/2006/relationships/notesMaster" Target="/ppt/notesMasters/notesMaster1.xml" Id="R1749a020aa5e4d9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81501aef2284f08" /><Relationship Type="http://schemas.openxmlformats.org/officeDocument/2006/relationships/notesMaster" Target="/ppt/notesMasters/notesMaster1.xml" Id="R1e6c2cce17c04e6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abe5be1938441eb" /><Relationship Type="http://schemas.openxmlformats.org/officeDocument/2006/relationships/notesMaster" Target="/ppt/notesMasters/notesMaster1.xml" Id="R239bb96c9e2d469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72a8389d98b400c" /><Relationship Type="http://schemas.openxmlformats.org/officeDocument/2006/relationships/notesMaster" Target="/ppt/notesMasters/notesMaster1.xml" Id="R074f78c9b5bc4f5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2555bbf8d55418e" /><Relationship Type="http://schemas.openxmlformats.org/officeDocument/2006/relationships/notesMaster" Target="/ppt/notesMasters/notesMaster1.xml" Id="Rda1c8b7fdd6c4a9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4641dbb3f4f4f73" /><Relationship Type="http://schemas.openxmlformats.org/officeDocument/2006/relationships/notesMaster" Target="/ppt/notesMasters/notesMaster1.xml" Id="R1ab3bacb5489413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1417ba265874d0c" /><Relationship Type="http://schemas.openxmlformats.org/officeDocument/2006/relationships/notesMaster" Target="/ppt/notesMasters/notesMaster1.xml" Id="R17fff39b861842d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8167945703f41cc" /><Relationship Type="http://schemas.openxmlformats.org/officeDocument/2006/relationships/notesMaster" Target="/ppt/notesMasters/notesMaster1.xml" Id="Ra102d694d20f449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9415530602f4be7" /><Relationship Type="http://schemas.openxmlformats.org/officeDocument/2006/relationships/notesMaster" Target="/ppt/notesMasters/notesMaster1.xml" Id="R040dfc92e268491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7ad8711c8bf4e4e" /><Relationship Type="http://schemas.openxmlformats.org/officeDocument/2006/relationships/notesMaster" Target="/ppt/notesMasters/notesMaster1.xml" Id="Rfd7b99968d29437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8f4ae1a5a1340a3" /><Relationship Type="http://schemas.openxmlformats.org/officeDocument/2006/relationships/notesMaster" Target="/ppt/notesMasters/notesMaster1.xml" Id="Ra596229d176a470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b15c58919704906" /><Relationship Type="http://schemas.openxmlformats.org/officeDocument/2006/relationships/notesMaster" Target="/ppt/notesMasters/notesMaster1.xml" Id="R6ea391f050f24ea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8caae31ae2e4dad" /><Relationship Type="http://schemas.openxmlformats.org/officeDocument/2006/relationships/notesMaster" Target="/ppt/notesMasters/notesMaster1.xml" Id="R6dcb42e69d0f4a8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26f2d00016d4912" /><Relationship Type="http://schemas.openxmlformats.org/officeDocument/2006/relationships/notesMaster" Target="/ppt/notesMasters/notesMaster1.xml" Id="R8d93559dc65b47d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adf669688cc94e97" /><Relationship Type="http://schemas.openxmlformats.org/officeDocument/2006/relationships/notesMaster" Target="/ppt/notesMasters/notesMaster1.xml" Id="Rd959a249864a419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Today we are beginning Chapter 6, bone tissue and the skeletal system. In this chapter, we will connect the names and locations of skeletal structures with their functions and with the observations that matter in practical nursing care. As we move through the slides, focus on how structure supports protection, movement, stability, mineral balance, and patient safety. By the end, you should be able to explain the major concepts in your own words and apply them to a patient-care situation.</a:t>
            </a:r>
          </a:p>
          <a:p xmlns:a="http://schemas.openxmlformats.org/drawingml/2006/main">
            <a:r>
              <a:t/>
            </a:r>
          </a:p>
          <a:p xmlns:a="http://schemas.openxmlformats.org/drawingml/2006/main">
            <a:r>
              <a:t>[Sources]</a:t>
            </a:r>
          </a:p>
          <a:p xmlns:a="http://schemas.openxmlformats.org/drawingml/2006/main">
            <a:r>
              <a:t>- BMHI PN 104 Chapter 6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These are our learning objectives for Chapter 6. By the end of the chapter, you should be able to do the following: List and describe the functions of bones. Describe the classes of bones. Discuss the process of bone formation and development. Explain how bone repairs itself after a fracture. Discuss the effect of exercise, nutrition, and hormones on bone tissue. Describe how an imbalance of calcium can affect bone tissue Bones make good fossils. Do not treat these as isolated facts. Use them as a checklist for what you should be able to identify, explain, and connect to safe practical nursing care.</a:t>
            </a:r>
          </a:p>
          <a:p xmlns:a="http://schemas.openxmlformats.org/drawingml/2006/main">
            <a:r>
              <a:t/>
            </a:r>
          </a:p>
          <a:p xmlns:a="http://schemas.openxmlformats.org/drawingml/2006/main">
            <a:r>
              <a:t>[Sources]</a:t>
            </a:r>
          </a:p>
          <a:p xmlns:a="http://schemas.openxmlformats.org/drawingml/2006/main">
            <a:r>
              <a:t>- BMHI PN 104 Chapter 6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We are now moving into Bone Classification. The five shapes of bones and how shape relates to function. As we begin this section, listen for the major structures, their locations, and the functions they perform. Then ask yourself what a change in this area might look like during patient care.</a:t>
            </a:r>
          </a:p>
          <a:p xmlns:a="http://schemas.openxmlformats.org/drawingml/2006/main">
            <a:r>
              <a:t/>
            </a:r>
          </a:p>
          <a:p xmlns:a="http://schemas.openxmlformats.org/drawingml/2006/main">
            <a:r>
              <a:t>[Sources]</a:t>
            </a:r>
          </a:p>
          <a:p xmlns:a="http://schemas.openxmlformats.org/drawingml/2006/main">
            <a:r>
              <a:t>- BMHI PN 104 Chapter 6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Now let's focus on Classification of Bones. The classification of bones by shape. Long bones (limbs) act as levers. Short bones (wrist, ankle) add stability. Flat bones (skull, ribs) protect. Irregular and sesamoid bones. Connect this anatomy with safe mobility, fall prevention, nutrition, and recognition of changes that may signal injury or bone loss. Take a moment to identify the structure on the image and explain how its form supports its function. This is slide 4 of 23.</a:t>
            </a:r>
          </a:p>
          <a:p xmlns:a="http://schemas.openxmlformats.org/drawingml/2006/main">
            <a:r>
              <a:t/>
            </a:r>
          </a:p>
          <a:p xmlns:a="http://schemas.openxmlformats.org/drawingml/2006/main">
            <a:r>
              <a:t>[Sources]</a:t>
            </a:r>
          </a:p>
          <a:p xmlns:a="http://schemas.openxmlformats.org/drawingml/2006/main">
            <a:r>
              <a:t>- BMHI PN 104 Chapter 6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We are now moving into Bone Structure. The gross and microscopic structure of bone tissue. As we begin this section, listen for the major structures, their locations, and the functions they perform. Then ask yourself what a change in this area might look like during patient care.</a:t>
            </a:r>
          </a:p>
          <a:p xmlns:a="http://schemas.openxmlformats.org/drawingml/2006/main">
            <a:r>
              <a:t/>
            </a:r>
          </a:p>
          <a:p xmlns:a="http://schemas.openxmlformats.org/drawingml/2006/main">
            <a:r>
              <a:t>[Sources]</a:t>
            </a:r>
          </a:p>
          <a:p xmlns:a="http://schemas.openxmlformats.org/drawingml/2006/main">
            <a:r>
              <a:t>- BMHI PN 104 Chapter 6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Now let's focus on Anatomy of a Long Bone. The structure of a long bone. Diaphysis (shaft) and epiphyses (ends). Medullary cavity holds marrow. Periosteum covers the outer surface. Articular cartilage cushions the joints. Connect this anatomy with safe mobility, fall prevention, nutrition, and recognition of changes that may signal injury or bone loss. Take a moment to identify the structure on the image and explain how its form supports its function. This is slide 6 of 23.</a:t>
            </a:r>
          </a:p>
          <a:p xmlns:a="http://schemas.openxmlformats.org/drawingml/2006/main">
            <a:r>
              <a:t/>
            </a:r>
          </a:p>
          <a:p xmlns:a="http://schemas.openxmlformats.org/drawingml/2006/main">
            <a:r>
              <a:t>[Sources]</a:t>
            </a:r>
          </a:p>
          <a:p xmlns:a="http://schemas.openxmlformats.org/drawingml/2006/main">
            <a:r>
              <a:t>- BMHI PN 104 Chapter 6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Now let's focus on Compact and Spongy Bone. Compact and spongy bone. Compact bone is dense and solid. Forms the strong outer layer. Spongy bone is porous (trabeculae). Trabeculae resist stress, hold marrow. Connect this anatomy with safe mobility, fall prevention, nutrition, and recognition of changes that may signal injury or bone loss. Take a moment to identify the structure on the image and explain how its form supports its function. This is slide 7 of 23.</a:t>
            </a:r>
          </a:p>
          <a:p xmlns:a="http://schemas.openxmlformats.org/drawingml/2006/main">
            <a:r>
              <a:t/>
            </a:r>
          </a:p>
          <a:p xmlns:a="http://schemas.openxmlformats.org/drawingml/2006/main">
            <a:r>
              <a:t>[Sources]</a:t>
            </a:r>
          </a:p>
          <a:p xmlns:a="http://schemas.openxmlformats.org/drawingml/2006/main">
            <a:r>
              <a:t>- BMHI PN 104 Chapter 6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Now let's focus on The Four Bone Cells. Osteogenic cells are bone stem cells. Osteoblasts build new bone. Osteocytes maintain bone tissue. Osteoclasts resorb (break down) bone. The cells of bone tissue. The key distinction is that osteoblasts build bone while osteoclasts break bone down; healthy remodeling requires both processes. Take a moment to identify the structure on the image and explain how its form supports its function. This is slide 8 of 23.</a:t>
            </a:r>
          </a:p>
          <a:p xmlns:a="http://schemas.openxmlformats.org/drawingml/2006/main">
            <a:r>
              <a:t/>
            </a:r>
          </a:p>
          <a:p xmlns:a="http://schemas.openxmlformats.org/drawingml/2006/main">
            <a:r>
              <a:t>[Sources]</a:t>
            </a:r>
          </a:p>
          <a:p xmlns:a="http://schemas.openxmlformats.org/drawingml/2006/main">
            <a:r>
              <a:t>- BMHI PN 104 Chapter 6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Now let's focus on Microscopic Bone — The Osteon. The osteon (Haversian system). Compact bone is built of osteons. Central canal carries vessels and nerves. Concentric lamellae surround the canal. Osteocytes sit in lacunae. Connect this anatomy with safe mobility, fall prevention, nutrition, and recognition of changes that may signal injury or bone loss. Take a moment to identify the structure on the image and explain how its form supports its function. This is slide 9 of 23.</a:t>
            </a:r>
          </a:p>
          <a:p xmlns:a="http://schemas.openxmlformats.org/drawingml/2006/main">
            <a:r>
              <a:t/>
            </a:r>
          </a:p>
          <a:p xmlns:a="http://schemas.openxmlformats.org/drawingml/2006/main">
            <a:r>
              <a:t>[Sources]</a:t>
            </a:r>
          </a:p>
          <a:p xmlns:a="http://schemas.openxmlformats.org/drawingml/2006/main">
            <a:r>
              <a:t>- BMHI PN 104 Chapter 6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We are now moving into Bone Formation and Development. How bones form before birth and grow throughout childhood. As we begin this section, listen for the major structures, their locations, and the functions they perform. Then ask yourself what a change in this area might look like during patient care.</a:t>
            </a:r>
          </a:p>
          <a:p xmlns:a="http://schemas.openxmlformats.org/drawingml/2006/main">
            <a:r>
              <a:t/>
            </a:r>
          </a:p>
          <a:p xmlns:a="http://schemas.openxmlformats.org/drawingml/2006/main">
            <a:r>
              <a:t>[Sources]</a:t>
            </a:r>
          </a:p>
          <a:p xmlns:a="http://schemas.openxmlformats.org/drawingml/2006/main">
            <a:r>
              <a:t>- BMHI PN 104 Chapter 6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Now let's focus on Bone Formation (Ossification). Intramembranous forms flat bones. Endochondral replaces cartilage. Most bones form from a cartilage model. Begins before birth. Intramembranous and endochondral ossification. Connect this anatomy with safe mobility, fall prevention, nutrition, and recognition of changes that may signal injury or bone loss. Take a moment to identify the structure on the image and explain how its form supports its function. This is slide 11 of 23.</a:t>
            </a:r>
          </a:p>
          <a:p xmlns:a="http://schemas.openxmlformats.org/drawingml/2006/main">
            <a:r>
              <a:t/>
            </a:r>
          </a:p>
          <a:p xmlns:a="http://schemas.openxmlformats.org/drawingml/2006/main">
            <a:r>
              <a:t>[Sources]</a:t>
            </a:r>
          </a:p>
          <a:p xmlns:a="http://schemas.openxmlformats.org/drawingml/2006/main">
            <a:r>
              <a:t>- BMHI PN 104 Chapter 6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Now let's focus on The Epiphyseal (Growth) Plate. Zones of the epiphyseal plate. A plate of hyaline cartilage. Lengthens long bones in childhood. Cartilage grows, then turns to bone. Closes after puberty. Connect this anatomy with safe mobility, fall prevention, nutrition, and recognition of changes that may signal injury or bone loss. Take a moment to identify the structure on the image and explain how its form supports its function. This is slide 12 of 23.</a:t>
            </a:r>
          </a:p>
          <a:p xmlns:a="http://schemas.openxmlformats.org/drawingml/2006/main">
            <a:r>
              <a:t/>
            </a:r>
          </a:p>
          <a:p xmlns:a="http://schemas.openxmlformats.org/drawingml/2006/main">
            <a:r>
              <a:t>[Sources]</a:t>
            </a:r>
          </a:p>
          <a:p xmlns:a="http://schemas.openxmlformats.org/drawingml/2006/main">
            <a:r>
              <a:t>- BMHI PN 104 Chapter 6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Now let's focus on Growing vs. Mature Bone. Active growth plate in children. Epiphyseal line in adults. Marks where growth occurred. Plate injuries can affect growth. Growing and mature long bone. Growth-plate injuries in children require careful follow-up because they can change future bone growth. Take a moment to identify the structure on the image and explain how its form supports its function. This is slide 13 of 23.</a:t>
            </a:r>
          </a:p>
          <a:p xmlns:a="http://schemas.openxmlformats.org/drawingml/2006/main">
            <a:r>
              <a:t/>
            </a:r>
          </a:p>
          <a:p xmlns:a="http://schemas.openxmlformats.org/drawingml/2006/main">
            <a:r>
              <a:t>[Sources]</a:t>
            </a:r>
          </a:p>
          <a:p xmlns:a="http://schemas.openxmlformats.org/drawingml/2006/main">
            <a:r>
              <a:t>- BMHI PN 104 Chapter 6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We are now moving into Fractures: Bone Repair. Types of fractures and how bone repairs itself. As we begin this section, listen for the major structures, their locations, and the functions they perform. Then ask yourself what a change in this area might look like during patient care.</a:t>
            </a:r>
          </a:p>
          <a:p xmlns:a="http://schemas.openxmlformats.org/drawingml/2006/main">
            <a:r>
              <a:t/>
            </a:r>
          </a:p>
          <a:p xmlns:a="http://schemas.openxmlformats.org/drawingml/2006/main">
            <a:r>
              <a:t>[Sources]</a:t>
            </a:r>
          </a:p>
          <a:p xmlns:a="http://schemas.openxmlformats.org/drawingml/2006/main">
            <a:r>
              <a:t>- BMHI PN 104 Chapter 6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Now let's focus on Types of Fractures. Common types of bone fractures. Closed (simple) vs. open (compound). Transverse, oblique, spiral, comminuted. Greenstick (incomplete) in children. Impacted ends driven together. In practice, observe alignment, circulation, sensation, movement, swelling, pain, and skin condition, and report sudden changes promptly. Take a moment to identify the structure on the image and explain how its form supports its function. This is slide 15 of 23.</a:t>
            </a:r>
          </a:p>
          <a:p xmlns:a="http://schemas.openxmlformats.org/drawingml/2006/main">
            <a:r>
              <a:t/>
            </a:r>
          </a:p>
          <a:p xmlns:a="http://schemas.openxmlformats.org/drawingml/2006/main">
            <a:r>
              <a:t>[Sources]</a:t>
            </a:r>
          </a:p>
          <a:p xmlns:a="http://schemas.openxmlformats.org/drawingml/2006/main">
            <a:r>
              <a:t>- BMHI PN 104 Chapter 6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Now let's focus on Fracture Repair. The stages of fracture repair. A hematoma forms at the break. A soft (fibrocartilage) callus bridges it. A bony callus replaces it. Remodeling restores the bone. In practice, observe alignment, circulation, sensation, movement, swelling, pain, and skin condition, and report sudden changes promptly. Take a moment to identify the structure on the image and explain how its form supports its function. This is slide 16 of 23.</a:t>
            </a:r>
          </a:p>
          <a:p xmlns:a="http://schemas.openxmlformats.org/drawingml/2006/main">
            <a:r>
              <a:t/>
            </a:r>
          </a:p>
          <a:p xmlns:a="http://schemas.openxmlformats.org/drawingml/2006/main">
            <a:r>
              <a:t>[Sources]</a:t>
            </a:r>
          </a:p>
          <a:p xmlns:a="http://schemas.openxmlformats.org/drawingml/2006/main">
            <a:r>
              <a:t>- BMHI PN 104 Chapter 6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We are now moving into Exercise, Nutrition, Hormones, and Bone Tissue. How exercise, nutrition, and hormones keep bone strong. As we begin this section, listen for the major structures, their locations, and the functions they perform. Then ask yourself what a change in this area might look like during patient care.</a:t>
            </a:r>
          </a:p>
          <a:p xmlns:a="http://schemas.openxmlformats.org/drawingml/2006/main">
            <a:r>
              <a:t/>
            </a:r>
          </a:p>
          <a:p xmlns:a="http://schemas.openxmlformats.org/drawingml/2006/main">
            <a:r>
              <a:t>[Sources]</a:t>
            </a:r>
          </a:p>
          <a:p xmlns:a="http://schemas.openxmlformats.org/drawingml/2006/main">
            <a:r>
              <a:t>- BMHI PN 104 Chapter 6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Now let's focus on Vitamin D &amp; Calcium Absorption. Vitamin D synthesis and calcium absorption. Sunlight starts vitamin D synthesis. Liver and kidneys activate it. Vitamin D drives calcium absorption. Essential for strong bones. Remember that calcium also supports nerve transmission, muscle contraction, and cardiac function, so imbalance can affect more than bone. Take a moment to identify the structure on the image and explain how its form supports its function. This is slide 18 of 23.</a:t>
            </a:r>
          </a:p>
          <a:p xmlns:a="http://schemas.openxmlformats.org/drawingml/2006/main">
            <a:r>
              <a:t/>
            </a:r>
          </a:p>
          <a:p xmlns:a="http://schemas.openxmlformats.org/drawingml/2006/main">
            <a:r>
              <a:t>[Sources]</a:t>
            </a:r>
          </a:p>
          <a:p xmlns:a="http://schemas.openxmlformats.org/drawingml/2006/main">
            <a:r>
              <a:t>- BMHI PN 104 Chapter 6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Now let's focus on Bone Mass Over the Lifespan. Bone mass across the lifespan. Bone mass peaks in young adulthood. Declines with age, faster after menopause. Low bone mass leads to osteoporosis. Exercise and calcium slow the loss. Remember that calcium also supports nerve transmission, muscle contraction, and cardiac function, so imbalance can affect more than bone. Take a moment to identify the structure on the image and explain how its form supports its function. This is slide 19 of 23.</a:t>
            </a:r>
          </a:p>
          <a:p xmlns:a="http://schemas.openxmlformats.org/drawingml/2006/main">
            <a:r>
              <a:t/>
            </a:r>
          </a:p>
          <a:p xmlns:a="http://schemas.openxmlformats.org/drawingml/2006/main">
            <a:r>
              <a:t>[Sources]</a:t>
            </a:r>
          </a:p>
          <a:p xmlns:a="http://schemas.openxmlformats.org/drawingml/2006/main">
            <a:r>
              <a:t>- BMHI PN 104 Chapter 6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We are now moving into Calcium Homeostasis: Interactions of the Skeletal System and Other Organ Systems. How the skeleton helps keep blood calcium in a safe range. As we begin this section, listen for the major structures, their locations, and the functions they perform. Then ask yourself what a change in this area might look like during patient care.</a:t>
            </a:r>
          </a:p>
          <a:p xmlns:a="http://schemas.openxmlformats.org/drawingml/2006/main">
            <a:r>
              <a:t/>
            </a:r>
          </a:p>
          <a:p xmlns:a="http://schemas.openxmlformats.org/drawingml/2006/main">
            <a:r>
              <a:t>[Sources]</a:t>
            </a:r>
          </a:p>
          <a:p xmlns:a="http://schemas.openxmlformats.org/drawingml/2006/main">
            <a:r>
              <a:t>- BMHI PN 104 Chapter 6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Now let's focus on Calcium Homeostasis. Blood calcium is tightly controlled. PTH raises calcium (bone, kidney, gut). Calcitonin lowers calcium. Bone is the body's calcium reservoir. Hormonal control of blood calcium. Remember that calcium also supports nerve transmission, muscle contraction, and cardiac function, so imbalance can affect more than bone. Take a moment to identify the structure on the image and explain how its form supports its function. This is slide 21 of 23.</a:t>
            </a:r>
          </a:p>
          <a:p xmlns:a="http://schemas.openxmlformats.org/drawingml/2006/main">
            <a:r>
              <a:t/>
            </a:r>
          </a:p>
          <a:p xmlns:a="http://schemas.openxmlformats.org/drawingml/2006/main">
            <a:r>
              <a:t>[Sources]</a:t>
            </a:r>
          </a:p>
          <a:p xmlns:a="http://schemas.openxmlformats.org/drawingml/2006/main">
            <a:r>
              <a:t>- BMHI PN 104 Chapter 6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Let us review the major takeaways from Chapter 6. The skeleton supports, protects, moves the body, stores minerals, and makes blood cells. Bones are classified by shape, with structure suited to function. Bone is living tissue, built of osteons and continuously remodeled by bone cells. Bones form by ossification and lengthen at the epiphyseal plate until adulthood. Bone health depends on exercise, nutrition, hormones, and calcium balance. Before moving on, pause and explain each point without reading the slide. If any statement is difficult to explain, mark that topic for review before the quiz.</a:t>
            </a:r>
          </a:p>
          <a:p xmlns:a="http://schemas.openxmlformats.org/drawingml/2006/main">
            <a:r>
              <a:t/>
            </a:r>
          </a:p>
          <a:p xmlns:a="http://schemas.openxmlformats.org/drawingml/2006/main">
            <a:r>
              <a:t>[Sources]</a:t>
            </a:r>
          </a:p>
          <a:p xmlns:a="http://schemas.openxmlformats.org/drawingml/2006/main">
            <a:r>
              <a:t>- BMHI PN 104 Chapter 6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This final slide connects Chapter 6 to practical nursing. Fracture Care. Knowing fracture types and healing stages guides immobilization and recovery. Osteoporosis. Bone loss with age raises fracture risk — central to fall prevention. Calcium &amp; Vitamin D. Essential nutrients for bone and for nerve and muscle function. Blood Cell Formation. Red marrow makes the blood cells you monitor in lab work. Growth Plates. Pediatric growth-plate injuries require special attention. Mobility. Bone strength underpins safe movement and weight-bearing. Your role is to observe carefully, protect safety, follow orders and precautions, document objectively, and report changes through the appropriate chain of command. Use these examples to connect anatomy with the care you will provide.</a:t>
            </a:r>
          </a:p>
          <a:p xmlns:a="http://schemas.openxmlformats.org/drawingml/2006/main">
            <a:r>
              <a:t/>
            </a:r>
          </a:p>
          <a:p xmlns:a="http://schemas.openxmlformats.org/drawingml/2006/main">
            <a:r>
              <a:t>[Sources]</a:t>
            </a:r>
          </a:p>
          <a:p xmlns:a="http://schemas.openxmlformats.org/drawingml/2006/main">
            <a:r>
              <a:t>- BMHI PN 104 Chapter 6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f8aeb19368047a7"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4947cc85b8a44a0" /><Relationship Type="http://schemas.openxmlformats.org/officeDocument/2006/relationships/slideLayout" Target="/ppt/slideLayouts/slideLayout1.xml" Id="R0b5e89e9d5bf4511"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b5e89e9d5bf4511"/>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7081c1844c8402a" /><Relationship Type="http://schemas.openxmlformats.org/officeDocument/2006/relationships/image" Target="/ppt/media/image.jpeg" Id="Rbe2c49e5af8a4938" /><Relationship Type="http://schemas.openxmlformats.org/officeDocument/2006/relationships/notesSlide" Target="/ppt/notesSlides/notesSlide1.xml" Id="R4809b64bca6947b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9b3d86f7aeb43ad" /><Relationship Type="http://schemas.openxmlformats.org/officeDocument/2006/relationships/image" Target="/ppt/media/image2.jpeg" Id="R30afac0412d24fe5" /><Relationship Type="http://schemas.openxmlformats.org/officeDocument/2006/relationships/notesSlide" Target="/ppt/notesSlides/notesSlide2.xml" Id="Rb93635921495468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086a430ee8147a2" /><Relationship Type="http://schemas.openxmlformats.org/officeDocument/2006/relationships/notesSlide" Target="/ppt/notesSlides/notesSlide3.xml" Id="R6af9228f4947494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855b46ad43648eb" /><Relationship Type="http://schemas.openxmlformats.org/officeDocument/2006/relationships/image" Target="/ppt/media/image3.jpeg" Id="R645641bdd0b94d20" /><Relationship Type="http://schemas.openxmlformats.org/officeDocument/2006/relationships/notesSlide" Target="/ppt/notesSlides/notesSlide4.xml" Id="R7cf5b0383f2f416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59888fa415b4c27" /><Relationship Type="http://schemas.openxmlformats.org/officeDocument/2006/relationships/notesSlide" Target="/ppt/notesSlides/notesSlide5.xml" Id="R30244a7b5e26406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fcd8617156e4b06" /><Relationship Type="http://schemas.openxmlformats.org/officeDocument/2006/relationships/image" Target="/ppt/media/image4.jpeg" Id="R774cf1dcdaff497e" /><Relationship Type="http://schemas.openxmlformats.org/officeDocument/2006/relationships/notesSlide" Target="/ppt/notesSlides/notesSlide6.xml" Id="Rcd095570954b438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b8405ac3e104485" /><Relationship Type="http://schemas.openxmlformats.org/officeDocument/2006/relationships/image" Target="/ppt/media/image5.jpeg" Id="R1907b1a25f5b49c0" /><Relationship Type="http://schemas.openxmlformats.org/officeDocument/2006/relationships/notesSlide" Target="/ppt/notesSlides/notesSlide7.xml" Id="R10add3ea66a444b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b1aaf794a2f4fc1" /><Relationship Type="http://schemas.openxmlformats.org/officeDocument/2006/relationships/image" Target="/ppt/media/image6.jpeg" Id="Rddef4f75a01d4ecf" /><Relationship Type="http://schemas.openxmlformats.org/officeDocument/2006/relationships/notesSlide" Target="/ppt/notesSlides/notesSlide8.xml" Id="R20f22f4c5f2f4f7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14b05524e954e49" /><Relationship Type="http://schemas.openxmlformats.org/officeDocument/2006/relationships/image" Target="/ppt/media/image7.jpeg" Id="Rc05af20b555b45be" /><Relationship Type="http://schemas.openxmlformats.org/officeDocument/2006/relationships/notesSlide" Target="/ppt/notesSlides/notesSlide9.xml" Id="R88d002daeb63446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cb9c386e43c4f2d" /><Relationship Type="http://schemas.openxmlformats.org/officeDocument/2006/relationships/notesSlide" Target="/ppt/notesSlides/notesSlide10.xml" Id="R028f3bdf23a1437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233a82b875f4cd0" /><Relationship Type="http://schemas.openxmlformats.org/officeDocument/2006/relationships/image" Target="/ppt/media/image8.jpeg" Id="R494d5576186b4874" /><Relationship Type="http://schemas.openxmlformats.org/officeDocument/2006/relationships/notesSlide" Target="/ppt/notesSlides/notesSlide11.xml" Id="Rbf6cf76b6d44490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6259591edaf4d35" /><Relationship Type="http://schemas.openxmlformats.org/officeDocument/2006/relationships/image" Target="/ppt/media/image9.jpeg" Id="R42e518c0583548a7" /><Relationship Type="http://schemas.openxmlformats.org/officeDocument/2006/relationships/notesSlide" Target="/ppt/notesSlides/notesSlide12.xml" Id="Rba7ebd61fa454ac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35592578d04440f" /><Relationship Type="http://schemas.openxmlformats.org/officeDocument/2006/relationships/image" Target="/ppt/media/image10.jpeg" Id="R09b42bf7581f405d" /><Relationship Type="http://schemas.openxmlformats.org/officeDocument/2006/relationships/notesSlide" Target="/ppt/notesSlides/notesSlide13.xml" Id="Rf1b17e35d3b943d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0f7b692f1644764" /><Relationship Type="http://schemas.openxmlformats.org/officeDocument/2006/relationships/notesSlide" Target="/ppt/notesSlides/notesSlide14.xml" Id="R38c48b0a9dfb461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1da2635c3f4f43c7" /><Relationship Type="http://schemas.openxmlformats.org/officeDocument/2006/relationships/image" Target="/ppt/media/image11.jpeg" Id="R4767a894154941d9" /><Relationship Type="http://schemas.openxmlformats.org/officeDocument/2006/relationships/notesSlide" Target="/ppt/notesSlides/notesSlide15.xml" Id="R4cfebae1f0b7499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b9256c9bede44381" /><Relationship Type="http://schemas.openxmlformats.org/officeDocument/2006/relationships/image" Target="/ppt/media/image12.jpeg" Id="Ra4b7656f5d4d4807" /><Relationship Type="http://schemas.openxmlformats.org/officeDocument/2006/relationships/notesSlide" Target="/ppt/notesSlides/notesSlide16.xml" Id="R66eee65229a54fb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61cfa73a332f404f" /><Relationship Type="http://schemas.openxmlformats.org/officeDocument/2006/relationships/notesSlide" Target="/ppt/notesSlides/notesSlide17.xml" Id="R64ba34c99a5e470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378bb67e9b6a43d9" /><Relationship Type="http://schemas.openxmlformats.org/officeDocument/2006/relationships/image" Target="/ppt/media/image13.jpeg" Id="R8e0e092024bd4934" /><Relationship Type="http://schemas.openxmlformats.org/officeDocument/2006/relationships/notesSlide" Target="/ppt/notesSlides/notesSlide18.xml" Id="R941dc58f4f41403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bf8d6b4300b64056" /><Relationship Type="http://schemas.openxmlformats.org/officeDocument/2006/relationships/image" Target="/ppt/media/image14.jpeg" Id="Rdcb4c39432584f02" /><Relationship Type="http://schemas.openxmlformats.org/officeDocument/2006/relationships/notesSlide" Target="/ppt/notesSlides/notesSlide19.xml" Id="Reeb1655c964f4e6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f2f48be0c4224ad1" /><Relationship Type="http://schemas.openxmlformats.org/officeDocument/2006/relationships/notesSlide" Target="/ppt/notesSlides/notesSlide20.xml" Id="R06a2db3970b5416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c70b59acb046463c" /><Relationship Type="http://schemas.openxmlformats.org/officeDocument/2006/relationships/image" Target="/ppt/media/image15.jpeg" Id="R3c3e220f3d3b4e6d" /><Relationship Type="http://schemas.openxmlformats.org/officeDocument/2006/relationships/notesSlide" Target="/ppt/notesSlides/notesSlide21.xml" Id="R899b66c95ad84b2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cfe058ca24c34fa9" /><Relationship Type="http://schemas.openxmlformats.org/officeDocument/2006/relationships/notesSlide" Target="/ppt/notesSlides/notesSlide22.xml" Id="R4c5b840b10724ad7"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c02b33ef736641ff" /><Relationship Type="http://schemas.openxmlformats.org/officeDocument/2006/relationships/notesSlide" Target="/ppt/notesSlides/notesSlide23.xml" Id="R1a7419d145804a17" /></Relationships>
</file>

<file path=ppt/slides/slide1.xml><?xml version="1.0" encoding="utf-8"?>
<p:sld xmlns:p="http://schemas.openxmlformats.org/presentationml/2006/main">
  <p:cSld>
    <p:bg>
      <p:bgPr>
        <a:solidFill xmlns:a="http://schemas.openxmlformats.org/drawingml/2006/main">
          <a:srgbClr val="0F4C5C"/>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950C3C0-25D1-40E2-A68C-CF21C12580B4}"/>
              </a:ext>
            </a:extLst>
          </p:cNvPr>
          <p:cNvSpPr>
            <a:spLocks xmlns:a="http://schemas.openxmlformats.org/drawingml/2006/main" noGrp="1"/>
          </p:cNvSpPr>
          <p:nvPr/>
        </p:nvSpPr>
        <p:spPr>
          <a:xfrm xmlns:a="http://schemas.openxmlformats.org/drawingml/2006/main">
            <a:off x="731520" y="1325880"/>
            <a:ext cx="640080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800" b="1">
                <a:solidFill>
                  <a:srgbClr val="E36414"/>
                </a:solidFill>
                <a:latin typeface="Calibri"/>
                <a:ea typeface="Calibri"/>
                <a:cs typeface="Calibri"/>
              </a:rPr>
              <a:t>CHAPTER 6</a:t>
            </a:r>
          </a:p>
        </p:txBody>
      </p:sp>
      <p:sp>
        <p:nvSpPr>
          <p:cNvPr id="3" name="Text 1">
            <a:extLst xmlns:a="http://schemas.openxmlformats.org/drawingml/2006/main">
              <a:ext uri="{FF2B5EF4-FFF2-40B4-BE49-F238E27FC236}">
                <a16:creationId xmlns:a16="http://schemas.microsoft.com/office/drawing/2014/main" id="{BDE9F2D1-A46B-4810-ABD1-C15C74B1686B}"/>
              </a:ext>
            </a:extLst>
          </p:cNvPr>
          <p:cNvSpPr>
            <a:spLocks xmlns:a="http://schemas.openxmlformats.org/drawingml/2006/main" noGrp="1"/>
          </p:cNvSpPr>
          <p:nvPr/>
        </p:nvSpPr>
        <p:spPr>
          <a:xfrm xmlns:a="http://schemas.openxmlformats.org/drawingml/2006/main">
            <a:off x="713232" y="1783080"/>
            <a:ext cx="6858000" cy="1920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4000" b="1">
                <a:solidFill>
                  <a:srgbClr val="FFFFFF"/>
                </a:solidFill>
                <a:latin typeface="Georgia"/>
                <a:ea typeface="Georgia"/>
                <a:cs typeface="Georgia"/>
              </a:rPr>
              <a:t>Bone Tissue and the Skeletal System</a:t>
            </a:r>
          </a:p>
        </p:txBody>
      </p:sp>
      <p:sp>
        <p:nvSpPr>
          <p:cNvPr id="4" name="Text 2">
            <a:extLst xmlns:a="http://schemas.openxmlformats.org/drawingml/2006/main">
              <a:ext uri="{FF2B5EF4-FFF2-40B4-BE49-F238E27FC236}">
                <a16:creationId xmlns:a16="http://schemas.microsoft.com/office/drawing/2014/main" id="{44DB5353-5E6E-424D-9455-86EF01FC6AB2}"/>
              </a:ext>
            </a:extLst>
          </p:cNvPr>
          <p:cNvSpPr>
            <a:spLocks xmlns:a="http://schemas.openxmlformats.org/drawingml/2006/main" noGrp="1"/>
          </p:cNvSpPr>
          <p:nvPr/>
        </p:nvSpPr>
        <p:spPr>
          <a:xfrm xmlns:a="http://schemas.openxmlformats.org/drawingml/2006/main">
            <a:off x="749808" y="3886200"/>
            <a:ext cx="640080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0000"/>
              </a:lnSpc>
              <a:buNone/>
            </a:pPr>
            <a:r>
              <a:rPr sz="1600">
                <a:solidFill>
                  <a:srgbClr val="CFE3E7"/>
                </a:solidFill>
                <a:latin typeface="Calibri"/>
                <a:ea typeface="Calibri"/>
                <a:cs typeface="Calibri"/>
              </a:rPr>
              <a:t>Bone structure, formation, fractures, and calcium balance.</a:t>
            </a:r>
          </a:p>
        </p:txBody>
      </p:sp>
      <p:sp>
        <p:nvSpPr>
          <p:cNvPr id="5" name="Text 3">
            <a:extLst xmlns:a="http://schemas.openxmlformats.org/drawingml/2006/main">
              <a:ext uri="{FF2B5EF4-FFF2-40B4-BE49-F238E27FC236}">
                <a16:creationId xmlns:a16="http://schemas.microsoft.com/office/drawing/2014/main" id="{19D58EF5-9703-4A93-B650-562D6E4973A8}"/>
              </a:ext>
            </a:extLst>
          </p:cNvPr>
          <p:cNvSpPr>
            <a:spLocks xmlns:a="http://schemas.openxmlformats.org/drawingml/2006/main" noGrp="1"/>
          </p:cNvSpPr>
          <p:nvPr/>
        </p:nvSpPr>
        <p:spPr>
          <a:xfrm xmlns:a="http://schemas.openxmlformats.org/drawingml/2006/main">
            <a:off x="749808" y="5806440"/>
            <a:ext cx="82296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a:solidFill>
                  <a:srgbClr val="9FC2C9"/>
                </a:solidFill>
                <a:latin typeface="Calibri"/>
                <a:ea typeface="Calibri"/>
                <a:cs typeface="Calibri"/>
              </a:rPr>
              <a:t>Anatomy &amp; Physiology  ·  Broward-Miami Health Institute</a:t>
            </a:r>
          </a:p>
        </p:txBody>
      </p:sp>
      <p:sp>
        <p:nvSpPr>
          <p:cNvPr id="6" name="Text 4">
            <a:extLst xmlns:a="http://schemas.openxmlformats.org/drawingml/2006/main">
              <a:ext uri="{FF2B5EF4-FFF2-40B4-BE49-F238E27FC236}">
                <a16:creationId xmlns:a16="http://schemas.microsoft.com/office/drawing/2014/main" id="{24051615-B6E3-48BB-A6B2-1CAF3CBF5E62}"/>
              </a:ext>
            </a:extLst>
          </p:cNvPr>
          <p:cNvSpPr>
            <a:spLocks xmlns:a="http://schemas.openxmlformats.org/drawingml/2006/main" noGrp="1"/>
          </p:cNvSpPr>
          <p:nvPr/>
        </p:nvSpPr>
        <p:spPr>
          <a:xfrm xmlns:a="http://schemas.openxmlformats.org/drawingml/2006/main">
            <a:off x="749808" y="6144768"/>
            <a:ext cx="36576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a:solidFill>
                  <a:srgbClr val="E36414"/>
                </a:solidFill>
                <a:latin typeface="Calibri"/>
                <a:ea typeface="Calibri"/>
                <a:cs typeface="Calibri"/>
              </a:rPr>
              <a:t>FACULTY EDITION</a:t>
            </a:r>
          </a:p>
        </p:txBody>
      </p:sp>
      <p:sp>
        <p:nvSpPr>
          <p:cNvPr id="7" name="Shape 5">
            <a:extLst xmlns:a="http://schemas.openxmlformats.org/drawingml/2006/main">
              <a:ext uri="{FF2B5EF4-FFF2-40B4-BE49-F238E27FC236}">
                <a16:creationId xmlns:a16="http://schemas.microsoft.com/office/drawing/2014/main" id="{0392C66D-DC90-45AF-B09C-DEE3F0A4F977}"/>
              </a:ext>
            </a:extLst>
          </p:cNvPr>
          <p:cNvSpPr>
            <a:spLocks xmlns:a="http://schemas.openxmlformats.org/drawingml/2006/main" noGrp="1"/>
          </p:cNvSpPr>
          <p:nvPr/>
        </p:nvSpPr>
        <p:spPr>
          <a:xfrm xmlns:a="http://schemas.openxmlformats.org/drawingml/2006/main">
            <a:off x="7735824" y="2535914"/>
            <a:ext cx="4096512" cy="1969053"/>
          </a:xfrm>
          <a:prstGeom xmlns:a="http://schemas.openxmlformats.org/drawingml/2006/main" prst="roundRect">
            <a:avLst>
              <a:gd name="adj" fmla="val 2786"/>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5" name="Image 0"/>
          <p:cNvPicPr>
            <a:picLocks xmlns:a="http://schemas.openxmlformats.org/drawingml/2006/main" noChangeAspect="1"/>
          </p:cNvPicPr>
          <p:nvPr/>
        </p:nvPicPr>
        <p:blipFill>
          <a:blip xmlns:r="http://schemas.openxmlformats.org/officeDocument/2006/relationships" xmlns:a="http://schemas.openxmlformats.org/drawingml/2006/main" r:embed="Rbe2c49e5af8a4938"/>
          <a:stretch xmlns:a="http://schemas.openxmlformats.org/drawingml/2006/main">
            <a:fillRect l="0" t="0" r="0" b="0"/>
          </a:stretch>
        </p:blipFill>
        <p:spPr>
          <a:xfrm xmlns:a="http://schemas.openxmlformats.org/drawingml/2006/main">
            <a:off x="7818120" y="2618210"/>
            <a:ext cx="3931920" cy="1804461"/>
          </a:xfrm>
          <a:prstGeom xmlns:a="http://schemas.openxmlformats.org/drawingml/2006/main" prst="rect">
            <a:avLst/>
          </a:prstGeom>
        </p:spPr>
      </p:pic>
    </p:spTree>
    <p:extLst>
      <p:ext uri="{BB962C8B-B14F-4D97-AF65-F5344CB8AC3E}">
        <p14:creationId xmlns:p14="http://schemas.microsoft.com/office/powerpoint/2010/main" val="186071709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08D5532-9181-47E4-9A71-5EA7F384D117}"/>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CHAPTER 6</a:t>
            </a:r>
          </a:p>
        </p:txBody>
      </p:sp>
      <p:sp>
        <p:nvSpPr>
          <p:cNvPr id="3" name="Text 1">
            <a:extLst xmlns:a="http://schemas.openxmlformats.org/drawingml/2006/main">
              <a:ext uri="{FF2B5EF4-FFF2-40B4-BE49-F238E27FC236}">
                <a16:creationId xmlns:a16="http://schemas.microsoft.com/office/drawing/2014/main" id="{DEDCC39F-092B-4D98-8333-0D9883E4B0EC}"/>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Learning Objectives</a:t>
            </a:r>
          </a:p>
        </p:txBody>
      </p:sp>
      <p:sp>
        <p:nvSpPr>
          <p:cNvPr id="4" name="Text 2">
            <a:extLst xmlns:a="http://schemas.openxmlformats.org/drawingml/2006/main">
              <a:ext uri="{FF2B5EF4-FFF2-40B4-BE49-F238E27FC236}">
                <a16:creationId xmlns:a16="http://schemas.microsoft.com/office/drawing/2014/main" id="{50E884DD-73BD-457B-8B89-3EC0927E1313}"/>
              </a:ext>
            </a:extLst>
          </p:cNvPr>
          <p:cNvSpPr>
            <a:spLocks xmlns:a="http://schemas.openxmlformats.org/drawingml/2006/main" noGrp="1"/>
          </p:cNvSpPr>
          <p:nvPr/>
        </p:nvSpPr>
        <p:spPr>
          <a:xfrm xmlns:a="http://schemas.openxmlformats.org/drawingml/2006/main">
            <a:off x="548640" y="1371600"/>
            <a:ext cx="82296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i="1">
                <a:solidFill>
                  <a:srgbClr val="5A6B70"/>
                </a:solidFill>
                <a:latin typeface="Calibri"/>
                <a:ea typeface="Calibri"/>
                <a:cs typeface="Calibri"/>
              </a:rPr>
              <a:t>After studying this chapter, students will be able to:</a:t>
            </a:r>
          </a:p>
        </p:txBody>
      </p:sp>
      <p:sp>
        <p:nvSpPr>
          <p:cNvPr id="5" name="Shape 3">
            <a:extLst xmlns:a="http://schemas.openxmlformats.org/drawingml/2006/main">
              <a:ext uri="{FF2B5EF4-FFF2-40B4-BE49-F238E27FC236}">
                <a16:creationId xmlns:a16="http://schemas.microsoft.com/office/drawing/2014/main" id="{76C3715B-0760-4DE0-94BF-8CA794DFEBAA}"/>
              </a:ext>
            </a:extLst>
          </p:cNvPr>
          <p:cNvSpPr>
            <a:spLocks xmlns:a="http://schemas.openxmlformats.org/drawingml/2006/main" noGrp="1"/>
          </p:cNvSpPr>
          <p:nvPr/>
        </p:nvSpPr>
        <p:spPr>
          <a:xfrm xmlns:a="http://schemas.openxmlformats.org/drawingml/2006/main">
            <a:off x="548640" y="1664208"/>
            <a:ext cx="384048" cy="384048"/>
          </a:xfrm>
          <a:prstGeom xmlns:a="http://schemas.openxmlformats.org/drawingml/2006/main" prst="ellipse">
            <a:avLst/>
          </a:prstGeom>
          <a:solidFill xmlns:a="http://schemas.openxmlformats.org/drawingml/2006/main">
            <a:srgbClr val="0F4C5C"/>
          </a:solidFill>
        </p:spPr>
      </p:sp>
      <p:sp>
        <p:nvSpPr>
          <p:cNvPr id="6" name="Text 4">
            <a:extLst xmlns:a="http://schemas.openxmlformats.org/drawingml/2006/main">
              <a:ext uri="{FF2B5EF4-FFF2-40B4-BE49-F238E27FC236}">
                <a16:creationId xmlns:a16="http://schemas.microsoft.com/office/drawing/2014/main" id="{766047B2-7ACD-42BC-A05E-A9CAC28C9BE4}"/>
              </a:ext>
            </a:extLst>
          </p:cNvPr>
          <p:cNvSpPr>
            <a:spLocks xmlns:a="http://schemas.openxmlformats.org/drawingml/2006/main" noGrp="1"/>
          </p:cNvSpPr>
          <p:nvPr/>
        </p:nvSpPr>
        <p:spPr>
          <a:xfrm xmlns:a="http://schemas.openxmlformats.org/drawingml/2006/main">
            <a:off x="548640" y="1664208"/>
            <a:ext cx="384048"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FFFFFF"/>
                </a:solidFill>
                <a:latin typeface="Georgia"/>
                <a:ea typeface="Georgia"/>
                <a:cs typeface="Georgia"/>
              </a:rPr>
              <a:t>1</a:t>
            </a:r>
          </a:p>
        </p:txBody>
      </p:sp>
      <p:sp>
        <p:nvSpPr>
          <p:cNvPr id="7" name="Text 5">
            <a:extLst xmlns:a="http://schemas.openxmlformats.org/drawingml/2006/main">
              <a:ext uri="{FF2B5EF4-FFF2-40B4-BE49-F238E27FC236}">
                <a16:creationId xmlns:a16="http://schemas.microsoft.com/office/drawing/2014/main" id="{A2C86134-ADD0-44C5-A1F0-E58E7C8A6864}"/>
              </a:ext>
            </a:extLst>
          </p:cNvPr>
          <p:cNvSpPr>
            <a:spLocks xmlns:a="http://schemas.openxmlformats.org/drawingml/2006/main" noGrp="1"/>
          </p:cNvSpPr>
          <p:nvPr/>
        </p:nvSpPr>
        <p:spPr>
          <a:xfrm xmlns:a="http://schemas.openxmlformats.org/drawingml/2006/main">
            <a:off x="1115568" y="1645920"/>
            <a:ext cx="5943600" cy="7543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300">
                <a:solidFill>
                  <a:srgbClr val="23363B"/>
                </a:solidFill>
                <a:latin typeface="Calibri"/>
                <a:ea typeface="Calibri"/>
                <a:cs typeface="Calibri"/>
              </a:rPr>
              <a:t>List and describe the functions of bones</a:t>
            </a:r>
          </a:p>
        </p:txBody>
      </p:sp>
      <p:sp>
        <p:nvSpPr>
          <p:cNvPr id="8" name="Shape 6">
            <a:extLst xmlns:a="http://schemas.openxmlformats.org/drawingml/2006/main">
              <a:ext uri="{FF2B5EF4-FFF2-40B4-BE49-F238E27FC236}">
                <a16:creationId xmlns:a16="http://schemas.microsoft.com/office/drawing/2014/main" id="{A04BD49B-092D-469E-A7FE-1E7D6A21F087}"/>
              </a:ext>
            </a:extLst>
          </p:cNvPr>
          <p:cNvSpPr>
            <a:spLocks xmlns:a="http://schemas.openxmlformats.org/drawingml/2006/main" noGrp="1"/>
          </p:cNvSpPr>
          <p:nvPr/>
        </p:nvSpPr>
        <p:spPr>
          <a:xfrm xmlns:a="http://schemas.openxmlformats.org/drawingml/2006/main">
            <a:off x="548640" y="2418588"/>
            <a:ext cx="384048" cy="384048"/>
          </a:xfrm>
          <a:prstGeom xmlns:a="http://schemas.openxmlformats.org/drawingml/2006/main" prst="ellipse">
            <a:avLst/>
          </a:prstGeom>
          <a:solidFill xmlns:a="http://schemas.openxmlformats.org/drawingml/2006/main">
            <a:srgbClr val="0F4C5C"/>
          </a:solidFill>
        </p:spPr>
      </p:sp>
      <p:sp>
        <p:nvSpPr>
          <p:cNvPr id="9" name="Text 7">
            <a:extLst xmlns:a="http://schemas.openxmlformats.org/drawingml/2006/main">
              <a:ext uri="{FF2B5EF4-FFF2-40B4-BE49-F238E27FC236}">
                <a16:creationId xmlns:a16="http://schemas.microsoft.com/office/drawing/2014/main" id="{1318A24A-5EAE-4689-A9F7-67DDEB3E179A}"/>
              </a:ext>
            </a:extLst>
          </p:cNvPr>
          <p:cNvSpPr>
            <a:spLocks xmlns:a="http://schemas.openxmlformats.org/drawingml/2006/main" noGrp="1"/>
          </p:cNvSpPr>
          <p:nvPr/>
        </p:nvSpPr>
        <p:spPr>
          <a:xfrm xmlns:a="http://schemas.openxmlformats.org/drawingml/2006/main">
            <a:off x="548640" y="2418588"/>
            <a:ext cx="384048"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FFFFFF"/>
                </a:solidFill>
                <a:latin typeface="Georgia"/>
                <a:ea typeface="Georgia"/>
                <a:cs typeface="Georgia"/>
              </a:rPr>
              <a:t>2</a:t>
            </a:r>
          </a:p>
        </p:txBody>
      </p:sp>
      <p:sp>
        <p:nvSpPr>
          <p:cNvPr id="10" name="Text 8">
            <a:extLst xmlns:a="http://schemas.openxmlformats.org/drawingml/2006/main">
              <a:ext uri="{FF2B5EF4-FFF2-40B4-BE49-F238E27FC236}">
                <a16:creationId xmlns:a16="http://schemas.microsoft.com/office/drawing/2014/main" id="{D7BD0421-9C23-408E-95B3-9A3E410A515B}"/>
              </a:ext>
            </a:extLst>
          </p:cNvPr>
          <p:cNvSpPr>
            <a:spLocks xmlns:a="http://schemas.openxmlformats.org/drawingml/2006/main" noGrp="1"/>
          </p:cNvSpPr>
          <p:nvPr/>
        </p:nvSpPr>
        <p:spPr>
          <a:xfrm xmlns:a="http://schemas.openxmlformats.org/drawingml/2006/main">
            <a:off x="1115568" y="2400300"/>
            <a:ext cx="5943600" cy="7543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300">
                <a:solidFill>
                  <a:srgbClr val="23363B"/>
                </a:solidFill>
                <a:latin typeface="Calibri"/>
                <a:ea typeface="Calibri"/>
                <a:cs typeface="Calibri"/>
              </a:rPr>
              <a:t>Describe the classes of bones</a:t>
            </a:r>
          </a:p>
        </p:txBody>
      </p:sp>
      <p:sp>
        <p:nvSpPr>
          <p:cNvPr id="11" name="Shape 9">
            <a:extLst xmlns:a="http://schemas.openxmlformats.org/drawingml/2006/main">
              <a:ext uri="{FF2B5EF4-FFF2-40B4-BE49-F238E27FC236}">
                <a16:creationId xmlns:a16="http://schemas.microsoft.com/office/drawing/2014/main" id="{21FFBAD1-7757-4AF0-9F40-FF3354C79CCE}"/>
              </a:ext>
            </a:extLst>
          </p:cNvPr>
          <p:cNvSpPr>
            <a:spLocks xmlns:a="http://schemas.openxmlformats.org/drawingml/2006/main" noGrp="1"/>
          </p:cNvSpPr>
          <p:nvPr/>
        </p:nvSpPr>
        <p:spPr>
          <a:xfrm xmlns:a="http://schemas.openxmlformats.org/drawingml/2006/main">
            <a:off x="548640" y="3172968"/>
            <a:ext cx="384048" cy="384048"/>
          </a:xfrm>
          <a:prstGeom xmlns:a="http://schemas.openxmlformats.org/drawingml/2006/main" prst="ellipse">
            <a:avLst/>
          </a:prstGeom>
          <a:solidFill xmlns:a="http://schemas.openxmlformats.org/drawingml/2006/main">
            <a:srgbClr val="0F4C5C"/>
          </a:solidFill>
        </p:spPr>
      </p:sp>
      <p:sp>
        <p:nvSpPr>
          <p:cNvPr id="12" name="Text 10">
            <a:extLst xmlns:a="http://schemas.openxmlformats.org/drawingml/2006/main">
              <a:ext uri="{FF2B5EF4-FFF2-40B4-BE49-F238E27FC236}">
                <a16:creationId xmlns:a16="http://schemas.microsoft.com/office/drawing/2014/main" id="{C352CE7E-2E07-44D2-B10F-E4CA8F67CE3C}"/>
              </a:ext>
            </a:extLst>
          </p:cNvPr>
          <p:cNvSpPr>
            <a:spLocks xmlns:a="http://schemas.openxmlformats.org/drawingml/2006/main" noGrp="1"/>
          </p:cNvSpPr>
          <p:nvPr/>
        </p:nvSpPr>
        <p:spPr>
          <a:xfrm xmlns:a="http://schemas.openxmlformats.org/drawingml/2006/main">
            <a:off x="548640" y="3172968"/>
            <a:ext cx="384048"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FFFFFF"/>
                </a:solidFill>
                <a:latin typeface="Georgia"/>
                <a:ea typeface="Georgia"/>
                <a:cs typeface="Georgia"/>
              </a:rPr>
              <a:t>3</a:t>
            </a:r>
          </a:p>
        </p:txBody>
      </p:sp>
      <p:sp>
        <p:nvSpPr>
          <p:cNvPr id="13" name="Text 11">
            <a:extLst xmlns:a="http://schemas.openxmlformats.org/drawingml/2006/main">
              <a:ext uri="{FF2B5EF4-FFF2-40B4-BE49-F238E27FC236}">
                <a16:creationId xmlns:a16="http://schemas.microsoft.com/office/drawing/2014/main" id="{F5334F78-F156-49C7-A051-9D854E296CE5}"/>
              </a:ext>
            </a:extLst>
          </p:cNvPr>
          <p:cNvSpPr>
            <a:spLocks xmlns:a="http://schemas.openxmlformats.org/drawingml/2006/main" noGrp="1"/>
          </p:cNvSpPr>
          <p:nvPr/>
        </p:nvSpPr>
        <p:spPr>
          <a:xfrm xmlns:a="http://schemas.openxmlformats.org/drawingml/2006/main">
            <a:off x="1115568" y="3154680"/>
            <a:ext cx="5943600" cy="7543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300">
                <a:solidFill>
                  <a:srgbClr val="23363B"/>
                </a:solidFill>
                <a:latin typeface="Calibri"/>
                <a:ea typeface="Calibri"/>
                <a:cs typeface="Calibri"/>
              </a:rPr>
              <a:t>Discuss the process of bone formation and development</a:t>
            </a:r>
          </a:p>
        </p:txBody>
      </p:sp>
      <p:sp>
        <p:nvSpPr>
          <p:cNvPr id="14" name="Shape 12">
            <a:extLst xmlns:a="http://schemas.openxmlformats.org/drawingml/2006/main">
              <a:ext uri="{FF2B5EF4-FFF2-40B4-BE49-F238E27FC236}">
                <a16:creationId xmlns:a16="http://schemas.microsoft.com/office/drawing/2014/main" id="{9E8A4B0E-659E-4D72-853F-6717703AD3A5}"/>
              </a:ext>
            </a:extLst>
          </p:cNvPr>
          <p:cNvSpPr>
            <a:spLocks xmlns:a="http://schemas.openxmlformats.org/drawingml/2006/main" noGrp="1"/>
          </p:cNvSpPr>
          <p:nvPr/>
        </p:nvSpPr>
        <p:spPr>
          <a:xfrm xmlns:a="http://schemas.openxmlformats.org/drawingml/2006/main">
            <a:off x="548640" y="3927348"/>
            <a:ext cx="384048" cy="384048"/>
          </a:xfrm>
          <a:prstGeom xmlns:a="http://schemas.openxmlformats.org/drawingml/2006/main" prst="ellipse">
            <a:avLst/>
          </a:prstGeom>
          <a:solidFill xmlns:a="http://schemas.openxmlformats.org/drawingml/2006/main">
            <a:srgbClr val="0F4C5C"/>
          </a:solidFill>
        </p:spPr>
      </p:sp>
      <p:sp>
        <p:nvSpPr>
          <p:cNvPr id="15" name="Text 13">
            <a:extLst xmlns:a="http://schemas.openxmlformats.org/drawingml/2006/main">
              <a:ext uri="{FF2B5EF4-FFF2-40B4-BE49-F238E27FC236}">
                <a16:creationId xmlns:a16="http://schemas.microsoft.com/office/drawing/2014/main" id="{5C0BEF66-D7C4-4831-B766-6576C3368747}"/>
              </a:ext>
            </a:extLst>
          </p:cNvPr>
          <p:cNvSpPr>
            <a:spLocks xmlns:a="http://schemas.openxmlformats.org/drawingml/2006/main" noGrp="1"/>
          </p:cNvSpPr>
          <p:nvPr/>
        </p:nvSpPr>
        <p:spPr>
          <a:xfrm xmlns:a="http://schemas.openxmlformats.org/drawingml/2006/main">
            <a:off x="548640" y="3927348"/>
            <a:ext cx="384048"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FFFFFF"/>
                </a:solidFill>
                <a:latin typeface="Georgia"/>
                <a:ea typeface="Georgia"/>
                <a:cs typeface="Georgia"/>
              </a:rPr>
              <a:t>4</a:t>
            </a:r>
          </a:p>
        </p:txBody>
      </p:sp>
      <p:sp>
        <p:nvSpPr>
          <p:cNvPr id="16" name="Text 14">
            <a:extLst xmlns:a="http://schemas.openxmlformats.org/drawingml/2006/main">
              <a:ext uri="{FF2B5EF4-FFF2-40B4-BE49-F238E27FC236}">
                <a16:creationId xmlns:a16="http://schemas.microsoft.com/office/drawing/2014/main" id="{BA2CDE63-A4F4-4081-B295-3EF72AB54A6C}"/>
              </a:ext>
            </a:extLst>
          </p:cNvPr>
          <p:cNvSpPr>
            <a:spLocks xmlns:a="http://schemas.openxmlformats.org/drawingml/2006/main" noGrp="1"/>
          </p:cNvSpPr>
          <p:nvPr/>
        </p:nvSpPr>
        <p:spPr>
          <a:xfrm xmlns:a="http://schemas.openxmlformats.org/drawingml/2006/main">
            <a:off x="1115568" y="3909060"/>
            <a:ext cx="5943600" cy="7543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300">
                <a:solidFill>
                  <a:srgbClr val="23363B"/>
                </a:solidFill>
                <a:latin typeface="Calibri"/>
                <a:ea typeface="Calibri"/>
                <a:cs typeface="Calibri"/>
              </a:rPr>
              <a:t>Explain how bone repairs itself after a fracture</a:t>
            </a:r>
          </a:p>
        </p:txBody>
      </p:sp>
      <p:sp>
        <p:nvSpPr>
          <p:cNvPr id="17" name="Shape 15">
            <a:extLst xmlns:a="http://schemas.openxmlformats.org/drawingml/2006/main">
              <a:ext uri="{FF2B5EF4-FFF2-40B4-BE49-F238E27FC236}">
                <a16:creationId xmlns:a16="http://schemas.microsoft.com/office/drawing/2014/main" id="{A696FC96-8E75-482A-9D18-6A6608CF6D24}"/>
              </a:ext>
            </a:extLst>
          </p:cNvPr>
          <p:cNvSpPr>
            <a:spLocks xmlns:a="http://schemas.openxmlformats.org/drawingml/2006/main" noGrp="1"/>
          </p:cNvSpPr>
          <p:nvPr/>
        </p:nvSpPr>
        <p:spPr>
          <a:xfrm xmlns:a="http://schemas.openxmlformats.org/drawingml/2006/main">
            <a:off x="548640" y="4681728"/>
            <a:ext cx="384048" cy="384048"/>
          </a:xfrm>
          <a:prstGeom xmlns:a="http://schemas.openxmlformats.org/drawingml/2006/main" prst="ellipse">
            <a:avLst/>
          </a:prstGeom>
          <a:solidFill xmlns:a="http://schemas.openxmlformats.org/drawingml/2006/main">
            <a:srgbClr val="0F4C5C"/>
          </a:solidFill>
        </p:spPr>
      </p:sp>
      <p:sp>
        <p:nvSpPr>
          <p:cNvPr id="18" name="Text 16">
            <a:extLst xmlns:a="http://schemas.openxmlformats.org/drawingml/2006/main">
              <a:ext uri="{FF2B5EF4-FFF2-40B4-BE49-F238E27FC236}">
                <a16:creationId xmlns:a16="http://schemas.microsoft.com/office/drawing/2014/main" id="{16122CD3-0785-44D8-8BF7-F0786DCB26F7}"/>
              </a:ext>
            </a:extLst>
          </p:cNvPr>
          <p:cNvSpPr>
            <a:spLocks xmlns:a="http://schemas.openxmlformats.org/drawingml/2006/main" noGrp="1"/>
          </p:cNvSpPr>
          <p:nvPr/>
        </p:nvSpPr>
        <p:spPr>
          <a:xfrm xmlns:a="http://schemas.openxmlformats.org/drawingml/2006/main">
            <a:off x="548640" y="4681728"/>
            <a:ext cx="384048"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FFFFFF"/>
                </a:solidFill>
                <a:latin typeface="Georgia"/>
                <a:ea typeface="Georgia"/>
                <a:cs typeface="Georgia"/>
              </a:rPr>
              <a:t>5</a:t>
            </a:r>
          </a:p>
        </p:txBody>
      </p:sp>
      <p:sp>
        <p:nvSpPr>
          <p:cNvPr id="19" name="Text 17">
            <a:extLst xmlns:a="http://schemas.openxmlformats.org/drawingml/2006/main">
              <a:ext uri="{FF2B5EF4-FFF2-40B4-BE49-F238E27FC236}">
                <a16:creationId xmlns:a16="http://schemas.microsoft.com/office/drawing/2014/main" id="{DE84622E-9310-4D92-99A8-9DD8F0722E3F}"/>
              </a:ext>
            </a:extLst>
          </p:cNvPr>
          <p:cNvSpPr>
            <a:spLocks xmlns:a="http://schemas.openxmlformats.org/drawingml/2006/main" noGrp="1"/>
          </p:cNvSpPr>
          <p:nvPr/>
        </p:nvSpPr>
        <p:spPr>
          <a:xfrm xmlns:a="http://schemas.openxmlformats.org/drawingml/2006/main">
            <a:off x="1115568" y="4663440"/>
            <a:ext cx="5943600" cy="7543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300">
                <a:solidFill>
                  <a:srgbClr val="23363B"/>
                </a:solidFill>
                <a:latin typeface="Calibri"/>
                <a:ea typeface="Calibri"/>
                <a:cs typeface="Calibri"/>
              </a:rPr>
              <a:t>Discuss the effect of exercise, nutrition, and hormones on bone tissue</a:t>
            </a:r>
          </a:p>
        </p:txBody>
      </p:sp>
      <p:sp>
        <p:nvSpPr>
          <p:cNvPr id="20" name="Shape 18">
            <a:extLst xmlns:a="http://schemas.openxmlformats.org/drawingml/2006/main">
              <a:ext uri="{FF2B5EF4-FFF2-40B4-BE49-F238E27FC236}">
                <a16:creationId xmlns:a16="http://schemas.microsoft.com/office/drawing/2014/main" id="{DD0C0478-7EB8-47CD-B0CB-58AB85997FB7}"/>
              </a:ext>
            </a:extLst>
          </p:cNvPr>
          <p:cNvSpPr>
            <a:spLocks xmlns:a="http://schemas.openxmlformats.org/drawingml/2006/main" noGrp="1"/>
          </p:cNvSpPr>
          <p:nvPr/>
        </p:nvSpPr>
        <p:spPr>
          <a:xfrm xmlns:a="http://schemas.openxmlformats.org/drawingml/2006/main">
            <a:off x="548640" y="5436108"/>
            <a:ext cx="384048" cy="384048"/>
          </a:xfrm>
          <a:prstGeom xmlns:a="http://schemas.openxmlformats.org/drawingml/2006/main" prst="ellipse">
            <a:avLst/>
          </a:prstGeom>
          <a:solidFill xmlns:a="http://schemas.openxmlformats.org/drawingml/2006/main">
            <a:srgbClr val="0F4C5C"/>
          </a:solidFill>
        </p:spPr>
      </p:sp>
      <p:sp>
        <p:nvSpPr>
          <p:cNvPr id="21" name="Text 19">
            <a:extLst xmlns:a="http://schemas.openxmlformats.org/drawingml/2006/main">
              <a:ext uri="{FF2B5EF4-FFF2-40B4-BE49-F238E27FC236}">
                <a16:creationId xmlns:a16="http://schemas.microsoft.com/office/drawing/2014/main" id="{6A44A836-A7B4-430D-8498-27D50DAC2DC2}"/>
              </a:ext>
            </a:extLst>
          </p:cNvPr>
          <p:cNvSpPr>
            <a:spLocks xmlns:a="http://schemas.openxmlformats.org/drawingml/2006/main" noGrp="1"/>
          </p:cNvSpPr>
          <p:nvPr/>
        </p:nvSpPr>
        <p:spPr>
          <a:xfrm xmlns:a="http://schemas.openxmlformats.org/drawingml/2006/main">
            <a:off x="548640" y="5436108"/>
            <a:ext cx="384048"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FFFFFF"/>
                </a:solidFill>
                <a:latin typeface="Georgia"/>
                <a:ea typeface="Georgia"/>
                <a:cs typeface="Georgia"/>
              </a:rPr>
              <a:t>6</a:t>
            </a:r>
          </a:p>
        </p:txBody>
      </p:sp>
      <p:sp>
        <p:nvSpPr>
          <p:cNvPr id="22" name="Text 20">
            <a:extLst xmlns:a="http://schemas.openxmlformats.org/drawingml/2006/main">
              <a:ext uri="{FF2B5EF4-FFF2-40B4-BE49-F238E27FC236}">
                <a16:creationId xmlns:a16="http://schemas.microsoft.com/office/drawing/2014/main" id="{D251539F-E84F-45EA-A39C-95B6242E9B76}"/>
              </a:ext>
            </a:extLst>
          </p:cNvPr>
          <p:cNvSpPr>
            <a:spLocks xmlns:a="http://schemas.openxmlformats.org/drawingml/2006/main" noGrp="1"/>
          </p:cNvSpPr>
          <p:nvPr/>
        </p:nvSpPr>
        <p:spPr>
          <a:xfrm xmlns:a="http://schemas.openxmlformats.org/drawingml/2006/main">
            <a:off x="1115568" y="5417820"/>
            <a:ext cx="5943600" cy="7543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300">
                <a:solidFill>
                  <a:srgbClr val="23363B"/>
                </a:solidFill>
                <a:latin typeface="Calibri"/>
                <a:ea typeface="Calibri"/>
                <a:cs typeface="Calibri"/>
              </a:rPr>
              <a:t>Describe how an imbalance of calcium can affect bone tissue Bones make good fossils</a:t>
            </a:r>
          </a:p>
        </p:txBody>
      </p:sp>
      <p:sp>
        <p:nvSpPr>
          <p:cNvPr id="23" name="Shape 21">
            <a:extLst xmlns:a="http://schemas.openxmlformats.org/drawingml/2006/main">
              <a:ext uri="{FF2B5EF4-FFF2-40B4-BE49-F238E27FC236}">
                <a16:creationId xmlns:a16="http://schemas.microsoft.com/office/drawing/2014/main" id="{2B3E49E0-81A6-449B-A2E9-35A4A940A55B}"/>
              </a:ext>
            </a:extLst>
          </p:cNvPr>
          <p:cNvSpPr>
            <a:spLocks xmlns:a="http://schemas.openxmlformats.org/drawingml/2006/main" noGrp="1"/>
          </p:cNvSpPr>
          <p:nvPr/>
        </p:nvSpPr>
        <p:spPr>
          <a:xfrm xmlns:a="http://schemas.openxmlformats.org/drawingml/2006/main">
            <a:off x="8273016" y="1545336"/>
            <a:ext cx="2656369" cy="4370832"/>
          </a:xfrm>
          <a:prstGeom xmlns:a="http://schemas.openxmlformats.org/drawingml/2006/main" prst="roundRect">
            <a:avLst>
              <a:gd name="adj" fmla="val 2065"/>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52" name="Image 0"/>
          <p:cNvPicPr>
            <a:picLocks xmlns:a="http://schemas.openxmlformats.org/drawingml/2006/main" noChangeAspect="1"/>
          </p:cNvPicPr>
          <p:nvPr/>
        </p:nvPicPr>
        <p:blipFill>
          <a:blip xmlns:r="http://schemas.openxmlformats.org/officeDocument/2006/relationships" xmlns:a="http://schemas.openxmlformats.org/drawingml/2006/main" r:embed="R30afac0412d24fe5"/>
          <a:stretch xmlns:a="http://schemas.openxmlformats.org/drawingml/2006/main">
            <a:fillRect l="0" t="0" r="0" b="0"/>
          </a:stretch>
        </p:blipFill>
        <p:spPr>
          <a:xfrm xmlns:a="http://schemas.openxmlformats.org/drawingml/2006/main">
            <a:off x="8355312" y="1627632"/>
            <a:ext cx="2491777" cy="4206240"/>
          </a:xfrm>
          <a:prstGeom xmlns:a="http://schemas.openxmlformats.org/drawingml/2006/main" prst="rect">
            <a:avLst/>
          </a:prstGeom>
        </p:spPr>
      </p:pic>
      <p:sp>
        <p:nvSpPr>
          <p:cNvPr id="25" name="Text 22">
            <a:extLst xmlns:a="http://schemas.openxmlformats.org/drawingml/2006/main">
              <a:ext uri="{FF2B5EF4-FFF2-40B4-BE49-F238E27FC236}">
                <a16:creationId xmlns:a16="http://schemas.microsoft.com/office/drawing/2014/main" id="{495E8E94-3099-4EBD-BBCE-CD50868C3E62}"/>
              </a:ext>
            </a:extLst>
          </p:cNvPr>
          <p:cNvSpPr>
            <a:spLocks xmlns:a="http://schemas.openxmlformats.org/drawingml/2006/main" noGrp="1"/>
          </p:cNvSpPr>
          <p:nvPr/>
        </p:nvSpPr>
        <p:spPr>
          <a:xfrm xmlns:a="http://schemas.openxmlformats.org/drawingml/2006/main">
            <a:off x="7498080" y="5943600"/>
            <a:ext cx="42062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The anatomy of a long bone.</a:t>
            </a:r>
          </a:p>
        </p:txBody>
      </p:sp>
      <p:sp>
        <p:nvSpPr>
          <p:cNvPr id="27" name="Text 23">
            <a:extLst xmlns:a="http://schemas.openxmlformats.org/drawingml/2006/main">
              <a:ext uri="{FF2B5EF4-FFF2-40B4-BE49-F238E27FC236}">
                <a16:creationId xmlns:a16="http://schemas.microsoft.com/office/drawing/2014/main" id="{9B28EF4D-3DE2-4EAA-BC0D-77DC1EA129BA}"/>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6 — Bone Tissue and the Skeletal System</a:t>
            </a:r>
          </a:p>
        </p:txBody>
      </p:sp>
      <p:sp>
        <p:nvSpPr>
          <p:cNvPr id="28" name="Text 24">
            <a:extLst xmlns:a="http://schemas.openxmlformats.org/drawingml/2006/main">
              <a:ext uri="{FF2B5EF4-FFF2-40B4-BE49-F238E27FC236}">
                <a16:creationId xmlns:a16="http://schemas.microsoft.com/office/drawing/2014/main" id="{91A013DA-A9B7-4A77-81B8-F3DDB650792E}"/>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2</a:t>
            </a:r>
          </a:p>
        </p:txBody>
      </p:sp>
    </p:spTree>
    <p:extLst>
      <p:ext uri="{BB962C8B-B14F-4D97-AF65-F5344CB8AC3E}">
        <p14:creationId xmlns:p14="http://schemas.microsoft.com/office/powerpoint/2010/main" val="708904998"/>
      </p:ext>
    </p:extLst>
  </p:cSld>
</p:sld>
</file>

<file path=ppt/slides/slide3.xml><?xml version="1.0" encoding="utf-8"?>
<p:sld xmlns:p="http://schemas.openxmlformats.org/presentationml/2006/main">
  <p:cSld>
    <p:bg>
      <p:bgPr>
        <a:solidFill xmlns:a="http://schemas.openxmlformats.org/drawingml/2006/main">
          <a:srgbClr val="0F4C5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7CB169F8-52FB-477C-AB64-EF7B3BDC5E64}"/>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ellipse">
            <a:avLst/>
          </a:prstGeom>
          <a:solidFill xmlns:a="http://schemas.openxmlformats.org/drawingml/2006/main">
            <a:srgbClr val="E36414"/>
          </a:solidFill>
        </p:spPr>
      </p:sp>
      <p:sp>
        <p:nvSpPr>
          <p:cNvPr id="3" name="Text 1">
            <a:extLst xmlns:a="http://schemas.openxmlformats.org/drawingml/2006/main">
              <a:ext uri="{FF2B5EF4-FFF2-40B4-BE49-F238E27FC236}">
                <a16:creationId xmlns:a16="http://schemas.microsoft.com/office/drawing/2014/main" id="{5FD62311-E506-4DA9-B060-8F61192FE366}"/>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4800" b="1">
                <a:solidFill>
                  <a:srgbClr val="FFFFFF"/>
                </a:solidFill>
                <a:latin typeface="Georgia"/>
                <a:ea typeface="Georgia"/>
                <a:cs typeface="Georgia"/>
              </a:rPr>
              <a:t>6.2</a:t>
            </a:r>
          </a:p>
        </p:txBody>
      </p:sp>
      <p:sp>
        <p:nvSpPr>
          <p:cNvPr id="4" name="Text 2">
            <a:extLst xmlns:a="http://schemas.openxmlformats.org/drawingml/2006/main">
              <a:ext uri="{FF2B5EF4-FFF2-40B4-BE49-F238E27FC236}">
                <a16:creationId xmlns:a16="http://schemas.microsoft.com/office/drawing/2014/main" id="{21270D18-18B6-4A77-8ADA-FCB9F14B1438}"/>
              </a:ext>
            </a:extLst>
          </p:cNvPr>
          <p:cNvSpPr>
            <a:spLocks xmlns:a="http://schemas.openxmlformats.org/drawingml/2006/main" noGrp="1"/>
          </p:cNvSpPr>
          <p:nvPr/>
        </p:nvSpPr>
        <p:spPr>
          <a:xfrm xmlns:a="http://schemas.openxmlformats.org/drawingml/2006/main">
            <a:off x="3200400" y="2468880"/>
            <a:ext cx="7315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9FC2C9"/>
                </a:solidFill>
                <a:latin typeface="Calibri"/>
                <a:ea typeface="Calibri"/>
                <a:cs typeface="Calibri"/>
              </a:rPr>
              <a:t>SECTION</a:t>
            </a:r>
          </a:p>
        </p:txBody>
      </p:sp>
      <p:sp>
        <p:nvSpPr>
          <p:cNvPr id="5" name="Text 3">
            <a:extLst xmlns:a="http://schemas.openxmlformats.org/drawingml/2006/main">
              <a:ext uri="{FF2B5EF4-FFF2-40B4-BE49-F238E27FC236}">
                <a16:creationId xmlns:a16="http://schemas.microsoft.com/office/drawing/2014/main" id="{20201760-5C05-442A-9CA3-676A7D23ABCF}"/>
              </a:ext>
            </a:extLst>
          </p:cNvPr>
          <p:cNvSpPr>
            <a:spLocks xmlns:a="http://schemas.openxmlformats.org/drawingml/2006/main" noGrp="1"/>
          </p:cNvSpPr>
          <p:nvPr/>
        </p:nvSpPr>
        <p:spPr>
          <a:xfrm xmlns:a="http://schemas.openxmlformats.org/drawingml/2006/main">
            <a:off x="3154680" y="2788920"/>
            <a:ext cx="8412480" cy="14630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3000" b="1">
                <a:solidFill>
                  <a:srgbClr val="FFFFFF"/>
                </a:solidFill>
                <a:latin typeface="Georgia"/>
                <a:ea typeface="Georgia"/>
                <a:cs typeface="Georgia"/>
              </a:rPr>
              <a:t>Bone Classification</a:t>
            </a:r>
          </a:p>
        </p:txBody>
      </p:sp>
      <p:sp>
        <p:nvSpPr>
          <p:cNvPr id="6" name="Text 4">
            <a:extLst xmlns:a="http://schemas.openxmlformats.org/drawingml/2006/main">
              <a:ext uri="{FF2B5EF4-FFF2-40B4-BE49-F238E27FC236}">
                <a16:creationId xmlns:a16="http://schemas.microsoft.com/office/drawing/2014/main" id="{FEA18871-D826-49DC-848E-CE1481D5130F}"/>
              </a:ext>
            </a:extLst>
          </p:cNvPr>
          <p:cNvSpPr>
            <a:spLocks xmlns:a="http://schemas.openxmlformats.org/drawingml/2006/main" noGrp="1"/>
          </p:cNvSpPr>
          <p:nvPr/>
        </p:nvSpPr>
        <p:spPr>
          <a:xfrm xmlns:a="http://schemas.openxmlformats.org/drawingml/2006/main">
            <a:off x="3200400" y="4160520"/>
            <a:ext cx="813816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0000"/>
              </a:lnSpc>
              <a:buNone/>
            </a:pPr>
            <a:r>
              <a:rPr sz="1500">
                <a:solidFill>
                  <a:srgbClr val="CFE3E7"/>
                </a:solidFill>
                <a:latin typeface="Calibri"/>
                <a:ea typeface="Calibri"/>
                <a:cs typeface="Calibri"/>
              </a:rPr>
              <a:t>The five shapes of bones and how shape relates to function.</a:t>
            </a:r>
          </a:p>
        </p:txBody>
      </p:sp>
    </p:spTree>
    <p:extLst>
      <p:ext uri="{BB962C8B-B14F-4D97-AF65-F5344CB8AC3E}">
        <p14:creationId xmlns:p14="http://schemas.microsoft.com/office/powerpoint/2010/main" val="137098935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BEBF958-0D92-40AD-8155-8F99839D1DEB}"/>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6.2</a:t>
            </a:r>
          </a:p>
        </p:txBody>
      </p:sp>
      <p:sp>
        <p:nvSpPr>
          <p:cNvPr id="3" name="Text 1">
            <a:extLst xmlns:a="http://schemas.openxmlformats.org/drawingml/2006/main">
              <a:ext uri="{FF2B5EF4-FFF2-40B4-BE49-F238E27FC236}">
                <a16:creationId xmlns:a16="http://schemas.microsoft.com/office/drawing/2014/main" id="{53EDFF26-B0C5-4C1C-BA0A-EF70D2964C39}"/>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Classification of Bones</a:t>
            </a:r>
          </a:p>
        </p:txBody>
      </p:sp>
      <p:sp>
        <p:nvSpPr>
          <p:cNvPr id="4" name="Shape 2">
            <a:extLst xmlns:a="http://schemas.openxmlformats.org/drawingml/2006/main">
              <a:ext uri="{FF2B5EF4-FFF2-40B4-BE49-F238E27FC236}">
                <a16:creationId xmlns:a16="http://schemas.microsoft.com/office/drawing/2014/main" id="{98D77990-4510-4EE0-8721-B41D5BEDFA9C}"/>
              </a:ext>
            </a:extLst>
          </p:cNvPr>
          <p:cNvSpPr>
            <a:spLocks xmlns:a="http://schemas.openxmlformats.org/drawingml/2006/main" noGrp="1"/>
          </p:cNvSpPr>
          <p:nvPr/>
        </p:nvSpPr>
        <p:spPr>
          <a:xfrm xmlns:a="http://schemas.openxmlformats.org/drawingml/2006/main">
            <a:off x="597332" y="1289304"/>
            <a:ext cx="4108856" cy="4736592"/>
          </a:xfrm>
          <a:prstGeom xmlns:a="http://schemas.openxmlformats.org/drawingml/2006/main" prst="roundRect">
            <a:avLst>
              <a:gd name="adj" fmla="val 1335"/>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5" name="Image 0"/>
          <p:cNvPicPr>
            <a:picLocks xmlns:a="http://schemas.openxmlformats.org/drawingml/2006/main" noChangeAspect="1"/>
          </p:cNvPicPr>
          <p:nvPr/>
        </p:nvPicPr>
        <p:blipFill>
          <a:blip xmlns:r="http://schemas.openxmlformats.org/officeDocument/2006/relationships" xmlns:a="http://schemas.openxmlformats.org/drawingml/2006/main" r:embed="R645641bdd0b94d20"/>
          <a:stretch xmlns:a="http://schemas.openxmlformats.org/drawingml/2006/main">
            <a:fillRect l="0" t="0" r="0" b="0"/>
          </a:stretch>
        </p:blipFill>
        <p:spPr>
          <a:xfrm xmlns:a="http://schemas.openxmlformats.org/drawingml/2006/main">
            <a:off x="679628" y="1371600"/>
            <a:ext cx="3944264" cy="457200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9214E9C8-662D-4396-B27F-75E932EF5769}"/>
              </a:ext>
            </a:extLst>
          </p:cNvPr>
          <p:cNvSpPr>
            <a:spLocks xmlns:a="http://schemas.openxmlformats.org/drawingml/2006/main" noGrp="1"/>
          </p:cNvSpPr>
          <p:nvPr/>
        </p:nvSpPr>
        <p:spPr>
          <a:xfrm xmlns:a="http://schemas.openxmlformats.org/drawingml/2006/main">
            <a:off x="502920" y="5989320"/>
            <a:ext cx="42976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The classification of bones by shape</a:t>
            </a:r>
          </a:p>
        </p:txBody>
      </p:sp>
      <p:sp>
        <p:nvSpPr>
          <p:cNvPr id="7" name="Text 4">
            <a:extLst xmlns:a="http://schemas.openxmlformats.org/drawingml/2006/main">
              <a:ext uri="{FF2B5EF4-FFF2-40B4-BE49-F238E27FC236}">
                <a16:creationId xmlns:a16="http://schemas.microsoft.com/office/drawing/2014/main" id="{C2895EA4-808C-4A22-A4E3-8A3AD98467BB}"/>
              </a:ext>
            </a:extLst>
          </p:cNvPr>
          <p:cNvSpPr>
            <a:spLocks xmlns:a="http://schemas.openxmlformats.org/drawingml/2006/main" noGrp="1"/>
          </p:cNvSpPr>
          <p:nvPr/>
        </p:nvSpPr>
        <p:spPr>
          <a:xfrm xmlns:a="http://schemas.openxmlformats.org/drawingml/2006/main">
            <a:off x="5074920" y="1828800"/>
            <a:ext cx="6583680" cy="40233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Long bones (limbs) act as levers</a:t>
            </a:r>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Short bones (wrist, ankle) add stability</a:t>
            </a:r>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Flat bones (skull, ribs) protect</a:t>
            </a:r>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Irregular and sesamoid bones</a:t>
            </a:r>
          </a:p>
        </p:txBody>
      </p:sp>
      <p:sp>
        <p:nvSpPr>
          <p:cNvPr id="9" name="Text 5">
            <a:extLst xmlns:a="http://schemas.openxmlformats.org/drawingml/2006/main">
              <a:ext uri="{FF2B5EF4-FFF2-40B4-BE49-F238E27FC236}">
                <a16:creationId xmlns:a16="http://schemas.microsoft.com/office/drawing/2014/main" id="{DA2D6B4F-C464-4E0A-BEC0-117BC408CE98}"/>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6 — Bone Tissue and the Skeletal System</a:t>
            </a:r>
          </a:p>
        </p:txBody>
      </p:sp>
      <p:sp>
        <p:nvSpPr>
          <p:cNvPr id="10" name="Text 6">
            <a:extLst xmlns:a="http://schemas.openxmlformats.org/drawingml/2006/main">
              <a:ext uri="{FF2B5EF4-FFF2-40B4-BE49-F238E27FC236}">
                <a16:creationId xmlns:a16="http://schemas.microsoft.com/office/drawing/2014/main" id="{A23B1C21-2762-4D0F-83F0-530ABAB14E01}"/>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4</a:t>
            </a:r>
          </a:p>
        </p:txBody>
      </p:sp>
    </p:spTree>
    <p:extLst>
      <p:ext uri="{BB962C8B-B14F-4D97-AF65-F5344CB8AC3E}">
        <p14:creationId xmlns:p14="http://schemas.microsoft.com/office/powerpoint/2010/main" val="1603939656"/>
      </p:ext>
    </p:extLst>
  </p:cSld>
</p:sld>
</file>

<file path=ppt/slides/slide5.xml><?xml version="1.0" encoding="utf-8"?>
<p:sld xmlns:p="http://schemas.openxmlformats.org/presentationml/2006/main">
  <p:cSld>
    <p:bg>
      <p:bgPr>
        <a:solidFill xmlns:a="http://schemas.openxmlformats.org/drawingml/2006/main">
          <a:srgbClr val="0F4C5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2988556B-B1E6-4903-A154-704683F32CCF}"/>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ellipse">
            <a:avLst/>
          </a:prstGeom>
          <a:solidFill xmlns:a="http://schemas.openxmlformats.org/drawingml/2006/main">
            <a:srgbClr val="E36414"/>
          </a:solidFill>
        </p:spPr>
      </p:sp>
      <p:sp>
        <p:nvSpPr>
          <p:cNvPr id="3" name="Text 1">
            <a:extLst xmlns:a="http://schemas.openxmlformats.org/drawingml/2006/main">
              <a:ext uri="{FF2B5EF4-FFF2-40B4-BE49-F238E27FC236}">
                <a16:creationId xmlns:a16="http://schemas.microsoft.com/office/drawing/2014/main" id="{9AC82021-9F58-43A6-9891-36840222C658}"/>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4800" b="1">
                <a:solidFill>
                  <a:srgbClr val="FFFFFF"/>
                </a:solidFill>
                <a:latin typeface="Georgia"/>
                <a:ea typeface="Georgia"/>
                <a:cs typeface="Georgia"/>
              </a:rPr>
              <a:t>6.3</a:t>
            </a:r>
          </a:p>
        </p:txBody>
      </p:sp>
      <p:sp>
        <p:nvSpPr>
          <p:cNvPr id="4" name="Text 2">
            <a:extLst xmlns:a="http://schemas.openxmlformats.org/drawingml/2006/main">
              <a:ext uri="{FF2B5EF4-FFF2-40B4-BE49-F238E27FC236}">
                <a16:creationId xmlns:a16="http://schemas.microsoft.com/office/drawing/2014/main" id="{FB4C7CB1-F076-4C7A-B6CB-61F8CD0EF366}"/>
              </a:ext>
            </a:extLst>
          </p:cNvPr>
          <p:cNvSpPr>
            <a:spLocks xmlns:a="http://schemas.openxmlformats.org/drawingml/2006/main" noGrp="1"/>
          </p:cNvSpPr>
          <p:nvPr/>
        </p:nvSpPr>
        <p:spPr>
          <a:xfrm xmlns:a="http://schemas.openxmlformats.org/drawingml/2006/main">
            <a:off x="3200400" y="2468880"/>
            <a:ext cx="7315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9FC2C9"/>
                </a:solidFill>
                <a:latin typeface="Calibri"/>
                <a:ea typeface="Calibri"/>
                <a:cs typeface="Calibri"/>
              </a:rPr>
              <a:t>SECTION</a:t>
            </a:r>
          </a:p>
        </p:txBody>
      </p:sp>
      <p:sp>
        <p:nvSpPr>
          <p:cNvPr id="5" name="Text 3">
            <a:extLst xmlns:a="http://schemas.openxmlformats.org/drawingml/2006/main">
              <a:ext uri="{FF2B5EF4-FFF2-40B4-BE49-F238E27FC236}">
                <a16:creationId xmlns:a16="http://schemas.microsoft.com/office/drawing/2014/main" id="{94A58864-A634-4102-AA23-4CEB2FE33935}"/>
              </a:ext>
            </a:extLst>
          </p:cNvPr>
          <p:cNvSpPr>
            <a:spLocks xmlns:a="http://schemas.openxmlformats.org/drawingml/2006/main" noGrp="1"/>
          </p:cNvSpPr>
          <p:nvPr/>
        </p:nvSpPr>
        <p:spPr>
          <a:xfrm xmlns:a="http://schemas.openxmlformats.org/drawingml/2006/main">
            <a:off x="3154680" y="2788920"/>
            <a:ext cx="8412480" cy="14630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3000" b="1">
                <a:solidFill>
                  <a:srgbClr val="FFFFFF"/>
                </a:solidFill>
                <a:latin typeface="Georgia"/>
                <a:ea typeface="Georgia"/>
                <a:cs typeface="Georgia"/>
              </a:rPr>
              <a:t>Bone Structure</a:t>
            </a:r>
          </a:p>
        </p:txBody>
      </p:sp>
      <p:sp>
        <p:nvSpPr>
          <p:cNvPr id="6" name="Text 4">
            <a:extLst xmlns:a="http://schemas.openxmlformats.org/drawingml/2006/main">
              <a:ext uri="{FF2B5EF4-FFF2-40B4-BE49-F238E27FC236}">
                <a16:creationId xmlns:a16="http://schemas.microsoft.com/office/drawing/2014/main" id="{351A9A83-C8C6-4B58-A659-807C2DF3BF05}"/>
              </a:ext>
            </a:extLst>
          </p:cNvPr>
          <p:cNvSpPr>
            <a:spLocks xmlns:a="http://schemas.openxmlformats.org/drawingml/2006/main" noGrp="1"/>
          </p:cNvSpPr>
          <p:nvPr/>
        </p:nvSpPr>
        <p:spPr>
          <a:xfrm xmlns:a="http://schemas.openxmlformats.org/drawingml/2006/main">
            <a:off x="3200400" y="4160520"/>
            <a:ext cx="813816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0000"/>
              </a:lnSpc>
              <a:buNone/>
            </a:pPr>
            <a:r>
              <a:rPr sz="1500">
                <a:solidFill>
                  <a:srgbClr val="CFE3E7"/>
                </a:solidFill>
                <a:latin typeface="Calibri"/>
                <a:ea typeface="Calibri"/>
                <a:cs typeface="Calibri"/>
              </a:rPr>
              <a:t>The gross and microscopic structure of bone tissue.</a:t>
            </a:r>
          </a:p>
        </p:txBody>
      </p:sp>
    </p:spTree>
    <p:extLst>
      <p:ext uri="{BB962C8B-B14F-4D97-AF65-F5344CB8AC3E}">
        <p14:creationId xmlns:p14="http://schemas.microsoft.com/office/powerpoint/2010/main" val="203575627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30CA576-6545-40C5-B042-C40D7A3B6019}"/>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6.3</a:t>
            </a:r>
          </a:p>
        </p:txBody>
      </p:sp>
      <p:sp>
        <p:nvSpPr>
          <p:cNvPr id="3" name="Text 1">
            <a:extLst xmlns:a="http://schemas.openxmlformats.org/drawingml/2006/main">
              <a:ext uri="{FF2B5EF4-FFF2-40B4-BE49-F238E27FC236}">
                <a16:creationId xmlns:a16="http://schemas.microsoft.com/office/drawing/2014/main" id="{C038D028-EAF2-4CC6-9FAB-FF1F42B484D0}"/>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Anatomy of a Long Bone</a:t>
            </a:r>
          </a:p>
        </p:txBody>
      </p:sp>
      <p:sp>
        <p:nvSpPr>
          <p:cNvPr id="4" name="Shape 2">
            <a:extLst xmlns:a="http://schemas.openxmlformats.org/drawingml/2006/main">
              <a:ext uri="{FF2B5EF4-FFF2-40B4-BE49-F238E27FC236}">
                <a16:creationId xmlns:a16="http://schemas.microsoft.com/office/drawing/2014/main" id="{2F8083C9-22B8-44A4-99D9-072C0BB70305}"/>
              </a:ext>
            </a:extLst>
          </p:cNvPr>
          <p:cNvSpPr>
            <a:spLocks xmlns:a="http://schemas.openxmlformats.org/drawingml/2006/main" noGrp="1"/>
          </p:cNvSpPr>
          <p:nvPr/>
        </p:nvSpPr>
        <p:spPr>
          <a:xfrm xmlns:a="http://schemas.openxmlformats.org/drawingml/2006/main">
            <a:off x="1215238" y="1289304"/>
            <a:ext cx="2873045" cy="4736592"/>
          </a:xfrm>
          <a:prstGeom xmlns:a="http://schemas.openxmlformats.org/drawingml/2006/main" prst="roundRect">
            <a:avLst>
              <a:gd name="adj" fmla="val 1910"/>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5" name="Image 0"/>
          <p:cNvPicPr>
            <a:picLocks xmlns:a="http://schemas.openxmlformats.org/drawingml/2006/main" noChangeAspect="1"/>
          </p:cNvPicPr>
          <p:nvPr/>
        </p:nvPicPr>
        <p:blipFill>
          <a:blip xmlns:r="http://schemas.openxmlformats.org/officeDocument/2006/relationships" xmlns:a="http://schemas.openxmlformats.org/drawingml/2006/main" r:embed="R774cf1dcdaff497e"/>
          <a:stretch xmlns:a="http://schemas.openxmlformats.org/drawingml/2006/main">
            <a:fillRect l="0" t="0" r="0" b="0"/>
          </a:stretch>
        </p:blipFill>
        <p:spPr>
          <a:xfrm xmlns:a="http://schemas.openxmlformats.org/drawingml/2006/main">
            <a:off x="1297534" y="1371600"/>
            <a:ext cx="2708453" cy="457200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4BC54023-9656-44C7-9219-34F078BB0AE6}"/>
              </a:ext>
            </a:extLst>
          </p:cNvPr>
          <p:cNvSpPr>
            <a:spLocks xmlns:a="http://schemas.openxmlformats.org/drawingml/2006/main" noGrp="1"/>
          </p:cNvSpPr>
          <p:nvPr/>
        </p:nvSpPr>
        <p:spPr>
          <a:xfrm xmlns:a="http://schemas.openxmlformats.org/drawingml/2006/main">
            <a:off x="502920" y="5989320"/>
            <a:ext cx="42976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The structure of a long bone</a:t>
            </a:r>
          </a:p>
        </p:txBody>
      </p:sp>
      <p:sp>
        <p:nvSpPr>
          <p:cNvPr id="7" name="Text 4">
            <a:extLst xmlns:a="http://schemas.openxmlformats.org/drawingml/2006/main">
              <a:ext uri="{FF2B5EF4-FFF2-40B4-BE49-F238E27FC236}">
                <a16:creationId xmlns:a16="http://schemas.microsoft.com/office/drawing/2014/main" id="{858A9447-C652-4DA4-9BB7-ECE4B4CC6805}"/>
              </a:ext>
            </a:extLst>
          </p:cNvPr>
          <p:cNvSpPr>
            <a:spLocks xmlns:a="http://schemas.openxmlformats.org/drawingml/2006/main" noGrp="1"/>
          </p:cNvSpPr>
          <p:nvPr/>
        </p:nvSpPr>
        <p:spPr>
          <a:xfrm xmlns:a="http://schemas.openxmlformats.org/drawingml/2006/main">
            <a:off x="5074920" y="1828800"/>
            <a:ext cx="6583680" cy="40233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Diaphysis (shaft) and epiphyses (ends)</a:t>
            </a:r>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Medullary cavity holds marrow</a:t>
            </a:r>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Periosteum covers the outer surface</a:t>
            </a:r>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Articular cartilage cushions the joints</a:t>
            </a:r>
          </a:p>
        </p:txBody>
      </p:sp>
      <p:sp>
        <p:nvSpPr>
          <p:cNvPr id="9" name="Text 5">
            <a:extLst xmlns:a="http://schemas.openxmlformats.org/drawingml/2006/main">
              <a:ext uri="{FF2B5EF4-FFF2-40B4-BE49-F238E27FC236}">
                <a16:creationId xmlns:a16="http://schemas.microsoft.com/office/drawing/2014/main" id="{DD86670A-3960-450B-9217-841B4842C7C7}"/>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6 — Bone Tissue and the Skeletal System</a:t>
            </a:r>
          </a:p>
        </p:txBody>
      </p:sp>
      <p:sp>
        <p:nvSpPr>
          <p:cNvPr id="10" name="Text 6">
            <a:extLst xmlns:a="http://schemas.openxmlformats.org/drawingml/2006/main">
              <a:ext uri="{FF2B5EF4-FFF2-40B4-BE49-F238E27FC236}">
                <a16:creationId xmlns:a16="http://schemas.microsoft.com/office/drawing/2014/main" id="{AC08523A-6FB9-4B1D-9930-AC3034BB7E6D}"/>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6</a:t>
            </a:r>
          </a:p>
        </p:txBody>
      </p:sp>
    </p:spTree>
    <p:extLst>
      <p:ext uri="{BB962C8B-B14F-4D97-AF65-F5344CB8AC3E}">
        <p14:creationId xmlns:p14="http://schemas.microsoft.com/office/powerpoint/2010/main" val="124232469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E568683-9262-4105-B432-C925E9B547B6}"/>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6.3</a:t>
            </a:r>
          </a:p>
        </p:txBody>
      </p:sp>
      <p:sp>
        <p:nvSpPr>
          <p:cNvPr id="3" name="Text 1">
            <a:extLst xmlns:a="http://schemas.openxmlformats.org/drawingml/2006/main">
              <a:ext uri="{FF2B5EF4-FFF2-40B4-BE49-F238E27FC236}">
                <a16:creationId xmlns:a16="http://schemas.microsoft.com/office/drawing/2014/main" id="{50534F23-7120-4B24-B8A1-011F669772A6}"/>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Compact and Spongy Bone</a:t>
            </a:r>
          </a:p>
        </p:txBody>
      </p:sp>
      <p:sp>
        <p:nvSpPr>
          <p:cNvPr id="4" name="Shape 2">
            <a:extLst xmlns:a="http://schemas.openxmlformats.org/drawingml/2006/main">
              <a:ext uri="{FF2B5EF4-FFF2-40B4-BE49-F238E27FC236}">
                <a16:creationId xmlns:a16="http://schemas.microsoft.com/office/drawing/2014/main" id="{C57657CE-803F-474D-9654-319953FAA738}"/>
              </a:ext>
            </a:extLst>
          </p:cNvPr>
          <p:cNvSpPr>
            <a:spLocks xmlns:a="http://schemas.openxmlformats.org/drawingml/2006/main" noGrp="1"/>
          </p:cNvSpPr>
          <p:nvPr/>
        </p:nvSpPr>
        <p:spPr>
          <a:xfrm xmlns:a="http://schemas.openxmlformats.org/drawingml/2006/main">
            <a:off x="2498493" y="1289304"/>
            <a:ext cx="7210254" cy="3730752"/>
          </a:xfrm>
          <a:prstGeom xmlns:a="http://schemas.openxmlformats.org/drawingml/2006/main" prst="roundRect">
            <a:avLst>
              <a:gd name="adj" fmla="val 1471"/>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1907b1a25f5b49c0"/>
          <a:stretch xmlns:a="http://schemas.openxmlformats.org/drawingml/2006/main">
            <a:fillRect l="0" t="0" r="0" b="0"/>
          </a:stretch>
        </p:blipFill>
        <p:spPr>
          <a:xfrm xmlns:a="http://schemas.openxmlformats.org/drawingml/2006/main">
            <a:off x="2580789" y="1371600"/>
            <a:ext cx="7045662" cy="356616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82D8F809-D674-4672-B14B-9838A0452C22}"/>
              </a:ext>
            </a:extLst>
          </p:cNvPr>
          <p:cNvSpPr>
            <a:spLocks xmlns:a="http://schemas.openxmlformats.org/drawingml/2006/main" noGrp="1"/>
          </p:cNvSpPr>
          <p:nvPr/>
        </p:nvSpPr>
        <p:spPr>
          <a:xfrm xmlns:a="http://schemas.openxmlformats.org/drawingml/2006/main">
            <a:off x="640080" y="4983480"/>
            <a:ext cx="109270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Compact and spongy bone</a:t>
            </a:r>
          </a:p>
        </p:txBody>
      </p:sp>
      <p:sp>
        <p:nvSpPr>
          <p:cNvPr id="7" name="Text 4">
            <a:extLst xmlns:a="http://schemas.openxmlformats.org/drawingml/2006/main">
              <a:ext uri="{FF2B5EF4-FFF2-40B4-BE49-F238E27FC236}">
                <a16:creationId xmlns:a16="http://schemas.microsoft.com/office/drawing/2014/main" id="{238E2528-3FE0-40E5-A89D-480BA86AF1BC}"/>
              </a:ext>
            </a:extLst>
          </p:cNvPr>
          <p:cNvSpPr>
            <a:spLocks xmlns:a="http://schemas.openxmlformats.org/drawingml/2006/main" noGrp="1"/>
          </p:cNvSpPr>
          <p:nvPr/>
        </p:nvSpPr>
        <p:spPr>
          <a:xfrm xmlns:a="http://schemas.openxmlformats.org/drawingml/2006/main">
            <a:off x="731520" y="5349240"/>
            <a:ext cx="5349240" cy="10972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Compact bone is dense and solid</a:t>
            </a:r>
          </a:p>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Forms the strong outer layer</a:t>
            </a:r>
          </a:p>
        </p:txBody>
      </p:sp>
      <p:sp>
        <p:nvSpPr>
          <p:cNvPr id="8" name="Text 5">
            <a:extLst xmlns:a="http://schemas.openxmlformats.org/drawingml/2006/main">
              <a:ext uri="{FF2B5EF4-FFF2-40B4-BE49-F238E27FC236}">
                <a16:creationId xmlns:a16="http://schemas.microsoft.com/office/drawing/2014/main" id="{70E9453B-6D69-44AE-9DC6-AC38CCCB4787}"/>
              </a:ext>
            </a:extLst>
          </p:cNvPr>
          <p:cNvSpPr>
            <a:spLocks xmlns:a="http://schemas.openxmlformats.org/drawingml/2006/main" noGrp="1"/>
          </p:cNvSpPr>
          <p:nvPr/>
        </p:nvSpPr>
        <p:spPr>
          <a:xfrm xmlns:a="http://schemas.openxmlformats.org/drawingml/2006/main">
            <a:off x="6263640" y="5349240"/>
            <a:ext cx="5349240" cy="10972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Spongy bone is porous (trabeculae)</a:t>
            </a:r>
          </a:p>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Trabeculae resist stress, hold marrow</a:t>
            </a:r>
          </a:p>
        </p:txBody>
      </p:sp>
      <p:sp>
        <p:nvSpPr>
          <p:cNvPr id="10" name="Text 6">
            <a:extLst xmlns:a="http://schemas.openxmlformats.org/drawingml/2006/main">
              <a:ext uri="{FF2B5EF4-FFF2-40B4-BE49-F238E27FC236}">
                <a16:creationId xmlns:a16="http://schemas.microsoft.com/office/drawing/2014/main" id="{0A1008FE-6C8B-4740-8CFF-DE915D7FAFCD}"/>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6 — Bone Tissue and the Skeletal System</a:t>
            </a:r>
          </a:p>
        </p:txBody>
      </p:sp>
      <p:sp>
        <p:nvSpPr>
          <p:cNvPr id="11" name="Text 7">
            <a:extLst xmlns:a="http://schemas.openxmlformats.org/drawingml/2006/main">
              <a:ext uri="{FF2B5EF4-FFF2-40B4-BE49-F238E27FC236}">
                <a16:creationId xmlns:a16="http://schemas.microsoft.com/office/drawing/2014/main" id="{961BCFD5-1C0D-4A0A-998F-DC771A6E5B77}"/>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7</a:t>
            </a:r>
          </a:p>
        </p:txBody>
      </p:sp>
    </p:spTree>
    <p:extLst>
      <p:ext uri="{BB962C8B-B14F-4D97-AF65-F5344CB8AC3E}">
        <p14:creationId xmlns:p14="http://schemas.microsoft.com/office/powerpoint/2010/main" val="147449748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ED65AB1-0611-420C-AFFE-2BB4C236F75B}"/>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6.3</a:t>
            </a:r>
          </a:p>
        </p:txBody>
      </p:sp>
      <p:sp>
        <p:nvSpPr>
          <p:cNvPr id="3" name="Text 1">
            <a:extLst xmlns:a="http://schemas.openxmlformats.org/drawingml/2006/main">
              <a:ext uri="{FF2B5EF4-FFF2-40B4-BE49-F238E27FC236}">
                <a16:creationId xmlns:a16="http://schemas.microsoft.com/office/drawing/2014/main" id="{53C43187-289D-469F-A435-6C2B1510E8FE}"/>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The Four Bone Cells</a:t>
            </a:r>
          </a:p>
        </p:txBody>
      </p:sp>
      <p:sp>
        <p:nvSpPr>
          <p:cNvPr id="4" name="Text 2">
            <a:extLst xmlns:a="http://schemas.openxmlformats.org/drawingml/2006/main">
              <a:ext uri="{FF2B5EF4-FFF2-40B4-BE49-F238E27FC236}">
                <a16:creationId xmlns:a16="http://schemas.microsoft.com/office/drawing/2014/main" id="{28753737-7AAD-4F82-8378-98C00BDB3A73}"/>
              </a:ext>
            </a:extLst>
          </p:cNvPr>
          <p:cNvSpPr>
            <a:spLocks xmlns:a="http://schemas.openxmlformats.org/drawingml/2006/main" noGrp="1"/>
          </p:cNvSpPr>
          <p:nvPr/>
        </p:nvSpPr>
        <p:spPr>
          <a:xfrm xmlns:a="http://schemas.openxmlformats.org/drawingml/2006/main">
            <a:off x="548640" y="1783080"/>
            <a:ext cx="4663440" cy="4206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Osteogenic cells are bone stem cells</a:t>
            </a:r>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Osteoblasts build new bone</a:t>
            </a:r>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Osteocytes maintain bone tissue</a:t>
            </a:r>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Osteoclasts resorb (break down) bone</a:t>
            </a:r>
          </a:p>
        </p:txBody>
      </p:sp>
      <p:sp>
        <p:nvSpPr>
          <p:cNvPr id="5" name="Shape 3">
            <a:extLst xmlns:a="http://schemas.openxmlformats.org/drawingml/2006/main">
              <a:ext uri="{FF2B5EF4-FFF2-40B4-BE49-F238E27FC236}">
                <a16:creationId xmlns:a16="http://schemas.microsoft.com/office/drawing/2014/main" id="{6C21959A-DDEF-48FD-8A77-5F60704258C8}"/>
              </a:ext>
            </a:extLst>
          </p:cNvPr>
          <p:cNvSpPr>
            <a:spLocks xmlns:a="http://schemas.openxmlformats.org/drawingml/2006/main" noGrp="1"/>
          </p:cNvSpPr>
          <p:nvPr/>
        </p:nvSpPr>
        <p:spPr>
          <a:xfrm xmlns:a="http://schemas.openxmlformats.org/drawingml/2006/main">
            <a:off x="5404104" y="1390972"/>
            <a:ext cx="6382512" cy="4533256"/>
          </a:xfrm>
          <a:prstGeom xmlns:a="http://schemas.openxmlformats.org/drawingml/2006/main" prst="roundRect">
            <a:avLst>
              <a:gd name="adj" fmla="val 1210"/>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ddef4f75a01d4ecf"/>
          <a:stretch xmlns:a="http://schemas.openxmlformats.org/drawingml/2006/main">
            <a:fillRect l="0" t="0" r="0" b="0"/>
          </a:stretch>
        </p:blipFill>
        <p:spPr>
          <a:xfrm xmlns:a="http://schemas.openxmlformats.org/drawingml/2006/main">
            <a:off x="5486400" y="1473268"/>
            <a:ext cx="6217920" cy="4368664"/>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CFB7D76B-3BAE-436C-8EB1-6F8A5224728F}"/>
              </a:ext>
            </a:extLst>
          </p:cNvPr>
          <p:cNvSpPr>
            <a:spLocks xmlns:a="http://schemas.openxmlformats.org/drawingml/2006/main" noGrp="1"/>
          </p:cNvSpPr>
          <p:nvPr/>
        </p:nvSpPr>
        <p:spPr>
          <a:xfrm xmlns:a="http://schemas.openxmlformats.org/drawingml/2006/main">
            <a:off x="5486400" y="5943600"/>
            <a:ext cx="62179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The cells of bone tissue</a:t>
            </a:r>
          </a:p>
        </p:txBody>
      </p:sp>
      <p:sp>
        <p:nvSpPr>
          <p:cNvPr id="9" name="Text 5">
            <a:extLst xmlns:a="http://schemas.openxmlformats.org/drawingml/2006/main">
              <a:ext uri="{FF2B5EF4-FFF2-40B4-BE49-F238E27FC236}">
                <a16:creationId xmlns:a16="http://schemas.microsoft.com/office/drawing/2014/main" id="{715CC620-AECA-48A5-99DB-3AB3BA9B7ADC}"/>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6 — Bone Tissue and the Skeletal System</a:t>
            </a:r>
          </a:p>
        </p:txBody>
      </p:sp>
      <p:sp>
        <p:nvSpPr>
          <p:cNvPr id="10" name="Text 6">
            <a:extLst xmlns:a="http://schemas.openxmlformats.org/drawingml/2006/main">
              <a:ext uri="{FF2B5EF4-FFF2-40B4-BE49-F238E27FC236}">
                <a16:creationId xmlns:a16="http://schemas.microsoft.com/office/drawing/2014/main" id="{FA83E885-25E1-4F10-AA35-8E1A5252496B}"/>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8</a:t>
            </a:r>
          </a:p>
        </p:txBody>
      </p:sp>
    </p:spTree>
    <p:extLst>
      <p:ext uri="{BB962C8B-B14F-4D97-AF65-F5344CB8AC3E}">
        <p14:creationId xmlns:p14="http://schemas.microsoft.com/office/powerpoint/2010/main" val="80362966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E348425-104D-4F68-8895-96ACFDB393F1}"/>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6.3</a:t>
            </a:r>
          </a:p>
        </p:txBody>
      </p:sp>
      <p:sp>
        <p:nvSpPr>
          <p:cNvPr id="3" name="Text 1">
            <a:extLst xmlns:a="http://schemas.openxmlformats.org/drawingml/2006/main">
              <a:ext uri="{FF2B5EF4-FFF2-40B4-BE49-F238E27FC236}">
                <a16:creationId xmlns:a16="http://schemas.microsoft.com/office/drawing/2014/main" id="{0EA43D3C-633E-4876-BB93-CC26B1CF5ADC}"/>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Microscopic Bone — The Osteon</a:t>
            </a:r>
          </a:p>
        </p:txBody>
      </p:sp>
      <p:sp>
        <p:nvSpPr>
          <p:cNvPr id="4" name="Shape 2">
            <a:extLst xmlns:a="http://schemas.openxmlformats.org/drawingml/2006/main">
              <a:ext uri="{FF2B5EF4-FFF2-40B4-BE49-F238E27FC236}">
                <a16:creationId xmlns:a16="http://schemas.microsoft.com/office/drawing/2014/main" id="{81AF70C0-045F-4C93-A929-8156A3946CDE}"/>
              </a:ext>
            </a:extLst>
          </p:cNvPr>
          <p:cNvSpPr>
            <a:spLocks xmlns:a="http://schemas.openxmlformats.org/drawingml/2006/main" noGrp="1"/>
          </p:cNvSpPr>
          <p:nvPr/>
        </p:nvSpPr>
        <p:spPr>
          <a:xfrm xmlns:a="http://schemas.openxmlformats.org/drawingml/2006/main">
            <a:off x="629336" y="1289304"/>
            <a:ext cx="4044848" cy="4736592"/>
          </a:xfrm>
          <a:prstGeom xmlns:a="http://schemas.openxmlformats.org/drawingml/2006/main" prst="roundRect">
            <a:avLst>
              <a:gd name="adj" fmla="val 1356"/>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5" name="Image 0"/>
          <p:cNvPicPr>
            <a:picLocks xmlns:a="http://schemas.openxmlformats.org/drawingml/2006/main" noChangeAspect="1"/>
          </p:cNvPicPr>
          <p:nvPr/>
        </p:nvPicPr>
        <p:blipFill>
          <a:blip xmlns:r="http://schemas.openxmlformats.org/officeDocument/2006/relationships" xmlns:a="http://schemas.openxmlformats.org/drawingml/2006/main" r:embed="Rc05af20b555b45be"/>
          <a:stretch xmlns:a="http://schemas.openxmlformats.org/drawingml/2006/main">
            <a:fillRect l="0" t="0" r="0" b="0"/>
          </a:stretch>
        </p:blipFill>
        <p:spPr>
          <a:xfrm xmlns:a="http://schemas.openxmlformats.org/drawingml/2006/main">
            <a:off x="711632" y="1371600"/>
            <a:ext cx="3880256" cy="457200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607BAEE7-6925-4E72-926A-C1D60C01E14F}"/>
              </a:ext>
            </a:extLst>
          </p:cNvPr>
          <p:cNvSpPr>
            <a:spLocks xmlns:a="http://schemas.openxmlformats.org/drawingml/2006/main" noGrp="1"/>
          </p:cNvSpPr>
          <p:nvPr/>
        </p:nvSpPr>
        <p:spPr>
          <a:xfrm xmlns:a="http://schemas.openxmlformats.org/drawingml/2006/main">
            <a:off x="502920" y="5989320"/>
            <a:ext cx="42976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The osteon (Haversian system)</a:t>
            </a:r>
          </a:p>
        </p:txBody>
      </p:sp>
      <p:sp>
        <p:nvSpPr>
          <p:cNvPr id="7" name="Text 4">
            <a:extLst xmlns:a="http://schemas.openxmlformats.org/drawingml/2006/main">
              <a:ext uri="{FF2B5EF4-FFF2-40B4-BE49-F238E27FC236}">
                <a16:creationId xmlns:a16="http://schemas.microsoft.com/office/drawing/2014/main" id="{0AEFDFC3-D65A-4538-B478-AE2A9CD046BF}"/>
              </a:ext>
            </a:extLst>
          </p:cNvPr>
          <p:cNvSpPr>
            <a:spLocks xmlns:a="http://schemas.openxmlformats.org/drawingml/2006/main" noGrp="1"/>
          </p:cNvSpPr>
          <p:nvPr/>
        </p:nvSpPr>
        <p:spPr>
          <a:xfrm xmlns:a="http://schemas.openxmlformats.org/drawingml/2006/main">
            <a:off x="5074920" y="1828800"/>
            <a:ext cx="6583680" cy="40233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Compact bone is built of osteons</a:t>
            </a:r>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Central canal carries vessels and nerves</a:t>
            </a:r>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Concentric lamellae surround the canal</a:t>
            </a:r>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Osteocytes sit in lacunae</a:t>
            </a:r>
          </a:p>
        </p:txBody>
      </p:sp>
      <p:sp>
        <p:nvSpPr>
          <p:cNvPr id="9" name="Text 5">
            <a:extLst xmlns:a="http://schemas.openxmlformats.org/drawingml/2006/main">
              <a:ext uri="{FF2B5EF4-FFF2-40B4-BE49-F238E27FC236}">
                <a16:creationId xmlns:a16="http://schemas.microsoft.com/office/drawing/2014/main" id="{BF51FB89-9C58-44C1-82E0-18D1638CAB07}"/>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6 — Bone Tissue and the Skeletal System</a:t>
            </a:r>
          </a:p>
        </p:txBody>
      </p:sp>
      <p:sp>
        <p:nvSpPr>
          <p:cNvPr id="10" name="Text 6">
            <a:extLst xmlns:a="http://schemas.openxmlformats.org/drawingml/2006/main">
              <a:ext uri="{FF2B5EF4-FFF2-40B4-BE49-F238E27FC236}">
                <a16:creationId xmlns:a16="http://schemas.microsoft.com/office/drawing/2014/main" id="{90106D5B-CD18-4684-941B-F50FFDC91C3C}"/>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9</a:t>
            </a:r>
          </a:p>
        </p:txBody>
      </p:sp>
    </p:spTree>
    <p:extLst>
      <p:ext uri="{BB962C8B-B14F-4D97-AF65-F5344CB8AC3E}">
        <p14:creationId xmlns:p14="http://schemas.microsoft.com/office/powerpoint/2010/main" val="1629587505"/>
      </p:ext>
    </p:extLst>
  </p:cSld>
</p:sld>
</file>

<file path=ppt/slides/slide10.xml><?xml version="1.0" encoding="utf-8"?>
<p:sld xmlns:p="http://schemas.openxmlformats.org/presentationml/2006/main">
  <p:cSld>
    <p:bg>
      <p:bgPr>
        <a:solidFill xmlns:a="http://schemas.openxmlformats.org/drawingml/2006/main">
          <a:srgbClr val="0F4C5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1145DBE-F2CC-4E23-AF61-0CB195B44623}"/>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ellipse">
            <a:avLst/>
          </a:prstGeom>
          <a:solidFill xmlns:a="http://schemas.openxmlformats.org/drawingml/2006/main">
            <a:srgbClr val="E36414"/>
          </a:solidFill>
        </p:spPr>
      </p:sp>
      <p:sp>
        <p:nvSpPr>
          <p:cNvPr id="3" name="Text 1">
            <a:extLst xmlns:a="http://schemas.openxmlformats.org/drawingml/2006/main">
              <a:ext uri="{FF2B5EF4-FFF2-40B4-BE49-F238E27FC236}">
                <a16:creationId xmlns:a16="http://schemas.microsoft.com/office/drawing/2014/main" id="{F2DF3799-A7C4-49D7-8B0D-0A91A9B3459C}"/>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4800" b="1">
                <a:solidFill>
                  <a:srgbClr val="FFFFFF"/>
                </a:solidFill>
                <a:latin typeface="Georgia"/>
                <a:ea typeface="Georgia"/>
                <a:cs typeface="Georgia"/>
              </a:rPr>
              <a:t>6.4</a:t>
            </a:r>
          </a:p>
        </p:txBody>
      </p:sp>
      <p:sp>
        <p:nvSpPr>
          <p:cNvPr id="4" name="Text 2">
            <a:extLst xmlns:a="http://schemas.openxmlformats.org/drawingml/2006/main">
              <a:ext uri="{FF2B5EF4-FFF2-40B4-BE49-F238E27FC236}">
                <a16:creationId xmlns:a16="http://schemas.microsoft.com/office/drawing/2014/main" id="{B1E06F32-BBBC-4BBC-83B3-B1AAFF61CD66}"/>
              </a:ext>
            </a:extLst>
          </p:cNvPr>
          <p:cNvSpPr>
            <a:spLocks xmlns:a="http://schemas.openxmlformats.org/drawingml/2006/main" noGrp="1"/>
          </p:cNvSpPr>
          <p:nvPr/>
        </p:nvSpPr>
        <p:spPr>
          <a:xfrm xmlns:a="http://schemas.openxmlformats.org/drawingml/2006/main">
            <a:off x="3200400" y="2468880"/>
            <a:ext cx="7315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9FC2C9"/>
                </a:solidFill>
                <a:latin typeface="Calibri"/>
                <a:ea typeface="Calibri"/>
                <a:cs typeface="Calibri"/>
              </a:rPr>
              <a:t>SECTION</a:t>
            </a:r>
          </a:p>
        </p:txBody>
      </p:sp>
      <p:sp>
        <p:nvSpPr>
          <p:cNvPr id="5" name="Text 3">
            <a:extLst xmlns:a="http://schemas.openxmlformats.org/drawingml/2006/main">
              <a:ext uri="{FF2B5EF4-FFF2-40B4-BE49-F238E27FC236}">
                <a16:creationId xmlns:a16="http://schemas.microsoft.com/office/drawing/2014/main" id="{402CD05E-7B70-46F6-81BD-FC8F93743C80}"/>
              </a:ext>
            </a:extLst>
          </p:cNvPr>
          <p:cNvSpPr>
            <a:spLocks xmlns:a="http://schemas.openxmlformats.org/drawingml/2006/main" noGrp="1"/>
          </p:cNvSpPr>
          <p:nvPr/>
        </p:nvSpPr>
        <p:spPr>
          <a:xfrm xmlns:a="http://schemas.openxmlformats.org/drawingml/2006/main">
            <a:off x="3154680" y="2788920"/>
            <a:ext cx="8412480" cy="14630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3000" b="1">
                <a:solidFill>
                  <a:srgbClr val="FFFFFF"/>
                </a:solidFill>
                <a:latin typeface="Georgia"/>
                <a:ea typeface="Georgia"/>
                <a:cs typeface="Georgia"/>
              </a:rPr>
              <a:t>Bone Formation and Development</a:t>
            </a:r>
          </a:p>
        </p:txBody>
      </p:sp>
      <p:sp>
        <p:nvSpPr>
          <p:cNvPr id="6" name="Text 4">
            <a:extLst xmlns:a="http://schemas.openxmlformats.org/drawingml/2006/main">
              <a:ext uri="{FF2B5EF4-FFF2-40B4-BE49-F238E27FC236}">
                <a16:creationId xmlns:a16="http://schemas.microsoft.com/office/drawing/2014/main" id="{25E657DC-7877-462D-A161-4D0E71DD084A}"/>
              </a:ext>
            </a:extLst>
          </p:cNvPr>
          <p:cNvSpPr>
            <a:spLocks xmlns:a="http://schemas.openxmlformats.org/drawingml/2006/main" noGrp="1"/>
          </p:cNvSpPr>
          <p:nvPr/>
        </p:nvSpPr>
        <p:spPr>
          <a:xfrm xmlns:a="http://schemas.openxmlformats.org/drawingml/2006/main">
            <a:off x="3200400" y="4160520"/>
            <a:ext cx="813816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0000"/>
              </a:lnSpc>
              <a:buNone/>
            </a:pPr>
            <a:r>
              <a:rPr sz="1500">
                <a:solidFill>
                  <a:srgbClr val="CFE3E7"/>
                </a:solidFill>
                <a:latin typeface="Calibri"/>
                <a:ea typeface="Calibri"/>
                <a:cs typeface="Calibri"/>
              </a:rPr>
              <a:t>How bones form before birth and grow throughout childhood.</a:t>
            </a:r>
          </a:p>
        </p:txBody>
      </p:sp>
    </p:spTree>
    <p:extLst>
      <p:ext uri="{BB962C8B-B14F-4D97-AF65-F5344CB8AC3E}">
        <p14:creationId xmlns:p14="http://schemas.microsoft.com/office/powerpoint/2010/main" val="170033032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9A8D475-116F-4A7C-AA0A-298BFC3AD441}"/>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6.4</a:t>
            </a:r>
          </a:p>
        </p:txBody>
      </p:sp>
      <p:sp>
        <p:nvSpPr>
          <p:cNvPr id="3" name="Text 1">
            <a:extLst xmlns:a="http://schemas.openxmlformats.org/drawingml/2006/main">
              <a:ext uri="{FF2B5EF4-FFF2-40B4-BE49-F238E27FC236}">
                <a16:creationId xmlns:a16="http://schemas.microsoft.com/office/drawing/2014/main" id="{4BCEF77C-0780-4E17-B34B-C57AD231FB27}"/>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Bone Formation (Ossification)</a:t>
            </a:r>
          </a:p>
        </p:txBody>
      </p:sp>
      <p:sp>
        <p:nvSpPr>
          <p:cNvPr id="4" name="Text 2">
            <a:extLst xmlns:a="http://schemas.openxmlformats.org/drawingml/2006/main">
              <a:ext uri="{FF2B5EF4-FFF2-40B4-BE49-F238E27FC236}">
                <a16:creationId xmlns:a16="http://schemas.microsoft.com/office/drawing/2014/main" id="{103F0358-1D73-4915-BEA2-88B6DEA1581E}"/>
              </a:ext>
            </a:extLst>
          </p:cNvPr>
          <p:cNvSpPr>
            <a:spLocks xmlns:a="http://schemas.openxmlformats.org/drawingml/2006/main" noGrp="1"/>
          </p:cNvSpPr>
          <p:nvPr/>
        </p:nvSpPr>
        <p:spPr>
          <a:xfrm xmlns:a="http://schemas.openxmlformats.org/drawingml/2006/main">
            <a:off x="548640" y="1783080"/>
            <a:ext cx="4663440" cy="4206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Intramembranous forms flat bones</a:t>
            </a:r>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Endochondral replaces cartilage</a:t>
            </a:r>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Most bones form from a cartilage model</a:t>
            </a:r>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Begins before birth</a:t>
            </a:r>
          </a:p>
        </p:txBody>
      </p:sp>
      <p:sp>
        <p:nvSpPr>
          <p:cNvPr id="5" name="Shape 3">
            <a:extLst xmlns:a="http://schemas.openxmlformats.org/drawingml/2006/main">
              <a:ext uri="{FF2B5EF4-FFF2-40B4-BE49-F238E27FC236}">
                <a16:creationId xmlns:a16="http://schemas.microsoft.com/office/drawing/2014/main" id="{3FEDF05A-E40C-47DF-95DE-3C8C355F22A3}"/>
              </a:ext>
            </a:extLst>
          </p:cNvPr>
          <p:cNvSpPr>
            <a:spLocks xmlns:a="http://schemas.openxmlformats.org/drawingml/2006/main" noGrp="1"/>
          </p:cNvSpPr>
          <p:nvPr/>
        </p:nvSpPr>
        <p:spPr>
          <a:xfrm xmlns:a="http://schemas.openxmlformats.org/drawingml/2006/main">
            <a:off x="5404104" y="1404394"/>
            <a:ext cx="6382512" cy="4506412"/>
          </a:xfrm>
          <a:prstGeom xmlns:a="http://schemas.openxmlformats.org/drawingml/2006/main" prst="roundRect">
            <a:avLst>
              <a:gd name="adj" fmla="val 1217"/>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494d5576186b4874"/>
          <a:stretch xmlns:a="http://schemas.openxmlformats.org/drawingml/2006/main">
            <a:fillRect l="0" t="0" r="0" b="0"/>
          </a:stretch>
        </p:blipFill>
        <p:spPr>
          <a:xfrm xmlns:a="http://schemas.openxmlformats.org/drawingml/2006/main">
            <a:off x="5486400" y="1486690"/>
            <a:ext cx="6217920" cy="4341820"/>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E6B1181E-19EA-45FF-B153-82C2F0F056A0}"/>
              </a:ext>
            </a:extLst>
          </p:cNvPr>
          <p:cNvSpPr>
            <a:spLocks xmlns:a="http://schemas.openxmlformats.org/drawingml/2006/main" noGrp="1"/>
          </p:cNvSpPr>
          <p:nvPr/>
        </p:nvSpPr>
        <p:spPr>
          <a:xfrm xmlns:a="http://schemas.openxmlformats.org/drawingml/2006/main">
            <a:off x="5486400" y="5943600"/>
            <a:ext cx="62179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Intramembranous and endochondral ossification</a:t>
            </a:r>
          </a:p>
        </p:txBody>
      </p:sp>
      <p:sp>
        <p:nvSpPr>
          <p:cNvPr id="9" name="Text 5">
            <a:extLst xmlns:a="http://schemas.openxmlformats.org/drawingml/2006/main">
              <a:ext uri="{FF2B5EF4-FFF2-40B4-BE49-F238E27FC236}">
                <a16:creationId xmlns:a16="http://schemas.microsoft.com/office/drawing/2014/main" id="{D70EC992-F761-42D1-BCB7-9DA3C2589803}"/>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6 — Bone Tissue and the Skeletal System</a:t>
            </a:r>
          </a:p>
        </p:txBody>
      </p:sp>
      <p:sp>
        <p:nvSpPr>
          <p:cNvPr id="10" name="Text 6">
            <a:extLst xmlns:a="http://schemas.openxmlformats.org/drawingml/2006/main">
              <a:ext uri="{FF2B5EF4-FFF2-40B4-BE49-F238E27FC236}">
                <a16:creationId xmlns:a16="http://schemas.microsoft.com/office/drawing/2014/main" id="{6E907FBA-9091-4ABE-90AA-6DF2FC627090}"/>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11</a:t>
            </a:r>
          </a:p>
        </p:txBody>
      </p:sp>
    </p:spTree>
    <p:extLst>
      <p:ext uri="{BB962C8B-B14F-4D97-AF65-F5344CB8AC3E}">
        <p14:creationId xmlns:p14="http://schemas.microsoft.com/office/powerpoint/2010/main" val="194973436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57224CB-8D0C-4500-A6FD-43FF264AE8C9}"/>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6.4</a:t>
            </a:r>
          </a:p>
        </p:txBody>
      </p:sp>
      <p:sp>
        <p:nvSpPr>
          <p:cNvPr id="3" name="Text 1">
            <a:extLst xmlns:a="http://schemas.openxmlformats.org/drawingml/2006/main">
              <a:ext uri="{FF2B5EF4-FFF2-40B4-BE49-F238E27FC236}">
                <a16:creationId xmlns:a16="http://schemas.microsoft.com/office/drawing/2014/main" id="{FB6B86B0-5FAC-43C9-ADD3-DA68A2EB6881}"/>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The Epiphyseal (Growth) Plate</a:t>
            </a:r>
          </a:p>
        </p:txBody>
      </p:sp>
      <p:sp>
        <p:nvSpPr>
          <p:cNvPr id="4" name="Shape 2">
            <a:extLst xmlns:a="http://schemas.openxmlformats.org/drawingml/2006/main">
              <a:ext uri="{FF2B5EF4-FFF2-40B4-BE49-F238E27FC236}">
                <a16:creationId xmlns:a16="http://schemas.microsoft.com/office/drawing/2014/main" id="{4DBF432E-E449-48D7-9DDE-6585AA22506A}"/>
              </a:ext>
            </a:extLst>
          </p:cNvPr>
          <p:cNvSpPr>
            <a:spLocks xmlns:a="http://schemas.openxmlformats.org/drawingml/2006/main" noGrp="1"/>
          </p:cNvSpPr>
          <p:nvPr/>
        </p:nvSpPr>
        <p:spPr>
          <a:xfrm xmlns:a="http://schemas.openxmlformats.org/drawingml/2006/main">
            <a:off x="1101623" y="1289304"/>
            <a:ext cx="3100273" cy="4736592"/>
          </a:xfrm>
          <a:prstGeom xmlns:a="http://schemas.openxmlformats.org/drawingml/2006/main" prst="roundRect">
            <a:avLst>
              <a:gd name="adj" fmla="val 1770"/>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5" name="Image 0"/>
          <p:cNvPicPr>
            <a:picLocks xmlns:a="http://schemas.openxmlformats.org/drawingml/2006/main" noChangeAspect="1"/>
          </p:cNvPicPr>
          <p:nvPr/>
        </p:nvPicPr>
        <p:blipFill>
          <a:blip xmlns:r="http://schemas.openxmlformats.org/officeDocument/2006/relationships" xmlns:a="http://schemas.openxmlformats.org/drawingml/2006/main" r:embed="R42e518c0583548a7"/>
          <a:stretch xmlns:a="http://schemas.openxmlformats.org/drawingml/2006/main">
            <a:fillRect l="0" t="0" r="0" b="0"/>
          </a:stretch>
        </p:blipFill>
        <p:spPr>
          <a:xfrm xmlns:a="http://schemas.openxmlformats.org/drawingml/2006/main">
            <a:off x="1183919" y="1371600"/>
            <a:ext cx="2935681" cy="457200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D0A3575E-EBC2-4889-8EFB-6BF87FE63A1F}"/>
              </a:ext>
            </a:extLst>
          </p:cNvPr>
          <p:cNvSpPr>
            <a:spLocks xmlns:a="http://schemas.openxmlformats.org/drawingml/2006/main" noGrp="1"/>
          </p:cNvSpPr>
          <p:nvPr/>
        </p:nvSpPr>
        <p:spPr>
          <a:xfrm xmlns:a="http://schemas.openxmlformats.org/drawingml/2006/main">
            <a:off x="502920" y="5989320"/>
            <a:ext cx="42976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Zones of the epiphyseal plate</a:t>
            </a:r>
          </a:p>
        </p:txBody>
      </p:sp>
      <p:sp>
        <p:nvSpPr>
          <p:cNvPr id="7" name="Text 4">
            <a:extLst xmlns:a="http://schemas.openxmlformats.org/drawingml/2006/main">
              <a:ext uri="{FF2B5EF4-FFF2-40B4-BE49-F238E27FC236}">
                <a16:creationId xmlns:a16="http://schemas.microsoft.com/office/drawing/2014/main" id="{131D4A09-8B21-4D64-80BF-D152CC630203}"/>
              </a:ext>
            </a:extLst>
          </p:cNvPr>
          <p:cNvSpPr>
            <a:spLocks xmlns:a="http://schemas.openxmlformats.org/drawingml/2006/main" noGrp="1"/>
          </p:cNvSpPr>
          <p:nvPr/>
        </p:nvSpPr>
        <p:spPr>
          <a:xfrm xmlns:a="http://schemas.openxmlformats.org/drawingml/2006/main">
            <a:off x="5074920" y="1828800"/>
            <a:ext cx="6583680" cy="40233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A plate of hyaline cartilage</a:t>
            </a:r>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Lengthens long bones in childhood</a:t>
            </a:r>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Cartilage grows, then turns to bone</a:t>
            </a:r>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Closes after puberty</a:t>
            </a:r>
          </a:p>
        </p:txBody>
      </p:sp>
      <p:sp>
        <p:nvSpPr>
          <p:cNvPr id="9" name="Text 5">
            <a:extLst xmlns:a="http://schemas.openxmlformats.org/drawingml/2006/main">
              <a:ext uri="{FF2B5EF4-FFF2-40B4-BE49-F238E27FC236}">
                <a16:creationId xmlns:a16="http://schemas.microsoft.com/office/drawing/2014/main" id="{B5EE1C5C-912E-4520-BB73-1E7604EEAADB}"/>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6 — Bone Tissue and the Skeletal System</a:t>
            </a:r>
          </a:p>
        </p:txBody>
      </p:sp>
      <p:sp>
        <p:nvSpPr>
          <p:cNvPr id="10" name="Text 6">
            <a:extLst xmlns:a="http://schemas.openxmlformats.org/drawingml/2006/main">
              <a:ext uri="{FF2B5EF4-FFF2-40B4-BE49-F238E27FC236}">
                <a16:creationId xmlns:a16="http://schemas.microsoft.com/office/drawing/2014/main" id="{22C4A78C-E651-4640-98D3-08E98AD9C73B}"/>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12</a:t>
            </a:r>
          </a:p>
        </p:txBody>
      </p:sp>
    </p:spTree>
    <p:extLst>
      <p:ext uri="{BB962C8B-B14F-4D97-AF65-F5344CB8AC3E}">
        <p14:creationId xmlns:p14="http://schemas.microsoft.com/office/powerpoint/2010/main" val="52318441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361AAC9-2C83-4F80-8E3C-120B4DC7EF26}"/>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6.4</a:t>
            </a:r>
          </a:p>
        </p:txBody>
      </p:sp>
      <p:sp>
        <p:nvSpPr>
          <p:cNvPr id="3" name="Text 1">
            <a:extLst xmlns:a="http://schemas.openxmlformats.org/drawingml/2006/main">
              <a:ext uri="{FF2B5EF4-FFF2-40B4-BE49-F238E27FC236}">
                <a16:creationId xmlns:a16="http://schemas.microsoft.com/office/drawing/2014/main" id="{75D1957B-B331-4C1F-A629-112BDCEBD65E}"/>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Growing vs. Mature Bone</a:t>
            </a:r>
          </a:p>
        </p:txBody>
      </p:sp>
      <p:sp>
        <p:nvSpPr>
          <p:cNvPr id="4" name="Text 2">
            <a:extLst xmlns:a="http://schemas.openxmlformats.org/drawingml/2006/main">
              <a:ext uri="{FF2B5EF4-FFF2-40B4-BE49-F238E27FC236}">
                <a16:creationId xmlns:a16="http://schemas.microsoft.com/office/drawing/2014/main" id="{332BEA2E-BC69-4282-BBD4-F52CEEEDD6DC}"/>
              </a:ext>
            </a:extLst>
          </p:cNvPr>
          <p:cNvSpPr>
            <a:spLocks xmlns:a="http://schemas.openxmlformats.org/drawingml/2006/main" noGrp="1"/>
          </p:cNvSpPr>
          <p:nvPr/>
        </p:nvSpPr>
        <p:spPr>
          <a:xfrm xmlns:a="http://schemas.openxmlformats.org/drawingml/2006/main">
            <a:off x="548640" y="1783080"/>
            <a:ext cx="4663440" cy="4206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Active growth plate in children</a:t>
            </a:r>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Epiphyseal line in adults</a:t>
            </a:r>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Marks where growth occurred</a:t>
            </a:r>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Plate injuries can affect growth</a:t>
            </a:r>
          </a:p>
        </p:txBody>
      </p:sp>
      <p:sp>
        <p:nvSpPr>
          <p:cNvPr id="5" name="Shape 3">
            <a:extLst xmlns:a="http://schemas.openxmlformats.org/drawingml/2006/main">
              <a:ext uri="{FF2B5EF4-FFF2-40B4-BE49-F238E27FC236}">
                <a16:creationId xmlns:a16="http://schemas.microsoft.com/office/drawing/2014/main" id="{4918BC42-5089-42DA-9ED0-5CDAB941D878}"/>
              </a:ext>
            </a:extLst>
          </p:cNvPr>
          <p:cNvSpPr>
            <a:spLocks xmlns:a="http://schemas.openxmlformats.org/drawingml/2006/main" noGrp="1"/>
          </p:cNvSpPr>
          <p:nvPr/>
        </p:nvSpPr>
        <p:spPr>
          <a:xfrm xmlns:a="http://schemas.openxmlformats.org/drawingml/2006/main">
            <a:off x="5681350" y="1335024"/>
            <a:ext cx="5828020" cy="4645152"/>
          </a:xfrm>
          <a:prstGeom xmlns:a="http://schemas.openxmlformats.org/drawingml/2006/main" prst="roundRect">
            <a:avLst>
              <a:gd name="adj" fmla="val 1181"/>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09b42bf7581f405d"/>
          <a:stretch xmlns:a="http://schemas.openxmlformats.org/drawingml/2006/main">
            <a:fillRect l="0" t="0" r="0" b="0"/>
          </a:stretch>
        </p:blipFill>
        <p:spPr>
          <a:xfrm xmlns:a="http://schemas.openxmlformats.org/drawingml/2006/main">
            <a:off x="5763646" y="1417320"/>
            <a:ext cx="5663428" cy="4480560"/>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E12785AB-E5F6-468C-8E7D-D38B6B2C4ED6}"/>
              </a:ext>
            </a:extLst>
          </p:cNvPr>
          <p:cNvSpPr>
            <a:spLocks xmlns:a="http://schemas.openxmlformats.org/drawingml/2006/main" noGrp="1"/>
          </p:cNvSpPr>
          <p:nvPr/>
        </p:nvSpPr>
        <p:spPr>
          <a:xfrm xmlns:a="http://schemas.openxmlformats.org/drawingml/2006/main">
            <a:off x="5486400" y="5943600"/>
            <a:ext cx="62179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Growing and mature long bone</a:t>
            </a:r>
          </a:p>
        </p:txBody>
      </p:sp>
      <p:sp>
        <p:nvSpPr>
          <p:cNvPr id="9" name="Text 5">
            <a:extLst xmlns:a="http://schemas.openxmlformats.org/drawingml/2006/main">
              <a:ext uri="{FF2B5EF4-FFF2-40B4-BE49-F238E27FC236}">
                <a16:creationId xmlns:a16="http://schemas.microsoft.com/office/drawing/2014/main" id="{A522073E-C3AE-4E85-96D1-5994AF1B2EBC}"/>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6 — Bone Tissue and the Skeletal System</a:t>
            </a:r>
          </a:p>
        </p:txBody>
      </p:sp>
      <p:sp>
        <p:nvSpPr>
          <p:cNvPr id="10" name="Text 6">
            <a:extLst xmlns:a="http://schemas.openxmlformats.org/drawingml/2006/main">
              <a:ext uri="{FF2B5EF4-FFF2-40B4-BE49-F238E27FC236}">
                <a16:creationId xmlns:a16="http://schemas.microsoft.com/office/drawing/2014/main" id="{82F79992-4FE2-493B-968B-9ACB641360EA}"/>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13</a:t>
            </a:r>
          </a:p>
        </p:txBody>
      </p:sp>
    </p:spTree>
    <p:extLst>
      <p:ext uri="{BB962C8B-B14F-4D97-AF65-F5344CB8AC3E}">
        <p14:creationId xmlns:p14="http://schemas.microsoft.com/office/powerpoint/2010/main" val="1938946608"/>
      </p:ext>
    </p:extLst>
  </p:cSld>
</p:sld>
</file>

<file path=ppt/slides/slide14.xml><?xml version="1.0" encoding="utf-8"?>
<p:sld xmlns:p="http://schemas.openxmlformats.org/presentationml/2006/main">
  <p:cSld>
    <p:bg>
      <p:bgPr>
        <a:solidFill xmlns:a="http://schemas.openxmlformats.org/drawingml/2006/main">
          <a:srgbClr val="0F4C5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93616FFB-BEE8-4A2F-97FC-014063014E1E}"/>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ellipse">
            <a:avLst/>
          </a:prstGeom>
          <a:solidFill xmlns:a="http://schemas.openxmlformats.org/drawingml/2006/main">
            <a:srgbClr val="E36414"/>
          </a:solidFill>
        </p:spPr>
      </p:sp>
      <p:sp>
        <p:nvSpPr>
          <p:cNvPr id="3" name="Text 1">
            <a:extLst xmlns:a="http://schemas.openxmlformats.org/drawingml/2006/main">
              <a:ext uri="{FF2B5EF4-FFF2-40B4-BE49-F238E27FC236}">
                <a16:creationId xmlns:a16="http://schemas.microsoft.com/office/drawing/2014/main" id="{1016CC75-1094-48B2-B661-92D4F983B409}"/>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4800" b="1">
                <a:solidFill>
                  <a:srgbClr val="FFFFFF"/>
                </a:solidFill>
                <a:latin typeface="Georgia"/>
                <a:ea typeface="Georgia"/>
                <a:cs typeface="Georgia"/>
              </a:rPr>
              <a:t>6.5</a:t>
            </a:r>
          </a:p>
        </p:txBody>
      </p:sp>
      <p:sp>
        <p:nvSpPr>
          <p:cNvPr id="4" name="Text 2">
            <a:extLst xmlns:a="http://schemas.openxmlformats.org/drawingml/2006/main">
              <a:ext uri="{FF2B5EF4-FFF2-40B4-BE49-F238E27FC236}">
                <a16:creationId xmlns:a16="http://schemas.microsoft.com/office/drawing/2014/main" id="{D436B221-7819-4DDD-8FC8-75E064646FB5}"/>
              </a:ext>
            </a:extLst>
          </p:cNvPr>
          <p:cNvSpPr>
            <a:spLocks xmlns:a="http://schemas.openxmlformats.org/drawingml/2006/main" noGrp="1"/>
          </p:cNvSpPr>
          <p:nvPr/>
        </p:nvSpPr>
        <p:spPr>
          <a:xfrm xmlns:a="http://schemas.openxmlformats.org/drawingml/2006/main">
            <a:off x="3200400" y="2468880"/>
            <a:ext cx="7315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9FC2C9"/>
                </a:solidFill>
                <a:latin typeface="Calibri"/>
                <a:ea typeface="Calibri"/>
                <a:cs typeface="Calibri"/>
              </a:rPr>
              <a:t>SECTION</a:t>
            </a:r>
          </a:p>
        </p:txBody>
      </p:sp>
      <p:sp>
        <p:nvSpPr>
          <p:cNvPr id="5" name="Text 3">
            <a:extLst xmlns:a="http://schemas.openxmlformats.org/drawingml/2006/main">
              <a:ext uri="{FF2B5EF4-FFF2-40B4-BE49-F238E27FC236}">
                <a16:creationId xmlns:a16="http://schemas.microsoft.com/office/drawing/2014/main" id="{30271664-F9EF-4E20-A8D8-176D144F9F22}"/>
              </a:ext>
            </a:extLst>
          </p:cNvPr>
          <p:cNvSpPr>
            <a:spLocks xmlns:a="http://schemas.openxmlformats.org/drawingml/2006/main" noGrp="1"/>
          </p:cNvSpPr>
          <p:nvPr/>
        </p:nvSpPr>
        <p:spPr>
          <a:xfrm xmlns:a="http://schemas.openxmlformats.org/drawingml/2006/main">
            <a:off x="3154680" y="2788920"/>
            <a:ext cx="8412480" cy="14630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3000" b="1">
                <a:solidFill>
                  <a:srgbClr val="FFFFFF"/>
                </a:solidFill>
                <a:latin typeface="Georgia"/>
                <a:ea typeface="Georgia"/>
                <a:cs typeface="Georgia"/>
              </a:rPr>
              <a:t>Fractures: Bone Repair</a:t>
            </a:r>
          </a:p>
        </p:txBody>
      </p:sp>
      <p:sp>
        <p:nvSpPr>
          <p:cNvPr id="6" name="Text 4">
            <a:extLst xmlns:a="http://schemas.openxmlformats.org/drawingml/2006/main">
              <a:ext uri="{FF2B5EF4-FFF2-40B4-BE49-F238E27FC236}">
                <a16:creationId xmlns:a16="http://schemas.microsoft.com/office/drawing/2014/main" id="{D9BB4F4B-EBDD-4933-9D19-0B19E7D6151A}"/>
              </a:ext>
            </a:extLst>
          </p:cNvPr>
          <p:cNvSpPr>
            <a:spLocks xmlns:a="http://schemas.openxmlformats.org/drawingml/2006/main" noGrp="1"/>
          </p:cNvSpPr>
          <p:nvPr/>
        </p:nvSpPr>
        <p:spPr>
          <a:xfrm xmlns:a="http://schemas.openxmlformats.org/drawingml/2006/main">
            <a:off x="3200400" y="4160520"/>
            <a:ext cx="813816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0000"/>
              </a:lnSpc>
              <a:buNone/>
            </a:pPr>
            <a:r>
              <a:rPr sz="1500">
                <a:solidFill>
                  <a:srgbClr val="CFE3E7"/>
                </a:solidFill>
                <a:latin typeface="Calibri"/>
                <a:ea typeface="Calibri"/>
                <a:cs typeface="Calibri"/>
              </a:rPr>
              <a:t>Types of fractures and how bone repairs itself.</a:t>
            </a:r>
          </a:p>
        </p:txBody>
      </p:sp>
    </p:spTree>
    <p:extLst>
      <p:ext uri="{BB962C8B-B14F-4D97-AF65-F5344CB8AC3E}">
        <p14:creationId xmlns:p14="http://schemas.microsoft.com/office/powerpoint/2010/main" val="46479716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200BC0D-6078-41D9-B0C3-3B8D8A35C05A}"/>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6.5</a:t>
            </a:r>
          </a:p>
        </p:txBody>
      </p:sp>
      <p:sp>
        <p:nvSpPr>
          <p:cNvPr id="3" name="Text 1">
            <a:extLst xmlns:a="http://schemas.openxmlformats.org/drawingml/2006/main">
              <a:ext uri="{FF2B5EF4-FFF2-40B4-BE49-F238E27FC236}">
                <a16:creationId xmlns:a16="http://schemas.microsoft.com/office/drawing/2014/main" id="{9871CF68-E74D-4E99-8518-1E83588E5D83}"/>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Types of Fractures</a:t>
            </a:r>
          </a:p>
        </p:txBody>
      </p:sp>
      <p:sp>
        <p:nvSpPr>
          <p:cNvPr id="4" name="Shape 2">
            <a:extLst xmlns:a="http://schemas.openxmlformats.org/drawingml/2006/main">
              <a:ext uri="{FF2B5EF4-FFF2-40B4-BE49-F238E27FC236}">
                <a16:creationId xmlns:a16="http://schemas.microsoft.com/office/drawing/2014/main" id="{D1F7D02E-0128-4430-8C61-F53681168CE4}"/>
              </a:ext>
            </a:extLst>
          </p:cNvPr>
          <p:cNvSpPr>
            <a:spLocks xmlns:a="http://schemas.openxmlformats.org/drawingml/2006/main" noGrp="1"/>
          </p:cNvSpPr>
          <p:nvPr/>
        </p:nvSpPr>
        <p:spPr>
          <a:xfrm xmlns:a="http://schemas.openxmlformats.org/drawingml/2006/main">
            <a:off x="1363142" y="1289304"/>
            <a:ext cx="2577236" cy="4736592"/>
          </a:xfrm>
          <a:prstGeom xmlns:a="http://schemas.openxmlformats.org/drawingml/2006/main" prst="roundRect">
            <a:avLst>
              <a:gd name="adj" fmla="val 2129"/>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5" name="Image 0"/>
          <p:cNvPicPr>
            <a:picLocks xmlns:a="http://schemas.openxmlformats.org/drawingml/2006/main" noChangeAspect="1"/>
          </p:cNvPicPr>
          <p:nvPr/>
        </p:nvPicPr>
        <p:blipFill>
          <a:blip xmlns:r="http://schemas.openxmlformats.org/officeDocument/2006/relationships" xmlns:a="http://schemas.openxmlformats.org/drawingml/2006/main" r:embed="R4767a894154941d9"/>
          <a:stretch xmlns:a="http://schemas.openxmlformats.org/drawingml/2006/main">
            <a:fillRect l="0" t="0" r="0" b="0"/>
          </a:stretch>
        </p:blipFill>
        <p:spPr>
          <a:xfrm xmlns:a="http://schemas.openxmlformats.org/drawingml/2006/main">
            <a:off x="1445438" y="1371600"/>
            <a:ext cx="2412644" cy="457200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DB8F726F-E3B1-4B30-A8CC-295F7F3D35C3}"/>
              </a:ext>
            </a:extLst>
          </p:cNvPr>
          <p:cNvSpPr>
            <a:spLocks xmlns:a="http://schemas.openxmlformats.org/drawingml/2006/main" noGrp="1"/>
          </p:cNvSpPr>
          <p:nvPr/>
        </p:nvSpPr>
        <p:spPr>
          <a:xfrm xmlns:a="http://schemas.openxmlformats.org/drawingml/2006/main">
            <a:off x="502920" y="5989320"/>
            <a:ext cx="42976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Common types of bone fractures</a:t>
            </a:r>
          </a:p>
        </p:txBody>
      </p:sp>
      <p:sp>
        <p:nvSpPr>
          <p:cNvPr id="7" name="Text 4">
            <a:extLst xmlns:a="http://schemas.openxmlformats.org/drawingml/2006/main">
              <a:ext uri="{FF2B5EF4-FFF2-40B4-BE49-F238E27FC236}">
                <a16:creationId xmlns:a16="http://schemas.microsoft.com/office/drawing/2014/main" id="{97694FF1-11DB-4142-AF71-19B14CFE862A}"/>
              </a:ext>
            </a:extLst>
          </p:cNvPr>
          <p:cNvSpPr>
            <a:spLocks xmlns:a="http://schemas.openxmlformats.org/drawingml/2006/main" noGrp="1"/>
          </p:cNvSpPr>
          <p:nvPr/>
        </p:nvSpPr>
        <p:spPr>
          <a:xfrm xmlns:a="http://schemas.openxmlformats.org/drawingml/2006/main">
            <a:off x="5074920" y="1828800"/>
            <a:ext cx="6583680" cy="40233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Closed (simple) vs. open (compound)</a:t>
            </a:r>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Transverse, oblique, spiral, comminuted</a:t>
            </a:r>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Greenstick (incomplete) in children</a:t>
            </a:r>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Impacted ends driven together</a:t>
            </a:r>
          </a:p>
        </p:txBody>
      </p:sp>
      <p:sp>
        <p:nvSpPr>
          <p:cNvPr id="9" name="Text 5">
            <a:extLst xmlns:a="http://schemas.openxmlformats.org/drawingml/2006/main">
              <a:ext uri="{FF2B5EF4-FFF2-40B4-BE49-F238E27FC236}">
                <a16:creationId xmlns:a16="http://schemas.microsoft.com/office/drawing/2014/main" id="{1A84E762-4D30-473D-81B7-3BC4E7E610E5}"/>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6 — Bone Tissue and the Skeletal System</a:t>
            </a:r>
          </a:p>
        </p:txBody>
      </p:sp>
      <p:sp>
        <p:nvSpPr>
          <p:cNvPr id="10" name="Text 6">
            <a:extLst xmlns:a="http://schemas.openxmlformats.org/drawingml/2006/main">
              <a:ext uri="{FF2B5EF4-FFF2-40B4-BE49-F238E27FC236}">
                <a16:creationId xmlns:a16="http://schemas.microsoft.com/office/drawing/2014/main" id="{B83605BE-EB99-419B-8A1E-62B64A5CC510}"/>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15</a:t>
            </a:r>
          </a:p>
        </p:txBody>
      </p:sp>
    </p:spTree>
    <p:extLst>
      <p:ext uri="{BB962C8B-B14F-4D97-AF65-F5344CB8AC3E}">
        <p14:creationId xmlns:p14="http://schemas.microsoft.com/office/powerpoint/2010/main" val="138321445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255C5B6-A1FB-4272-B740-25AAB32556FA}"/>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6.5</a:t>
            </a:r>
          </a:p>
        </p:txBody>
      </p:sp>
      <p:sp>
        <p:nvSpPr>
          <p:cNvPr id="3" name="Text 1">
            <a:extLst xmlns:a="http://schemas.openxmlformats.org/drawingml/2006/main">
              <a:ext uri="{FF2B5EF4-FFF2-40B4-BE49-F238E27FC236}">
                <a16:creationId xmlns:a16="http://schemas.microsoft.com/office/drawing/2014/main" id="{EDBF0782-A23F-4354-8E15-FA658A05FAA2}"/>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Fracture Repair</a:t>
            </a:r>
          </a:p>
        </p:txBody>
      </p:sp>
      <p:sp>
        <p:nvSpPr>
          <p:cNvPr id="4" name="Shape 2">
            <a:extLst xmlns:a="http://schemas.openxmlformats.org/drawingml/2006/main">
              <a:ext uri="{FF2B5EF4-FFF2-40B4-BE49-F238E27FC236}">
                <a16:creationId xmlns:a16="http://schemas.microsoft.com/office/drawing/2014/main" id="{4D389568-7EE4-417D-B3F0-8C7443869E42}"/>
              </a:ext>
            </a:extLst>
          </p:cNvPr>
          <p:cNvSpPr>
            <a:spLocks xmlns:a="http://schemas.openxmlformats.org/drawingml/2006/main" noGrp="1"/>
          </p:cNvSpPr>
          <p:nvPr/>
        </p:nvSpPr>
        <p:spPr>
          <a:xfrm xmlns:a="http://schemas.openxmlformats.org/drawingml/2006/main">
            <a:off x="1403147" y="1289304"/>
            <a:ext cx="9400946" cy="3730752"/>
          </a:xfrm>
          <a:prstGeom xmlns:a="http://schemas.openxmlformats.org/drawingml/2006/main" prst="roundRect">
            <a:avLst>
              <a:gd name="adj" fmla="val 1471"/>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a4b7656f5d4d4807"/>
          <a:stretch xmlns:a="http://schemas.openxmlformats.org/drawingml/2006/main">
            <a:fillRect l="0" t="0" r="0" b="0"/>
          </a:stretch>
        </p:blipFill>
        <p:spPr>
          <a:xfrm xmlns:a="http://schemas.openxmlformats.org/drawingml/2006/main">
            <a:off x="1485443" y="1371600"/>
            <a:ext cx="9236354" cy="356616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D277352C-A3AF-479C-888A-1CF0AD23BBAB}"/>
              </a:ext>
            </a:extLst>
          </p:cNvPr>
          <p:cNvSpPr>
            <a:spLocks xmlns:a="http://schemas.openxmlformats.org/drawingml/2006/main" noGrp="1"/>
          </p:cNvSpPr>
          <p:nvPr/>
        </p:nvSpPr>
        <p:spPr>
          <a:xfrm xmlns:a="http://schemas.openxmlformats.org/drawingml/2006/main">
            <a:off x="640080" y="4983480"/>
            <a:ext cx="109270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The stages of fracture repair</a:t>
            </a:r>
          </a:p>
        </p:txBody>
      </p:sp>
      <p:sp>
        <p:nvSpPr>
          <p:cNvPr id="7" name="Text 4">
            <a:extLst xmlns:a="http://schemas.openxmlformats.org/drawingml/2006/main">
              <a:ext uri="{FF2B5EF4-FFF2-40B4-BE49-F238E27FC236}">
                <a16:creationId xmlns:a16="http://schemas.microsoft.com/office/drawing/2014/main" id="{2B96A15F-5EF9-4B18-A79C-07471686B33D}"/>
              </a:ext>
            </a:extLst>
          </p:cNvPr>
          <p:cNvSpPr>
            <a:spLocks xmlns:a="http://schemas.openxmlformats.org/drawingml/2006/main" noGrp="1"/>
          </p:cNvSpPr>
          <p:nvPr/>
        </p:nvSpPr>
        <p:spPr>
          <a:xfrm xmlns:a="http://schemas.openxmlformats.org/drawingml/2006/main">
            <a:off x="731520" y="5349240"/>
            <a:ext cx="5349240" cy="10972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A hematoma forms at the break</a:t>
            </a:r>
          </a:p>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A soft (fibrocartilage) callus bridges it</a:t>
            </a:r>
          </a:p>
        </p:txBody>
      </p:sp>
      <p:sp>
        <p:nvSpPr>
          <p:cNvPr id="8" name="Text 5">
            <a:extLst xmlns:a="http://schemas.openxmlformats.org/drawingml/2006/main">
              <a:ext uri="{FF2B5EF4-FFF2-40B4-BE49-F238E27FC236}">
                <a16:creationId xmlns:a16="http://schemas.microsoft.com/office/drawing/2014/main" id="{D7F7869C-BDFC-4505-9847-D543C88CB04F}"/>
              </a:ext>
            </a:extLst>
          </p:cNvPr>
          <p:cNvSpPr>
            <a:spLocks xmlns:a="http://schemas.openxmlformats.org/drawingml/2006/main" noGrp="1"/>
          </p:cNvSpPr>
          <p:nvPr/>
        </p:nvSpPr>
        <p:spPr>
          <a:xfrm xmlns:a="http://schemas.openxmlformats.org/drawingml/2006/main">
            <a:off x="6263640" y="5349240"/>
            <a:ext cx="5349240" cy="10972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A bony callus replaces it</a:t>
            </a:r>
          </a:p>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Remodeling restores the bone</a:t>
            </a:r>
          </a:p>
        </p:txBody>
      </p:sp>
      <p:sp>
        <p:nvSpPr>
          <p:cNvPr id="10" name="Text 6">
            <a:extLst xmlns:a="http://schemas.openxmlformats.org/drawingml/2006/main">
              <a:ext uri="{FF2B5EF4-FFF2-40B4-BE49-F238E27FC236}">
                <a16:creationId xmlns:a16="http://schemas.microsoft.com/office/drawing/2014/main" id="{1CC40EE4-FFCE-47C8-BF90-485CFEE3D183}"/>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6 — Bone Tissue and the Skeletal System</a:t>
            </a:r>
          </a:p>
        </p:txBody>
      </p:sp>
      <p:sp>
        <p:nvSpPr>
          <p:cNvPr id="11" name="Text 7">
            <a:extLst xmlns:a="http://schemas.openxmlformats.org/drawingml/2006/main">
              <a:ext uri="{FF2B5EF4-FFF2-40B4-BE49-F238E27FC236}">
                <a16:creationId xmlns:a16="http://schemas.microsoft.com/office/drawing/2014/main" id="{6B8B3D53-CE7C-4044-BA99-F357C33C8D08}"/>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16</a:t>
            </a:r>
          </a:p>
        </p:txBody>
      </p:sp>
    </p:spTree>
    <p:extLst>
      <p:ext uri="{BB962C8B-B14F-4D97-AF65-F5344CB8AC3E}">
        <p14:creationId xmlns:p14="http://schemas.microsoft.com/office/powerpoint/2010/main" val="291236739"/>
      </p:ext>
    </p:extLst>
  </p:cSld>
</p:sld>
</file>

<file path=ppt/slides/slide17.xml><?xml version="1.0" encoding="utf-8"?>
<p:sld xmlns:p="http://schemas.openxmlformats.org/presentationml/2006/main">
  <p:cSld>
    <p:bg>
      <p:bgPr>
        <a:solidFill xmlns:a="http://schemas.openxmlformats.org/drawingml/2006/main">
          <a:srgbClr val="0F4C5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FA85787D-7E18-4607-92B8-95DD24AD6705}"/>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ellipse">
            <a:avLst/>
          </a:prstGeom>
          <a:solidFill xmlns:a="http://schemas.openxmlformats.org/drawingml/2006/main">
            <a:srgbClr val="E36414"/>
          </a:solidFill>
        </p:spPr>
      </p:sp>
      <p:sp>
        <p:nvSpPr>
          <p:cNvPr id="3" name="Text 1">
            <a:extLst xmlns:a="http://schemas.openxmlformats.org/drawingml/2006/main">
              <a:ext uri="{FF2B5EF4-FFF2-40B4-BE49-F238E27FC236}">
                <a16:creationId xmlns:a16="http://schemas.microsoft.com/office/drawing/2014/main" id="{8F90AC4D-BBD5-4C92-A9EF-E6203C5AE858}"/>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4800" b="1">
                <a:solidFill>
                  <a:srgbClr val="FFFFFF"/>
                </a:solidFill>
                <a:latin typeface="Georgia"/>
                <a:ea typeface="Georgia"/>
                <a:cs typeface="Georgia"/>
              </a:rPr>
              <a:t>6.6</a:t>
            </a:r>
          </a:p>
        </p:txBody>
      </p:sp>
      <p:sp>
        <p:nvSpPr>
          <p:cNvPr id="4" name="Text 2">
            <a:extLst xmlns:a="http://schemas.openxmlformats.org/drawingml/2006/main">
              <a:ext uri="{FF2B5EF4-FFF2-40B4-BE49-F238E27FC236}">
                <a16:creationId xmlns:a16="http://schemas.microsoft.com/office/drawing/2014/main" id="{C860189D-DF35-4408-AE73-029079E391B9}"/>
              </a:ext>
            </a:extLst>
          </p:cNvPr>
          <p:cNvSpPr>
            <a:spLocks xmlns:a="http://schemas.openxmlformats.org/drawingml/2006/main" noGrp="1"/>
          </p:cNvSpPr>
          <p:nvPr/>
        </p:nvSpPr>
        <p:spPr>
          <a:xfrm xmlns:a="http://schemas.openxmlformats.org/drawingml/2006/main">
            <a:off x="3200400" y="2468880"/>
            <a:ext cx="7315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9FC2C9"/>
                </a:solidFill>
                <a:latin typeface="Calibri"/>
                <a:ea typeface="Calibri"/>
                <a:cs typeface="Calibri"/>
              </a:rPr>
              <a:t>SECTION</a:t>
            </a:r>
          </a:p>
        </p:txBody>
      </p:sp>
      <p:sp>
        <p:nvSpPr>
          <p:cNvPr id="5" name="Text 3">
            <a:extLst xmlns:a="http://schemas.openxmlformats.org/drawingml/2006/main">
              <a:ext uri="{FF2B5EF4-FFF2-40B4-BE49-F238E27FC236}">
                <a16:creationId xmlns:a16="http://schemas.microsoft.com/office/drawing/2014/main" id="{E471F6D2-B640-496B-A1AE-8378592F82F5}"/>
              </a:ext>
            </a:extLst>
          </p:cNvPr>
          <p:cNvSpPr>
            <a:spLocks xmlns:a="http://schemas.openxmlformats.org/drawingml/2006/main" noGrp="1"/>
          </p:cNvSpPr>
          <p:nvPr/>
        </p:nvSpPr>
        <p:spPr>
          <a:xfrm xmlns:a="http://schemas.openxmlformats.org/drawingml/2006/main">
            <a:off x="3154680" y="2788920"/>
            <a:ext cx="8412480" cy="14630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3000" b="1">
                <a:solidFill>
                  <a:srgbClr val="FFFFFF"/>
                </a:solidFill>
                <a:latin typeface="Georgia"/>
                <a:ea typeface="Georgia"/>
                <a:cs typeface="Georgia"/>
              </a:rPr>
              <a:t>Exercise, Nutrition, Hormones, and Bone Tissue</a:t>
            </a:r>
          </a:p>
        </p:txBody>
      </p:sp>
      <p:sp>
        <p:nvSpPr>
          <p:cNvPr id="6" name="Text 4">
            <a:extLst xmlns:a="http://schemas.openxmlformats.org/drawingml/2006/main">
              <a:ext uri="{FF2B5EF4-FFF2-40B4-BE49-F238E27FC236}">
                <a16:creationId xmlns:a16="http://schemas.microsoft.com/office/drawing/2014/main" id="{336D5B48-5E18-453E-8670-85B6FBD447AB}"/>
              </a:ext>
            </a:extLst>
          </p:cNvPr>
          <p:cNvSpPr>
            <a:spLocks xmlns:a="http://schemas.openxmlformats.org/drawingml/2006/main" noGrp="1"/>
          </p:cNvSpPr>
          <p:nvPr/>
        </p:nvSpPr>
        <p:spPr>
          <a:xfrm xmlns:a="http://schemas.openxmlformats.org/drawingml/2006/main">
            <a:off x="3200400" y="4160520"/>
            <a:ext cx="813816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0000"/>
              </a:lnSpc>
              <a:buNone/>
            </a:pPr>
            <a:r>
              <a:rPr sz="1500">
                <a:solidFill>
                  <a:srgbClr val="CFE3E7"/>
                </a:solidFill>
                <a:latin typeface="Calibri"/>
                <a:ea typeface="Calibri"/>
                <a:cs typeface="Calibri"/>
              </a:rPr>
              <a:t>How exercise, nutrition, and hormones keep bone strong.</a:t>
            </a:r>
          </a:p>
        </p:txBody>
      </p:sp>
    </p:spTree>
    <p:extLst>
      <p:ext uri="{BB962C8B-B14F-4D97-AF65-F5344CB8AC3E}">
        <p14:creationId xmlns:p14="http://schemas.microsoft.com/office/powerpoint/2010/main" val="182857511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B6AA481-0216-4D1B-9B02-0356D7B724DA}"/>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6.6</a:t>
            </a:r>
          </a:p>
        </p:txBody>
      </p:sp>
      <p:sp>
        <p:nvSpPr>
          <p:cNvPr id="3" name="Text 1">
            <a:extLst xmlns:a="http://schemas.openxmlformats.org/drawingml/2006/main">
              <a:ext uri="{FF2B5EF4-FFF2-40B4-BE49-F238E27FC236}">
                <a16:creationId xmlns:a16="http://schemas.microsoft.com/office/drawing/2014/main" id="{98B094BC-795B-4D86-A166-82574947FBB4}"/>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Vitamin D &amp; Calcium Absorption</a:t>
            </a:r>
          </a:p>
        </p:txBody>
      </p:sp>
      <p:sp>
        <p:nvSpPr>
          <p:cNvPr id="4" name="Shape 2">
            <a:extLst xmlns:a="http://schemas.openxmlformats.org/drawingml/2006/main">
              <a:ext uri="{FF2B5EF4-FFF2-40B4-BE49-F238E27FC236}">
                <a16:creationId xmlns:a16="http://schemas.microsoft.com/office/drawing/2014/main" id="{BF08658A-B5B4-4CA3-BDCE-A6CAF698CA7A}"/>
              </a:ext>
            </a:extLst>
          </p:cNvPr>
          <p:cNvSpPr>
            <a:spLocks xmlns:a="http://schemas.openxmlformats.org/drawingml/2006/main" noGrp="1"/>
          </p:cNvSpPr>
          <p:nvPr/>
        </p:nvSpPr>
        <p:spPr>
          <a:xfrm xmlns:a="http://schemas.openxmlformats.org/drawingml/2006/main">
            <a:off x="830504" y="1289304"/>
            <a:ext cx="3642512" cy="4736592"/>
          </a:xfrm>
          <a:prstGeom xmlns:a="http://schemas.openxmlformats.org/drawingml/2006/main" prst="roundRect">
            <a:avLst>
              <a:gd name="adj" fmla="val 1506"/>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5" name="Image 0"/>
          <p:cNvPicPr>
            <a:picLocks xmlns:a="http://schemas.openxmlformats.org/drawingml/2006/main" noChangeAspect="1"/>
          </p:cNvPicPr>
          <p:nvPr/>
        </p:nvPicPr>
        <p:blipFill>
          <a:blip xmlns:r="http://schemas.openxmlformats.org/officeDocument/2006/relationships" xmlns:a="http://schemas.openxmlformats.org/drawingml/2006/main" r:embed="R8e0e092024bd4934"/>
          <a:stretch xmlns:a="http://schemas.openxmlformats.org/drawingml/2006/main">
            <a:fillRect l="0" t="0" r="0" b="0"/>
          </a:stretch>
        </p:blipFill>
        <p:spPr>
          <a:xfrm xmlns:a="http://schemas.openxmlformats.org/drawingml/2006/main">
            <a:off x="912800" y="1371600"/>
            <a:ext cx="3477920" cy="457200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90AD29DA-2648-4AF3-9C2C-14CE1A1143C4}"/>
              </a:ext>
            </a:extLst>
          </p:cNvPr>
          <p:cNvSpPr>
            <a:spLocks xmlns:a="http://schemas.openxmlformats.org/drawingml/2006/main" noGrp="1"/>
          </p:cNvSpPr>
          <p:nvPr/>
        </p:nvSpPr>
        <p:spPr>
          <a:xfrm xmlns:a="http://schemas.openxmlformats.org/drawingml/2006/main">
            <a:off x="502920" y="5989320"/>
            <a:ext cx="42976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Vitamin D synthesis and calcium absorption</a:t>
            </a:r>
          </a:p>
        </p:txBody>
      </p:sp>
      <p:sp>
        <p:nvSpPr>
          <p:cNvPr id="7" name="Text 4">
            <a:extLst xmlns:a="http://schemas.openxmlformats.org/drawingml/2006/main">
              <a:ext uri="{FF2B5EF4-FFF2-40B4-BE49-F238E27FC236}">
                <a16:creationId xmlns:a16="http://schemas.microsoft.com/office/drawing/2014/main" id="{F882338F-4615-47D9-9BFE-6485E71B9BCC}"/>
              </a:ext>
            </a:extLst>
          </p:cNvPr>
          <p:cNvSpPr>
            <a:spLocks xmlns:a="http://schemas.openxmlformats.org/drawingml/2006/main" noGrp="1"/>
          </p:cNvSpPr>
          <p:nvPr/>
        </p:nvSpPr>
        <p:spPr>
          <a:xfrm xmlns:a="http://schemas.openxmlformats.org/drawingml/2006/main">
            <a:off x="5074920" y="1828800"/>
            <a:ext cx="6583680" cy="40233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Sunlight starts vitamin D synthesis</a:t>
            </a:r>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Liver and kidneys activate it</a:t>
            </a:r>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Vitamin D drives calcium absorption</a:t>
            </a:r>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Essential for strong bones</a:t>
            </a:r>
          </a:p>
        </p:txBody>
      </p:sp>
      <p:sp>
        <p:nvSpPr>
          <p:cNvPr id="9" name="Text 5">
            <a:extLst xmlns:a="http://schemas.openxmlformats.org/drawingml/2006/main">
              <a:ext uri="{FF2B5EF4-FFF2-40B4-BE49-F238E27FC236}">
                <a16:creationId xmlns:a16="http://schemas.microsoft.com/office/drawing/2014/main" id="{FF1808AE-2729-4D23-B409-6EEC4BE21606}"/>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6 — Bone Tissue and the Skeletal System</a:t>
            </a:r>
          </a:p>
        </p:txBody>
      </p:sp>
      <p:sp>
        <p:nvSpPr>
          <p:cNvPr id="10" name="Text 6">
            <a:extLst xmlns:a="http://schemas.openxmlformats.org/drawingml/2006/main">
              <a:ext uri="{FF2B5EF4-FFF2-40B4-BE49-F238E27FC236}">
                <a16:creationId xmlns:a16="http://schemas.microsoft.com/office/drawing/2014/main" id="{D94F2A39-5FB7-4DD9-BD5F-B63D9DEA494F}"/>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18</a:t>
            </a:r>
          </a:p>
        </p:txBody>
      </p:sp>
    </p:spTree>
    <p:extLst>
      <p:ext uri="{BB962C8B-B14F-4D97-AF65-F5344CB8AC3E}">
        <p14:creationId xmlns:p14="http://schemas.microsoft.com/office/powerpoint/2010/main" val="1784564527"/>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1888A46-2FDE-4E39-B709-40605849C0A9}"/>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6.6</a:t>
            </a:r>
          </a:p>
        </p:txBody>
      </p:sp>
      <p:sp>
        <p:nvSpPr>
          <p:cNvPr id="3" name="Text 1">
            <a:extLst xmlns:a="http://schemas.openxmlformats.org/drawingml/2006/main">
              <a:ext uri="{FF2B5EF4-FFF2-40B4-BE49-F238E27FC236}">
                <a16:creationId xmlns:a16="http://schemas.microsoft.com/office/drawing/2014/main" id="{83828BE3-CD02-432D-822E-ACF8C8067F07}"/>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Bone Mass Over the Lifespan</a:t>
            </a:r>
          </a:p>
        </p:txBody>
      </p:sp>
      <p:sp>
        <p:nvSpPr>
          <p:cNvPr id="4" name="Shape 2">
            <a:extLst xmlns:a="http://schemas.openxmlformats.org/drawingml/2006/main">
              <a:ext uri="{FF2B5EF4-FFF2-40B4-BE49-F238E27FC236}">
                <a16:creationId xmlns:a16="http://schemas.microsoft.com/office/drawing/2014/main" id="{1D666349-C478-4972-8EAF-475365AC65DE}"/>
              </a:ext>
            </a:extLst>
          </p:cNvPr>
          <p:cNvSpPr>
            <a:spLocks xmlns:a="http://schemas.openxmlformats.org/drawingml/2006/main" noGrp="1"/>
          </p:cNvSpPr>
          <p:nvPr/>
        </p:nvSpPr>
        <p:spPr>
          <a:xfrm xmlns:a="http://schemas.openxmlformats.org/drawingml/2006/main">
            <a:off x="3248278" y="1289304"/>
            <a:ext cx="5710684" cy="3730752"/>
          </a:xfrm>
          <a:prstGeom xmlns:a="http://schemas.openxmlformats.org/drawingml/2006/main" prst="roundRect">
            <a:avLst>
              <a:gd name="adj" fmla="val 1471"/>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dcb4c39432584f02"/>
          <a:stretch xmlns:a="http://schemas.openxmlformats.org/drawingml/2006/main">
            <a:fillRect l="0" t="0" r="0" b="0"/>
          </a:stretch>
        </p:blipFill>
        <p:spPr>
          <a:xfrm xmlns:a="http://schemas.openxmlformats.org/drawingml/2006/main">
            <a:off x="3330574" y="1371600"/>
            <a:ext cx="5546092" cy="356616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40F64573-7CFB-4D00-97F6-929B029A5920}"/>
              </a:ext>
            </a:extLst>
          </p:cNvPr>
          <p:cNvSpPr>
            <a:spLocks xmlns:a="http://schemas.openxmlformats.org/drawingml/2006/main" noGrp="1"/>
          </p:cNvSpPr>
          <p:nvPr/>
        </p:nvSpPr>
        <p:spPr>
          <a:xfrm xmlns:a="http://schemas.openxmlformats.org/drawingml/2006/main">
            <a:off x="640080" y="4983480"/>
            <a:ext cx="109270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Bone mass across the lifespan</a:t>
            </a:r>
          </a:p>
        </p:txBody>
      </p:sp>
      <p:sp>
        <p:nvSpPr>
          <p:cNvPr id="7" name="Text 4">
            <a:extLst xmlns:a="http://schemas.openxmlformats.org/drawingml/2006/main">
              <a:ext uri="{FF2B5EF4-FFF2-40B4-BE49-F238E27FC236}">
                <a16:creationId xmlns:a16="http://schemas.microsoft.com/office/drawing/2014/main" id="{A85F558F-39B1-40E1-8FDF-E623C613DB99}"/>
              </a:ext>
            </a:extLst>
          </p:cNvPr>
          <p:cNvSpPr>
            <a:spLocks xmlns:a="http://schemas.openxmlformats.org/drawingml/2006/main" noGrp="1"/>
          </p:cNvSpPr>
          <p:nvPr/>
        </p:nvSpPr>
        <p:spPr>
          <a:xfrm xmlns:a="http://schemas.openxmlformats.org/drawingml/2006/main">
            <a:off x="731520" y="5349240"/>
            <a:ext cx="5349240" cy="10972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Bone mass peaks in young adulthood</a:t>
            </a:r>
          </a:p>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Declines with age, faster after menopause</a:t>
            </a:r>
          </a:p>
        </p:txBody>
      </p:sp>
      <p:sp>
        <p:nvSpPr>
          <p:cNvPr id="8" name="Text 5">
            <a:extLst xmlns:a="http://schemas.openxmlformats.org/drawingml/2006/main">
              <a:ext uri="{FF2B5EF4-FFF2-40B4-BE49-F238E27FC236}">
                <a16:creationId xmlns:a16="http://schemas.microsoft.com/office/drawing/2014/main" id="{68886A42-BDE0-4A36-A3AF-009E35C2A912}"/>
              </a:ext>
            </a:extLst>
          </p:cNvPr>
          <p:cNvSpPr>
            <a:spLocks xmlns:a="http://schemas.openxmlformats.org/drawingml/2006/main" noGrp="1"/>
          </p:cNvSpPr>
          <p:nvPr/>
        </p:nvSpPr>
        <p:spPr>
          <a:xfrm xmlns:a="http://schemas.openxmlformats.org/drawingml/2006/main">
            <a:off x="6263640" y="5349240"/>
            <a:ext cx="5349240" cy="10972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Low bone mass leads to osteoporosis</a:t>
            </a:r>
          </a:p>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Exercise and calcium slow the loss</a:t>
            </a:r>
          </a:p>
        </p:txBody>
      </p:sp>
      <p:sp>
        <p:nvSpPr>
          <p:cNvPr id="10" name="Text 6">
            <a:extLst xmlns:a="http://schemas.openxmlformats.org/drawingml/2006/main">
              <a:ext uri="{FF2B5EF4-FFF2-40B4-BE49-F238E27FC236}">
                <a16:creationId xmlns:a16="http://schemas.microsoft.com/office/drawing/2014/main" id="{DF70BF21-3258-4C7A-B954-F5E1AF92152B}"/>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6 — Bone Tissue and the Skeletal System</a:t>
            </a:r>
          </a:p>
        </p:txBody>
      </p:sp>
      <p:sp>
        <p:nvSpPr>
          <p:cNvPr id="11" name="Text 7">
            <a:extLst xmlns:a="http://schemas.openxmlformats.org/drawingml/2006/main">
              <a:ext uri="{FF2B5EF4-FFF2-40B4-BE49-F238E27FC236}">
                <a16:creationId xmlns:a16="http://schemas.microsoft.com/office/drawing/2014/main" id="{83DE883B-2547-4236-8AE5-68AA4DA1B8F3}"/>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19</a:t>
            </a:r>
          </a:p>
        </p:txBody>
      </p:sp>
    </p:spTree>
    <p:extLst>
      <p:ext uri="{BB962C8B-B14F-4D97-AF65-F5344CB8AC3E}">
        <p14:creationId xmlns:p14="http://schemas.microsoft.com/office/powerpoint/2010/main" val="1957171939"/>
      </p:ext>
    </p:extLst>
  </p:cSld>
</p:sld>
</file>

<file path=ppt/slides/slide20.xml><?xml version="1.0" encoding="utf-8"?>
<p:sld xmlns:p="http://schemas.openxmlformats.org/presentationml/2006/main">
  <p:cSld>
    <p:bg>
      <p:bgPr>
        <a:solidFill xmlns:a="http://schemas.openxmlformats.org/drawingml/2006/main">
          <a:srgbClr val="0F4C5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107D221-F185-4B7A-BB7C-F84C2962C7BA}"/>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ellipse">
            <a:avLst/>
          </a:prstGeom>
          <a:solidFill xmlns:a="http://schemas.openxmlformats.org/drawingml/2006/main">
            <a:srgbClr val="E36414"/>
          </a:solidFill>
        </p:spPr>
      </p:sp>
      <p:sp>
        <p:nvSpPr>
          <p:cNvPr id="3" name="Text 1">
            <a:extLst xmlns:a="http://schemas.openxmlformats.org/drawingml/2006/main">
              <a:ext uri="{FF2B5EF4-FFF2-40B4-BE49-F238E27FC236}">
                <a16:creationId xmlns:a16="http://schemas.microsoft.com/office/drawing/2014/main" id="{DF3BE004-30B7-4C53-86BD-1EA292923DA3}"/>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4800" b="1">
                <a:solidFill>
                  <a:srgbClr val="FFFFFF"/>
                </a:solidFill>
                <a:latin typeface="Georgia"/>
                <a:ea typeface="Georgia"/>
                <a:cs typeface="Georgia"/>
              </a:rPr>
              <a:t>6.7</a:t>
            </a:r>
          </a:p>
        </p:txBody>
      </p:sp>
      <p:sp>
        <p:nvSpPr>
          <p:cNvPr id="4" name="Text 2">
            <a:extLst xmlns:a="http://schemas.openxmlformats.org/drawingml/2006/main">
              <a:ext uri="{FF2B5EF4-FFF2-40B4-BE49-F238E27FC236}">
                <a16:creationId xmlns:a16="http://schemas.microsoft.com/office/drawing/2014/main" id="{3F0635C8-9422-4867-8E42-5EDA1BD2127D}"/>
              </a:ext>
            </a:extLst>
          </p:cNvPr>
          <p:cNvSpPr>
            <a:spLocks xmlns:a="http://schemas.openxmlformats.org/drawingml/2006/main" noGrp="1"/>
          </p:cNvSpPr>
          <p:nvPr/>
        </p:nvSpPr>
        <p:spPr>
          <a:xfrm xmlns:a="http://schemas.openxmlformats.org/drawingml/2006/main">
            <a:off x="3200400" y="2468880"/>
            <a:ext cx="7315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9FC2C9"/>
                </a:solidFill>
                <a:latin typeface="Calibri"/>
                <a:ea typeface="Calibri"/>
                <a:cs typeface="Calibri"/>
              </a:rPr>
              <a:t>SECTION</a:t>
            </a:r>
          </a:p>
        </p:txBody>
      </p:sp>
      <p:sp>
        <p:nvSpPr>
          <p:cNvPr id="5" name="Text 3">
            <a:extLst xmlns:a="http://schemas.openxmlformats.org/drawingml/2006/main">
              <a:ext uri="{FF2B5EF4-FFF2-40B4-BE49-F238E27FC236}">
                <a16:creationId xmlns:a16="http://schemas.microsoft.com/office/drawing/2014/main" id="{294217B8-C248-43E6-812B-07F30BD83B0B}"/>
              </a:ext>
            </a:extLst>
          </p:cNvPr>
          <p:cNvSpPr>
            <a:spLocks xmlns:a="http://schemas.openxmlformats.org/drawingml/2006/main" noGrp="1"/>
          </p:cNvSpPr>
          <p:nvPr/>
        </p:nvSpPr>
        <p:spPr>
          <a:xfrm xmlns:a="http://schemas.openxmlformats.org/drawingml/2006/main">
            <a:off x="3154680" y="2788920"/>
            <a:ext cx="8412480" cy="14630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3000" b="1">
                <a:solidFill>
                  <a:srgbClr val="FFFFFF"/>
                </a:solidFill>
                <a:latin typeface="Georgia"/>
                <a:ea typeface="Georgia"/>
                <a:cs typeface="Georgia"/>
              </a:rPr>
              <a:t>Calcium Homeostasis: Interactions of the Skeletal System and Other Organ Systems</a:t>
            </a:r>
          </a:p>
        </p:txBody>
      </p:sp>
      <p:sp>
        <p:nvSpPr>
          <p:cNvPr id="6" name="Text 4">
            <a:extLst xmlns:a="http://schemas.openxmlformats.org/drawingml/2006/main">
              <a:ext uri="{FF2B5EF4-FFF2-40B4-BE49-F238E27FC236}">
                <a16:creationId xmlns:a16="http://schemas.microsoft.com/office/drawing/2014/main" id="{F155BE8A-FF6D-4B0E-B4F9-FCC72840491B}"/>
              </a:ext>
            </a:extLst>
          </p:cNvPr>
          <p:cNvSpPr>
            <a:spLocks xmlns:a="http://schemas.openxmlformats.org/drawingml/2006/main" noGrp="1"/>
          </p:cNvSpPr>
          <p:nvPr/>
        </p:nvSpPr>
        <p:spPr>
          <a:xfrm xmlns:a="http://schemas.openxmlformats.org/drawingml/2006/main">
            <a:off x="3200400" y="4160520"/>
            <a:ext cx="813816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0000"/>
              </a:lnSpc>
              <a:buNone/>
            </a:pPr>
            <a:r>
              <a:rPr sz="1500">
                <a:solidFill>
                  <a:srgbClr val="CFE3E7"/>
                </a:solidFill>
                <a:latin typeface="Calibri"/>
                <a:ea typeface="Calibri"/>
                <a:cs typeface="Calibri"/>
              </a:rPr>
              <a:t>How the skeleton helps keep blood calcium in a safe range.</a:t>
            </a:r>
          </a:p>
        </p:txBody>
      </p:sp>
    </p:spTree>
    <p:extLst>
      <p:ext uri="{BB962C8B-B14F-4D97-AF65-F5344CB8AC3E}">
        <p14:creationId xmlns:p14="http://schemas.microsoft.com/office/powerpoint/2010/main" val="680860524"/>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D2DE60A-5AD7-4474-AE62-593E642AC34E}"/>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6.7</a:t>
            </a:r>
          </a:p>
        </p:txBody>
      </p:sp>
      <p:sp>
        <p:nvSpPr>
          <p:cNvPr id="3" name="Text 1">
            <a:extLst xmlns:a="http://schemas.openxmlformats.org/drawingml/2006/main">
              <a:ext uri="{FF2B5EF4-FFF2-40B4-BE49-F238E27FC236}">
                <a16:creationId xmlns:a16="http://schemas.microsoft.com/office/drawing/2014/main" id="{B3A8EBD4-AD67-4B10-A89A-DAAF4739D20D}"/>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Calcium Homeostasis</a:t>
            </a:r>
          </a:p>
        </p:txBody>
      </p:sp>
      <p:sp>
        <p:nvSpPr>
          <p:cNvPr id="4" name="Text 2">
            <a:extLst xmlns:a="http://schemas.openxmlformats.org/drawingml/2006/main">
              <a:ext uri="{FF2B5EF4-FFF2-40B4-BE49-F238E27FC236}">
                <a16:creationId xmlns:a16="http://schemas.microsoft.com/office/drawing/2014/main" id="{A5F3A885-5C57-4D1E-A90D-62F04216FFD3}"/>
              </a:ext>
            </a:extLst>
          </p:cNvPr>
          <p:cNvSpPr>
            <a:spLocks xmlns:a="http://schemas.openxmlformats.org/drawingml/2006/main" noGrp="1"/>
          </p:cNvSpPr>
          <p:nvPr/>
        </p:nvSpPr>
        <p:spPr>
          <a:xfrm xmlns:a="http://schemas.openxmlformats.org/drawingml/2006/main">
            <a:off x="548640" y="1783080"/>
            <a:ext cx="4663440" cy="4206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Blood calcium is tightly controlled</a:t>
            </a:r>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PTH raises calcium (bone, kidney, gut)</a:t>
            </a:r>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Calcitonin lowers calcium</a:t>
            </a:r>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Bone is the body's calcium reservoir</a:t>
            </a:r>
          </a:p>
        </p:txBody>
      </p:sp>
      <p:sp>
        <p:nvSpPr>
          <p:cNvPr id="5" name="Shape 3">
            <a:extLst xmlns:a="http://schemas.openxmlformats.org/drawingml/2006/main">
              <a:ext uri="{FF2B5EF4-FFF2-40B4-BE49-F238E27FC236}">
                <a16:creationId xmlns:a16="http://schemas.microsoft.com/office/drawing/2014/main" id="{AF24C4EE-4455-447B-A26F-B2F790E217F5}"/>
              </a:ext>
            </a:extLst>
          </p:cNvPr>
          <p:cNvSpPr>
            <a:spLocks xmlns:a="http://schemas.openxmlformats.org/drawingml/2006/main" noGrp="1"/>
          </p:cNvSpPr>
          <p:nvPr/>
        </p:nvSpPr>
        <p:spPr>
          <a:xfrm xmlns:a="http://schemas.openxmlformats.org/drawingml/2006/main">
            <a:off x="6005295" y="1335024"/>
            <a:ext cx="5180131" cy="4645152"/>
          </a:xfrm>
          <a:prstGeom xmlns:a="http://schemas.openxmlformats.org/drawingml/2006/main" prst="roundRect">
            <a:avLst>
              <a:gd name="adj" fmla="val 1181"/>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3c3e220f3d3b4e6d"/>
          <a:stretch xmlns:a="http://schemas.openxmlformats.org/drawingml/2006/main">
            <a:fillRect l="0" t="0" r="0" b="0"/>
          </a:stretch>
        </p:blipFill>
        <p:spPr>
          <a:xfrm xmlns:a="http://schemas.openxmlformats.org/drawingml/2006/main">
            <a:off x="6087591" y="1417320"/>
            <a:ext cx="5015539" cy="4480560"/>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88677FFD-DC6B-4965-A2AC-F02BF8C70E0B}"/>
              </a:ext>
            </a:extLst>
          </p:cNvPr>
          <p:cNvSpPr>
            <a:spLocks xmlns:a="http://schemas.openxmlformats.org/drawingml/2006/main" noGrp="1"/>
          </p:cNvSpPr>
          <p:nvPr/>
        </p:nvSpPr>
        <p:spPr>
          <a:xfrm xmlns:a="http://schemas.openxmlformats.org/drawingml/2006/main">
            <a:off x="5486400" y="5943600"/>
            <a:ext cx="62179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Hormonal control of blood calcium</a:t>
            </a:r>
          </a:p>
        </p:txBody>
      </p:sp>
      <p:sp>
        <p:nvSpPr>
          <p:cNvPr id="9" name="Text 5">
            <a:extLst xmlns:a="http://schemas.openxmlformats.org/drawingml/2006/main">
              <a:ext uri="{FF2B5EF4-FFF2-40B4-BE49-F238E27FC236}">
                <a16:creationId xmlns:a16="http://schemas.microsoft.com/office/drawing/2014/main" id="{AD2E5147-F5C8-43D6-BA22-8F956E9406DC}"/>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6 — Bone Tissue and the Skeletal System</a:t>
            </a:r>
          </a:p>
        </p:txBody>
      </p:sp>
      <p:sp>
        <p:nvSpPr>
          <p:cNvPr id="10" name="Text 6">
            <a:extLst xmlns:a="http://schemas.openxmlformats.org/drawingml/2006/main">
              <a:ext uri="{FF2B5EF4-FFF2-40B4-BE49-F238E27FC236}">
                <a16:creationId xmlns:a16="http://schemas.microsoft.com/office/drawing/2014/main" id="{289E1F9D-A406-457C-8ABE-A966729BFBA2}"/>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21</a:t>
            </a:r>
          </a:p>
        </p:txBody>
      </p:sp>
    </p:spTree>
    <p:extLst>
      <p:ext uri="{BB962C8B-B14F-4D97-AF65-F5344CB8AC3E}">
        <p14:creationId xmlns:p14="http://schemas.microsoft.com/office/powerpoint/2010/main" val="1288512289"/>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4657931-5090-4AA6-9F3F-90A9733671D9}"/>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CHAPTER 6</a:t>
            </a:r>
          </a:p>
        </p:txBody>
      </p:sp>
      <p:sp>
        <p:nvSpPr>
          <p:cNvPr id="3" name="Text 1">
            <a:extLst xmlns:a="http://schemas.openxmlformats.org/drawingml/2006/main">
              <a:ext uri="{FF2B5EF4-FFF2-40B4-BE49-F238E27FC236}">
                <a16:creationId xmlns:a16="http://schemas.microsoft.com/office/drawing/2014/main" id="{560CF46B-D05A-4C6F-A8D1-04A97D2A4386}"/>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Key Takeaways</a:t>
            </a:r>
          </a:p>
        </p:txBody>
      </p:sp>
      <p:sp>
        <p:nvSpPr>
          <p:cNvPr id="4" name="Shape 2">
            <a:extLst xmlns:a="http://schemas.openxmlformats.org/drawingml/2006/main">
              <a:ext uri="{FF2B5EF4-FFF2-40B4-BE49-F238E27FC236}">
                <a16:creationId xmlns:a16="http://schemas.microsoft.com/office/drawing/2014/main" id="{A5D0687E-D0A5-4078-883F-E0F11EAF2560}"/>
              </a:ext>
            </a:extLst>
          </p:cNvPr>
          <p:cNvSpPr>
            <a:spLocks xmlns:a="http://schemas.openxmlformats.org/drawingml/2006/main" noGrp="1"/>
          </p:cNvSpPr>
          <p:nvPr/>
        </p:nvSpPr>
        <p:spPr>
          <a:xfrm xmlns:a="http://schemas.openxmlformats.org/drawingml/2006/main">
            <a:off x="548640" y="1819656"/>
            <a:ext cx="237744" cy="237744"/>
          </a:xfrm>
          <a:prstGeom xmlns:a="http://schemas.openxmlformats.org/drawingml/2006/main" prst="ellipse">
            <a:avLst/>
          </a:prstGeom>
          <a:solidFill xmlns:a="http://schemas.openxmlformats.org/drawingml/2006/main">
            <a:srgbClr val="E36414"/>
          </a:solidFill>
        </p:spPr>
      </p:sp>
      <p:sp>
        <p:nvSpPr>
          <p:cNvPr id="5" name="Text 3">
            <a:extLst xmlns:a="http://schemas.openxmlformats.org/drawingml/2006/main">
              <a:ext uri="{FF2B5EF4-FFF2-40B4-BE49-F238E27FC236}">
                <a16:creationId xmlns:a16="http://schemas.microsoft.com/office/drawing/2014/main" id="{E54011B2-E3FF-4310-A6F4-7889EFF0497D}"/>
              </a:ext>
            </a:extLst>
          </p:cNvPr>
          <p:cNvSpPr>
            <a:spLocks xmlns:a="http://schemas.openxmlformats.org/drawingml/2006/main" noGrp="1"/>
          </p:cNvSpPr>
          <p:nvPr/>
        </p:nvSpPr>
        <p:spPr>
          <a:xfrm xmlns:a="http://schemas.openxmlformats.org/drawingml/2006/main">
            <a:off x="960120" y="1737360"/>
            <a:ext cx="1060704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50">
                <a:solidFill>
                  <a:srgbClr val="23363B"/>
                </a:solidFill>
                <a:latin typeface="Calibri"/>
                <a:ea typeface="Calibri"/>
                <a:cs typeface="Calibri"/>
              </a:rPr>
              <a:t>The skeleton supports, protects, moves the body, stores minerals, and makes blood cells.</a:t>
            </a:r>
          </a:p>
        </p:txBody>
      </p:sp>
      <p:sp>
        <p:nvSpPr>
          <p:cNvPr id="6" name="Shape 4">
            <a:extLst xmlns:a="http://schemas.openxmlformats.org/drawingml/2006/main">
              <a:ext uri="{FF2B5EF4-FFF2-40B4-BE49-F238E27FC236}">
                <a16:creationId xmlns:a16="http://schemas.microsoft.com/office/drawing/2014/main" id="{61404561-5552-418A-BD29-E677CF02F3AD}"/>
              </a:ext>
            </a:extLst>
          </p:cNvPr>
          <p:cNvSpPr>
            <a:spLocks xmlns:a="http://schemas.openxmlformats.org/drawingml/2006/main" noGrp="1"/>
          </p:cNvSpPr>
          <p:nvPr/>
        </p:nvSpPr>
        <p:spPr>
          <a:xfrm xmlns:a="http://schemas.openxmlformats.org/drawingml/2006/main">
            <a:off x="548640" y="2606040"/>
            <a:ext cx="237744" cy="237744"/>
          </a:xfrm>
          <a:prstGeom xmlns:a="http://schemas.openxmlformats.org/drawingml/2006/main" prst="ellipse">
            <a:avLst/>
          </a:prstGeom>
          <a:solidFill xmlns:a="http://schemas.openxmlformats.org/drawingml/2006/main">
            <a:srgbClr val="E36414"/>
          </a:solidFill>
        </p:spPr>
      </p:sp>
      <p:sp>
        <p:nvSpPr>
          <p:cNvPr id="7" name="Text 5">
            <a:extLst xmlns:a="http://schemas.openxmlformats.org/drawingml/2006/main">
              <a:ext uri="{FF2B5EF4-FFF2-40B4-BE49-F238E27FC236}">
                <a16:creationId xmlns:a16="http://schemas.microsoft.com/office/drawing/2014/main" id="{35534E5A-2D40-408A-91E8-29A911DF205B}"/>
              </a:ext>
            </a:extLst>
          </p:cNvPr>
          <p:cNvSpPr>
            <a:spLocks xmlns:a="http://schemas.openxmlformats.org/drawingml/2006/main" noGrp="1"/>
          </p:cNvSpPr>
          <p:nvPr/>
        </p:nvSpPr>
        <p:spPr>
          <a:xfrm xmlns:a="http://schemas.openxmlformats.org/drawingml/2006/main">
            <a:off x="960120" y="2523744"/>
            <a:ext cx="1060704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50">
                <a:solidFill>
                  <a:srgbClr val="23363B"/>
                </a:solidFill>
                <a:latin typeface="Calibri"/>
                <a:ea typeface="Calibri"/>
                <a:cs typeface="Calibri"/>
              </a:rPr>
              <a:t>Bones are classified by shape, with structure suited to function.</a:t>
            </a:r>
          </a:p>
        </p:txBody>
      </p:sp>
      <p:sp>
        <p:nvSpPr>
          <p:cNvPr id="8" name="Shape 6">
            <a:extLst xmlns:a="http://schemas.openxmlformats.org/drawingml/2006/main">
              <a:ext uri="{FF2B5EF4-FFF2-40B4-BE49-F238E27FC236}">
                <a16:creationId xmlns:a16="http://schemas.microsoft.com/office/drawing/2014/main" id="{FE677D32-72E6-4762-B9F9-E5B32B369F3E}"/>
              </a:ext>
            </a:extLst>
          </p:cNvPr>
          <p:cNvSpPr>
            <a:spLocks xmlns:a="http://schemas.openxmlformats.org/drawingml/2006/main" noGrp="1"/>
          </p:cNvSpPr>
          <p:nvPr/>
        </p:nvSpPr>
        <p:spPr>
          <a:xfrm xmlns:a="http://schemas.openxmlformats.org/drawingml/2006/main">
            <a:off x="548640" y="3392424"/>
            <a:ext cx="237744" cy="237744"/>
          </a:xfrm>
          <a:prstGeom xmlns:a="http://schemas.openxmlformats.org/drawingml/2006/main" prst="ellipse">
            <a:avLst/>
          </a:prstGeom>
          <a:solidFill xmlns:a="http://schemas.openxmlformats.org/drawingml/2006/main">
            <a:srgbClr val="E36414"/>
          </a:solidFill>
        </p:spPr>
      </p:sp>
      <p:sp>
        <p:nvSpPr>
          <p:cNvPr id="9" name="Text 7">
            <a:extLst xmlns:a="http://schemas.openxmlformats.org/drawingml/2006/main">
              <a:ext uri="{FF2B5EF4-FFF2-40B4-BE49-F238E27FC236}">
                <a16:creationId xmlns:a16="http://schemas.microsoft.com/office/drawing/2014/main" id="{C2FC284C-121F-426B-8280-C60E24EA44B2}"/>
              </a:ext>
            </a:extLst>
          </p:cNvPr>
          <p:cNvSpPr>
            <a:spLocks xmlns:a="http://schemas.openxmlformats.org/drawingml/2006/main" noGrp="1"/>
          </p:cNvSpPr>
          <p:nvPr/>
        </p:nvSpPr>
        <p:spPr>
          <a:xfrm xmlns:a="http://schemas.openxmlformats.org/drawingml/2006/main">
            <a:off x="960120" y="3310128"/>
            <a:ext cx="1060704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50">
                <a:solidFill>
                  <a:srgbClr val="23363B"/>
                </a:solidFill>
                <a:latin typeface="Calibri"/>
                <a:ea typeface="Calibri"/>
                <a:cs typeface="Calibri"/>
              </a:rPr>
              <a:t>Bone is living tissue, built of osteons and continuously remodeled by bone cells.</a:t>
            </a:r>
          </a:p>
        </p:txBody>
      </p:sp>
      <p:sp>
        <p:nvSpPr>
          <p:cNvPr id="10" name="Shape 8">
            <a:extLst xmlns:a="http://schemas.openxmlformats.org/drawingml/2006/main">
              <a:ext uri="{FF2B5EF4-FFF2-40B4-BE49-F238E27FC236}">
                <a16:creationId xmlns:a16="http://schemas.microsoft.com/office/drawing/2014/main" id="{9113F742-C573-487F-B8C5-1E1C596F0AD2}"/>
              </a:ext>
            </a:extLst>
          </p:cNvPr>
          <p:cNvSpPr>
            <a:spLocks xmlns:a="http://schemas.openxmlformats.org/drawingml/2006/main" noGrp="1"/>
          </p:cNvSpPr>
          <p:nvPr/>
        </p:nvSpPr>
        <p:spPr>
          <a:xfrm xmlns:a="http://schemas.openxmlformats.org/drawingml/2006/main">
            <a:off x="548640" y="4178808"/>
            <a:ext cx="237744" cy="237744"/>
          </a:xfrm>
          <a:prstGeom xmlns:a="http://schemas.openxmlformats.org/drawingml/2006/main" prst="ellipse">
            <a:avLst/>
          </a:prstGeom>
          <a:solidFill xmlns:a="http://schemas.openxmlformats.org/drawingml/2006/main">
            <a:srgbClr val="E36414"/>
          </a:solidFill>
        </p:spPr>
      </p:sp>
      <p:sp>
        <p:nvSpPr>
          <p:cNvPr id="11" name="Text 9">
            <a:extLst xmlns:a="http://schemas.openxmlformats.org/drawingml/2006/main">
              <a:ext uri="{FF2B5EF4-FFF2-40B4-BE49-F238E27FC236}">
                <a16:creationId xmlns:a16="http://schemas.microsoft.com/office/drawing/2014/main" id="{F8B5290C-C2B6-4524-A603-60BC9BD7C18F}"/>
              </a:ext>
            </a:extLst>
          </p:cNvPr>
          <p:cNvSpPr>
            <a:spLocks xmlns:a="http://schemas.openxmlformats.org/drawingml/2006/main" noGrp="1"/>
          </p:cNvSpPr>
          <p:nvPr/>
        </p:nvSpPr>
        <p:spPr>
          <a:xfrm xmlns:a="http://schemas.openxmlformats.org/drawingml/2006/main">
            <a:off x="960120" y="4096512"/>
            <a:ext cx="1060704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50">
                <a:solidFill>
                  <a:srgbClr val="23363B"/>
                </a:solidFill>
                <a:latin typeface="Calibri"/>
                <a:ea typeface="Calibri"/>
                <a:cs typeface="Calibri"/>
              </a:rPr>
              <a:t>Bones form by ossification and lengthen at the epiphyseal plate until adulthood.</a:t>
            </a:r>
          </a:p>
        </p:txBody>
      </p:sp>
      <p:sp>
        <p:nvSpPr>
          <p:cNvPr id="12" name="Shape 10">
            <a:extLst xmlns:a="http://schemas.openxmlformats.org/drawingml/2006/main">
              <a:ext uri="{FF2B5EF4-FFF2-40B4-BE49-F238E27FC236}">
                <a16:creationId xmlns:a16="http://schemas.microsoft.com/office/drawing/2014/main" id="{03B90A4D-518A-41CB-8B5F-F79D427FA92E}"/>
              </a:ext>
            </a:extLst>
          </p:cNvPr>
          <p:cNvSpPr>
            <a:spLocks xmlns:a="http://schemas.openxmlformats.org/drawingml/2006/main" noGrp="1"/>
          </p:cNvSpPr>
          <p:nvPr/>
        </p:nvSpPr>
        <p:spPr>
          <a:xfrm xmlns:a="http://schemas.openxmlformats.org/drawingml/2006/main">
            <a:off x="548640" y="4965192"/>
            <a:ext cx="237744" cy="237744"/>
          </a:xfrm>
          <a:prstGeom xmlns:a="http://schemas.openxmlformats.org/drawingml/2006/main" prst="ellipse">
            <a:avLst/>
          </a:prstGeom>
          <a:solidFill xmlns:a="http://schemas.openxmlformats.org/drawingml/2006/main">
            <a:srgbClr val="E36414"/>
          </a:solidFill>
        </p:spPr>
      </p:sp>
      <p:sp>
        <p:nvSpPr>
          <p:cNvPr id="13" name="Text 11">
            <a:extLst xmlns:a="http://schemas.openxmlformats.org/drawingml/2006/main">
              <a:ext uri="{FF2B5EF4-FFF2-40B4-BE49-F238E27FC236}">
                <a16:creationId xmlns:a16="http://schemas.microsoft.com/office/drawing/2014/main" id="{07FAB32C-D430-46BB-8E62-BF911DA93CFD}"/>
              </a:ext>
            </a:extLst>
          </p:cNvPr>
          <p:cNvSpPr>
            <a:spLocks xmlns:a="http://schemas.openxmlformats.org/drawingml/2006/main" noGrp="1"/>
          </p:cNvSpPr>
          <p:nvPr/>
        </p:nvSpPr>
        <p:spPr>
          <a:xfrm xmlns:a="http://schemas.openxmlformats.org/drawingml/2006/main">
            <a:off x="960120" y="4882896"/>
            <a:ext cx="1060704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50">
                <a:solidFill>
                  <a:srgbClr val="23363B"/>
                </a:solidFill>
                <a:latin typeface="Calibri"/>
                <a:ea typeface="Calibri"/>
                <a:cs typeface="Calibri"/>
              </a:rPr>
              <a:t>Bone health depends on exercise, nutrition, hormones, and calcium balance.</a:t>
            </a:r>
          </a:p>
        </p:txBody>
      </p:sp>
      <p:sp>
        <p:nvSpPr>
          <p:cNvPr id="14" name="Text 12">
            <a:extLst xmlns:a="http://schemas.openxmlformats.org/drawingml/2006/main">
              <a:ext uri="{FF2B5EF4-FFF2-40B4-BE49-F238E27FC236}">
                <a16:creationId xmlns:a16="http://schemas.microsoft.com/office/drawing/2014/main" id="{475B17A1-BB0C-4B4D-A68D-659E1A155494}"/>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6 — Bone Tissue and the Skeletal System</a:t>
            </a:r>
          </a:p>
        </p:txBody>
      </p:sp>
      <p:sp>
        <p:nvSpPr>
          <p:cNvPr id="15" name="Text 13">
            <a:extLst xmlns:a="http://schemas.openxmlformats.org/drawingml/2006/main">
              <a:ext uri="{FF2B5EF4-FFF2-40B4-BE49-F238E27FC236}">
                <a16:creationId xmlns:a16="http://schemas.microsoft.com/office/drawing/2014/main" id="{428F3395-EC6B-4BF7-8271-2ABD21CF51C5}"/>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22</a:t>
            </a:r>
          </a:p>
        </p:txBody>
      </p:sp>
    </p:spTree>
    <p:extLst>
      <p:ext uri="{BB962C8B-B14F-4D97-AF65-F5344CB8AC3E}">
        <p14:creationId xmlns:p14="http://schemas.microsoft.com/office/powerpoint/2010/main" val="318880750"/>
      </p:ext>
    </p:extLst>
  </p:cSld>
</p:sld>
</file>

<file path=ppt/slides/slide23.xml><?xml version="1.0" encoding="utf-8"?>
<p:sld xmlns:p="http://schemas.openxmlformats.org/presentationml/2006/main">
  <p:cSld>
    <p:bg>
      <p:bgPr>
        <a:solidFill xmlns:a="http://schemas.openxmlformats.org/drawingml/2006/main">
          <a:srgbClr val="0F4C5C"/>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48BEF86-9C35-466A-B5A8-1FCE8DA56654}"/>
              </a:ext>
            </a:extLst>
          </p:cNvPr>
          <p:cNvSpPr>
            <a:spLocks xmlns:a="http://schemas.openxmlformats.org/drawingml/2006/main" noGrp="1"/>
          </p:cNvSpPr>
          <p:nvPr/>
        </p:nvSpPr>
        <p:spPr>
          <a:xfrm xmlns:a="http://schemas.openxmlformats.org/drawingml/2006/main">
            <a:off x="548640" y="502920"/>
            <a:ext cx="100584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a:solidFill>
                  <a:srgbClr val="E36414"/>
                </a:solidFill>
                <a:latin typeface="Calibri"/>
                <a:ea typeface="Calibri"/>
                <a:cs typeface="Calibri"/>
              </a:rPr>
              <a:t>CLINICAL CONNECTIONS</a:t>
            </a:r>
          </a:p>
        </p:txBody>
      </p:sp>
      <p:sp>
        <p:nvSpPr>
          <p:cNvPr id="3" name="Text 1">
            <a:extLst xmlns:a="http://schemas.openxmlformats.org/drawingml/2006/main">
              <a:ext uri="{FF2B5EF4-FFF2-40B4-BE49-F238E27FC236}">
                <a16:creationId xmlns:a16="http://schemas.microsoft.com/office/drawing/2014/main" id="{251AA250-3230-4411-ABA2-C1B948EB86B8}"/>
              </a:ext>
            </a:extLst>
          </p:cNvPr>
          <p:cNvSpPr>
            <a:spLocks xmlns:a="http://schemas.openxmlformats.org/drawingml/2006/main" noGrp="1"/>
          </p:cNvSpPr>
          <p:nvPr/>
        </p:nvSpPr>
        <p:spPr>
          <a:xfrm xmlns:a="http://schemas.openxmlformats.org/drawingml/2006/main">
            <a:off x="530352" y="841248"/>
            <a:ext cx="10972800" cy="6400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600" b="1">
                <a:solidFill>
                  <a:srgbClr val="FFFFFF"/>
                </a:solidFill>
                <a:latin typeface="Georgia"/>
                <a:ea typeface="Georgia"/>
                <a:cs typeface="Georgia"/>
              </a:rPr>
              <a:t>Why Bone Matters in Practical Nursing</a:t>
            </a:r>
          </a:p>
        </p:txBody>
      </p:sp>
      <p:sp>
        <p:nvSpPr>
          <p:cNvPr id="4" name="Shape 2">
            <a:extLst xmlns:a="http://schemas.openxmlformats.org/drawingml/2006/main">
              <a:ext uri="{FF2B5EF4-FFF2-40B4-BE49-F238E27FC236}">
                <a16:creationId xmlns:a16="http://schemas.microsoft.com/office/drawing/2014/main" id="{2D161503-8507-4ABB-A052-70BD9AFCF3F9}"/>
              </a:ext>
            </a:extLst>
          </p:cNvPr>
          <p:cNvSpPr>
            <a:spLocks xmlns:a="http://schemas.openxmlformats.org/drawingml/2006/main" noGrp="1"/>
          </p:cNvSpPr>
          <p:nvPr/>
        </p:nvSpPr>
        <p:spPr>
          <a:xfrm xmlns:a="http://schemas.openxmlformats.org/drawingml/2006/main">
            <a:off x="548640" y="1691640"/>
            <a:ext cx="5440680" cy="1417320"/>
          </a:xfrm>
          <a:prstGeom xmlns:a="http://schemas.openxmlformats.org/drawingml/2006/main" prst="roundRect">
            <a:avLst>
              <a:gd name="adj" fmla="val 5161"/>
            </a:avLst>
          </a:prstGeom>
          <a:solidFill xmlns:a="http://schemas.openxmlformats.org/drawingml/2006/main">
            <a:srgbClr val="13586A"/>
          </a:solidFill>
          <a:ln xmlns:a="http://schemas.openxmlformats.org/drawingml/2006/main" w="12700">
            <a:solidFill>
              <a:srgbClr val="2A7A8C"/>
            </a:solidFill>
            <a:prstDash val="solid"/>
          </a:ln>
        </p:spPr>
      </p:sp>
      <p:sp>
        <p:nvSpPr>
          <p:cNvPr id="5" name="Text 3">
            <a:extLst xmlns:a="http://schemas.openxmlformats.org/drawingml/2006/main">
              <a:ext uri="{FF2B5EF4-FFF2-40B4-BE49-F238E27FC236}">
                <a16:creationId xmlns:a16="http://schemas.microsoft.com/office/drawing/2014/main" id="{3D6A3906-DAD7-4E7D-96CB-982E95B0F178}"/>
              </a:ext>
            </a:extLst>
          </p:cNvPr>
          <p:cNvSpPr>
            <a:spLocks xmlns:a="http://schemas.openxmlformats.org/drawingml/2006/main" noGrp="1"/>
          </p:cNvSpPr>
          <p:nvPr/>
        </p:nvSpPr>
        <p:spPr>
          <a:xfrm xmlns:a="http://schemas.openxmlformats.org/drawingml/2006/main">
            <a:off x="777240" y="1819656"/>
            <a:ext cx="50292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00" b="1">
                <a:solidFill>
                  <a:srgbClr val="7FD0C8"/>
                </a:solidFill>
                <a:latin typeface="Georgia"/>
                <a:ea typeface="Georgia"/>
                <a:cs typeface="Georgia"/>
              </a:rPr>
              <a:t>Fracture Care</a:t>
            </a:r>
          </a:p>
        </p:txBody>
      </p:sp>
      <p:sp>
        <p:nvSpPr>
          <p:cNvPr id="6" name="Text 4">
            <a:extLst xmlns:a="http://schemas.openxmlformats.org/drawingml/2006/main">
              <a:ext uri="{FF2B5EF4-FFF2-40B4-BE49-F238E27FC236}">
                <a16:creationId xmlns:a16="http://schemas.microsoft.com/office/drawing/2014/main" id="{0AA9F56F-59DF-420D-90BB-12FC92214D22}"/>
              </a:ext>
            </a:extLst>
          </p:cNvPr>
          <p:cNvSpPr>
            <a:spLocks xmlns:a="http://schemas.openxmlformats.org/drawingml/2006/main" noGrp="1"/>
          </p:cNvSpPr>
          <p:nvPr/>
        </p:nvSpPr>
        <p:spPr>
          <a:xfrm xmlns:a="http://schemas.openxmlformats.org/drawingml/2006/main">
            <a:off x="777240" y="2194560"/>
            <a:ext cx="5029200" cy="8229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02000"/>
              </a:lnSpc>
              <a:buNone/>
            </a:pPr>
            <a:r>
              <a:rPr sz="1250">
                <a:solidFill>
                  <a:srgbClr val="E6F1F3"/>
                </a:solidFill>
                <a:latin typeface="Calibri"/>
                <a:ea typeface="Calibri"/>
                <a:cs typeface="Calibri"/>
              </a:rPr>
              <a:t>Knowing fracture types and healing stages guides immobilization and recovery.</a:t>
            </a:r>
          </a:p>
        </p:txBody>
      </p:sp>
      <p:sp>
        <p:nvSpPr>
          <p:cNvPr id="7" name="Shape 5">
            <a:extLst xmlns:a="http://schemas.openxmlformats.org/drawingml/2006/main">
              <a:ext uri="{FF2B5EF4-FFF2-40B4-BE49-F238E27FC236}">
                <a16:creationId xmlns:a16="http://schemas.microsoft.com/office/drawing/2014/main" id="{2A46D321-2932-48A5-82C7-399E946E6983}"/>
              </a:ext>
            </a:extLst>
          </p:cNvPr>
          <p:cNvSpPr>
            <a:spLocks xmlns:a="http://schemas.openxmlformats.org/drawingml/2006/main" noGrp="1"/>
          </p:cNvSpPr>
          <p:nvPr/>
        </p:nvSpPr>
        <p:spPr>
          <a:xfrm xmlns:a="http://schemas.openxmlformats.org/drawingml/2006/main">
            <a:off x="6172200" y="1691640"/>
            <a:ext cx="5440680" cy="1417320"/>
          </a:xfrm>
          <a:prstGeom xmlns:a="http://schemas.openxmlformats.org/drawingml/2006/main" prst="roundRect">
            <a:avLst>
              <a:gd name="adj" fmla="val 5161"/>
            </a:avLst>
          </a:prstGeom>
          <a:solidFill xmlns:a="http://schemas.openxmlformats.org/drawingml/2006/main">
            <a:srgbClr val="13586A"/>
          </a:solidFill>
          <a:ln xmlns:a="http://schemas.openxmlformats.org/drawingml/2006/main" w="12700">
            <a:solidFill>
              <a:srgbClr val="2A7A8C"/>
            </a:solidFill>
            <a:prstDash val="solid"/>
          </a:ln>
        </p:spPr>
      </p:sp>
      <p:sp>
        <p:nvSpPr>
          <p:cNvPr id="8" name="Text 6">
            <a:extLst xmlns:a="http://schemas.openxmlformats.org/drawingml/2006/main">
              <a:ext uri="{FF2B5EF4-FFF2-40B4-BE49-F238E27FC236}">
                <a16:creationId xmlns:a16="http://schemas.microsoft.com/office/drawing/2014/main" id="{E8BBE9B5-E06D-4C86-8A10-53F604D1F14F}"/>
              </a:ext>
            </a:extLst>
          </p:cNvPr>
          <p:cNvSpPr>
            <a:spLocks xmlns:a="http://schemas.openxmlformats.org/drawingml/2006/main" noGrp="1"/>
          </p:cNvSpPr>
          <p:nvPr/>
        </p:nvSpPr>
        <p:spPr>
          <a:xfrm xmlns:a="http://schemas.openxmlformats.org/drawingml/2006/main">
            <a:off x="6400800" y="1819656"/>
            <a:ext cx="50292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00" b="1">
                <a:solidFill>
                  <a:srgbClr val="7FD0C8"/>
                </a:solidFill>
                <a:latin typeface="Georgia"/>
                <a:ea typeface="Georgia"/>
                <a:cs typeface="Georgia"/>
              </a:rPr>
              <a:t>Osteoporosis</a:t>
            </a:r>
          </a:p>
        </p:txBody>
      </p:sp>
      <p:sp>
        <p:nvSpPr>
          <p:cNvPr id="9" name="Text 7">
            <a:extLst xmlns:a="http://schemas.openxmlformats.org/drawingml/2006/main">
              <a:ext uri="{FF2B5EF4-FFF2-40B4-BE49-F238E27FC236}">
                <a16:creationId xmlns:a16="http://schemas.microsoft.com/office/drawing/2014/main" id="{3ADED62E-A55F-49DE-97AC-59618C8D836F}"/>
              </a:ext>
            </a:extLst>
          </p:cNvPr>
          <p:cNvSpPr>
            <a:spLocks xmlns:a="http://schemas.openxmlformats.org/drawingml/2006/main" noGrp="1"/>
          </p:cNvSpPr>
          <p:nvPr/>
        </p:nvSpPr>
        <p:spPr>
          <a:xfrm xmlns:a="http://schemas.openxmlformats.org/drawingml/2006/main">
            <a:off x="6400800" y="2194560"/>
            <a:ext cx="5029200" cy="8229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02000"/>
              </a:lnSpc>
              <a:buNone/>
            </a:pPr>
            <a:r>
              <a:rPr sz="1250">
                <a:solidFill>
                  <a:srgbClr val="E6F1F3"/>
                </a:solidFill>
                <a:latin typeface="Calibri"/>
                <a:ea typeface="Calibri"/>
                <a:cs typeface="Calibri"/>
              </a:rPr>
              <a:t>Bone loss with age raises fracture risk — central to fall prevention.</a:t>
            </a:r>
          </a:p>
        </p:txBody>
      </p:sp>
      <p:sp>
        <p:nvSpPr>
          <p:cNvPr id="10" name="Shape 8">
            <a:extLst xmlns:a="http://schemas.openxmlformats.org/drawingml/2006/main">
              <a:ext uri="{FF2B5EF4-FFF2-40B4-BE49-F238E27FC236}">
                <a16:creationId xmlns:a16="http://schemas.microsoft.com/office/drawing/2014/main" id="{77BC6561-02D4-4E18-83B9-8508AB8C82B7}"/>
              </a:ext>
            </a:extLst>
          </p:cNvPr>
          <p:cNvSpPr>
            <a:spLocks xmlns:a="http://schemas.openxmlformats.org/drawingml/2006/main" noGrp="1"/>
          </p:cNvSpPr>
          <p:nvPr/>
        </p:nvSpPr>
        <p:spPr>
          <a:xfrm xmlns:a="http://schemas.openxmlformats.org/drawingml/2006/main">
            <a:off x="548640" y="3264408"/>
            <a:ext cx="5440680" cy="1417320"/>
          </a:xfrm>
          <a:prstGeom xmlns:a="http://schemas.openxmlformats.org/drawingml/2006/main" prst="roundRect">
            <a:avLst>
              <a:gd name="adj" fmla="val 5161"/>
            </a:avLst>
          </a:prstGeom>
          <a:solidFill xmlns:a="http://schemas.openxmlformats.org/drawingml/2006/main">
            <a:srgbClr val="13586A"/>
          </a:solidFill>
          <a:ln xmlns:a="http://schemas.openxmlformats.org/drawingml/2006/main" w="12700">
            <a:solidFill>
              <a:srgbClr val="2A7A8C"/>
            </a:solidFill>
            <a:prstDash val="solid"/>
          </a:ln>
        </p:spPr>
      </p:sp>
      <p:sp>
        <p:nvSpPr>
          <p:cNvPr id="11" name="Text 9">
            <a:extLst xmlns:a="http://schemas.openxmlformats.org/drawingml/2006/main">
              <a:ext uri="{FF2B5EF4-FFF2-40B4-BE49-F238E27FC236}">
                <a16:creationId xmlns:a16="http://schemas.microsoft.com/office/drawing/2014/main" id="{DE04C0EA-203C-4DCE-A573-DB9D7504D1E4}"/>
              </a:ext>
            </a:extLst>
          </p:cNvPr>
          <p:cNvSpPr>
            <a:spLocks xmlns:a="http://schemas.openxmlformats.org/drawingml/2006/main" noGrp="1"/>
          </p:cNvSpPr>
          <p:nvPr/>
        </p:nvSpPr>
        <p:spPr>
          <a:xfrm xmlns:a="http://schemas.openxmlformats.org/drawingml/2006/main">
            <a:off x="777240" y="3392424"/>
            <a:ext cx="50292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00" b="1">
                <a:solidFill>
                  <a:srgbClr val="7FD0C8"/>
                </a:solidFill>
                <a:latin typeface="Georgia"/>
                <a:ea typeface="Georgia"/>
                <a:cs typeface="Georgia"/>
              </a:rPr>
              <a:t>Calcium &amp; Vitamin D</a:t>
            </a:r>
          </a:p>
        </p:txBody>
      </p:sp>
      <p:sp>
        <p:nvSpPr>
          <p:cNvPr id="12" name="Text 10">
            <a:extLst xmlns:a="http://schemas.openxmlformats.org/drawingml/2006/main">
              <a:ext uri="{FF2B5EF4-FFF2-40B4-BE49-F238E27FC236}">
                <a16:creationId xmlns:a16="http://schemas.microsoft.com/office/drawing/2014/main" id="{803E36C2-FE4F-4B23-B925-12326A7D1170}"/>
              </a:ext>
            </a:extLst>
          </p:cNvPr>
          <p:cNvSpPr>
            <a:spLocks xmlns:a="http://schemas.openxmlformats.org/drawingml/2006/main" noGrp="1"/>
          </p:cNvSpPr>
          <p:nvPr/>
        </p:nvSpPr>
        <p:spPr>
          <a:xfrm xmlns:a="http://schemas.openxmlformats.org/drawingml/2006/main">
            <a:off x="777240" y="3767328"/>
            <a:ext cx="5029200" cy="8229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02000"/>
              </a:lnSpc>
              <a:buNone/>
            </a:pPr>
            <a:r>
              <a:rPr sz="1250">
                <a:solidFill>
                  <a:srgbClr val="E6F1F3"/>
                </a:solidFill>
                <a:latin typeface="Calibri"/>
                <a:ea typeface="Calibri"/>
                <a:cs typeface="Calibri"/>
              </a:rPr>
              <a:t>Essential nutrients for bone and for nerve and muscle function.</a:t>
            </a:r>
          </a:p>
        </p:txBody>
      </p:sp>
      <p:sp>
        <p:nvSpPr>
          <p:cNvPr id="13" name="Shape 11">
            <a:extLst xmlns:a="http://schemas.openxmlformats.org/drawingml/2006/main">
              <a:ext uri="{FF2B5EF4-FFF2-40B4-BE49-F238E27FC236}">
                <a16:creationId xmlns:a16="http://schemas.microsoft.com/office/drawing/2014/main" id="{7027C67D-1F22-4922-9637-6EC3C8D30537}"/>
              </a:ext>
            </a:extLst>
          </p:cNvPr>
          <p:cNvSpPr>
            <a:spLocks xmlns:a="http://schemas.openxmlformats.org/drawingml/2006/main" noGrp="1"/>
          </p:cNvSpPr>
          <p:nvPr/>
        </p:nvSpPr>
        <p:spPr>
          <a:xfrm xmlns:a="http://schemas.openxmlformats.org/drawingml/2006/main">
            <a:off x="6172200" y="3264408"/>
            <a:ext cx="5440680" cy="1417320"/>
          </a:xfrm>
          <a:prstGeom xmlns:a="http://schemas.openxmlformats.org/drawingml/2006/main" prst="roundRect">
            <a:avLst>
              <a:gd name="adj" fmla="val 5161"/>
            </a:avLst>
          </a:prstGeom>
          <a:solidFill xmlns:a="http://schemas.openxmlformats.org/drawingml/2006/main">
            <a:srgbClr val="13586A"/>
          </a:solidFill>
          <a:ln xmlns:a="http://schemas.openxmlformats.org/drawingml/2006/main" w="12700">
            <a:solidFill>
              <a:srgbClr val="2A7A8C"/>
            </a:solidFill>
            <a:prstDash val="solid"/>
          </a:ln>
        </p:spPr>
      </p:sp>
      <p:sp>
        <p:nvSpPr>
          <p:cNvPr id="14" name="Text 12">
            <a:extLst xmlns:a="http://schemas.openxmlformats.org/drawingml/2006/main">
              <a:ext uri="{FF2B5EF4-FFF2-40B4-BE49-F238E27FC236}">
                <a16:creationId xmlns:a16="http://schemas.microsoft.com/office/drawing/2014/main" id="{B93B8D4C-2B72-4C28-8125-AE57E9D65A2A}"/>
              </a:ext>
            </a:extLst>
          </p:cNvPr>
          <p:cNvSpPr>
            <a:spLocks xmlns:a="http://schemas.openxmlformats.org/drawingml/2006/main" noGrp="1"/>
          </p:cNvSpPr>
          <p:nvPr/>
        </p:nvSpPr>
        <p:spPr>
          <a:xfrm xmlns:a="http://schemas.openxmlformats.org/drawingml/2006/main">
            <a:off x="6400800" y="3392424"/>
            <a:ext cx="50292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00" b="1">
                <a:solidFill>
                  <a:srgbClr val="7FD0C8"/>
                </a:solidFill>
                <a:latin typeface="Georgia"/>
                <a:ea typeface="Georgia"/>
                <a:cs typeface="Georgia"/>
              </a:rPr>
              <a:t>Blood Cell Formation</a:t>
            </a:r>
          </a:p>
        </p:txBody>
      </p:sp>
      <p:sp>
        <p:nvSpPr>
          <p:cNvPr id="15" name="Text 13">
            <a:extLst xmlns:a="http://schemas.openxmlformats.org/drawingml/2006/main">
              <a:ext uri="{FF2B5EF4-FFF2-40B4-BE49-F238E27FC236}">
                <a16:creationId xmlns:a16="http://schemas.microsoft.com/office/drawing/2014/main" id="{1725A036-6313-4366-97EB-16C7F265C403}"/>
              </a:ext>
            </a:extLst>
          </p:cNvPr>
          <p:cNvSpPr>
            <a:spLocks xmlns:a="http://schemas.openxmlformats.org/drawingml/2006/main" noGrp="1"/>
          </p:cNvSpPr>
          <p:nvPr/>
        </p:nvSpPr>
        <p:spPr>
          <a:xfrm xmlns:a="http://schemas.openxmlformats.org/drawingml/2006/main">
            <a:off x="6400800" y="3767328"/>
            <a:ext cx="5029200" cy="8229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02000"/>
              </a:lnSpc>
              <a:buNone/>
            </a:pPr>
            <a:r>
              <a:rPr sz="1250">
                <a:solidFill>
                  <a:srgbClr val="E6F1F3"/>
                </a:solidFill>
                <a:latin typeface="Calibri"/>
                <a:ea typeface="Calibri"/>
                <a:cs typeface="Calibri"/>
              </a:rPr>
              <a:t>Red marrow makes the blood cells you monitor in lab work.</a:t>
            </a:r>
          </a:p>
        </p:txBody>
      </p:sp>
      <p:sp>
        <p:nvSpPr>
          <p:cNvPr id="16" name="Shape 14">
            <a:extLst xmlns:a="http://schemas.openxmlformats.org/drawingml/2006/main">
              <a:ext uri="{FF2B5EF4-FFF2-40B4-BE49-F238E27FC236}">
                <a16:creationId xmlns:a16="http://schemas.microsoft.com/office/drawing/2014/main" id="{50658C72-D214-4AD6-9756-ED8F854AE95C}"/>
              </a:ext>
            </a:extLst>
          </p:cNvPr>
          <p:cNvSpPr>
            <a:spLocks xmlns:a="http://schemas.openxmlformats.org/drawingml/2006/main" noGrp="1"/>
          </p:cNvSpPr>
          <p:nvPr/>
        </p:nvSpPr>
        <p:spPr>
          <a:xfrm xmlns:a="http://schemas.openxmlformats.org/drawingml/2006/main">
            <a:off x="548640" y="4837176"/>
            <a:ext cx="5440680" cy="1417320"/>
          </a:xfrm>
          <a:prstGeom xmlns:a="http://schemas.openxmlformats.org/drawingml/2006/main" prst="roundRect">
            <a:avLst>
              <a:gd name="adj" fmla="val 5161"/>
            </a:avLst>
          </a:prstGeom>
          <a:solidFill xmlns:a="http://schemas.openxmlformats.org/drawingml/2006/main">
            <a:srgbClr val="13586A"/>
          </a:solidFill>
          <a:ln xmlns:a="http://schemas.openxmlformats.org/drawingml/2006/main" w="12700">
            <a:solidFill>
              <a:srgbClr val="2A7A8C"/>
            </a:solidFill>
            <a:prstDash val="solid"/>
          </a:ln>
        </p:spPr>
      </p:sp>
      <p:sp>
        <p:nvSpPr>
          <p:cNvPr id="17" name="Text 15">
            <a:extLst xmlns:a="http://schemas.openxmlformats.org/drawingml/2006/main">
              <a:ext uri="{FF2B5EF4-FFF2-40B4-BE49-F238E27FC236}">
                <a16:creationId xmlns:a16="http://schemas.microsoft.com/office/drawing/2014/main" id="{9CD0ACD5-3F1E-42C4-8073-03B28DF8B52D}"/>
              </a:ext>
            </a:extLst>
          </p:cNvPr>
          <p:cNvSpPr>
            <a:spLocks xmlns:a="http://schemas.openxmlformats.org/drawingml/2006/main" noGrp="1"/>
          </p:cNvSpPr>
          <p:nvPr/>
        </p:nvSpPr>
        <p:spPr>
          <a:xfrm xmlns:a="http://schemas.openxmlformats.org/drawingml/2006/main">
            <a:off x="777240" y="4965192"/>
            <a:ext cx="50292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00" b="1">
                <a:solidFill>
                  <a:srgbClr val="7FD0C8"/>
                </a:solidFill>
                <a:latin typeface="Georgia"/>
                <a:ea typeface="Georgia"/>
                <a:cs typeface="Georgia"/>
              </a:rPr>
              <a:t>Growth Plates</a:t>
            </a:r>
          </a:p>
        </p:txBody>
      </p:sp>
      <p:sp>
        <p:nvSpPr>
          <p:cNvPr id="18" name="Text 16">
            <a:extLst xmlns:a="http://schemas.openxmlformats.org/drawingml/2006/main">
              <a:ext uri="{FF2B5EF4-FFF2-40B4-BE49-F238E27FC236}">
                <a16:creationId xmlns:a16="http://schemas.microsoft.com/office/drawing/2014/main" id="{2D3E98BA-07D9-4F7A-BFB0-C696E4CEB3A6}"/>
              </a:ext>
            </a:extLst>
          </p:cNvPr>
          <p:cNvSpPr>
            <a:spLocks xmlns:a="http://schemas.openxmlformats.org/drawingml/2006/main" noGrp="1"/>
          </p:cNvSpPr>
          <p:nvPr/>
        </p:nvSpPr>
        <p:spPr>
          <a:xfrm xmlns:a="http://schemas.openxmlformats.org/drawingml/2006/main">
            <a:off x="777240" y="5340096"/>
            <a:ext cx="5029200" cy="8229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02000"/>
              </a:lnSpc>
              <a:buNone/>
            </a:pPr>
            <a:r>
              <a:rPr sz="1250">
                <a:solidFill>
                  <a:srgbClr val="E6F1F3"/>
                </a:solidFill>
                <a:latin typeface="Calibri"/>
                <a:ea typeface="Calibri"/>
                <a:cs typeface="Calibri"/>
              </a:rPr>
              <a:t>Pediatric growth-plate injuries require special attention.</a:t>
            </a:r>
          </a:p>
        </p:txBody>
      </p:sp>
      <p:sp>
        <p:nvSpPr>
          <p:cNvPr id="19" name="Shape 17">
            <a:extLst xmlns:a="http://schemas.openxmlformats.org/drawingml/2006/main">
              <a:ext uri="{FF2B5EF4-FFF2-40B4-BE49-F238E27FC236}">
                <a16:creationId xmlns:a16="http://schemas.microsoft.com/office/drawing/2014/main" id="{A4C5C145-1C92-4079-8BDE-1C4902FFE932}"/>
              </a:ext>
            </a:extLst>
          </p:cNvPr>
          <p:cNvSpPr>
            <a:spLocks xmlns:a="http://schemas.openxmlformats.org/drawingml/2006/main" noGrp="1"/>
          </p:cNvSpPr>
          <p:nvPr/>
        </p:nvSpPr>
        <p:spPr>
          <a:xfrm xmlns:a="http://schemas.openxmlformats.org/drawingml/2006/main">
            <a:off x="6172200" y="4837176"/>
            <a:ext cx="5440680" cy="1417320"/>
          </a:xfrm>
          <a:prstGeom xmlns:a="http://schemas.openxmlformats.org/drawingml/2006/main" prst="roundRect">
            <a:avLst>
              <a:gd name="adj" fmla="val 5161"/>
            </a:avLst>
          </a:prstGeom>
          <a:solidFill xmlns:a="http://schemas.openxmlformats.org/drawingml/2006/main">
            <a:srgbClr val="13586A"/>
          </a:solidFill>
          <a:ln xmlns:a="http://schemas.openxmlformats.org/drawingml/2006/main" w="12700">
            <a:solidFill>
              <a:srgbClr val="2A7A8C"/>
            </a:solidFill>
            <a:prstDash val="solid"/>
          </a:ln>
        </p:spPr>
      </p:sp>
      <p:sp>
        <p:nvSpPr>
          <p:cNvPr id="20" name="Text 18">
            <a:extLst xmlns:a="http://schemas.openxmlformats.org/drawingml/2006/main">
              <a:ext uri="{FF2B5EF4-FFF2-40B4-BE49-F238E27FC236}">
                <a16:creationId xmlns:a16="http://schemas.microsoft.com/office/drawing/2014/main" id="{AE2C16F0-B28E-4E7F-A3AC-57075E20889C}"/>
              </a:ext>
            </a:extLst>
          </p:cNvPr>
          <p:cNvSpPr>
            <a:spLocks xmlns:a="http://schemas.openxmlformats.org/drawingml/2006/main" noGrp="1"/>
          </p:cNvSpPr>
          <p:nvPr/>
        </p:nvSpPr>
        <p:spPr>
          <a:xfrm xmlns:a="http://schemas.openxmlformats.org/drawingml/2006/main">
            <a:off x="6400800" y="4965192"/>
            <a:ext cx="50292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00" b="1">
                <a:solidFill>
                  <a:srgbClr val="7FD0C8"/>
                </a:solidFill>
                <a:latin typeface="Georgia"/>
                <a:ea typeface="Georgia"/>
                <a:cs typeface="Georgia"/>
              </a:rPr>
              <a:t>Mobility</a:t>
            </a:r>
          </a:p>
        </p:txBody>
      </p:sp>
      <p:sp>
        <p:nvSpPr>
          <p:cNvPr id="21" name="Text 19">
            <a:extLst xmlns:a="http://schemas.openxmlformats.org/drawingml/2006/main">
              <a:ext uri="{FF2B5EF4-FFF2-40B4-BE49-F238E27FC236}">
                <a16:creationId xmlns:a16="http://schemas.microsoft.com/office/drawing/2014/main" id="{885C1542-DCB8-4E39-A9E7-64F410BF0AA8}"/>
              </a:ext>
            </a:extLst>
          </p:cNvPr>
          <p:cNvSpPr>
            <a:spLocks xmlns:a="http://schemas.openxmlformats.org/drawingml/2006/main" noGrp="1"/>
          </p:cNvSpPr>
          <p:nvPr/>
        </p:nvSpPr>
        <p:spPr>
          <a:xfrm xmlns:a="http://schemas.openxmlformats.org/drawingml/2006/main">
            <a:off x="6400800" y="5340096"/>
            <a:ext cx="5029200" cy="8229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02000"/>
              </a:lnSpc>
              <a:buNone/>
            </a:pPr>
            <a:r>
              <a:rPr sz="1250">
                <a:solidFill>
                  <a:srgbClr val="E6F1F3"/>
                </a:solidFill>
                <a:latin typeface="Calibri"/>
                <a:ea typeface="Calibri"/>
                <a:cs typeface="Calibri"/>
              </a:rPr>
              <a:t>Bone strength underpins safe movement and weight-bearing.</a:t>
            </a:r>
          </a:p>
        </p:txBody>
      </p:sp>
    </p:spTree>
    <p:extLst>
      <p:ext uri="{BB962C8B-B14F-4D97-AF65-F5344CB8AC3E}">
        <p14:creationId xmlns:p14="http://schemas.microsoft.com/office/powerpoint/2010/main" val="1581506050"/>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2026-08-04T21:56:46.2730000Z</dcterms:created>
  <dcterms:modified xsi:type="dcterms:W3CDTF">2026-08-04T21:56:46.2730000Z</dcterms:modified>
</coreProperties>
</file>