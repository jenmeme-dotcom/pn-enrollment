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heart: its anatomy as a four-chambered double pump, the cardiac muscle and conduction system that generate the heartbeat, the cardiac cycle and heart sounds, and how cardiac output is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is really two pumps. The right side receives oxygen-poor blood and sends it to the lungs (pulmonary circuit); the left side receives oxygen-rich blood from the lungs and pumps it to the whole body (systemic circuit). The septum keeps the two sides separate so the circuits don't 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wall has three layers: the endocardium lining the chambers, the thick myocardium of cardiac muscle that does the pumping, and the epicardium on the surface. Surrounding it all is the pericardium, a fluid-filled sac that cushions the heart and reduces friction. Inflammation here is pericarditis.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Externally, the heart shows its four chambers — two upper atria and two lower ventricles — with the great vessels (aorta, pulmonary trunk, venae cavae) entering and leaving at the base. Coronary arteries and veins run across the surface, and the pointed apex sits to the lower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atria receive blood and the thicker-walled ventricles pump it out — the left ventricle is most muscular because it supplies the whole body. Four valves ensure one-way flow, and the interventricular septum separates the two sides. Papillary muscles and chordae tendineae anchor the AV valves so they don't invert.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valves prevent backflow: the atrioventricular valves (tricuspid on the right, mitral on the left) sit between atria and ventricles, while the semilunar valves (pulmonary and aortic) guard the exits to the arteries. They open and close passively with pressure changes, producing the heart sounds. Faulty valves cause murmurs.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myocardium gets its own blood supply through the coronary arteries, which branch from the base of the aorta and wrap around the heart. Cardiac veins drain into the right atrium. Blockage of a coronary artery starves the muscle of oxygen, causing a myocardial infarction — a heart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Cardiac muscle is striated like skeletal muscle but involuntary and self-exciting. Its branching cells connect at intercalated discs containing gap junctions, which let the electrical impulse spread rapidly so the heart contracts as one coordinated unit. It is rich in mitochondria and highly fatigue-resistant.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generates its own rhythm. The sinoatrial (SA) node fires as the natural pacemaker, spreading the impulse across the atria; the atrioventricular (AV) node delays it briefly so the atria can empty, then the bundle of His and Purkinje fibers carry it through the ventricles for a coordinated contraction.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ECG records the heart's electrical activity from the skin. The P wave marks atrial depolarization, the QRS complex ventricular depolarization (and contraction), and the T wave ventricular repolarization. Changes in the waves and intervals reveal arrhythmias, heart attacks, and conduction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conduction system misfires, the heart beats abnormally — an arrhythmia. The ECG reveals patterns like atrial fibrillation (irregular), ventricular tachycardia, and ventricular fibrillation (a chaotic, lethal rhythm requiring defibrillation). Recognizing dangerous rhythms is a vital nursing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complete heartbeat is the cardiac cycle. The atria contract first, filling the ventricles, then the ventricles contract (systole) to eject blood, followed by relaxation (diastole) as the chambers refill. Valves open and close in sequence to keep blood moving forward — all in less than a second at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familiar "lub-dup" comes from the heart valves snapping shut — the first sound (S1) as the AV valves close at the start of systole, the second (S2) as the semilunar valves close at its end. Each valve is best heard at a specific spot on the chest. Extra sounds or murmurs can signal valve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Cardiac output is the blood pumped per minute — heart rate times stroke volume (the volume ejected per beat). At rest it is about 5 liters per minute, but it can multiply several times during exercise. Both rate and stroke volume are adjusted to match the body's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the heart beats on its own, the autonomic nervous system tunes the rate. Sympathetic signals speed and strengthen the beat for activity or stress; the parasympathetic vagus nerve slows it at rest. This balance, plus hormones like epinephrine, continuously matches output to the body's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is the first functioning organ in the embryo, beating by about week four. It starts as a simple tube that loops and partitions into four chambers. Errors in this complex process cause congenital heart defects, such as septal openings ("holes in the heart"), which are among the most common birth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19</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3800" b="1" dirty="0">
                <a:solidFill>
                  <a:srgbClr val="FFFFFF"/>
                </a:solidFill>
                <a:latin typeface="Georgia" pitchFamily="34" charset="0"/>
                <a:ea typeface="Georgia" pitchFamily="34" charset="-122"/>
                <a:cs typeface="Georgia" pitchFamily="34" charset="-120"/>
              </a:rPr>
              <a:t>The Cardiovascular System: The Heart</a:t>
            </a:r>
            <a:endParaRPr lang="en-US" sz="38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Heart anatomy, the heartbeat, and cardiac function.</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19/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19</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Identify and describe the interior and exterior parts of the human heart</a:t>
            </a:r>
            <a:endParaRPr lang="en-US" sz="1300" dirty="0"/>
          </a:p>
        </p:txBody>
      </p:sp>
      <p:sp>
        <p:nvSpPr>
          <p:cNvPr id="8" name="Shape 6"/>
          <p:cNvSpPr/>
          <p:nvPr/>
        </p:nvSpPr>
        <p:spPr>
          <a:xfrm>
            <a:off x="548640" y="2418588"/>
            <a:ext cx="384048" cy="384048"/>
          </a:xfrm>
          <a:prstGeom prst="ellipse">
            <a:avLst/>
          </a:prstGeom>
          <a:solidFill>
            <a:srgbClr val="0F4C5C"/>
          </a:solidFill>
          <a:ln/>
        </p:spPr>
      </p:sp>
      <p:sp>
        <p:nvSpPr>
          <p:cNvPr id="9" name="Text 7"/>
          <p:cNvSpPr/>
          <p:nvPr/>
        </p:nvSpPr>
        <p:spPr>
          <a:xfrm>
            <a:off x="548640" y="241858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0030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path of blood through the cardiac circuits</a:t>
            </a:r>
            <a:endParaRPr lang="en-US" sz="1300" dirty="0"/>
          </a:p>
        </p:txBody>
      </p:sp>
      <p:sp>
        <p:nvSpPr>
          <p:cNvPr id="11" name="Shape 9"/>
          <p:cNvSpPr/>
          <p:nvPr/>
        </p:nvSpPr>
        <p:spPr>
          <a:xfrm>
            <a:off x="548640" y="3172968"/>
            <a:ext cx="384048" cy="384048"/>
          </a:xfrm>
          <a:prstGeom prst="ellipse">
            <a:avLst/>
          </a:prstGeom>
          <a:solidFill>
            <a:srgbClr val="0F4C5C"/>
          </a:solidFill>
          <a:ln/>
        </p:spPr>
      </p:sp>
      <p:sp>
        <p:nvSpPr>
          <p:cNvPr id="12" name="Text 10"/>
          <p:cNvSpPr/>
          <p:nvPr/>
        </p:nvSpPr>
        <p:spPr>
          <a:xfrm>
            <a:off x="548640" y="317296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15468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size, shape, and location of the heart</a:t>
            </a:r>
            <a:endParaRPr lang="en-US" sz="1300" dirty="0"/>
          </a:p>
        </p:txBody>
      </p:sp>
      <p:sp>
        <p:nvSpPr>
          <p:cNvPr id="14" name="Shape 12"/>
          <p:cNvSpPr/>
          <p:nvPr/>
        </p:nvSpPr>
        <p:spPr>
          <a:xfrm>
            <a:off x="548640" y="3927348"/>
            <a:ext cx="384048" cy="384048"/>
          </a:xfrm>
          <a:prstGeom prst="ellipse">
            <a:avLst/>
          </a:prstGeom>
          <a:solidFill>
            <a:srgbClr val="0F4C5C"/>
          </a:solidFill>
          <a:ln/>
        </p:spPr>
      </p:sp>
      <p:sp>
        <p:nvSpPr>
          <p:cNvPr id="15" name="Text 13"/>
          <p:cNvSpPr/>
          <p:nvPr/>
        </p:nvSpPr>
        <p:spPr>
          <a:xfrm>
            <a:off x="548640" y="392734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390906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Compare cardiac muscle to skeletal and smooth muscle</a:t>
            </a:r>
            <a:endParaRPr lang="en-US" sz="1300" dirty="0"/>
          </a:p>
        </p:txBody>
      </p:sp>
      <p:sp>
        <p:nvSpPr>
          <p:cNvPr id="17" name="Shape 15"/>
          <p:cNvSpPr/>
          <p:nvPr/>
        </p:nvSpPr>
        <p:spPr>
          <a:xfrm>
            <a:off x="548640" y="4681728"/>
            <a:ext cx="384048" cy="384048"/>
          </a:xfrm>
          <a:prstGeom prst="ellipse">
            <a:avLst/>
          </a:prstGeom>
          <a:solidFill>
            <a:srgbClr val="0F4C5C"/>
          </a:solidFill>
          <a:ln/>
        </p:spPr>
      </p:sp>
      <p:sp>
        <p:nvSpPr>
          <p:cNvPr id="18" name="Text 16"/>
          <p:cNvSpPr/>
          <p:nvPr/>
        </p:nvSpPr>
        <p:spPr>
          <a:xfrm>
            <a:off x="548640" y="468172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66344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Explain the cardiac conduction system</a:t>
            </a:r>
            <a:endParaRPr lang="en-US" sz="1300" dirty="0"/>
          </a:p>
        </p:txBody>
      </p:sp>
      <p:sp>
        <p:nvSpPr>
          <p:cNvPr id="20" name="Shape 18"/>
          <p:cNvSpPr/>
          <p:nvPr/>
        </p:nvSpPr>
        <p:spPr>
          <a:xfrm>
            <a:off x="548640" y="5436108"/>
            <a:ext cx="384048" cy="384048"/>
          </a:xfrm>
          <a:prstGeom prst="ellipse">
            <a:avLst/>
          </a:prstGeom>
          <a:solidFill>
            <a:srgbClr val="0F4C5C"/>
          </a:solidFill>
          <a:ln/>
        </p:spPr>
      </p:sp>
      <p:sp>
        <p:nvSpPr>
          <p:cNvPr id="21" name="Text 19"/>
          <p:cNvSpPr/>
          <p:nvPr/>
        </p:nvSpPr>
        <p:spPr>
          <a:xfrm>
            <a:off x="548640" y="54361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22" name="Text 20"/>
          <p:cNvSpPr/>
          <p:nvPr/>
        </p:nvSpPr>
        <p:spPr>
          <a:xfrm>
            <a:off x="1115568" y="5417820"/>
            <a:ext cx="5943600" cy="754380"/>
          </a:xfrm>
          <a:prstGeom prst="rect">
            <a:avLst/>
          </a:prstGeom>
          <a:noFill/>
          <a:ln/>
        </p:spPr>
        <p:txBody>
          <a:bodyPr wrap="square" rtlCol="0" anchor="t"/>
          <a:lstStyle/>
          <a:p>
            <a:pPr indent="0" marL="0">
              <a:buNone/>
            </a:pPr>
            <a:r>
              <a:rPr lang="en-US" sz="1300" dirty="0">
                <a:solidFill>
                  <a:srgbClr val="23363B"/>
                </a:solidFill>
                <a:latin typeface="Calibri" pitchFamily="34" charset="0"/>
                <a:ea typeface="Calibri" pitchFamily="34" charset="-122"/>
                <a:cs typeface="Calibri" pitchFamily="34" charset="-120"/>
              </a:rPr>
              <a:t>Describe the process and purpose of an electrocardiogram</a:t>
            </a:r>
            <a:endParaRPr lang="en-US" sz="1300" dirty="0"/>
          </a:p>
        </p:txBody>
      </p:sp>
      <p:sp>
        <p:nvSpPr>
          <p:cNvPr id="23" name="Shape 21"/>
          <p:cNvSpPr/>
          <p:nvPr/>
        </p:nvSpPr>
        <p:spPr>
          <a:xfrm>
            <a:off x="7415784" y="2177640"/>
            <a:ext cx="4370832" cy="3106224"/>
          </a:xfrm>
          <a:prstGeom prst="roundRect">
            <a:avLst>
              <a:gd name="adj" fmla="val 176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4" name="Image 0" descr="/home/claude/all/ch19/img/img09.jpg">    </p:cNvPr>
          <p:cNvPicPr>
            <a:picLocks noChangeAspect="1"/>
          </p:cNvPicPr>
          <p:nvPr/>
        </p:nvPicPr>
        <p:blipFill>
          <a:blip r:embed="rId1"/>
          <a:stretch>
            <a:fillRect/>
          </a:stretch>
        </p:blipFill>
        <p:spPr>
          <a:xfrm>
            <a:off x="7498080" y="2259936"/>
            <a:ext cx="4206240" cy="2941632"/>
          </a:xfrm>
          <a:prstGeom prst="rect">
            <a:avLst/>
          </a:prstGeom>
        </p:spPr>
      </p:pic>
      <p:sp>
        <p:nvSpPr>
          <p:cNvPr id="25" name="Text 22"/>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internal anatomy of the heart.</a:t>
            </a:r>
            <a:endParaRPr lang="en-US" sz="1100" dirty="0"/>
          </a:p>
        </p:txBody>
      </p:sp>
      <p:sp>
        <p:nvSpPr>
          <p:cNvPr id="27" name="Text 23"/>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28" name="Text 24"/>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19.1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Heart Anatomy</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chambers, valves, vessels, and wall of the heart.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Pulmonary &amp; Systemic Circulation</a:t>
            </a:r>
            <a:endParaRPr lang="en-US" sz="2800" dirty="0"/>
          </a:p>
        </p:txBody>
      </p:sp>
      <p:sp>
        <p:nvSpPr>
          <p:cNvPr id="4" name="Shape 2"/>
          <p:cNvSpPr/>
          <p:nvPr/>
        </p:nvSpPr>
        <p:spPr>
          <a:xfrm>
            <a:off x="499948" y="1289304"/>
            <a:ext cx="4303624" cy="4736592"/>
          </a:xfrm>
          <a:prstGeom prst="roundRect">
            <a:avLst>
              <a:gd name="adj" fmla="val 1275"/>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9/img/img04.jpg">    </p:cNvPr>
          <p:cNvPicPr>
            <a:picLocks noChangeAspect="1"/>
          </p:cNvPicPr>
          <p:nvPr/>
        </p:nvPicPr>
        <p:blipFill>
          <a:blip r:embed="rId1"/>
          <a:stretch>
            <a:fillRect/>
          </a:stretch>
        </p:blipFill>
        <p:spPr>
          <a:xfrm>
            <a:off x="582244" y="1371600"/>
            <a:ext cx="413903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pulmonary and systemic circuits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heart is a double pump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Right side → lungs (pulmonary)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Left side → body (systemic)</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Keeps the two circuits separate</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Heart Wall</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Three layers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Endocardium lines the inside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Myocardium is the thick muscle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Pericardium surrounds the heart</a:t>
            </a:r>
            <a:endParaRPr lang="en-US" sz="1500" dirty="0"/>
          </a:p>
        </p:txBody>
      </p:sp>
      <p:sp>
        <p:nvSpPr>
          <p:cNvPr id="5" name="Shape 3"/>
          <p:cNvSpPr/>
          <p:nvPr/>
        </p:nvSpPr>
        <p:spPr>
          <a:xfrm>
            <a:off x="5404104" y="1446754"/>
            <a:ext cx="6382512" cy="4421692"/>
          </a:xfrm>
          <a:prstGeom prst="roundRect">
            <a:avLst>
              <a:gd name="adj" fmla="val 124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05.jpg">    </p:cNvPr>
          <p:cNvPicPr>
            <a:picLocks noChangeAspect="1"/>
          </p:cNvPicPr>
          <p:nvPr/>
        </p:nvPicPr>
        <p:blipFill>
          <a:blip r:embed="rId1"/>
          <a:stretch>
            <a:fillRect/>
          </a:stretch>
        </p:blipFill>
        <p:spPr>
          <a:xfrm>
            <a:off x="5486400" y="1529050"/>
            <a:ext cx="6217920" cy="425710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Layers of the heart wall</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External Anatomy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Four chambers: two atria, two ventricles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Great vessels enter and leave the top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Coronary vessels on the surface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Apex points down and to the left</a:t>
            </a:r>
            <a:endParaRPr lang="en-US" sz="1500" dirty="0"/>
          </a:p>
        </p:txBody>
      </p:sp>
      <p:sp>
        <p:nvSpPr>
          <p:cNvPr id="5" name="Shape 3"/>
          <p:cNvSpPr/>
          <p:nvPr/>
        </p:nvSpPr>
        <p:spPr>
          <a:xfrm>
            <a:off x="6129854" y="1335024"/>
            <a:ext cx="493101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06.jpg">    </p:cNvPr>
          <p:cNvPicPr>
            <a:picLocks noChangeAspect="1"/>
          </p:cNvPicPr>
          <p:nvPr/>
        </p:nvPicPr>
        <p:blipFill>
          <a:blip r:embed="rId1"/>
          <a:stretch>
            <a:fillRect/>
          </a:stretch>
        </p:blipFill>
        <p:spPr>
          <a:xfrm>
            <a:off x="6212150" y="1417320"/>
            <a:ext cx="476642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External anatomy of the heart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Internal Anatomy</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Four chambers separated by valves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Atria receive; ventricles pump</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Valves keep blood moving one way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Septum divides left and right</a:t>
            </a:r>
            <a:endParaRPr lang="en-US" sz="1500" dirty="0"/>
          </a:p>
        </p:txBody>
      </p:sp>
      <p:sp>
        <p:nvSpPr>
          <p:cNvPr id="5" name="Shape 3"/>
          <p:cNvSpPr/>
          <p:nvPr/>
        </p:nvSpPr>
        <p:spPr>
          <a:xfrm>
            <a:off x="5404104" y="1401054"/>
            <a:ext cx="6382512" cy="4513092"/>
          </a:xfrm>
          <a:prstGeom prst="roundRect">
            <a:avLst>
              <a:gd name="adj" fmla="val 121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09.jpg">    </p:cNvPr>
          <p:cNvPicPr>
            <a:picLocks noChangeAspect="1"/>
          </p:cNvPicPr>
          <p:nvPr/>
        </p:nvPicPr>
        <p:blipFill>
          <a:blip r:embed="rId1"/>
          <a:stretch>
            <a:fillRect/>
          </a:stretch>
        </p:blipFill>
        <p:spPr>
          <a:xfrm>
            <a:off x="5486400" y="1483350"/>
            <a:ext cx="6217920" cy="434850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Internal anatomy of the heart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Heart Valves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Four valves keep blood moving forward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AV valves (tricuspid, mitral)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Two semilunar valves (aortic, pulmonary)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Open and close with pressure changes</a:t>
            </a:r>
            <a:endParaRPr lang="en-US" sz="1500" dirty="0"/>
          </a:p>
        </p:txBody>
      </p:sp>
      <p:sp>
        <p:nvSpPr>
          <p:cNvPr id="5" name="Shape 3"/>
          <p:cNvSpPr/>
          <p:nvPr/>
        </p:nvSpPr>
        <p:spPr>
          <a:xfrm>
            <a:off x="5705769" y="1335024"/>
            <a:ext cx="577918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12.jpg">    </p:cNvPr>
          <p:cNvPicPr>
            <a:picLocks noChangeAspect="1"/>
          </p:cNvPicPr>
          <p:nvPr/>
        </p:nvPicPr>
        <p:blipFill>
          <a:blip r:embed="rId1"/>
          <a:stretch>
            <a:fillRect/>
          </a:stretch>
        </p:blipFill>
        <p:spPr>
          <a:xfrm>
            <a:off x="5788065" y="1417320"/>
            <a:ext cx="561459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four heart valves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Coronary Circulation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heart needs its own blood supply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Coronary arteries branch from the aorta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They feed the myocardium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Blockage causes a heart attack</a:t>
            </a:r>
            <a:endParaRPr lang="en-US" sz="1500" dirty="0"/>
          </a:p>
        </p:txBody>
      </p:sp>
      <p:sp>
        <p:nvSpPr>
          <p:cNvPr id="5" name="Shape 3"/>
          <p:cNvSpPr/>
          <p:nvPr/>
        </p:nvSpPr>
        <p:spPr>
          <a:xfrm>
            <a:off x="6072727" y="1335024"/>
            <a:ext cx="504526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15.jpg">    </p:cNvPr>
          <p:cNvPicPr>
            <a:picLocks noChangeAspect="1"/>
          </p:cNvPicPr>
          <p:nvPr/>
        </p:nvPicPr>
        <p:blipFill>
          <a:blip r:embed="rId1"/>
          <a:stretch>
            <a:fillRect/>
          </a:stretch>
        </p:blipFill>
        <p:spPr>
          <a:xfrm>
            <a:off x="6155023" y="1417320"/>
            <a:ext cx="488067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coronary circulation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19.2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Cardiac Muscle and Electrical Activity</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Cardiac muscle and the heart's electrical system.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Cardiac Muscle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Striated but involuntary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Cells branch and interconnect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Joined by intercalated discs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Gap junctions synchronize the beat</a:t>
            </a:r>
            <a:endParaRPr lang="en-US" sz="1500" dirty="0"/>
          </a:p>
        </p:txBody>
      </p:sp>
      <p:sp>
        <p:nvSpPr>
          <p:cNvPr id="5" name="Shape 3"/>
          <p:cNvSpPr/>
          <p:nvPr/>
        </p:nvSpPr>
        <p:spPr>
          <a:xfrm>
            <a:off x="6262255" y="1335024"/>
            <a:ext cx="4666211"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17.jpg">    </p:cNvPr>
          <p:cNvPicPr>
            <a:picLocks noChangeAspect="1"/>
          </p:cNvPicPr>
          <p:nvPr/>
        </p:nvPicPr>
        <p:blipFill>
          <a:blip r:embed="rId1"/>
          <a:stretch>
            <a:fillRect/>
          </a:stretch>
        </p:blipFill>
        <p:spPr>
          <a:xfrm>
            <a:off x="6344551" y="1417320"/>
            <a:ext cx="4501619"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Cardiac muscle tissue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Conduction System</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heart sets its own rhythm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SA node is the pacemaker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AV node delays the signal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Bundle and Purkinje fibers spread it</a:t>
            </a:r>
            <a:endParaRPr lang="en-US" sz="1500" dirty="0"/>
          </a:p>
        </p:txBody>
      </p:sp>
      <p:sp>
        <p:nvSpPr>
          <p:cNvPr id="5" name="Shape 3"/>
          <p:cNvSpPr/>
          <p:nvPr/>
        </p:nvSpPr>
        <p:spPr>
          <a:xfrm>
            <a:off x="5404104" y="1494340"/>
            <a:ext cx="6382512" cy="4326520"/>
          </a:xfrm>
          <a:prstGeom prst="roundRect">
            <a:avLst>
              <a:gd name="adj" fmla="val 126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18.jpg">    </p:cNvPr>
          <p:cNvPicPr>
            <a:picLocks noChangeAspect="1"/>
          </p:cNvPicPr>
          <p:nvPr/>
        </p:nvPicPr>
        <p:blipFill>
          <a:blip r:embed="rId1"/>
          <a:stretch>
            <a:fillRect/>
          </a:stretch>
        </p:blipFill>
        <p:spPr>
          <a:xfrm>
            <a:off x="5486400" y="1576636"/>
            <a:ext cx="6217920" cy="4161928"/>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cardiac conduction system</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Electrocardiogram (ECG)</a:t>
            </a:r>
            <a:endParaRPr lang="en-US" sz="2800" dirty="0"/>
          </a:p>
        </p:txBody>
      </p:sp>
      <p:sp>
        <p:nvSpPr>
          <p:cNvPr id="4" name="Shape 2"/>
          <p:cNvSpPr/>
          <p:nvPr/>
        </p:nvSpPr>
        <p:spPr>
          <a:xfrm>
            <a:off x="3275381" y="1289304"/>
            <a:ext cx="565647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9/img/img23.jpg">    </p:cNvPr>
          <p:cNvPicPr>
            <a:picLocks noChangeAspect="1"/>
          </p:cNvPicPr>
          <p:nvPr/>
        </p:nvPicPr>
        <p:blipFill>
          <a:blip r:embed="rId1"/>
          <a:stretch>
            <a:fillRect/>
          </a:stretch>
        </p:blipFill>
        <p:spPr>
          <a:xfrm>
            <a:off x="3357677" y="1371600"/>
            <a:ext cx="549188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normal ECG tracing</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Records the heart's electrical activity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 wave = atrial depolarization</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QRS = ventricular depolarization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 wave = ventricular repolarization</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Arrhythmias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Abnormal heart rhythms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Show as abnormal ECG patterns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Atrial fibrillation, V-tach, V-fib</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Some are life-threatening</a:t>
            </a:r>
            <a:endParaRPr lang="en-US" sz="1500" dirty="0"/>
          </a:p>
        </p:txBody>
      </p:sp>
      <p:sp>
        <p:nvSpPr>
          <p:cNvPr id="5" name="Shape 3"/>
          <p:cNvSpPr/>
          <p:nvPr/>
        </p:nvSpPr>
        <p:spPr>
          <a:xfrm>
            <a:off x="6328119" y="1335024"/>
            <a:ext cx="4534482" cy="4645152"/>
          </a:xfrm>
          <a:prstGeom prst="roundRect">
            <a:avLst>
              <a:gd name="adj" fmla="val 121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25.jpg">    </p:cNvPr>
          <p:cNvPicPr>
            <a:picLocks noChangeAspect="1"/>
          </p:cNvPicPr>
          <p:nvPr/>
        </p:nvPicPr>
        <p:blipFill>
          <a:blip r:embed="rId1"/>
          <a:stretch>
            <a:fillRect/>
          </a:stretch>
        </p:blipFill>
        <p:spPr>
          <a:xfrm>
            <a:off x="6410415" y="1417320"/>
            <a:ext cx="436989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Examples of cardiac arrhythmias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19.3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Cardiac Cycle</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cardiac cycle — one complete heartbeat.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Cardiac Cycle</a:t>
            </a:r>
            <a:endParaRPr lang="en-US" sz="2800" dirty="0"/>
          </a:p>
        </p:txBody>
      </p:sp>
      <p:sp>
        <p:nvSpPr>
          <p:cNvPr id="4" name="Shape 2"/>
          <p:cNvSpPr/>
          <p:nvPr/>
        </p:nvSpPr>
        <p:spPr>
          <a:xfrm>
            <a:off x="501320" y="1289304"/>
            <a:ext cx="4300880" cy="4736592"/>
          </a:xfrm>
          <a:prstGeom prst="roundRect">
            <a:avLst>
              <a:gd name="adj" fmla="val 127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9/img/img27.jpg">    </p:cNvPr>
          <p:cNvPicPr>
            <a:picLocks noChangeAspect="1"/>
          </p:cNvPicPr>
          <p:nvPr/>
        </p:nvPicPr>
        <p:blipFill>
          <a:blip r:embed="rId1"/>
          <a:stretch>
            <a:fillRect/>
          </a:stretch>
        </p:blipFill>
        <p:spPr>
          <a:xfrm>
            <a:off x="583616" y="1371600"/>
            <a:ext cx="413628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cardiac cycle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One heartbeat = one cardiac cycle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Atria contract, then ventricles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Systole = contraction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Diastole = relaxation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Heart Sounds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Valves closing make the sounds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"Lub" = AV valves closing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"Dup" = semilunar valves closing</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Heard at specific chest sites</a:t>
            </a:r>
            <a:endParaRPr lang="en-US" sz="1500" dirty="0"/>
          </a:p>
        </p:txBody>
      </p:sp>
      <p:sp>
        <p:nvSpPr>
          <p:cNvPr id="5" name="Shape 3"/>
          <p:cNvSpPr/>
          <p:nvPr/>
        </p:nvSpPr>
        <p:spPr>
          <a:xfrm>
            <a:off x="5682022" y="1335024"/>
            <a:ext cx="582667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30.jpg">    </p:cNvPr>
          <p:cNvPicPr>
            <a:picLocks noChangeAspect="1"/>
          </p:cNvPicPr>
          <p:nvPr/>
        </p:nvPicPr>
        <p:blipFill>
          <a:blip r:embed="rId1"/>
          <a:stretch>
            <a:fillRect/>
          </a:stretch>
        </p:blipFill>
        <p:spPr>
          <a:xfrm>
            <a:off x="5764318" y="1417320"/>
            <a:ext cx="566208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Auscultation points for heart sounds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19.4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Cardiac Physiology</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Cardiac output and how it is regulated.</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Cardiac Output</a:t>
            </a:r>
            <a:endParaRPr lang="en-US" sz="2800" dirty="0"/>
          </a:p>
        </p:txBody>
      </p:sp>
      <p:sp>
        <p:nvSpPr>
          <p:cNvPr id="4" name="Shape 2"/>
          <p:cNvSpPr/>
          <p:nvPr/>
        </p:nvSpPr>
        <p:spPr>
          <a:xfrm>
            <a:off x="2975110" y="1289304"/>
            <a:ext cx="625702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9/img/img31.jpg">    </p:cNvPr>
          <p:cNvPicPr>
            <a:picLocks noChangeAspect="1"/>
          </p:cNvPicPr>
          <p:nvPr/>
        </p:nvPicPr>
        <p:blipFill>
          <a:blip r:embed="rId1"/>
          <a:stretch>
            <a:fillRect/>
          </a:stretch>
        </p:blipFill>
        <p:spPr>
          <a:xfrm>
            <a:off x="3057406" y="1371600"/>
            <a:ext cx="609242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Cardiac output: heart rate and stroke volume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Output = heart rate × stroke volume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Stroke volume = blood per beat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About 5 liters per minute at rest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Rises with exercise and demand</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Autonomic Control of the Heart</a:t>
            </a:r>
            <a:endParaRPr lang="en-US" sz="2800" dirty="0"/>
          </a:p>
        </p:txBody>
      </p:sp>
      <p:sp>
        <p:nvSpPr>
          <p:cNvPr id="4" name="Shape 2"/>
          <p:cNvSpPr/>
          <p:nvPr/>
        </p:nvSpPr>
        <p:spPr>
          <a:xfrm>
            <a:off x="1356284" y="1289304"/>
            <a:ext cx="2590952" cy="4736592"/>
          </a:xfrm>
          <a:prstGeom prst="roundRect">
            <a:avLst>
              <a:gd name="adj" fmla="val 211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19/img/img32.jpg">    </p:cNvPr>
          <p:cNvPicPr>
            <a:picLocks noChangeAspect="1"/>
          </p:cNvPicPr>
          <p:nvPr/>
        </p:nvPicPr>
        <p:blipFill>
          <a:blip r:embed="rId1"/>
          <a:stretch>
            <a:fillRect/>
          </a:stretch>
        </p:blipFill>
        <p:spPr>
          <a:xfrm>
            <a:off x="1438580" y="1371600"/>
            <a:ext cx="2426360"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Autonomic control of the heart</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brain adjusts heart rate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Sympathetic input speeds it up</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vagus nerve slows it down</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Matches output to demand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19.5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Development of the Heart</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heart develops before birth.</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19.5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Development of the Heart</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first organ to function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Begins as a simple tube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Folds and divides into four chambers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Defects can occur in the process</a:t>
            </a:r>
            <a:endParaRPr lang="en-US" sz="1500" dirty="0"/>
          </a:p>
        </p:txBody>
      </p:sp>
      <p:sp>
        <p:nvSpPr>
          <p:cNvPr id="5" name="Shape 3"/>
          <p:cNvSpPr/>
          <p:nvPr/>
        </p:nvSpPr>
        <p:spPr>
          <a:xfrm>
            <a:off x="5912099" y="1335024"/>
            <a:ext cx="536652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19/img/img36.jpg">    </p:cNvPr>
          <p:cNvPicPr>
            <a:picLocks noChangeAspect="1"/>
          </p:cNvPicPr>
          <p:nvPr/>
        </p:nvPicPr>
        <p:blipFill>
          <a:blip r:embed="rId1"/>
          <a:stretch>
            <a:fillRect/>
          </a:stretch>
        </p:blipFill>
        <p:spPr>
          <a:xfrm>
            <a:off x="5994395" y="1417320"/>
            <a:ext cx="520193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Development of the heart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19</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heart is a double pump driving the pulmonary and systemic circuits.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Four chambers and four valves keep blood flowing in one direction.</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Cardiac muscle and the conduction system generate a coordinated, automatic heartbeat.</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ECG records the heart's electrical activity and reveals arrhythmias.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Cardiac output (rate × stroke volume) is tuned by the autonomic nervous system.</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19 — The Cardiovascular System: The Heart</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the Heart Matters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Heart Attack</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blocked coronary artery starves the myocardium of oxygen.</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Heart Failure</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weakened pump can't meet the body's demands.</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Arrhythmias</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Abnormal rhythms range from harmless to lethal.</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Heart Murmurs</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Faulty valves produce abnormal heart sounds.</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ECG Monitoring</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 core tool for assessing cardiac patients.</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Vital Signs</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Pulse reflects heart rate, rhythm, and strength.</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2026-06-23T21:44:30Z</dcterms:created>
  <dcterms:modified xsi:type="dcterms:W3CDTF">2026-06-23T21:44:30Z</dcterms:modified>
</cp:coreProperties>
</file>