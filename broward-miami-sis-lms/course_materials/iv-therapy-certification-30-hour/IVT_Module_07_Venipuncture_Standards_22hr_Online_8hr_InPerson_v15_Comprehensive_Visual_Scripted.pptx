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364b370aaa4d55" /><Relationship Type="http://schemas.openxmlformats.org/officeDocument/2006/relationships/extended-properties" Target="/docProps/app.xml" Id="R3f943b69b25e4981" /><Relationship Type="http://schemas.openxmlformats.org/officeDocument/2006/relationships/officeDocument" Target="/ppt/presentation.xml" Id="R97b577565fb64b9d" /></Relationships>
</file>

<file path=ppt/presentation.xml><?xml version="1.0" encoding="utf-8"?>
<p:presentation xmlns:p="http://schemas.openxmlformats.org/presentationml/2006/main">
  <p:sldMasterIdLst>
    <p:sldMasterId xmlns:r="http://schemas.openxmlformats.org/officeDocument/2006/relationships" id="2147483648" r:id="R0ef8c94f39f84890"/>
  </p:sldMasterIdLst>
  <p:notesMasterIdLst>
    <p:notesMasterId xmlns:r="http://schemas.openxmlformats.org/officeDocument/2006/relationships" r:id="Rd73fc592f2a745ce"/>
  </p:notesMasterIdLst>
  <p:sldIdLst>
    <p:sldId xmlns:r="http://schemas.openxmlformats.org/officeDocument/2006/relationships" id="256" r:id="R9a4ecab130b3470d"/>
    <p:sldId xmlns:r="http://schemas.openxmlformats.org/officeDocument/2006/relationships" id="257" r:id="Rc4e9148947a243c1"/>
    <p:sldId xmlns:r="http://schemas.openxmlformats.org/officeDocument/2006/relationships" id="258" r:id="Rce7e9b0d7a5a43e6"/>
    <p:sldId xmlns:r="http://schemas.openxmlformats.org/officeDocument/2006/relationships" id="259" r:id="R296689c89f054d23"/>
    <p:sldId xmlns:r="http://schemas.openxmlformats.org/officeDocument/2006/relationships" id="260" r:id="R1f8cbe14bc334bfa"/>
    <p:sldId xmlns:r="http://schemas.openxmlformats.org/officeDocument/2006/relationships" id="261" r:id="R95b86ba87f924add"/>
    <p:sldId xmlns:r="http://schemas.openxmlformats.org/officeDocument/2006/relationships" id="262" r:id="Rff0e248b376e4845"/>
    <p:sldId xmlns:r="http://schemas.openxmlformats.org/officeDocument/2006/relationships" id="263" r:id="R5c88c95a1c574686"/>
    <p:sldId xmlns:r="http://schemas.openxmlformats.org/officeDocument/2006/relationships" id="264" r:id="Rb90b57eb0fd848ba"/>
    <p:sldId xmlns:r="http://schemas.openxmlformats.org/officeDocument/2006/relationships" id="265" r:id="R7862fc08596b4a9a"/>
    <p:sldId xmlns:r="http://schemas.openxmlformats.org/officeDocument/2006/relationships" id="266" r:id="R4bb2d72e67e446d3"/>
    <p:sldId xmlns:r="http://schemas.openxmlformats.org/officeDocument/2006/relationships" id="267" r:id="Rd95ff724f1164994"/>
    <p:sldId xmlns:r="http://schemas.openxmlformats.org/officeDocument/2006/relationships" id="268" r:id="R63a39b91e7504634"/>
    <p:sldId xmlns:r="http://schemas.openxmlformats.org/officeDocument/2006/relationships" id="269" r:id="R50501f23bd77433a"/>
    <p:sldId xmlns:r="http://schemas.openxmlformats.org/officeDocument/2006/relationships" id="270" r:id="R3523c999c79a4769"/>
    <p:sldId xmlns:r="http://schemas.openxmlformats.org/officeDocument/2006/relationships" id="271" r:id="R8280ad53ed514420"/>
    <p:sldId xmlns:r="http://schemas.openxmlformats.org/officeDocument/2006/relationships" id="272" r:id="R8fe8e012ced64133"/>
    <p:sldId xmlns:r="http://schemas.openxmlformats.org/officeDocument/2006/relationships" id="273" r:id="Rdfe3c92c5ae84a55"/>
    <p:sldId xmlns:r="http://schemas.openxmlformats.org/officeDocument/2006/relationships" id="274" r:id="R0dd69cbab03647f5"/>
    <p:sldId xmlns:r="http://schemas.openxmlformats.org/officeDocument/2006/relationships" id="275" r:id="Rf7386c7b0fe143c6"/>
    <p:sldId xmlns:r="http://schemas.openxmlformats.org/officeDocument/2006/relationships" id="276" r:id="R76b5cc613aad48de"/>
    <p:sldId xmlns:r="http://schemas.openxmlformats.org/officeDocument/2006/relationships" id="277" r:id="R50418f7101924a5d"/>
    <p:sldId xmlns:r="http://schemas.openxmlformats.org/officeDocument/2006/relationships" id="278" r:id="Re1e7c473e69240c4"/>
    <p:sldId xmlns:r="http://schemas.openxmlformats.org/officeDocument/2006/relationships" id="279" r:id="R99a478e16f1b4f43"/>
    <p:sldId xmlns:r="http://schemas.openxmlformats.org/officeDocument/2006/relationships" id="280" r:id="R8e96f371be0a4d68"/>
    <p:sldId xmlns:r="http://schemas.openxmlformats.org/officeDocument/2006/relationships" id="281" r:id="R357cd35f93fa4728"/>
    <p:sldId xmlns:r="http://schemas.openxmlformats.org/officeDocument/2006/relationships" id="282" r:id="R575d63b0f9a64c7d"/>
    <p:sldId xmlns:r="http://schemas.openxmlformats.org/officeDocument/2006/relationships" id="283" r:id="R621dd9561cfc4226"/>
    <p:sldId xmlns:r="http://schemas.openxmlformats.org/officeDocument/2006/relationships" id="284" r:id="Rc32489014231452b"/>
    <p:sldId xmlns:r="http://schemas.openxmlformats.org/officeDocument/2006/relationships" id="285" r:id="R21333460fe414d62"/>
    <p:sldId xmlns:r="http://schemas.openxmlformats.org/officeDocument/2006/relationships" id="286" r:id="R1742036c220440ee"/>
    <p:sldId xmlns:r="http://schemas.openxmlformats.org/officeDocument/2006/relationships" id="287" r:id="R82426b590acd4f8a"/>
    <p:sldId xmlns:r="http://schemas.openxmlformats.org/officeDocument/2006/relationships" id="288" r:id="Rbc328ce5fc9c48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6808fc78ac4427" /><Relationship Type="http://schemas.openxmlformats.org/officeDocument/2006/relationships/slideMaster" Target="/ppt/slideMasters/slideMaster1.xml" Id="R0ef8c94f39f84890" /><Relationship Type="http://schemas.openxmlformats.org/officeDocument/2006/relationships/notesMaster" Target="/ppt/notesMasters/notesMaster1.xml" Id="Rd73fc592f2a745ce" /><Relationship Type="http://schemas.openxmlformats.org/officeDocument/2006/relationships/presProps" Target="/ppt/presProps.xml" Id="R313f59cc0ab7420b" /><Relationship Type="http://schemas.openxmlformats.org/officeDocument/2006/relationships/tableStyles" Target="/ppt/tableStyles.xml" Id="R33b1171ae2884ad3" /><Relationship Type="http://schemas.openxmlformats.org/officeDocument/2006/relationships/slide" Target="/ppt/slides/slide1.xml" Id="R9a4ecab130b3470d" /><Relationship Type="http://schemas.openxmlformats.org/officeDocument/2006/relationships/slide" Target="/ppt/slides/slide2.xml" Id="Rc4e9148947a243c1" /><Relationship Type="http://schemas.openxmlformats.org/officeDocument/2006/relationships/slide" Target="/ppt/slides/slide3.xml" Id="Rce7e9b0d7a5a43e6" /><Relationship Type="http://schemas.openxmlformats.org/officeDocument/2006/relationships/slide" Target="/ppt/slides/slide4.xml" Id="R296689c89f054d23" /><Relationship Type="http://schemas.openxmlformats.org/officeDocument/2006/relationships/slide" Target="/ppt/slides/slide5.xml" Id="R1f8cbe14bc334bfa" /><Relationship Type="http://schemas.openxmlformats.org/officeDocument/2006/relationships/slide" Target="/ppt/slides/slide6.xml" Id="R95b86ba87f924add" /><Relationship Type="http://schemas.openxmlformats.org/officeDocument/2006/relationships/slide" Target="/ppt/slides/slide7.xml" Id="Rff0e248b376e4845" /><Relationship Type="http://schemas.openxmlformats.org/officeDocument/2006/relationships/slide" Target="/ppt/slides/slide8.xml" Id="R5c88c95a1c574686" /><Relationship Type="http://schemas.openxmlformats.org/officeDocument/2006/relationships/slide" Target="/ppt/slides/slide9.xml" Id="Rb90b57eb0fd848ba" /><Relationship Type="http://schemas.openxmlformats.org/officeDocument/2006/relationships/slide" Target="/ppt/slides/slide10.xml" Id="R7862fc08596b4a9a" /><Relationship Type="http://schemas.openxmlformats.org/officeDocument/2006/relationships/slide" Target="/ppt/slides/slide11.xml" Id="R4bb2d72e67e446d3" /><Relationship Type="http://schemas.openxmlformats.org/officeDocument/2006/relationships/slide" Target="/ppt/slides/slide12.xml" Id="Rd95ff724f1164994" /><Relationship Type="http://schemas.openxmlformats.org/officeDocument/2006/relationships/slide" Target="/ppt/slides/slide13.xml" Id="R63a39b91e7504634" /><Relationship Type="http://schemas.openxmlformats.org/officeDocument/2006/relationships/slide" Target="/ppt/slides/slide14.xml" Id="R50501f23bd77433a" /><Relationship Type="http://schemas.openxmlformats.org/officeDocument/2006/relationships/slide" Target="/ppt/slides/slide15.xml" Id="R3523c999c79a4769" /><Relationship Type="http://schemas.openxmlformats.org/officeDocument/2006/relationships/slide" Target="/ppt/slides/slide16.xml" Id="R8280ad53ed514420" /><Relationship Type="http://schemas.openxmlformats.org/officeDocument/2006/relationships/slide" Target="/ppt/slides/slide17.xml" Id="R8fe8e012ced64133" /><Relationship Type="http://schemas.openxmlformats.org/officeDocument/2006/relationships/slide" Target="/ppt/slides/slide18.xml" Id="Rdfe3c92c5ae84a55" /><Relationship Type="http://schemas.openxmlformats.org/officeDocument/2006/relationships/slide" Target="/ppt/slides/slide19.xml" Id="R0dd69cbab03647f5" /><Relationship Type="http://schemas.openxmlformats.org/officeDocument/2006/relationships/slide" Target="/ppt/slides/slide20.xml" Id="Rf7386c7b0fe143c6" /><Relationship Type="http://schemas.openxmlformats.org/officeDocument/2006/relationships/slide" Target="/ppt/slides/slide21.xml" Id="R76b5cc613aad48de" /><Relationship Type="http://schemas.openxmlformats.org/officeDocument/2006/relationships/slide" Target="/ppt/slides/slide22.xml" Id="R50418f7101924a5d" /><Relationship Type="http://schemas.openxmlformats.org/officeDocument/2006/relationships/slide" Target="/ppt/slides/slide23.xml" Id="Re1e7c473e69240c4" /><Relationship Type="http://schemas.openxmlformats.org/officeDocument/2006/relationships/slide" Target="/ppt/slides/slide24.xml" Id="R99a478e16f1b4f43" /><Relationship Type="http://schemas.openxmlformats.org/officeDocument/2006/relationships/slide" Target="/ppt/slides/slide25.xml" Id="R8e96f371be0a4d68" /><Relationship Type="http://schemas.openxmlformats.org/officeDocument/2006/relationships/slide" Target="/ppt/slides/slide26.xml" Id="R357cd35f93fa4728" /><Relationship Type="http://schemas.openxmlformats.org/officeDocument/2006/relationships/slide" Target="/ppt/slides/slide27.xml" Id="R575d63b0f9a64c7d" /><Relationship Type="http://schemas.openxmlformats.org/officeDocument/2006/relationships/slide" Target="/ppt/slides/slide28.xml" Id="R621dd9561cfc4226" /><Relationship Type="http://schemas.openxmlformats.org/officeDocument/2006/relationships/slide" Target="/ppt/slides/slide29.xml" Id="Rc32489014231452b" /><Relationship Type="http://schemas.openxmlformats.org/officeDocument/2006/relationships/slide" Target="/ppt/slides/slide30.xml" Id="R21333460fe414d62" /><Relationship Type="http://schemas.openxmlformats.org/officeDocument/2006/relationships/slide" Target="/ppt/slides/slide31.xml" Id="R1742036c220440ee" /><Relationship Type="http://schemas.openxmlformats.org/officeDocument/2006/relationships/slide" Target="/ppt/slides/slide32.xml" Id="R82426b590acd4f8a" /><Relationship Type="http://schemas.openxmlformats.org/officeDocument/2006/relationships/slide" Target="/ppt/slides/slide33.xml" Id="Rbc328ce5fc9c48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12766e31f24d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f7e93c348f4f27" /><Relationship Type="http://schemas.openxmlformats.org/officeDocument/2006/relationships/notesMaster" Target="/ppt/notesMasters/notesMaster1.xml" Id="R5cc939cafb8b49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53f054dfeb4b23" /><Relationship Type="http://schemas.openxmlformats.org/officeDocument/2006/relationships/notesMaster" Target="/ppt/notesMasters/notesMaster1.xml" Id="Re7790fdcc17543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05bc49aa50452e" /><Relationship Type="http://schemas.openxmlformats.org/officeDocument/2006/relationships/notesMaster" Target="/ppt/notesMasters/notesMaster1.xml" Id="Rc85e37b7e4424d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b535fcab794594" /><Relationship Type="http://schemas.openxmlformats.org/officeDocument/2006/relationships/notesMaster" Target="/ppt/notesMasters/notesMaster1.xml" Id="R0e45fd3d8d4543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ad0ceaac76489b" /><Relationship Type="http://schemas.openxmlformats.org/officeDocument/2006/relationships/notesMaster" Target="/ppt/notesMasters/notesMaster1.xml" Id="Rb49216b4d72e44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7a564b2d2f450e" /><Relationship Type="http://schemas.openxmlformats.org/officeDocument/2006/relationships/notesMaster" Target="/ppt/notesMasters/notesMaster1.xml" Id="R6d2ae67d1dfe4b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0fb0c91ef54903" /><Relationship Type="http://schemas.openxmlformats.org/officeDocument/2006/relationships/notesMaster" Target="/ppt/notesMasters/notesMaster1.xml" Id="Re96a2c5cca0a41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ab718a3ee04edc" /><Relationship Type="http://schemas.openxmlformats.org/officeDocument/2006/relationships/notesMaster" Target="/ppt/notesMasters/notesMaster1.xml" Id="Rae3e7ced943d45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b7dd8461164999" /><Relationship Type="http://schemas.openxmlformats.org/officeDocument/2006/relationships/notesMaster" Target="/ppt/notesMasters/notesMaster1.xml" Id="Rf7b061a13aa54b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67728fbacd405f" /><Relationship Type="http://schemas.openxmlformats.org/officeDocument/2006/relationships/notesMaster" Target="/ppt/notesMasters/notesMaster1.xml" Id="R144755ab405d4e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322b38e2c1483d" /><Relationship Type="http://schemas.openxmlformats.org/officeDocument/2006/relationships/notesMaster" Target="/ppt/notesMasters/notesMaster1.xml" Id="R920422f1a54640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2a3002b3a73492f" /><Relationship Type="http://schemas.openxmlformats.org/officeDocument/2006/relationships/notesMaster" Target="/ppt/notesMasters/notesMaster1.xml" Id="Rcfee6454da774f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097e142d7984768" /><Relationship Type="http://schemas.openxmlformats.org/officeDocument/2006/relationships/notesMaster" Target="/ppt/notesMasters/notesMaster1.xml" Id="Rbb2e3772190b4e1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f3c1fb3917442a" /><Relationship Type="http://schemas.openxmlformats.org/officeDocument/2006/relationships/notesMaster" Target="/ppt/notesMasters/notesMaster1.xml" Id="Re213cfdb5df3433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9d0df1ac384cb6" /><Relationship Type="http://schemas.openxmlformats.org/officeDocument/2006/relationships/notesMaster" Target="/ppt/notesMasters/notesMaster1.xml" Id="R3640365294a8429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907c52516894ddf" /><Relationship Type="http://schemas.openxmlformats.org/officeDocument/2006/relationships/notesMaster" Target="/ppt/notesMasters/notesMaster1.xml" Id="R7d2e3436bd394be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60f9b43a683466a" /><Relationship Type="http://schemas.openxmlformats.org/officeDocument/2006/relationships/notesMaster" Target="/ppt/notesMasters/notesMaster1.xml" Id="Rc243332c5b1d46e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d7a56ff2ccf4d62" /><Relationship Type="http://schemas.openxmlformats.org/officeDocument/2006/relationships/notesMaster" Target="/ppt/notesMasters/notesMaster1.xml" Id="R549870954c0a4e4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c5d0f0137924727" /><Relationship Type="http://schemas.openxmlformats.org/officeDocument/2006/relationships/notesMaster" Target="/ppt/notesMasters/notesMaster1.xml" Id="R2c2eb486b3364c3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fcabf323e7b47e0" /><Relationship Type="http://schemas.openxmlformats.org/officeDocument/2006/relationships/notesMaster" Target="/ppt/notesMasters/notesMaster1.xml" Id="R85bc931bd05e4e6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a129229c26c494d" /><Relationship Type="http://schemas.openxmlformats.org/officeDocument/2006/relationships/notesMaster" Target="/ppt/notesMasters/notesMaster1.xml" Id="R75864a223610434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a9ab1317c5c4d51" /><Relationship Type="http://schemas.openxmlformats.org/officeDocument/2006/relationships/notesMaster" Target="/ppt/notesMasters/notesMaster1.xml" Id="R9b5e23584108441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566797b208349ef" /><Relationship Type="http://schemas.openxmlformats.org/officeDocument/2006/relationships/notesMaster" Target="/ppt/notesMasters/notesMaster1.xml" Id="Rc7d6df8cf1cf490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1e91e7f682844bd" /><Relationship Type="http://schemas.openxmlformats.org/officeDocument/2006/relationships/notesMaster" Target="/ppt/notesMasters/notesMaster1.xml" Id="Ra81f8c8145164d3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7f4bfc8e7e74fb9" /><Relationship Type="http://schemas.openxmlformats.org/officeDocument/2006/relationships/notesMaster" Target="/ppt/notesMasters/notesMaster1.xml" Id="R30259ea56f0b4e0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734984060ef4ca1" /><Relationship Type="http://schemas.openxmlformats.org/officeDocument/2006/relationships/notesMaster" Target="/ppt/notesMasters/notesMaster1.xml" Id="Rf2d81dfe230747a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eade5d9226f4eb8" /><Relationship Type="http://schemas.openxmlformats.org/officeDocument/2006/relationships/notesMaster" Target="/ppt/notesMasters/notesMaster1.xml" Id="Re34dd635e00a4d2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0e91c7714944908" /><Relationship Type="http://schemas.openxmlformats.org/officeDocument/2006/relationships/notesMaster" Target="/ppt/notesMasters/notesMaster1.xml" Id="Rceabbff9440f48a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bd5ddb4082c4724" /><Relationship Type="http://schemas.openxmlformats.org/officeDocument/2006/relationships/notesMaster" Target="/ppt/notesMasters/notesMaster1.xml" Id="R12e8a8ca667b42e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5271c220d8e4e4b" /><Relationship Type="http://schemas.openxmlformats.org/officeDocument/2006/relationships/notesMaster" Target="/ppt/notesMasters/notesMaster1.xml" Id="Rb82f2288955e4fc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e234025933f4615" /><Relationship Type="http://schemas.openxmlformats.org/officeDocument/2006/relationships/notesMaster" Target="/ppt/notesMasters/notesMaster1.xml" Id="R673d73efb912479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a1e40a50e1942d5" /><Relationship Type="http://schemas.openxmlformats.org/officeDocument/2006/relationships/notesMaster" Target="/ppt/notesMasters/notesMaster1.xml" Id="R79b5514587504e0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e3c0eaa80c946b2" /><Relationship Type="http://schemas.openxmlformats.org/officeDocument/2006/relationships/notesMaster" Target="/ppt/notesMasters/notesMaster1.xml" Id="R6b13d07642bc47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Venipuncture Standards and Practice, Module 7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Cover media: Pexels photo by Sahil Singh, https://www.pexels.com/photo/nurses-training-with-medical-mannequin-in-simulation-lab-35645529/,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Select an appropriate peripheral vein and catheter Next, Perform aseptic insertion and securement on a task trainer Next, Assess, maintain, and discontinue a peripheral IV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Site and device selection. First, Begin distally when appropriate. Next, Avoid compromised extremities and sites of infection, flexion, poor circulation, or prior complications. Next, Select the smallest gauge and shortest catheter that can support the ordered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Aseptic insertion. First, Perform hand hygiene, prepare and position the patient, apply the tourniquet, cleanse the site with the approved antiseptic, let it dry, stabilize the vein, observe flashback, thread the catheter, and activate sharps protection.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Securement and maintenance. First, Connect a primed extension aseptically, assess patency without force, secure the catheter, apply and label the dressing, trace tubing, start the ordered therapy, and reassess the site and patient.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Complication cues. First, Cool swelling suggests infiltration. Next, Pain, warmth, redness, or a venous cord suggests phlebitis. Next, Burning or tissue injury with a vesicant suggests extravasation. Next,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Forearm vascular anatomy. First, Superficial veins are common peripheral access targets. Next, Veins have thinner walls, lower pressure, and valves; arteries have thicker muscular walls and pulsatile flow. Next, The skin, subcutaneous tissue, nerves, and nearby arteries influence site selection and insertion angle. Next, Confirm anatomy by inspection and palpation before preparing the site.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Original BMHI educational anatomy image generated October 23, 2026. Source topics: 30 Hour IV Certification Study Guide, revised March 2013, PDF pages 20-23.</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Skin layers and insertion discomfort. First, Epidermis: Provides the outer barrier and must be cleansed without recontamination Next, Dermis: Contains sensory structures; rapid controlled penetration may reduce prolonged discomfort Next, Subcutaneous tissue: Depth varies by patient and changes vein palpation and insertion angle Next, Vessel wall: Trauma to the intima can promote inflammation and thrombosis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20-21.</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Common upper-extremity veins. First, Dorsal metacarpal network: Visible, distal starting point; Movement and fragile skin may affect comfort and securement Next, Cephalic vein: Often accessible along the radial forearm; Near the wrist, protect against motion and nerve or artery injury Next, Basilic vein: May be large and straight; Can roll and lies near important structures proximally Next, Median antebrachial region: May provide a forearm option; Anatomy varies; assess depth, direction, and therapy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22-23.</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Extremities and sites that need special caution. First, Infection, burn, wound, hematoma, or impaired circulation: Avoid the affected site and select a safer location Next, Dialysis fistula or graft: Do not use the extremity unless a specialist-specific emergency protocol authorizes it Next, Lymph-node surgery, mastectomy, or lymphedema risk: Follow the current patient-specific restriction and facility policy Next, Paralysis or reduced sensation: Avoid when possible because injury or complication may go unrecognized Next, Lower extremity in an adult: Use only when clinically authorized and replace with safer access as directed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22-24. Current patient-specific and facility restrictions control.</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Primary and secondary administration sets. First, Macrodrip set: Gravity delivery with a manufacturer-specified drop factor; Read the actual package; never assume 10, 15, or 20 gtt/mL Next, Microdrip set: Fine gravity control, commonly 60 gtt/mL; Confirm package and patient-specific use Next, Primary set: Continuous fluid path from main container; Prime, label, trace, and change according to current policy Next, Secondary set: Intermittent medication through compatible primary line; Verify compatibility, bag height, connection port, pump channel, volume, and rate Next, Extension or needleless connector: Adds access and supports securement; Prime, disinfect, protect key parts, and assess patency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28-29. Manufacturer information and current policy control.</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Medication delivery methods. First, Continuous infusion: Medication or fluid delivered at a prescribed ongoing rate; Concentration, pump programming, line tracing, cumulative dose Next, Intermittent or IVPB: Medication delivered at scheduled intervals; Compatibility, secondary setup, residual volume, timing Next, Direct IV administration: Small volume delivered over a specified time; Scope, dilution, rate, patency, immediate adverse effect Next, Saline lock: Intermittent access without continuous fluid; Patency assessment, flushing sequence, connector disinfection Next, Bolus fluid: Rapid prescribed fluid volume; Hemodynamic tolerance and exact volume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 28.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Medication compatibility has several dimensions. First, Physical: Visible precipitate, haze, color change, gas, or separation; Do not administer; stop and clarify Next, Chemical: Drug degrades or reacts even without visible change; Use an approved compatibility reference Next, Therapeutic: Combined drug effects create an unintended clinical result; Review interactions, patient condition, and monitoring Next, Container or tubing: Drug binds to, leaches from, or is altered by the delivery system; Follow pharmacy and manufacturer instructions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31-32.</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Medication action and patient response. First, Absorption and bioavailability: How does direct IV delivery change onset and risk? Next, Distribution: Do fluid status, protein binding, perfusion, or body composition change effect? Next, Metabolism: Does liver function alter clearance or active metabolites? Next, Excretion: Does kidney function require dose or interval adjustment? Next, Interaction: Could another drug, food, herb, disease, or test change the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30-32.</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Choose the site before the catheter. First, Start with the prescribed therapy: pH, osmolarity, duration, flow requirement, and vesicant risk affect device choice. Next, Select a vein that is palpable, resilient, and appropriate for the therapy. Next, Prefer the smallest suitable gauge and shortest catheter. Next, Avoid infected, injured, poorly perfused, or policy-restricted extremities and areas of flexion when possible.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Vein-wall anatomy and complication risk. First, Tunica intima: Smooth inner lining and venous valves; Trauma, chemical irritation, or contamination can promote phlebitis and thrombosis Next, Tunica media: Muscle and elastic tissue; Irritation can trigger venospasm, pain, and reduced flow Next, Tunica adventitia: Outer connective-tissue support; Deep advancement or vessel injury can affect surrounding tissue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7-8.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 or artery? Stop when the findings do not fit. First, Palpation: Soft, compressible, nonpulsatile; Pulsation or firm recoil: do not cannulate Next, Location: Often superficial and visible or palpable; Often deeper and protected; confirm anatomy before proceeding Next, Blood return: Usually darker and lower pressure; Bright or pulsatile return is an emergency cue—stop and escalate Next, When uncertain: Reassess the site and therapy; Do not rely on color alone; obtain qualified assistance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Phlebotomy Skills and Practicum Review, pages 7-8. Blood color can be altered by oxygenation and clinical conditions; palpation, anatomy, patient assessment, and facility escalation policy take priority.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 assessment uses sight and touch. First, Inspect both appropriate extremities before choosing a site. Next, Use one or two fingertips rather than the thumb to palpate the vessel. Next, Press lightly, release, and assess elasticity, rebound filling, direction, depth, and length. Next, Palpate even when a vein looks easy to access; appearance alone does not confirm suitability.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 18.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Strategies for a poorly filled vein. First, Lower the arm below heart level before applying the tourniquet when the patient's condition permits. Next, Ask the patient to gently open and close the hand, then relax it for insertion. Next, Use light tapping rather than forceful striking, which may cause vasoconstriction. Next, Apply an approved warm compress according to facility policy and reassess the vein before proceeding.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19-20. Follow current facility policy for warming devices and exposure time.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catheter selection. First, Routine fluids or intermittent medication: Use the smallest gauge that reliably supports therapy Next, Rapid volume or blood: A larger bore may be required when clinically appropriate Next, Fragile or small veins: Choose a smaller gauge and appropriate short catheter Next, Long duration or irritating therapy: Reassess whether a different vascular-access device is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prepare and access. First, Verify the order, identify and teach the patient, perform hand hygiene, and gather supplies. Next, Position the limb, assess veins, apply the tourniquet, and select the site. Next, Cleanse with the approved antiseptic using the required friction and allow it to dry completely. Next, Stabilize the vein, insert bevel up, observe flashback, lower the angle, and advance the catheter—not the needle.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connect and secure. First, Release the tourniquet, apply appropriate pressure, activate the sharps safety device, and discard immediately. Next, Connect the primed extension without contaminating key parts. Next, Confirm patency using the approved assessment; never force a flush. Next, Secure and dress the catheter, label it, start the ordered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Sharps safety is part of every IV start. First, Place an approved, closable, puncture-resistant sharps container within easy reach before beginning. Next, Never bend, break, remove, or recap the introducer needle. Next, Activate the engineered safety feature immediately after withdrawal and visually confirm activation when the device permits. Next, Dispose of the sharp at once; never carry it, hand it to another person, or force it into an overfilled container. Next, If an injury occurs, stop safely and follow the facility exposure-control plan without delay.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sources: Phlebotomy Skills and Practicum Review, pages 5-6 and 12; 30 Hour IV Certification Study Guide, revised March 2013, pages 9-11. Content is adapted to current OSHA requirements, the device instructions for use,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Occupational exposure: immediate response. First, Needlestick or cut: Wash with soap and water; do not scrub aggressively or squeeze the wound Next, Eye or mucous-membrane splash: Flush promptly with water or the designated eyewash Next, Nonintact-skin contact: Wash the area promptly and remove contaminated clothing as directed Next, Every exposure: Report immediately, identify the source process when permitted, and obtain confidential medical evaluation and follow-up Next, Do not delay reporting while deciding whether the exposure seems serious. Follow the employer's written exposure-control plan and current post-exposure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Do not delay reporting while deciding whether the exposure seems serious. Follow the employer's written exposure-control plan and current post-exposure protocol. Additional sources: Phlebotomy Skills and Practicum Review, pages 5-6; 30 Hour IV Certification Study Guide, revised March 2013, pages 9-11. No historical transmission statistics or obsolete cleanup directions were imported.</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Unsuccessful insertion: safe next steps. First, Vein rolls away: Inadequate stabilization; Stop probing; stabilize correctly and use a new catheter/site as required Next, Hematoma develops: Posterior-wall trauma or excessive angle; Stop, remove, apply pressure, and reassess Next, Flashback appears but catheter will not advance: Only the needle tip may be in the lumen; Do not reinsert the needle into the catheter; remove and restart according to policy Next, Repeated unsuccessful attempts: Site, device, or operator factors; Stop at the facility attempt limit and escalate to a more experienced clinician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 27. Attempt limits must follow current BMHI clinical-site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Infusion flow troubleshooting. First, Pump occlusion or slowed flow: Trace the line from patient to container for clamps, kinks, or compression; Correct an external cause only after assessing the patient and site Next, Flow changes with limb position: Catheter tip may contact the vein wall or lie near flexion; Reposition and reassess; do not manipulate a contaminated catheter Next, Blood backs into tubing: Bag height, empty container, clamp position, or interruption; Protect against air and clot risk; restore flow only under order and policy Next, Resistance during flushing: Mechanical obstruction, malposition, or complication; Never force the flush; stop use and escalate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28-29. Device-specific actions require current manufacturer instructions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Local complication comparison. First, Cool, pale swelling; slowed infusion: Infiltration; Stop infusion and follow infiltration protocol Next, Pain, warmth, redness, venous cord: Phlebitis; Stop infusion, remove as indicated, assess and report Next, Burning, blistering, tissue injury with vesicant: Extravasation; Stop; do not flush; follow agent-specific protocol Next, Drainage, tenderness, fever: Local or bloodstream infection; Stop unsafe use, assess, notify, and follow culture/removal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Systemic IV complications. First, Fluid overload: Dyspnea, crackles, edema, hypertension, oxygen decline; Slow or stop as authorized, position and support breathing, notify promptly Next, Speed shock or medication reaction: Flushing, headache, chest tightness, hypotension, rapid change after administration; Stop medication, assess ABCs, activate emergency response Next, Air embolism: Sudden dyspnea, chest pain, confusion, hypotension; Clamp or protect the system, call emergency response, support ABCs Next, Catheter-related bloodstream infection: Fever, chills, hypotension, altered status; Stop unsafe use, assess, notify, and follow culture and sepsis pathway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32-35.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Infiltration severity and response. First, Assess pain, temperature, color, capillary refill, swelling, skin integrity, sensation, and the estimated area involved. Next, Stop the infusion and disconnect tubing. Follow the solution-specific policy before removing the catheter because aspiration or an antidote may be required for extravasation. Next, Elevate or apply a compress only when the specific protocol directs it. Next, Document findings, estimated severity, solution and volume, actions, notifications, patient response, and follow-up plan.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32-35. Use the facility's current infiltration and extravasation scale.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Phlebitis causes and prevention. First, Mechanical: Large catheter, flexion, movement, poor securement; Smallest suitable catheter, stable site, effective securement Next, Chemical: Extreme pH or osmolarity, irritating medication; Correct dilution, rate, access device, and compatibility Next, Bacterial: Contamination of site, hub, or connection; Hand hygiene, antisepsis, connector disinfection, closed system Next, Patient-related: Fragile veins, inflammation, hypercoagulability; Individualized site and device plan with frequent assessment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32-35.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Complete documentation tells the clinical story. First, Record date and time, site, vein or anatomic location, catheter gauge and length when required, number of attempts, and inserter. Next, Record skin preparation, dressing, securement, patency assessment, solution, rate, pump, and patient tolerance. Next, Document teaching, complications, actions, notifications,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Palpate and select veins on a task trainer Next, Perform the complete insertion sequence without contamination Next, Discontinue the catheter and verify that it remains intact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Select an appropriate peripheral vein and catheter Next, Perform hand hygiene, prepare and position the patient, apply the tourniquet, cleanse the site with the approved antiseptic, let it dry, stabilize the vein, observe flashback, thread the catheter, and activate sharps protection. Next, Cool swelling suggests infiltration. Pain, warmth, redness, or a venous cord suggests phlebitis. Burning or tissue injury with a vesicant suggests extravasation.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6c7577c11546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cf16135f404a5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825916102a4f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eab6334ff4047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382825531f41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d7e6c8259149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554CA9-343F-416C-8B8A-F065DC5F026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4FD7C8-84DB-4E10-B036-C78465BF015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691BD0F-E862-49D3-9548-6DD967B786A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E70312-07D0-403F-9798-437D3B2F98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95279A0-EFCC-4BBF-A72A-108CEE9C758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0DAA333-24FD-454E-A979-BAB15646AE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D1F3AB7-3F8C-47D7-8E52-68F82A6ACD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7601E79-68FC-4E56-A45F-8F486562304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848C0C-DE72-44AC-A6E0-7D0A74C95B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CFCCB4-25E2-430C-ABD8-D21A171469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c9f1d105bd4bf9" /><Relationship Type="http://schemas.openxmlformats.org/officeDocument/2006/relationships/slideLayout" Target="/ppt/slideLayouts/slideLayout1.xml" Id="R5c61b64256a1417d" /><Relationship Type="http://schemas.openxmlformats.org/officeDocument/2006/relationships/slideLayout" Target="/ppt/slideLayouts/slideLayout2.xml" Id="R343d645920a84689" /><Relationship Type="http://schemas.openxmlformats.org/officeDocument/2006/relationships/slideLayout" Target="/ppt/slideLayouts/slideLayout3.xml" Id="R3e01931b7d684c54" /><Relationship Type="http://schemas.openxmlformats.org/officeDocument/2006/relationships/slideLayout" Target="/ppt/slideLayouts/slideLayout4.xml" Id="Rc10ccfeb88764218" /><Relationship Type="http://schemas.openxmlformats.org/officeDocument/2006/relationships/slideLayout" Target="/ppt/slideLayouts/slideLayout5.xml" Id="R748b56ea1a794090" /><Relationship Type="http://schemas.openxmlformats.org/officeDocument/2006/relationships/slideLayout" Target="/ppt/slideLayouts/slideLayout6.xml" Id="R31715961723d47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61b64256a1417d"/>
    <p:sldLayoutId xmlns:r="http://schemas.openxmlformats.org/officeDocument/2006/relationships" id="2147483650" r:id="R343d645920a84689"/>
    <p:sldLayoutId xmlns:r="http://schemas.openxmlformats.org/officeDocument/2006/relationships" id="2147483651" r:id="R3e01931b7d684c54"/>
    <p:sldLayoutId xmlns:r="http://schemas.openxmlformats.org/officeDocument/2006/relationships" id="2147483652" r:id="Rc10ccfeb88764218"/>
    <p:sldLayoutId xmlns:r="http://schemas.openxmlformats.org/officeDocument/2006/relationships" id="2147483653" r:id="R748b56ea1a794090"/>
    <p:sldLayoutId xmlns:r="http://schemas.openxmlformats.org/officeDocument/2006/relationships" id="2147483654" r:id="R31715961723d47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e09f14677e04b9a" /><Relationship Type="http://schemas.openxmlformats.org/officeDocument/2006/relationships/image" Target="/ppt/media/image.jpeg" Id="R8be1a7e63deb40e0" /><Relationship Type="http://schemas.openxmlformats.org/officeDocument/2006/relationships/notesSlide" Target="/ppt/notesSlides/notesSlide1.xml" Id="R606820372ad241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7da4fc7d464c1b" /><Relationship Type="http://schemas.openxmlformats.org/officeDocument/2006/relationships/notesSlide" Target="/ppt/notesSlides/notesSlide2.xml" Id="R8360beb4bdc84c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d98e4e9e7c24630" /><Relationship Type="http://schemas.openxmlformats.org/officeDocument/2006/relationships/notesSlide" Target="/ppt/notesSlides/notesSlide3.xml" Id="Rd9c181b827074a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d2ba3a26bed4d1d" /><Relationship Type="http://schemas.openxmlformats.org/officeDocument/2006/relationships/notesSlide" Target="/ppt/notesSlides/notesSlide4.xml" Id="Rc29e7591eb2845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3d75d79d384cc8" /><Relationship Type="http://schemas.openxmlformats.org/officeDocument/2006/relationships/notesSlide" Target="/ppt/notesSlides/notesSlide5.xml" Id="R3a9118843eb744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bf65796d0b34108" /><Relationship Type="http://schemas.openxmlformats.org/officeDocument/2006/relationships/notesSlide" Target="/ppt/notesSlides/notesSlide6.xml" Id="R3c1b5bb34fc445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d7bb20229094bcf" /><Relationship Type="http://schemas.openxmlformats.org/officeDocument/2006/relationships/image" Target="/ppt/media/image.png" Id="Rabb963d1b21844e9" /><Relationship Type="http://schemas.openxmlformats.org/officeDocument/2006/relationships/notesSlide" Target="/ppt/notesSlides/notesSlide7.xml" Id="R976f12543b6442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117d618b44a4458" /><Relationship Type="http://schemas.openxmlformats.org/officeDocument/2006/relationships/notesSlide" Target="/ppt/notesSlides/notesSlide8.xml" Id="R070c3b7b029a44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13f0ee8e86344b0" /><Relationship Type="http://schemas.openxmlformats.org/officeDocument/2006/relationships/notesSlide" Target="/ppt/notesSlides/notesSlide9.xml" Id="Rb3a8276a07d846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705e63ece4f4985" /><Relationship Type="http://schemas.openxmlformats.org/officeDocument/2006/relationships/notesSlide" Target="/ppt/notesSlides/notesSlide10.xml" Id="R653d58fd60e149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ae905d8d14b4986" /><Relationship Type="http://schemas.openxmlformats.org/officeDocument/2006/relationships/notesSlide" Target="/ppt/notesSlides/notesSlide11.xml" Id="Rf20aa5d6e99d4e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9adacfcfb342d2" /><Relationship Type="http://schemas.openxmlformats.org/officeDocument/2006/relationships/notesSlide" Target="/ppt/notesSlides/notesSlide12.xml" Id="R3f872741ea2b4a9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142038e53d64b6f" /><Relationship Type="http://schemas.openxmlformats.org/officeDocument/2006/relationships/notesSlide" Target="/ppt/notesSlides/notesSlide13.xml" Id="R9ccf07279db1404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58fdedf483d43e1" /><Relationship Type="http://schemas.openxmlformats.org/officeDocument/2006/relationships/notesSlide" Target="/ppt/notesSlides/notesSlide14.xml" Id="R2e9c1a69950f4e1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c3ad920a6d44dfd" /><Relationship Type="http://schemas.openxmlformats.org/officeDocument/2006/relationships/notesSlide" Target="/ppt/notesSlides/notesSlide15.xml" Id="R31ac82a44c594d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2bc483118004f40" /><Relationship Type="http://schemas.openxmlformats.org/officeDocument/2006/relationships/notesSlide" Target="/ppt/notesSlides/notesSlide16.xml" Id="R7b2d8dc326a54c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e47f05db2d64bf4" /><Relationship Type="http://schemas.openxmlformats.org/officeDocument/2006/relationships/notesSlide" Target="/ppt/notesSlides/notesSlide17.xml" Id="R63069f279c3e43b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2650c24e4bb4cea" /><Relationship Type="http://schemas.openxmlformats.org/officeDocument/2006/relationships/notesSlide" Target="/ppt/notesSlides/notesSlide18.xml" Id="Redf5e6ade37f438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57fa98e09ad4161" /><Relationship Type="http://schemas.openxmlformats.org/officeDocument/2006/relationships/notesSlide" Target="/ppt/notesSlides/notesSlide19.xml" Id="R62959ba34c5747c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465ccd16ad04295" /><Relationship Type="http://schemas.openxmlformats.org/officeDocument/2006/relationships/notesSlide" Target="/ppt/notesSlides/notesSlide20.xml" Id="R51bdde463458480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e2cae2e007b495a" /><Relationship Type="http://schemas.openxmlformats.org/officeDocument/2006/relationships/notesSlide" Target="/ppt/notesSlides/notesSlide21.xml" Id="R7995e7702c4f48c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bf90873af864f65" /><Relationship Type="http://schemas.openxmlformats.org/officeDocument/2006/relationships/notesSlide" Target="/ppt/notesSlides/notesSlide22.xml" Id="R8386eb4d4ec54fa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ed2b8c57f0f4b4d" /><Relationship Type="http://schemas.openxmlformats.org/officeDocument/2006/relationships/notesSlide" Target="/ppt/notesSlides/notesSlide23.xml" Id="R5544dd095d9a48a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20598a7308c4d61" /><Relationship Type="http://schemas.openxmlformats.org/officeDocument/2006/relationships/notesSlide" Target="/ppt/notesSlides/notesSlide24.xml" Id="R378461ea6b6e416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d226e6ac7a044b9" /><Relationship Type="http://schemas.openxmlformats.org/officeDocument/2006/relationships/notesSlide" Target="/ppt/notesSlides/notesSlide25.xml" Id="Rbe5dca24d75a4e2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f9a8931f29845d8" /><Relationship Type="http://schemas.openxmlformats.org/officeDocument/2006/relationships/notesSlide" Target="/ppt/notesSlides/notesSlide26.xml" Id="R363654996cc1446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68c2294bd9343bb" /><Relationship Type="http://schemas.openxmlformats.org/officeDocument/2006/relationships/notesSlide" Target="/ppt/notesSlides/notesSlide27.xml" Id="R579b236d11434ca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79ca6584d794563" /><Relationship Type="http://schemas.openxmlformats.org/officeDocument/2006/relationships/notesSlide" Target="/ppt/notesSlides/notesSlide28.xml" Id="Raad698bed9f54b8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0613343e8084e5f" /><Relationship Type="http://schemas.openxmlformats.org/officeDocument/2006/relationships/notesSlide" Target="/ppt/notesSlides/notesSlide29.xml" Id="Rbf5fb5c0c1834dd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595a803321b4ecc" /><Relationship Type="http://schemas.openxmlformats.org/officeDocument/2006/relationships/notesSlide" Target="/ppt/notesSlides/notesSlide30.xml" Id="Re51ba3c863b14e5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95b2de82e464651" /><Relationship Type="http://schemas.openxmlformats.org/officeDocument/2006/relationships/notesSlide" Target="/ppt/notesSlides/notesSlide31.xml" Id="R3146d8c6a2b8464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ae19ed47cff433f" /><Relationship Type="http://schemas.openxmlformats.org/officeDocument/2006/relationships/notesSlide" Target="/ppt/notesSlides/notesSlide32.xml" Id="R8ba37ccf9263489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74d4f8671054287" /><Relationship Type="http://schemas.openxmlformats.org/officeDocument/2006/relationships/notesSlide" Target="/ppt/notesSlides/notesSlide33.xml" Id="Re2330279d51f4120"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264130A-D7D6-4F1E-AE88-8E94579D0456}"/>
              </a:ext>
            </a:extLst>
          </p:cNvPr>
          <p:cNvPicPr>
            <a:picLocks xmlns:a="http://schemas.openxmlformats.org/drawingml/2006/main" noChangeAspect="1"/>
          </p:cNvPicPr>
          <p:nvPr/>
        </p:nvPicPr>
        <p:blipFill>
          <a:blip xmlns:r="http://schemas.openxmlformats.org/officeDocument/2006/relationships" xmlns:a="http://schemas.openxmlformats.org/drawingml/2006/main" r:embed="R8be1a7e63deb40e0"/>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768EC4A-7E3A-4025-8810-CC5CCEF94422}"/>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8016840-9392-4A56-A1E1-06085A514E59}"/>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97A09D09-6C55-49B5-9855-92800BFDDB39}"/>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CA558F4F-B44C-4BA2-9206-E40524B0CBC3}"/>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Venipuncture Standards and Practice</a:t>
            </a:r>
          </a:p>
        </p:txBody>
      </p:sp>
      <p:sp>
        <p:nvSpPr>
          <p:cNvPr id="6" name="">
            <a:extLst xmlns:a="http://schemas.openxmlformats.org/drawingml/2006/main">
              <a:ext uri="{FF2B5EF4-FFF2-40B4-BE49-F238E27FC236}">
                <a16:creationId xmlns:a16="http://schemas.microsoft.com/office/drawing/2014/main" id="{729A4FD7-B272-4029-B422-E947E39728B2}"/>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7  |  30-Hour Basic Intravenous Therapy</a:t>
            </a:r>
          </a:p>
        </p:txBody>
      </p:sp>
      <p:sp>
        <p:nvSpPr>
          <p:cNvPr id="7" name="">
            <a:extLst xmlns:a="http://schemas.openxmlformats.org/drawingml/2006/main">
              <a:ext uri="{FF2B5EF4-FFF2-40B4-BE49-F238E27FC236}">
                <a16:creationId xmlns:a16="http://schemas.microsoft.com/office/drawing/2014/main" id="{E2B5F83C-EB94-4CAE-9B2C-ABD33E8A1E5B}"/>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207367650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C5ED66-E695-4C31-B354-8C85C429930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F47486F-224A-46AE-A8C4-AB528490880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D6B18C57-3564-410E-8111-95C716C07C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072A667-F62D-42A8-A071-B250843A6B7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C32E8BA4-FB0B-40C7-B311-CF57E836C69B}"/>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aseptic insertion and securement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maintain, and discontinue a peripheral IV safely</a:t>
            </a:r>
          </a:p>
        </p:txBody>
      </p:sp>
    </p:spTree>
    <p:extLst>
      <p:ext uri="{BB962C8B-B14F-4D97-AF65-F5344CB8AC3E}">
        <p14:creationId xmlns:p14="http://schemas.microsoft.com/office/powerpoint/2010/main" val="1389940217"/>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64257C-4E86-459D-AB45-4C4AE2D57B6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274DF8F-DEA8-4C1F-8336-567842568AB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Site and device selection</a:t>
            </a:r>
          </a:p>
        </p:txBody>
      </p:sp>
      <p:sp>
        <p:nvSpPr>
          <p:cNvPr id="3" name="">
            <a:extLst xmlns:a="http://schemas.openxmlformats.org/drawingml/2006/main">
              <a:ext uri="{FF2B5EF4-FFF2-40B4-BE49-F238E27FC236}">
                <a16:creationId xmlns:a16="http://schemas.microsoft.com/office/drawing/2014/main" id="{0A7E26F2-AABD-4D26-9A63-2C847E3229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6C1E415-3B9B-4838-88C9-2DD832F853B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D503E374-370F-4A5A-87B8-6CDA76275BF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Begin distally when appropriate.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Avoid compromised extremities and sites of infection, flexion, poor circulation, or prior complications.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Select the smallest gauge and shortest catheter that can support the ordered therapy.</a:t>
            </a:r>
          </a:p>
        </p:txBody>
      </p:sp>
      <p:sp>
        <p:nvSpPr>
          <p:cNvPr id="6" name="">
            <a:extLst xmlns:a="http://schemas.openxmlformats.org/drawingml/2006/main">
              <a:ext uri="{FF2B5EF4-FFF2-40B4-BE49-F238E27FC236}">
                <a16:creationId xmlns:a16="http://schemas.microsoft.com/office/drawing/2014/main" id="{E40BF7C2-D8A5-4D39-9050-BEAA95FC177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75332025"/>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5823F0-C7F8-4F49-BF03-2A0DA19C605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D1E9EA1-E02C-49E4-A64C-28337D618E5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Aseptic insertion</a:t>
            </a:r>
          </a:p>
        </p:txBody>
      </p:sp>
      <p:sp>
        <p:nvSpPr>
          <p:cNvPr id="3" name="">
            <a:extLst xmlns:a="http://schemas.openxmlformats.org/drawingml/2006/main">
              <a:ext uri="{FF2B5EF4-FFF2-40B4-BE49-F238E27FC236}">
                <a16:creationId xmlns:a16="http://schemas.microsoft.com/office/drawing/2014/main" id="{2837C4BD-8307-494D-9E4A-2D0A439B733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94039B5-1F9C-4964-81BC-39E8CE097A8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26436540-641F-49B2-B0E2-2C847B61E59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p:txBody>
      </p:sp>
      <p:sp>
        <p:nvSpPr>
          <p:cNvPr id="6" name="">
            <a:extLst xmlns:a="http://schemas.openxmlformats.org/drawingml/2006/main">
              <a:ext uri="{FF2B5EF4-FFF2-40B4-BE49-F238E27FC236}">
                <a16:creationId xmlns:a16="http://schemas.microsoft.com/office/drawing/2014/main" id="{E214553B-8F5B-4433-8006-B10546ED0C7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61609337"/>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221923-B320-4456-9602-DAEEF21D338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820F48F-4E61-469D-8EC8-EDC18FCC72E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Securement and maintenance</a:t>
            </a:r>
          </a:p>
        </p:txBody>
      </p:sp>
      <p:sp>
        <p:nvSpPr>
          <p:cNvPr id="3" name="">
            <a:extLst xmlns:a="http://schemas.openxmlformats.org/drawingml/2006/main">
              <a:ext uri="{FF2B5EF4-FFF2-40B4-BE49-F238E27FC236}">
                <a16:creationId xmlns:a16="http://schemas.microsoft.com/office/drawing/2014/main" id="{9036D4D3-C066-4176-9029-E034576659F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22685D2-9E4A-4733-902D-E0616EAF903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575F4EF1-02FD-4315-8E83-C6346268072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a primed extension aseptically, assess patency without force, secure the catheter, apply and label the dressing, trace tubing, start the ordered therapy, and reassess the site and patient.</a:t>
            </a:r>
          </a:p>
        </p:txBody>
      </p:sp>
      <p:sp>
        <p:nvSpPr>
          <p:cNvPr id="6" name="">
            <a:extLst xmlns:a="http://schemas.openxmlformats.org/drawingml/2006/main">
              <a:ext uri="{FF2B5EF4-FFF2-40B4-BE49-F238E27FC236}">
                <a16:creationId xmlns:a16="http://schemas.microsoft.com/office/drawing/2014/main" id="{6A1640A9-ED5C-4262-8789-00D49057AE8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20021035"/>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CA7F60-9575-4675-B031-4BE60826148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C8132F8-36FD-430E-82EC-4660FFCD9D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Complication cues</a:t>
            </a:r>
          </a:p>
        </p:txBody>
      </p:sp>
      <p:sp>
        <p:nvSpPr>
          <p:cNvPr id="3" name="">
            <a:extLst xmlns:a="http://schemas.openxmlformats.org/drawingml/2006/main">
              <a:ext uri="{FF2B5EF4-FFF2-40B4-BE49-F238E27FC236}">
                <a16:creationId xmlns:a16="http://schemas.microsoft.com/office/drawing/2014/main" id="{4E9DC845-B8CB-48A5-B819-088A7250102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7F79F4C-EF0E-4382-B70C-6ED4DEB5534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8154B1FB-5CC1-4B0C-B614-DFDED549086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Cool swelling suggests infiltration.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warmth, redness, or a venous cord suggests phlebitis.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Burning or tissue injury with a vesicant suggests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D9CB5411-AC8F-4A6A-B8B8-81C22DC4817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59615728"/>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D37127-00EA-4091-903D-C3846C1904C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4AAACCD-10F8-49A4-99F3-8B2BEE5657C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Forearm vascular anatomy</a:t>
            </a:r>
          </a:p>
        </p:txBody>
      </p:sp>
      <p:sp>
        <p:nvSpPr>
          <p:cNvPr id="3" name="">
            <a:extLst xmlns:a="http://schemas.openxmlformats.org/drawingml/2006/main">
              <a:ext uri="{FF2B5EF4-FFF2-40B4-BE49-F238E27FC236}">
                <a16:creationId xmlns:a16="http://schemas.microsoft.com/office/drawing/2014/main" id="{3B91F67C-59F5-4A67-A6C9-0FF84DF0D0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570E55B-0EF4-42B3-8312-F0A986E7883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968929C9-22C7-44C0-8774-91CFFD85AAF4}"/>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Superficial veins are common peripheral access targets.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Veins have thinner walls, lower pressure, and valves; arteries have thicker muscular walls and pulsatile flow.</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skin, subcutaneous tissue, nerves, and nearby arteries influence site selection and insertion angle.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Confirm anatomy by inspection and palpation before preparing the site.</a:t>
            </a:r>
          </a:p>
        </p:txBody>
      </p:sp>
      <p:pic>
        <p:nvPicPr>
          <p:cNvPr id="6" name="">
            <a:extLst xmlns:a="http://schemas.openxmlformats.org/drawingml/2006/main">
              <a:ext uri="{FF2B5EF4-FFF2-40B4-BE49-F238E27FC236}">
                <a16:creationId xmlns:a16="http://schemas.microsoft.com/office/drawing/2014/main" id="{B9C66086-A862-41B7-AAD3-B5C95556D1DC}"/>
              </a:ext>
            </a:extLst>
          </p:cNvPr>
          <p:cNvPicPr>
            <a:picLocks xmlns:a="http://schemas.openxmlformats.org/drawingml/2006/main" noChangeAspect="1"/>
          </p:cNvPicPr>
          <p:nvPr/>
        </p:nvPicPr>
        <p:blipFill>
          <a:blip xmlns:r="http://schemas.openxmlformats.org/officeDocument/2006/relationships" xmlns:a="http://schemas.openxmlformats.org/drawingml/2006/main" r:embed="Rabb963d1b21844e9"/>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4E544F9-435C-4867-9178-6B6B6646E820}"/>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8" name="">
            <a:extLst xmlns:a="http://schemas.openxmlformats.org/drawingml/2006/main">
              <a:ext uri="{FF2B5EF4-FFF2-40B4-BE49-F238E27FC236}">
                <a16:creationId xmlns:a16="http://schemas.microsoft.com/office/drawing/2014/main" id="{990CE791-FA47-4602-9D66-308FB64261A9}"/>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41360322"/>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6271E14-075C-4B2F-8AA7-61BBB7DB844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085F7E8-213B-405E-9803-33F9B479B14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Skin layers and insertion discomfort</a:t>
            </a:r>
          </a:p>
        </p:txBody>
      </p:sp>
      <p:sp>
        <p:nvSpPr>
          <p:cNvPr id="3" name="">
            <a:extLst xmlns:a="http://schemas.openxmlformats.org/drawingml/2006/main">
              <a:ext uri="{FF2B5EF4-FFF2-40B4-BE49-F238E27FC236}">
                <a16:creationId xmlns:a16="http://schemas.microsoft.com/office/drawing/2014/main" id="{81EDD9C4-7824-43AE-9DA3-63D8701E05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7F44AAB-97EE-49A9-A390-2AD19FEBD7A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C721D484-E31F-46F0-A688-60BCBB081C2F}"/>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355A003B-482F-494F-9681-6171246ADD4E}"/>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Layer</a:t>
            </a:r>
          </a:p>
        </p:txBody>
      </p:sp>
      <p:sp>
        <p:nvSpPr>
          <p:cNvPr id="7" name="">
            <a:extLst xmlns:a="http://schemas.openxmlformats.org/drawingml/2006/main">
              <a:ext uri="{FF2B5EF4-FFF2-40B4-BE49-F238E27FC236}">
                <a16:creationId xmlns:a16="http://schemas.microsoft.com/office/drawing/2014/main" id="{B35274E3-EEEB-44BC-A104-8BC6B2555B68}"/>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ABB356A-D43A-4341-BE3C-A6FF90EACBED}"/>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9" name="">
            <a:extLst xmlns:a="http://schemas.openxmlformats.org/drawingml/2006/main">
              <a:ext uri="{FF2B5EF4-FFF2-40B4-BE49-F238E27FC236}">
                <a16:creationId xmlns:a16="http://schemas.microsoft.com/office/drawing/2014/main" id="{55EF65C4-11A8-4B13-9511-168241D29C2B}"/>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E66A717C-4A18-42A2-84C7-3D7966872452}"/>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Epidermis</a:t>
            </a:r>
          </a:p>
        </p:txBody>
      </p:sp>
      <p:sp>
        <p:nvSpPr>
          <p:cNvPr id="11" name="">
            <a:extLst xmlns:a="http://schemas.openxmlformats.org/drawingml/2006/main">
              <a:ext uri="{FF2B5EF4-FFF2-40B4-BE49-F238E27FC236}">
                <a16:creationId xmlns:a16="http://schemas.microsoft.com/office/drawing/2014/main" id="{16C91B96-E4F8-4306-84C2-A8A9A369CECA}"/>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1FA0698-E830-40A1-827C-CACC09B1C2B7}"/>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Provides the outer barrier and must be cleansed without recontamination</a:t>
            </a:r>
          </a:p>
        </p:txBody>
      </p:sp>
      <p:sp>
        <p:nvSpPr>
          <p:cNvPr id="13" name="">
            <a:extLst xmlns:a="http://schemas.openxmlformats.org/drawingml/2006/main">
              <a:ext uri="{FF2B5EF4-FFF2-40B4-BE49-F238E27FC236}">
                <a16:creationId xmlns:a16="http://schemas.microsoft.com/office/drawing/2014/main" id="{B01CA01D-2AFF-437B-93EB-1D0FEDA39021}"/>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96A4AD4-3A41-4B1A-9D72-F71C35997A28}"/>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Dermis</a:t>
            </a:r>
          </a:p>
        </p:txBody>
      </p:sp>
      <p:sp>
        <p:nvSpPr>
          <p:cNvPr id="15" name="">
            <a:extLst xmlns:a="http://schemas.openxmlformats.org/drawingml/2006/main">
              <a:ext uri="{FF2B5EF4-FFF2-40B4-BE49-F238E27FC236}">
                <a16:creationId xmlns:a16="http://schemas.microsoft.com/office/drawing/2014/main" id="{FA5A3FB1-A4C2-4D85-AC60-D673222DC06F}"/>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9AABC698-E57F-4C39-B3F7-6F388262FB1C}"/>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Contains sensory structures; rapid controlled penetration may reduce prolonged discomfort</a:t>
            </a:r>
          </a:p>
        </p:txBody>
      </p:sp>
      <p:sp>
        <p:nvSpPr>
          <p:cNvPr id="17" name="">
            <a:extLst xmlns:a="http://schemas.openxmlformats.org/drawingml/2006/main">
              <a:ext uri="{FF2B5EF4-FFF2-40B4-BE49-F238E27FC236}">
                <a16:creationId xmlns:a16="http://schemas.microsoft.com/office/drawing/2014/main" id="{43D4A3D6-0162-400E-B0B3-AAC77B20CC03}"/>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C2C1F35-B4A7-47CA-8823-45703C282E10}"/>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Subcutaneous tissue</a:t>
            </a:r>
          </a:p>
        </p:txBody>
      </p:sp>
      <p:sp>
        <p:nvSpPr>
          <p:cNvPr id="19" name="">
            <a:extLst xmlns:a="http://schemas.openxmlformats.org/drawingml/2006/main">
              <a:ext uri="{FF2B5EF4-FFF2-40B4-BE49-F238E27FC236}">
                <a16:creationId xmlns:a16="http://schemas.microsoft.com/office/drawing/2014/main" id="{13416A91-2477-4C9B-85C1-2016EA612F6A}"/>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5247558-F1AA-4A39-B747-44D1890F3998}"/>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Depth varies by patient and changes vein palpation and insertion angle</a:t>
            </a:r>
          </a:p>
        </p:txBody>
      </p:sp>
      <p:sp>
        <p:nvSpPr>
          <p:cNvPr id="21" name="">
            <a:extLst xmlns:a="http://schemas.openxmlformats.org/drawingml/2006/main">
              <a:ext uri="{FF2B5EF4-FFF2-40B4-BE49-F238E27FC236}">
                <a16:creationId xmlns:a16="http://schemas.microsoft.com/office/drawing/2014/main" id="{A9F55237-D2A0-4208-B5CA-C9858749604A}"/>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39A2E40-6296-4237-8AD0-01BC9A1BBC96}"/>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Vessel wall</a:t>
            </a:r>
          </a:p>
        </p:txBody>
      </p:sp>
      <p:sp>
        <p:nvSpPr>
          <p:cNvPr id="23" name="">
            <a:extLst xmlns:a="http://schemas.openxmlformats.org/drawingml/2006/main">
              <a:ext uri="{FF2B5EF4-FFF2-40B4-BE49-F238E27FC236}">
                <a16:creationId xmlns:a16="http://schemas.microsoft.com/office/drawing/2014/main" id="{45FFF068-E525-4F2E-AA77-5C8752141E5D}"/>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38581A9-C4A2-4A72-A60D-11B6DCE9495B}"/>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Trauma to the intima can promote inflammation and thrombosis</a:t>
            </a:r>
          </a:p>
        </p:txBody>
      </p:sp>
    </p:spTree>
    <p:extLst>
      <p:ext uri="{BB962C8B-B14F-4D97-AF65-F5344CB8AC3E}">
        <p14:creationId xmlns:p14="http://schemas.microsoft.com/office/powerpoint/2010/main" val="1566938504"/>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4508CF0-BE2E-4449-9C95-AFDE6289411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063E87E-F57F-4F84-AA5A-5084C125C4E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Common upper-extremity veins</a:t>
            </a:r>
          </a:p>
        </p:txBody>
      </p:sp>
      <p:sp>
        <p:nvSpPr>
          <p:cNvPr id="3" name="">
            <a:extLst xmlns:a="http://schemas.openxmlformats.org/drawingml/2006/main">
              <a:ext uri="{FF2B5EF4-FFF2-40B4-BE49-F238E27FC236}">
                <a16:creationId xmlns:a16="http://schemas.microsoft.com/office/drawing/2014/main" id="{62527B15-0F53-4CB4-A9D2-F53051FF072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5D5A7F3-95BC-419C-B7B3-3BBAC38BF5A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E66FCFB0-433F-4E80-B993-76559765AFB4}"/>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80E46B19-3C1A-414F-9F58-DF9AE8D29E72}"/>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Vein or region</a:t>
            </a:r>
          </a:p>
        </p:txBody>
      </p:sp>
      <p:sp>
        <p:nvSpPr>
          <p:cNvPr id="7" name="">
            <a:extLst xmlns:a="http://schemas.openxmlformats.org/drawingml/2006/main">
              <a:ext uri="{FF2B5EF4-FFF2-40B4-BE49-F238E27FC236}">
                <a16:creationId xmlns:a16="http://schemas.microsoft.com/office/drawing/2014/main" id="{2F25D929-F46D-44C2-AA21-D58957625A02}"/>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E6335AB-7ED0-4A0C-9A48-D78C9B5E5C3D}"/>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Potential advantage</a:t>
            </a:r>
          </a:p>
        </p:txBody>
      </p:sp>
      <p:sp>
        <p:nvSpPr>
          <p:cNvPr id="9" name="">
            <a:extLst xmlns:a="http://schemas.openxmlformats.org/drawingml/2006/main">
              <a:ext uri="{FF2B5EF4-FFF2-40B4-BE49-F238E27FC236}">
                <a16:creationId xmlns:a16="http://schemas.microsoft.com/office/drawing/2014/main" id="{55B74171-288A-4EFA-A5A4-CF520F316BBF}"/>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4B4B014-6254-4DB9-A51A-D3AF65BCC5C0}"/>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Important caution</a:t>
            </a:r>
          </a:p>
        </p:txBody>
      </p:sp>
      <p:sp>
        <p:nvSpPr>
          <p:cNvPr id="11" name="">
            <a:extLst xmlns:a="http://schemas.openxmlformats.org/drawingml/2006/main">
              <a:ext uri="{FF2B5EF4-FFF2-40B4-BE49-F238E27FC236}">
                <a16:creationId xmlns:a16="http://schemas.microsoft.com/office/drawing/2014/main" id="{3D68C209-CAAB-417C-BF10-7906804BBA7D}"/>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70F3ECA-86A6-435F-98AE-DCB9C3DE5AA7}"/>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Dorsal metacarpal network</a:t>
            </a:r>
          </a:p>
        </p:txBody>
      </p:sp>
      <p:sp>
        <p:nvSpPr>
          <p:cNvPr id="13" name="">
            <a:extLst xmlns:a="http://schemas.openxmlformats.org/drawingml/2006/main">
              <a:ext uri="{FF2B5EF4-FFF2-40B4-BE49-F238E27FC236}">
                <a16:creationId xmlns:a16="http://schemas.microsoft.com/office/drawing/2014/main" id="{88888DBE-805B-40B4-BD87-0B0F9E456F83}"/>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9E3B55F-16E5-4581-9C08-A7825E7B5C09}"/>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Visible, distal starting point</a:t>
            </a:r>
          </a:p>
        </p:txBody>
      </p:sp>
      <p:sp>
        <p:nvSpPr>
          <p:cNvPr id="15" name="">
            <a:extLst xmlns:a="http://schemas.openxmlformats.org/drawingml/2006/main">
              <a:ext uri="{FF2B5EF4-FFF2-40B4-BE49-F238E27FC236}">
                <a16:creationId xmlns:a16="http://schemas.microsoft.com/office/drawing/2014/main" id="{1B0422F2-8AE0-4A71-AC79-65D5688FE88F}"/>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23B691D9-130F-4929-99C4-01E9793FFF0F}"/>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Movement and fragile skin may affect comfort and securement</a:t>
            </a:r>
          </a:p>
        </p:txBody>
      </p:sp>
      <p:sp>
        <p:nvSpPr>
          <p:cNvPr id="17" name="">
            <a:extLst xmlns:a="http://schemas.openxmlformats.org/drawingml/2006/main">
              <a:ext uri="{FF2B5EF4-FFF2-40B4-BE49-F238E27FC236}">
                <a16:creationId xmlns:a16="http://schemas.microsoft.com/office/drawing/2014/main" id="{1B436A22-36D4-4486-8468-5660F4CD086F}"/>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A6DB5DC-BBBA-4CE3-920D-C764D7E2D0D4}"/>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Cephalic vein</a:t>
            </a:r>
          </a:p>
        </p:txBody>
      </p:sp>
      <p:sp>
        <p:nvSpPr>
          <p:cNvPr id="19" name="">
            <a:extLst xmlns:a="http://schemas.openxmlformats.org/drawingml/2006/main">
              <a:ext uri="{FF2B5EF4-FFF2-40B4-BE49-F238E27FC236}">
                <a16:creationId xmlns:a16="http://schemas.microsoft.com/office/drawing/2014/main" id="{713D3A0C-D336-4186-871C-EC82F4FDEAAD}"/>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1329ABB-B2C8-4FC6-84C7-2B0CF7AEBE59}"/>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accessible along the radial forearm</a:t>
            </a:r>
          </a:p>
        </p:txBody>
      </p:sp>
      <p:sp>
        <p:nvSpPr>
          <p:cNvPr id="21" name="">
            <a:extLst xmlns:a="http://schemas.openxmlformats.org/drawingml/2006/main">
              <a:ext uri="{FF2B5EF4-FFF2-40B4-BE49-F238E27FC236}">
                <a16:creationId xmlns:a16="http://schemas.microsoft.com/office/drawing/2014/main" id="{D716F339-5F3B-4973-BD65-89BD11D05C44}"/>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0B4FEF5-4B9F-4C13-B5AC-8088B4C91B04}"/>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Near the wrist, protect against motion and nerve or artery injury</a:t>
            </a:r>
          </a:p>
        </p:txBody>
      </p:sp>
      <p:sp>
        <p:nvSpPr>
          <p:cNvPr id="23" name="">
            <a:extLst xmlns:a="http://schemas.openxmlformats.org/drawingml/2006/main">
              <a:ext uri="{FF2B5EF4-FFF2-40B4-BE49-F238E27FC236}">
                <a16:creationId xmlns:a16="http://schemas.microsoft.com/office/drawing/2014/main" id="{1889A0D7-2B4A-42FC-8F64-7424E6252FCD}"/>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112324E-D781-411E-A7D3-30C58433C480}"/>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Basilic vein</a:t>
            </a:r>
          </a:p>
        </p:txBody>
      </p:sp>
      <p:sp>
        <p:nvSpPr>
          <p:cNvPr id="25" name="">
            <a:extLst xmlns:a="http://schemas.openxmlformats.org/drawingml/2006/main">
              <a:ext uri="{FF2B5EF4-FFF2-40B4-BE49-F238E27FC236}">
                <a16:creationId xmlns:a16="http://schemas.microsoft.com/office/drawing/2014/main" id="{B0EAAAF4-67C1-4479-96AA-CBE2DCD7D9E5}"/>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94597E28-F5DA-4F6B-B961-2461ABFFB3FC}"/>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be large and straight</a:t>
            </a:r>
          </a:p>
        </p:txBody>
      </p:sp>
      <p:sp>
        <p:nvSpPr>
          <p:cNvPr id="27" name="">
            <a:extLst xmlns:a="http://schemas.openxmlformats.org/drawingml/2006/main">
              <a:ext uri="{FF2B5EF4-FFF2-40B4-BE49-F238E27FC236}">
                <a16:creationId xmlns:a16="http://schemas.microsoft.com/office/drawing/2014/main" id="{D12B5BD5-49B5-4027-A067-AC90459C2B86}"/>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D9476E0E-9BC8-4943-8625-544473E6BACC}"/>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Can roll and lies near important structures proximally</a:t>
            </a:r>
          </a:p>
        </p:txBody>
      </p:sp>
      <p:sp>
        <p:nvSpPr>
          <p:cNvPr id="29" name="">
            <a:extLst xmlns:a="http://schemas.openxmlformats.org/drawingml/2006/main">
              <a:ext uri="{FF2B5EF4-FFF2-40B4-BE49-F238E27FC236}">
                <a16:creationId xmlns:a16="http://schemas.microsoft.com/office/drawing/2014/main" id="{96A72281-20DC-4094-A1B7-77CB21AFBDF3}"/>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E4B9148D-C57B-4814-AAA2-03D3AB372646}"/>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Median antebrachial region</a:t>
            </a:r>
          </a:p>
        </p:txBody>
      </p:sp>
      <p:sp>
        <p:nvSpPr>
          <p:cNvPr id="31" name="">
            <a:extLst xmlns:a="http://schemas.openxmlformats.org/drawingml/2006/main">
              <a:ext uri="{FF2B5EF4-FFF2-40B4-BE49-F238E27FC236}">
                <a16:creationId xmlns:a16="http://schemas.microsoft.com/office/drawing/2014/main" id="{BE9AE972-C95F-4BAB-9DC8-6D0F2FDDBD05}"/>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6B424A13-4852-402F-B46C-D5408F4CC474}"/>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provide a forearm option</a:t>
            </a:r>
          </a:p>
        </p:txBody>
      </p:sp>
      <p:sp>
        <p:nvSpPr>
          <p:cNvPr id="33" name="">
            <a:extLst xmlns:a="http://schemas.openxmlformats.org/drawingml/2006/main">
              <a:ext uri="{FF2B5EF4-FFF2-40B4-BE49-F238E27FC236}">
                <a16:creationId xmlns:a16="http://schemas.microsoft.com/office/drawing/2014/main" id="{6DDD2C2A-3C86-4553-A021-FCA71FF176B2}"/>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5EB9CA69-9CD9-41AF-92DA-E6EDE3DB57E5}"/>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Anatomy varies; assess depth, direction, and therapy needs</a:t>
            </a:r>
          </a:p>
        </p:txBody>
      </p:sp>
    </p:spTree>
    <p:extLst>
      <p:ext uri="{BB962C8B-B14F-4D97-AF65-F5344CB8AC3E}">
        <p14:creationId xmlns:p14="http://schemas.microsoft.com/office/powerpoint/2010/main" val="956579275"/>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0FEE210-096C-4F79-BF78-1002DCB382D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2199C55-5970-45AB-8D81-31A4C29E216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Extremities and sites that need special caution</a:t>
            </a:r>
          </a:p>
        </p:txBody>
      </p:sp>
      <p:sp>
        <p:nvSpPr>
          <p:cNvPr id="3" name="">
            <a:extLst xmlns:a="http://schemas.openxmlformats.org/drawingml/2006/main">
              <a:ext uri="{FF2B5EF4-FFF2-40B4-BE49-F238E27FC236}">
                <a16:creationId xmlns:a16="http://schemas.microsoft.com/office/drawing/2014/main" id="{A1822407-FB29-4830-B2A7-14ECF9355D9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5332EB9-8E49-426D-AEAB-1E5F85F2660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863E6434-E6FA-425A-9233-508923C60215}"/>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E1B01404-6B24-43C4-9004-41EEDE0266DC}"/>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Finding or history</a:t>
            </a:r>
          </a:p>
        </p:txBody>
      </p:sp>
      <p:sp>
        <p:nvSpPr>
          <p:cNvPr id="7" name="">
            <a:extLst xmlns:a="http://schemas.openxmlformats.org/drawingml/2006/main">
              <a:ext uri="{FF2B5EF4-FFF2-40B4-BE49-F238E27FC236}">
                <a16:creationId xmlns:a16="http://schemas.microsoft.com/office/drawing/2014/main" id="{D6C7206C-DB5F-4D37-8301-D912D81C6BDD}"/>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50C762D5-E3A8-445A-843E-08BFD33C95F7}"/>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Action</a:t>
            </a:r>
          </a:p>
        </p:txBody>
      </p:sp>
      <p:sp>
        <p:nvSpPr>
          <p:cNvPr id="9" name="">
            <a:extLst xmlns:a="http://schemas.openxmlformats.org/drawingml/2006/main">
              <a:ext uri="{FF2B5EF4-FFF2-40B4-BE49-F238E27FC236}">
                <a16:creationId xmlns:a16="http://schemas.microsoft.com/office/drawing/2014/main" id="{8C388522-7CBD-4A36-9ED2-A88C17A6DC7C}"/>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2C0D655-AA12-41CC-9B1D-ACC856697E12}"/>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Infection, burn, wound, hematoma, or impaired circulation</a:t>
            </a:r>
          </a:p>
        </p:txBody>
      </p:sp>
      <p:sp>
        <p:nvSpPr>
          <p:cNvPr id="11" name="">
            <a:extLst xmlns:a="http://schemas.openxmlformats.org/drawingml/2006/main">
              <a:ext uri="{FF2B5EF4-FFF2-40B4-BE49-F238E27FC236}">
                <a16:creationId xmlns:a16="http://schemas.microsoft.com/office/drawing/2014/main" id="{D37BC6AC-5AD6-4FC7-94DD-F45910688FD7}"/>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13316674-2F71-42BA-9D04-E0D28F0B6BDD}"/>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the affected site and select a safer location</a:t>
            </a:r>
          </a:p>
        </p:txBody>
      </p:sp>
      <p:sp>
        <p:nvSpPr>
          <p:cNvPr id="13" name="">
            <a:extLst xmlns:a="http://schemas.openxmlformats.org/drawingml/2006/main">
              <a:ext uri="{FF2B5EF4-FFF2-40B4-BE49-F238E27FC236}">
                <a16:creationId xmlns:a16="http://schemas.microsoft.com/office/drawing/2014/main" id="{16D63085-2EFA-47FB-9B40-CF19682F850B}"/>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44A14C9-89DD-4A6F-BAE5-70CB63904AB5}"/>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Dialysis fistula or graft</a:t>
            </a:r>
          </a:p>
        </p:txBody>
      </p:sp>
      <p:sp>
        <p:nvSpPr>
          <p:cNvPr id="15" name="">
            <a:extLst xmlns:a="http://schemas.openxmlformats.org/drawingml/2006/main">
              <a:ext uri="{FF2B5EF4-FFF2-40B4-BE49-F238E27FC236}">
                <a16:creationId xmlns:a16="http://schemas.microsoft.com/office/drawing/2014/main" id="{38491F66-0230-49F2-BA0D-8C587B18DE94}"/>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476623D-E79B-4E00-A790-B4BDDB8FBD8D}"/>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use the extremity unless a specialist-specific emergency protocol authorizes it</a:t>
            </a:r>
          </a:p>
        </p:txBody>
      </p:sp>
      <p:sp>
        <p:nvSpPr>
          <p:cNvPr id="17" name="">
            <a:extLst xmlns:a="http://schemas.openxmlformats.org/drawingml/2006/main">
              <a:ext uri="{FF2B5EF4-FFF2-40B4-BE49-F238E27FC236}">
                <a16:creationId xmlns:a16="http://schemas.microsoft.com/office/drawing/2014/main" id="{A9F13CD0-2C9E-407F-B7BD-BA5609E67228}"/>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6EAC548-6F3E-4184-A680-FD9B6A08944D}"/>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Lymph-node surgery, mastectomy, or lymphedema risk</a:t>
            </a:r>
          </a:p>
        </p:txBody>
      </p:sp>
      <p:sp>
        <p:nvSpPr>
          <p:cNvPr id="19" name="">
            <a:extLst xmlns:a="http://schemas.openxmlformats.org/drawingml/2006/main">
              <a:ext uri="{FF2B5EF4-FFF2-40B4-BE49-F238E27FC236}">
                <a16:creationId xmlns:a16="http://schemas.microsoft.com/office/drawing/2014/main" id="{BFB26308-65A9-4D65-A4D8-CA0EDB838BEE}"/>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3AC8E4C-EA7A-4579-9D0B-9DB63EFCD537}"/>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Follow the current patient-specific restriction and facility policy</a:t>
            </a:r>
          </a:p>
        </p:txBody>
      </p:sp>
      <p:sp>
        <p:nvSpPr>
          <p:cNvPr id="21" name="">
            <a:extLst xmlns:a="http://schemas.openxmlformats.org/drawingml/2006/main">
              <a:ext uri="{FF2B5EF4-FFF2-40B4-BE49-F238E27FC236}">
                <a16:creationId xmlns:a16="http://schemas.microsoft.com/office/drawing/2014/main" id="{6C336E2B-CB12-4AF8-9752-BC7036B302CE}"/>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13460AD-2E3D-4D5A-9BC9-FB1428B2D321}"/>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Paralysis or reduced sensation</a:t>
            </a:r>
          </a:p>
        </p:txBody>
      </p:sp>
      <p:sp>
        <p:nvSpPr>
          <p:cNvPr id="23" name="">
            <a:extLst xmlns:a="http://schemas.openxmlformats.org/drawingml/2006/main">
              <a:ext uri="{FF2B5EF4-FFF2-40B4-BE49-F238E27FC236}">
                <a16:creationId xmlns:a16="http://schemas.microsoft.com/office/drawing/2014/main" id="{F8720B42-9C36-49D4-89BB-DF16FB098758}"/>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E8DB8E4-4814-451E-9A19-92EE6DCA7297}"/>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when possible because injury or complication may go unrecognized</a:t>
            </a:r>
          </a:p>
        </p:txBody>
      </p:sp>
      <p:sp>
        <p:nvSpPr>
          <p:cNvPr id="25" name="">
            <a:extLst xmlns:a="http://schemas.openxmlformats.org/drawingml/2006/main">
              <a:ext uri="{FF2B5EF4-FFF2-40B4-BE49-F238E27FC236}">
                <a16:creationId xmlns:a16="http://schemas.microsoft.com/office/drawing/2014/main" id="{9405C59F-EEB3-4C6A-AF88-E48AFB73A991}"/>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4E40BD51-89C7-454A-BCBC-DD5283ADC0ED}"/>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Lower extremity in an adult</a:t>
            </a:r>
          </a:p>
        </p:txBody>
      </p:sp>
      <p:sp>
        <p:nvSpPr>
          <p:cNvPr id="27" name="">
            <a:extLst xmlns:a="http://schemas.openxmlformats.org/drawingml/2006/main">
              <a:ext uri="{FF2B5EF4-FFF2-40B4-BE49-F238E27FC236}">
                <a16:creationId xmlns:a16="http://schemas.microsoft.com/office/drawing/2014/main" id="{6FBC8065-9268-4F73-B3A7-10F8C14933AA}"/>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5DF0F608-5B24-4D5F-A3DB-E36EDDD4CB47}"/>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only when clinically authorized and replace with safer access as directed</a:t>
            </a:r>
          </a:p>
        </p:txBody>
      </p:sp>
    </p:spTree>
    <p:extLst>
      <p:ext uri="{BB962C8B-B14F-4D97-AF65-F5344CB8AC3E}">
        <p14:creationId xmlns:p14="http://schemas.microsoft.com/office/powerpoint/2010/main" val="1495101562"/>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AF011A98-FA6D-48B9-A27B-371C48A5CEF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E14CDC9-0FF4-40FF-B235-BBDEDBC4049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Primary and secondary administration sets</a:t>
            </a:r>
          </a:p>
        </p:txBody>
      </p:sp>
      <p:sp>
        <p:nvSpPr>
          <p:cNvPr id="3" name="">
            <a:extLst xmlns:a="http://schemas.openxmlformats.org/drawingml/2006/main">
              <a:ext uri="{FF2B5EF4-FFF2-40B4-BE49-F238E27FC236}">
                <a16:creationId xmlns:a16="http://schemas.microsoft.com/office/drawing/2014/main" id="{C17B6893-84B8-4B6E-AD87-A5C9C0630D6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FE5A0D3-58E4-4ECE-B2F0-282583C1ED4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DC0D9DDF-7203-47FC-BDCC-91A27214A56E}"/>
              </a:ext>
            </a:extLst>
          </p:cNvPr>
          <p:cNvSpPr>
            <a:spLocks xmlns:a="http://schemas.openxmlformats.org/drawingml/2006/main" noGrp="1"/>
          </p:cNvSpPr>
          <p:nvPr/>
        </p:nvSpPr>
        <p:spPr>
          <a:xfrm xmlns:a="http://schemas.openxmlformats.org/drawingml/2006/main">
            <a:off x="7810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28752268-8947-40C9-90D1-EF13054B6796}"/>
              </a:ext>
            </a:extLst>
          </p:cNvPr>
          <p:cNvSpPr>
            <a:spLocks xmlns:a="http://schemas.openxmlformats.org/drawingml/2006/main" noGrp="1"/>
          </p:cNvSpPr>
          <p:nvPr/>
        </p:nvSpPr>
        <p:spPr>
          <a:xfrm xmlns:a="http://schemas.openxmlformats.org/drawingml/2006/main">
            <a:off x="8763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Equipment</a:t>
            </a:r>
          </a:p>
        </p:txBody>
      </p:sp>
      <p:sp>
        <p:nvSpPr>
          <p:cNvPr id="7" name="">
            <a:extLst xmlns:a="http://schemas.openxmlformats.org/drawingml/2006/main">
              <a:ext uri="{FF2B5EF4-FFF2-40B4-BE49-F238E27FC236}">
                <a16:creationId xmlns:a16="http://schemas.microsoft.com/office/drawing/2014/main" id="{33603960-31D8-46FB-BC82-559FF3157BF6}"/>
              </a:ext>
            </a:extLst>
          </p:cNvPr>
          <p:cNvSpPr>
            <a:spLocks xmlns:a="http://schemas.openxmlformats.org/drawingml/2006/main" noGrp="1"/>
          </p:cNvSpPr>
          <p:nvPr/>
        </p:nvSpPr>
        <p:spPr>
          <a:xfrm xmlns:a="http://schemas.openxmlformats.org/drawingml/2006/main">
            <a:off x="430530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9923E19-E364-4B0D-AB1B-AE0F460DE998}"/>
              </a:ext>
            </a:extLst>
          </p:cNvPr>
          <p:cNvSpPr>
            <a:spLocks xmlns:a="http://schemas.openxmlformats.org/drawingml/2006/main" noGrp="1"/>
          </p:cNvSpPr>
          <p:nvPr/>
        </p:nvSpPr>
        <p:spPr>
          <a:xfrm xmlns:a="http://schemas.openxmlformats.org/drawingml/2006/main">
            <a:off x="440055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Purpose</a:t>
            </a:r>
          </a:p>
        </p:txBody>
      </p:sp>
      <p:sp>
        <p:nvSpPr>
          <p:cNvPr id="9" name="">
            <a:extLst xmlns:a="http://schemas.openxmlformats.org/drawingml/2006/main">
              <a:ext uri="{FF2B5EF4-FFF2-40B4-BE49-F238E27FC236}">
                <a16:creationId xmlns:a16="http://schemas.microsoft.com/office/drawing/2014/main" id="{20A7C28B-7E71-441D-A817-01155ED1D6A1}"/>
              </a:ext>
            </a:extLst>
          </p:cNvPr>
          <p:cNvSpPr>
            <a:spLocks xmlns:a="http://schemas.openxmlformats.org/drawingml/2006/main" noGrp="1"/>
          </p:cNvSpPr>
          <p:nvPr/>
        </p:nvSpPr>
        <p:spPr>
          <a:xfrm xmlns:a="http://schemas.openxmlformats.org/drawingml/2006/main">
            <a:off x="78295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102E6DF-2C90-48D2-BF7D-C33026CBD3DC}"/>
              </a:ext>
            </a:extLst>
          </p:cNvPr>
          <p:cNvSpPr>
            <a:spLocks xmlns:a="http://schemas.openxmlformats.org/drawingml/2006/main" noGrp="1"/>
          </p:cNvSpPr>
          <p:nvPr/>
        </p:nvSpPr>
        <p:spPr>
          <a:xfrm xmlns:a="http://schemas.openxmlformats.org/drawingml/2006/main">
            <a:off x="79248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Safety check</a:t>
            </a:r>
          </a:p>
        </p:txBody>
      </p:sp>
      <p:sp>
        <p:nvSpPr>
          <p:cNvPr id="11" name="">
            <a:extLst xmlns:a="http://schemas.openxmlformats.org/drawingml/2006/main">
              <a:ext uri="{FF2B5EF4-FFF2-40B4-BE49-F238E27FC236}">
                <a16:creationId xmlns:a16="http://schemas.microsoft.com/office/drawing/2014/main" id="{3B9D4881-2D95-490B-99EF-47F65EEC304E}"/>
              </a:ext>
            </a:extLst>
          </p:cNvPr>
          <p:cNvSpPr>
            <a:spLocks xmlns:a="http://schemas.openxmlformats.org/drawingml/2006/main" noGrp="1"/>
          </p:cNvSpPr>
          <p:nvPr/>
        </p:nvSpPr>
        <p:spPr>
          <a:xfrm xmlns:a="http://schemas.openxmlformats.org/drawingml/2006/main">
            <a:off x="7810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ABC5BDD-AF62-4C58-8F4C-A5F6BEFAD938}"/>
              </a:ext>
            </a:extLst>
          </p:cNvPr>
          <p:cNvSpPr>
            <a:spLocks xmlns:a="http://schemas.openxmlformats.org/drawingml/2006/main" noGrp="1"/>
          </p:cNvSpPr>
          <p:nvPr/>
        </p:nvSpPr>
        <p:spPr>
          <a:xfrm xmlns:a="http://schemas.openxmlformats.org/drawingml/2006/main">
            <a:off x="8763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Macrodrip set</a:t>
            </a:r>
          </a:p>
        </p:txBody>
      </p:sp>
      <p:sp>
        <p:nvSpPr>
          <p:cNvPr id="13" name="">
            <a:extLst xmlns:a="http://schemas.openxmlformats.org/drawingml/2006/main">
              <a:ext uri="{FF2B5EF4-FFF2-40B4-BE49-F238E27FC236}">
                <a16:creationId xmlns:a16="http://schemas.microsoft.com/office/drawing/2014/main" id="{6CE906DD-12C3-45E5-8D6F-BF6899FA6C9A}"/>
              </a:ext>
            </a:extLst>
          </p:cNvPr>
          <p:cNvSpPr>
            <a:spLocks xmlns:a="http://schemas.openxmlformats.org/drawingml/2006/main" noGrp="1"/>
          </p:cNvSpPr>
          <p:nvPr/>
        </p:nvSpPr>
        <p:spPr>
          <a:xfrm xmlns:a="http://schemas.openxmlformats.org/drawingml/2006/main">
            <a:off x="430530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64B1A64-7388-4B37-93A3-F240F6C922F0}"/>
              </a:ext>
            </a:extLst>
          </p:cNvPr>
          <p:cNvSpPr>
            <a:spLocks xmlns:a="http://schemas.openxmlformats.org/drawingml/2006/main" noGrp="1"/>
          </p:cNvSpPr>
          <p:nvPr/>
        </p:nvSpPr>
        <p:spPr>
          <a:xfrm xmlns:a="http://schemas.openxmlformats.org/drawingml/2006/main">
            <a:off x="440055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Gravity delivery with a manufacturer-specified drop factor</a:t>
            </a:r>
          </a:p>
        </p:txBody>
      </p:sp>
      <p:sp>
        <p:nvSpPr>
          <p:cNvPr id="15" name="">
            <a:extLst xmlns:a="http://schemas.openxmlformats.org/drawingml/2006/main">
              <a:ext uri="{FF2B5EF4-FFF2-40B4-BE49-F238E27FC236}">
                <a16:creationId xmlns:a16="http://schemas.microsoft.com/office/drawing/2014/main" id="{67CCF829-C331-43E3-9F4E-5C9A7A18A2D4}"/>
              </a:ext>
            </a:extLst>
          </p:cNvPr>
          <p:cNvSpPr>
            <a:spLocks xmlns:a="http://schemas.openxmlformats.org/drawingml/2006/main" noGrp="1"/>
          </p:cNvSpPr>
          <p:nvPr/>
        </p:nvSpPr>
        <p:spPr>
          <a:xfrm xmlns:a="http://schemas.openxmlformats.org/drawingml/2006/main">
            <a:off x="78295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68A5E48-CF6C-4CF6-9948-86BA373850BB}"/>
              </a:ext>
            </a:extLst>
          </p:cNvPr>
          <p:cNvSpPr>
            <a:spLocks xmlns:a="http://schemas.openxmlformats.org/drawingml/2006/main" noGrp="1"/>
          </p:cNvSpPr>
          <p:nvPr/>
        </p:nvSpPr>
        <p:spPr>
          <a:xfrm xmlns:a="http://schemas.openxmlformats.org/drawingml/2006/main">
            <a:off x="79248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Read the actual package; never assume 10, 15, or 20 gtt/mL</a:t>
            </a:r>
          </a:p>
        </p:txBody>
      </p:sp>
      <p:sp>
        <p:nvSpPr>
          <p:cNvPr id="17" name="">
            <a:extLst xmlns:a="http://schemas.openxmlformats.org/drawingml/2006/main">
              <a:ext uri="{FF2B5EF4-FFF2-40B4-BE49-F238E27FC236}">
                <a16:creationId xmlns:a16="http://schemas.microsoft.com/office/drawing/2014/main" id="{2FA7B358-D2F9-4A67-A1EF-D65B98455BE2}"/>
              </a:ext>
            </a:extLst>
          </p:cNvPr>
          <p:cNvSpPr>
            <a:spLocks xmlns:a="http://schemas.openxmlformats.org/drawingml/2006/main" noGrp="1"/>
          </p:cNvSpPr>
          <p:nvPr/>
        </p:nvSpPr>
        <p:spPr>
          <a:xfrm xmlns:a="http://schemas.openxmlformats.org/drawingml/2006/main">
            <a:off x="7810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2B7DFE8-4B6E-4A20-BAD2-9196FD8BEA61}"/>
              </a:ext>
            </a:extLst>
          </p:cNvPr>
          <p:cNvSpPr>
            <a:spLocks xmlns:a="http://schemas.openxmlformats.org/drawingml/2006/main" noGrp="1"/>
          </p:cNvSpPr>
          <p:nvPr/>
        </p:nvSpPr>
        <p:spPr>
          <a:xfrm xmlns:a="http://schemas.openxmlformats.org/drawingml/2006/main">
            <a:off x="8763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Microdrip set</a:t>
            </a:r>
          </a:p>
        </p:txBody>
      </p:sp>
      <p:sp>
        <p:nvSpPr>
          <p:cNvPr id="19" name="">
            <a:extLst xmlns:a="http://schemas.openxmlformats.org/drawingml/2006/main">
              <a:ext uri="{FF2B5EF4-FFF2-40B4-BE49-F238E27FC236}">
                <a16:creationId xmlns:a16="http://schemas.microsoft.com/office/drawing/2014/main" id="{E98FEB7C-5075-4127-A535-F902826A7E53}"/>
              </a:ext>
            </a:extLst>
          </p:cNvPr>
          <p:cNvSpPr>
            <a:spLocks xmlns:a="http://schemas.openxmlformats.org/drawingml/2006/main" noGrp="1"/>
          </p:cNvSpPr>
          <p:nvPr/>
        </p:nvSpPr>
        <p:spPr>
          <a:xfrm xmlns:a="http://schemas.openxmlformats.org/drawingml/2006/main">
            <a:off x="430530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7D16FCB5-FCCA-45B6-A212-34C89D934F48}"/>
              </a:ext>
            </a:extLst>
          </p:cNvPr>
          <p:cNvSpPr>
            <a:spLocks xmlns:a="http://schemas.openxmlformats.org/drawingml/2006/main" noGrp="1"/>
          </p:cNvSpPr>
          <p:nvPr/>
        </p:nvSpPr>
        <p:spPr>
          <a:xfrm xmlns:a="http://schemas.openxmlformats.org/drawingml/2006/main">
            <a:off x="440055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Fine gravity control, commonly 60 gtt/mL</a:t>
            </a:r>
          </a:p>
        </p:txBody>
      </p:sp>
      <p:sp>
        <p:nvSpPr>
          <p:cNvPr id="21" name="">
            <a:extLst xmlns:a="http://schemas.openxmlformats.org/drawingml/2006/main">
              <a:ext uri="{FF2B5EF4-FFF2-40B4-BE49-F238E27FC236}">
                <a16:creationId xmlns:a16="http://schemas.microsoft.com/office/drawing/2014/main" id="{8FFF6D24-5BC5-4092-869C-995064658A9A}"/>
              </a:ext>
            </a:extLst>
          </p:cNvPr>
          <p:cNvSpPr>
            <a:spLocks xmlns:a="http://schemas.openxmlformats.org/drawingml/2006/main" noGrp="1"/>
          </p:cNvSpPr>
          <p:nvPr/>
        </p:nvSpPr>
        <p:spPr>
          <a:xfrm xmlns:a="http://schemas.openxmlformats.org/drawingml/2006/main">
            <a:off x="78295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BCE6124-5C49-4E1F-B21B-BDECB9BE7793}"/>
              </a:ext>
            </a:extLst>
          </p:cNvPr>
          <p:cNvSpPr>
            <a:spLocks xmlns:a="http://schemas.openxmlformats.org/drawingml/2006/main" noGrp="1"/>
          </p:cNvSpPr>
          <p:nvPr/>
        </p:nvSpPr>
        <p:spPr>
          <a:xfrm xmlns:a="http://schemas.openxmlformats.org/drawingml/2006/main">
            <a:off x="79248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Confirm package and patient-specific use</a:t>
            </a:r>
          </a:p>
        </p:txBody>
      </p:sp>
      <p:sp>
        <p:nvSpPr>
          <p:cNvPr id="23" name="">
            <a:extLst xmlns:a="http://schemas.openxmlformats.org/drawingml/2006/main">
              <a:ext uri="{FF2B5EF4-FFF2-40B4-BE49-F238E27FC236}">
                <a16:creationId xmlns:a16="http://schemas.microsoft.com/office/drawing/2014/main" id="{DE065774-D72D-496C-A710-3CE49529EF34}"/>
              </a:ext>
            </a:extLst>
          </p:cNvPr>
          <p:cNvSpPr>
            <a:spLocks xmlns:a="http://schemas.openxmlformats.org/drawingml/2006/main" noGrp="1"/>
          </p:cNvSpPr>
          <p:nvPr/>
        </p:nvSpPr>
        <p:spPr>
          <a:xfrm xmlns:a="http://schemas.openxmlformats.org/drawingml/2006/main">
            <a:off x="7810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CB34EE8-E442-4CC5-9B3D-C16F1C81582E}"/>
              </a:ext>
            </a:extLst>
          </p:cNvPr>
          <p:cNvSpPr>
            <a:spLocks xmlns:a="http://schemas.openxmlformats.org/drawingml/2006/main" noGrp="1"/>
          </p:cNvSpPr>
          <p:nvPr/>
        </p:nvSpPr>
        <p:spPr>
          <a:xfrm xmlns:a="http://schemas.openxmlformats.org/drawingml/2006/main">
            <a:off x="8763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Primary set</a:t>
            </a:r>
          </a:p>
        </p:txBody>
      </p:sp>
      <p:sp>
        <p:nvSpPr>
          <p:cNvPr id="25" name="">
            <a:extLst xmlns:a="http://schemas.openxmlformats.org/drawingml/2006/main">
              <a:ext uri="{FF2B5EF4-FFF2-40B4-BE49-F238E27FC236}">
                <a16:creationId xmlns:a16="http://schemas.microsoft.com/office/drawing/2014/main" id="{0A191391-74CD-47A0-97D7-F49E56075EC4}"/>
              </a:ext>
            </a:extLst>
          </p:cNvPr>
          <p:cNvSpPr>
            <a:spLocks xmlns:a="http://schemas.openxmlformats.org/drawingml/2006/main" noGrp="1"/>
          </p:cNvSpPr>
          <p:nvPr/>
        </p:nvSpPr>
        <p:spPr>
          <a:xfrm xmlns:a="http://schemas.openxmlformats.org/drawingml/2006/main">
            <a:off x="430530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ECC2051-8568-4F67-A547-A5B02E10470F}"/>
              </a:ext>
            </a:extLst>
          </p:cNvPr>
          <p:cNvSpPr>
            <a:spLocks xmlns:a="http://schemas.openxmlformats.org/drawingml/2006/main" noGrp="1"/>
          </p:cNvSpPr>
          <p:nvPr/>
        </p:nvSpPr>
        <p:spPr>
          <a:xfrm xmlns:a="http://schemas.openxmlformats.org/drawingml/2006/main">
            <a:off x="440055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Continuous fluid path from main container</a:t>
            </a:r>
          </a:p>
        </p:txBody>
      </p:sp>
      <p:sp>
        <p:nvSpPr>
          <p:cNvPr id="27" name="">
            <a:extLst xmlns:a="http://schemas.openxmlformats.org/drawingml/2006/main">
              <a:ext uri="{FF2B5EF4-FFF2-40B4-BE49-F238E27FC236}">
                <a16:creationId xmlns:a16="http://schemas.microsoft.com/office/drawing/2014/main" id="{8CCF8006-C30A-4957-BB7E-92AD2BDD3F4A}"/>
              </a:ext>
            </a:extLst>
          </p:cNvPr>
          <p:cNvSpPr>
            <a:spLocks xmlns:a="http://schemas.openxmlformats.org/drawingml/2006/main" noGrp="1"/>
          </p:cNvSpPr>
          <p:nvPr/>
        </p:nvSpPr>
        <p:spPr>
          <a:xfrm xmlns:a="http://schemas.openxmlformats.org/drawingml/2006/main">
            <a:off x="78295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77F5CA8-A68F-484D-8DB1-20931471BA64}"/>
              </a:ext>
            </a:extLst>
          </p:cNvPr>
          <p:cNvSpPr>
            <a:spLocks xmlns:a="http://schemas.openxmlformats.org/drawingml/2006/main" noGrp="1"/>
          </p:cNvSpPr>
          <p:nvPr/>
        </p:nvSpPr>
        <p:spPr>
          <a:xfrm xmlns:a="http://schemas.openxmlformats.org/drawingml/2006/main">
            <a:off x="79248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Prime, label, trace, and change according to current policy</a:t>
            </a:r>
          </a:p>
        </p:txBody>
      </p:sp>
      <p:sp>
        <p:nvSpPr>
          <p:cNvPr id="29" name="">
            <a:extLst xmlns:a="http://schemas.openxmlformats.org/drawingml/2006/main">
              <a:ext uri="{FF2B5EF4-FFF2-40B4-BE49-F238E27FC236}">
                <a16:creationId xmlns:a16="http://schemas.microsoft.com/office/drawing/2014/main" id="{511F8DB9-7DBC-4995-B7DA-24BAB268756B}"/>
              </a:ext>
            </a:extLst>
          </p:cNvPr>
          <p:cNvSpPr>
            <a:spLocks xmlns:a="http://schemas.openxmlformats.org/drawingml/2006/main" noGrp="1"/>
          </p:cNvSpPr>
          <p:nvPr/>
        </p:nvSpPr>
        <p:spPr>
          <a:xfrm xmlns:a="http://schemas.openxmlformats.org/drawingml/2006/main">
            <a:off x="7810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252EC7E5-B394-4CBC-B3E2-81C1AF826A4F}"/>
              </a:ext>
            </a:extLst>
          </p:cNvPr>
          <p:cNvSpPr>
            <a:spLocks xmlns:a="http://schemas.openxmlformats.org/drawingml/2006/main" noGrp="1"/>
          </p:cNvSpPr>
          <p:nvPr/>
        </p:nvSpPr>
        <p:spPr>
          <a:xfrm xmlns:a="http://schemas.openxmlformats.org/drawingml/2006/main">
            <a:off x="8763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Secondary set</a:t>
            </a:r>
          </a:p>
        </p:txBody>
      </p:sp>
      <p:sp>
        <p:nvSpPr>
          <p:cNvPr id="31" name="">
            <a:extLst xmlns:a="http://schemas.openxmlformats.org/drawingml/2006/main">
              <a:ext uri="{FF2B5EF4-FFF2-40B4-BE49-F238E27FC236}">
                <a16:creationId xmlns:a16="http://schemas.microsoft.com/office/drawing/2014/main" id="{0101BA5F-5511-4240-BD37-8F69F2117BBE}"/>
              </a:ext>
            </a:extLst>
          </p:cNvPr>
          <p:cNvSpPr>
            <a:spLocks xmlns:a="http://schemas.openxmlformats.org/drawingml/2006/main" noGrp="1"/>
          </p:cNvSpPr>
          <p:nvPr/>
        </p:nvSpPr>
        <p:spPr>
          <a:xfrm xmlns:a="http://schemas.openxmlformats.org/drawingml/2006/main">
            <a:off x="430530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63162BB1-7F9D-4D73-BDD3-603F9D2A0C34}"/>
              </a:ext>
            </a:extLst>
          </p:cNvPr>
          <p:cNvSpPr>
            <a:spLocks xmlns:a="http://schemas.openxmlformats.org/drawingml/2006/main" noGrp="1"/>
          </p:cNvSpPr>
          <p:nvPr/>
        </p:nvSpPr>
        <p:spPr>
          <a:xfrm xmlns:a="http://schemas.openxmlformats.org/drawingml/2006/main">
            <a:off x="440055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Intermittent medication through compatible primary line</a:t>
            </a:r>
          </a:p>
        </p:txBody>
      </p:sp>
      <p:sp>
        <p:nvSpPr>
          <p:cNvPr id="33" name="">
            <a:extLst xmlns:a="http://schemas.openxmlformats.org/drawingml/2006/main">
              <a:ext uri="{FF2B5EF4-FFF2-40B4-BE49-F238E27FC236}">
                <a16:creationId xmlns:a16="http://schemas.microsoft.com/office/drawing/2014/main" id="{37928802-9530-4559-A829-1BF01B5F8369}"/>
              </a:ext>
            </a:extLst>
          </p:cNvPr>
          <p:cNvSpPr>
            <a:spLocks xmlns:a="http://schemas.openxmlformats.org/drawingml/2006/main" noGrp="1"/>
          </p:cNvSpPr>
          <p:nvPr/>
        </p:nvSpPr>
        <p:spPr>
          <a:xfrm xmlns:a="http://schemas.openxmlformats.org/drawingml/2006/main">
            <a:off x="78295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FB391515-5CEC-4BA7-813D-8FCAABF8C423}"/>
              </a:ext>
            </a:extLst>
          </p:cNvPr>
          <p:cNvSpPr>
            <a:spLocks xmlns:a="http://schemas.openxmlformats.org/drawingml/2006/main" noGrp="1"/>
          </p:cNvSpPr>
          <p:nvPr/>
        </p:nvSpPr>
        <p:spPr>
          <a:xfrm xmlns:a="http://schemas.openxmlformats.org/drawingml/2006/main">
            <a:off x="79248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Verify compatibility, bag height, connection port, pump channel, volume, and rate</a:t>
            </a:r>
          </a:p>
        </p:txBody>
      </p:sp>
      <p:sp>
        <p:nvSpPr>
          <p:cNvPr id="35" name="">
            <a:extLst xmlns:a="http://schemas.openxmlformats.org/drawingml/2006/main">
              <a:ext uri="{FF2B5EF4-FFF2-40B4-BE49-F238E27FC236}">
                <a16:creationId xmlns:a16="http://schemas.microsoft.com/office/drawing/2014/main" id="{8F766411-B825-4A55-8884-9CC26221FB3A}"/>
              </a:ext>
            </a:extLst>
          </p:cNvPr>
          <p:cNvSpPr>
            <a:spLocks xmlns:a="http://schemas.openxmlformats.org/drawingml/2006/main" noGrp="1"/>
          </p:cNvSpPr>
          <p:nvPr/>
        </p:nvSpPr>
        <p:spPr>
          <a:xfrm xmlns:a="http://schemas.openxmlformats.org/drawingml/2006/main">
            <a:off x="7810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A2940F4F-6E20-4872-A97B-E926EDB6FC08}"/>
              </a:ext>
            </a:extLst>
          </p:cNvPr>
          <p:cNvSpPr>
            <a:spLocks xmlns:a="http://schemas.openxmlformats.org/drawingml/2006/main" noGrp="1"/>
          </p:cNvSpPr>
          <p:nvPr/>
        </p:nvSpPr>
        <p:spPr>
          <a:xfrm xmlns:a="http://schemas.openxmlformats.org/drawingml/2006/main">
            <a:off x="8763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Extension or needleless connector</a:t>
            </a:r>
          </a:p>
        </p:txBody>
      </p:sp>
      <p:sp>
        <p:nvSpPr>
          <p:cNvPr id="37" name="">
            <a:extLst xmlns:a="http://schemas.openxmlformats.org/drawingml/2006/main">
              <a:ext uri="{FF2B5EF4-FFF2-40B4-BE49-F238E27FC236}">
                <a16:creationId xmlns:a16="http://schemas.microsoft.com/office/drawing/2014/main" id="{763B4772-0F71-47B7-B57E-487AE4B38B29}"/>
              </a:ext>
            </a:extLst>
          </p:cNvPr>
          <p:cNvSpPr>
            <a:spLocks xmlns:a="http://schemas.openxmlformats.org/drawingml/2006/main" noGrp="1"/>
          </p:cNvSpPr>
          <p:nvPr/>
        </p:nvSpPr>
        <p:spPr>
          <a:xfrm xmlns:a="http://schemas.openxmlformats.org/drawingml/2006/main">
            <a:off x="430530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3F730230-166D-4EDB-AF5A-26FF969182A9}"/>
              </a:ext>
            </a:extLst>
          </p:cNvPr>
          <p:cNvSpPr>
            <a:spLocks xmlns:a="http://schemas.openxmlformats.org/drawingml/2006/main" noGrp="1"/>
          </p:cNvSpPr>
          <p:nvPr/>
        </p:nvSpPr>
        <p:spPr>
          <a:xfrm xmlns:a="http://schemas.openxmlformats.org/drawingml/2006/main">
            <a:off x="440055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Adds access and supports securement</a:t>
            </a:r>
          </a:p>
        </p:txBody>
      </p:sp>
      <p:sp>
        <p:nvSpPr>
          <p:cNvPr id="39" name="">
            <a:extLst xmlns:a="http://schemas.openxmlformats.org/drawingml/2006/main">
              <a:ext uri="{FF2B5EF4-FFF2-40B4-BE49-F238E27FC236}">
                <a16:creationId xmlns:a16="http://schemas.microsoft.com/office/drawing/2014/main" id="{46D71DD1-F668-442B-8092-13A354466C61}"/>
              </a:ext>
            </a:extLst>
          </p:cNvPr>
          <p:cNvSpPr>
            <a:spLocks xmlns:a="http://schemas.openxmlformats.org/drawingml/2006/main" noGrp="1"/>
          </p:cNvSpPr>
          <p:nvPr/>
        </p:nvSpPr>
        <p:spPr>
          <a:xfrm xmlns:a="http://schemas.openxmlformats.org/drawingml/2006/main">
            <a:off x="78295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6C8346D6-168B-4AEF-A3EE-FBADA7E0658F}"/>
              </a:ext>
            </a:extLst>
          </p:cNvPr>
          <p:cNvSpPr>
            <a:spLocks xmlns:a="http://schemas.openxmlformats.org/drawingml/2006/main" noGrp="1"/>
          </p:cNvSpPr>
          <p:nvPr/>
        </p:nvSpPr>
        <p:spPr>
          <a:xfrm xmlns:a="http://schemas.openxmlformats.org/drawingml/2006/main">
            <a:off x="79248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Prime, disinfect, protect key parts, and assess patency</a:t>
            </a:r>
          </a:p>
        </p:txBody>
      </p:sp>
    </p:spTree>
    <p:extLst>
      <p:ext uri="{BB962C8B-B14F-4D97-AF65-F5344CB8AC3E}">
        <p14:creationId xmlns:p14="http://schemas.microsoft.com/office/powerpoint/2010/main" val="944221872"/>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6A8A0080-1AA8-4765-9596-FCD3E003CD2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E9D3D0D-FA5E-4FC3-83BF-878EE0D25D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Medication delivery methods</a:t>
            </a:r>
          </a:p>
        </p:txBody>
      </p:sp>
      <p:sp>
        <p:nvSpPr>
          <p:cNvPr id="3" name="">
            <a:extLst xmlns:a="http://schemas.openxmlformats.org/drawingml/2006/main">
              <a:ext uri="{FF2B5EF4-FFF2-40B4-BE49-F238E27FC236}">
                <a16:creationId xmlns:a16="http://schemas.microsoft.com/office/drawing/2014/main" id="{4C51E52A-D9E3-4994-95D2-F0B95DF3421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ABAF363-7E82-4D3C-AA88-2750A0D480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76982166-4447-4C26-8D59-38815D7AA780}"/>
              </a:ext>
            </a:extLst>
          </p:cNvPr>
          <p:cNvSpPr>
            <a:spLocks xmlns:a="http://schemas.openxmlformats.org/drawingml/2006/main" noGrp="1"/>
          </p:cNvSpPr>
          <p:nvPr/>
        </p:nvSpPr>
        <p:spPr>
          <a:xfrm xmlns:a="http://schemas.openxmlformats.org/drawingml/2006/main">
            <a:off x="7810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554149F3-A150-49D1-8FB2-7B411113C57F}"/>
              </a:ext>
            </a:extLst>
          </p:cNvPr>
          <p:cNvSpPr>
            <a:spLocks xmlns:a="http://schemas.openxmlformats.org/drawingml/2006/main" noGrp="1"/>
          </p:cNvSpPr>
          <p:nvPr/>
        </p:nvSpPr>
        <p:spPr>
          <a:xfrm xmlns:a="http://schemas.openxmlformats.org/drawingml/2006/main">
            <a:off x="8763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Method</a:t>
            </a:r>
          </a:p>
        </p:txBody>
      </p:sp>
      <p:sp>
        <p:nvSpPr>
          <p:cNvPr id="7" name="">
            <a:extLst xmlns:a="http://schemas.openxmlformats.org/drawingml/2006/main">
              <a:ext uri="{FF2B5EF4-FFF2-40B4-BE49-F238E27FC236}">
                <a16:creationId xmlns:a16="http://schemas.microsoft.com/office/drawing/2014/main" id="{D0404D77-0735-476E-84F0-D0F57899D637}"/>
              </a:ext>
            </a:extLst>
          </p:cNvPr>
          <p:cNvSpPr>
            <a:spLocks xmlns:a="http://schemas.openxmlformats.org/drawingml/2006/main" noGrp="1"/>
          </p:cNvSpPr>
          <p:nvPr/>
        </p:nvSpPr>
        <p:spPr>
          <a:xfrm xmlns:a="http://schemas.openxmlformats.org/drawingml/2006/main">
            <a:off x="430530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E6AD8E8-DA4C-4521-AD0D-580209C3F40F}"/>
              </a:ext>
            </a:extLst>
          </p:cNvPr>
          <p:cNvSpPr>
            <a:spLocks xmlns:a="http://schemas.openxmlformats.org/drawingml/2006/main" noGrp="1"/>
          </p:cNvSpPr>
          <p:nvPr/>
        </p:nvSpPr>
        <p:spPr>
          <a:xfrm xmlns:a="http://schemas.openxmlformats.org/drawingml/2006/main">
            <a:off x="440055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Description</a:t>
            </a:r>
          </a:p>
        </p:txBody>
      </p:sp>
      <p:sp>
        <p:nvSpPr>
          <p:cNvPr id="9" name="">
            <a:extLst xmlns:a="http://schemas.openxmlformats.org/drawingml/2006/main">
              <a:ext uri="{FF2B5EF4-FFF2-40B4-BE49-F238E27FC236}">
                <a16:creationId xmlns:a16="http://schemas.microsoft.com/office/drawing/2014/main" id="{21F8EDB2-7D2B-4D3C-97FB-5608DD706570}"/>
              </a:ext>
            </a:extLst>
          </p:cNvPr>
          <p:cNvSpPr>
            <a:spLocks xmlns:a="http://schemas.openxmlformats.org/drawingml/2006/main" noGrp="1"/>
          </p:cNvSpPr>
          <p:nvPr/>
        </p:nvSpPr>
        <p:spPr>
          <a:xfrm xmlns:a="http://schemas.openxmlformats.org/drawingml/2006/main">
            <a:off x="78295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66EAA08-0827-44E6-8728-2007E2B984D1}"/>
              </a:ext>
            </a:extLst>
          </p:cNvPr>
          <p:cNvSpPr>
            <a:spLocks xmlns:a="http://schemas.openxmlformats.org/drawingml/2006/main" noGrp="1"/>
          </p:cNvSpPr>
          <p:nvPr/>
        </p:nvSpPr>
        <p:spPr>
          <a:xfrm xmlns:a="http://schemas.openxmlformats.org/drawingml/2006/main">
            <a:off x="79248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Primary safety issue</a:t>
            </a:r>
          </a:p>
        </p:txBody>
      </p:sp>
      <p:sp>
        <p:nvSpPr>
          <p:cNvPr id="11" name="">
            <a:extLst xmlns:a="http://schemas.openxmlformats.org/drawingml/2006/main">
              <a:ext uri="{FF2B5EF4-FFF2-40B4-BE49-F238E27FC236}">
                <a16:creationId xmlns:a16="http://schemas.microsoft.com/office/drawing/2014/main" id="{0C67ED1B-9C1C-4312-BA3D-48227CA8B2FA}"/>
              </a:ext>
            </a:extLst>
          </p:cNvPr>
          <p:cNvSpPr>
            <a:spLocks xmlns:a="http://schemas.openxmlformats.org/drawingml/2006/main" noGrp="1"/>
          </p:cNvSpPr>
          <p:nvPr/>
        </p:nvSpPr>
        <p:spPr>
          <a:xfrm xmlns:a="http://schemas.openxmlformats.org/drawingml/2006/main">
            <a:off x="7810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8F72C37-0DF7-4AF6-99A6-97B9C00834FE}"/>
              </a:ext>
            </a:extLst>
          </p:cNvPr>
          <p:cNvSpPr>
            <a:spLocks xmlns:a="http://schemas.openxmlformats.org/drawingml/2006/main" noGrp="1"/>
          </p:cNvSpPr>
          <p:nvPr/>
        </p:nvSpPr>
        <p:spPr>
          <a:xfrm xmlns:a="http://schemas.openxmlformats.org/drawingml/2006/main">
            <a:off x="8763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Continuous infusion</a:t>
            </a:r>
          </a:p>
        </p:txBody>
      </p:sp>
      <p:sp>
        <p:nvSpPr>
          <p:cNvPr id="13" name="">
            <a:extLst xmlns:a="http://schemas.openxmlformats.org/drawingml/2006/main">
              <a:ext uri="{FF2B5EF4-FFF2-40B4-BE49-F238E27FC236}">
                <a16:creationId xmlns:a16="http://schemas.microsoft.com/office/drawing/2014/main" id="{B683A370-2ADD-4E8B-BAA3-E584AA053084}"/>
              </a:ext>
            </a:extLst>
          </p:cNvPr>
          <p:cNvSpPr>
            <a:spLocks xmlns:a="http://schemas.openxmlformats.org/drawingml/2006/main" noGrp="1"/>
          </p:cNvSpPr>
          <p:nvPr/>
        </p:nvSpPr>
        <p:spPr>
          <a:xfrm xmlns:a="http://schemas.openxmlformats.org/drawingml/2006/main">
            <a:off x="430530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3C40C51-A2B7-42FB-A96A-D2E4EEA6A6EB}"/>
              </a:ext>
            </a:extLst>
          </p:cNvPr>
          <p:cNvSpPr>
            <a:spLocks xmlns:a="http://schemas.openxmlformats.org/drawingml/2006/main" noGrp="1"/>
          </p:cNvSpPr>
          <p:nvPr/>
        </p:nvSpPr>
        <p:spPr>
          <a:xfrm xmlns:a="http://schemas.openxmlformats.org/drawingml/2006/main">
            <a:off x="440055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 or fluid delivered at a prescribed ongoing rate</a:t>
            </a:r>
          </a:p>
        </p:txBody>
      </p:sp>
      <p:sp>
        <p:nvSpPr>
          <p:cNvPr id="15" name="">
            <a:extLst xmlns:a="http://schemas.openxmlformats.org/drawingml/2006/main">
              <a:ext uri="{FF2B5EF4-FFF2-40B4-BE49-F238E27FC236}">
                <a16:creationId xmlns:a16="http://schemas.microsoft.com/office/drawing/2014/main" id="{569F332B-B3A4-4055-8D93-6D245925FE29}"/>
              </a:ext>
            </a:extLst>
          </p:cNvPr>
          <p:cNvSpPr>
            <a:spLocks xmlns:a="http://schemas.openxmlformats.org/drawingml/2006/main" noGrp="1"/>
          </p:cNvSpPr>
          <p:nvPr/>
        </p:nvSpPr>
        <p:spPr>
          <a:xfrm xmlns:a="http://schemas.openxmlformats.org/drawingml/2006/main">
            <a:off x="78295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9B2AEE02-9BE6-4FA7-A163-00D00A8B2438}"/>
              </a:ext>
            </a:extLst>
          </p:cNvPr>
          <p:cNvSpPr>
            <a:spLocks xmlns:a="http://schemas.openxmlformats.org/drawingml/2006/main" noGrp="1"/>
          </p:cNvSpPr>
          <p:nvPr/>
        </p:nvSpPr>
        <p:spPr>
          <a:xfrm xmlns:a="http://schemas.openxmlformats.org/drawingml/2006/main">
            <a:off x="79248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Concentration, pump programming, line tracing, cumulative dose</a:t>
            </a:r>
          </a:p>
        </p:txBody>
      </p:sp>
      <p:sp>
        <p:nvSpPr>
          <p:cNvPr id="17" name="">
            <a:extLst xmlns:a="http://schemas.openxmlformats.org/drawingml/2006/main">
              <a:ext uri="{FF2B5EF4-FFF2-40B4-BE49-F238E27FC236}">
                <a16:creationId xmlns:a16="http://schemas.microsoft.com/office/drawing/2014/main" id="{155E9B52-5C04-4F3F-A345-FD8BC14774BD}"/>
              </a:ext>
            </a:extLst>
          </p:cNvPr>
          <p:cNvSpPr>
            <a:spLocks xmlns:a="http://schemas.openxmlformats.org/drawingml/2006/main" noGrp="1"/>
          </p:cNvSpPr>
          <p:nvPr/>
        </p:nvSpPr>
        <p:spPr>
          <a:xfrm xmlns:a="http://schemas.openxmlformats.org/drawingml/2006/main">
            <a:off x="7810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A158F48-0FF2-462B-AF4F-C1D1191F5DD3}"/>
              </a:ext>
            </a:extLst>
          </p:cNvPr>
          <p:cNvSpPr>
            <a:spLocks xmlns:a="http://schemas.openxmlformats.org/drawingml/2006/main" noGrp="1"/>
          </p:cNvSpPr>
          <p:nvPr/>
        </p:nvSpPr>
        <p:spPr>
          <a:xfrm xmlns:a="http://schemas.openxmlformats.org/drawingml/2006/main">
            <a:off x="8763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Intermittent or IVPB</a:t>
            </a:r>
          </a:p>
        </p:txBody>
      </p:sp>
      <p:sp>
        <p:nvSpPr>
          <p:cNvPr id="19" name="">
            <a:extLst xmlns:a="http://schemas.openxmlformats.org/drawingml/2006/main">
              <a:ext uri="{FF2B5EF4-FFF2-40B4-BE49-F238E27FC236}">
                <a16:creationId xmlns:a16="http://schemas.microsoft.com/office/drawing/2014/main" id="{6665D78B-7B68-4C7C-A2E5-B251634173E4}"/>
              </a:ext>
            </a:extLst>
          </p:cNvPr>
          <p:cNvSpPr>
            <a:spLocks xmlns:a="http://schemas.openxmlformats.org/drawingml/2006/main" noGrp="1"/>
          </p:cNvSpPr>
          <p:nvPr/>
        </p:nvSpPr>
        <p:spPr>
          <a:xfrm xmlns:a="http://schemas.openxmlformats.org/drawingml/2006/main">
            <a:off x="430530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442099D-32DA-4EB0-89FC-7B03587B689C}"/>
              </a:ext>
            </a:extLst>
          </p:cNvPr>
          <p:cNvSpPr>
            <a:spLocks xmlns:a="http://schemas.openxmlformats.org/drawingml/2006/main" noGrp="1"/>
          </p:cNvSpPr>
          <p:nvPr/>
        </p:nvSpPr>
        <p:spPr>
          <a:xfrm xmlns:a="http://schemas.openxmlformats.org/drawingml/2006/main">
            <a:off x="440055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 delivered at scheduled intervals</a:t>
            </a:r>
          </a:p>
        </p:txBody>
      </p:sp>
      <p:sp>
        <p:nvSpPr>
          <p:cNvPr id="21" name="">
            <a:extLst xmlns:a="http://schemas.openxmlformats.org/drawingml/2006/main">
              <a:ext uri="{FF2B5EF4-FFF2-40B4-BE49-F238E27FC236}">
                <a16:creationId xmlns:a16="http://schemas.microsoft.com/office/drawing/2014/main" id="{D4B06AAA-D49E-42D3-A30C-FA7E2782C92F}"/>
              </a:ext>
            </a:extLst>
          </p:cNvPr>
          <p:cNvSpPr>
            <a:spLocks xmlns:a="http://schemas.openxmlformats.org/drawingml/2006/main" noGrp="1"/>
          </p:cNvSpPr>
          <p:nvPr/>
        </p:nvSpPr>
        <p:spPr>
          <a:xfrm xmlns:a="http://schemas.openxmlformats.org/drawingml/2006/main">
            <a:off x="78295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0496979-3A33-4D01-BF0E-741771E056F4}"/>
              </a:ext>
            </a:extLst>
          </p:cNvPr>
          <p:cNvSpPr>
            <a:spLocks xmlns:a="http://schemas.openxmlformats.org/drawingml/2006/main" noGrp="1"/>
          </p:cNvSpPr>
          <p:nvPr/>
        </p:nvSpPr>
        <p:spPr>
          <a:xfrm xmlns:a="http://schemas.openxmlformats.org/drawingml/2006/main">
            <a:off x="79248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Compatibility, secondary setup, residual volume, timing</a:t>
            </a:r>
          </a:p>
        </p:txBody>
      </p:sp>
      <p:sp>
        <p:nvSpPr>
          <p:cNvPr id="23" name="">
            <a:extLst xmlns:a="http://schemas.openxmlformats.org/drawingml/2006/main">
              <a:ext uri="{FF2B5EF4-FFF2-40B4-BE49-F238E27FC236}">
                <a16:creationId xmlns:a16="http://schemas.microsoft.com/office/drawing/2014/main" id="{ACA70DA4-9E1F-478C-BEEF-8B4F39681FF7}"/>
              </a:ext>
            </a:extLst>
          </p:cNvPr>
          <p:cNvSpPr>
            <a:spLocks xmlns:a="http://schemas.openxmlformats.org/drawingml/2006/main" noGrp="1"/>
          </p:cNvSpPr>
          <p:nvPr/>
        </p:nvSpPr>
        <p:spPr>
          <a:xfrm xmlns:a="http://schemas.openxmlformats.org/drawingml/2006/main">
            <a:off x="7810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5D76AF26-FDFF-45CF-92EC-B495BE0B42A9}"/>
              </a:ext>
            </a:extLst>
          </p:cNvPr>
          <p:cNvSpPr>
            <a:spLocks xmlns:a="http://schemas.openxmlformats.org/drawingml/2006/main" noGrp="1"/>
          </p:cNvSpPr>
          <p:nvPr/>
        </p:nvSpPr>
        <p:spPr>
          <a:xfrm xmlns:a="http://schemas.openxmlformats.org/drawingml/2006/main">
            <a:off x="8763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Direct IV administration</a:t>
            </a:r>
          </a:p>
        </p:txBody>
      </p:sp>
      <p:sp>
        <p:nvSpPr>
          <p:cNvPr id="25" name="">
            <a:extLst xmlns:a="http://schemas.openxmlformats.org/drawingml/2006/main">
              <a:ext uri="{FF2B5EF4-FFF2-40B4-BE49-F238E27FC236}">
                <a16:creationId xmlns:a16="http://schemas.microsoft.com/office/drawing/2014/main" id="{980FD98C-DD8F-474E-A4DF-5927834DF61A}"/>
              </a:ext>
            </a:extLst>
          </p:cNvPr>
          <p:cNvSpPr>
            <a:spLocks xmlns:a="http://schemas.openxmlformats.org/drawingml/2006/main" noGrp="1"/>
          </p:cNvSpPr>
          <p:nvPr/>
        </p:nvSpPr>
        <p:spPr>
          <a:xfrm xmlns:a="http://schemas.openxmlformats.org/drawingml/2006/main">
            <a:off x="430530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8CB54021-9D16-42A1-9F39-01EAA8D962CC}"/>
              </a:ext>
            </a:extLst>
          </p:cNvPr>
          <p:cNvSpPr>
            <a:spLocks xmlns:a="http://schemas.openxmlformats.org/drawingml/2006/main" noGrp="1"/>
          </p:cNvSpPr>
          <p:nvPr/>
        </p:nvSpPr>
        <p:spPr>
          <a:xfrm xmlns:a="http://schemas.openxmlformats.org/drawingml/2006/main">
            <a:off x="440055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Small volume delivered over a specified time</a:t>
            </a:r>
          </a:p>
        </p:txBody>
      </p:sp>
      <p:sp>
        <p:nvSpPr>
          <p:cNvPr id="27" name="">
            <a:extLst xmlns:a="http://schemas.openxmlformats.org/drawingml/2006/main">
              <a:ext uri="{FF2B5EF4-FFF2-40B4-BE49-F238E27FC236}">
                <a16:creationId xmlns:a16="http://schemas.microsoft.com/office/drawing/2014/main" id="{B048CD61-08D2-463E-8D2C-DC5F8B0CFD89}"/>
              </a:ext>
            </a:extLst>
          </p:cNvPr>
          <p:cNvSpPr>
            <a:spLocks xmlns:a="http://schemas.openxmlformats.org/drawingml/2006/main" noGrp="1"/>
          </p:cNvSpPr>
          <p:nvPr/>
        </p:nvSpPr>
        <p:spPr>
          <a:xfrm xmlns:a="http://schemas.openxmlformats.org/drawingml/2006/main">
            <a:off x="78295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41D6418-2062-4822-AF86-4ABAD3558115}"/>
              </a:ext>
            </a:extLst>
          </p:cNvPr>
          <p:cNvSpPr>
            <a:spLocks xmlns:a="http://schemas.openxmlformats.org/drawingml/2006/main" noGrp="1"/>
          </p:cNvSpPr>
          <p:nvPr/>
        </p:nvSpPr>
        <p:spPr>
          <a:xfrm xmlns:a="http://schemas.openxmlformats.org/drawingml/2006/main">
            <a:off x="79248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Scope, dilution, rate, patency, immediate adverse effect</a:t>
            </a:r>
          </a:p>
        </p:txBody>
      </p:sp>
      <p:sp>
        <p:nvSpPr>
          <p:cNvPr id="29" name="">
            <a:extLst xmlns:a="http://schemas.openxmlformats.org/drawingml/2006/main">
              <a:ext uri="{FF2B5EF4-FFF2-40B4-BE49-F238E27FC236}">
                <a16:creationId xmlns:a16="http://schemas.microsoft.com/office/drawing/2014/main" id="{CBC778C0-EC24-43B7-9B9D-63A467596654}"/>
              </a:ext>
            </a:extLst>
          </p:cNvPr>
          <p:cNvSpPr>
            <a:spLocks xmlns:a="http://schemas.openxmlformats.org/drawingml/2006/main" noGrp="1"/>
          </p:cNvSpPr>
          <p:nvPr/>
        </p:nvSpPr>
        <p:spPr>
          <a:xfrm xmlns:a="http://schemas.openxmlformats.org/drawingml/2006/main">
            <a:off x="7810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955C3D2F-B468-4EE2-864B-7FFC2894445D}"/>
              </a:ext>
            </a:extLst>
          </p:cNvPr>
          <p:cNvSpPr>
            <a:spLocks xmlns:a="http://schemas.openxmlformats.org/drawingml/2006/main" noGrp="1"/>
          </p:cNvSpPr>
          <p:nvPr/>
        </p:nvSpPr>
        <p:spPr>
          <a:xfrm xmlns:a="http://schemas.openxmlformats.org/drawingml/2006/main">
            <a:off x="8763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Saline lock</a:t>
            </a:r>
          </a:p>
        </p:txBody>
      </p:sp>
      <p:sp>
        <p:nvSpPr>
          <p:cNvPr id="31" name="">
            <a:extLst xmlns:a="http://schemas.openxmlformats.org/drawingml/2006/main">
              <a:ext uri="{FF2B5EF4-FFF2-40B4-BE49-F238E27FC236}">
                <a16:creationId xmlns:a16="http://schemas.microsoft.com/office/drawing/2014/main" id="{FC77FFB8-6029-4B71-8317-96E72A9AEE2D}"/>
              </a:ext>
            </a:extLst>
          </p:cNvPr>
          <p:cNvSpPr>
            <a:spLocks xmlns:a="http://schemas.openxmlformats.org/drawingml/2006/main" noGrp="1"/>
          </p:cNvSpPr>
          <p:nvPr/>
        </p:nvSpPr>
        <p:spPr>
          <a:xfrm xmlns:a="http://schemas.openxmlformats.org/drawingml/2006/main">
            <a:off x="430530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35F448E7-E086-43B6-AC33-9B2F93382EA5}"/>
              </a:ext>
            </a:extLst>
          </p:cNvPr>
          <p:cNvSpPr>
            <a:spLocks xmlns:a="http://schemas.openxmlformats.org/drawingml/2006/main" noGrp="1"/>
          </p:cNvSpPr>
          <p:nvPr/>
        </p:nvSpPr>
        <p:spPr>
          <a:xfrm xmlns:a="http://schemas.openxmlformats.org/drawingml/2006/main">
            <a:off x="440055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Intermittent access without continuous fluid</a:t>
            </a:r>
          </a:p>
        </p:txBody>
      </p:sp>
      <p:sp>
        <p:nvSpPr>
          <p:cNvPr id="33" name="">
            <a:extLst xmlns:a="http://schemas.openxmlformats.org/drawingml/2006/main">
              <a:ext uri="{FF2B5EF4-FFF2-40B4-BE49-F238E27FC236}">
                <a16:creationId xmlns:a16="http://schemas.microsoft.com/office/drawing/2014/main" id="{E715091F-6C3A-4BC9-A228-497BA8E9BDCB}"/>
              </a:ext>
            </a:extLst>
          </p:cNvPr>
          <p:cNvSpPr>
            <a:spLocks xmlns:a="http://schemas.openxmlformats.org/drawingml/2006/main" noGrp="1"/>
          </p:cNvSpPr>
          <p:nvPr/>
        </p:nvSpPr>
        <p:spPr>
          <a:xfrm xmlns:a="http://schemas.openxmlformats.org/drawingml/2006/main">
            <a:off x="78295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F82BE2B1-5FD7-426B-BE46-53080AA337F4}"/>
              </a:ext>
            </a:extLst>
          </p:cNvPr>
          <p:cNvSpPr>
            <a:spLocks xmlns:a="http://schemas.openxmlformats.org/drawingml/2006/main" noGrp="1"/>
          </p:cNvSpPr>
          <p:nvPr/>
        </p:nvSpPr>
        <p:spPr>
          <a:xfrm xmlns:a="http://schemas.openxmlformats.org/drawingml/2006/main">
            <a:off x="79248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Patency assessment, flushing sequence, connector disinfection</a:t>
            </a:r>
          </a:p>
        </p:txBody>
      </p:sp>
      <p:sp>
        <p:nvSpPr>
          <p:cNvPr id="35" name="">
            <a:extLst xmlns:a="http://schemas.openxmlformats.org/drawingml/2006/main">
              <a:ext uri="{FF2B5EF4-FFF2-40B4-BE49-F238E27FC236}">
                <a16:creationId xmlns:a16="http://schemas.microsoft.com/office/drawing/2014/main" id="{58ABA72C-F0DC-49F3-9A5F-20981313D061}"/>
              </a:ext>
            </a:extLst>
          </p:cNvPr>
          <p:cNvSpPr>
            <a:spLocks xmlns:a="http://schemas.openxmlformats.org/drawingml/2006/main" noGrp="1"/>
          </p:cNvSpPr>
          <p:nvPr/>
        </p:nvSpPr>
        <p:spPr>
          <a:xfrm xmlns:a="http://schemas.openxmlformats.org/drawingml/2006/main">
            <a:off x="7810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B9DC0518-921D-419D-BFEB-AA6B812E22F0}"/>
              </a:ext>
            </a:extLst>
          </p:cNvPr>
          <p:cNvSpPr>
            <a:spLocks xmlns:a="http://schemas.openxmlformats.org/drawingml/2006/main" noGrp="1"/>
          </p:cNvSpPr>
          <p:nvPr/>
        </p:nvSpPr>
        <p:spPr>
          <a:xfrm xmlns:a="http://schemas.openxmlformats.org/drawingml/2006/main">
            <a:off x="8763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Bolus fluid</a:t>
            </a:r>
          </a:p>
        </p:txBody>
      </p:sp>
      <p:sp>
        <p:nvSpPr>
          <p:cNvPr id="37" name="">
            <a:extLst xmlns:a="http://schemas.openxmlformats.org/drawingml/2006/main">
              <a:ext uri="{FF2B5EF4-FFF2-40B4-BE49-F238E27FC236}">
                <a16:creationId xmlns:a16="http://schemas.microsoft.com/office/drawing/2014/main" id="{A0125D00-2B29-4D9D-8CBE-C2BFA1355FF6}"/>
              </a:ext>
            </a:extLst>
          </p:cNvPr>
          <p:cNvSpPr>
            <a:spLocks xmlns:a="http://schemas.openxmlformats.org/drawingml/2006/main" noGrp="1"/>
          </p:cNvSpPr>
          <p:nvPr/>
        </p:nvSpPr>
        <p:spPr>
          <a:xfrm xmlns:a="http://schemas.openxmlformats.org/drawingml/2006/main">
            <a:off x="430530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D2CFB4CB-6711-4123-9B02-4A7A35CFD2C5}"/>
              </a:ext>
            </a:extLst>
          </p:cNvPr>
          <p:cNvSpPr>
            <a:spLocks xmlns:a="http://schemas.openxmlformats.org/drawingml/2006/main" noGrp="1"/>
          </p:cNvSpPr>
          <p:nvPr/>
        </p:nvSpPr>
        <p:spPr>
          <a:xfrm xmlns:a="http://schemas.openxmlformats.org/drawingml/2006/main">
            <a:off x="440055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prescribed fluid volume</a:t>
            </a:r>
          </a:p>
        </p:txBody>
      </p:sp>
      <p:sp>
        <p:nvSpPr>
          <p:cNvPr id="39" name="">
            <a:extLst xmlns:a="http://schemas.openxmlformats.org/drawingml/2006/main">
              <a:ext uri="{FF2B5EF4-FFF2-40B4-BE49-F238E27FC236}">
                <a16:creationId xmlns:a16="http://schemas.microsoft.com/office/drawing/2014/main" id="{F50A9DC0-32E2-4993-8AEA-77632BF6F104}"/>
              </a:ext>
            </a:extLst>
          </p:cNvPr>
          <p:cNvSpPr>
            <a:spLocks xmlns:a="http://schemas.openxmlformats.org/drawingml/2006/main" noGrp="1"/>
          </p:cNvSpPr>
          <p:nvPr/>
        </p:nvSpPr>
        <p:spPr>
          <a:xfrm xmlns:a="http://schemas.openxmlformats.org/drawingml/2006/main">
            <a:off x="78295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24A4FE4A-9CFB-4C6D-9077-D9B31641E2E1}"/>
              </a:ext>
            </a:extLst>
          </p:cNvPr>
          <p:cNvSpPr>
            <a:spLocks xmlns:a="http://schemas.openxmlformats.org/drawingml/2006/main" noGrp="1"/>
          </p:cNvSpPr>
          <p:nvPr/>
        </p:nvSpPr>
        <p:spPr>
          <a:xfrm xmlns:a="http://schemas.openxmlformats.org/drawingml/2006/main">
            <a:off x="79248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Hemodynamic tolerance and exact volume</a:t>
            </a:r>
          </a:p>
        </p:txBody>
      </p:sp>
    </p:spTree>
    <p:extLst>
      <p:ext uri="{BB962C8B-B14F-4D97-AF65-F5344CB8AC3E}">
        <p14:creationId xmlns:p14="http://schemas.microsoft.com/office/powerpoint/2010/main" val="344357099"/>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CE9F4AB-E17B-4065-AE03-16DE09A4DF5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A0DADCC-64CE-491A-B2F9-B87378E5414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Medication compatibility has several dimensions</a:t>
            </a:r>
          </a:p>
        </p:txBody>
      </p:sp>
      <p:sp>
        <p:nvSpPr>
          <p:cNvPr id="3" name="">
            <a:extLst xmlns:a="http://schemas.openxmlformats.org/drawingml/2006/main">
              <a:ext uri="{FF2B5EF4-FFF2-40B4-BE49-F238E27FC236}">
                <a16:creationId xmlns:a16="http://schemas.microsoft.com/office/drawing/2014/main" id="{43A3C0BD-AAE5-4005-83B1-05B5DF55ECB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C4B51DB-2282-44B4-8506-FD3D171940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7C7E2E71-3691-4E03-A205-DCDDFE1F381A}"/>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3BCEBCA4-0B8F-4E6F-A004-2C1820B6A530}"/>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Type</a:t>
            </a:r>
          </a:p>
        </p:txBody>
      </p:sp>
      <p:sp>
        <p:nvSpPr>
          <p:cNvPr id="7" name="">
            <a:extLst xmlns:a="http://schemas.openxmlformats.org/drawingml/2006/main">
              <a:ext uri="{FF2B5EF4-FFF2-40B4-BE49-F238E27FC236}">
                <a16:creationId xmlns:a16="http://schemas.microsoft.com/office/drawing/2014/main" id="{BF3DF589-27DA-44B4-9D1D-F3E220CAD6F0}"/>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C4698884-244F-4F21-8241-BBDC3DCA3AFB}"/>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Meaning</a:t>
            </a:r>
          </a:p>
        </p:txBody>
      </p:sp>
      <p:sp>
        <p:nvSpPr>
          <p:cNvPr id="9" name="">
            <a:extLst xmlns:a="http://schemas.openxmlformats.org/drawingml/2006/main">
              <a:ext uri="{FF2B5EF4-FFF2-40B4-BE49-F238E27FC236}">
                <a16:creationId xmlns:a16="http://schemas.microsoft.com/office/drawing/2014/main" id="{7F109D57-C3F4-4592-B698-69B3D23E6200}"/>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72E8CD1-D7DD-4290-847A-AAB9A063AF4E}"/>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the nurse does</a:t>
            </a:r>
          </a:p>
        </p:txBody>
      </p:sp>
      <p:sp>
        <p:nvSpPr>
          <p:cNvPr id="11" name="">
            <a:extLst xmlns:a="http://schemas.openxmlformats.org/drawingml/2006/main">
              <a:ext uri="{FF2B5EF4-FFF2-40B4-BE49-F238E27FC236}">
                <a16:creationId xmlns:a16="http://schemas.microsoft.com/office/drawing/2014/main" id="{458471F8-F8EE-4D75-8D27-1070D5F07562}"/>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EEF23B4-A155-4942-A19A-0C39364098AC}"/>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Physical</a:t>
            </a:r>
          </a:p>
        </p:txBody>
      </p:sp>
      <p:sp>
        <p:nvSpPr>
          <p:cNvPr id="13" name="">
            <a:extLst xmlns:a="http://schemas.openxmlformats.org/drawingml/2006/main">
              <a:ext uri="{FF2B5EF4-FFF2-40B4-BE49-F238E27FC236}">
                <a16:creationId xmlns:a16="http://schemas.microsoft.com/office/drawing/2014/main" id="{1C8A8867-A7CA-42AD-8D37-67B83FE12B18}"/>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095B1A03-FF59-4358-97B7-1B38343DC62C}"/>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Visible precipitate, haze, color change, gas, or separation</a:t>
            </a:r>
          </a:p>
        </p:txBody>
      </p:sp>
      <p:sp>
        <p:nvSpPr>
          <p:cNvPr id="15" name="">
            <a:extLst xmlns:a="http://schemas.openxmlformats.org/drawingml/2006/main">
              <a:ext uri="{FF2B5EF4-FFF2-40B4-BE49-F238E27FC236}">
                <a16:creationId xmlns:a16="http://schemas.microsoft.com/office/drawing/2014/main" id="{800238DA-D383-4F7B-9147-21CCCA0C58C9}"/>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A1EEC20-F5D0-48E1-8A1B-E66A9C312DE7}"/>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administer; stop and clarify</a:t>
            </a:r>
          </a:p>
        </p:txBody>
      </p:sp>
      <p:sp>
        <p:nvSpPr>
          <p:cNvPr id="17" name="">
            <a:extLst xmlns:a="http://schemas.openxmlformats.org/drawingml/2006/main">
              <a:ext uri="{FF2B5EF4-FFF2-40B4-BE49-F238E27FC236}">
                <a16:creationId xmlns:a16="http://schemas.microsoft.com/office/drawing/2014/main" id="{0B08794D-D8D1-470D-833A-8690B7E597CC}"/>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713A26C-83EE-459A-B559-00F7D9D0E8CF}"/>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Chemical</a:t>
            </a:r>
          </a:p>
        </p:txBody>
      </p:sp>
      <p:sp>
        <p:nvSpPr>
          <p:cNvPr id="19" name="">
            <a:extLst xmlns:a="http://schemas.openxmlformats.org/drawingml/2006/main">
              <a:ext uri="{FF2B5EF4-FFF2-40B4-BE49-F238E27FC236}">
                <a16:creationId xmlns:a16="http://schemas.microsoft.com/office/drawing/2014/main" id="{54FD4966-471C-443F-825D-4F54089E5C6B}"/>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00A0F04-1D4E-4F6D-84A3-A29CCABBD2C6}"/>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Drug degrades or reacts even without visible change</a:t>
            </a:r>
          </a:p>
        </p:txBody>
      </p:sp>
      <p:sp>
        <p:nvSpPr>
          <p:cNvPr id="21" name="">
            <a:extLst xmlns:a="http://schemas.openxmlformats.org/drawingml/2006/main">
              <a:ext uri="{FF2B5EF4-FFF2-40B4-BE49-F238E27FC236}">
                <a16:creationId xmlns:a16="http://schemas.microsoft.com/office/drawing/2014/main" id="{9CEC9AE1-ED2C-4A82-A842-426AC2119965}"/>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B6CCF10-6447-4535-A162-E6D8CFB8D94D}"/>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an approved compatibility reference</a:t>
            </a:r>
          </a:p>
        </p:txBody>
      </p:sp>
      <p:sp>
        <p:nvSpPr>
          <p:cNvPr id="23" name="">
            <a:extLst xmlns:a="http://schemas.openxmlformats.org/drawingml/2006/main">
              <a:ext uri="{FF2B5EF4-FFF2-40B4-BE49-F238E27FC236}">
                <a16:creationId xmlns:a16="http://schemas.microsoft.com/office/drawing/2014/main" id="{ECDCA61D-04F0-42A9-A5C6-256D8824C501}"/>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2917940-6FB0-4D24-87F3-6B1CB448827D}"/>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Therapeutic</a:t>
            </a:r>
          </a:p>
        </p:txBody>
      </p:sp>
      <p:sp>
        <p:nvSpPr>
          <p:cNvPr id="25" name="">
            <a:extLst xmlns:a="http://schemas.openxmlformats.org/drawingml/2006/main">
              <a:ext uri="{FF2B5EF4-FFF2-40B4-BE49-F238E27FC236}">
                <a16:creationId xmlns:a16="http://schemas.microsoft.com/office/drawing/2014/main" id="{B5480FFC-861B-4D9F-9D12-D418BDB20D89}"/>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934A0BAD-E781-4E51-B91E-56812D5F909D}"/>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Combined drug effects create an unintended clinical result</a:t>
            </a:r>
          </a:p>
        </p:txBody>
      </p:sp>
      <p:sp>
        <p:nvSpPr>
          <p:cNvPr id="27" name="">
            <a:extLst xmlns:a="http://schemas.openxmlformats.org/drawingml/2006/main">
              <a:ext uri="{FF2B5EF4-FFF2-40B4-BE49-F238E27FC236}">
                <a16:creationId xmlns:a16="http://schemas.microsoft.com/office/drawing/2014/main" id="{29B4BDAF-EDE3-4DE3-8313-F319F74295D0}"/>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D030056A-9F17-43F6-9199-174291BAF998}"/>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interactions, patient condition, and monitoring</a:t>
            </a:r>
          </a:p>
        </p:txBody>
      </p:sp>
      <p:sp>
        <p:nvSpPr>
          <p:cNvPr id="29" name="">
            <a:extLst xmlns:a="http://schemas.openxmlformats.org/drawingml/2006/main">
              <a:ext uri="{FF2B5EF4-FFF2-40B4-BE49-F238E27FC236}">
                <a16:creationId xmlns:a16="http://schemas.microsoft.com/office/drawing/2014/main" id="{E0B3B4CF-A13B-4F1F-BC28-1417937F504A}"/>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73E7469D-C431-4409-823D-0A755A1E36F9}"/>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Container or tubing</a:t>
            </a:r>
          </a:p>
        </p:txBody>
      </p:sp>
      <p:sp>
        <p:nvSpPr>
          <p:cNvPr id="31" name="">
            <a:extLst xmlns:a="http://schemas.openxmlformats.org/drawingml/2006/main">
              <a:ext uri="{FF2B5EF4-FFF2-40B4-BE49-F238E27FC236}">
                <a16:creationId xmlns:a16="http://schemas.microsoft.com/office/drawing/2014/main" id="{8335079C-D4EE-4D73-9596-B3529BFEE44F}"/>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3CAC915A-817E-4144-B77A-506A38D46742}"/>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Drug binds to, leaches from, or is altered by the delivery system</a:t>
            </a:r>
          </a:p>
        </p:txBody>
      </p:sp>
      <p:sp>
        <p:nvSpPr>
          <p:cNvPr id="33" name="">
            <a:extLst xmlns:a="http://schemas.openxmlformats.org/drawingml/2006/main">
              <a:ext uri="{FF2B5EF4-FFF2-40B4-BE49-F238E27FC236}">
                <a16:creationId xmlns:a16="http://schemas.microsoft.com/office/drawing/2014/main" id="{63D52CDE-91F8-455D-9BE8-0DCC34F7AA1B}"/>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ABDE66C5-4362-4D43-8E6B-E4149E81A6C1}"/>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Follow pharmacy and manufacturer instructions</a:t>
            </a:r>
          </a:p>
        </p:txBody>
      </p:sp>
    </p:spTree>
    <p:extLst>
      <p:ext uri="{BB962C8B-B14F-4D97-AF65-F5344CB8AC3E}">
        <p14:creationId xmlns:p14="http://schemas.microsoft.com/office/powerpoint/2010/main" val="716973324"/>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51C8560-7E56-460D-9182-A77FA82DA48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D69B33E-26A8-4347-811F-C95B445BC37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Medication action and patient response</a:t>
            </a:r>
          </a:p>
        </p:txBody>
      </p:sp>
      <p:sp>
        <p:nvSpPr>
          <p:cNvPr id="3" name="">
            <a:extLst xmlns:a="http://schemas.openxmlformats.org/drawingml/2006/main">
              <a:ext uri="{FF2B5EF4-FFF2-40B4-BE49-F238E27FC236}">
                <a16:creationId xmlns:a16="http://schemas.microsoft.com/office/drawing/2014/main" id="{B909246E-C0DF-4559-A847-0B17F1457DB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45B736D-C0BA-465C-B6AD-08716D26BA1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950CC336-D955-4612-9A25-31ACFFFBF98B}"/>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D8C752BC-568B-466C-AD87-62A83D93C19C}"/>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Concept</a:t>
            </a:r>
          </a:p>
        </p:txBody>
      </p:sp>
      <p:sp>
        <p:nvSpPr>
          <p:cNvPr id="7" name="">
            <a:extLst xmlns:a="http://schemas.openxmlformats.org/drawingml/2006/main">
              <a:ext uri="{FF2B5EF4-FFF2-40B4-BE49-F238E27FC236}">
                <a16:creationId xmlns:a16="http://schemas.microsoft.com/office/drawing/2014/main" id="{DCDAEA80-5FCB-4A48-9A98-7DC53B362FF1}"/>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AA31D13-687B-4D6A-AF01-E2A718E8D056}"/>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Question</a:t>
            </a:r>
          </a:p>
        </p:txBody>
      </p:sp>
      <p:sp>
        <p:nvSpPr>
          <p:cNvPr id="9" name="">
            <a:extLst xmlns:a="http://schemas.openxmlformats.org/drawingml/2006/main">
              <a:ext uri="{FF2B5EF4-FFF2-40B4-BE49-F238E27FC236}">
                <a16:creationId xmlns:a16="http://schemas.microsoft.com/office/drawing/2014/main" id="{0CF8EE5D-07B7-49A0-8F83-4DF8095E31B2}"/>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9A92356-6EBE-45AF-A1CD-6D112E026D62}"/>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Absorption and bioavailability</a:t>
            </a:r>
          </a:p>
        </p:txBody>
      </p:sp>
      <p:sp>
        <p:nvSpPr>
          <p:cNvPr id="11" name="">
            <a:extLst xmlns:a="http://schemas.openxmlformats.org/drawingml/2006/main">
              <a:ext uri="{FF2B5EF4-FFF2-40B4-BE49-F238E27FC236}">
                <a16:creationId xmlns:a16="http://schemas.microsoft.com/office/drawing/2014/main" id="{D4B5F617-299D-4123-B045-3FEBEB4EEDCA}"/>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4EA580C-123C-44E8-8EE6-DC247E90EFC0}"/>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How does direct IV delivery change onset and risk?</a:t>
            </a:r>
          </a:p>
        </p:txBody>
      </p:sp>
      <p:sp>
        <p:nvSpPr>
          <p:cNvPr id="13" name="">
            <a:extLst xmlns:a="http://schemas.openxmlformats.org/drawingml/2006/main">
              <a:ext uri="{FF2B5EF4-FFF2-40B4-BE49-F238E27FC236}">
                <a16:creationId xmlns:a16="http://schemas.microsoft.com/office/drawing/2014/main" id="{510CAD09-38ED-4DEA-9514-F606A8A379F2}"/>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38EFA7F-3160-4CA8-AB16-BBEA4D73BF50}"/>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Distribution</a:t>
            </a:r>
          </a:p>
        </p:txBody>
      </p:sp>
      <p:sp>
        <p:nvSpPr>
          <p:cNvPr id="15" name="">
            <a:extLst xmlns:a="http://schemas.openxmlformats.org/drawingml/2006/main">
              <a:ext uri="{FF2B5EF4-FFF2-40B4-BE49-F238E27FC236}">
                <a16:creationId xmlns:a16="http://schemas.microsoft.com/office/drawing/2014/main" id="{9D7BDB95-E823-4252-8CB9-82E307B103D2}"/>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5D915E6-6FF5-4996-890F-CD1B657A7DE4}"/>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fluid status, protein binding, perfusion, or body composition change effect?</a:t>
            </a:r>
          </a:p>
        </p:txBody>
      </p:sp>
      <p:sp>
        <p:nvSpPr>
          <p:cNvPr id="17" name="">
            <a:extLst xmlns:a="http://schemas.openxmlformats.org/drawingml/2006/main">
              <a:ext uri="{FF2B5EF4-FFF2-40B4-BE49-F238E27FC236}">
                <a16:creationId xmlns:a16="http://schemas.microsoft.com/office/drawing/2014/main" id="{EFF42903-7FFF-41CB-A646-0C104BEE9D25}"/>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038DB43-1B7E-4473-8987-CC44F6819188}"/>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Metabolism</a:t>
            </a:r>
          </a:p>
        </p:txBody>
      </p:sp>
      <p:sp>
        <p:nvSpPr>
          <p:cNvPr id="19" name="">
            <a:extLst xmlns:a="http://schemas.openxmlformats.org/drawingml/2006/main">
              <a:ext uri="{FF2B5EF4-FFF2-40B4-BE49-F238E27FC236}">
                <a16:creationId xmlns:a16="http://schemas.microsoft.com/office/drawing/2014/main" id="{16B779D7-0B4C-482D-8CA0-D5E794DBC281}"/>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4EE7BD7-7476-448B-8D79-788A6968FE04}"/>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liver function alter clearance or active metabolites?</a:t>
            </a:r>
          </a:p>
        </p:txBody>
      </p:sp>
      <p:sp>
        <p:nvSpPr>
          <p:cNvPr id="21" name="">
            <a:extLst xmlns:a="http://schemas.openxmlformats.org/drawingml/2006/main">
              <a:ext uri="{FF2B5EF4-FFF2-40B4-BE49-F238E27FC236}">
                <a16:creationId xmlns:a16="http://schemas.microsoft.com/office/drawing/2014/main" id="{AB7D1F12-5269-49DC-8F13-40DB4A21EFE9}"/>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4E806DA-24E0-4ED5-AB4A-3D44B76262A2}"/>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Excretion</a:t>
            </a:r>
          </a:p>
        </p:txBody>
      </p:sp>
      <p:sp>
        <p:nvSpPr>
          <p:cNvPr id="23" name="">
            <a:extLst xmlns:a="http://schemas.openxmlformats.org/drawingml/2006/main">
              <a:ext uri="{FF2B5EF4-FFF2-40B4-BE49-F238E27FC236}">
                <a16:creationId xmlns:a16="http://schemas.microsoft.com/office/drawing/2014/main" id="{C6FF0C6F-32F4-49AB-8A3D-B4AF56127452}"/>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5FA852D5-1F94-4BAD-BC06-11FBE69F6C85}"/>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kidney function require dose or interval adjustment?</a:t>
            </a:r>
          </a:p>
        </p:txBody>
      </p:sp>
      <p:sp>
        <p:nvSpPr>
          <p:cNvPr id="25" name="">
            <a:extLst xmlns:a="http://schemas.openxmlformats.org/drawingml/2006/main">
              <a:ext uri="{FF2B5EF4-FFF2-40B4-BE49-F238E27FC236}">
                <a16:creationId xmlns:a16="http://schemas.microsoft.com/office/drawing/2014/main" id="{A3811E0C-0669-4CFB-96F7-C94BA1516287}"/>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5576BB5-76D5-4F39-ACAE-07D30696A2AC}"/>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Interaction</a:t>
            </a:r>
          </a:p>
        </p:txBody>
      </p:sp>
      <p:sp>
        <p:nvSpPr>
          <p:cNvPr id="27" name="">
            <a:extLst xmlns:a="http://schemas.openxmlformats.org/drawingml/2006/main">
              <a:ext uri="{FF2B5EF4-FFF2-40B4-BE49-F238E27FC236}">
                <a16:creationId xmlns:a16="http://schemas.microsoft.com/office/drawing/2014/main" id="{5C3E7464-3D66-49A7-A7A2-83E9FF5E9032}"/>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DA320D39-7066-42EF-B524-1A0E81D3DA6B}"/>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Could another drug, food, herb, disease, or test change the response?</a:t>
            </a:r>
          </a:p>
        </p:txBody>
      </p:sp>
    </p:spTree>
    <p:extLst>
      <p:ext uri="{BB962C8B-B14F-4D97-AF65-F5344CB8AC3E}">
        <p14:creationId xmlns:p14="http://schemas.microsoft.com/office/powerpoint/2010/main" val="1465108946"/>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ACE03D-EB9C-4277-BFF3-32291A9E10C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DAC4B34-06BA-4D02-A98B-AB2CE3A86AC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Choose the site before the catheter</a:t>
            </a:r>
          </a:p>
        </p:txBody>
      </p:sp>
      <p:sp>
        <p:nvSpPr>
          <p:cNvPr id="3" name="">
            <a:extLst xmlns:a="http://schemas.openxmlformats.org/drawingml/2006/main">
              <a:ext uri="{FF2B5EF4-FFF2-40B4-BE49-F238E27FC236}">
                <a16:creationId xmlns:a16="http://schemas.microsoft.com/office/drawing/2014/main" id="{43045BB4-868B-4AC8-B805-8750952800B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54303BF-0E0D-495B-9407-016F840AC93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69BE8A06-1F73-4FEE-8A06-AA49BB29046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Start with the prescribed therapy: pH, osmolarity, duration, flow requirement, and vesicant risk affect device choice.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 a vein that is palpable, resilient, and appropriate for the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Prefer the smallest suitable gauge and shortest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Avoid infected, injured, poorly perfused, or policy-restricted extremities and areas of flexion when possible.</a:t>
            </a:r>
          </a:p>
        </p:txBody>
      </p:sp>
      <p:sp>
        <p:nvSpPr>
          <p:cNvPr id="6" name="">
            <a:extLst xmlns:a="http://schemas.openxmlformats.org/drawingml/2006/main">
              <a:ext uri="{FF2B5EF4-FFF2-40B4-BE49-F238E27FC236}">
                <a16:creationId xmlns:a16="http://schemas.microsoft.com/office/drawing/2014/main" id="{BE46CC5D-1F61-490B-A137-B81E0AE32E8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54466322"/>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2B0750C-0561-4F47-B313-823E63CB7D2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9A5D048-84A3-4FAC-A265-70CA157A770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Vein-wall anatomy and complication risk</a:t>
            </a:r>
          </a:p>
        </p:txBody>
      </p:sp>
      <p:sp>
        <p:nvSpPr>
          <p:cNvPr id="3" name="">
            <a:extLst xmlns:a="http://schemas.openxmlformats.org/drawingml/2006/main">
              <a:ext uri="{FF2B5EF4-FFF2-40B4-BE49-F238E27FC236}">
                <a16:creationId xmlns:a16="http://schemas.microsoft.com/office/drawing/2014/main" id="{1B1F903B-EF12-464C-852E-29C56220504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ACFB8AB-C0BD-41A9-B7C4-61D1BB065D8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37AC72BC-8470-453A-BA2F-AB8E8AA7F079}"/>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439BE4A6-2870-47DA-9BFC-259C358AC764}"/>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Vein layer</a:t>
            </a:r>
          </a:p>
        </p:txBody>
      </p:sp>
      <p:sp>
        <p:nvSpPr>
          <p:cNvPr id="7" name="">
            <a:extLst xmlns:a="http://schemas.openxmlformats.org/drawingml/2006/main">
              <a:ext uri="{FF2B5EF4-FFF2-40B4-BE49-F238E27FC236}">
                <a16:creationId xmlns:a16="http://schemas.microsoft.com/office/drawing/2014/main" id="{5EC77A20-D856-46EE-9D1F-B46FA59B2852}"/>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5406443-CF2A-44D8-B9AB-E2D58EA02F1A}"/>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Function</a:t>
            </a:r>
          </a:p>
        </p:txBody>
      </p:sp>
      <p:sp>
        <p:nvSpPr>
          <p:cNvPr id="9" name="">
            <a:extLst xmlns:a="http://schemas.openxmlformats.org/drawingml/2006/main">
              <a:ext uri="{FF2B5EF4-FFF2-40B4-BE49-F238E27FC236}">
                <a16:creationId xmlns:a16="http://schemas.microsoft.com/office/drawing/2014/main" id="{07B9FDCF-C3F4-4EE0-9A80-908119281EE1}"/>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A08094F9-A677-44C7-91DA-BC16AEC9A1A7}"/>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1" name="">
            <a:extLst xmlns:a="http://schemas.openxmlformats.org/drawingml/2006/main">
              <a:ext uri="{FF2B5EF4-FFF2-40B4-BE49-F238E27FC236}">
                <a16:creationId xmlns:a16="http://schemas.microsoft.com/office/drawing/2014/main" id="{E2662CFF-A171-481B-B512-0DC3514AAB55}"/>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0D88702-2243-47DD-B203-C76476C34406}"/>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intima</a:t>
            </a:r>
          </a:p>
        </p:txBody>
      </p:sp>
      <p:sp>
        <p:nvSpPr>
          <p:cNvPr id="13" name="">
            <a:extLst xmlns:a="http://schemas.openxmlformats.org/drawingml/2006/main">
              <a:ext uri="{FF2B5EF4-FFF2-40B4-BE49-F238E27FC236}">
                <a16:creationId xmlns:a16="http://schemas.microsoft.com/office/drawing/2014/main" id="{4505EA12-C0CC-4C8F-8D5A-F6F68226A255}"/>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2F82466-2CA5-47BB-B640-FF9114232BC7}"/>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Smooth inner lining and venous valves</a:t>
            </a:r>
          </a:p>
        </p:txBody>
      </p:sp>
      <p:sp>
        <p:nvSpPr>
          <p:cNvPr id="15" name="">
            <a:extLst xmlns:a="http://schemas.openxmlformats.org/drawingml/2006/main">
              <a:ext uri="{FF2B5EF4-FFF2-40B4-BE49-F238E27FC236}">
                <a16:creationId xmlns:a16="http://schemas.microsoft.com/office/drawing/2014/main" id="{9C8626A7-464B-4892-B887-C0667D861FAA}"/>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EEF6591-778F-4149-9650-5752E13FB986}"/>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Trauma, chemical irritation, or contamination can promote phlebitis and thrombosis</a:t>
            </a:r>
          </a:p>
        </p:txBody>
      </p:sp>
      <p:sp>
        <p:nvSpPr>
          <p:cNvPr id="17" name="">
            <a:extLst xmlns:a="http://schemas.openxmlformats.org/drawingml/2006/main">
              <a:ext uri="{FF2B5EF4-FFF2-40B4-BE49-F238E27FC236}">
                <a16:creationId xmlns:a16="http://schemas.microsoft.com/office/drawing/2014/main" id="{2AFC6215-389E-4E94-BF64-8543F33CB33A}"/>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3CF4F4D-DE7B-4031-9C00-F65DD1D4D8C2}"/>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media</a:t>
            </a:r>
          </a:p>
        </p:txBody>
      </p:sp>
      <p:sp>
        <p:nvSpPr>
          <p:cNvPr id="19" name="">
            <a:extLst xmlns:a="http://schemas.openxmlformats.org/drawingml/2006/main">
              <a:ext uri="{FF2B5EF4-FFF2-40B4-BE49-F238E27FC236}">
                <a16:creationId xmlns:a16="http://schemas.microsoft.com/office/drawing/2014/main" id="{A1BB20D9-481A-4F70-AE07-302A9DB3674B}"/>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7B5DC77B-4C35-40FD-8F39-DF168C048420}"/>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Muscle and elastic tissue</a:t>
            </a:r>
          </a:p>
        </p:txBody>
      </p:sp>
      <p:sp>
        <p:nvSpPr>
          <p:cNvPr id="21" name="">
            <a:extLst xmlns:a="http://schemas.openxmlformats.org/drawingml/2006/main">
              <a:ext uri="{FF2B5EF4-FFF2-40B4-BE49-F238E27FC236}">
                <a16:creationId xmlns:a16="http://schemas.microsoft.com/office/drawing/2014/main" id="{A91EFFFC-28FD-4CB5-B1DA-EE2B115397AA}"/>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B4E74FA-0A58-4C20-A6E4-9B90F415C7CF}"/>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Irritation can trigger venospasm, pain, and reduced flow</a:t>
            </a:r>
          </a:p>
        </p:txBody>
      </p:sp>
      <p:sp>
        <p:nvSpPr>
          <p:cNvPr id="23" name="">
            <a:extLst xmlns:a="http://schemas.openxmlformats.org/drawingml/2006/main">
              <a:ext uri="{FF2B5EF4-FFF2-40B4-BE49-F238E27FC236}">
                <a16:creationId xmlns:a16="http://schemas.microsoft.com/office/drawing/2014/main" id="{DA59B50E-6031-44AF-93B3-BB7DBF6A0536}"/>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FE761A7-EABC-48FF-A2E8-3BF29EC93EE8}"/>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adventitia</a:t>
            </a:r>
          </a:p>
        </p:txBody>
      </p:sp>
      <p:sp>
        <p:nvSpPr>
          <p:cNvPr id="25" name="">
            <a:extLst xmlns:a="http://schemas.openxmlformats.org/drawingml/2006/main">
              <a:ext uri="{FF2B5EF4-FFF2-40B4-BE49-F238E27FC236}">
                <a16:creationId xmlns:a16="http://schemas.microsoft.com/office/drawing/2014/main" id="{F8593E14-8A49-4D09-A45E-C24EBAD3621D}"/>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1196185-7DBF-4728-A195-E63ACA62743C}"/>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Outer connective-tissue support</a:t>
            </a:r>
          </a:p>
        </p:txBody>
      </p:sp>
      <p:sp>
        <p:nvSpPr>
          <p:cNvPr id="27" name="">
            <a:extLst xmlns:a="http://schemas.openxmlformats.org/drawingml/2006/main">
              <a:ext uri="{FF2B5EF4-FFF2-40B4-BE49-F238E27FC236}">
                <a16:creationId xmlns:a16="http://schemas.microsoft.com/office/drawing/2014/main" id="{9C201CBA-716F-4F5B-8F2B-8FDD61327B86}"/>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895C3A2B-CB9F-41BC-A465-BE796286D6E9}"/>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Deep advancement or vessel injury can affect surrounding tissue</a:t>
            </a:r>
          </a:p>
        </p:txBody>
      </p:sp>
    </p:spTree>
    <p:extLst>
      <p:ext uri="{BB962C8B-B14F-4D97-AF65-F5344CB8AC3E}">
        <p14:creationId xmlns:p14="http://schemas.microsoft.com/office/powerpoint/2010/main" val="1833863835"/>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DD3D8C0D-8C09-48FE-B561-B4450E5E7FA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B605F6C-3CAD-4404-9B89-3DEEB5BEB9E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 or artery? Stop when the findings do not fit</a:t>
            </a:r>
          </a:p>
        </p:txBody>
      </p:sp>
      <p:sp>
        <p:nvSpPr>
          <p:cNvPr id="3" name="">
            <a:extLst xmlns:a="http://schemas.openxmlformats.org/drawingml/2006/main">
              <a:ext uri="{FF2B5EF4-FFF2-40B4-BE49-F238E27FC236}">
                <a16:creationId xmlns:a16="http://schemas.microsoft.com/office/drawing/2014/main" id="{A5BE2C4C-23FD-4054-9D32-FA3109DB69E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A6F523F-CF96-48E2-9BB8-EE92A8CDF21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9762AECC-6824-4172-A7B4-E5AC4CE91D9D}"/>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7EB3A99E-8939-43FA-965C-7092044A960F}"/>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Assessment cue</a:t>
            </a:r>
          </a:p>
        </p:txBody>
      </p:sp>
      <p:sp>
        <p:nvSpPr>
          <p:cNvPr id="7" name="">
            <a:extLst xmlns:a="http://schemas.openxmlformats.org/drawingml/2006/main">
              <a:ext uri="{FF2B5EF4-FFF2-40B4-BE49-F238E27FC236}">
                <a16:creationId xmlns:a16="http://schemas.microsoft.com/office/drawing/2014/main" id="{0443EAF2-F3B6-433A-9A3C-9C84EB63B97E}"/>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7815409-A6DA-4500-A2CD-76B386416471}"/>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Typical vein</a:t>
            </a:r>
          </a:p>
        </p:txBody>
      </p:sp>
      <p:sp>
        <p:nvSpPr>
          <p:cNvPr id="9" name="">
            <a:extLst xmlns:a="http://schemas.openxmlformats.org/drawingml/2006/main">
              <a:ext uri="{FF2B5EF4-FFF2-40B4-BE49-F238E27FC236}">
                <a16:creationId xmlns:a16="http://schemas.microsoft.com/office/drawing/2014/main" id="{A1F26570-2EE4-4742-BA33-A48E78767EF0}"/>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49E0D2A-C27C-46A6-AED7-1D5EE98C24AB}"/>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artery / safety response</a:t>
            </a:r>
          </a:p>
        </p:txBody>
      </p:sp>
      <p:sp>
        <p:nvSpPr>
          <p:cNvPr id="11" name="">
            <a:extLst xmlns:a="http://schemas.openxmlformats.org/drawingml/2006/main">
              <a:ext uri="{FF2B5EF4-FFF2-40B4-BE49-F238E27FC236}">
                <a16:creationId xmlns:a16="http://schemas.microsoft.com/office/drawing/2014/main" id="{4A2C4B56-F64B-4322-BD0B-DD919E6B6946}"/>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2A2DECE9-179A-4D7E-A324-97AC0F0F31E8}"/>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Palpation</a:t>
            </a:r>
          </a:p>
        </p:txBody>
      </p:sp>
      <p:sp>
        <p:nvSpPr>
          <p:cNvPr id="13" name="">
            <a:extLst xmlns:a="http://schemas.openxmlformats.org/drawingml/2006/main">
              <a:ext uri="{FF2B5EF4-FFF2-40B4-BE49-F238E27FC236}">
                <a16:creationId xmlns:a16="http://schemas.microsoft.com/office/drawing/2014/main" id="{9437E8D8-6983-4C3D-AB50-5A85A6007A45}"/>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4F610AA-DBA4-47AD-816A-7DBFFC3E74EB}"/>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Soft, compressible, nonpulsatile</a:t>
            </a:r>
          </a:p>
        </p:txBody>
      </p:sp>
      <p:sp>
        <p:nvSpPr>
          <p:cNvPr id="15" name="">
            <a:extLst xmlns:a="http://schemas.openxmlformats.org/drawingml/2006/main">
              <a:ext uri="{FF2B5EF4-FFF2-40B4-BE49-F238E27FC236}">
                <a16:creationId xmlns:a16="http://schemas.microsoft.com/office/drawing/2014/main" id="{C7A47FA2-C454-4FD6-BB3B-E1CB9793485C}"/>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CEA3D09A-F76D-4C6B-82F6-DD7DCA4C67B1}"/>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Pulsation or firm recoil: do not cannulate</a:t>
            </a:r>
          </a:p>
        </p:txBody>
      </p:sp>
      <p:sp>
        <p:nvSpPr>
          <p:cNvPr id="17" name="">
            <a:extLst xmlns:a="http://schemas.openxmlformats.org/drawingml/2006/main">
              <a:ext uri="{FF2B5EF4-FFF2-40B4-BE49-F238E27FC236}">
                <a16:creationId xmlns:a16="http://schemas.microsoft.com/office/drawing/2014/main" id="{E4C25E72-B8B0-4937-904B-46DEF1F0F518}"/>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C4289C5-4096-45BC-9F68-AA18436ACF76}"/>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Location</a:t>
            </a:r>
          </a:p>
        </p:txBody>
      </p:sp>
      <p:sp>
        <p:nvSpPr>
          <p:cNvPr id="19" name="">
            <a:extLst xmlns:a="http://schemas.openxmlformats.org/drawingml/2006/main">
              <a:ext uri="{FF2B5EF4-FFF2-40B4-BE49-F238E27FC236}">
                <a16:creationId xmlns:a16="http://schemas.microsoft.com/office/drawing/2014/main" id="{535D1E1E-C1F8-4B81-BA51-374D0B641B12}"/>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0F4A274-ACA2-46CB-99FD-0E51E4C983FE}"/>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superficial and visible or palpable</a:t>
            </a:r>
          </a:p>
        </p:txBody>
      </p:sp>
      <p:sp>
        <p:nvSpPr>
          <p:cNvPr id="21" name="">
            <a:extLst xmlns:a="http://schemas.openxmlformats.org/drawingml/2006/main">
              <a:ext uri="{FF2B5EF4-FFF2-40B4-BE49-F238E27FC236}">
                <a16:creationId xmlns:a16="http://schemas.microsoft.com/office/drawing/2014/main" id="{07775315-AF33-4376-B7D4-5E6FE554F29E}"/>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24558D8-8453-4641-9BD5-DED3B0738EA2}"/>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deeper and protected; confirm anatomy before proceeding</a:t>
            </a:r>
          </a:p>
        </p:txBody>
      </p:sp>
      <p:sp>
        <p:nvSpPr>
          <p:cNvPr id="23" name="">
            <a:extLst xmlns:a="http://schemas.openxmlformats.org/drawingml/2006/main">
              <a:ext uri="{FF2B5EF4-FFF2-40B4-BE49-F238E27FC236}">
                <a16:creationId xmlns:a16="http://schemas.microsoft.com/office/drawing/2014/main" id="{5DC62B5D-81EA-49F6-A9C2-C6D279F27612}"/>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7433A20-947C-4716-9B16-EE79E48E09C2}"/>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Blood return</a:t>
            </a:r>
          </a:p>
        </p:txBody>
      </p:sp>
      <p:sp>
        <p:nvSpPr>
          <p:cNvPr id="25" name="">
            <a:extLst xmlns:a="http://schemas.openxmlformats.org/drawingml/2006/main">
              <a:ext uri="{FF2B5EF4-FFF2-40B4-BE49-F238E27FC236}">
                <a16:creationId xmlns:a16="http://schemas.microsoft.com/office/drawing/2014/main" id="{8EFA4FCE-8ACB-4B8F-B9B0-1819DD3D34F4}"/>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080678C3-A5C3-47BD-AA1A-D9D1D5390312}"/>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Usually darker and lower pressure</a:t>
            </a:r>
          </a:p>
        </p:txBody>
      </p:sp>
      <p:sp>
        <p:nvSpPr>
          <p:cNvPr id="27" name="">
            <a:extLst xmlns:a="http://schemas.openxmlformats.org/drawingml/2006/main">
              <a:ext uri="{FF2B5EF4-FFF2-40B4-BE49-F238E27FC236}">
                <a16:creationId xmlns:a16="http://schemas.microsoft.com/office/drawing/2014/main" id="{7FB27472-19E6-402A-9B8C-952F6ADBF393}"/>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BF31837-1419-4EEB-8665-40692EC41C84}"/>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Bright or pulsatile return is an emergency cue—stop and escalate</a:t>
            </a:r>
          </a:p>
        </p:txBody>
      </p:sp>
      <p:sp>
        <p:nvSpPr>
          <p:cNvPr id="29" name="">
            <a:extLst xmlns:a="http://schemas.openxmlformats.org/drawingml/2006/main">
              <a:ext uri="{FF2B5EF4-FFF2-40B4-BE49-F238E27FC236}">
                <a16:creationId xmlns:a16="http://schemas.microsoft.com/office/drawing/2014/main" id="{74426599-85AF-46F2-B83D-FC4E2D0F9F3B}"/>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62A60166-C21A-4215-9DFA-42F10641D7EB}"/>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When uncertain</a:t>
            </a:r>
          </a:p>
        </p:txBody>
      </p:sp>
      <p:sp>
        <p:nvSpPr>
          <p:cNvPr id="31" name="">
            <a:extLst xmlns:a="http://schemas.openxmlformats.org/drawingml/2006/main">
              <a:ext uri="{FF2B5EF4-FFF2-40B4-BE49-F238E27FC236}">
                <a16:creationId xmlns:a16="http://schemas.microsoft.com/office/drawing/2014/main" id="{82BE33CE-2D60-4688-BDA8-51BD8E41B8AF}"/>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627A245C-5456-4725-9803-3F9047920C95}"/>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Reassess the site and therapy</a:t>
            </a:r>
          </a:p>
        </p:txBody>
      </p:sp>
      <p:sp>
        <p:nvSpPr>
          <p:cNvPr id="33" name="">
            <a:extLst xmlns:a="http://schemas.openxmlformats.org/drawingml/2006/main">
              <a:ext uri="{FF2B5EF4-FFF2-40B4-BE49-F238E27FC236}">
                <a16:creationId xmlns:a16="http://schemas.microsoft.com/office/drawing/2014/main" id="{7B05DB1B-F2E4-42F1-AA9E-163714092CD1}"/>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E76B4194-0747-46A9-BE60-60F73C959693}"/>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rely on color alone; obtain qualified assistance</a:t>
            </a:r>
          </a:p>
        </p:txBody>
      </p:sp>
    </p:spTree>
    <p:extLst>
      <p:ext uri="{BB962C8B-B14F-4D97-AF65-F5344CB8AC3E}">
        <p14:creationId xmlns:p14="http://schemas.microsoft.com/office/powerpoint/2010/main" val="1483415170"/>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23B504-86E4-41ED-9569-8918515AA8B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DBE0122-A764-42B8-90F6-73300CEFF77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 assessment uses sight and touch</a:t>
            </a:r>
          </a:p>
        </p:txBody>
      </p:sp>
      <p:sp>
        <p:nvSpPr>
          <p:cNvPr id="3" name="">
            <a:extLst xmlns:a="http://schemas.openxmlformats.org/drawingml/2006/main">
              <a:ext uri="{FF2B5EF4-FFF2-40B4-BE49-F238E27FC236}">
                <a16:creationId xmlns:a16="http://schemas.microsoft.com/office/drawing/2014/main" id="{0F0A45EC-24ED-46FC-96A0-3BA8846134D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102147B-E984-436D-8F1C-052DF6970FF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7ED0AF73-313F-42F4-894C-A7B5E42EF7B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both appropriate extremities before choosing a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one or two fingertips rather than the thumb to palpate the vessel.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Press lightly, release, and assess elasticity, rebound filling, direction, depth, and length.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Palpate even when a vein looks easy to access; appearance alone does not confirm suitability.</a:t>
            </a:r>
          </a:p>
        </p:txBody>
      </p:sp>
      <p:sp>
        <p:nvSpPr>
          <p:cNvPr id="6" name="">
            <a:extLst xmlns:a="http://schemas.openxmlformats.org/drawingml/2006/main">
              <a:ext uri="{FF2B5EF4-FFF2-40B4-BE49-F238E27FC236}">
                <a16:creationId xmlns:a16="http://schemas.microsoft.com/office/drawing/2014/main" id="{B15E5046-2BAF-4869-B2F9-6F6E07A554A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71594168"/>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392003-8040-40AC-B1E2-0ABB0C86DD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7861B9A-9AB4-43A7-9E4B-CBA64893BFD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Strategies for a poorly filled vein</a:t>
            </a:r>
          </a:p>
        </p:txBody>
      </p:sp>
      <p:sp>
        <p:nvSpPr>
          <p:cNvPr id="3" name="">
            <a:extLst xmlns:a="http://schemas.openxmlformats.org/drawingml/2006/main">
              <a:ext uri="{FF2B5EF4-FFF2-40B4-BE49-F238E27FC236}">
                <a16:creationId xmlns:a16="http://schemas.microsoft.com/office/drawing/2014/main" id="{4E1C1335-E38E-449C-8B45-58509AFADA4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05E17EC-4E35-41B8-8EC6-A74352726F5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39AE0883-DE33-47F5-A2AD-B707DDF7F9B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Lower the arm below heart level before applying the tourniquet when the patient's condition permits.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the patient to gently open and close the hand, then relax it for insertion.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light tapping rather than forceful striking, which may cause vasoconstriction.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Apply an approved warm compress according to facility policy and reassess the vein before proceeding.</a:t>
            </a:r>
          </a:p>
        </p:txBody>
      </p:sp>
      <p:sp>
        <p:nvSpPr>
          <p:cNvPr id="6" name="">
            <a:extLst xmlns:a="http://schemas.openxmlformats.org/drawingml/2006/main">
              <a:ext uri="{FF2B5EF4-FFF2-40B4-BE49-F238E27FC236}">
                <a16:creationId xmlns:a16="http://schemas.microsoft.com/office/drawing/2014/main" id="{57534FD5-F395-45B4-80BA-A31CC2D1A53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27254084"/>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DD60112-A931-4AAD-964F-5B490DA1E57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E61B378-1370-4909-A476-2D3D7BDE245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catheter selection</a:t>
            </a:r>
          </a:p>
        </p:txBody>
      </p:sp>
      <p:sp>
        <p:nvSpPr>
          <p:cNvPr id="3" name="">
            <a:extLst xmlns:a="http://schemas.openxmlformats.org/drawingml/2006/main">
              <a:ext uri="{FF2B5EF4-FFF2-40B4-BE49-F238E27FC236}">
                <a16:creationId xmlns:a16="http://schemas.microsoft.com/office/drawing/2014/main" id="{96443A2B-98D7-43BF-8262-FA7A4A906D5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EB9237C-166D-45DB-9BD7-977634462CA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1AE7F397-071F-4E6A-97E1-20E99849ECA0}"/>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2E11924-4979-46EF-BF57-017134E11384}"/>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need</a:t>
            </a:r>
          </a:p>
        </p:txBody>
      </p:sp>
      <p:sp>
        <p:nvSpPr>
          <p:cNvPr id="7" name="">
            <a:extLst xmlns:a="http://schemas.openxmlformats.org/drawingml/2006/main">
              <a:ext uri="{FF2B5EF4-FFF2-40B4-BE49-F238E27FC236}">
                <a16:creationId xmlns:a16="http://schemas.microsoft.com/office/drawing/2014/main" id="{BF4FC8D9-D0E9-4380-A6D3-47893F89B7EC}"/>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661B7D9-8DB4-4674-8B44-12F5B56AADD7}"/>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Selection principle</a:t>
            </a:r>
          </a:p>
        </p:txBody>
      </p:sp>
      <p:sp>
        <p:nvSpPr>
          <p:cNvPr id="9" name="">
            <a:extLst xmlns:a="http://schemas.openxmlformats.org/drawingml/2006/main">
              <a:ext uri="{FF2B5EF4-FFF2-40B4-BE49-F238E27FC236}">
                <a16:creationId xmlns:a16="http://schemas.microsoft.com/office/drawing/2014/main" id="{B4FE4143-B269-41E8-9607-54161A351677}"/>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D454EAB-C5B7-4C0A-910E-FEDE0B75F28D}"/>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Routine fluids or intermittent medication</a:t>
            </a:r>
          </a:p>
        </p:txBody>
      </p:sp>
      <p:sp>
        <p:nvSpPr>
          <p:cNvPr id="11" name="">
            <a:extLst xmlns:a="http://schemas.openxmlformats.org/drawingml/2006/main">
              <a:ext uri="{FF2B5EF4-FFF2-40B4-BE49-F238E27FC236}">
                <a16:creationId xmlns:a16="http://schemas.microsoft.com/office/drawing/2014/main" id="{043BBF1D-D10A-4B20-B5A7-415E0CB73ADA}"/>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339C80A-B955-4BAA-B161-6188FDFE0B9A}"/>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the smallest gauge that reliably supports therapy</a:t>
            </a:r>
          </a:p>
        </p:txBody>
      </p:sp>
      <p:sp>
        <p:nvSpPr>
          <p:cNvPr id="13" name="">
            <a:extLst xmlns:a="http://schemas.openxmlformats.org/drawingml/2006/main">
              <a:ext uri="{FF2B5EF4-FFF2-40B4-BE49-F238E27FC236}">
                <a16:creationId xmlns:a16="http://schemas.microsoft.com/office/drawing/2014/main" id="{526DCBCC-3FDE-4D6B-9CC4-99A32F24E7D2}"/>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86ED376-F496-4430-9C55-16C5219A7094}"/>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volume or blood</a:t>
            </a:r>
          </a:p>
        </p:txBody>
      </p:sp>
      <p:sp>
        <p:nvSpPr>
          <p:cNvPr id="15" name="">
            <a:extLst xmlns:a="http://schemas.openxmlformats.org/drawingml/2006/main">
              <a:ext uri="{FF2B5EF4-FFF2-40B4-BE49-F238E27FC236}">
                <a16:creationId xmlns:a16="http://schemas.microsoft.com/office/drawing/2014/main" id="{0EFFFE4D-EA31-4DFA-A8FB-CFF9EC710847}"/>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8E93F72-2741-4B1C-979C-6B3322ED9DF9}"/>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 larger bore may be required when clinically appropriate</a:t>
            </a:r>
          </a:p>
        </p:txBody>
      </p:sp>
      <p:sp>
        <p:nvSpPr>
          <p:cNvPr id="17" name="">
            <a:extLst xmlns:a="http://schemas.openxmlformats.org/drawingml/2006/main">
              <a:ext uri="{FF2B5EF4-FFF2-40B4-BE49-F238E27FC236}">
                <a16:creationId xmlns:a16="http://schemas.microsoft.com/office/drawing/2014/main" id="{6FE34567-3383-4AA1-81B6-5FA01405F31A}"/>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36F9398-9145-4DCD-A5FF-E5E5607B4103}"/>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Fragile or small veins</a:t>
            </a:r>
          </a:p>
        </p:txBody>
      </p:sp>
      <p:sp>
        <p:nvSpPr>
          <p:cNvPr id="19" name="">
            <a:extLst xmlns:a="http://schemas.openxmlformats.org/drawingml/2006/main">
              <a:ext uri="{FF2B5EF4-FFF2-40B4-BE49-F238E27FC236}">
                <a16:creationId xmlns:a16="http://schemas.microsoft.com/office/drawing/2014/main" id="{B395034A-C7FA-40F2-8FBD-27CC16185515}"/>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7556FAD-1B3D-46C8-96F6-FE01AFC4AB5D}"/>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Choose a smaller gauge and appropriate short catheter</a:t>
            </a:r>
          </a:p>
        </p:txBody>
      </p:sp>
      <p:sp>
        <p:nvSpPr>
          <p:cNvPr id="21" name="">
            <a:extLst xmlns:a="http://schemas.openxmlformats.org/drawingml/2006/main">
              <a:ext uri="{FF2B5EF4-FFF2-40B4-BE49-F238E27FC236}">
                <a16:creationId xmlns:a16="http://schemas.microsoft.com/office/drawing/2014/main" id="{3557103B-DB4F-4D6C-8E75-F3F458804E13}"/>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E773618-CA53-4D74-87EB-80AF310F88E5}"/>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 duration or irritating therapy</a:t>
            </a:r>
          </a:p>
        </p:txBody>
      </p:sp>
      <p:sp>
        <p:nvSpPr>
          <p:cNvPr id="23" name="">
            <a:extLst xmlns:a="http://schemas.openxmlformats.org/drawingml/2006/main">
              <a:ext uri="{FF2B5EF4-FFF2-40B4-BE49-F238E27FC236}">
                <a16:creationId xmlns:a16="http://schemas.microsoft.com/office/drawing/2014/main" id="{32CC1BE2-AF2A-487D-AAB3-62925B99C93A}"/>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EBF86A0-493F-4BA7-9864-AA497360A0D9}"/>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Reassess whether a different vascular-access device is indicated</a:t>
            </a:r>
          </a:p>
        </p:txBody>
      </p:sp>
    </p:spTree>
    <p:extLst>
      <p:ext uri="{BB962C8B-B14F-4D97-AF65-F5344CB8AC3E}">
        <p14:creationId xmlns:p14="http://schemas.microsoft.com/office/powerpoint/2010/main" val="1762375973"/>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99EBF8-6491-41F3-91B3-25590E157AC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DD612D4-DB63-4BDE-A759-434925D6F6B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prepare and access</a:t>
            </a:r>
          </a:p>
        </p:txBody>
      </p:sp>
      <p:sp>
        <p:nvSpPr>
          <p:cNvPr id="3" name="">
            <a:extLst xmlns:a="http://schemas.openxmlformats.org/drawingml/2006/main">
              <a:ext uri="{FF2B5EF4-FFF2-40B4-BE49-F238E27FC236}">
                <a16:creationId xmlns:a16="http://schemas.microsoft.com/office/drawing/2014/main" id="{B8E594A9-C88D-42AF-8656-A3364B1045E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F341123-6D6A-4FD8-9774-FB29EFF4BC3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5DE1012D-5232-41E4-8806-064A4204E74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Verify the order, identify and teach the patient, perform hand hygiene, and gather supplies.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limb, assess veins, apply the tourniquet, and select the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Cleanse with the approved antiseptic using the required friction and allow it to dry completely.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Stabilize the vein, insert bevel up, observe flashback, lower the angle, and advance the catheter—not the needle.</a:t>
            </a:r>
          </a:p>
        </p:txBody>
      </p:sp>
      <p:sp>
        <p:nvSpPr>
          <p:cNvPr id="6" name="">
            <a:extLst xmlns:a="http://schemas.openxmlformats.org/drawingml/2006/main">
              <a:ext uri="{FF2B5EF4-FFF2-40B4-BE49-F238E27FC236}">
                <a16:creationId xmlns:a16="http://schemas.microsoft.com/office/drawing/2014/main" id="{FED94F7F-2EFC-4779-906E-63D1AEF3861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39120437"/>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0A120F-17E9-4F53-ADB7-00B0457DBA9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F4CF2A0-4B1E-40DE-A1E8-F9056BBE137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connect and secure</a:t>
            </a:r>
          </a:p>
        </p:txBody>
      </p:sp>
      <p:sp>
        <p:nvSpPr>
          <p:cNvPr id="3" name="">
            <a:extLst xmlns:a="http://schemas.openxmlformats.org/drawingml/2006/main">
              <a:ext uri="{FF2B5EF4-FFF2-40B4-BE49-F238E27FC236}">
                <a16:creationId xmlns:a16="http://schemas.microsoft.com/office/drawing/2014/main" id="{AC89D93D-93F6-4E7C-81FD-4EB411C67BA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F6F223C-F2D9-44D2-95C9-D41808E10C6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A2422FC8-D296-441F-B08A-23F4382B19A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Release the tourniquet, apply appropriate pressure, activate the sharps safety device, and discard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Connect the primed extension without contaminating key parts.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patency using the approved assessment; never force a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Secure and dress the catheter, label it, start the ordered therapy, teach the patient, and document.</a:t>
            </a:r>
          </a:p>
        </p:txBody>
      </p:sp>
      <p:sp>
        <p:nvSpPr>
          <p:cNvPr id="6" name="">
            <a:extLst xmlns:a="http://schemas.openxmlformats.org/drawingml/2006/main">
              <a:ext uri="{FF2B5EF4-FFF2-40B4-BE49-F238E27FC236}">
                <a16:creationId xmlns:a16="http://schemas.microsoft.com/office/drawing/2014/main" id="{030D6152-3B5F-45AD-88BB-00024239F5A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52079723"/>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027276-76B4-408D-B430-E382CEC825A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EDFB71F-47A9-4B81-B5ED-E5C20A83D0B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Sharps safety is part of every IV start</a:t>
            </a:r>
          </a:p>
        </p:txBody>
      </p:sp>
      <p:sp>
        <p:nvSpPr>
          <p:cNvPr id="3" name="">
            <a:extLst xmlns:a="http://schemas.openxmlformats.org/drawingml/2006/main">
              <a:ext uri="{FF2B5EF4-FFF2-40B4-BE49-F238E27FC236}">
                <a16:creationId xmlns:a16="http://schemas.microsoft.com/office/drawing/2014/main" id="{ED88B88A-7A6D-4504-9C9B-83CCA558881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C3AF65A-2CE0-4057-A27B-0DF00FDF5B3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BC399207-6E00-4945-8B91-D8323619189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Place an approved, closable, puncture-resistant sharps container within easy reach before beginning.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Never bend, break, remove, or recap the introducer needle.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Activate the engineered safety feature immediately after withdrawal and visually confirm activation when the device permits.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Dispose of the sharp at once; never carry it, hand it to another person, or force it into an overfilled container.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an injury occurs, stop safely and follow the facility exposure-control plan without delay.</a:t>
            </a:r>
          </a:p>
        </p:txBody>
      </p:sp>
      <p:sp>
        <p:nvSpPr>
          <p:cNvPr id="6" name="">
            <a:extLst xmlns:a="http://schemas.openxmlformats.org/drawingml/2006/main">
              <a:ext uri="{FF2B5EF4-FFF2-40B4-BE49-F238E27FC236}">
                <a16:creationId xmlns:a16="http://schemas.microsoft.com/office/drawing/2014/main" id="{19BBFDC5-C49A-4B68-A82F-A65C71D74F6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0469933"/>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8816C6C-7EFC-48FB-B686-9D82F0D61D5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FFB3090-AF8B-454F-8441-BCCCCCFB264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Occupational exposure: immediate response</a:t>
            </a:r>
          </a:p>
        </p:txBody>
      </p:sp>
      <p:sp>
        <p:nvSpPr>
          <p:cNvPr id="3" name="">
            <a:extLst xmlns:a="http://schemas.openxmlformats.org/drawingml/2006/main">
              <a:ext uri="{FF2B5EF4-FFF2-40B4-BE49-F238E27FC236}">
                <a16:creationId xmlns:a16="http://schemas.microsoft.com/office/drawing/2014/main" id="{37E5BAE8-2E19-4912-B8A9-CF43D13CFB0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3BF2EC4-A42A-486F-811E-46AD4C9D284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6F252C54-CCD2-43FA-BF78-500755C4F298}"/>
              </a:ext>
            </a:extLst>
          </p:cNvPr>
          <p:cNvSpPr>
            <a:spLocks xmlns:a="http://schemas.openxmlformats.org/drawingml/2006/main" noGrp="1"/>
          </p:cNvSpPr>
          <p:nvPr/>
        </p:nvSpPr>
        <p:spPr>
          <a:xfrm xmlns:a="http://schemas.openxmlformats.org/drawingml/2006/main">
            <a:off x="781050" y="1695450"/>
            <a:ext cx="5286375"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5651544-E50E-41A6-B845-B48355F759F8}"/>
              </a:ext>
            </a:extLst>
          </p:cNvPr>
          <p:cNvSpPr>
            <a:spLocks xmlns:a="http://schemas.openxmlformats.org/drawingml/2006/main" noGrp="1"/>
          </p:cNvSpPr>
          <p:nvPr/>
        </p:nvSpPr>
        <p:spPr>
          <a:xfrm xmlns:a="http://schemas.openxmlformats.org/drawingml/2006/main">
            <a:off x="876300" y="17621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Exposure</a:t>
            </a:r>
          </a:p>
        </p:txBody>
      </p:sp>
      <p:sp>
        <p:nvSpPr>
          <p:cNvPr id="7" name="">
            <a:extLst xmlns:a="http://schemas.openxmlformats.org/drawingml/2006/main">
              <a:ext uri="{FF2B5EF4-FFF2-40B4-BE49-F238E27FC236}">
                <a16:creationId xmlns:a16="http://schemas.microsoft.com/office/drawing/2014/main" id="{6EE45BA6-B94A-49DB-8BA2-5DA7595D9876}"/>
              </a:ext>
            </a:extLst>
          </p:cNvPr>
          <p:cNvSpPr>
            <a:spLocks xmlns:a="http://schemas.openxmlformats.org/drawingml/2006/main" noGrp="1"/>
          </p:cNvSpPr>
          <p:nvPr/>
        </p:nvSpPr>
        <p:spPr>
          <a:xfrm xmlns:a="http://schemas.openxmlformats.org/drawingml/2006/main">
            <a:off x="6067425" y="1695450"/>
            <a:ext cx="5286375"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D8C5636-2900-4065-84A2-FA07E947B0CC}"/>
              </a:ext>
            </a:extLst>
          </p:cNvPr>
          <p:cNvSpPr>
            <a:spLocks xmlns:a="http://schemas.openxmlformats.org/drawingml/2006/main" noGrp="1"/>
          </p:cNvSpPr>
          <p:nvPr/>
        </p:nvSpPr>
        <p:spPr>
          <a:xfrm xmlns:a="http://schemas.openxmlformats.org/drawingml/2006/main">
            <a:off x="6162675" y="17621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action</a:t>
            </a:r>
          </a:p>
        </p:txBody>
      </p:sp>
      <p:sp>
        <p:nvSpPr>
          <p:cNvPr id="9" name="">
            <a:extLst xmlns:a="http://schemas.openxmlformats.org/drawingml/2006/main">
              <a:ext uri="{FF2B5EF4-FFF2-40B4-BE49-F238E27FC236}">
                <a16:creationId xmlns:a16="http://schemas.microsoft.com/office/drawing/2014/main" id="{20427A51-FAAA-4D91-BD86-2D59944CD7D5}"/>
              </a:ext>
            </a:extLst>
          </p:cNvPr>
          <p:cNvSpPr>
            <a:spLocks xmlns:a="http://schemas.openxmlformats.org/drawingml/2006/main" noGrp="1"/>
          </p:cNvSpPr>
          <p:nvPr/>
        </p:nvSpPr>
        <p:spPr>
          <a:xfrm xmlns:a="http://schemas.openxmlformats.org/drawingml/2006/main">
            <a:off x="781050" y="24384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85D4CF4-00DA-4754-9955-DB950502228B}"/>
              </a:ext>
            </a:extLst>
          </p:cNvPr>
          <p:cNvSpPr>
            <a:spLocks xmlns:a="http://schemas.openxmlformats.org/drawingml/2006/main" noGrp="1"/>
          </p:cNvSpPr>
          <p:nvPr/>
        </p:nvSpPr>
        <p:spPr>
          <a:xfrm xmlns:a="http://schemas.openxmlformats.org/drawingml/2006/main">
            <a:off x="876300" y="2505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Needlestick or cut</a:t>
            </a:r>
          </a:p>
        </p:txBody>
      </p:sp>
      <p:sp>
        <p:nvSpPr>
          <p:cNvPr id="11" name="">
            <a:extLst xmlns:a="http://schemas.openxmlformats.org/drawingml/2006/main">
              <a:ext uri="{FF2B5EF4-FFF2-40B4-BE49-F238E27FC236}">
                <a16:creationId xmlns:a16="http://schemas.microsoft.com/office/drawing/2014/main" id="{E2871DE3-BF91-4269-B39F-EA6F8AB9CF4A}"/>
              </a:ext>
            </a:extLst>
          </p:cNvPr>
          <p:cNvSpPr>
            <a:spLocks xmlns:a="http://schemas.openxmlformats.org/drawingml/2006/main" noGrp="1"/>
          </p:cNvSpPr>
          <p:nvPr/>
        </p:nvSpPr>
        <p:spPr>
          <a:xfrm xmlns:a="http://schemas.openxmlformats.org/drawingml/2006/main">
            <a:off x="6067425" y="24384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1913915C-1301-41F9-87C8-E41771580366}"/>
              </a:ext>
            </a:extLst>
          </p:cNvPr>
          <p:cNvSpPr>
            <a:spLocks xmlns:a="http://schemas.openxmlformats.org/drawingml/2006/main" noGrp="1"/>
          </p:cNvSpPr>
          <p:nvPr/>
        </p:nvSpPr>
        <p:spPr>
          <a:xfrm xmlns:a="http://schemas.openxmlformats.org/drawingml/2006/main">
            <a:off x="6162675" y="2505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Wash with soap and water; do not scrub aggressively or squeeze the wound</a:t>
            </a:r>
          </a:p>
        </p:txBody>
      </p:sp>
      <p:sp>
        <p:nvSpPr>
          <p:cNvPr id="13" name="">
            <a:extLst xmlns:a="http://schemas.openxmlformats.org/drawingml/2006/main">
              <a:ext uri="{FF2B5EF4-FFF2-40B4-BE49-F238E27FC236}">
                <a16:creationId xmlns:a16="http://schemas.microsoft.com/office/drawing/2014/main" id="{334FDBBB-29DC-4388-B4A1-A9CB38E6377F}"/>
              </a:ext>
            </a:extLst>
          </p:cNvPr>
          <p:cNvSpPr>
            <a:spLocks xmlns:a="http://schemas.openxmlformats.org/drawingml/2006/main" noGrp="1"/>
          </p:cNvSpPr>
          <p:nvPr/>
        </p:nvSpPr>
        <p:spPr>
          <a:xfrm xmlns:a="http://schemas.openxmlformats.org/drawingml/2006/main">
            <a:off x="781050" y="31813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08A42538-5E44-4113-94A3-8C8CE2334494}"/>
              </a:ext>
            </a:extLst>
          </p:cNvPr>
          <p:cNvSpPr>
            <a:spLocks xmlns:a="http://schemas.openxmlformats.org/drawingml/2006/main" noGrp="1"/>
          </p:cNvSpPr>
          <p:nvPr/>
        </p:nvSpPr>
        <p:spPr>
          <a:xfrm xmlns:a="http://schemas.openxmlformats.org/drawingml/2006/main">
            <a:off x="876300" y="32480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Eye or mucous-membrane splash</a:t>
            </a:r>
          </a:p>
        </p:txBody>
      </p:sp>
      <p:sp>
        <p:nvSpPr>
          <p:cNvPr id="15" name="">
            <a:extLst xmlns:a="http://schemas.openxmlformats.org/drawingml/2006/main">
              <a:ext uri="{FF2B5EF4-FFF2-40B4-BE49-F238E27FC236}">
                <a16:creationId xmlns:a16="http://schemas.microsoft.com/office/drawing/2014/main" id="{70F4131D-6E76-4A72-AE18-3902CB2B6F8E}"/>
              </a:ext>
            </a:extLst>
          </p:cNvPr>
          <p:cNvSpPr>
            <a:spLocks xmlns:a="http://schemas.openxmlformats.org/drawingml/2006/main" noGrp="1"/>
          </p:cNvSpPr>
          <p:nvPr/>
        </p:nvSpPr>
        <p:spPr>
          <a:xfrm xmlns:a="http://schemas.openxmlformats.org/drawingml/2006/main">
            <a:off x="6067425" y="31813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241BD09-7152-4D2F-9EAB-C4AD11C71A5D}"/>
              </a:ext>
            </a:extLst>
          </p:cNvPr>
          <p:cNvSpPr>
            <a:spLocks xmlns:a="http://schemas.openxmlformats.org/drawingml/2006/main" noGrp="1"/>
          </p:cNvSpPr>
          <p:nvPr/>
        </p:nvSpPr>
        <p:spPr>
          <a:xfrm xmlns:a="http://schemas.openxmlformats.org/drawingml/2006/main">
            <a:off x="6162675" y="32480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Flush promptly with water or the designated eyewash</a:t>
            </a:r>
          </a:p>
        </p:txBody>
      </p:sp>
      <p:sp>
        <p:nvSpPr>
          <p:cNvPr id="17" name="">
            <a:extLst xmlns:a="http://schemas.openxmlformats.org/drawingml/2006/main">
              <a:ext uri="{FF2B5EF4-FFF2-40B4-BE49-F238E27FC236}">
                <a16:creationId xmlns:a16="http://schemas.microsoft.com/office/drawing/2014/main" id="{3D2D2C72-B06F-44AD-8FE8-DA7B37A84EAC}"/>
              </a:ext>
            </a:extLst>
          </p:cNvPr>
          <p:cNvSpPr>
            <a:spLocks xmlns:a="http://schemas.openxmlformats.org/drawingml/2006/main" noGrp="1"/>
          </p:cNvSpPr>
          <p:nvPr/>
        </p:nvSpPr>
        <p:spPr>
          <a:xfrm xmlns:a="http://schemas.openxmlformats.org/drawingml/2006/main">
            <a:off x="781050" y="39243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E6339C9A-3F42-4349-B452-2C120CC9FB98}"/>
              </a:ext>
            </a:extLst>
          </p:cNvPr>
          <p:cNvSpPr>
            <a:spLocks xmlns:a="http://schemas.openxmlformats.org/drawingml/2006/main" noGrp="1"/>
          </p:cNvSpPr>
          <p:nvPr/>
        </p:nvSpPr>
        <p:spPr>
          <a:xfrm xmlns:a="http://schemas.openxmlformats.org/drawingml/2006/main">
            <a:off x="876300" y="3990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Nonintact-skin contact</a:t>
            </a:r>
          </a:p>
        </p:txBody>
      </p:sp>
      <p:sp>
        <p:nvSpPr>
          <p:cNvPr id="19" name="">
            <a:extLst xmlns:a="http://schemas.openxmlformats.org/drawingml/2006/main">
              <a:ext uri="{FF2B5EF4-FFF2-40B4-BE49-F238E27FC236}">
                <a16:creationId xmlns:a16="http://schemas.microsoft.com/office/drawing/2014/main" id="{2578F6DE-C188-4992-80F3-40C70F526E89}"/>
              </a:ext>
            </a:extLst>
          </p:cNvPr>
          <p:cNvSpPr>
            <a:spLocks xmlns:a="http://schemas.openxmlformats.org/drawingml/2006/main" noGrp="1"/>
          </p:cNvSpPr>
          <p:nvPr/>
        </p:nvSpPr>
        <p:spPr>
          <a:xfrm xmlns:a="http://schemas.openxmlformats.org/drawingml/2006/main">
            <a:off x="6067425" y="39243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07503A4-56A7-4927-91EE-6A2512525CAE}"/>
              </a:ext>
            </a:extLst>
          </p:cNvPr>
          <p:cNvSpPr>
            <a:spLocks xmlns:a="http://schemas.openxmlformats.org/drawingml/2006/main" noGrp="1"/>
          </p:cNvSpPr>
          <p:nvPr/>
        </p:nvSpPr>
        <p:spPr>
          <a:xfrm xmlns:a="http://schemas.openxmlformats.org/drawingml/2006/main">
            <a:off x="6162675" y="3990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Wash the area promptly and remove contaminated clothing as directed</a:t>
            </a:r>
          </a:p>
        </p:txBody>
      </p:sp>
      <p:sp>
        <p:nvSpPr>
          <p:cNvPr id="21" name="">
            <a:extLst xmlns:a="http://schemas.openxmlformats.org/drawingml/2006/main">
              <a:ext uri="{FF2B5EF4-FFF2-40B4-BE49-F238E27FC236}">
                <a16:creationId xmlns:a16="http://schemas.microsoft.com/office/drawing/2014/main" id="{2E9F3CEF-8485-431E-B726-BC22CA2535C2}"/>
              </a:ext>
            </a:extLst>
          </p:cNvPr>
          <p:cNvSpPr>
            <a:spLocks xmlns:a="http://schemas.openxmlformats.org/drawingml/2006/main" noGrp="1"/>
          </p:cNvSpPr>
          <p:nvPr/>
        </p:nvSpPr>
        <p:spPr>
          <a:xfrm xmlns:a="http://schemas.openxmlformats.org/drawingml/2006/main">
            <a:off x="781050" y="46672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D08DD1C2-68E9-4310-A1A0-095EC1055A24}"/>
              </a:ext>
            </a:extLst>
          </p:cNvPr>
          <p:cNvSpPr>
            <a:spLocks xmlns:a="http://schemas.openxmlformats.org/drawingml/2006/main" noGrp="1"/>
          </p:cNvSpPr>
          <p:nvPr/>
        </p:nvSpPr>
        <p:spPr>
          <a:xfrm xmlns:a="http://schemas.openxmlformats.org/drawingml/2006/main">
            <a:off x="876300" y="4733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Every exposure</a:t>
            </a:r>
          </a:p>
        </p:txBody>
      </p:sp>
      <p:sp>
        <p:nvSpPr>
          <p:cNvPr id="23" name="">
            <a:extLst xmlns:a="http://schemas.openxmlformats.org/drawingml/2006/main">
              <a:ext uri="{FF2B5EF4-FFF2-40B4-BE49-F238E27FC236}">
                <a16:creationId xmlns:a16="http://schemas.microsoft.com/office/drawing/2014/main" id="{4962B267-4371-4BEA-B2DA-89901EFE3543}"/>
              </a:ext>
            </a:extLst>
          </p:cNvPr>
          <p:cNvSpPr>
            <a:spLocks xmlns:a="http://schemas.openxmlformats.org/drawingml/2006/main" noGrp="1"/>
          </p:cNvSpPr>
          <p:nvPr/>
        </p:nvSpPr>
        <p:spPr>
          <a:xfrm xmlns:a="http://schemas.openxmlformats.org/drawingml/2006/main">
            <a:off x="6067425" y="46672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366F405A-3AEC-4AC8-87E3-C4560DCF8DE1}"/>
              </a:ext>
            </a:extLst>
          </p:cNvPr>
          <p:cNvSpPr>
            <a:spLocks xmlns:a="http://schemas.openxmlformats.org/drawingml/2006/main" noGrp="1"/>
          </p:cNvSpPr>
          <p:nvPr/>
        </p:nvSpPr>
        <p:spPr>
          <a:xfrm xmlns:a="http://schemas.openxmlformats.org/drawingml/2006/main">
            <a:off x="6162675" y="4733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Report immediately, identify the source process when permitted, and obtain confidential medical evaluation and follow-up</a:t>
            </a:r>
          </a:p>
        </p:txBody>
      </p:sp>
      <p:sp>
        <p:nvSpPr>
          <p:cNvPr id="25" name="">
            <a:extLst xmlns:a="http://schemas.openxmlformats.org/drawingml/2006/main">
              <a:ext uri="{FF2B5EF4-FFF2-40B4-BE49-F238E27FC236}">
                <a16:creationId xmlns:a16="http://schemas.microsoft.com/office/drawing/2014/main" id="{9EF52B16-B76A-4598-9FF4-BD680AA4E177}"/>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Do not delay reporting while deciding whether the exposure seems serious. Follow the employer's written exposure-control plan and current post-exposure protocol.</a:t>
            </a:r>
          </a:p>
        </p:txBody>
      </p:sp>
    </p:spTree>
    <p:extLst>
      <p:ext uri="{BB962C8B-B14F-4D97-AF65-F5344CB8AC3E}">
        <p14:creationId xmlns:p14="http://schemas.microsoft.com/office/powerpoint/2010/main" val="828168460"/>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2EBF0BB-D72A-43C8-B7AC-2ACE7E306B4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EA01C17-8A3F-4D68-AFD4-532E0C0AE9C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Unsuccessful insertion: safe next steps</a:t>
            </a:r>
          </a:p>
        </p:txBody>
      </p:sp>
      <p:sp>
        <p:nvSpPr>
          <p:cNvPr id="3" name="">
            <a:extLst xmlns:a="http://schemas.openxmlformats.org/drawingml/2006/main">
              <a:ext uri="{FF2B5EF4-FFF2-40B4-BE49-F238E27FC236}">
                <a16:creationId xmlns:a16="http://schemas.microsoft.com/office/drawing/2014/main" id="{A64D7069-1929-498C-81F2-C82D38EA025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2500743-A4F9-4C6E-AB97-4EA7F44E9FE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F9371EA8-45E3-482B-A3BF-8D76A737CA74}"/>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5E6568CE-472D-4C72-BCF7-65CA96F5C699}"/>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Problem</a:t>
            </a:r>
          </a:p>
        </p:txBody>
      </p:sp>
      <p:sp>
        <p:nvSpPr>
          <p:cNvPr id="7" name="">
            <a:extLst xmlns:a="http://schemas.openxmlformats.org/drawingml/2006/main">
              <a:ext uri="{FF2B5EF4-FFF2-40B4-BE49-F238E27FC236}">
                <a16:creationId xmlns:a16="http://schemas.microsoft.com/office/drawing/2014/main" id="{51C8D2DA-D145-40F5-8CB5-C5D606102EC9}"/>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F80A025-27D4-4AB1-966B-BA6431E097A9}"/>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Likely cause</a:t>
            </a:r>
          </a:p>
        </p:txBody>
      </p:sp>
      <p:sp>
        <p:nvSpPr>
          <p:cNvPr id="9" name="">
            <a:extLst xmlns:a="http://schemas.openxmlformats.org/drawingml/2006/main">
              <a:ext uri="{FF2B5EF4-FFF2-40B4-BE49-F238E27FC236}">
                <a16:creationId xmlns:a16="http://schemas.microsoft.com/office/drawing/2014/main" id="{809756B1-DE90-4995-AFE7-116FE28E62D5}"/>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67D1FC3-E5B4-499E-97CF-94F6AF6C1B8F}"/>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 response</a:t>
            </a:r>
          </a:p>
        </p:txBody>
      </p:sp>
      <p:sp>
        <p:nvSpPr>
          <p:cNvPr id="11" name="">
            <a:extLst xmlns:a="http://schemas.openxmlformats.org/drawingml/2006/main">
              <a:ext uri="{FF2B5EF4-FFF2-40B4-BE49-F238E27FC236}">
                <a16:creationId xmlns:a16="http://schemas.microsoft.com/office/drawing/2014/main" id="{41AA6DD7-4C33-4973-8E68-0418137982DA}"/>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7C88A57-F27B-4655-8FA2-F6711E84AB80}"/>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Vein rolls away</a:t>
            </a:r>
          </a:p>
        </p:txBody>
      </p:sp>
      <p:sp>
        <p:nvSpPr>
          <p:cNvPr id="13" name="">
            <a:extLst xmlns:a="http://schemas.openxmlformats.org/drawingml/2006/main">
              <a:ext uri="{FF2B5EF4-FFF2-40B4-BE49-F238E27FC236}">
                <a16:creationId xmlns:a16="http://schemas.microsoft.com/office/drawing/2014/main" id="{51E6DC97-4CFB-4FE1-A725-0073255235DB}"/>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967BFEAE-6441-43A6-8A97-62927CB80796}"/>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Inadequate stabilization</a:t>
            </a:r>
          </a:p>
        </p:txBody>
      </p:sp>
      <p:sp>
        <p:nvSpPr>
          <p:cNvPr id="15" name="">
            <a:extLst xmlns:a="http://schemas.openxmlformats.org/drawingml/2006/main">
              <a:ext uri="{FF2B5EF4-FFF2-40B4-BE49-F238E27FC236}">
                <a16:creationId xmlns:a16="http://schemas.microsoft.com/office/drawing/2014/main" id="{879E3C76-D7B1-441F-8790-CA0D6ACFE4E2}"/>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FA5FC9A-322D-41AC-B027-D08830F976B4}"/>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probing; stabilize correctly and use a new catheter/site as required</a:t>
            </a:r>
          </a:p>
        </p:txBody>
      </p:sp>
      <p:sp>
        <p:nvSpPr>
          <p:cNvPr id="17" name="">
            <a:extLst xmlns:a="http://schemas.openxmlformats.org/drawingml/2006/main">
              <a:ext uri="{FF2B5EF4-FFF2-40B4-BE49-F238E27FC236}">
                <a16:creationId xmlns:a16="http://schemas.microsoft.com/office/drawing/2014/main" id="{3DE26102-134F-4D91-B3B2-8E83382D4A55}"/>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905E4C7-9344-4184-9DA4-BC176A9874D4}"/>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Hematoma develops</a:t>
            </a:r>
          </a:p>
        </p:txBody>
      </p:sp>
      <p:sp>
        <p:nvSpPr>
          <p:cNvPr id="19" name="">
            <a:extLst xmlns:a="http://schemas.openxmlformats.org/drawingml/2006/main">
              <a:ext uri="{FF2B5EF4-FFF2-40B4-BE49-F238E27FC236}">
                <a16:creationId xmlns:a16="http://schemas.microsoft.com/office/drawing/2014/main" id="{030C5D6E-61C3-4E09-9462-2298623F8153}"/>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A020CF3-DC14-43B0-A810-8477D09AF3FD}"/>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Posterior-wall trauma or excessive angle</a:t>
            </a:r>
          </a:p>
        </p:txBody>
      </p:sp>
      <p:sp>
        <p:nvSpPr>
          <p:cNvPr id="21" name="">
            <a:extLst xmlns:a="http://schemas.openxmlformats.org/drawingml/2006/main">
              <a:ext uri="{FF2B5EF4-FFF2-40B4-BE49-F238E27FC236}">
                <a16:creationId xmlns:a16="http://schemas.microsoft.com/office/drawing/2014/main" id="{C3C88598-6CAE-4847-A71F-1574A44BB7D7}"/>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851AFCB-560C-4EC4-994F-D20AEECAD462}"/>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remove, apply pressure, and reassess</a:t>
            </a:r>
          </a:p>
        </p:txBody>
      </p:sp>
      <p:sp>
        <p:nvSpPr>
          <p:cNvPr id="23" name="">
            <a:extLst xmlns:a="http://schemas.openxmlformats.org/drawingml/2006/main">
              <a:ext uri="{FF2B5EF4-FFF2-40B4-BE49-F238E27FC236}">
                <a16:creationId xmlns:a16="http://schemas.microsoft.com/office/drawing/2014/main" id="{AB6DE553-C7A5-4B5A-87DB-77990B716797}"/>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3FADA92F-EE79-4468-AC70-877BFD4260FC}"/>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Flashback appears but catheter will not advance</a:t>
            </a:r>
          </a:p>
        </p:txBody>
      </p:sp>
      <p:sp>
        <p:nvSpPr>
          <p:cNvPr id="25" name="">
            <a:extLst xmlns:a="http://schemas.openxmlformats.org/drawingml/2006/main">
              <a:ext uri="{FF2B5EF4-FFF2-40B4-BE49-F238E27FC236}">
                <a16:creationId xmlns:a16="http://schemas.microsoft.com/office/drawing/2014/main" id="{D2A82FED-2B22-4B62-B5B8-0C744A3E2A16}"/>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AC93284-4BFF-48C6-9500-B2D8CA97CA09}"/>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Only the needle tip may be in the lumen</a:t>
            </a:r>
          </a:p>
        </p:txBody>
      </p:sp>
      <p:sp>
        <p:nvSpPr>
          <p:cNvPr id="27" name="">
            <a:extLst xmlns:a="http://schemas.openxmlformats.org/drawingml/2006/main">
              <a:ext uri="{FF2B5EF4-FFF2-40B4-BE49-F238E27FC236}">
                <a16:creationId xmlns:a16="http://schemas.microsoft.com/office/drawing/2014/main" id="{069A1A41-CCCE-4168-98EA-94F878CB1E2F}"/>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DC156A5C-2E77-4B1D-930F-2ED49403E819}"/>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reinsert the needle into the catheter; remove and restart according to policy</a:t>
            </a:r>
          </a:p>
        </p:txBody>
      </p:sp>
      <p:sp>
        <p:nvSpPr>
          <p:cNvPr id="29" name="">
            <a:extLst xmlns:a="http://schemas.openxmlformats.org/drawingml/2006/main">
              <a:ext uri="{FF2B5EF4-FFF2-40B4-BE49-F238E27FC236}">
                <a16:creationId xmlns:a16="http://schemas.microsoft.com/office/drawing/2014/main" id="{D383579B-4347-48B5-94AD-D3C4DD7F911F}"/>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2322D0D7-B59F-4A75-9F98-03EA367A909F}"/>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Repeated unsuccessful attempts</a:t>
            </a:r>
          </a:p>
        </p:txBody>
      </p:sp>
      <p:sp>
        <p:nvSpPr>
          <p:cNvPr id="31" name="">
            <a:extLst xmlns:a="http://schemas.openxmlformats.org/drawingml/2006/main">
              <a:ext uri="{FF2B5EF4-FFF2-40B4-BE49-F238E27FC236}">
                <a16:creationId xmlns:a16="http://schemas.microsoft.com/office/drawing/2014/main" id="{3BC760EE-9051-4116-A9F6-46DAAC96DA11}"/>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8676F5D9-6702-47CB-A21F-9FC3FB133678}"/>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device, or operator factors</a:t>
            </a:r>
          </a:p>
        </p:txBody>
      </p:sp>
      <p:sp>
        <p:nvSpPr>
          <p:cNvPr id="33" name="">
            <a:extLst xmlns:a="http://schemas.openxmlformats.org/drawingml/2006/main">
              <a:ext uri="{FF2B5EF4-FFF2-40B4-BE49-F238E27FC236}">
                <a16:creationId xmlns:a16="http://schemas.microsoft.com/office/drawing/2014/main" id="{611A5739-468C-4BAD-86E2-C0EF92137856}"/>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8A591452-0897-4927-9D26-7B538D030BE3}"/>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at the facility attempt limit and escalate to a more experienced clinician</a:t>
            </a:r>
          </a:p>
        </p:txBody>
      </p:sp>
    </p:spTree>
    <p:extLst>
      <p:ext uri="{BB962C8B-B14F-4D97-AF65-F5344CB8AC3E}">
        <p14:creationId xmlns:p14="http://schemas.microsoft.com/office/powerpoint/2010/main" val="720301091"/>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16423AE-4566-40A3-9ED5-AC527D7ACA0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6533D5A-F7D1-4AD8-944E-237C954834D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Infusion flow troubleshooting</a:t>
            </a:r>
          </a:p>
        </p:txBody>
      </p:sp>
      <p:sp>
        <p:nvSpPr>
          <p:cNvPr id="3" name="">
            <a:extLst xmlns:a="http://schemas.openxmlformats.org/drawingml/2006/main">
              <a:ext uri="{FF2B5EF4-FFF2-40B4-BE49-F238E27FC236}">
                <a16:creationId xmlns:a16="http://schemas.microsoft.com/office/drawing/2014/main" id="{F373ED54-6753-4C9D-BC48-1DA333129FB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B0BC540-6119-4E1D-A694-5E413876DE5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90606712-79DA-4823-BB20-A9D51AAB6B5F}"/>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437547D0-0BEE-4A37-830A-268782DF3852}"/>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Observation</a:t>
            </a:r>
          </a:p>
        </p:txBody>
      </p:sp>
      <p:sp>
        <p:nvSpPr>
          <p:cNvPr id="7" name="">
            <a:extLst xmlns:a="http://schemas.openxmlformats.org/drawingml/2006/main">
              <a:ext uri="{FF2B5EF4-FFF2-40B4-BE49-F238E27FC236}">
                <a16:creationId xmlns:a16="http://schemas.microsoft.com/office/drawing/2014/main" id="{D2A75B0B-C945-426A-88C7-F93C9CD1EEF1}"/>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77042A0-DCCD-43A8-8597-387617C278CA}"/>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 first</a:t>
            </a:r>
          </a:p>
        </p:txBody>
      </p:sp>
      <p:sp>
        <p:nvSpPr>
          <p:cNvPr id="9" name="">
            <a:extLst xmlns:a="http://schemas.openxmlformats.org/drawingml/2006/main">
              <a:ext uri="{FF2B5EF4-FFF2-40B4-BE49-F238E27FC236}">
                <a16:creationId xmlns:a16="http://schemas.microsoft.com/office/drawing/2014/main" id="{0938AAD8-42BC-48DB-9AD9-372F63131A87}"/>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A64E326-E90B-4711-94A7-3BA00053BEB2}"/>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Safety response</a:t>
            </a:r>
          </a:p>
        </p:txBody>
      </p:sp>
      <p:sp>
        <p:nvSpPr>
          <p:cNvPr id="11" name="">
            <a:extLst xmlns:a="http://schemas.openxmlformats.org/drawingml/2006/main">
              <a:ext uri="{FF2B5EF4-FFF2-40B4-BE49-F238E27FC236}">
                <a16:creationId xmlns:a16="http://schemas.microsoft.com/office/drawing/2014/main" id="{2A880D18-BF8C-4AA4-AD34-768343943529}"/>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AE9ADA0-451A-4FAB-BDF5-4B35A3269093}"/>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Pump occlusion or slowed flow</a:t>
            </a:r>
          </a:p>
        </p:txBody>
      </p:sp>
      <p:sp>
        <p:nvSpPr>
          <p:cNvPr id="13" name="">
            <a:extLst xmlns:a="http://schemas.openxmlformats.org/drawingml/2006/main">
              <a:ext uri="{FF2B5EF4-FFF2-40B4-BE49-F238E27FC236}">
                <a16:creationId xmlns:a16="http://schemas.microsoft.com/office/drawing/2014/main" id="{AF65C3F5-E5F7-4334-9CF4-30F757859E97}"/>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0E3596E-CB20-44C9-88FC-9E5B71BA3033}"/>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Trace the line from patient to container for clamps, kinks, or compression</a:t>
            </a:r>
          </a:p>
        </p:txBody>
      </p:sp>
      <p:sp>
        <p:nvSpPr>
          <p:cNvPr id="15" name="">
            <a:extLst xmlns:a="http://schemas.openxmlformats.org/drawingml/2006/main">
              <a:ext uri="{FF2B5EF4-FFF2-40B4-BE49-F238E27FC236}">
                <a16:creationId xmlns:a16="http://schemas.microsoft.com/office/drawing/2014/main" id="{74A9BDC1-A708-49D7-9E57-90A24515E69C}"/>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F7DB0D3-17A8-4C50-80BE-FBAC74CA8EEB}"/>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Correct an external cause only after assessing the patient and site</a:t>
            </a:r>
          </a:p>
        </p:txBody>
      </p:sp>
      <p:sp>
        <p:nvSpPr>
          <p:cNvPr id="17" name="">
            <a:extLst xmlns:a="http://schemas.openxmlformats.org/drawingml/2006/main">
              <a:ext uri="{FF2B5EF4-FFF2-40B4-BE49-F238E27FC236}">
                <a16:creationId xmlns:a16="http://schemas.microsoft.com/office/drawing/2014/main" id="{6D5D5A7D-A744-4047-BCDA-B65B300AD4B2}"/>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F66984D-F74E-4DB8-8EAD-253249C1C991}"/>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Flow changes with limb position</a:t>
            </a:r>
          </a:p>
        </p:txBody>
      </p:sp>
      <p:sp>
        <p:nvSpPr>
          <p:cNvPr id="19" name="">
            <a:extLst xmlns:a="http://schemas.openxmlformats.org/drawingml/2006/main">
              <a:ext uri="{FF2B5EF4-FFF2-40B4-BE49-F238E27FC236}">
                <a16:creationId xmlns:a16="http://schemas.microsoft.com/office/drawing/2014/main" id="{B496F90C-2EA5-43B7-8D09-CFE1CDD17E55}"/>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1C72BD0-8AC5-4252-8C3F-C564453B8B61}"/>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Catheter tip may contact the vein wall or lie near flexion</a:t>
            </a:r>
          </a:p>
        </p:txBody>
      </p:sp>
      <p:sp>
        <p:nvSpPr>
          <p:cNvPr id="21" name="">
            <a:extLst xmlns:a="http://schemas.openxmlformats.org/drawingml/2006/main">
              <a:ext uri="{FF2B5EF4-FFF2-40B4-BE49-F238E27FC236}">
                <a16:creationId xmlns:a16="http://schemas.microsoft.com/office/drawing/2014/main" id="{9AB276B9-7737-4AA2-BCEF-B674E3522B5F}"/>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D8953F41-906F-4666-9922-AEC6D2F793BF}"/>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Reposition and reassess; do not manipulate a contaminated catheter</a:t>
            </a:r>
          </a:p>
        </p:txBody>
      </p:sp>
      <p:sp>
        <p:nvSpPr>
          <p:cNvPr id="23" name="">
            <a:extLst xmlns:a="http://schemas.openxmlformats.org/drawingml/2006/main">
              <a:ext uri="{FF2B5EF4-FFF2-40B4-BE49-F238E27FC236}">
                <a16:creationId xmlns:a16="http://schemas.microsoft.com/office/drawing/2014/main" id="{FA530943-8DEE-4441-9CF9-A0740E6F07DD}"/>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031875A-6E01-4456-96A9-D3BC8F7F51F4}"/>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Blood backs into tubing</a:t>
            </a:r>
          </a:p>
        </p:txBody>
      </p:sp>
      <p:sp>
        <p:nvSpPr>
          <p:cNvPr id="25" name="">
            <a:extLst xmlns:a="http://schemas.openxmlformats.org/drawingml/2006/main">
              <a:ext uri="{FF2B5EF4-FFF2-40B4-BE49-F238E27FC236}">
                <a16:creationId xmlns:a16="http://schemas.microsoft.com/office/drawing/2014/main" id="{1FA785DB-FC0F-47AD-A013-0F4AF99C880D}"/>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3AF9451-3019-46FE-9F11-1E9FB5186DDC}"/>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Bag height, empty container, clamp position, or interruption</a:t>
            </a:r>
          </a:p>
        </p:txBody>
      </p:sp>
      <p:sp>
        <p:nvSpPr>
          <p:cNvPr id="27" name="">
            <a:extLst xmlns:a="http://schemas.openxmlformats.org/drawingml/2006/main">
              <a:ext uri="{FF2B5EF4-FFF2-40B4-BE49-F238E27FC236}">
                <a16:creationId xmlns:a16="http://schemas.microsoft.com/office/drawing/2014/main" id="{B4227C5F-ECE7-43B3-BB0C-0833A938C13E}"/>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755B22F-6B5F-4A13-964E-9A30FB6C1EC1}"/>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Protect against air and clot risk; restore flow only under order and policy</a:t>
            </a:r>
          </a:p>
        </p:txBody>
      </p:sp>
      <p:sp>
        <p:nvSpPr>
          <p:cNvPr id="29" name="">
            <a:extLst xmlns:a="http://schemas.openxmlformats.org/drawingml/2006/main">
              <a:ext uri="{FF2B5EF4-FFF2-40B4-BE49-F238E27FC236}">
                <a16:creationId xmlns:a16="http://schemas.microsoft.com/office/drawing/2014/main" id="{707FA9FB-89DF-40EA-80C8-92D2E88D8C52}"/>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B17C73BC-4AF3-415C-88EE-B4815073F8AF}"/>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Resistance during flushing</a:t>
            </a:r>
          </a:p>
        </p:txBody>
      </p:sp>
      <p:sp>
        <p:nvSpPr>
          <p:cNvPr id="31" name="">
            <a:extLst xmlns:a="http://schemas.openxmlformats.org/drawingml/2006/main">
              <a:ext uri="{FF2B5EF4-FFF2-40B4-BE49-F238E27FC236}">
                <a16:creationId xmlns:a16="http://schemas.microsoft.com/office/drawing/2014/main" id="{4D51BC7D-BC69-4E85-8A5E-0CFD11BCCE18}"/>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BE593DBB-2A98-4BD5-97E0-578A3B1498B9}"/>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Mechanical obstruction, malposition, or complication</a:t>
            </a:r>
          </a:p>
        </p:txBody>
      </p:sp>
      <p:sp>
        <p:nvSpPr>
          <p:cNvPr id="33" name="">
            <a:extLst xmlns:a="http://schemas.openxmlformats.org/drawingml/2006/main">
              <a:ext uri="{FF2B5EF4-FFF2-40B4-BE49-F238E27FC236}">
                <a16:creationId xmlns:a16="http://schemas.microsoft.com/office/drawing/2014/main" id="{6AD52AE4-4941-4F5D-832F-3A0F76F1E417}"/>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9456209A-2AB3-480C-BEE6-576FC6BDAAD7}"/>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Never force the flush; stop use and escalate</a:t>
            </a:r>
          </a:p>
        </p:txBody>
      </p:sp>
    </p:spTree>
    <p:extLst>
      <p:ext uri="{BB962C8B-B14F-4D97-AF65-F5344CB8AC3E}">
        <p14:creationId xmlns:p14="http://schemas.microsoft.com/office/powerpoint/2010/main" val="524060168"/>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EC05491-A0DA-45DF-8EA0-8EFED120A0C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ED719A8-5DC2-4FB7-94C3-6700386B564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Local complication comparison</a:t>
            </a:r>
          </a:p>
        </p:txBody>
      </p:sp>
      <p:sp>
        <p:nvSpPr>
          <p:cNvPr id="3" name="">
            <a:extLst xmlns:a="http://schemas.openxmlformats.org/drawingml/2006/main">
              <a:ext uri="{FF2B5EF4-FFF2-40B4-BE49-F238E27FC236}">
                <a16:creationId xmlns:a16="http://schemas.microsoft.com/office/drawing/2014/main" id="{E9343598-2FC4-4286-B72D-C47302F87F5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D6CF0DB-D0EC-4906-916F-2D4F5CA4FC1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533B4DF3-B69C-484D-A0C7-56F90D435DAE}"/>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3A8ED975-FE31-48FF-A561-CC67F7292D2F}"/>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Finding</a:t>
            </a:r>
          </a:p>
        </p:txBody>
      </p:sp>
      <p:sp>
        <p:nvSpPr>
          <p:cNvPr id="7" name="">
            <a:extLst xmlns:a="http://schemas.openxmlformats.org/drawingml/2006/main">
              <a:ext uri="{FF2B5EF4-FFF2-40B4-BE49-F238E27FC236}">
                <a16:creationId xmlns:a16="http://schemas.microsoft.com/office/drawing/2014/main" id="{6DB5EC33-31DF-4B7B-A989-3720B87DB46B}"/>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B98B8A1-6DB8-4298-8681-3076AE4E2369}"/>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Likely concern</a:t>
            </a:r>
          </a:p>
        </p:txBody>
      </p:sp>
      <p:sp>
        <p:nvSpPr>
          <p:cNvPr id="9" name="">
            <a:extLst xmlns:a="http://schemas.openxmlformats.org/drawingml/2006/main">
              <a:ext uri="{FF2B5EF4-FFF2-40B4-BE49-F238E27FC236}">
                <a16:creationId xmlns:a16="http://schemas.microsoft.com/office/drawing/2014/main" id="{B947C79E-82C7-493E-BB47-73E4D7AAF1CD}"/>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2DF98A8-F443-4035-AF7A-F3655091DE50}"/>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priority</a:t>
            </a:r>
          </a:p>
        </p:txBody>
      </p:sp>
      <p:sp>
        <p:nvSpPr>
          <p:cNvPr id="11" name="">
            <a:extLst xmlns:a="http://schemas.openxmlformats.org/drawingml/2006/main">
              <a:ext uri="{FF2B5EF4-FFF2-40B4-BE49-F238E27FC236}">
                <a16:creationId xmlns:a16="http://schemas.microsoft.com/office/drawing/2014/main" id="{229DEFFE-637C-4324-8206-E660F7FE6A5F}"/>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F9A127E-ABD8-4A64-988C-60E460D6E4D0}"/>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Cool, pale swelling; slowed infusion</a:t>
            </a:r>
          </a:p>
        </p:txBody>
      </p:sp>
      <p:sp>
        <p:nvSpPr>
          <p:cNvPr id="13" name="">
            <a:extLst xmlns:a="http://schemas.openxmlformats.org/drawingml/2006/main">
              <a:ext uri="{FF2B5EF4-FFF2-40B4-BE49-F238E27FC236}">
                <a16:creationId xmlns:a16="http://schemas.microsoft.com/office/drawing/2014/main" id="{20FE6E03-EBA6-455D-9269-A0F48F5732A7}"/>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D7C0F4F-DEC9-4BAF-A007-522FA0EC674C}"/>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Infiltration</a:t>
            </a:r>
          </a:p>
        </p:txBody>
      </p:sp>
      <p:sp>
        <p:nvSpPr>
          <p:cNvPr id="15" name="">
            <a:extLst xmlns:a="http://schemas.openxmlformats.org/drawingml/2006/main">
              <a:ext uri="{FF2B5EF4-FFF2-40B4-BE49-F238E27FC236}">
                <a16:creationId xmlns:a16="http://schemas.microsoft.com/office/drawing/2014/main" id="{A98FDC8F-35A5-416D-9A43-AA4ABCD5EF92}"/>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39C16FE-BC8B-492B-BA68-E2094EB4C60A}"/>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and follow infiltration protocol</a:t>
            </a:r>
          </a:p>
        </p:txBody>
      </p:sp>
      <p:sp>
        <p:nvSpPr>
          <p:cNvPr id="17" name="">
            <a:extLst xmlns:a="http://schemas.openxmlformats.org/drawingml/2006/main">
              <a:ext uri="{FF2B5EF4-FFF2-40B4-BE49-F238E27FC236}">
                <a16:creationId xmlns:a16="http://schemas.microsoft.com/office/drawing/2014/main" id="{6BEA3ADB-ED99-4EF5-8F2C-2AB767CE37D5}"/>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E6BFBAD-FF72-402D-8951-78733518A4A6}"/>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Pain, warmth, redness, venous cord</a:t>
            </a:r>
          </a:p>
        </p:txBody>
      </p:sp>
      <p:sp>
        <p:nvSpPr>
          <p:cNvPr id="19" name="">
            <a:extLst xmlns:a="http://schemas.openxmlformats.org/drawingml/2006/main">
              <a:ext uri="{FF2B5EF4-FFF2-40B4-BE49-F238E27FC236}">
                <a16:creationId xmlns:a16="http://schemas.microsoft.com/office/drawing/2014/main" id="{E59CA6FA-BE6B-4E9E-B469-B1D8FB6A9CFD}"/>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0AA32A1F-31C7-4AA5-9E3A-39FFEBEB9916}"/>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a:t>
            </a:r>
          </a:p>
        </p:txBody>
      </p:sp>
      <p:sp>
        <p:nvSpPr>
          <p:cNvPr id="21" name="">
            <a:extLst xmlns:a="http://schemas.openxmlformats.org/drawingml/2006/main">
              <a:ext uri="{FF2B5EF4-FFF2-40B4-BE49-F238E27FC236}">
                <a16:creationId xmlns:a16="http://schemas.microsoft.com/office/drawing/2014/main" id="{7521CEDC-E3CF-4D7B-869B-13DDBD867B34}"/>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2B4931D-E95C-47DF-A19A-8E7D2C2C7421}"/>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remove as indicated, assess and report</a:t>
            </a:r>
          </a:p>
        </p:txBody>
      </p:sp>
      <p:sp>
        <p:nvSpPr>
          <p:cNvPr id="23" name="">
            <a:extLst xmlns:a="http://schemas.openxmlformats.org/drawingml/2006/main">
              <a:ext uri="{FF2B5EF4-FFF2-40B4-BE49-F238E27FC236}">
                <a16:creationId xmlns:a16="http://schemas.microsoft.com/office/drawing/2014/main" id="{B1F2484B-A33D-4AB7-B2A6-7763F95CAEA2}"/>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23A10FC-10E4-4542-B4C5-3E3E4294F0BA}"/>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Burning, blistering, tissue injury with vesicant</a:t>
            </a:r>
          </a:p>
        </p:txBody>
      </p:sp>
      <p:sp>
        <p:nvSpPr>
          <p:cNvPr id="25" name="">
            <a:extLst xmlns:a="http://schemas.openxmlformats.org/drawingml/2006/main">
              <a:ext uri="{FF2B5EF4-FFF2-40B4-BE49-F238E27FC236}">
                <a16:creationId xmlns:a16="http://schemas.microsoft.com/office/drawing/2014/main" id="{24752169-F122-4ED8-806C-080C7AB62E11}"/>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A43EA03A-9326-496A-BF2D-E824DC7F2349}"/>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Extravasation</a:t>
            </a:r>
          </a:p>
        </p:txBody>
      </p:sp>
      <p:sp>
        <p:nvSpPr>
          <p:cNvPr id="27" name="">
            <a:extLst xmlns:a="http://schemas.openxmlformats.org/drawingml/2006/main">
              <a:ext uri="{FF2B5EF4-FFF2-40B4-BE49-F238E27FC236}">
                <a16:creationId xmlns:a16="http://schemas.microsoft.com/office/drawing/2014/main" id="{98D608C9-DD8E-4E0F-A40A-06B4843D3A76}"/>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360C309-BD4D-4C01-951E-83675EC0490B}"/>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do not flush; follow agent-specific protocol</a:t>
            </a:r>
          </a:p>
        </p:txBody>
      </p:sp>
      <p:sp>
        <p:nvSpPr>
          <p:cNvPr id="29" name="">
            <a:extLst xmlns:a="http://schemas.openxmlformats.org/drawingml/2006/main">
              <a:ext uri="{FF2B5EF4-FFF2-40B4-BE49-F238E27FC236}">
                <a16:creationId xmlns:a16="http://schemas.microsoft.com/office/drawing/2014/main" id="{17BFCB42-1057-44F1-8A4A-A309424F87B2}"/>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C8746644-99D8-4CC7-9DC8-3611F6C2A90C}"/>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Drainage, tenderness, fever</a:t>
            </a:r>
          </a:p>
        </p:txBody>
      </p:sp>
      <p:sp>
        <p:nvSpPr>
          <p:cNvPr id="31" name="">
            <a:extLst xmlns:a="http://schemas.openxmlformats.org/drawingml/2006/main">
              <a:ext uri="{FF2B5EF4-FFF2-40B4-BE49-F238E27FC236}">
                <a16:creationId xmlns:a16="http://schemas.microsoft.com/office/drawing/2014/main" id="{4D8DB9B4-2E67-4B6E-8E0D-BD13A5ED8F9A}"/>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97D9E0FD-19B2-44E0-957F-0542A8A0C70D}"/>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Local or bloodstream infection</a:t>
            </a:r>
          </a:p>
        </p:txBody>
      </p:sp>
      <p:sp>
        <p:nvSpPr>
          <p:cNvPr id="33" name="">
            <a:extLst xmlns:a="http://schemas.openxmlformats.org/drawingml/2006/main">
              <a:ext uri="{FF2B5EF4-FFF2-40B4-BE49-F238E27FC236}">
                <a16:creationId xmlns:a16="http://schemas.microsoft.com/office/drawing/2014/main" id="{FFE58DEF-78F4-417D-AA42-32FEB95A255B}"/>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C12B987A-ED3B-403E-A287-AAEDBD3A4137}"/>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use, assess, notify, and follow culture/removal policy</a:t>
            </a:r>
          </a:p>
        </p:txBody>
      </p:sp>
    </p:spTree>
    <p:extLst>
      <p:ext uri="{BB962C8B-B14F-4D97-AF65-F5344CB8AC3E}">
        <p14:creationId xmlns:p14="http://schemas.microsoft.com/office/powerpoint/2010/main" val="1334400244"/>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0399E96F-1255-4580-AA7F-26E8B65DFA4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E5C6E29-7F6A-47BB-91DB-6E264659F17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IV complications</a:t>
            </a:r>
          </a:p>
        </p:txBody>
      </p:sp>
      <p:sp>
        <p:nvSpPr>
          <p:cNvPr id="3" name="">
            <a:extLst xmlns:a="http://schemas.openxmlformats.org/drawingml/2006/main">
              <a:ext uri="{FF2B5EF4-FFF2-40B4-BE49-F238E27FC236}">
                <a16:creationId xmlns:a16="http://schemas.microsoft.com/office/drawing/2014/main" id="{07AA4D80-4705-47AA-9688-394A737CE66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544EF6A-E300-4F5F-82D1-7FD4E4FC04F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D94FCD19-B8F7-462E-94CA-34EE34F7DD1D}"/>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7859EC3F-C3CC-4DB7-971F-F1E5A13E6571}"/>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Complication</a:t>
            </a:r>
          </a:p>
        </p:txBody>
      </p:sp>
      <p:sp>
        <p:nvSpPr>
          <p:cNvPr id="7" name="">
            <a:extLst xmlns:a="http://schemas.openxmlformats.org/drawingml/2006/main">
              <a:ext uri="{FF2B5EF4-FFF2-40B4-BE49-F238E27FC236}">
                <a16:creationId xmlns:a16="http://schemas.microsoft.com/office/drawing/2014/main" id="{C49F5AF9-FC3A-47A3-8E16-5878CE8E42EA}"/>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2C5FE99A-F56C-4E42-BE19-AC69DB63573E}"/>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findings</a:t>
            </a:r>
          </a:p>
        </p:txBody>
      </p:sp>
      <p:sp>
        <p:nvSpPr>
          <p:cNvPr id="9" name="">
            <a:extLst xmlns:a="http://schemas.openxmlformats.org/drawingml/2006/main">
              <a:ext uri="{FF2B5EF4-FFF2-40B4-BE49-F238E27FC236}">
                <a16:creationId xmlns:a16="http://schemas.microsoft.com/office/drawing/2014/main" id="{329491D4-23F5-460C-B44A-ACB2A2BD5003}"/>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A0780EE-7EDE-41F2-AA48-1F49CF8B68C9}"/>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priority</a:t>
            </a:r>
          </a:p>
        </p:txBody>
      </p:sp>
      <p:sp>
        <p:nvSpPr>
          <p:cNvPr id="11" name="">
            <a:extLst xmlns:a="http://schemas.openxmlformats.org/drawingml/2006/main">
              <a:ext uri="{FF2B5EF4-FFF2-40B4-BE49-F238E27FC236}">
                <a16:creationId xmlns:a16="http://schemas.microsoft.com/office/drawing/2014/main" id="{9056F77E-0380-4681-B505-24706271D0C6}"/>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98DA878-9CA1-47D9-B230-A3C12E21FEEE}"/>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overload</a:t>
            </a:r>
          </a:p>
        </p:txBody>
      </p:sp>
      <p:sp>
        <p:nvSpPr>
          <p:cNvPr id="13" name="">
            <a:extLst xmlns:a="http://schemas.openxmlformats.org/drawingml/2006/main">
              <a:ext uri="{FF2B5EF4-FFF2-40B4-BE49-F238E27FC236}">
                <a16:creationId xmlns:a16="http://schemas.microsoft.com/office/drawing/2014/main" id="{89C9D870-FAAB-4377-9177-EC6E7A54041F}"/>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BC799AB-494D-4643-94A0-922E3C9FBE28}"/>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Dyspnea, crackles, edema, hypertension, oxygen decline</a:t>
            </a:r>
          </a:p>
        </p:txBody>
      </p:sp>
      <p:sp>
        <p:nvSpPr>
          <p:cNvPr id="15" name="">
            <a:extLst xmlns:a="http://schemas.openxmlformats.org/drawingml/2006/main">
              <a:ext uri="{FF2B5EF4-FFF2-40B4-BE49-F238E27FC236}">
                <a16:creationId xmlns:a16="http://schemas.microsoft.com/office/drawing/2014/main" id="{363375EA-0092-4AF9-A35D-AEAF02DC2D2E}"/>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163DC07-69B6-483E-B5BD-B1663F4EDAA1}"/>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Slow or stop as authorized, position and support breathing, notify promptly</a:t>
            </a:r>
          </a:p>
        </p:txBody>
      </p:sp>
      <p:sp>
        <p:nvSpPr>
          <p:cNvPr id="17" name="">
            <a:extLst xmlns:a="http://schemas.openxmlformats.org/drawingml/2006/main">
              <a:ext uri="{FF2B5EF4-FFF2-40B4-BE49-F238E27FC236}">
                <a16:creationId xmlns:a16="http://schemas.microsoft.com/office/drawing/2014/main" id="{7349EA69-99C1-4382-B0A6-3EF9CA4125FE}"/>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25E1FE8-3B5F-412F-B5CC-05B995EE136C}"/>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Speed shock or medication reaction</a:t>
            </a:r>
          </a:p>
        </p:txBody>
      </p:sp>
      <p:sp>
        <p:nvSpPr>
          <p:cNvPr id="19" name="">
            <a:extLst xmlns:a="http://schemas.openxmlformats.org/drawingml/2006/main">
              <a:ext uri="{FF2B5EF4-FFF2-40B4-BE49-F238E27FC236}">
                <a16:creationId xmlns:a16="http://schemas.microsoft.com/office/drawing/2014/main" id="{43778C33-2D72-4183-8926-9C3ABDAE1EA9}"/>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0D53F8D4-7EB0-40E9-9BBE-D869191AACB4}"/>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Flushing, headache, chest tightness, hypotension, rapid change after administration</a:t>
            </a:r>
          </a:p>
        </p:txBody>
      </p:sp>
      <p:sp>
        <p:nvSpPr>
          <p:cNvPr id="21" name="">
            <a:extLst xmlns:a="http://schemas.openxmlformats.org/drawingml/2006/main">
              <a:ext uri="{FF2B5EF4-FFF2-40B4-BE49-F238E27FC236}">
                <a16:creationId xmlns:a16="http://schemas.microsoft.com/office/drawing/2014/main" id="{100BB4D4-0DBA-4226-86E7-DC9BEF00186E}"/>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1610ACD-39C2-4931-ABF6-4C482B79A651}"/>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medication, assess ABCs, activate emergency response</a:t>
            </a:r>
          </a:p>
        </p:txBody>
      </p:sp>
      <p:sp>
        <p:nvSpPr>
          <p:cNvPr id="23" name="">
            <a:extLst xmlns:a="http://schemas.openxmlformats.org/drawingml/2006/main">
              <a:ext uri="{FF2B5EF4-FFF2-40B4-BE49-F238E27FC236}">
                <a16:creationId xmlns:a16="http://schemas.microsoft.com/office/drawing/2014/main" id="{A8877EF4-9710-43BF-B512-FD07C8D03DFF}"/>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CF5CAAA-540B-4B72-8EEA-1F9AB157BAC9}"/>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Air embolism</a:t>
            </a:r>
          </a:p>
        </p:txBody>
      </p:sp>
      <p:sp>
        <p:nvSpPr>
          <p:cNvPr id="25" name="">
            <a:extLst xmlns:a="http://schemas.openxmlformats.org/drawingml/2006/main">
              <a:ext uri="{FF2B5EF4-FFF2-40B4-BE49-F238E27FC236}">
                <a16:creationId xmlns:a16="http://schemas.microsoft.com/office/drawing/2014/main" id="{9CF57B9C-AF7A-4243-9FF0-06313CB7467F}"/>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891B5BCF-11C6-4A2A-A9B7-AC7972F3B91C}"/>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Sudden dyspnea, chest pain, confusion, hypotension</a:t>
            </a:r>
          </a:p>
        </p:txBody>
      </p:sp>
      <p:sp>
        <p:nvSpPr>
          <p:cNvPr id="27" name="">
            <a:extLst xmlns:a="http://schemas.openxmlformats.org/drawingml/2006/main">
              <a:ext uri="{FF2B5EF4-FFF2-40B4-BE49-F238E27FC236}">
                <a16:creationId xmlns:a16="http://schemas.microsoft.com/office/drawing/2014/main" id="{15D8C264-1B26-4F27-AE41-91CD1A1864DF}"/>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FE3787D3-487D-4A6D-8D63-E4EBC204A346}"/>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Clamp or protect the system, call emergency response, support ABCs</a:t>
            </a:r>
          </a:p>
        </p:txBody>
      </p:sp>
      <p:sp>
        <p:nvSpPr>
          <p:cNvPr id="29" name="">
            <a:extLst xmlns:a="http://schemas.openxmlformats.org/drawingml/2006/main">
              <a:ext uri="{FF2B5EF4-FFF2-40B4-BE49-F238E27FC236}">
                <a16:creationId xmlns:a16="http://schemas.microsoft.com/office/drawing/2014/main" id="{31E0AAA2-0159-4876-BC62-C0767C76925D}"/>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C0FFE50D-9244-4A9B-B683-9BF94970C82C}"/>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Catheter-related bloodstream infection</a:t>
            </a:r>
          </a:p>
        </p:txBody>
      </p:sp>
      <p:sp>
        <p:nvSpPr>
          <p:cNvPr id="31" name="">
            <a:extLst xmlns:a="http://schemas.openxmlformats.org/drawingml/2006/main">
              <a:ext uri="{FF2B5EF4-FFF2-40B4-BE49-F238E27FC236}">
                <a16:creationId xmlns:a16="http://schemas.microsoft.com/office/drawing/2014/main" id="{0790E057-5670-4E82-9E53-C763A246109C}"/>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60C76ABD-9D93-46DA-B60B-7D754ED06515}"/>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chills, hypotension, altered status</a:t>
            </a:r>
          </a:p>
        </p:txBody>
      </p:sp>
      <p:sp>
        <p:nvSpPr>
          <p:cNvPr id="33" name="">
            <a:extLst xmlns:a="http://schemas.openxmlformats.org/drawingml/2006/main">
              <a:ext uri="{FF2B5EF4-FFF2-40B4-BE49-F238E27FC236}">
                <a16:creationId xmlns:a16="http://schemas.microsoft.com/office/drawing/2014/main" id="{917E0288-F71B-4462-8B70-7EC8CDD58023}"/>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D503D384-9FE6-4C24-90C8-97710DFD7C5F}"/>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use, assess, notify, and follow culture and sepsis pathway</a:t>
            </a:r>
          </a:p>
        </p:txBody>
      </p:sp>
    </p:spTree>
    <p:extLst>
      <p:ext uri="{BB962C8B-B14F-4D97-AF65-F5344CB8AC3E}">
        <p14:creationId xmlns:p14="http://schemas.microsoft.com/office/powerpoint/2010/main" val="833193921"/>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784929-E2A6-41CC-AAAD-376C13DFB26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63DD934-3CF8-4E02-B761-F9499D05A02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Infiltration severity and response</a:t>
            </a:r>
          </a:p>
        </p:txBody>
      </p:sp>
      <p:sp>
        <p:nvSpPr>
          <p:cNvPr id="3" name="">
            <a:extLst xmlns:a="http://schemas.openxmlformats.org/drawingml/2006/main">
              <a:ext uri="{FF2B5EF4-FFF2-40B4-BE49-F238E27FC236}">
                <a16:creationId xmlns:a16="http://schemas.microsoft.com/office/drawing/2014/main" id="{AAF1EF36-3676-484F-BCBF-BDC3B408443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7699C47-49D8-4E8F-AC68-D5B97BFED64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09474E05-35E4-49E9-A8A5-F6A783B73C6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pain, temperature, color, capillary refill, swelling, skin integrity, sensation, and the estimated area involved.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infusion and disconnect tubing. Follow the solution-specific policy before removing the catheter because aspiration or an antidote may be required for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Elevate or apply a compress only when the specific protocol directs it.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 findings, estimated severity, solution and volume, actions, notifications, patient response, and follow-up plan.</a:t>
            </a:r>
          </a:p>
        </p:txBody>
      </p:sp>
      <p:sp>
        <p:nvSpPr>
          <p:cNvPr id="6" name="">
            <a:extLst xmlns:a="http://schemas.openxmlformats.org/drawingml/2006/main">
              <a:ext uri="{FF2B5EF4-FFF2-40B4-BE49-F238E27FC236}">
                <a16:creationId xmlns:a16="http://schemas.microsoft.com/office/drawing/2014/main" id="{0DCA359E-101E-462C-984C-99138DF5A50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08666679"/>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43FCE90-8B13-4E25-B913-F7A75A44B19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616EF99-F044-4401-BDE0-6FE269BFFB8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Phlebitis causes and prevention</a:t>
            </a:r>
          </a:p>
        </p:txBody>
      </p:sp>
      <p:sp>
        <p:nvSpPr>
          <p:cNvPr id="3" name="">
            <a:extLst xmlns:a="http://schemas.openxmlformats.org/drawingml/2006/main">
              <a:ext uri="{FF2B5EF4-FFF2-40B4-BE49-F238E27FC236}">
                <a16:creationId xmlns:a16="http://schemas.microsoft.com/office/drawing/2014/main" id="{7E882300-49AA-44C6-BFF0-24D38F97876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8C93299-CCAB-4630-ACA0-62C95FD1EDF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08CDB9C9-B7B7-4ED7-A274-4AEEDA4469D8}"/>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96200623-C35A-4678-8AA4-08C5A86A5239}"/>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Cause</a:t>
            </a:r>
          </a:p>
        </p:txBody>
      </p:sp>
      <p:sp>
        <p:nvSpPr>
          <p:cNvPr id="7" name="">
            <a:extLst xmlns:a="http://schemas.openxmlformats.org/drawingml/2006/main">
              <a:ext uri="{FF2B5EF4-FFF2-40B4-BE49-F238E27FC236}">
                <a16:creationId xmlns:a16="http://schemas.microsoft.com/office/drawing/2014/main" id="{0528A13C-9507-438D-80E8-93478F82E701}"/>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23F5349-207B-4DD8-ADCF-9FDAD6C01F29}"/>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Example</a:t>
            </a:r>
          </a:p>
        </p:txBody>
      </p:sp>
      <p:sp>
        <p:nvSpPr>
          <p:cNvPr id="9" name="">
            <a:extLst xmlns:a="http://schemas.openxmlformats.org/drawingml/2006/main">
              <a:ext uri="{FF2B5EF4-FFF2-40B4-BE49-F238E27FC236}">
                <a16:creationId xmlns:a16="http://schemas.microsoft.com/office/drawing/2014/main" id="{5B53571D-00C8-4FE1-ACB1-2916B7C286CB}"/>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B89DCEA-C019-43C1-A8DC-476EC6C50B73}"/>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Prevention</a:t>
            </a:r>
          </a:p>
        </p:txBody>
      </p:sp>
      <p:sp>
        <p:nvSpPr>
          <p:cNvPr id="11" name="">
            <a:extLst xmlns:a="http://schemas.openxmlformats.org/drawingml/2006/main">
              <a:ext uri="{FF2B5EF4-FFF2-40B4-BE49-F238E27FC236}">
                <a16:creationId xmlns:a16="http://schemas.microsoft.com/office/drawing/2014/main" id="{2196CD5C-176C-40B1-BCC1-95A97E50622E}"/>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4672B184-C4A9-4181-96FB-813F0C115412}"/>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Mechanical</a:t>
            </a:r>
          </a:p>
        </p:txBody>
      </p:sp>
      <p:sp>
        <p:nvSpPr>
          <p:cNvPr id="13" name="">
            <a:extLst xmlns:a="http://schemas.openxmlformats.org/drawingml/2006/main">
              <a:ext uri="{FF2B5EF4-FFF2-40B4-BE49-F238E27FC236}">
                <a16:creationId xmlns:a16="http://schemas.microsoft.com/office/drawing/2014/main" id="{C12C1E6F-C0BC-4FCA-B54F-C9536B051326}"/>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C61FA0B-BD1C-4A18-825D-ADBD1447AC49}"/>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Large catheter, flexion, movement, poor securement</a:t>
            </a:r>
          </a:p>
        </p:txBody>
      </p:sp>
      <p:sp>
        <p:nvSpPr>
          <p:cNvPr id="15" name="">
            <a:extLst xmlns:a="http://schemas.openxmlformats.org/drawingml/2006/main">
              <a:ext uri="{FF2B5EF4-FFF2-40B4-BE49-F238E27FC236}">
                <a16:creationId xmlns:a16="http://schemas.microsoft.com/office/drawing/2014/main" id="{460BF58F-276A-4F4B-A1F2-61A52B58C060}"/>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CBA63CE4-BBE5-42AD-A490-64EF78033B7E}"/>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Smallest suitable catheter, stable site, effective securement</a:t>
            </a:r>
          </a:p>
        </p:txBody>
      </p:sp>
      <p:sp>
        <p:nvSpPr>
          <p:cNvPr id="17" name="">
            <a:extLst xmlns:a="http://schemas.openxmlformats.org/drawingml/2006/main">
              <a:ext uri="{FF2B5EF4-FFF2-40B4-BE49-F238E27FC236}">
                <a16:creationId xmlns:a16="http://schemas.microsoft.com/office/drawing/2014/main" id="{9926CA9E-E5D6-486F-B049-2EF773F60786}"/>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E84D696-0166-4405-88F9-996DDC00B13F}"/>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Chemical</a:t>
            </a:r>
          </a:p>
        </p:txBody>
      </p:sp>
      <p:sp>
        <p:nvSpPr>
          <p:cNvPr id="19" name="">
            <a:extLst xmlns:a="http://schemas.openxmlformats.org/drawingml/2006/main">
              <a:ext uri="{FF2B5EF4-FFF2-40B4-BE49-F238E27FC236}">
                <a16:creationId xmlns:a16="http://schemas.microsoft.com/office/drawing/2014/main" id="{FF8EF20F-BD2F-48F9-9A5E-34824E3D6C25}"/>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1D9B311-0F99-4563-BA24-E163F4DB08AC}"/>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Extreme pH or osmolarity, irritating medication</a:t>
            </a:r>
          </a:p>
        </p:txBody>
      </p:sp>
      <p:sp>
        <p:nvSpPr>
          <p:cNvPr id="21" name="">
            <a:extLst xmlns:a="http://schemas.openxmlformats.org/drawingml/2006/main">
              <a:ext uri="{FF2B5EF4-FFF2-40B4-BE49-F238E27FC236}">
                <a16:creationId xmlns:a16="http://schemas.microsoft.com/office/drawing/2014/main" id="{AE9D21E1-F946-4D27-8CDD-3D1913FF10E7}"/>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50468F7-826F-4BDE-9A39-E5F185BEA05A}"/>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Correct dilution, rate, access device, and compatibility</a:t>
            </a:r>
          </a:p>
        </p:txBody>
      </p:sp>
      <p:sp>
        <p:nvSpPr>
          <p:cNvPr id="23" name="">
            <a:extLst xmlns:a="http://schemas.openxmlformats.org/drawingml/2006/main">
              <a:ext uri="{FF2B5EF4-FFF2-40B4-BE49-F238E27FC236}">
                <a16:creationId xmlns:a16="http://schemas.microsoft.com/office/drawing/2014/main" id="{A99FF69F-FB90-439F-956C-D3EEBF31FEB2}"/>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89439D43-3500-45CC-B60F-27D7E713CE78}"/>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Bacterial</a:t>
            </a:r>
          </a:p>
        </p:txBody>
      </p:sp>
      <p:sp>
        <p:nvSpPr>
          <p:cNvPr id="25" name="">
            <a:extLst xmlns:a="http://schemas.openxmlformats.org/drawingml/2006/main">
              <a:ext uri="{FF2B5EF4-FFF2-40B4-BE49-F238E27FC236}">
                <a16:creationId xmlns:a16="http://schemas.microsoft.com/office/drawing/2014/main" id="{EC70A712-EEA5-45AD-A0A8-2C277B6F6C86}"/>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84D0BAA-48D0-4FD7-924A-272F284442E0}"/>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Contamination of site, hub, or connection</a:t>
            </a:r>
          </a:p>
        </p:txBody>
      </p:sp>
      <p:sp>
        <p:nvSpPr>
          <p:cNvPr id="27" name="">
            <a:extLst xmlns:a="http://schemas.openxmlformats.org/drawingml/2006/main">
              <a:ext uri="{FF2B5EF4-FFF2-40B4-BE49-F238E27FC236}">
                <a16:creationId xmlns:a16="http://schemas.microsoft.com/office/drawing/2014/main" id="{637C2AE7-FFCC-42D1-BAE2-2EB6DF726377}"/>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7903B966-699A-4FC2-925D-2192115AAEA6}"/>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Hand hygiene, antisepsis, connector disinfection, closed system</a:t>
            </a:r>
          </a:p>
        </p:txBody>
      </p:sp>
      <p:sp>
        <p:nvSpPr>
          <p:cNvPr id="29" name="">
            <a:extLst xmlns:a="http://schemas.openxmlformats.org/drawingml/2006/main">
              <a:ext uri="{FF2B5EF4-FFF2-40B4-BE49-F238E27FC236}">
                <a16:creationId xmlns:a16="http://schemas.microsoft.com/office/drawing/2014/main" id="{561228E9-EB4A-4ABF-8CAE-DFFB68AF5181}"/>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FD7CE8D1-32C2-42EC-89EC-6D8770E80957}"/>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Patient-related</a:t>
            </a:r>
          </a:p>
        </p:txBody>
      </p:sp>
      <p:sp>
        <p:nvSpPr>
          <p:cNvPr id="31" name="">
            <a:extLst xmlns:a="http://schemas.openxmlformats.org/drawingml/2006/main">
              <a:ext uri="{FF2B5EF4-FFF2-40B4-BE49-F238E27FC236}">
                <a16:creationId xmlns:a16="http://schemas.microsoft.com/office/drawing/2014/main" id="{9C5745B8-42B5-4AF0-A8D7-D03886C27990}"/>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76BDA3C7-8DEC-4CD9-B99C-EE97BFB06987}"/>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Fragile veins, inflammation, hypercoagulability</a:t>
            </a:r>
          </a:p>
        </p:txBody>
      </p:sp>
      <p:sp>
        <p:nvSpPr>
          <p:cNvPr id="33" name="">
            <a:extLst xmlns:a="http://schemas.openxmlformats.org/drawingml/2006/main">
              <a:ext uri="{FF2B5EF4-FFF2-40B4-BE49-F238E27FC236}">
                <a16:creationId xmlns:a16="http://schemas.microsoft.com/office/drawing/2014/main" id="{D3CCE1DA-A0E4-4D40-A7A7-EFF787305684}"/>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AED9CFBE-4B0E-4919-BFE3-7DC60B60AA1D}"/>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Individualized site and device plan with frequent assessment</a:t>
            </a:r>
          </a:p>
        </p:txBody>
      </p:sp>
    </p:spTree>
    <p:extLst>
      <p:ext uri="{BB962C8B-B14F-4D97-AF65-F5344CB8AC3E}">
        <p14:creationId xmlns:p14="http://schemas.microsoft.com/office/powerpoint/2010/main" val="1996876869"/>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66767E-FDB9-4FCF-BB75-846B550F2B1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C7FC9D1-2DB7-4D94-AF82-FEFA42B8D1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Complete documentation tells the clinical story</a:t>
            </a:r>
          </a:p>
        </p:txBody>
      </p:sp>
      <p:sp>
        <p:nvSpPr>
          <p:cNvPr id="3" name="">
            <a:extLst xmlns:a="http://schemas.openxmlformats.org/drawingml/2006/main">
              <a:ext uri="{FF2B5EF4-FFF2-40B4-BE49-F238E27FC236}">
                <a16:creationId xmlns:a16="http://schemas.microsoft.com/office/drawing/2014/main" id="{E07C6290-5F01-4667-B109-63710789701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EE958FE-E36C-4B87-819D-DB05D32E5FA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E493CE6D-AEF3-48DD-A08D-1C5A76B9846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date and time, site, vein or anatomic location, catheter gauge and length when required, number of attempts, and inserter.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skin preparation, dressing, securement, patency assessment, solution, rate, pump, and patient tolerance.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 teaching, complications, actions, notifications, and response.</a:t>
            </a:r>
          </a:p>
        </p:txBody>
      </p:sp>
      <p:sp>
        <p:nvSpPr>
          <p:cNvPr id="6" name="">
            <a:extLst xmlns:a="http://schemas.openxmlformats.org/drawingml/2006/main">
              <a:ext uri="{FF2B5EF4-FFF2-40B4-BE49-F238E27FC236}">
                <a16:creationId xmlns:a16="http://schemas.microsoft.com/office/drawing/2014/main" id="{0EBD6B18-5077-47D4-B8A1-94797850CAF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75558025"/>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9B8482-97E3-4B0B-B610-854508F9B78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B107A88-ADC7-41B2-A571-B7EC1A4C593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D3B8F741-C8FB-4302-B691-40527D9D419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60D86DC-AC6F-4026-A722-1EF1AE0A622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5C60F6B7-5532-4121-AF70-E9DA0C4DCA60}"/>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Palpate and select veins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the complete insertion sequence without contamination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Discontinue the catheter and verify that it remains intact</a:t>
            </a:r>
          </a:p>
        </p:txBody>
      </p:sp>
      <p:sp>
        <p:nvSpPr>
          <p:cNvPr id="6" name="">
            <a:extLst xmlns:a="http://schemas.openxmlformats.org/drawingml/2006/main">
              <a:ext uri="{FF2B5EF4-FFF2-40B4-BE49-F238E27FC236}">
                <a16:creationId xmlns:a16="http://schemas.microsoft.com/office/drawing/2014/main" id="{EE600DC6-BC31-46F7-BAF4-1830613D3A4D}"/>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292108131"/>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6601F0-F2F1-49DD-B539-04A67AB97CF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E5DE5F1-7821-44B5-9F5E-4974C4199BF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8E333CAE-918C-4562-8CE6-ACA2A8CD3DE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340603A-3C5F-4F5A-801A-DFBFF5361AF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C5F06420-F262-4F6D-87A4-56677BDFF202}"/>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Cool swelling suggests infiltration. Pain, warmth, redness, or a venous cord suggests phlebitis. Burning or tissue injury with a vesicant suggests extravasation. 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5717E2AA-7C72-4299-A4F8-41ABD888B637}"/>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1056827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2026-10-23T09:51:10.5330000Z</dcterms:created>
  <dcterms:modified xsi:type="dcterms:W3CDTF">2026-10-23T09:51:10.5330000Z</dcterms:modified>
</coreProperties>
</file>