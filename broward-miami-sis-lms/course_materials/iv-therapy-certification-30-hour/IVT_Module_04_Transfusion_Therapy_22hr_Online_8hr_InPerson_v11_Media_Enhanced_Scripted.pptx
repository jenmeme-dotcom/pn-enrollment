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8d2974196434d61" /><Relationship Type="http://schemas.openxmlformats.org/officeDocument/2006/relationships/extended-properties" Target="/docProps/app.xml" Id="Ra673155ceb454c21" /><Relationship Type="http://schemas.openxmlformats.org/officeDocument/2006/relationships/officeDocument" Target="/ppt/presentation.xml" Id="R9db7e9a29754408c" /></Relationships>
</file>

<file path=ppt/presentation.xml><?xml version="1.0" encoding="utf-8"?>
<p:presentation xmlns:p="http://schemas.openxmlformats.org/presentationml/2006/main">
  <p:sldMasterIdLst>
    <p:sldMasterId xmlns:r="http://schemas.openxmlformats.org/officeDocument/2006/relationships" id="2147483648" r:id="Rd6a37193ed754018"/>
  </p:sldMasterIdLst>
  <p:notesMasterIdLst>
    <p:notesMasterId xmlns:r="http://schemas.openxmlformats.org/officeDocument/2006/relationships" r:id="Refe8bd7e7da44ced"/>
  </p:notesMasterIdLst>
  <p:sldIdLst>
    <p:sldId xmlns:r="http://schemas.openxmlformats.org/officeDocument/2006/relationships" id="256" r:id="Rd684478a64e94abe"/>
    <p:sldId xmlns:r="http://schemas.openxmlformats.org/officeDocument/2006/relationships" id="257" r:id="R9bd48b5849c749bd"/>
    <p:sldId xmlns:r="http://schemas.openxmlformats.org/officeDocument/2006/relationships" id="258" r:id="R614952c84e3242c3"/>
    <p:sldId xmlns:r="http://schemas.openxmlformats.org/officeDocument/2006/relationships" id="259" r:id="R7919bbe8655e4837"/>
    <p:sldId xmlns:r="http://schemas.openxmlformats.org/officeDocument/2006/relationships" id="260" r:id="R4c3b00905c3f4b1d"/>
    <p:sldId xmlns:r="http://schemas.openxmlformats.org/officeDocument/2006/relationships" id="261" r:id="R55238992f0b04827"/>
    <p:sldId xmlns:r="http://schemas.openxmlformats.org/officeDocument/2006/relationships" id="262" r:id="R869817fded0e437d"/>
    <p:sldId xmlns:r="http://schemas.openxmlformats.org/officeDocument/2006/relationships" id="263" r:id="R000de664b0bb4aad"/>
    <p:sldId xmlns:r="http://schemas.openxmlformats.org/officeDocument/2006/relationships" id="264" r:id="R3730eb1f134b4422"/>
    <p:sldId xmlns:r="http://schemas.openxmlformats.org/officeDocument/2006/relationships" id="265" r:id="R3be2882a236e48e3"/>
    <p:sldId xmlns:r="http://schemas.openxmlformats.org/officeDocument/2006/relationships" id="266" r:id="R9a4baea3745944bd"/>
    <p:sldId xmlns:r="http://schemas.openxmlformats.org/officeDocument/2006/relationships" id="267" r:id="R5f61144cf5fb484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93b38be4c3644ac" /><Relationship Type="http://schemas.openxmlformats.org/officeDocument/2006/relationships/slideMaster" Target="/ppt/slideMasters/slideMaster1.xml" Id="Rd6a37193ed754018" /><Relationship Type="http://schemas.openxmlformats.org/officeDocument/2006/relationships/notesMaster" Target="/ppt/notesMasters/notesMaster1.xml" Id="Refe8bd7e7da44ced" /><Relationship Type="http://schemas.openxmlformats.org/officeDocument/2006/relationships/presProps" Target="/ppt/presProps.xml" Id="R64f182bdcc74406b" /><Relationship Type="http://schemas.openxmlformats.org/officeDocument/2006/relationships/tableStyles" Target="/ppt/tableStyles.xml" Id="R45481738441e486c" /><Relationship Type="http://schemas.openxmlformats.org/officeDocument/2006/relationships/slide" Target="/ppt/slides/slide1.xml" Id="Rd684478a64e94abe" /><Relationship Type="http://schemas.openxmlformats.org/officeDocument/2006/relationships/slide" Target="/ppt/slides/slide2.xml" Id="R9bd48b5849c749bd" /><Relationship Type="http://schemas.openxmlformats.org/officeDocument/2006/relationships/slide" Target="/ppt/slides/slide3.xml" Id="R614952c84e3242c3" /><Relationship Type="http://schemas.openxmlformats.org/officeDocument/2006/relationships/slide" Target="/ppt/slides/slide4.xml" Id="R7919bbe8655e4837" /><Relationship Type="http://schemas.openxmlformats.org/officeDocument/2006/relationships/slide" Target="/ppt/slides/slide5.xml" Id="R4c3b00905c3f4b1d" /><Relationship Type="http://schemas.openxmlformats.org/officeDocument/2006/relationships/slide" Target="/ppt/slides/slide6.xml" Id="R55238992f0b04827" /><Relationship Type="http://schemas.openxmlformats.org/officeDocument/2006/relationships/slide" Target="/ppt/slides/slide7.xml" Id="R869817fded0e437d" /><Relationship Type="http://schemas.openxmlformats.org/officeDocument/2006/relationships/slide" Target="/ppt/slides/slide8.xml" Id="R000de664b0bb4aad" /><Relationship Type="http://schemas.openxmlformats.org/officeDocument/2006/relationships/slide" Target="/ppt/slides/slide9.xml" Id="R3730eb1f134b4422" /><Relationship Type="http://schemas.openxmlformats.org/officeDocument/2006/relationships/slide" Target="/ppt/slides/slide10.xml" Id="R3be2882a236e48e3" /><Relationship Type="http://schemas.openxmlformats.org/officeDocument/2006/relationships/slide" Target="/ppt/slides/slide11.xml" Id="R9a4baea3745944bd" /><Relationship Type="http://schemas.openxmlformats.org/officeDocument/2006/relationships/slide" Target="/ppt/slides/slide12.xml" Id="R5f61144cf5fb484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0a10206d274a0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64eee3fe29b42c1" /><Relationship Type="http://schemas.openxmlformats.org/officeDocument/2006/relationships/notesMaster" Target="/ppt/notesMasters/notesMaster1.xml" Id="R449c3f98485f4b95" /></Relationships>
</file>

<file path=ppt/notesSlides/_rels/notesSlide2.xml.rels>&#65279;<?xml version="1.0" encoding="utf-8"?><Relationships xmlns="http://schemas.openxmlformats.org/package/2006/relationships"><Relationship Type="http://schemas.openxmlformats.org/officeDocument/2006/relationships/slide" Target="/ppt/slides/slide2.xml" Id="R563418d5b6d8495d" /><Relationship Type="http://schemas.openxmlformats.org/officeDocument/2006/relationships/notesMaster" Target="/ppt/notesMasters/notesMaster1.xml" Id="R19eca49771c74653" /></Relationships>
</file>

<file path=ppt/notesSlides/_rels/notesSlide3.xml.rels>&#65279;<?xml version="1.0" encoding="utf-8"?><Relationships xmlns="http://schemas.openxmlformats.org/package/2006/relationships"><Relationship Type="http://schemas.openxmlformats.org/officeDocument/2006/relationships/slide" Target="/ppt/slides/slide3.xml" Id="R66598a2f628e4db1" /><Relationship Type="http://schemas.openxmlformats.org/officeDocument/2006/relationships/notesMaster" Target="/ppt/notesMasters/notesMaster1.xml" Id="R871201bd8d0e42dd"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8b63a3164442c3" /><Relationship Type="http://schemas.openxmlformats.org/officeDocument/2006/relationships/notesMaster" Target="/ppt/notesMasters/notesMaster1.xml" Id="Rdf4381e60cec49a8" /></Relationships>
</file>

<file path=ppt/notesSlides/_rels/notesSlide5.xml.rels>&#65279;<?xml version="1.0" encoding="utf-8"?><Relationships xmlns="http://schemas.openxmlformats.org/package/2006/relationships"><Relationship Type="http://schemas.openxmlformats.org/officeDocument/2006/relationships/slide" Target="/ppt/slides/slide5.xml" Id="R325e96dc49e642ed" /><Relationship Type="http://schemas.openxmlformats.org/officeDocument/2006/relationships/notesMaster" Target="/ppt/notesMasters/notesMaster1.xml" Id="R3c7df8f3ea4548b6" /></Relationships>
</file>

<file path=ppt/notesSlides/_rels/notesSlide6.xml.rels>&#65279;<?xml version="1.0" encoding="utf-8"?><Relationships xmlns="http://schemas.openxmlformats.org/package/2006/relationships"><Relationship Type="http://schemas.openxmlformats.org/officeDocument/2006/relationships/slide" Target="/ppt/slides/slide6.xml" Id="Rb384b397e82445c9" /><Relationship Type="http://schemas.openxmlformats.org/officeDocument/2006/relationships/notesMaster" Target="/ppt/notesMasters/notesMaster1.xml" Id="Rb7a62720dfe040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a436ca790e4387" /><Relationship Type="http://schemas.openxmlformats.org/officeDocument/2006/relationships/notesMaster" Target="/ppt/notesMasters/notesMaster1.xml" Id="R317c1b7c9d9e4727" /></Relationships>
</file>

<file path=ppt/notesSlides/_rels/notesSlide8.xml.rels>&#65279;<?xml version="1.0" encoding="utf-8"?><Relationships xmlns="http://schemas.openxmlformats.org/package/2006/relationships"><Relationship Type="http://schemas.openxmlformats.org/officeDocument/2006/relationships/slide" Target="/ppt/slides/slide8.xml" Id="R804c39ef4e144e71" /><Relationship Type="http://schemas.openxmlformats.org/officeDocument/2006/relationships/notesMaster" Target="/ppt/notesMasters/notesMaster1.xml" Id="R3b678735bf774e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1364cdb41af84c4a" /><Relationship Type="http://schemas.openxmlformats.org/officeDocument/2006/relationships/notesMaster" Target="/ppt/notesMasters/notesMaster1.xml" Id="R9bff77485a4a42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a693a43cd5148ed" /><Relationship Type="http://schemas.openxmlformats.org/officeDocument/2006/relationships/notesMaster" Target="/ppt/notesMasters/notesMaster1.xml" Id="R40ee1e2af0704d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a2f95cb922432a" /><Relationship Type="http://schemas.openxmlformats.org/officeDocument/2006/relationships/notesMaster" Target="/ppt/notesMasters/notesMaster1.xml" Id="R8acb0b65d5b34af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dacc82f598ab4f4a" /><Relationship Type="http://schemas.openxmlformats.org/officeDocument/2006/relationships/notesMaster" Target="/ppt/notesMasters/notesMaster1.xml" Id="Rbbba67c8645045e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Transfusion Therapy, Module 4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Cover media: Pexels photo by Anna Shvets, https://www.pexels.com/photo/patient-with-iv-line-3845115/,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Identify common blood components and indications Next, Apply patient and product verification safeguards Next, Recognize transfusion reactions and initiate the correct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Therapeutic goals. First, Blood components may restore oxygen-carrying capacity, circulating volume, platelets, or coagulation factors. Next, Verify the current indication and prescriber order for the specific component.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Verification. First, Use the institution's approved two-person or electronic verification process. Next, Match the patient, order, compatibility record, unit identifiers, expiration, and product appearance before connection.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Administration. First, Obtain baseline assessment, use approved blood tubing and compatible solution, begin within the required time, remain available during the early period, and monitor at policy-defined intervals.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Stop the transfusion immediately. Next,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Match the component to the therapeutic goal. First, Red blood cells: Improve oxygen-carrying capacity Next, Platelets: Support platelet-related hemostasis Next, Plasma: Replace multiple coagulation factors when indicated Next, Cryoprecipitate: Replace fibrinogen and selected factors when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bedside verification pause. First, Perform the facility-approved independent or electronic verification at the bedside. Next, Match patient identifiers, order, component, blood type and compatibility, unit number, expiration, and product appearance. Next, Do not bypass a mismatch, unreadable label, damaged unit, or abnormal appearance.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Recognize patterns of transfusion reaction. First, Allergic: Itching, hives, flushing; severe cases may involve airway symptoms Next, Febrile: Temperature rise, chills, discomfort Next, Hemolytic: Fever, chills, pain, hypotension, hemoglobinuria Next, Circulatory overload: Dyspnea, crackles, hypertension, edema Next, Septic: High fever, rigors, hypotension, rapid deterioration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Suspected reaction: first actions. First, Stop the transfusion immediately. Next, Keep the IV access available with compatible fluid and new tubing as policy directs. Next, Assess airway, breathing, circulation, vital signs, and the patient’s symptoms. Next, Notify the supervising RN and prescriber; recheck identification; complete ordered specimens, product return,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51-61;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Complete a mock bedside verification Next, Differentiate allergic, febrile, hemolytic, overload, and septic findings Next, Use SBAR to report a suspected reaction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Identify common blood components and indications Next, Use the institution's approved two-person or electronic verification process. Match the patient, order, compatibility record, unit identifiers, expiration, and product appearance before connection. Next, Stop the transfusion immediately. Maintain access as policy directs, assess airway and circulation, obtain vital signs, notify the RN and prescriber, recheck identification, and complete required specimens and documentation.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51;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640551314ab493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2f3c78f330148f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b43197f1d44e1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7e9faeab934c7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4cf88916b146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6a7190aefcd457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7AEBF0A-2CC6-492A-8B74-444BF4709FD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9043C7B-2AF5-43BF-94F1-259F1502DAD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19FC241-D155-46AA-AA46-693F4C7EF83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C61DC45-4110-47CF-A32D-8736B78EFB1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FB3B82C-263F-44F2-9BEC-F0CD84194B8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1FA5281-37A1-42EC-8DE8-409107D6A2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8EA1FB3-1259-45F9-A39D-DF4DC78A1B0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E45E7758-4B17-4DBF-836C-7E098BDE28A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8D35F36-EDFD-4A57-AB05-919066297D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D292B96-3B9F-4131-8EAA-A1688D2961E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e0b4456cfd24573" /><Relationship Type="http://schemas.openxmlformats.org/officeDocument/2006/relationships/slideLayout" Target="/ppt/slideLayouts/slideLayout1.xml" Id="Rdefa767ea9d04a7b" /><Relationship Type="http://schemas.openxmlformats.org/officeDocument/2006/relationships/slideLayout" Target="/ppt/slideLayouts/slideLayout2.xml" Id="R9557e31aa2de43d3" /><Relationship Type="http://schemas.openxmlformats.org/officeDocument/2006/relationships/slideLayout" Target="/ppt/slideLayouts/slideLayout3.xml" Id="R583e2c2b1faa485f" /><Relationship Type="http://schemas.openxmlformats.org/officeDocument/2006/relationships/slideLayout" Target="/ppt/slideLayouts/slideLayout4.xml" Id="R79405258a3e14dc7" /><Relationship Type="http://schemas.openxmlformats.org/officeDocument/2006/relationships/slideLayout" Target="/ppt/slideLayouts/slideLayout5.xml" Id="Rab0f76184a3b455f" /><Relationship Type="http://schemas.openxmlformats.org/officeDocument/2006/relationships/slideLayout" Target="/ppt/slideLayouts/slideLayout6.xml" Id="R7dd569efb9d04f5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efa767ea9d04a7b"/>
    <p:sldLayoutId xmlns:r="http://schemas.openxmlformats.org/officeDocument/2006/relationships" id="2147483650" r:id="R9557e31aa2de43d3"/>
    <p:sldLayoutId xmlns:r="http://schemas.openxmlformats.org/officeDocument/2006/relationships" id="2147483651" r:id="R583e2c2b1faa485f"/>
    <p:sldLayoutId xmlns:r="http://schemas.openxmlformats.org/officeDocument/2006/relationships" id="2147483652" r:id="R79405258a3e14dc7"/>
    <p:sldLayoutId xmlns:r="http://schemas.openxmlformats.org/officeDocument/2006/relationships" id="2147483653" r:id="Rab0f76184a3b455f"/>
    <p:sldLayoutId xmlns:r="http://schemas.openxmlformats.org/officeDocument/2006/relationships" id="2147483654" r:id="R7dd569efb9d04f5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0f46836b83a43a2" /><Relationship Type="http://schemas.openxmlformats.org/officeDocument/2006/relationships/image" Target="/ppt/media/image.jpeg" Id="R3f99917180734eb6" /><Relationship Type="http://schemas.openxmlformats.org/officeDocument/2006/relationships/notesSlide" Target="/ppt/notesSlides/notesSlide1.xml" Id="R76f950cb381745a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43f54ded543443f" /><Relationship Type="http://schemas.openxmlformats.org/officeDocument/2006/relationships/notesSlide" Target="/ppt/notesSlides/notesSlide2.xml" Id="R897807e291a3413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a9d491a20854f9a" /><Relationship Type="http://schemas.openxmlformats.org/officeDocument/2006/relationships/notesSlide" Target="/ppt/notesSlides/notesSlide3.xml" Id="R85fabc95d68b4dd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fffb7f1cbc7469d" /><Relationship Type="http://schemas.openxmlformats.org/officeDocument/2006/relationships/notesSlide" Target="/ppt/notesSlides/notesSlide4.xml" Id="R2fbb322ca53c41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b041ada7c3442b1" /><Relationship Type="http://schemas.openxmlformats.org/officeDocument/2006/relationships/notesSlide" Target="/ppt/notesSlides/notesSlide5.xml" Id="R3aebdcebfab54b3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da29c58a46e4399" /><Relationship Type="http://schemas.openxmlformats.org/officeDocument/2006/relationships/notesSlide" Target="/ppt/notesSlides/notesSlide6.xml" Id="R7bbcbdac582d4b1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27c2c0e3f404846" /><Relationship Type="http://schemas.openxmlformats.org/officeDocument/2006/relationships/notesSlide" Target="/ppt/notesSlides/notesSlide7.xml" Id="R8d4acec4ca6b4bf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79a91e46a714ec9" /><Relationship Type="http://schemas.openxmlformats.org/officeDocument/2006/relationships/notesSlide" Target="/ppt/notesSlides/notesSlide8.xml" Id="R56b69cb83f2d48d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74801ccb326424b" /><Relationship Type="http://schemas.openxmlformats.org/officeDocument/2006/relationships/notesSlide" Target="/ppt/notesSlides/notesSlide9.xml" Id="R7f031d352bb34b4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567207d13724dae" /><Relationship Type="http://schemas.openxmlformats.org/officeDocument/2006/relationships/notesSlide" Target="/ppt/notesSlides/notesSlide10.xml" Id="R4daf5081dd454e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275aca7d48a4938" /><Relationship Type="http://schemas.openxmlformats.org/officeDocument/2006/relationships/notesSlide" Target="/ppt/notesSlides/notesSlide11.xml" Id="R6cc177acab584de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1fe1ea5e6f704879" /><Relationship Type="http://schemas.openxmlformats.org/officeDocument/2006/relationships/notesSlide" Target="/ppt/notesSlides/notesSlide12.xml" Id="Rd537e6c36b6541e9"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C5E6035B-364C-4C76-87BB-00E604FC2B97}"/>
              </a:ext>
            </a:extLst>
          </p:cNvPr>
          <p:cNvPicPr>
            <a:picLocks xmlns:a="http://schemas.openxmlformats.org/drawingml/2006/main" noChangeAspect="1"/>
          </p:cNvPicPr>
          <p:nvPr/>
        </p:nvPicPr>
        <p:blipFill>
          <a:blip xmlns:r="http://schemas.openxmlformats.org/officeDocument/2006/relationships" xmlns:a="http://schemas.openxmlformats.org/drawingml/2006/main" r:embed="R3f99917180734eb6"/>
          <a:srcRect xmlns:a="http://schemas.openxmlformats.org/drawingml/2006/main" l="2604" t="0" r="2604"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266E705-EB2D-4436-B3E3-B26CD1F353F9}"/>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25D12B83-178E-4DA8-BC16-FF289A97892D}"/>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0E1BCBAD-0494-4E9A-8999-B228740DC393}"/>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D134AA2F-1209-4BE6-BDFD-F01676C6C053}"/>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Transfusion Therapy</a:t>
            </a:r>
          </a:p>
        </p:txBody>
      </p:sp>
      <p:sp>
        <p:nvSpPr>
          <p:cNvPr id="6" name="">
            <a:extLst xmlns:a="http://schemas.openxmlformats.org/drawingml/2006/main">
              <a:ext uri="{FF2B5EF4-FFF2-40B4-BE49-F238E27FC236}">
                <a16:creationId xmlns:a16="http://schemas.microsoft.com/office/drawing/2014/main" id="{56545DD4-0978-4100-A886-20DFA8EB00AA}"/>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4  |  30-Hour Basic Intravenous Therapy</a:t>
            </a:r>
          </a:p>
        </p:txBody>
      </p:sp>
      <p:sp>
        <p:nvSpPr>
          <p:cNvPr id="7" name="">
            <a:extLst xmlns:a="http://schemas.openxmlformats.org/drawingml/2006/main">
              <a:ext uri="{FF2B5EF4-FFF2-40B4-BE49-F238E27FC236}">
                <a16:creationId xmlns:a16="http://schemas.microsoft.com/office/drawing/2014/main" id="{7D3A641E-A758-45A2-9C2A-C2BDFD6666B1}"/>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477794471"/>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76E6F84-77B2-4949-9065-D2E1172B000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B681A5B-BD5C-47EC-9AE7-B758F5B8832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2A7478D4-E44A-4699-A013-54727F9878F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9DE71213-2531-4E48-AE18-289B5C47EF5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A80E697C-A203-4921-8986-4F6CF407DC94}"/>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Apply patient and product verification safeguards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transfusion reactions and initiate the correct response</a:t>
            </a:r>
          </a:p>
        </p:txBody>
      </p:sp>
    </p:spTree>
    <p:extLst>
      <p:ext uri="{BB962C8B-B14F-4D97-AF65-F5344CB8AC3E}">
        <p14:creationId xmlns:p14="http://schemas.microsoft.com/office/powerpoint/2010/main" val="1443505164"/>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2B322C3-6903-4EFF-BE83-EDF663641E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3036220-B00D-42D7-B040-5ED200FCCD3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Therapeutic goals</a:t>
            </a:r>
          </a:p>
        </p:txBody>
      </p:sp>
      <p:sp>
        <p:nvSpPr>
          <p:cNvPr id="3" name="">
            <a:extLst xmlns:a="http://schemas.openxmlformats.org/drawingml/2006/main">
              <a:ext uri="{FF2B5EF4-FFF2-40B4-BE49-F238E27FC236}">
                <a16:creationId xmlns:a16="http://schemas.microsoft.com/office/drawing/2014/main" id="{AEC6E978-D8B8-45F8-B8A0-3C37506C325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838CE798-D77C-455E-BD63-BAEA795E07D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1C9FC712-20FE-4F4C-A0F2-B0ADA5CE4BD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Blood components may restore oxygen-carrying capacity, circulating volume, platelets, or coagulation factors.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current indication and prescriber order for the specific component.</a:t>
            </a:r>
          </a:p>
        </p:txBody>
      </p:sp>
      <p:sp>
        <p:nvSpPr>
          <p:cNvPr id="6" name="">
            <a:extLst xmlns:a="http://schemas.openxmlformats.org/drawingml/2006/main">
              <a:ext uri="{FF2B5EF4-FFF2-40B4-BE49-F238E27FC236}">
                <a16:creationId xmlns:a16="http://schemas.microsoft.com/office/drawing/2014/main" id="{B262199C-5DD4-4F43-91B8-18B00FF0213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82727229"/>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E7ED970-D03A-4E47-BAD5-78098ACF61F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A4BBEC4-303E-407F-AA41-E1C98C51CF2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Verification</a:t>
            </a:r>
          </a:p>
        </p:txBody>
      </p:sp>
      <p:sp>
        <p:nvSpPr>
          <p:cNvPr id="3" name="">
            <a:extLst xmlns:a="http://schemas.openxmlformats.org/drawingml/2006/main">
              <a:ext uri="{FF2B5EF4-FFF2-40B4-BE49-F238E27FC236}">
                <a16:creationId xmlns:a16="http://schemas.microsoft.com/office/drawing/2014/main" id="{94AFE0DA-FC64-4631-B191-E44D7C23068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60BB5B5F-739B-4F2C-AA43-BB2C5689173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68F286E8-A81C-4D51-A427-3E63925346C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the institution's approved two-person or electronic verification process.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the patient, order, compatibility record, unit identifiers, expiration, and product appearance before connection.</a:t>
            </a:r>
          </a:p>
        </p:txBody>
      </p:sp>
      <p:sp>
        <p:nvSpPr>
          <p:cNvPr id="6" name="">
            <a:extLst xmlns:a="http://schemas.openxmlformats.org/drawingml/2006/main">
              <a:ext uri="{FF2B5EF4-FFF2-40B4-BE49-F238E27FC236}">
                <a16:creationId xmlns:a16="http://schemas.microsoft.com/office/drawing/2014/main" id="{2E49517D-9FEA-4B79-9E7F-28349498F08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472636449"/>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B356F4A-6DAB-4288-A138-87CF384AD73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BF239A0-FA3E-4957-B965-261D931D06B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Administration</a:t>
            </a:r>
          </a:p>
        </p:txBody>
      </p:sp>
      <p:sp>
        <p:nvSpPr>
          <p:cNvPr id="3" name="">
            <a:extLst xmlns:a="http://schemas.openxmlformats.org/drawingml/2006/main">
              <a:ext uri="{FF2B5EF4-FFF2-40B4-BE49-F238E27FC236}">
                <a16:creationId xmlns:a16="http://schemas.microsoft.com/office/drawing/2014/main" id="{6AED3484-0874-4301-B409-36034AE88E7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56559941-0906-4D48-9B6B-8E5F7A6186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CDC40048-1B93-4D6C-8493-E97C20E463E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Obtain baseline assessment, use approved blood tubing and compatible solution, begin within the required time, remain available during the early period, and monitor at policy-defined intervals.</a:t>
            </a:r>
          </a:p>
        </p:txBody>
      </p:sp>
      <p:sp>
        <p:nvSpPr>
          <p:cNvPr id="6" name="">
            <a:extLst xmlns:a="http://schemas.openxmlformats.org/drawingml/2006/main">
              <a:ext uri="{FF2B5EF4-FFF2-40B4-BE49-F238E27FC236}">
                <a16:creationId xmlns:a16="http://schemas.microsoft.com/office/drawing/2014/main" id="{4E558D1A-10FA-4B1C-96E8-AA7A6DF8EC7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450870203"/>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CF6D641-021C-4746-8D58-FDCF83C6E9E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41326B1-A01E-489B-8F22-67D87766711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a:t>
            </a:r>
          </a:p>
        </p:txBody>
      </p:sp>
      <p:sp>
        <p:nvSpPr>
          <p:cNvPr id="3" name="">
            <a:extLst xmlns:a="http://schemas.openxmlformats.org/drawingml/2006/main">
              <a:ext uri="{FF2B5EF4-FFF2-40B4-BE49-F238E27FC236}">
                <a16:creationId xmlns:a16="http://schemas.microsoft.com/office/drawing/2014/main" id="{4A517A13-86E8-4A8C-89CD-CD305D231A13}"/>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85BE28B9-1293-4C17-A335-76099210065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E1BBCA4C-66D2-457D-A2F5-60D604CAD0D1}"/>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Maintain access as policy directs, assess airway and circulation, obtain vital signs, notify the RN and prescriber, recheck identification, and complete required specimens and documentation.</a:t>
            </a:r>
          </a:p>
        </p:txBody>
      </p:sp>
      <p:sp>
        <p:nvSpPr>
          <p:cNvPr id="6" name="">
            <a:extLst xmlns:a="http://schemas.openxmlformats.org/drawingml/2006/main">
              <a:ext uri="{FF2B5EF4-FFF2-40B4-BE49-F238E27FC236}">
                <a16:creationId xmlns:a16="http://schemas.microsoft.com/office/drawing/2014/main" id="{AA5AB715-0D74-443C-87F9-3210FB0E6D1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01224645"/>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1358E71D-22CF-4CAF-A71C-09ECF096DFE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8372E31-43BF-4D49-9FE1-9C3DC935224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Match the component to the therapeutic goal</a:t>
            </a:r>
          </a:p>
        </p:txBody>
      </p:sp>
      <p:sp>
        <p:nvSpPr>
          <p:cNvPr id="3" name="">
            <a:extLst xmlns:a="http://schemas.openxmlformats.org/drawingml/2006/main">
              <a:ext uri="{FF2B5EF4-FFF2-40B4-BE49-F238E27FC236}">
                <a16:creationId xmlns:a16="http://schemas.microsoft.com/office/drawing/2014/main" id="{6615BEB4-49B7-45EF-ADBA-D6F7171B5DF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E207305D-55AA-4709-8F11-12B439CFA60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C7E28E02-E9B2-4BDB-89A8-0169184BB2D3}"/>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A43440E3-A3F4-4D17-BBEA-502C6DB736EF}"/>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Component</a:t>
            </a:r>
          </a:p>
        </p:txBody>
      </p:sp>
      <p:sp>
        <p:nvSpPr>
          <p:cNvPr id="7" name="">
            <a:extLst xmlns:a="http://schemas.openxmlformats.org/drawingml/2006/main">
              <a:ext uri="{FF2B5EF4-FFF2-40B4-BE49-F238E27FC236}">
                <a16:creationId xmlns:a16="http://schemas.microsoft.com/office/drawing/2014/main" id="{DFA8D3BC-2091-4705-A2AF-FBCBD3B7493C}"/>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0D6F57EF-A7AD-4DB5-B1A8-1B5CE5EF5C95}"/>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Primary therapeutic goal</a:t>
            </a:r>
          </a:p>
        </p:txBody>
      </p:sp>
      <p:sp>
        <p:nvSpPr>
          <p:cNvPr id="9" name="">
            <a:extLst xmlns:a="http://schemas.openxmlformats.org/drawingml/2006/main">
              <a:ext uri="{FF2B5EF4-FFF2-40B4-BE49-F238E27FC236}">
                <a16:creationId xmlns:a16="http://schemas.microsoft.com/office/drawing/2014/main" id="{D6A70524-056A-4F0F-B8D5-D593BA9B3FF5}"/>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6A96FAB-00BF-49BA-B3C4-8D915F4AE49B}"/>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Red blood cells</a:t>
            </a:r>
          </a:p>
        </p:txBody>
      </p:sp>
      <p:sp>
        <p:nvSpPr>
          <p:cNvPr id="11" name="">
            <a:extLst xmlns:a="http://schemas.openxmlformats.org/drawingml/2006/main">
              <a:ext uri="{FF2B5EF4-FFF2-40B4-BE49-F238E27FC236}">
                <a16:creationId xmlns:a16="http://schemas.microsoft.com/office/drawing/2014/main" id="{223CF1BA-027A-41E2-9446-60001166000E}"/>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4607308-B6EC-41EB-A934-621D95AD012D}"/>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Improve oxygen-carrying capacity</a:t>
            </a:r>
          </a:p>
        </p:txBody>
      </p:sp>
      <p:sp>
        <p:nvSpPr>
          <p:cNvPr id="13" name="">
            <a:extLst xmlns:a="http://schemas.openxmlformats.org/drawingml/2006/main">
              <a:ext uri="{FF2B5EF4-FFF2-40B4-BE49-F238E27FC236}">
                <a16:creationId xmlns:a16="http://schemas.microsoft.com/office/drawing/2014/main" id="{A59D7A7C-475E-4D35-9E77-2309875B5CF0}"/>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915723A-522F-4B5C-8108-EFB392866B77}"/>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Platelets</a:t>
            </a:r>
          </a:p>
        </p:txBody>
      </p:sp>
      <p:sp>
        <p:nvSpPr>
          <p:cNvPr id="15" name="">
            <a:extLst xmlns:a="http://schemas.openxmlformats.org/drawingml/2006/main">
              <a:ext uri="{FF2B5EF4-FFF2-40B4-BE49-F238E27FC236}">
                <a16:creationId xmlns:a16="http://schemas.microsoft.com/office/drawing/2014/main" id="{D8B94EA9-30D9-4AB3-9347-A3BA9F07F021}"/>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82C8715-DEFC-4262-AA17-E42B0A823B97}"/>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Support platelet-related hemostasis</a:t>
            </a:r>
          </a:p>
        </p:txBody>
      </p:sp>
      <p:sp>
        <p:nvSpPr>
          <p:cNvPr id="17" name="">
            <a:extLst xmlns:a="http://schemas.openxmlformats.org/drawingml/2006/main">
              <a:ext uri="{FF2B5EF4-FFF2-40B4-BE49-F238E27FC236}">
                <a16:creationId xmlns:a16="http://schemas.microsoft.com/office/drawing/2014/main" id="{FDF739ED-5452-4B12-9C22-EE1D0DD160AE}"/>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C20F7BF7-DA61-4DDE-B823-C51C74B70EA6}"/>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Plasma</a:t>
            </a:r>
          </a:p>
        </p:txBody>
      </p:sp>
      <p:sp>
        <p:nvSpPr>
          <p:cNvPr id="19" name="">
            <a:extLst xmlns:a="http://schemas.openxmlformats.org/drawingml/2006/main">
              <a:ext uri="{FF2B5EF4-FFF2-40B4-BE49-F238E27FC236}">
                <a16:creationId xmlns:a16="http://schemas.microsoft.com/office/drawing/2014/main" id="{A32FADCA-74A1-4312-86FE-7BBF9A122A2E}"/>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AE4D4230-2FE3-4CAE-9FE6-1030F80D6414}"/>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Replace multiple coagulation factors when indicated</a:t>
            </a:r>
          </a:p>
        </p:txBody>
      </p:sp>
      <p:sp>
        <p:nvSpPr>
          <p:cNvPr id="21" name="">
            <a:extLst xmlns:a="http://schemas.openxmlformats.org/drawingml/2006/main">
              <a:ext uri="{FF2B5EF4-FFF2-40B4-BE49-F238E27FC236}">
                <a16:creationId xmlns:a16="http://schemas.microsoft.com/office/drawing/2014/main" id="{636BF706-7EE2-449A-9A88-AC47E8E02227}"/>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65167255-107F-4AED-A31F-80D6D45D6FF3}"/>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Cryoprecipitate</a:t>
            </a:r>
          </a:p>
        </p:txBody>
      </p:sp>
      <p:sp>
        <p:nvSpPr>
          <p:cNvPr id="23" name="">
            <a:extLst xmlns:a="http://schemas.openxmlformats.org/drawingml/2006/main">
              <a:ext uri="{FF2B5EF4-FFF2-40B4-BE49-F238E27FC236}">
                <a16:creationId xmlns:a16="http://schemas.microsoft.com/office/drawing/2014/main" id="{A2B5D5D0-0EDC-4D17-8E8E-36627A3D8A34}"/>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0AA1CBF2-551C-4C41-99D8-38538F1F8A1E}"/>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Replace fibrinogen and selected factors when indicated</a:t>
            </a:r>
          </a:p>
        </p:txBody>
      </p:sp>
    </p:spTree>
    <p:extLst>
      <p:ext uri="{BB962C8B-B14F-4D97-AF65-F5344CB8AC3E}">
        <p14:creationId xmlns:p14="http://schemas.microsoft.com/office/powerpoint/2010/main" val="427622232"/>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AC4D7C5-AA72-4D4B-8504-082D17595D3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7DA44D2-2435-44B7-8D4F-71D0C914A92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The bedside verification pause</a:t>
            </a:r>
          </a:p>
        </p:txBody>
      </p:sp>
      <p:sp>
        <p:nvSpPr>
          <p:cNvPr id="3" name="">
            <a:extLst xmlns:a="http://schemas.openxmlformats.org/drawingml/2006/main">
              <a:ext uri="{FF2B5EF4-FFF2-40B4-BE49-F238E27FC236}">
                <a16:creationId xmlns:a16="http://schemas.microsoft.com/office/drawing/2014/main" id="{ACD0BAD8-20EB-4B06-9E3E-79A94EE13DA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7813CD79-D9EC-4C82-BBFD-8365067A1D9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8B42E06A-D698-43D1-878F-A6FAA2A2167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the facility-approved independent or electronic verification at the bedside.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Match patient identifiers, order, component, blood type and compatibility, unit number, expiration, and product appearance.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 not bypass a mismatch, unreadable label, damaged unit, or abnormal appearance.</a:t>
            </a:r>
          </a:p>
        </p:txBody>
      </p:sp>
      <p:sp>
        <p:nvSpPr>
          <p:cNvPr id="6" name="">
            <a:extLst xmlns:a="http://schemas.openxmlformats.org/drawingml/2006/main">
              <a:ext uri="{FF2B5EF4-FFF2-40B4-BE49-F238E27FC236}">
                <a16:creationId xmlns:a16="http://schemas.microsoft.com/office/drawing/2014/main" id="{756C9EA1-CE39-41F6-B0E8-212570EC8C4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32829753"/>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0D595AD-03D3-4317-A16D-765DC1B3933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360BA89-0DB1-45AE-B393-DA62CA6859B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Recognize patterns of transfusion reaction</a:t>
            </a:r>
          </a:p>
        </p:txBody>
      </p:sp>
      <p:sp>
        <p:nvSpPr>
          <p:cNvPr id="3" name="">
            <a:extLst xmlns:a="http://schemas.openxmlformats.org/drawingml/2006/main">
              <a:ext uri="{FF2B5EF4-FFF2-40B4-BE49-F238E27FC236}">
                <a16:creationId xmlns:a16="http://schemas.microsoft.com/office/drawing/2014/main" id="{71521F90-1204-4367-A0EC-E0C2E9BBEEC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61DE37FB-903C-43FB-97FB-C69C9AB8AA0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47DA4991-6A75-43FB-A4E4-0BFEC1A3DE05}"/>
              </a:ext>
            </a:extLst>
          </p:cNvPr>
          <p:cNvSpPr>
            <a:spLocks xmlns:a="http://schemas.openxmlformats.org/drawingml/2006/main" noGrp="1"/>
          </p:cNvSpPr>
          <p:nvPr/>
        </p:nvSpPr>
        <p:spPr>
          <a:xfrm xmlns:a="http://schemas.openxmlformats.org/drawingml/2006/main">
            <a:off x="781050"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8870B844-DD59-4A40-B162-5E4CF5B223C9}"/>
              </a:ext>
            </a:extLst>
          </p:cNvPr>
          <p:cNvSpPr>
            <a:spLocks xmlns:a="http://schemas.openxmlformats.org/drawingml/2006/main" noGrp="1"/>
          </p:cNvSpPr>
          <p:nvPr/>
        </p:nvSpPr>
        <p:spPr>
          <a:xfrm xmlns:a="http://schemas.openxmlformats.org/drawingml/2006/main">
            <a:off x="876300"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Pattern</a:t>
            </a:r>
          </a:p>
        </p:txBody>
      </p:sp>
      <p:sp>
        <p:nvSpPr>
          <p:cNvPr id="7" name="">
            <a:extLst xmlns:a="http://schemas.openxmlformats.org/drawingml/2006/main">
              <a:ext uri="{FF2B5EF4-FFF2-40B4-BE49-F238E27FC236}">
                <a16:creationId xmlns:a16="http://schemas.microsoft.com/office/drawing/2014/main" id="{5DB683EB-F898-4323-951C-B5352C6AA3D2}"/>
              </a:ext>
            </a:extLst>
          </p:cNvPr>
          <p:cNvSpPr>
            <a:spLocks xmlns:a="http://schemas.openxmlformats.org/drawingml/2006/main" noGrp="1"/>
          </p:cNvSpPr>
          <p:nvPr/>
        </p:nvSpPr>
        <p:spPr>
          <a:xfrm xmlns:a="http://schemas.openxmlformats.org/drawingml/2006/main">
            <a:off x="6067425" y="1695450"/>
            <a:ext cx="5286375" cy="71437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6513ABE-7166-4E3F-A16C-E96CD6BF3E90}"/>
              </a:ext>
            </a:extLst>
          </p:cNvPr>
          <p:cNvSpPr>
            <a:spLocks xmlns:a="http://schemas.openxmlformats.org/drawingml/2006/main" noGrp="1"/>
          </p:cNvSpPr>
          <p:nvPr/>
        </p:nvSpPr>
        <p:spPr>
          <a:xfrm xmlns:a="http://schemas.openxmlformats.org/drawingml/2006/main">
            <a:off x="6162675" y="17621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Possible findings</a:t>
            </a:r>
          </a:p>
        </p:txBody>
      </p:sp>
      <p:sp>
        <p:nvSpPr>
          <p:cNvPr id="9" name="">
            <a:extLst xmlns:a="http://schemas.openxmlformats.org/drawingml/2006/main">
              <a:ext uri="{FF2B5EF4-FFF2-40B4-BE49-F238E27FC236}">
                <a16:creationId xmlns:a16="http://schemas.microsoft.com/office/drawing/2014/main" id="{5F98FFBD-0DFF-4566-9A51-17E2CF745D9E}"/>
              </a:ext>
            </a:extLst>
          </p:cNvPr>
          <p:cNvSpPr>
            <a:spLocks xmlns:a="http://schemas.openxmlformats.org/drawingml/2006/main" noGrp="1"/>
          </p:cNvSpPr>
          <p:nvPr/>
        </p:nvSpPr>
        <p:spPr>
          <a:xfrm xmlns:a="http://schemas.openxmlformats.org/drawingml/2006/main">
            <a:off x="781050"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5DA9FB0-2482-4EBA-BCAE-C784F320128C}"/>
              </a:ext>
            </a:extLst>
          </p:cNvPr>
          <p:cNvSpPr>
            <a:spLocks xmlns:a="http://schemas.openxmlformats.org/drawingml/2006/main" noGrp="1"/>
          </p:cNvSpPr>
          <p:nvPr/>
        </p:nvSpPr>
        <p:spPr>
          <a:xfrm xmlns:a="http://schemas.openxmlformats.org/drawingml/2006/main">
            <a:off x="876300"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Allergic</a:t>
            </a:r>
          </a:p>
        </p:txBody>
      </p:sp>
      <p:sp>
        <p:nvSpPr>
          <p:cNvPr id="11" name="">
            <a:extLst xmlns:a="http://schemas.openxmlformats.org/drawingml/2006/main">
              <a:ext uri="{FF2B5EF4-FFF2-40B4-BE49-F238E27FC236}">
                <a16:creationId xmlns:a16="http://schemas.microsoft.com/office/drawing/2014/main" id="{56DB5853-E1F9-4F15-9287-5711EE476355}"/>
              </a:ext>
            </a:extLst>
          </p:cNvPr>
          <p:cNvSpPr>
            <a:spLocks xmlns:a="http://schemas.openxmlformats.org/drawingml/2006/main" noGrp="1"/>
          </p:cNvSpPr>
          <p:nvPr/>
        </p:nvSpPr>
        <p:spPr>
          <a:xfrm xmlns:a="http://schemas.openxmlformats.org/drawingml/2006/main">
            <a:off x="6067425" y="24098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1349FD7C-BB33-4791-B177-5B7EA4AA0F63}"/>
              </a:ext>
            </a:extLst>
          </p:cNvPr>
          <p:cNvSpPr>
            <a:spLocks xmlns:a="http://schemas.openxmlformats.org/drawingml/2006/main" noGrp="1"/>
          </p:cNvSpPr>
          <p:nvPr/>
        </p:nvSpPr>
        <p:spPr>
          <a:xfrm xmlns:a="http://schemas.openxmlformats.org/drawingml/2006/main">
            <a:off x="6162675" y="24765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Itching, hives, flushing; severe cases may involve airway symptoms</a:t>
            </a:r>
          </a:p>
        </p:txBody>
      </p:sp>
      <p:sp>
        <p:nvSpPr>
          <p:cNvPr id="13" name="">
            <a:extLst xmlns:a="http://schemas.openxmlformats.org/drawingml/2006/main">
              <a:ext uri="{FF2B5EF4-FFF2-40B4-BE49-F238E27FC236}">
                <a16:creationId xmlns:a16="http://schemas.microsoft.com/office/drawing/2014/main" id="{7BED1050-FDEA-47B2-8E48-43655B3A6181}"/>
              </a:ext>
            </a:extLst>
          </p:cNvPr>
          <p:cNvSpPr>
            <a:spLocks xmlns:a="http://schemas.openxmlformats.org/drawingml/2006/main" noGrp="1"/>
          </p:cNvSpPr>
          <p:nvPr/>
        </p:nvSpPr>
        <p:spPr>
          <a:xfrm xmlns:a="http://schemas.openxmlformats.org/drawingml/2006/main">
            <a:off x="781050"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C018CAF1-655A-4916-823B-9D7E08710A4A}"/>
              </a:ext>
            </a:extLst>
          </p:cNvPr>
          <p:cNvSpPr>
            <a:spLocks xmlns:a="http://schemas.openxmlformats.org/drawingml/2006/main" noGrp="1"/>
          </p:cNvSpPr>
          <p:nvPr/>
        </p:nvSpPr>
        <p:spPr>
          <a:xfrm xmlns:a="http://schemas.openxmlformats.org/drawingml/2006/main">
            <a:off x="876300"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Febrile</a:t>
            </a:r>
          </a:p>
        </p:txBody>
      </p:sp>
      <p:sp>
        <p:nvSpPr>
          <p:cNvPr id="15" name="">
            <a:extLst xmlns:a="http://schemas.openxmlformats.org/drawingml/2006/main">
              <a:ext uri="{FF2B5EF4-FFF2-40B4-BE49-F238E27FC236}">
                <a16:creationId xmlns:a16="http://schemas.microsoft.com/office/drawing/2014/main" id="{5348A88A-FEA1-4D7E-BF8B-46B208EFCE2D}"/>
              </a:ext>
            </a:extLst>
          </p:cNvPr>
          <p:cNvSpPr>
            <a:spLocks xmlns:a="http://schemas.openxmlformats.org/drawingml/2006/main" noGrp="1"/>
          </p:cNvSpPr>
          <p:nvPr/>
        </p:nvSpPr>
        <p:spPr>
          <a:xfrm xmlns:a="http://schemas.openxmlformats.org/drawingml/2006/main">
            <a:off x="6067425" y="312420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F046D5A-285C-45B8-8563-D5A3BA542E62}"/>
              </a:ext>
            </a:extLst>
          </p:cNvPr>
          <p:cNvSpPr>
            <a:spLocks xmlns:a="http://schemas.openxmlformats.org/drawingml/2006/main" noGrp="1"/>
          </p:cNvSpPr>
          <p:nvPr/>
        </p:nvSpPr>
        <p:spPr>
          <a:xfrm xmlns:a="http://schemas.openxmlformats.org/drawingml/2006/main">
            <a:off x="6162675" y="319087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Temperature rise, chills, discomfort</a:t>
            </a:r>
          </a:p>
        </p:txBody>
      </p:sp>
      <p:sp>
        <p:nvSpPr>
          <p:cNvPr id="17" name="">
            <a:extLst xmlns:a="http://schemas.openxmlformats.org/drawingml/2006/main">
              <a:ext uri="{FF2B5EF4-FFF2-40B4-BE49-F238E27FC236}">
                <a16:creationId xmlns:a16="http://schemas.microsoft.com/office/drawing/2014/main" id="{145FF857-BD31-4468-8E44-2A39304B6EE9}"/>
              </a:ext>
            </a:extLst>
          </p:cNvPr>
          <p:cNvSpPr>
            <a:spLocks xmlns:a="http://schemas.openxmlformats.org/drawingml/2006/main" noGrp="1"/>
          </p:cNvSpPr>
          <p:nvPr/>
        </p:nvSpPr>
        <p:spPr>
          <a:xfrm xmlns:a="http://schemas.openxmlformats.org/drawingml/2006/main">
            <a:off x="781050"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07DE30BD-A9F2-4EEA-B4ED-1BB7703A0553}"/>
              </a:ext>
            </a:extLst>
          </p:cNvPr>
          <p:cNvSpPr>
            <a:spLocks xmlns:a="http://schemas.openxmlformats.org/drawingml/2006/main" noGrp="1"/>
          </p:cNvSpPr>
          <p:nvPr/>
        </p:nvSpPr>
        <p:spPr>
          <a:xfrm xmlns:a="http://schemas.openxmlformats.org/drawingml/2006/main">
            <a:off x="876300"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Hemolytic</a:t>
            </a:r>
          </a:p>
        </p:txBody>
      </p:sp>
      <p:sp>
        <p:nvSpPr>
          <p:cNvPr id="19" name="">
            <a:extLst xmlns:a="http://schemas.openxmlformats.org/drawingml/2006/main">
              <a:ext uri="{FF2B5EF4-FFF2-40B4-BE49-F238E27FC236}">
                <a16:creationId xmlns:a16="http://schemas.microsoft.com/office/drawing/2014/main" id="{5D59ADEC-C3BA-4953-B819-BA26443CB19D}"/>
              </a:ext>
            </a:extLst>
          </p:cNvPr>
          <p:cNvSpPr>
            <a:spLocks xmlns:a="http://schemas.openxmlformats.org/drawingml/2006/main" noGrp="1"/>
          </p:cNvSpPr>
          <p:nvPr/>
        </p:nvSpPr>
        <p:spPr>
          <a:xfrm xmlns:a="http://schemas.openxmlformats.org/drawingml/2006/main">
            <a:off x="6067425" y="383857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0E940068-F6B5-447C-9AB8-4F824E286654}"/>
              </a:ext>
            </a:extLst>
          </p:cNvPr>
          <p:cNvSpPr>
            <a:spLocks xmlns:a="http://schemas.openxmlformats.org/drawingml/2006/main" noGrp="1"/>
          </p:cNvSpPr>
          <p:nvPr/>
        </p:nvSpPr>
        <p:spPr>
          <a:xfrm xmlns:a="http://schemas.openxmlformats.org/drawingml/2006/main">
            <a:off x="6162675" y="390525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Fever, chills, pain, hypotension, hemoglobinuria</a:t>
            </a:r>
          </a:p>
        </p:txBody>
      </p:sp>
      <p:sp>
        <p:nvSpPr>
          <p:cNvPr id="21" name="">
            <a:extLst xmlns:a="http://schemas.openxmlformats.org/drawingml/2006/main">
              <a:ext uri="{FF2B5EF4-FFF2-40B4-BE49-F238E27FC236}">
                <a16:creationId xmlns:a16="http://schemas.microsoft.com/office/drawing/2014/main" id="{E7C5C125-7142-433B-97A9-89FD29157599}"/>
              </a:ext>
            </a:extLst>
          </p:cNvPr>
          <p:cNvSpPr>
            <a:spLocks xmlns:a="http://schemas.openxmlformats.org/drawingml/2006/main" noGrp="1"/>
          </p:cNvSpPr>
          <p:nvPr/>
        </p:nvSpPr>
        <p:spPr>
          <a:xfrm xmlns:a="http://schemas.openxmlformats.org/drawingml/2006/main">
            <a:off x="781050"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EDCF2E39-0B76-42A9-A70C-FDABC200239A}"/>
              </a:ext>
            </a:extLst>
          </p:cNvPr>
          <p:cNvSpPr>
            <a:spLocks xmlns:a="http://schemas.openxmlformats.org/drawingml/2006/main" noGrp="1"/>
          </p:cNvSpPr>
          <p:nvPr/>
        </p:nvSpPr>
        <p:spPr>
          <a:xfrm xmlns:a="http://schemas.openxmlformats.org/drawingml/2006/main">
            <a:off x="876300"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Circulatory overload</a:t>
            </a:r>
          </a:p>
        </p:txBody>
      </p:sp>
      <p:sp>
        <p:nvSpPr>
          <p:cNvPr id="23" name="">
            <a:extLst xmlns:a="http://schemas.openxmlformats.org/drawingml/2006/main">
              <a:ext uri="{FF2B5EF4-FFF2-40B4-BE49-F238E27FC236}">
                <a16:creationId xmlns:a16="http://schemas.microsoft.com/office/drawing/2014/main" id="{D332B56C-D714-4F64-A508-0CAA57B38C8D}"/>
              </a:ext>
            </a:extLst>
          </p:cNvPr>
          <p:cNvSpPr>
            <a:spLocks xmlns:a="http://schemas.openxmlformats.org/drawingml/2006/main" noGrp="1"/>
          </p:cNvSpPr>
          <p:nvPr/>
        </p:nvSpPr>
        <p:spPr>
          <a:xfrm xmlns:a="http://schemas.openxmlformats.org/drawingml/2006/main">
            <a:off x="6067425" y="4552950"/>
            <a:ext cx="5286375" cy="71437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4D76E6AF-5532-4EC9-981F-B87FC66FFAC5}"/>
              </a:ext>
            </a:extLst>
          </p:cNvPr>
          <p:cNvSpPr>
            <a:spLocks xmlns:a="http://schemas.openxmlformats.org/drawingml/2006/main" noGrp="1"/>
          </p:cNvSpPr>
          <p:nvPr/>
        </p:nvSpPr>
        <p:spPr>
          <a:xfrm xmlns:a="http://schemas.openxmlformats.org/drawingml/2006/main">
            <a:off x="6162675" y="4619625"/>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Dyspnea, crackles, hypertension, edema</a:t>
            </a:r>
          </a:p>
        </p:txBody>
      </p:sp>
      <p:sp>
        <p:nvSpPr>
          <p:cNvPr id="25" name="">
            <a:extLst xmlns:a="http://schemas.openxmlformats.org/drawingml/2006/main">
              <a:ext uri="{FF2B5EF4-FFF2-40B4-BE49-F238E27FC236}">
                <a16:creationId xmlns:a16="http://schemas.microsoft.com/office/drawing/2014/main" id="{6DBD5A26-D754-489F-8103-55FE0224D696}"/>
              </a:ext>
            </a:extLst>
          </p:cNvPr>
          <p:cNvSpPr>
            <a:spLocks xmlns:a="http://schemas.openxmlformats.org/drawingml/2006/main" noGrp="1"/>
          </p:cNvSpPr>
          <p:nvPr/>
        </p:nvSpPr>
        <p:spPr>
          <a:xfrm xmlns:a="http://schemas.openxmlformats.org/drawingml/2006/main">
            <a:off x="781050"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5B01479F-810B-41D7-8721-06AB48D0C1B5}"/>
              </a:ext>
            </a:extLst>
          </p:cNvPr>
          <p:cNvSpPr>
            <a:spLocks xmlns:a="http://schemas.openxmlformats.org/drawingml/2006/main" noGrp="1"/>
          </p:cNvSpPr>
          <p:nvPr/>
        </p:nvSpPr>
        <p:spPr>
          <a:xfrm xmlns:a="http://schemas.openxmlformats.org/drawingml/2006/main">
            <a:off x="876300"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Septic</a:t>
            </a:r>
          </a:p>
        </p:txBody>
      </p:sp>
      <p:sp>
        <p:nvSpPr>
          <p:cNvPr id="27" name="">
            <a:extLst xmlns:a="http://schemas.openxmlformats.org/drawingml/2006/main">
              <a:ext uri="{FF2B5EF4-FFF2-40B4-BE49-F238E27FC236}">
                <a16:creationId xmlns:a16="http://schemas.microsoft.com/office/drawing/2014/main" id="{2BAB55CE-2CB9-40CB-9B8B-8C1AE003A7DA}"/>
              </a:ext>
            </a:extLst>
          </p:cNvPr>
          <p:cNvSpPr>
            <a:spLocks xmlns:a="http://schemas.openxmlformats.org/drawingml/2006/main" noGrp="1"/>
          </p:cNvSpPr>
          <p:nvPr/>
        </p:nvSpPr>
        <p:spPr>
          <a:xfrm xmlns:a="http://schemas.openxmlformats.org/drawingml/2006/main">
            <a:off x="6067425" y="5267325"/>
            <a:ext cx="528637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9F7E3EF2-2948-4488-9DC9-AA0D70723916}"/>
              </a:ext>
            </a:extLst>
          </p:cNvPr>
          <p:cNvSpPr>
            <a:spLocks xmlns:a="http://schemas.openxmlformats.org/drawingml/2006/main" noGrp="1"/>
          </p:cNvSpPr>
          <p:nvPr/>
        </p:nvSpPr>
        <p:spPr>
          <a:xfrm xmlns:a="http://schemas.openxmlformats.org/drawingml/2006/main">
            <a:off x="6162675" y="5334000"/>
            <a:ext cx="50958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 fever, rigors, hypotension, rapid deterioration</a:t>
            </a:r>
          </a:p>
        </p:txBody>
      </p:sp>
    </p:spTree>
    <p:extLst>
      <p:ext uri="{BB962C8B-B14F-4D97-AF65-F5344CB8AC3E}">
        <p14:creationId xmlns:p14="http://schemas.microsoft.com/office/powerpoint/2010/main" val="837140230"/>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1EFACC3-832F-43F3-B899-B95FD2B7C22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746ABB1-CA19-42AD-89D8-4A45F0E58DA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Suspected reaction: first actions</a:t>
            </a:r>
          </a:p>
        </p:txBody>
      </p:sp>
      <p:sp>
        <p:nvSpPr>
          <p:cNvPr id="3" name="">
            <a:extLst xmlns:a="http://schemas.openxmlformats.org/drawingml/2006/main">
              <a:ext uri="{FF2B5EF4-FFF2-40B4-BE49-F238E27FC236}">
                <a16:creationId xmlns:a16="http://schemas.microsoft.com/office/drawing/2014/main" id="{893DFD11-9697-47ED-91C1-1C6370A9C69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92C32A1E-47AE-4B6C-B028-E8BCAD7D807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5C872F94-920B-443A-ABEB-B6AF9804EAE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transfusion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Keep the IV access available with compatible fluid and new tubing as policy directs.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airway, breathing, circulation, vital signs, and the patient’s symptoms.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supervising RN and prescriber; recheck identification; complete ordered specimens, product return, and documentation.</a:t>
            </a:r>
          </a:p>
        </p:txBody>
      </p:sp>
      <p:sp>
        <p:nvSpPr>
          <p:cNvPr id="6" name="">
            <a:extLst xmlns:a="http://schemas.openxmlformats.org/drawingml/2006/main">
              <a:ext uri="{FF2B5EF4-FFF2-40B4-BE49-F238E27FC236}">
                <a16:creationId xmlns:a16="http://schemas.microsoft.com/office/drawing/2014/main" id="{95D7483A-CBCB-4576-96DF-3F02F510EBA9}"/>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37891444"/>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CAD785-8FD7-4486-BB8C-1DB6E5414CA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9AB79B6-FD06-4D57-966B-6E7316E180E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5F4EF08F-B1DB-4E8C-95A7-62BFAA5D883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D06FC926-B95E-4A3A-AE56-334662BCFB8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BE28CFC8-1767-4454-9BB2-217C1F47560D}"/>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Complete a mock bedside verification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Differentiate allergic, febrile, hemolytic, overload, and septic findings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Use SBAR to report a suspected reaction</a:t>
            </a:r>
          </a:p>
        </p:txBody>
      </p:sp>
      <p:sp>
        <p:nvSpPr>
          <p:cNvPr id="6" name="">
            <a:extLst xmlns:a="http://schemas.openxmlformats.org/drawingml/2006/main">
              <a:ext uri="{FF2B5EF4-FFF2-40B4-BE49-F238E27FC236}">
                <a16:creationId xmlns:a16="http://schemas.microsoft.com/office/drawing/2014/main" id="{8236DF9E-B93E-4585-A395-633686B7009A}"/>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016712538"/>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FB784BC-290D-4476-9BB3-FC17717601C3}"/>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CBF2FE88-74C5-4EFF-B82A-8ACDE05B6FB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02EBEC4A-04C6-4812-8955-FCC96ED3661A}"/>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4</a:t>
            </a:r>
          </a:p>
        </p:txBody>
      </p:sp>
      <p:sp>
        <p:nvSpPr>
          <p:cNvPr id="4" name="">
            <a:extLst xmlns:a="http://schemas.openxmlformats.org/drawingml/2006/main">
              <a:ext uri="{FF2B5EF4-FFF2-40B4-BE49-F238E27FC236}">
                <a16:creationId xmlns:a16="http://schemas.microsoft.com/office/drawing/2014/main" id="{D81ABA1B-DB7D-4363-9878-CE7008683F3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AFECC964-3774-46C9-A382-92141439F8C6}"/>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Identify common blood components and indications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Use the institution's approved two-person or electronic verification process. Match the patient, order, compatibility record, unit identifiers, expiration, and product appearance before connection.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Stop the transfusion immediately. Maintain access as policy directs, assess airway and circulation, obtain vital signs, notify the RN and prescriber, recheck identification, and complete required specimens and documentation.</a:t>
            </a:r>
          </a:p>
        </p:txBody>
      </p:sp>
      <p:sp>
        <p:nvSpPr>
          <p:cNvPr id="6" name="">
            <a:extLst xmlns:a="http://schemas.openxmlformats.org/drawingml/2006/main">
              <a:ext uri="{FF2B5EF4-FFF2-40B4-BE49-F238E27FC236}">
                <a16:creationId xmlns:a16="http://schemas.microsoft.com/office/drawing/2014/main" id="{E71C1C4C-EC03-42B1-89CD-1BC7C4C9FB7A}"/>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7801141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2026-10-23T09:19:10.1740000Z</dcterms:created>
  <dcterms:modified xsi:type="dcterms:W3CDTF">2026-10-23T09:19:10.1740000Z</dcterms:modified>
</coreProperties>
</file>