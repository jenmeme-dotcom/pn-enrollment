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a23fc5b65494972" /><Relationship Type="http://schemas.openxmlformats.org/officeDocument/2006/relationships/extended-properties" Target="/docProps/app.xml" Id="R74a1fca21f5d4cdb" /><Relationship Type="http://schemas.openxmlformats.org/officeDocument/2006/relationships/officeDocument" Target="/ppt/presentation.xml" Id="R319a00630562463c" /></Relationships>
</file>

<file path=ppt/presentation.xml><?xml version="1.0" encoding="utf-8"?>
<p:presentation xmlns:p="http://schemas.openxmlformats.org/presentationml/2006/main">
  <p:sldMasterIdLst>
    <p:sldMasterId xmlns:r="http://schemas.openxmlformats.org/officeDocument/2006/relationships" id="2147483648" r:id="R67d2309063d34f43"/>
  </p:sldMasterIdLst>
  <p:notesMasterIdLst>
    <p:notesMasterId xmlns:r="http://schemas.openxmlformats.org/officeDocument/2006/relationships" r:id="R0d565f931ee3491f"/>
  </p:notesMasterIdLst>
  <p:sldIdLst>
    <p:sldId xmlns:r="http://schemas.openxmlformats.org/officeDocument/2006/relationships" id="256" r:id="R197504d99ba04baa"/>
    <p:sldId xmlns:r="http://schemas.openxmlformats.org/officeDocument/2006/relationships" id="257" r:id="R6115daafe57448c4"/>
    <p:sldId xmlns:r="http://schemas.openxmlformats.org/officeDocument/2006/relationships" id="258" r:id="R512ab57326f64056"/>
    <p:sldId xmlns:r="http://schemas.openxmlformats.org/officeDocument/2006/relationships" id="259" r:id="R1592abf693634e54"/>
    <p:sldId xmlns:r="http://schemas.openxmlformats.org/officeDocument/2006/relationships" id="260" r:id="R45f4a11d990c4616"/>
    <p:sldId xmlns:r="http://schemas.openxmlformats.org/officeDocument/2006/relationships" id="261" r:id="Rb1d43f3d86d64594"/>
    <p:sldId xmlns:r="http://schemas.openxmlformats.org/officeDocument/2006/relationships" id="262" r:id="R2931e1237c314d3b"/>
    <p:sldId xmlns:r="http://schemas.openxmlformats.org/officeDocument/2006/relationships" id="263" r:id="Reb84e2774b15447d"/>
    <p:sldId xmlns:r="http://schemas.openxmlformats.org/officeDocument/2006/relationships" id="264" r:id="R71bd26bcfeaf491a"/>
    <p:sldId xmlns:r="http://schemas.openxmlformats.org/officeDocument/2006/relationships" id="265" r:id="R32fa470fdb7540cd"/>
    <p:sldId xmlns:r="http://schemas.openxmlformats.org/officeDocument/2006/relationships" id="266" r:id="Rb1629dd5fc4642cf"/>
    <p:sldId xmlns:r="http://schemas.openxmlformats.org/officeDocument/2006/relationships" id="267" r:id="R2afca52c88fc467b"/>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61cefa569bce4c50" /><Relationship Type="http://schemas.openxmlformats.org/officeDocument/2006/relationships/slideMaster" Target="/ppt/slideMasters/slideMaster1.xml" Id="R67d2309063d34f43" /><Relationship Type="http://schemas.openxmlformats.org/officeDocument/2006/relationships/notesMaster" Target="/ppt/notesMasters/notesMaster1.xml" Id="R0d565f931ee3491f" /><Relationship Type="http://schemas.openxmlformats.org/officeDocument/2006/relationships/presProps" Target="/ppt/presProps.xml" Id="Ra1248e6f00d04e12" /><Relationship Type="http://schemas.openxmlformats.org/officeDocument/2006/relationships/tableStyles" Target="/ppt/tableStyles.xml" Id="R4bfa97f5f0fd4584" /><Relationship Type="http://schemas.openxmlformats.org/officeDocument/2006/relationships/slide" Target="/ppt/slides/slide1.xml" Id="R197504d99ba04baa" /><Relationship Type="http://schemas.openxmlformats.org/officeDocument/2006/relationships/slide" Target="/ppt/slides/slide2.xml" Id="R6115daafe57448c4" /><Relationship Type="http://schemas.openxmlformats.org/officeDocument/2006/relationships/slide" Target="/ppt/slides/slide3.xml" Id="R512ab57326f64056" /><Relationship Type="http://schemas.openxmlformats.org/officeDocument/2006/relationships/slide" Target="/ppt/slides/slide4.xml" Id="R1592abf693634e54" /><Relationship Type="http://schemas.openxmlformats.org/officeDocument/2006/relationships/slide" Target="/ppt/slides/slide5.xml" Id="R45f4a11d990c4616" /><Relationship Type="http://schemas.openxmlformats.org/officeDocument/2006/relationships/slide" Target="/ppt/slides/slide6.xml" Id="Rb1d43f3d86d64594" /><Relationship Type="http://schemas.openxmlformats.org/officeDocument/2006/relationships/slide" Target="/ppt/slides/slide7.xml" Id="R2931e1237c314d3b" /><Relationship Type="http://schemas.openxmlformats.org/officeDocument/2006/relationships/slide" Target="/ppt/slides/slide8.xml" Id="Reb84e2774b15447d" /><Relationship Type="http://schemas.openxmlformats.org/officeDocument/2006/relationships/slide" Target="/ppt/slides/slide9.xml" Id="R71bd26bcfeaf491a" /><Relationship Type="http://schemas.openxmlformats.org/officeDocument/2006/relationships/slide" Target="/ppt/slides/slide10.xml" Id="R32fa470fdb7540cd" /><Relationship Type="http://schemas.openxmlformats.org/officeDocument/2006/relationships/slide" Target="/ppt/slides/slide11.xml" Id="Rb1629dd5fc4642cf" /><Relationship Type="http://schemas.openxmlformats.org/officeDocument/2006/relationships/slide" Target="/ppt/slides/slide12.xml" Id="R2afca52c88fc467b"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bfaae78c59743c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f607afac0774834" /><Relationship Type="http://schemas.openxmlformats.org/officeDocument/2006/relationships/notesMaster" Target="/ppt/notesMasters/notesMaster1.xml" Id="R147f5eea165347e4" /></Relationships>
</file>

<file path=ppt/notesSlides/_rels/notesSlide2.xml.rels>&#65279;<?xml version="1.0" encoding="utf-8"?><Relationships xmlns="http://schemas.openxmlformats.org/package/2006/relationships"><Relationship Type="http://schemas.openxmlformats.org/officeDocument/2006/relationships/slide" Target="/ppt/slides/slide2.xml" Id="R1df5f69d84e44e5f" /><Relationship Type="http://schemas.openxmlformats.org/officeDocument/2006/relationships/notesMaster" Target="/ppt/notesMasters/notesMaster1.xml" Id="R3a8a72ea74a842ea" /></Relationships>
</file>

<file path=ppt/notesSlides/_rels/notesSlide3.xml.rels>&#65279;<?xml version="1.0" encoding="utf-8"?><Relationships xmlns="http://schemas.openxmlformats.org/package/2006/relationships"><Relationship Type="http://schemas.openxmlformats.org/officeDocument/2006/relationships/slide" Target="/ppt/slides/slide3.xml" Id="R2cbd9bcdbf084a6f" /><Relationship Type="http://schemas.openxmlformats.org/officeDocument/2006/relationships/notesMaster" Target="/ppt/notesMasters/notesMaster1.xml" Id="R2b799df00f7441c4" /></Relationships>
</file>

<file path=ppt/notesSlides/_rels/notesSlide4.xml.rels>&#65279;<?xml version="1.0" encoding="utf-8"?><Relationships xmlns="http://schemas.openxmlformats.org/package/2006/relationships"><Relationship Type="http://schemas.openxmlformats.org/officeDocument/2006/relationships/slide" Target="/ppt/slides/slide4.xml" Id="Rbb5f83da55e045e3" /><Relationship Type="http://schemas.openxmlformats.org/officeDocument/2006/relationships/notesMaster" Target="/ppt/notesMasters/notesMaster1.xml" Id="R0ec684af4ece43ea" /></Relationships>
</file>

<file path=ppt/notesSlides/_rels/notesSlide5.xml.rels>&#65279;<?xml version="1.0" encoding="utf-8"?><Relationships xmlns="http://schemas.openxmlformats.org/package/2006/relationships"><Relationship Type="http://schemas.openxmlformats.org/officeDocument/2006/relationships/slide" Target="/ppt/slides/slide5.xml" Id="Red68c7e709384149" /><Relationship Type="http://schemas.openxmlformats.org/officeDocument/2006/relationships/notesMaster" Target="/ppt/notesMasters/notesMaster1.xml" Id="R6b5fbe8e19a34465" /></Relationships>
</file>

<file path=ppt/notesSlides/_rels/notesSlide6.xml.rels>&#65279;<?xml version="1.0" encoding="utf-8"?><Relationships xmlns="http://schemas.openxmlformats.org/package/2006/relationships"><Relationship Type="http://schemas.openxmlformats.org/officeDocument/2006/relationships/slide" Target="/ppt/slides/slide6.xml" Id="R160d2c12e1374242" /><Relationship Type="http://schemas.openxmlformats.org/officeDocument/2006/relationships/notesMaster" Target="/ppt/notesMasters/notesMaster1.xml" Id="R5c9e998779384f24" /></Relationships>
</file>

<file path=ppt/notesSlides/_rels/notesSlide7.xml.rels>&#65279;<?xml version="1.0" encoding="utf-8"?><Relationships xmlns="http://schemas.openxmlformats.org/package/2006/relationships"><Relationship Type="http://schemas.openxmlformats.org/officeDocument/2006/relationships/slide" Target="/ppt/slides/slide7.xml" Id="R1a9d8fb2cd124be5" /><Relationship Type="http://schemas.openxmlformats.org/officeDocument/2006/relationships/notesMaster" Target="/ppt/notesMasters/notesMaster1.xml" Id="Rf892a5ccb02d43eb" /></Relationships>
</file>

<file path=ppt/notesSlides/_rels/notesSlide8.xml.rels>&#65279;<?xml version="1.0" encoding="utf-8"?><Relationships xmlns="http://schemas.openxmlformats.org/package/2006/relationships"><Relationship Type="http://schemas.openxmlformats.org/officeDocument/2006/relationships/slide" Target="/ppt/slides/slide8.xml" Id="R79456e1e68394ddc" /><Relationship Type="http://schemas.openxmlformats.org/officeDocument/2006/relationships/notesMaster" Target="/ppt/notesMasters/notesMaster1.xml" Id="R60c312d3fdb44d40" /></Relationships>
</file>

<file path=ppt/notesSlides/_rels/notesSlide9.xml.rels>&#65279;<?xml version="1.0" encoding="utf-8"?><Relationships xmlns="http://schemas.openxmlformats.org/package/2006/relationships"><Relationship Type="http://schemas.openxmlformats.org/officeDocument/2006/relationships/slide" Target="/ppt/slides/slide9.xml" Id="R4453faaf087141b1" /><Relationship Type="http://schemas.openxmlformats.org/officeDocument/2006/relationships/notesMaster" Target="/ppt/notesMasters/notesMaster1.xml" Id="R6a4cc71539a944b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93d501cdc04a4235" /><Relationship Type="http://schemas.openxmlformats.org/officeDocument/2006/relationships/notesMaster" Target="/ppt/notesMasters/notesMaster1.xml" Id="Rb38ab5bae81f4ae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398afceb98554e35" /><Relationship Type="http://schemas.openxmlformats.org/officeDocument/2006/relationships/notesMaster" Target="/ppt/notesMasters/notesMaster1.xml" Id="R09d38ef7c2ae494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f9aec8977bb84196" /><Relationship Type="http://schemas.openxmlformats.org/officeDocument/2006/relationships/notesMaster" Target="/ppt/notesMasters/notesMaster1.xml" Id="Rf3ca2a5f15b046b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Chemotherapy Safety, Module 6 of the BMHI thirty-hour intravenous therapy course. Explain that this module prepares learners for safe practice and the supervised in-person competency day. Preview the learning objectives and remind learners to complete the matching portal lesson and assessment.</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Cover media: Pexels photo by Roman Muntean, https://www.pexels.com/photo/medical-professionals-wearing-personal-protective-equipment-14513020/, downloaded October 23, 2026 under the Pexels License.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learning objectives. First, Explain major treatment concepts and common adverse effects Next, Describe safe handling and exposure precautions Next, Recognize extravasation and other urgent complications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Role and limits. First, Cancer therapy may use multiple agents and routes. Next, LPN participation must stay within current Florida rules, direct-supervision requirements, validated competency, and institutional policy.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Patient assessment. First, Review the regimen, laboratory results, allergies, access device, premedications, hydration, current symptoms, and emergency plan. Next, Verify the protocol and independent checks required for high-alert therapy.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Exposure prevention. First, Use chemotherapy-rated PPE and closed or secure connections according to policy. Next, Keep required spill materials available. Next, Dispose of contaminated supplies and bodily waste using hazardous-drug procedures.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First, Pain, burning, swelling, resistance, leakage, or loss of blood return can signal extravasation. Next,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Chemotherapy is a high-alert workflow. First, Confirm the protocol, current cycle and day, dose basis, laboratory criteria, premedications, route, and access device. Next, Use every required independent check and never assume a prior cycle makes the current order correct. Next, Participate only within legal scope, validated competency, and direct-supervision requirements.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Hazardous-drug exposure routes. First, Skin or eye contact: Chemotherapy-rated gloves, gown, face and eye protection as indicated Next, Inhalation: Avoid aerosol generation and use required engineering controls Next, Sharps injury: Use safety devices and never recap Next, Contaminated waste or body fluids: Follow hazardous-waste and excreta precautions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Extravasation warning signs. First, Pain, burning, stinging, swelling, blanching, redness, leakage, resistance, or absent blood return may signal extravasation. Next, Stop the infusion immediately; do not flush. Next, Leave the catheter in place when the agent-specific protocol calls for aspiration or antidote. Next, Notify the qualified clinician and follow the exact drug-specific protocol for aspiration, antidote, compress, elevation, documentation, and follow-up.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Systemic findings that require escalation. First, Airway symptoms, hypotension, severe dyspnea, or rapidly worsening reaction. Next, Fever or infection symptoms in an immunocompromised patient. Next, Unexpected bleeding, severe vomiting or diarrhea, altered mental status, or critical laboratory results. Next, Assess, stop or hold therapy as authorized, and activate the emergency pathway.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67-79;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practice and competency expectations. First, Identify findings that require an immediate stop Next, Select PPE for preparation, administration, and spill response Next, Rehearse the facility extravasation algorithm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Online preparation precedes live practice.</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HEYGEN INSTRUCTOR SCRIPT</a:t>
            </a:r>
          </a:p>
          <a:p xmlns:a="http://schemas.openxmlformats.org/drawingml/2006/main">
            <a:r>
              <a:t>Welcome to this lesson segment on the module key points. First, Explain major treatment concepts and common adverse effects Next, Review the regimen, laboratory results, allergies, access device, premedications, hydration, current symptoms, and emergency plan. Verify the protocol and independent checks required for high-alert therapy. Next, Pain, burning, swelling, resistance, leakage, or loss of blood return can signal extravasation. Stop the drug, leave access in place when the agent-specific protocol requires aspiration or antidote, notify the qualified clinician, and follow the exact drug protocol. Pause here and ask learners to identify the safety check they would complete before proceeding. Reinforce that students must follow current orders, facility policy, their authorized scope, and the supervising registered nurse's direction. Invite learners to replay this segment and record questions for the instructor.</a:t>
            </a:r>
          </a:p>
          <a:p xmlns:a="http://schemas.openxmlformats.org/drawingml/2006/main">
            <a:r>
              <a:t/>
            </a:r>
          </a:p>
          <a:p xmlns:a="http://schemas.openxmlformats.org/drawingml/2006/main">
            <a:r>
              <a:t>PRODUCTION DIRECTION</a:t>
            </a:r>
          </a:p>
          <a:p xmlns:a="http://schemas.openxmlformats.org/drawingml/2006/main">
            <a:r>
              <a:t>Use a professional nursing instructor avatar, calm pace, neutral clinical background, and captions. Pronounce IV as I-V and IVPB as I-V piggyback.</a:t>
            </a:r>
          </a:p>
          <a:p xmlns:a="http://schemas.openxmlformats.org/drawingml/2006/main">
            <a:r>
              <a:t/>
            </a:r>
          </a:p>
          <a:p xmlns:a="http://schemas.openxmlformats.org/drawingml/2006/main">
            <a:r>
              <a:t>SOURCES</a:t>
            </a:r>
          </a:p>
          <a:p xmlns:a="http://schemas.openxmlformats.org/drawingml/2006/main">
            <a:r>
              <a:t>Supplied Basic Intravenous Therapy Certification manual, pages 67; BMHI IVT 030 course content. </a:t>
            </a:r>
          </a:p>
          <a:p xmlns:a="http://schemas.openxmlformats.org/drawingml/2006/main">
            <a:r>
              <a:t>Current legal reference: Florida Administrative Code Rule 64B9-12.005, effective July 20, 2023; Florida Statutes section 464.003 (2026). Instructor must verify current institutional policy and current drug/device guidance before use.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ca0c0b32c5d4b34"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82b01dda2443439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162a8972e0d4d8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dcf7859857074b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334c9cecf55474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2f4afbb9cc934db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C8676EC-C68F-497B-96F3-B37D4291E6CB}"/>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0D260E3-E25D-474A-8B9B-520686905827}"/>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617CCC4-DDBE-467D-916F-047D147699BE}"/>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4AF5484-EBF8-48FF-B9BA-BEA6E8C9A23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2943D353-E97C-432A-A6FE-841328F7294C}"/>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086E1E3D-8385-45C7-9D8C-D79A45BE06B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AB66F39-60FF-4961-8459-EA91DC4F3E7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28736CA8-CF5A-4251-90AA-41D89B95FF4D}"/>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66626C8-FEFD-4F15-B54E-E4A0F66F68E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40D091F-1B3C-4493-9B4F-D484B6629733}"/>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7810ca287224dc5" /><Relationship Type="http://schemas.openxmlformats.org/officeDocument/2006/relationships/slideLayout" Target="/ppt/slideLayouts/slideLayout1.xml" Id="R72e033e44ac54f5b" /><Relationship Type="http://schemas.openxmlformats.org/officeDocument/2006/relationships/slideLayout" Target="/ppt/slideLayouts/slideLayout2.xml" Id="Rba4d7310b5574f4b" /><Relationship Type="http://schemas.openxmlformats.org/officeDocument/2006/relationships/slideLayout" Target="/ppt/slideLayouts/slideLayout3.xml" Id="Rbfafa3cf65df4f9a" /><Relationship Type="http://schemas.openxmlformats.org/officeDocument/2006/relationships/slideLayout" Target="/ppt/slideLayouts/slideLayout4.xml" Id="R23b3f4bf173142df" /><Relationship Type="http://schemas.openxmlformats.org/officeDocument/2006/relationships/slideLayout" Target="/ppt/slideLayouts/slideLayout5.xml" Id="Rb627195633564da1" /><Relationship Type="http://schemas.openxmlformats.org/officeDocument/2006/relationships/slideLayout" Target="/ppt/slideLayouts/slideLayout6.xml" Id="Rdf7e965895e348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e033e44ac54f5b"/>
    <p:sldLayoutId xmlns:r="http://schemas.openxmlformats.org/officeDocument/2006/relationships" id="2147483650" r:id="Rba4d7310b5574f4b"/>
    <p:sldLayoutId xmlns:r="http://schemas.openxmlformats.org/officeDocument/2006/relationships" id="2147483651" r:id="Rbfafa3cf65df4f9a"/>
    <p:sldLayoutId xmlns:r="http://schemas.openxmlformats.org/officeDocument/2006/relationships" id="2147483652" r:id="R23b3f4bf173142df"/>
    <p:sldLayoutId xmlns:r="http://schemas.openxmlformats.org/officeDocument/2006/relationships" id="2147483653" r:id="Rb627195633564da1"/>
    <p:sldLayoutId xmlns:r="http://schemas.openxmlformats.org/officeDocument/2006/relationships" id="2147483654" r:id="Rdf7e965895e348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5c6400f22201461f" /><Relationship Type="http://schemas.openxmlformats.org/officeDocument/2006/relationships/image" Target="/ppt/media/image.jpeg" Id="R31b76577f41344c5" /><Relationship Type="http://schemas.openxmlformats.org/officeDocument/2006/relationships/notesSlide" Target="/ppt/notesSlides/notesSlide1.xml" Id="R9e607e6f8c3b4857"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04bba89436844e0" /><Relationship Type="http://schemas.openxmlformats.org/officeDocument/2006/relationships/notesSlide" Target="/ppt/notesSlides/notesSlide2.xml" Id="R6d65ca8a3817401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4639c95a6d24543" /><Relationship Type="http://schemas.openxmlformats.org/officeDocument/2006/relationships/notesSlide" Target="/ppt/notesSlides/notesSlide3.xml" Id="Rb9db0601def04467"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f00daee29a34190" /><Relationship Type="http://schemas.openxmlformats.org/officeDocument/2006/relationships/notesSlide" Target="/ppt/notesSlides/notesSlide4.xml" Id="R3299fff362a9411e"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7e9105d0152f47d1" /><Relationship Type="http://schemas.openxmlformats.org/officeDocument/2006/relationships/notesSlide" Target="/ppt/notesSlides/notesSlide5.xml" Id="R712d1bce68fc48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eb14dfc7ee4c31" /><Relationship Type="http://schemas.openxmlformats.org/officeDocument/2006/relationships/notesSlide" Target="/ppt/notesSlides/notesSlide6.xml" Id="R44b8fa4635ca4ea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67329b69d8ca466c" /><Relationship Type="http://schemas.openxmlformats.org/officeDocument/2006/relationships/notesSlide" Target="/ppt/notesSlides/notesSlide7.xml" Id="Re3b8bf0b3d7d494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21631c521484373" /><Relationship Type="http://schemas.openxmlformats.org/officeDocument/2006/relationships/notesSlide" Target="/ppt/notesSlides/notesSlide8.xml" Id="Rd408a93c76ed40a0"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8a64e91bb094a6f" /><Relationship Type="http://schemas.openxmlformats.org/officeDocument/2006/relationships/notesSlide" Target="/ppt/notesSlides/notesSlide9.xml" Id="R545bd41aea8446d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76827b79f68c4f37" /><Relationship Type="http://schemas.openxmlformats.org/officeDocument/2006/relationships/notesSlide" Target="/ppt/notesSlides/notesSlide10.xml" Id="R8f099301ed9d4802"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9286822a58944818" /><Relationship Type="http://schemas.openxmlformats.org/officeDocument/2006/relationships/notesSlide" Target="/ppt/notesSlides/notesSlide11.xml" Id="R5fb05f07c5f04754"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f438ace93b34022" /><Relationship Type="http://schemas.openxmlformats.org/officeDocument/2006/relationships/notesSlide" Target="/ppt/notesSlides/notesSlide12.xml" Id="R1b45140692f24a14" /></Relationships>
</file>

<file path=ppt/slides/slide1.xml><?xml version="1.0" encoding="utf-8"?>
<p:sld xmlns:p="http://schemas.openxmlformats.org/presentationml/2006/main">
  <p:cSld>
    <p:bg>
      <p:bgPr>
        <a:solidFill xmlns:a="http://schemas.openxmlformats.org/drawingml/2006/main">
          <a:srgbClr val="15324A"/>
        </a:solidFill>
      </p:bgPr>
    </p:bg>
    <p:spTree>
      <p:nvGrpSpPr>
        <p:cNvPr id="1" name=""/>
        <p:cNvGrpSpPr/>
        <p:nvPr/>
      </p:nvGrpSpPr>
      <p:grpSpPr>
        <a:xfrm xmlns:a="http://schemas.openxmlformats.org/drawingml/2006/main"/>
      </p:grpSpPr>
      <p:pic>
        <p:nvPicPr>
          <p:cNvPr id="8" name="">
            <a:extLst xmlns:a="http://schemas.openxmlformats.org/drawingml/2006/main">
              <a:ext uri="{FF2B5EF4-FFF2-40B4-BE49-F238E27FC236}">
                <a16:creationId xmlns:a16="http://schemas.microsoft.com/office/drawing/2014/main" id="{FEEABC5C-911E-4DFC-AE08-6EA0DE5179B6}"/>
              </a:ext>
            </a:extLst>
          </p:cNvPr>
          <p:cNvPicPr>
            <a:picLocks xmlns:a="http://schemas.openxmlformats.org/drawingml/2006/main" noChangeAspect="1"/>
          </p:cNvPicPr>
          <p:nvPr/>
        </p:nvPicPr>
        <p:blipFill>
          <a:blip xmlns:r="http://schemas.openxmlformats.org/officeDocument/2006/relationships" xmlns:a="http://schemas.openxmlformats.org/drawingml/2006/main" r:embed="R31b76577f41344c5"/>
          <a:srcRect xmlns:a="http://schemas.openxmlformats.org/drawingml/2006/main" l="2189" t="0" r="2189" b="0"/>
          <a:stretch xmlns:a="http://schemas.openxmlformats.org/drawingml/2006/main">
            <a:fillRect l="0" t="0" r="0" b="0"/>
          </a:stretch>
        </p:blipFill>
        <p:spPr>
          <a:xfrm xmlns:a="http://schemas.openxmlformats.org/drawingml/2006/main">
            <a:off x="7858125" y="0"/>
            <a:ext cx="4333875" cy="6858000"/>
          </a:xfrm>
          <a:prstGeom xmlns:a="http://schemas.openxmlformats.org/drawingml/2006/main" prst="rect">
            <a:avLst/>
          </a:prstGeom>
        </p:spPr>
      </p:pic>
      <p:sp>
        <p:nvSpPr>
          <p:cNvPr id="2" name="">
            <a:extLst xmlns:a="http://schemas.openxmlformats.org/drawingml/2006/main">
              <a:ext uri="{FF2B5EF4-FFF2-40B4-BE49-F238E27FC236}">
                <a16:creationId xmlns:a16="http://schemas.microsoft.com/office/drawing/2014/main" id="{EFD1C1BF-5E18-46DB-97EB-53108C1BE016}"/>
              </a:ext>
            </a:extLst>
          </p:cNvPr>
          <p:cNvSpPr>
            <a:spLocks xmlns:a="http://schemas.openxmlformats.org/drawingml/2006/main" noGrp="1"/>
          </p:cNvSpPr>
          <p:nvPr/>
        </p:nvSpPr>
        <p:spPr>
          <a:xfrm xmlns:a="http://schemas.openxmlformats.org/drawingml/2006/main">
            <a:off x="0" y="0"/>
            <a:ext cx="26670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3" name="">
            <a:extLst xmlns:a="http://schemas.openxmlformats.org/drawingml/2006/main">
              <a:ext uri="{FF2B5EF4-FFF2-40B4-BE49-F238E27FC236}">
                <a16:creationId xmlns:a16="http://schemas.microsoft.com/office/drawing/2014/main" id="{1B51BA16-2372-4D35-921B-583E5197DE43}"/>
              </a:ext>
            </a:extLst>
          </p:cNvPr>
          <p:cNvSpPr>
            <a:spLocks xmlns:a="http://schemas.openxmlformats.org/drawingml/2006/main" noGrp="1"/>
          </p:cNvSpPr>
          <p:nvPr/>
        </p:nvSpPr>
        <p:spPr>
          <a:xfrm xmlns:a="http://schemas.openxmlformats.org/drawingml/2006/main">
            <a:off x="7524750" y="0"/>
            <a:ext cx="333375"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4" name="">
            <a:extLst xmlns:a="http://schemas.openxmlformats.org/drawingml/2006/main">
              <a:ext uri="{FF2B5EF4-FFF2-40B4-BE49-F238E27FC236}">
                <a16:creationId xmlns:a16="http://schemas.microsoft.com/office/drawing/2014/main" id="{1C3ECC5B-7289-492C-BC15-5210F2EACCFC}"/>
              </a:ext>
            </a:extLst>
          </p:cNvPr>
          <p:cNvSpPr>
            <a:spLocks xmlns:a="http://schemas.openxmlformats.org/drawingml/2006/main" noGrp="1"/>
          </p:cNvSpPr>
          <p:nvPr/>
        </p:nvSpPr>
        <p:spPr>
          <a:xfrm xmlns:a="http://schemas.openxmlformats.org/drawingml/2006/main">
            <a:off x="723900" y="628650"/>
            <a:ext cx="6477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75" b="1">
                <a:solidFill>
                  <a:srgbClr val="CFEDEF"/>
                </a:solidFill>
                <a:latin typeface="Helvetica Neue"/>
                <a:ea typeface="Helvetica Neue"/>
                <a:cs typeface="Helvetica Neue"/>
              </a:defRPr>
            </a:defPPr>
            <a:lvl1pPr>
              <a:defRPr sz="1275" b="1">
                <a:solidFill>
                  <a:srgbClr val="CFEDEF"/>
                </a:solidFill>
                <a:latin typeface="Helvetica Neue"/>
                <a:ea typeface="Helvetica Neue"/>
                <a:cs typeface="Helvetica Neue"/>
              </a:defRPr>
            </a:lvl1pPr>
            <a:lvl2pPr>
              <a:defRPr sz="1275" b="1">
                <a:solidFill>
                  <a:srgbClr val="CFEDEF"/>
                </a:solidFill>
                <a:latin typeface="Helvetica Neue"/>
                <a:ea typeface="Helvetica Neue"/>
                <a:cs typeface="Helvetica Neue"/>
              </a:defRPr>
            </a:lvl2pPr>
            <a:lvl3pPr>
              <a:defRPr sz="1275" b="1">
                <a:solidFill>
                  <a:srgbClr val="CFEDEF"/>
                </a:solidFill>
                <a:latin typeface="Helvetica Neue"/>
                <a:ea typeface="Helvetica Neue"/>
                <a:cs typeface="Helvetica Neue"/>
              </a:defRPr>
            </a:lvl3pPr>
            <a:lvl4pPr>
              <a:defRPr sz="1275" b="1">
                <a:solidFill>
                  <a:srgbClr val="CFEDEF"/>
                </a:solidFill>
                <a:latin typeface="Helvetica Neue"/>
                <a:ea typeface="Helvetica Neue"/>
                <a:cs typeface="Helvetica Neue"/>
              </a:defRPr>
            </a:lvl4pPr>
            <a:lvl5pPr>
              <a:defRPr sz="1275" b="1">
                <a:solidFill>
                  <a:srgbClr val="CFEDEF"/>
                </a:solidFill>
                <a:latin typeface="Helvetica Neue"/>
                <a:ea typeface="Helvetica Neue"/>
                <a:cs typeface="Helvetica Neue"/>
              </a:defRPr>
            </a:lvl5pPr>
            <a:lvl6pPr>
              <a:defRPr sz="1275" b="1">
                <a:solidFill>
                  <a:srgbClr val="CFEDEF"/>
                </a:solidFill>
                <a:latin typeface="Helvetica Neue"/>
                <a:ea typeface="Helvetica Neue"/>
                <a:cs typeface="Helvetica Neue"/>
              </a:defRPr>
            </a:lvl6pPr>
            <a:lvl7pPr>
              <a:defRPr sz="1275" b="1">
                <a:solidFill>
                  <a:srgbClr val="CFEDEF"/>
                </a:solidFill>
                <a:latin typeface="Helvetica Neue"/>
                <a:ea typeface="Helvetica Neue"/>
                <a:cs typeface="Helvetica Neue"/>
              </a:defRPr>
            </a:lvl7pPr>
            <a:lvl8pPr>
              <a:defRPr sz="1275" b="1">
                <a:solidFill>
                  <a:srgbClr val="CFEDEF"/>
                </a:solidFill>
                <a:latin typeface="Helvetica Neue"/>
                <a:ea typeface="Helvetica Neue"/>
                <a:cs typeface="Helvetica Neue"/>
              </a:defRPr>
            </a:lvl8pPr>
            <a:lvl9pPr>
              <a:defRPr sz="1275" b="1">
                <a:solidFill>
                  <a:srgbClr val="CFEDEF"/>
                </a:solidFill>
                <a:latin typeface="Helvetica Neue"/>
                <a:ea typeface="Helvetica Neue"/>
                <a:cs typeface="Helvetica Neue"/>
              </a:defRPr>
            </a:lvl9pPr>
          </a:lstStyle>
          <a:p xmlns:a="http://schemas.openxmlformats.org/drawingml/2006/main">
            <a:pPr>
              <a:defRPr sz="1275" b="1">
                <a:solidFill>
                  <a:srgbClr val="CFEDEF"/>
                </a:solidFill>
                <a:latin typeface="Helvetica Neue"/>
                <a:ea typeface="Helvetica Neue"/>
                <a:cs typeface="Helvetica Neue"/>
              </a:defRPr>
            </a:pPr>
            <a:r>
              <a:rPr sz="1275" b="1">
                <a:solidFill>
                  <a:srgbClr val="CFEDEF"/>
                </a:solidFill>
                <a:latin typeface="Helvetica Neue"/>
                <a:ea typeface="Helvetica Neue"/>
                <a:cs typeface="Helvetica Neue"/>
              </a:rPr>
              <a:t>BROWARD-MIAMI HEALTH INSTITUTE</a:t>
            </a:r>
          </a:p>
        </p:txBody>
      </p:sp>
      <p:sp>
        <p:nvSpPr>
          <p:cNvPr id="5" name="">
            <a:extLst xmlns:a="http://schemas.openxmlformats.org/drawingml/2006/main">
              <a:ext uri="{FF2B5EF4-FFF2-40B4-BE49-F238E27FC236}">
                <a16:creationId xmlns:a16="http://schemas.microsoft.com/office/drawing/2014/main" id="{3899A022-20F0-4FE1-8977-5C163DFBDEF6}"/>
              </a:ext>
            </a:extLst>
          </p:cNvPr>
          <p:cNvSpPr>
            <a:spLocks xmlns:a="http://schemas.openxmlformats.org/drawingml/2006/main" noGrp="1"/>
          </p:cNvSpPr>
          <p:nvPr/>
        </p:nvSpPr>
        <p:spPr>
          <a:xfrm xmlns:a="http://schemas.openxmlformats.org/drawingml/2006/main">
            <a:off x="723900" y="1619250"/>
            <a:ext cx="6286500" cy="1809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3600" b="1">
                <a:solidFill>
                  <a:srgbClr val="FFFFFF"/>
                </a:solidFill>
                <a:latin typeface="Helvetica Neue"/>
                <a:ea typeface="Helvetica Neue"/>
                <a:cs typeface="Helvetica Neue"/>
              </a:defRPr>
            </a:defPPr>
            <a:lvl1pPr>
              <a:defRPr sz="3600" b="1">
                <a:solidFill>
                  <a:srgbClr val="FFFFFF"/>
                </a:solidFill>
                <a:latin typeface="Helvetica Neue"/>
                <a:ea typeface="Helvetica Neue"/>
                <a:cs typeface="Helvetica Neue"/>
              </a:defRPr>
            </a:lvl1pPr>
            <a:lvl2pPr>
              <a:defRPr sz="3600" b="1">
                <a:solidFill>
                  <a:srgbClr val="FFFFFF"/>
                </a:solidFill>
                <a:latin typeface="Helvetica Neue"/>
                <a:ea typeface="Helvetica Neue"/>
                <a:cs typeface="Helvetica Neue"/>
              </a:defRPr>
            </a:lvl2pPr>
            <a:lvl3pPr>
              <a:defRPr sz="3600" b="1">
                <a:solidFill>
                  <a:srgbClr val="FFFFFF"/>
                </a:solidFill>
                <a:latin typeface="Helvetica Neue"/>
                <a:ea typeface="Helvetica Neue"/>
                <a:cs typeface="Helvetica Neue"/>
              </a:defRPr>
            </a:lvl3pPr>
            <a:lvl4pPr>
              <a:defRPr sz="3600" b="1">
                <a:solidFill>
                  <a:srgbClr val="FFFFFF"/>
                </a:solidFill>
                <a:latin typeface="Helvetica Neue"/>
                <a:ea typeface="Helvetica Neue"/>
                <a:cs typeface="Helvetica Neue"/>
              </a:defRPr>
            </a:lvl4pPr>
            <a:lvl5pPr>
              <a:defRPr sz="3600" b="1">
                <a:solidFill>
                  <a:srgbClr val="FFFFFF"/>
                </a:solidFill>
                <a:latin typeface="Helvetica Neue"/>
                <a:ea typeface="Helvetica Neue"/>
                <a:cs typeface="Helvetica Neue"/>
              </a:defRPr>
            </a:lvl5pPr>
            <a:lvl6pPr>
              <a:defRPr sz="3600" b="1">
                <a:solidFill>
                  <a:srgbClr val="FFFFFF"/>
                </a:solidFill>
                <a:latin typeface="Helvetica Neue"/>
                <a:ea typeface="Helvetica Neue"/>
                <a:cs typeface="Helvetica Neue"/>
              </a:defRPr>
            </a:lvl6pPr>
            <a:lvl7pPr>
              <a:defRPr sz="3600" b="1">
                <a:solidFill>
                  <a:srgbClr val="FFFFFF"/>
                </a:solidFill>
                <a:latin typeface="Helvetica Neue"/>
                <a:ea typeface="Helvetica Neue"/>
                <a:cs typeface="Helvetica Neue"/>
              </a:defRPr>
            </a:lvl7pPr>
            <a:lvl8pPr>
              <a:defRPr sz="3600" b="1">
                <a:solidFill>
                  <a:srgbClr val="FFFFFF"/>
                </a:solidFill>
                <a:latin typeface="Helvetica Neue"/>
                <a:ea typeface="Helvetica Neue"/>
                <a:cs typeface="Helvetica Neue"/>
              </a:defRPr>
            </a:lvl8pPr>
            <a:lvl9pPr>
              <a:defRPr sz="3600" b="1">
                <a:solidFill>
                  <a:srgbClr val="FFFFFF"/>
                </a:solidFill>
                <a:latin typeface="Helvetica Neue"/>
                <a:ea typeface="Helvetica Neue"/>
                <a:cs typeface="Helvetica Neue"/>
              </a:defRPr>
            </a:lvl9pPr>
          </a:lstStyle>
          <a:p xmlns:a="http://schemas.openxmlformats.org/drawingml/2006/main">
            <a:pPr>
              <a:defRPr sz="3600" b="1">
                <a:solidFill>
                  <a:srgbClr val="FFFFFF"/>
                </a:solidFill>
                <a:latin typeface="Helvetica Neue"/>
                <a:ea typeface="Helvetica Neue"/>
                <a:cs typeface="Helvetica Neue"/>
              </a:defRPr>
            </a:pPr>
            <a:r>
              <a:rPr sz="3600" b="1">
                <a:solidFill>
                  <a:srgbClr val="FFFFFF"/>
                </a:solidFill>
                <a:latin typeface="Helvetica Neue"/>
                <a:ea typeface="Helvetica Neue"/>
                <a:cs typeface="Helvetica Neue"/>
              </a:rPr>
              <a:t>Chemotherapy Safety</a:t>
            </a:r>
          </a:p>
        </p:txBody>
      </p:sp>
      <p:sp>
        <p:nvSpPr>
          <p:cNvPr id="6" name="">
            <a:extLst xmlns:a="http://schemas.openxmlformats.org/drawingml/2006/main">
              <a:ext uri="{FF2B5EF4-FFF2-40B4-BE49-F238E27FC236}">
                <a16:creationId xmlns:a16="http://schemas.microsoft.com/office/drawing/2014/main" id="{2B72D710-D20F-42DA-9E23-950BE9F33889}"/>
              </a:ext>
            </a:extLst>
          </p:cNvPr>
          <p:cNvSpPr>
            <a:spLocks xmlns:a="http://schemas.openxmlformats.org/drawingml/2006/main" noGrp="1"/>
          </p:cNvSpPr>
          <p:nvPr/>
        </p:nvSpPr>
        <p:spPr>
          <a:xfrm xmlns:a="http://schemas.openxmlformats.org/drawingml/2006/main">
            <a:off x="762000" y="3943350"/>
            <a:ext cx="62865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725">
                <a:solidFill>
                  <a:srgbClr val="FFFFFF"/>
                </a:solidFill>
                <a:latin typeface="Helvetica Neue"/>
                <a:ea typeface="Helvetica Neue"/>
                <a:cs typeface="Helvetica Neue"/>
              </a:defRPr>
            </a:defPPr>
            <a:lvl1pPr>
              <a:defRPr sz="1725">
                <a:solidFill>
                  <a:srgbClr val="FFFFFF"/>
                </a:solidFill>
                <a:latin typeface="Helvetica Neue"/>
                <a:ea typeface="Helvetica Neue"/>
                <a:cs typeface="Helvetica Neue"/>
              </a:defRPr>
            </a:lvl1pPr>
            <a:lvl2pPr>
              <a:defRPr sz="1725">
                <a:solidFill>
                  <a:srgbClr val="FFFFFF"/>
                </a:solidFill>
                <a:latin typeface="Helvetica Neue"/>
                <a:ea typeface="Helvetica Neue"/>
                <a:cs typeface="Helvetica Neue"/>
              </a:defRPr>
            </a:lvl2pPr>
            <a:lvl3pPr>
              <a:defRPr sz="1725">
                <a:solidFill>
                  <a:srgbClr val="FFFFFF"/>
                </a:solidFill>
                <a:latin typeface="Helvetica Neue"/>
                <a:ea typeface="Helvetica Neue"/>
                <a:cs typeface="Helvetica Neue"/>
              </a:defRPr>
            </a:lvl3pPr>
            <a:lvl4pPr>
              <a:defRPr sz="1725">
                <a:solidFill>
                  <a:srgbClr val="FFFFFF"/>
                </a:solidFill>
                <a:latin typeface="Helvetica Neue"/>
                <a:ea typeface="Helvetica Neue"/>
                <a:cs typeface="Helvetica Neue"/>
              </a:defRPr>
            </a:lvl4pPr>
            <a:lvl5pPr>
              <a:defRPr sz="1725">
                <a:solidFill>
                  <a:srgbClr val="FFFFFF"/>
                </a:solidFill>
                <a:latin typeface="Helvetica Neue"/>
                <a:ea typeface="Helvetica Neue"/>
                <a:cs typeface="Helvetica Neue"/>
              </a:defRPr>
            </a:lvl5pPr>
            <a:lvl6pPr>
              <a:defRPr sz="1725">
                <a:solidFill>
                  <a:srgbClr val="FFFFFF"/>
                </a:solidFill>
                <a:latin typeface="Helvetica Neue"/>
                <a:ea typeface="Helvetica Neue"/>
                <a:cs typeface="Helvetica Neue"/>
              </a:defRPr>
            </a:lvl6pPr>
            <a:lvl7pPr>
              <a:defRPr sz="1725">
                <a:solidFill>
                  <a:srgbClr val="FFFFFF"/>
                </a:solidFill>
                <a:latin typeface="Helvetica Neue"/>
                <a:ea typeface="Helvetica Neue"/>
                <a:cs typeface="Helvetica Neue"/>
              </a:defRPr>
            </a:lvl7pPr>
            <a:lvl8pPr>
              <a:defRPr sz="1725">
                <a:solidFill>
                  <a:srgbClr val="FFFFFF"/>
                </a:solidFill>
                <a:latin typeface="Helvetica Neue"/>
                <a:ea typeface="Helvetica Neue"/>
                <a:cs typeface="Helvetica Neue"/>
              </a:defRPr>
            </a:lvl8pPr>
            <a:lvl9pPr>
              <a:defRPr sz="1725">
                <a:solidFill>
                  <a:srgbClr val="FFFFFF"/>
                </a:solidFill>
                <a:latin typeface="Helvetica Neue"/>
                <a:ea typeface="Helvetica Neue"/>
                <a:cs typeface="Helvetica Neue"/>
              </a:defRPr>
            </a:lvl9pPr>
          </a:lstStyle>
          <a:p xmlns:a="http://schemas.openxmlformats.org/drawingml/2006/main">
            <a:pPr>
              <a:defRPr sz="1725">
                <a:solidFill>
                  <a:srgbClr val="FFFFFF"/>
                </a:solidFill>
                <a:latin typeface="Helvetica Neue"/>
                <a:ea typeface="Helvetica Neue"/>
                <a:cs typeface="Helvetica Neue"/>
              </a:defRPr>
            </a:pPr>
            <a:r>
              <a:rPr sz="1725">
                <a:solidFill>
                  <a:srgbClr val="FFFFFF"/>
                </a:solidFill>
                <a:latin typeface="Helvetica Neue"/>
                <a:ea typeface="Helvetica Neue"/>
                <a:cs typeface="Helvetica Neue"/>
              </a:rPr>
              <a:t>Module 6  |  30-Hour Basic Intravenous Therapy</a:t>
            </a:r>
          </a:p>
        </p:txBody>
      </p:sp>
      <p:sp>
        <p:nvSpPr>
          <p:cNvPr id="7" name="">
            <a:extLst xmlns:a="http://schemas.openxmlformats.org/drawingml/2006/main">
              <a:ext uri="{FF2B5EF4-FFF2-40B4-BE49-F238E27FC236}">
                <a16:creationId xmlns:a16="http://schemas.microsoft.com/office/drawing/2014/main" id="{BC1D5502-DE0C-4E01-963D-4BA5B6555FBA}"/>
              </a:ext>
            </a:extLst>
          </p:cNvPr>
          <p:cNvSpPr>
            <a:spLocks xmlns:a="http://schemas.openxmlformats.org/drawingml/2006/main" noGrp="1"/>
          </p:cNvSpPr>
          <p:nvPr/>
        </p:nvSpPr>
        <p:spPr>
          <a:xfrm xmlns:a="http://schemas.openxmlformats.org/drawingml/2006/main">
            <a:off x="762000" y="4762500"/>
            <a:ext cx="6286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425" b="1">
                <a:solidFill>
                  <a:srgbClr val="CFEDEF"/>
                </a:solidFill>
                <a:latin typeface="Helvetica Neue"/>
                <a:ea typeface="Helvetica Neue"/>
                <a:cs typeface="Helvetica Neue"/>
              </a:defRPr>
            </a:defPPr>
            <a:lvl1pPr>
              <a:defRPr sz="1425" b="1">
                <a:solidFill>
                  <a:srgbClr val="CFEDEF"/>
                </a:solidFill>
                <a:latin typeface="Helvetica Neue"/>
                <a:ea typeface="Helvetica Neue"/>
                <a:cs typeface="Helvetica Neue"/>
              </a:defRPr>
            </a:lvl1pPr>
            <a:lvl2pPr>
              <a:defRPr sz="1425" b="1">
                <a:solidFill>
                  <a:srgbClr val="CFEDEF"/>
                </a:solidFill>
                <a:latin typeface="Helvetica Neue"/>
                <a:ea typeface="Helvetica Neue"/>
                <a:cs typeface="Helvetica Neue"/>
              </a:defRPr>
            </a:lvl2pPr>
            <a:lvl3pPr>
              <a:defRPr sz="1425" b="1">
                <a:solidFill>
                  <a:srgbClr val="CFEDEF"/>
                </a:solidFill>
                <a:latin typeface="Helvetica Neue"/>
                <a:ea typeface="Helvetica Neue"/>
                <a:cs typeface="Helvetica Neue"/>
              </a:defRPr>
            </a:lvl3pPr>
            <a:lvl4pPr>
              <a:defRPr sz="1425" b="1">
                <a:solidFill>
                  <a:srgbClr val="CFEDEF"/>
                </a:solidFill>
                <a:latin typeface="Helvetica Neue"/>
                <a:ea typeface="Helvetica Neue"/>
                <a:cs typeface="Helvetica Neue"/>
              </a:defRPr>
            </a:lvl4pPr>
            <a:lvl5pPr>
              <a:defRPr sz="1425" b="1">
                <a:solidFill>
                  <a:srgbClr val="CFEDEF"/>
                </a:solidFill>
                <a:latin typeface="Helvetica Neue"/>
                <a:ea typeface="Helvetica Neue"/>
                <a:cs typeface="Helvetica Neue"/>
              </a:defRPr>
            </a:lvl5pPr>
            <a:lvl6pPr>
              <a:defRPr sz="1425" b="1">
                <a:solidFill>
                  <a:srgbClr val="CFEDEF"/>
                </a:solidFill>
                <a:latin typeface="Helvetica Neue"/>
                <a:ea typeface="Helvetica Neue"/>
                <a:cs typeface="Helvetica Neue"/>
              </a:defRPr>
            </a:lvl6pPr>
            <a:lvl7pPr>
              <a:defRPr sz="1425" b="1">
                <a:solidFill>
                  <a:srgbClr val="CFEDEF"/>
                </a:solidFill>
                <a:latin typeface="Helvetica Neue"/>
                <a:ea typeface="Helvetica Neue"/>
                <a:cs typeface="Helvetica Neue"/>
              </a:defRPr>
            </a:lvl7pPr>
            <a:lvl8pPr>
              <a:defRPr sz="1425" b="1">
                <a:solidFill>
                  <a:srgbClr val="CFEDEF"/>
                </a:solidFill>
                <a:latin typeface="Helvetica Neue"/>
                <a:ea typeface="Helvetica Neue"/>
                <a:cs typeface="Helvetica Neue"/>
              </a:defRPr>
            </a:lvl8pPr>
            <a:lvl9pPr>
              <a:defRPr sz="1425" b="1">
                <a:solidFill>
                  <a:srgbClr val="CFEDEF"/>
                </a:solidFill>
                <a:latin typeface="Helvetica Neue"/>
                <a:ea typeface="Helvetica Neue"/>
                <a:cs typeface="Helvetica Neue"/>
              </a:defRPr>
            </a:lvl9pPr>
          </a:lstStyle>
          <a:p xmlns:a="http://schemas.openxmlformats.org/drawingml/2006/main">
            <a:pPr>
              <a:defRPr sz="1425" b="1">
                <a:solidFill>
                  <a:srgbClr val="CFEDEF"/>
                </a:solidFill>
                <a:latin typeface="Helvetica Neue"/>
                <a:ea typeface="Helvetica Neue"/>
                <a:cs typeface="Helvetica Neue"/>
              </a:defRPr>
            </a:pPr>
            <a:r>
              <a:rPr sz="1425" b="1">
                <a:solidFill>
                  <a:srgbClr val="CFEDEF"/>
                </a:solidFill>
                <a:latin typeface="Helvetica Neue"/>
                <a:ea typeface="Helvetica Neue"/>
                <a:cs typeface="Helvetica Neue"/>
              </a:rPr>
              <a:t>Student presentation • clinical examples • guided practice</a:t>
            </a:r>
          </a:p>
        </p:txBody>
      </p:sp>
    </p:spTree>
    <p:extLst>
      <p:ext uri="{BB962C8B-B14F-4D97-AF65-F5344CB8AC3E}">
        <p14:creationId xmlns:p14="http://schemas.microsoft.com/office/powerpoint/2010/main" val="98201282"/>
      </p:ext>
    </p:extLst>
  </p:cSld>
</p:sld>
</file>

<file path=ppt/slides/slide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7E3D7D54-A5D0-4972-A0FB-12B77247607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7CC35C6-C20F-4C58-9254-7AA96373799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Learning objectives</a:t>
            </a:r>
          </a:p>
        </p:txBody>
      </p:sp>
      <p:sp>
        <p:nvSpPr>
          <p:cNvPr id="3" name="">
            <a:extLst xmlns:a="http://schemas.openxmlformats.org/drawingml/2006/main">
              <a:ext uri="{FF2B5EF4-FFF2-40B4-BE49-F238E27FC236}">
                <a16:creationId xmlns:a16="http://schemas.microsoft.com/office/drawing/2014/main" id="{5018FDD6-620F-4A9D-B494-E5ED876EBC50}"/>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55D3E98-76EB-4467-ABFB-F19FDAF09CA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02</a:t>
            </a:r>
          </a:p>
        </p:txBody>
      </p:sp>
      <p:sp>
        <p:nvSpPr>
          <p:cNvPr id="5" name="">
            <a:extLst xmlns:a="http://schemas.openxmlformats.org/drawingml/2006/main">
              <a:ext uri="{FF2B5EF4-FFF2-40B4-BE49-F238E27FC236}">
                <a16:creationId xmlns:a16="http://schemas.microsoft.com/office/drawing/2014/main" id="{985589D4-374A-4A7B-AF3F-50D7D50552AE}"/>
              </a:ext>
            </a:extLst>
          </p:cNvPr>
          <p:cNvSpPr>
            <a:spLocks xmlns:a="http://schemas.openxmlformats.org/drawingml/2006/main" noGrp="1"/>
          </p:cNvSpPr>
          <p:nvPr/>
        </p:nvSpPr>
        <p:spPr>
          <a:xfrm xmlns:a="http://schemas.openxmlformats.org/drawingml/2006/main">
            <a:off x="895350" y="1809750"/>
            <a:ext cx="10191750" cy="3714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Describe safe handling and exposure precautions</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Recognize extravasation and other urgent complications</a:t>
            </a:r>
          </a:p>
        </p:txBody>
      </p:sp>
    </p:spTree>
    <p:extLst>
      <p:ext uri="{BB962C8B-B14F-4D97-AF65-F5344CB8AC3E}">
        <p14:creationId xmlns:p14="http://schemas.microsoft.com/office/powerpoint/2010/main" val="465855241"/>
      </p:ext>
    </p:extLst>
  </p:cSld>
</p:sld>
</file>

<file path=ppt/slides/slide3.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5CFB1C94-ABAC-45A1-B681-8F7ABE7C361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72349EE-3079-4A68-B3AF-4B849F1F4322}"/>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Role and limits</a:t>
            </a:r>
          </a:p>
        </p:txBody>
      </p:sp>
      <p:sp>
        <p:nvSpPr>
          <p:cNvPr id="3" name="">
            <a:extLst xmlns:a="http://schemas.openxmlformats.org/drawingml/2006/main">
              <a:ext uri="{FF2B5EF4-FFF2-40B4-BE49-F238E27FC236}">
                <a16:creationId xmlns:a16="http://schemas.microsoft.com/office/drawing/2014/main" id="{6F7B6225-0366-4E26-BBC7-5BD7DADCF2D1}"/>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9BD1319B-DA2E-411A-A565-8B76C3478977}"/>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03</a:t>
            </a:r>
          </a:p>
        </p:txBody>
      </p:sp>
      <p:sp>
        <p:nvSpPr>
          <p:cNvPr id="5" name="">
            <a:extLst xmlns:a="http://schemas.openxmlformats.org/drawingml/2006/main">
              <a:ext uri="{FF2B5EF4-FFF2-40B4-BE49-F238E27FC236}">
                <a16:creationId xmlns:a16="http://schemas.microsoft.com/office/drawing/2014/main" id="{E89781E9-1195-40C1-B1DA-3573794A8B49}"/>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Cancer therapy may use multiple agents and routes.</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LPN participation must stay within current Florida rules, direct-supervision requirements, validated competency, and institutional policy.</a:t>
            </a:r>
          </a:p>
        </p:txBody>
      </p:sp>
      <p:sp>
        <p:nvSpPr>
          <p:cNvPr id="6" name="">
            <a:extLst xmlns:a="http://schemas.openxmlformats.org/drawingml/2006/main">
              <a:ext uri="{FF2B5EF4-FFF2-40B4-BE49-F238E27FC236}">
                <a16:creationId xmlns:a16="http://schemas.microsoft.com/office/drawing/2014/main" id="{B25B49DD-AA8E-49A1-BA7B-0FE496D3B568}"/>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2018248651"/>
      </p:ext>
    </p:extLst>
  </p:cSld>
</p:sld>
</file>

<file path=ppt/slides/slide4.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AC428A7F-B53A-43C8-99F0-D81FB85A5089}"/>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A7750724-0163-4792-9785-97BE2E7585D4}"/>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Patient assessment</a:t>
            </a:r>
          </a:p>
        </p:txBody>
      </p:sp>
      <p:sp>
        <p:nvSpPr>
          <p:cNvPr id="3" name="">
            <a:extLst xmlns:a="http://schemas.openxmlformats.org/drawingml/2006/main">
              <a:ext uri="{FF2B5EF4-FFF2-40B4-BE49-F238E27FC236}">
                <a16:creationId xmlns:a16="http://schemas.microsoft.com/office/drawing/2014/main" id="{EA5C3B11-07BE-46B1-898F-169EDA09D61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E4B1834-1228-4D1C-95D2-28FFB876844F}"/>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04</a:t>
            </a:r>
          </a:p>
        </p:txBody>
      </p:sp>
      <p:sp>
        <p:nvSpPr>
          <p:cNvPr id="5" name="">
            <a:extLst xmlns:a="http://schemas.openxmlformats.org/drawingml/2006/main">
              <a:ext uri="{FF2B5EF4-FFF2-40B4-BE49-F238E27FC236}">
                <a16:creationId xmlns:a16="http://schemas.microsoft.com/office/drawing/2014/main" id="{EC7853FA-B3F3-465D-ABF7-E04694459DF6}"/>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Review the regimen, laboratory results, allergies, access device, premedications, hydration, current symptoms, and emergency plan.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Verify the protocol and independent checks required for high-alert therapy.</a:t>
            </a:r>
          </a:p>
        </p:txBody>
      </p:sp>
      <p:sp>
        <p:nvSpPr>
          <p:cNvPr id="6" name="">
            <a:extLst xmlns:a="http://schemas.openxmlformats.org/drawingml/2006/main">
              <a:ext uri="{FF2B5EF4-FFF2-40B4-BE49-F238E27FC236}">
                <a16:creationId xmlns:a16="http://schemas.microsoft.com/office/drawing/2014/main" id="{5C13D478-E1A2-4032-8971-212AA6F35560}"/>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628823044"/>
      </p:ext>
    </p:extLst>
  </p:cSld>
</p:sld>
</file>

<file path=ppt/slides/slide5.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B2C5F431-DF0D-4A10-B50B-32F6BAF0FE4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C15421D-10F3-4316-8E01-EDD96A46FED8}"/>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Exposure prevention</a:t>
            </a:r>
          </a:p>
        </p:txBody>
      </p:sp>
      <p:sp>
        <p:nvSpPr>
          <p:cNvPr id="3" name="">
            <a:extLst xmlns:a="http://schemas.openxmlformats.org/drawingml/2006/main">
              <a:ext uri="{FF2B5EF4-FFF2-40B4-BE49-F238E27FC236}">
                <a16:creationId xmlns:a16="http://schemas.microsoft.com/office/drawing/2014/main" id="{A912BEAF-6786-4487-8FC4-1ADA92BB77A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ADFD9D09-E2D9-4538-B8C0-D02ADDA89C4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05</a:t>
            </a:r>
          </a:p>
        </p:txBody>
      </p:sp>
      <p:sp>
        <p:nvSpPr>
          <p:cNvPr id="5" name="">
            <a:extLst xmlns:a="http://schemas.openxmlformats.org/drawingml/2006/main">
              <a:ext uri="{FF2B5EF4-FFF2-40B4-BE49-F238E27FC236}">
                <a16:creationId xmlns:a16="http://schemas.microsoft.com/office/drawing/2014/main" id="{542711E4-303A-4D8F-8422-EE02E824E7FC}"/>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chemotherapy-rated PPE and closed or secure connections according to policy.</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Keep required spill materials available.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Dispose of contaminated supplies and bodily waste using hazardous-drug procedures.</a:t>
            </a:r>
          </a:p>
        </p:txBody>
      </p:sp>
      <p:sp>
        <p:nvSpPr>
          <p:cNvPr id="6" name="">
            <a:extLst xmlns:a="http://schemas.openxmlformats.org/drawingml/2006/main">
              <a:ext uri="{FF2B5EF4-FFF2-40B4-BE49-F238E27FC236}">
                <a16:creationId xmlns:a16="http://schemas.microsoft.com/office/drawing/2014/main" id="{7A2D414B-5BD7-4F69-84F8-81511209FFBE}"/>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803894756"/>
      </p:ext>
    </p:extLst>
  </p:cSld>
</p:sld>
</file>

<file path=ppt/slides/slide6.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97C9B7EB-2142-4B8D-9189-8B586E0E512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77DCACD-0112-43AC-A133-608292A3F631}"/>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a:t>
            </a:r>
          </a:p>
        </p:txBody>
      </p:sp>
      <p:sp>
        <p:nvSpPr>
          <p:cNvPr id="3" name="">
            <a:extLst xmlns:a="http://schemas.openxmlformats.org/drawingml/2006/main">
              <a:ext uri="{FF2B5EF4-FFF2-40B4-BE49-F238E27FC236}">
                <a16:creationId xmlns:a16="http://schemas.microsoft.com/office/drawing/2014/main" id="{57641198-37E5-40F7-8A17-23E680D443BF}"/>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1B1FB023-B341-42BF-B542-BBF103787FF4}"/>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06</a:t>
            </a:r>
          </a:p>
        </p:txBody>
      </p:sp>
      <p:sp>
        <p:nvSpPr>
          <p:cNvPr id="5" name="">
            <a:extLst xmlns:a="http://schemas.openxmlformats.org/drawingml/2006/main">
              <a:ext uri="{FF2B5EF4-FFF2-40B4-BE49-F238E27FC236}">
                <a16:creationId xmlns:a16="http://schemas.microsoft.com/office/drawing/2014/main" id="{249BC735-CDB8-4A1B-A0A7-039E646B9B6D}"/>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Pain, burning, swelling, resistance, leakage, or loss of blood return can signal extravasation.</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DC26D723-BD74-44F7-A6D5-66C14B63543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784666184"/>
      </p:ext>
    </p:extLst>
  </p:cSld>
</p:sld>
</file>

<file path=ppt/slides/slide7.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0AB1598-B754-49DD-B803-DEA4F4C30E65}"/>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932A3B93-1CD0-45EF-B3A1-973A0B620E05}"/>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Chemotherapy is a high-alert workflow</a:t>
            </a:r>
          </a:p>
        </p:txBody>
      </p:sp>
      <p:sp>
        <p:nvSpPr>
          <p:cNvPr id="3" name="">
            <a:extLst xmlns:a="http://schemas.openxmlformats.org/drawingml/2006/main">
              <a:ext uri="{FF2B5EF4-FFF2-40B4-BE49-F238E27FC236}">
                <a16:creationId xmlns:a16="http://schemas.microsoft.com/office/drawing/2014/main" id="{DDA8957D-0D59-4579-9399-9E8676ED1F1D}"/>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040F468-C4FB-45FD-87B5-0E29A360E413}"/>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07</a:t>
            </a:r>
          </a:p>
        </p:txBody>
      </p:sp>
      <p:sp>
        <p:nvSpPr>
          <p:cNvPr id="5" name="">
            <a:extLst xmlns:a="http://schemas.openxmlformats.org/drawingml/2006/main">
              <a:ext uri="{FF2B5EF4-FFF2-40B4-BE49-F238E27FC236}">
                <a16:creationId xmlns:a16="http://schemas.microsoft.com/office/drawing/2014/main" id="{FC722ADF-6847-4A7E-A518-A2EDF9EE1597}"/>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00">
                <a:solidFill>
                  <a:srgbClr val="13212D"/>
                </a:solidFill>
                <a:latin typeface="Helvetica Neue"/>
                <a:ea typeface="Helvetica Neue"/>
                <a:cs typeface="Helvetica Neue"/>
              </a:defRPr>
            </a:defPPr>
            <a:lvl1pPr>
              <a:defRPr sz="2100">
                <a:solidFill>
                  <a:srgbClr val="13212D"/>
                </a:solidFill>
                <a:latin typeface="Helvetica Neue"/>
                <a:ea typeface="Helvetica Neue"/>
                <a:cs typeface="Helvetica Neue"/>
              </a:defRPr>
            </a:lvl1pPr>
            <a:lvl2pPr>
              <a:defRPr sz="2100">
                <a:solidFill>
                  <a:srgbClr val="13212D"/>
                </a:solidFill>
                <a:latin typeface="Helvetica Neue"/>
                <a:ea typeface="Helvetica Neue"/>
                <a:cs typeface="Helvetica Neue"/>
              </a:defRPr>
            </a:lvl2pPr>
            <a:lvl3pPr>
              <a:defRPr sz="2100">
                <a:solidFill>
                  <a:srgbClr val="13212D"/>
                </a:solidFill>
                <a:latin typeface="Helvetica Neue"/>
                <a:ea typeface="Helvetica Neue"/>
                <a:cs typeface="Helvetica Neue"/>
              </a:defRPr>
            </a:lvl3pPr>
            <a:lvl4pPr>
              <a:defRPr sz="2100">
                <a:solidFill>
                  <a:srgbClr val="13212D"/>
                </a:solidFill>
                <a:latin typeface="Helvetica Neue"/>
                <a:ea typeface="Helvetica Neue"/>
                <a:cs typeface="Helvetica Neue"/>
              </a:defRPr>
            </a:lvl4pPr>
            <a:lvl5pPr>
              <a:defRPr sz="2100">
                <a:solidFill>
                  <a:srgbClr val="13212D"/>
                </a:solidFill>
                <a:latin typeface="Helvetica Neue"/>
                <a:ea typeface="Helvetica Neue"/>
                <a:cs typeface="Helvetica Neue"/>
              </a:defRPr>
            </a:lvl5pPr>
            <a:lvl6pPr>
              <a:defRPr sz="2100">
                <a:solidFill>
                  <a:srgbClr val="13212D"/>
                </a:solidFill>
                <a:latin typeface="Helvetica Neue"/>
                <a:ea typeface="Helvetica Neue"/>
                <a:cs typeface="Helvetica Neue"/>
              </a:defRPr>
            </a:lvl6pPr>
            <a:lvl7pPr>
              <a:defRPr sz="2100">
                <a:solidFill>
                  <a:srgbClr val="13212D"/>
                </a:solidFill>
                <a:latin typeface="Helvetica Neue"/>
                <a:ea typeface="Helvetica Neue"/>
                <a:cs typeface="Helvetica Neue"/>
              </a:defRPr>
            </a:lvl7pPr>
            <a:lvl8pPr>
              <a:defRPr sz="2100">
                <a:solidFill>
                  <a:srgbClr val="13212D"/>
                </a:solidFill>
                <a:latin typeface="Helvetica Neue"/>
                <a:ea typeface="Helvetica Neue"/>
                <a:cs typeface="Helvetica Neue"/>
              </a:defRPr>
            </a:lvl8pPr>
            <a:lvl9pPr>
              <a:defRPr sz="2100">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Confirm the protocol, current cycle and day, dose basis, laboratory criteria, premedications, route, and access device.</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Use every required independent check and never assume a prior cycle makes the current order correct.</a:t>
            </a:r>
          </a:p>
          <a:p xmlns:a="http://schemas.openxmlformats.org/drawingml/2006/main">
            <a:pPr marL="279400" indent="-127000">
              <a:spcAft>
                <a:spcPts val="1300"/>
              </a:spcAft>
              <a:buChar char="•"/>
              <a:defRPr sz="2100">
                <a:solidFill>
                  <a:srgbClr val="13212D"/>
                </a:solidFill>
                <a:latin typeface="Helvetica Neue"/>
                <a:ea typeface="Helvetica Neue"/>
                <a:cs typeface="Helvetica Neue"/>
              </a:defRPr>
            </a:pPr>
            <a:r>
              <a:rPr sz="2100">
                <a:solidFill>
                  <a:srgbClr val="13212D"/>
                </a:solidFill>
                <a:latin typeface="Helvetica Neue"/>
                <a:ea typeface="Helvetica Neue"/>
                <a:cs typeface="Helvetica Neue"/>
              </a:rPr>
              <a:t>Participate only within legal scope, validated competency, and direct-supervision requirements.</a:t>
            </a:r>
          </a:p>
        </p:txBody>
      </p:sp>
      <p:sp>
        <p:nvSpPr>
          <p:cNvPr id="6" name="">
            <a:extLst xmlns:a="http://schemas.openxmlformats.org/drawingml/2006/main">
              <a:ext uri="{FF2B5EF4-FFF2-40B4-BE49-F238E27FC236}">
                <a16:creationId xmlns:a16="http://schemas.microsoft.com/office/drawing/2014/main" id="{DFF311BB-3A67-4E85-BC61-1F4EF995FE8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1188975366"/>
      </p:ext>
    </p:extLst>
  </p:cSld>
</p:sld>
</file>

<file path=ppt/slides/slide8.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25" name="">
            <a:extLst xmlns:a="http://schemas.openxmlformats.org/drawingml/2006/main">
              <a:ext uri="{FF2B5EF4-FFF2-40B4-BE49-F238E27FC236}">
                <a16:creationId xmlns:a16="http://schemas.microsoft.com/office/drawing/2014/main" id="{510AC210-A9E9-4223-A5E8-D6A5A0D11DDE}"/>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6057264-4EDE-47D9-B593-A3D74653E5A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Hazardous-drug exposure routes</a:t>
            </a:r>
          </a:p>
        </p:txBody>
      </p:sp>
      <p:sp>
        <p:nvSpPr>
          <p:cNvPr id="3" name="">
            <a:extLst xmlns:a="http://schemas.openxmlformats.org/drawingml/2006/main">
              <a:ext uri="{FF2B5EF4-FFF2-40B4-BE49-F238E27FC236}">
                <a16:creationId xmlns:a16="http://schemas.microsoft.com/office/drawing/2014/main" id="{A2EB5964-F6A1-4A9C-BEE3-AB3EEC59B696}"/>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B38C83E4-3979-4C84-96E4-ACAE2783ED7A}"/>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08</a:t>
            </a:r>
          </a:p>
        </p:txBody>
      </p:sp>
      <p:sp>
        <p:nvSpPr>
          <p:cNvPr id="5" name="">
            <a:extLst xmlns:a="http://schemas.openxmlformats.org/drawingml/2006/main">
              <a:ext uri="{FF2B5EF4-FFF2-40B4-BE49-F238E27FC236}">
                <a16:creationId xmlns:a16="http://schemas.microsoft.com/office/drawing/2014/main" id="{D9929997-0297-4E5F-A702-C72285F7B117}"/>
              </a:ext>
            </a:extLst>
          </p:cNvPr>
          <p:cNvSpPr>
            <a:spLocks xmlns:a="http://schemas.openxmlformats.org/drawingml/2006/main" noGrp="1"/>
          </p:cNvSpPr>
          <p:nvPr/>
        </p:nvSpPr>
        <p:spPr>
          <a:xfrm xmlns:a="http://schemas.openxmlformats.org/drawingml/2006/main">
            <a:off x="781050"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6" name="">
            <a:extLst xmlns:a="http://schemas.openxmlformats.org/drawingml/2006/main">
              <a:ext uri="{FF2B5EF4-FFF2-40B4-BE49-F238E27FC236}">
                <a16:creationId xmlns:a16="http://schemas.microsoft.com/office/drawing/2014/main" id="{2136958E-9931-4CFC-A526-49E592BBB632}"/>
              </a:ext>
            </a:extLst>
          </p:cNvPr>
          <p:cNvSpPr>
            <a:spLocks xmlns:a="http://schemas.openxmlformats.org/drawingml/2006/main" noGrp="1"/>
          </p:cNvSpPr>
          <p:nvPr/>
        </p:nvSpPr>
        <p:spPr>
          <a:xfrm xmlns:a="http://schemas.openxmlformats.org/drawingml/2006/main">
            <a:off x="876300"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Route</a:t>
            </a:r>
          </a:p>
        </p:txBody>
      </p:sp>
      <p:sp>
        <p:nvSpPr>
          <p:cNvPr id="7" name="">
            <a:extLst xmlns:a="http://schemas.openxmlformats.org/drawingml/2006/main">
              <a:ext uri="{FF2B5EF4-FFF2-40B4-BE49-F238E27FC236}">
                <a16:creationId xmlns:a16="http://schemas.microsoft.com/office/drawing/2014/main" id="{57E3F6EA-9D6C-4AD9-B79A-CD18C7F60F83}"/>
              </a:ext>
            </a:extLst>
          </p:cNvPr>
          <p:cNvSpPr>
            <a:spLocks xmlns:a="http://schemas.openxmlformats.org/drawingml/2006/main" noGrp="1"/>
          </p:cNvSpPr>
          <p:nvPr/>
        </p:nvSpPr>
        <p:spPr>
          <a:xfrm xmlns:a="http://schemas.openxmlformats.org/drawingml/2006/main">
            <a:off x="6067425" y="1695450"/>
            <a:ext cx="5286375" cy="857250"/>
          </a:xfrm>
          <a:prstGeom xmlns:a="http://schemas.openxmlformats.org/drawingml/2006/main" prst="rect">
            <a:avLst/>
          </a:prstGeom>
          <a:solidFill xmlns:a="http://schemas.openxmlformats.org/drawingml/2006/main">
            <a:srgbClr val="15324A"/>
          </a:solidFill>
          <a:ln xmlns:a="http://schemas.openxmlformats.org/drawingml/2006/main" w="9525">
            <a:solidFill>
              <a:srgbClr val="E3E8EB"/>
            </a:solidFill>
          </a:ln>
        </p:spPr>
      </p:sp>
      <p:sp>
        <p:nvSpPr>
          <p:cNvPr id="8" name="">
            <a:extLst xmlns:a="http://schemas.openxmlformats.org/drawingml/2006/main">
              <a:ext uri="{FF2B5EF4-FFF2-40B4-BE49-F238E27FC236}">
                <a16:creationId xmlns:a16="http://schemas.microsoft.com/office/drawing/2014/main" id="{F7876D25-A919-4A34-8B9A-78691C097845}"/>
              </a:ext>
            </a:extLst>
          </p:cNvPr>
          <p:cNvSpPr>
            <a:spLocks xmlns:a="http://schemas.openxmlformats.org/drawingml/2006/main" noGrp="1"/>
          </p:cNvSpPr>
          <p:nvPr/>
        </p:nvSpPr>
        <p:spPr>
          <a:xfrm xmlns:a="http://schemas.openxmlformats.org/drawingml/2006/main">
            <a:off x="6162675" y="1762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75" b="1">
                <a:solidFill>
                  <a:srgbClr val="FFFFFF"/>
                </a:solidFill>
                <a:latin typeface="Helvetica Neue"/>
                <a:ea typeface="Helvetica Neue"/>
                <a:cs typeface="Helvetica Neue"/>
              </a:defRPr>
            </a:defPPr>
            <a:lvl1pPr>
              <a:defRPr sz="1275" b="1">
                <a:solidFill>
                  <a:srgbClr val="FFFFFF"/>
                </a:solidFill>
                <a:latin typeface="Helvetica Neue"/>
                <a:ea typeface="Helvetica Neue"/>
                <a:cs typeface="Helvetica Neue"/>
              </a:defRPr>
            </a:lvl1pPr>
            <a:lvl2pPr>
              <a:defRPr sz="1275" b="1">
                <a:solidFill>
                  <a:srgbClr val="FFFFFF"/>
                </a:solidFill>
                <a:latin typeface="Helvetica Neue"/>
                <a:ea typeface="Helvetica Neue"/>
                <a:cs typeface="Helvetica Neue"/>
              </a:defRPr>
            </a:lvl2pPr>
            <a:lvl3pPr>
              <a:defRPr sz="1275" b="1">
                <a:solidFill>
                  <a:srgbClr val="FFFFFF"/>
                </a:solidFill>
                <a:latin typeface="Helvetica Neue"/>
                <a:ea typeface="Helvetica Neue"/>
                <a:cs typeface="Helvetica Neue"/>
              </a:defRPr>
            </a:lvl3pPr>
            <a:lvl4pPr>
              <a:defRPr sz="1275" b="1">
                <a:solidFill>
                  <a:srgbClr val="FFFFFF"/>
                </a:solidFill>
                <a:latin typeface="Helvetica Neue"/>
                <a:ea typeface="Helvetica Neue"/>
                <a:cs typeface="Helvetica Neue"/>
              </a:defRPr>
            </a:lvl4pPr>
            <a:lvl5pPr>
              <a:defRPr sz="1275" b="1">
                <a:solidFill>
                  <a:srgbClr val="FFFFFF"/>
                </a:solidFill>
                <a:latin typeface="Helvetica Neue"/>
                <a:ea typeface="Helvetica Neue"/>
                <a:cs typeface="Helvetica Neue"/>
              </a:defRPr>
            </a:lvl5pPr>
            <a:lvl6pPr>
              <a:defRPr sz="1275" b="1">
                <a:solidFill>
                  <a:srgbClr val="FFFFFF"/>
                </a:solidFill>
                <a:latin typeface="Helvetica Neue"/>
                <a:ea typeface="Helvetica Neue"/>
                <a:cs typeface="Helvetica Neue"/>
              </a:defRPr>
            </a:lvl6pPr>
            <a:lvl7pPr>
              <a:defRPr sz="1275" b="1">
                <a:solidFill>
                  <a:srgbClr val="FFFFFF"/>
                </a:solidFill>
                <a:latin typeface="Helvetica Neue"/>
                <a:ea typeface="Helvetica Neue"/>
                <a:cs typeface="Helvetica Neue"/>
              </a:defRPr>
            </a:lvl7pPr>
            <a:lvl8pPr>
              <a:defRPr sz="1275" b="1">
                <a:solidFill>
                  <a:srgbClr val="FFFFFF"/>
                </a:solidFill>
                <a:latin typeface="Helvetica Neue"/>
                <a:ea typeface="Helvetica Neue"/>
                <a:cs typeface="Helvetica Neue"/>
              </a:defRPr>
            </a:lvl8pPr>
            <a:lvl9pPr>
              <a:defRPr sz="1275" b="1">
                <a:solidFill>
                  <a:srgbClr val="FFFFFF"/>
                </a:solidFill>
                <a:latin typeface="Helvetica Neue"/>
                <a:ea typeface="Helvetica Neue"/>
                <a:cs typeface="Helvetica Neue"/>
              </a:defRPr>
            </a:lvl9pPr>
          </a:lstStyle>
          <a:p xmlns:a="http://schemas.openxmlformats.org/drawingml/2006/main">
            <a:pPr>
              <a:defRPr sz="1275" b="1">
                <a:solidFill>
                  <a:srgbClr val="FFFFFF"/>
                </a:solidFill>
                <a:latin typeface="Helvetica Neue"/>
                <a:ea typeface="Helvetica Neue"/>
                <a:cs typeface="Helvetica Neue"/>
              </a:defRPr>
            </a:pPr>
            <a:r>
              <a:rPr sz="1275" b="1">
                <a:solidFill>
                  <a:srgbClr val="FFFFFF"/>
                </a:solidFill>
                <a:latin typeface="Helvetica Neue"/>
                <a:ea typeface="Helvetica Neue"/>
                <a:cs typeface="Helvetica Neue"/>
              </a:rPr>
              <a:t>Prevention</a:t>
            </a:r>
          </a:p>
        </p:txBody>
      </p:sp>
      <p:sp>
        <p:nvSpPr>
          <p:cNvPr id="9" name="">
            <a:extLst xmlns:a="http://schemas.openxmlformats.org/drawingml/2006/main">
              <a:ext uri="{FF2B5EF4-FFF2-40B4-BE49-F238E27FC236}">
                <a16:creationId xmlns:a16="http://schemas.microsoft.com/office/drawing/2014/main" id="{E1CDF140-3681-45E3-804F-1B446A5C0F28}"/>
              </a:ext>
            </a:extLst>
          </p:cNvPr>
          <p:cNvSpPr>
            <a:spLocks xmlns:a="http://schemas.openxmlformats.org/drawingml/2006/main" noGrp="1"/>
          </p:cNvSpPr>
          <p:nvPr/>
        </p:nvSpPr>
        <p:spPr>
          <a:xfrm xmlns:a="http://schemas.openxmlformats.org/drawingml/2006/main">
            <a:off x="781050"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0" name="">
            <a:extLst xmlns:a="http://schemas.openxmlformats.org/drawingml/2006/main">
              <a:ext uri="{FF2B5EF4-FFF2-40B4-BE49-F238E27FC236}">
                <a16:creationId xmlns:a16="http://schemas.microsoft.com/office/drawing/2014/main" id="{5C85D7AF-E64A-4EB4-A3E6-24436FB41D66}"/>
              </a:ext>
            </a:extLst>
          </p:cNvPr>
          <p:cNvSpPr>
            <a:spLocks xmlns:a="http://schemas.openxmlformats.org/drawingml/2006/main" noGrp="1"/>
          </p:cNvSpPr>
          <p:nvPr/>
        </p:nvSpPr>
        <p:spPr>
          <a:xfrm xmlns:a="http://schemas.openxmlformats.org/drawingml/2006/main">
            <a:off x="876300"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Skin or eye contact</a:t>
            </a:r>
          </a:p>
        </p:txBody>
      </p:sp>
      <p:sp>
        <p:nvSpPr>
          <p:cNvPr id="11" name="">
            <a:extLst xmlns:a="http://schemas.openxmlformats.org/drawingml/2006/main">
              <a:ext uri="{FF2B5EF4-FFF2-40B4-BE49-F238E27FC236}">
                <a16:creationId xmlns:a16="http://schemas.microsoft.com/office/drawing/2014/main" id="{2E6143E1-9B5B-4724-B8C2-3C36082053E9}"/>
              </a:ext>
            </a:extLst>
          </p:cNvPr>
          <p:cNvSpPr>
            <a:spLocks xmlns:a="http://schemas.openxmlformats.org/drawingml/2006/main" noGrp="1"/>
          </p:cNvSpPr>
          <p:nvPr/>
        </p:nvSpPr>
        <p:spPr>
          <a:xfrm xmlns:a="http://schemas.openxmlformats.org/drawingml/2006/main">
            <a:off x="6067425" y="25527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2" name="">
            <a:extLst xmlns:a="http://schemas.openxmlformats.org/drawingml/2006/main">
              <a:ext uri="{FF2B5EF4-FFF2-40B4-BE49-F238E27FC236}">
                <a16:creationId xmlns:a16="http://schemas.microsoft.com/office/drawing/2014/main" id="{BE0F41E4-DB7D-4AAE-94DD-99B374F607BF}"/>
              </a:ext>
            </a:extLst>
          </p:cNvPr>
          <p:cNvSpPr>
            <a:spLocks xmlns:a="http://schemas.openxmlformats.org/drawingml/2006/main" noGrp="1"/>
          </p:cNvSpPr>
          <p:nvPr/>
        </p:nvSpPr>
        <p:spPr>
          <a:xfrm xmlns:a="http://schemas.openxmlformats.org/drawingml/2006/main">
            <a:off x="6162675" y="26193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Chemotherapy-rated gloves, gown, face and eye protection as indicated</a:t>
            </a:r>
          </a:p>
        </p:txBody>
      </p:sp>
      <p:sp>
        <p:nvSpPr>
          <p:cNvPr id="13" name="">
            <a:extLst xmlns:a="http://schemas.openxmlformats.org/drawingml/2006/main">
              <a:ext uri="{FF2B5EF4-FFF2-40B4-BE49-F238E27FC236}">
                <a16:creationId xmlns:a16="http://schemas.microsoft.com/office/drawing/2014/main" id="{323E3778-8A86-447A-A48C-F555D5C28994}"/>
              </a:ext>
            </a:extLst>
          </p:cNvPr>
          <p:cNvSpPr>
            <a:spLocks xmlns:a="http://schemas.openxmlformats.org/drawingml/2006/main" noGrp="1"/>
          </p:cNvSpPr>
          <p:nvPr/>
        </p:nvSpPr>
        <p:spPr>
          <a:xfrm xmlns:a="http://schemas.openxmlformats.org/drawingml/2006/main">
            <a:off x="781050"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4" name="">
            <a:extLst xmlns:a="http://schemas.openxmlformats.org/drawingml/2006/main">
              <a:ext uri="{FF2B5EF4-FFF2-40B4-BE49-F238E27FC236}">
                <a16:creationId xmlns:a16="http://schemas.microsoft.com/office/drawing/2014/main" id="{5EF145D2-A924-4786-91BC-5034180E9406}"/>
              </a:ext>
            </a:extLst>
          </p:cNvPr>
          <p:cNvSpPr>
            <a:spLocks xmlns:a="http://schemas.openxmlformats.org/drawingml/2006/main" noGrp="1"/>
          </p:cNvSpPr>
          <p:nvPr/>
        </p:nvSpPr>
        <p:spPr>
          <a:xfrm xmlns:a="http://schemas.openxmlformats.org/drawingml/2006/main">
            <a:off x="876300"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Inhalation</a:t>
            </a:r>
          </a:p>
        </p:txBody>
      </p:sp>
      <p:sp>
        <p:nvSpPr>
          <p:cNvPr id="15" name="">
            <a:extLst xmlns:a="http://schemas.openxmlformats.org/drawingml/2006/main">
              <a:ext uri="{FF2B5EF4-FFF2-40B4-BE49-F238E27FC236}">
                <a16:creationId xmlns:a16="http://schemas.microsoft.com/office/drawing/2014/main" id="{1591292C-5A55-4721-BF90-BB971E65275C}"/>
              </a:ext>
            </a:extLst>
          </p:cNvPr>
          <p:cNvSpPr>
            <a:spLocks xmlns:a="http://schemas.openxmlformats.org/drawingml/2006/main" noGrp="1"/>
          </p:cNvSpPr>
          <p:nvPr/>
        </p:nvSpPr>
        <p:spPr>
          <a:xfrm xmlns:a="http://schemas.openxmlformats.org/drawingml/2006/main">
            <a:off x="6067425" y="34099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16" name="">
            <a:extLst xmlns:a="http://schemas.openxmlformats.org/drawingml/2006/main">
              <a:ext uri="{FF2B5EF4-FFF2-40B4-BE49-F238E27FC236}">
                <a16:creationId xmlns:a16="http://schemas.microsoft.com/office/drawing/2014/main" id="{017DF3FB-826E-4360-B98D-D3D8A579CAF3}"/>
              </a:ext>
            </a:extLst>
          </p:cNvPr>
          <p:cNvSpPr>
            <a:spLocks xmlns:a="http://schemas.openxmlformats.org/drawingml/2006/main" noGrp="1"/>
          </p:cNvSpPr>
          <p:nvPr/>
        </p:nvSpPr>
        <p:spPr>
          <a:xfrm xmlns:a="http://schemas.openxmlformats.org/drawingml/2006/main">
            <a:off x="6162675" y="34766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Avoid aerosol generation and use required engineering controls</a:t>
            </a:r>
          </a:p>
        </p:txBody>
      </p:sp>
      <p:sp>
        <p:nvSpPr>
          <p:cNvPr id="17" name="">
            <a:extLst xmlns:a="http://schemas.openxmlformats.org/drawingml/2006/main">
              <a:ext uri="{FF2B5EF4-FFF2-40B4-BE49-F238E27FC236}">
                <a16:creationId xmlns:a16="http://schemas.microsoft.com/office/drawing/2014/main" id="{1B5793FA-385F-4EB5-B508-9CBF96D55C6F}"/>
              </a:ext>
            </a:extLst>
          </p:cNvPr>
          <p:cNvSpPr>
            <a:spLocks xmlns:a="http://schemas.openxmlformats.org/drawingml/2006/main" noGrp="1"/>
          </p:cNvSpPr>
          <p:nvPr/>
        </p:nvSpPr>
        <p:spPr>
          <a:xfrm xmlns:a="http://schemas.openxmlformats.org/drawingml/2006/main">
            <a:off x="781050"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18" name="">
            <a:extLst xmlns:a="http://schemas.openxmlformats.org/drawingml/2006/main">
              <a:ext uri="{FF2B5EF4-FFF2-40B4-BE49-F238E27FC236}">
                <a16:creationId xmlns:a16="http://schemas.microsoft.com/office/drawing/2014/main" id="{5F256646-7DEC-44A9-B672-266D2066EC9B}"/>
              </a:ext>
            </a:extLst>
          </p:cNvPr>
          <p:cNvSpPr>
            <a:spLocks xmlns:a="http://schemas.openxmlformats.org/drawingml/2006/main" noGrp="1"/>
          </p:cNvSpPr>
          <p:nvPr/>
        </p:nvSpPr>
        <p:spPr>
          <a:xfrm xmlns:a="http://schemas.openxmlformats.org/drawingml/2006/main">
            <a:off x="876300"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Sharps injury</a:t>
            </a:r>
          </a:p>
        </p:txBody>
      </p:sp>
      <p:sp>
        <p:nvSpPr>
          <p:cNvPr id="19" name="">
            <a:extLst xmlns:a="http://schemas.openxmlformats.org/drawingml/2006/main">
              <a:ext uri="{FF2B5EF4-FFF2-40B4-BE49-F238E27FC236}">
                <a16:creationId xmlns:a16="http://schemas.microsoft.com/office/drawing/2014/main" id="{D24AEAA6-9D88-4A04-9E38-F49EE8ABFFD2}"/>
              </a:ext>
            </a:extLst>
          </p:cNvPr>
          <p:cNvSpPr>
            <a:spLocks xmlns:a="http://schemas.openxmlformats.org/drawingml/2006/main" noGrp="1"/>
          </p:cNvSpPr>
          <p:nvPr/>
        </p:nvSpPr>
        <p:spPr>
          <a:xfrm xmlns:a="http://schemas.openxmlformats.org/drawingml/2006/main">
            <a:off x="6067425" y="4267200"/>
            <a:ext cx="5286375" cy="857250"/>
          </a:xfrm>
          <a:prstGeom xmlns:a="http://schemas.openxmlformats.org/drawingml/2006/main" prst="rect">
            <a:avLst/>
          </a:prstGeom>
          <a:solidFill xmlns:a="http://schemas.openxmlformats.org/drawingml/2006/main">
            <a:srgbClr val="FFFFFF"/>
          </a:solidFill>
          <a:ln xmlns:a="http://schemas.openxmlformats.org/drawingml/2006/main" w="9525">
            <a:solidFill>
              <a:srgbClr val="E3E8EB"/>
            </a:solidFill>
          </a:ln>
        </p:spPr>
      </p:sp>
      <p:sp>
        <p:nvSpPr>
          <p:cNvPr id="20" name="">
            <a:extLst xmlns:a="http://schemas.openxmlformats.org/drawingml/2006/main">
              <a:ext uri="{FF2B5EF4-FFF2-40B4-BE49-F238E27FC236}">
                <a16:creationId xmlns:a16="http://schemas.microsoft.com/office/drawing/2014/main" id="{FF13B7B3-11E5-45C2-83A3-D4CAC45CC4DE}"/>
              </a:ext>
            </a:extLst>
          </p:cNvPr>
          <p:cNvSpPr>
            <a:spLocks xmlns:a="http://schemas.openxmlformats.org/drawingml/2006/main" noGrp="1"/>
          </p:cNvSpPr>
          <p:nvPr/>
        </p:nvSpPr>
        <p:spPr>
          <a:xfrm xmlns:a="http://schemas.openxmlformats.org/drawingml/2006/main">
            <a:off x="6162675" y="433387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Use safety devices and never recap</a:t>
            </a:r>
          </a:p>
        </p:txBody>
      </p:sp>
      <p:sp>
        <p:nvSpPr>
          <p:cNvPr id="21" name="">
            <a:extLst xmlns:a="http://schemas.openxmlformats.org/drawingml/2006/main">
              <a:ext uri="{FF2B5EF4-FFF2-40B4-BE49-F238E27FC236}">
                <a16:creationId xmlns:a16="http://schemas.microsoft.com/office/drawing/2014/main" id="{A52CAB13-8EB0-47E3-9146-D6D9F36F9D07}"/>
              </a:ext>
            </a:extLst>
          </p:cNvPr>
          <p:cNvSpPr>
            <a:spLocks xmlns:a="http://schemas.openxmlformats.org/drawingml/2006/main" noGrp="1"/>
          </p:cNvSpPr>
          <p:nvPr/>
        </p:nvSpPr>
        <p:spPr>
          <a:xfrm xmlns:a="http://schemas.openxmlformats.org/drawingml/2006/main">
            <a:off x="781050"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2" name="">
            <a:extLst xmlns:a="http://schemas.openxmlformats.org/drawingml/2006/main">
              <a:ext uri="{FF2B5EF4-FFF2-40B4-BE49-F238E27FC236}">
                <a16:creationId xmlns:a16="http://schemas.microsoft.com/office/drawing/2014/main" id="{0FF1D5FB-DA2F-40BA-BB69-A7E2966EE45B}"/>
              </a:ext>
            </a:extLst>
          </p:cNvPr>
          <p:cNvSpPr>
            <a:spLocks xmlns:a="http://schemas.openxmlformats.org/drawingml/2006/main" noGrp="1"/>
          </p:cNvSpPr>
          <p:nvPr/>
        </p:nvSpPr>
        <p:spPr>
          <a:xfrm xmlns:a="http://schemas.openxmlformats.org/drawingml/2006/main">
            <a:off x="876300"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Contaminated waste or body fluids</a:t>
            </a:r>
          </a:p>
        </p:txBody>
      </p:sp>
      <p:sp>
        <p:nvSpPr>
          <p:cNvPr id="23" name="">
            <a:extLst xmlns:a="http://schemas.openxmlformats.org/drawingml/2006/main">
              <a:ext uri="{FF2B5EF4-FFF2-40B4-BE49-F238E27FC236}">
                <a16:creationId xmlns:a16="http://schemas.microsoft.com/office/drawing/2014/main" id="{4674BC38-629D-4D3C-A003-B91D7E3AAFBE}"/>
              </a:ext>
            </a:extLst>
          </p:cNvPr>
          <p:cNvSpPr>
            <a:spLocks xmlns:a="http://schemas.openxmlformats.org/drawingml/2006/main" noGrp="1"/>
          </p:cNvSpPr>
          <p:nvPr/>
        </p:nvSpPr>
        <p:spPr>
          <a:xfrm xmlns:a="http://schemas.openxmlformats.org/drawingml/2006/main">
            <a:off x="6067425" y="5124450"/>
            <a:ext cx="5286375" cy="857250"/>
          </a:xfrm>
          <a:prstGeom xmlns:a="http://schemas.openxmlformats.org/drawingml/2006/main" prst="rect">
            <a:avLst/>
          </a:prstGeom>
          <a:solidFill xmlns:a="http://schemas.openxmlformats.org/drawingml/2006/main">
            <a:srgbClr val="CFEDEF"/>
          </a:solidFill>
          <a:ln xmlns:a="http://schemas.openxmlformats.org/drawingml/2006/main" w="9525">
            <a:solidFill>
              <a:srgbClr val="E3E8EB"/>
            </a:solidFill>
          </a:ln>
        </p:spPr>
      </p:sp>
      <p:sp>
        <p:nvSpPr>
          <p:cNvPr id="24" name="">
            <a:extLst xmlns:a="http://schemas.openxmlformats.org/drawingml/2006/main">
              <a:ext uri="{FF2B5EF4-FFF2-40B4-BE49-F238E27FC236}">
                <a16:creationId xmlns:a16="http://schemas.microsoft.com/office/drawing/2014/main" id="{E459376C-31E9-4FC0-9AE4-52D5570E25F6}"/>
              </a:ext>
            </a:extLst>
          </p:cNvPr>
          <p:cNvSpPr>
            <a:spLocks xmlns:a="http://schemas.openxmlformats.org/drawingml/2006/main" noGrp="1"/>
          </p:cNvSpPr>
          <p:nvPr/>
        </p:nvSpPr>
        <p:spPr>
          <a:xfrm xmlns:a="http://schemas.openxmlformats.org/drawingml/2006/main">
            <a:off x="6162675" y="5191125"/>
            <a:ext cx="5095875"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ctr">
            <a:normAutofit fontScale="100000"/>
          </a:bodyPr>
          <a:lstStyle xmlns:a="http://schemas.openxmlformats.org/drawingml/2006/main">
            <a:defPPr>
              <a:defRPr sz="1200" b="0">
                <a:solidFill>
                  <a:srgbClr val="13212D"/>
                </a:solidFill>
                <a:latin typeface="Helvetica Neue"/>
                <a:ea typeface="Helvetica Neue"/>
                <a:cs typeface="Helvetica Neue"/>
              </a:defRPr>
            </a:defPPr>
            <a:lvl1pPr>
              <a:defRPr sz="1200" b="0">
                <a:solidFill>
                  <a:srgbClr val="13212D"/>
                </a:solidFill>
                <a:latin typeface="Helvetica Neue"/>
                <a:ea typeface="Helvetica Neue"/>
                <a:cs typeface="Helvetica Neue"/>
              </a:defRPr>
            </a:lvl1pPr>
            <a:lvl2pPr>
              <a:defRPr sz="1200" b="0">
                <a:solidFill>
                  <a:srgbClr val="13212D"/>
                </a:solidFill>
                <a:latin typeface="Helvetica Neue"/>
                <a:ea typeface="Helvetica Neue"/>
                <a:cs typeface="Helvetica Neue"/>
              </a:defRPr>
            </a:lvl2pPr>
            <a:lvl3pPr>
              <a:defRPr sz="1200" b="0">
                <a:solidFill>
                  <a:srgbClr val="13212D"/>
                </a:solidFill>
                <a:latin typeface="Helvetica Neue"/>
                <a:ea typeface="Helvetica Neue"/>
                <a:cs typeface="Helvetica Neue"/>
              </a:defRPr>
            </a:lvl3pPr>
            <a:lvl4pPr>
              <a:defRPr sz="1200" b="0">
                <a:solidFill>
                  <a:srgbClr val="13212D"/>
                </a:solidFill>
                <a:latin typeface="Helvetica Neue"/>
                <a:ea typeface="Helvetica Neue"/>
                <a:cs typeface="Helvetica Neue"/>
              </a:defRPr>
            </a:lvl4pPr>
            <a:lvl5pPr>
              <a:defRPr sz="1200" b="0">
                <a:solidFill>
                  <a:srgbClr val="13212D"/>
                </a:solidFill>
                <a:latin typeface="Helvetica Neue"/>
                <a:ea typeface="Helvetica Neue"/>
                <a:cs typeface="Helvetica Neue"/>
              </a:defRPr>
            </a:lvl5pPr>
            <a:lvl6pPr>
              <a:defRPr sz="1200" b="0">
                <a:solidFill>
                  <a:srgbClr val="13212D"/>
                </a:solidFill>
                <a:latin typeface="Helvetica Neue"/>
                <a:ea typeface="Helvetica Neue"/>
                <a:cs typeface="Helvetica Neue"/>
              </a:defRPr>
            </a:lvl6pPr>
            <a:lvl7pPr>
              <a:defRPr sz="1200" b="0">
                <a:solidFill>
                  <a:srgbClr val="13212D"/>
                </a:solidFill>
                <a:latin typeface="Helvetica Neue"/>
                <a:ea typeface="Helvetica Neue"/>
                <a:cs typeface="Helvetica Neue"/>
              </a:defRPr>
            </a:lvl7pPr>
            <a:lvl8pPr>
              <a:defRPr sz="1200" b="0">
                <a:solidFill>
                  <a:srgbClr val="13212D"/>
                </a:solidFill>
                <a:latin typeface="Helvetica Neue"/>
                <a:ea typeface="Helvetica Neue"/>
                <a:cs typeface="Helvetica Neue"/>
              </a:defRPr>
            </a:lvl8pPr>
            <a:lvl9pPr>
              <a:defRPr sz="1200" b="0">
                <a:solidFill>
                  <a:srgbClr val="13212D"/>
                </a:solidFill>
                <a:latin typeface="Helvetica Neue"/>
                <a:ea typeface="Helvetica Neue"/>
                <a:cs typeface="Helvetica Neue"/>
              </a:defRPr>
            </a:lvl9pPr>
          </a:lstStyle>
          <a:p xmlns:a="http://schemas.openxmlformats.org/drawingml/2006/main">
            <a:pPr>
              <a:defRPr sz="1200" b="0">
                <a:solidFill>
                  <a:srgbClr val="13212D"/>
                </a:solidFill>
                <a:latin typeface="Helvetica Neue"/>
                <a:ea typeface="Helvetica Neue"/>
                <a:cs typeface="Helvetica Neue"/>
              </a:defRPr>
            </a:pPr>
            <a:r>
              <a:rPr sz="1200" b="0">
                <a:solidFill>
                  <a:srgbClr val="13212D"/>
                </a:solidFill>
                <a:latin typeface="Helvetica Neue"/>
                <a:ea typeface="Helvetica Neue"/>
                <a:cs typeface="Helvetica Neue"/>
              </a:rPr>
              <a:t>Follow hazardous-waste and excreta precautions</a:t>
            </a:r>
          </a:p>
        </p:txBody>
      </p:sp>
    </p:spTree>
    <p:extLst>
      <p:ext uri="{BB962C8B-B14F-4D97-AF65-F5344CB8AC3E}">
        <p14:creationId xmlns:p14="http://schemas.microsoft.com/office/powerpoint/2010/main" val="2126101804"/>
      </p:ext>
    </p:extLst>
  </p:cSld>
</p:sld>
</file>

<file path=ppt/slides/slide9.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A64E76F-B814-41AB-A22D-9CDFFDFF2C66}"/>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F8A7E6D2-BE62-47DB-A3A3-3A0311D1A3B3}"/>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Extravasation warning signs</a:t>
            </a:r>
          </a:p>
        </p:txBody>
      </p:sp>
      <p:sp>
        <p:nvSpPr>
          <p:cNvPr id="3" name="">
            <a:extLst xmlns:a="http://schemas.openxmlformats.org/drawingml/2006/main">
              <a:ext uri="{FF2B5EF4-FFF2-40B4-BE49-F238E27FC236}">
                <a16:creationId xmlns:a16="http://schemas.microsoft.com/office/drawing/2014/main" id="{F5ABC404-6255-4905-86B8-5BCE83A77252}"/>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7DFC4C5D-CAC5-420C-B3A2-1C1235542535}"/>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09</a:t>
            </a:r>
          </a:p>
        </p:txBody>
      </p:sp>
      <p:sp>
        <p:nvSpPr>
          <p:cNvPr id="5" name="">
            <a:extLst xmlns:a="http://schemas.openxmlformats.org/drawingml/2006/main">
              <a:ext uri="{FF2B5EF4-FFF2-40B4-BE49-F238E27FC236}">
                <a16:creationId xmlns:a16="http://schemas.microsoft.com/office/drawing/2014/main" id="{F8146FA1-9FF2-4A44-8289-CF2C5F24625B}"/>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Pain, burning, stinging, swelling, blanching, redness, leakage, resistance, or absent blood return may signal extravasation.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Stop the infusion immediately; do not flush.</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Leave the catheter in place when the agent-specific protocol calls for aspiration or antidote.</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Notify the qualified clinician and follow the exact drug-specific protocol for aspiration, antidote, compress, elevation, documentation, and follow-up.</a:t>
            </a:r>
          </a:p>
        </p:txBody>
      </p:sp>
      <p:sp>
        <p:nvSpPr>
          <p:cNvPr id="6" name="">
            <a:extLst xmlns:a="http://schemas.openxmlformats.org/drawingml/2006/main">
              <a:ext uri="{FF2B5EF4-FFF2-40B4-BE49-F238E27FC236}">
                <a16:creationId xmlns:a16="http://schemas.microsoft.com/office/drawing/2014/main" id="{17F3C2E7-D681-41BE-B79A-5389B282C403}"/>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332386391"/>
      </p:ext>
    </p:extLst>
  </p:cSld>
</p:sld>
</file>

<file path=ppt/slides/slide10.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EF421C59-E42E-448D-A988-93D38063B03A}"/>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B41EB36D-3060-4D11-9AD6-CD0CA0A93A2F}"/>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Systemic findings that require escalation</a:t>
            </a:r>
          </a:p>
        </p:txBody>
      </p:sp>
      <p:sp>
        <p:nvSpPr>
          <p:cNvPr id="3" name="">
            <a:extLst xmlns:a="http://schemas.openxmlformats.org/drawingml/2006/main">
              <a:ext uri="{FF2B5EF4-FFF2-40B4-BE49-F238E27FC236}">
                <a16:creationId xmlns:a16="http://schemas.microsoft.com/office/drawing/2014/main" id="{F08B1179-020B-44CF-BC2A-0591F50B10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F8337CC3-4CB5-4C5E-ADB3-20F0BE5BA2A8}"/>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10</a:t>
            </a:r>
          </a:p>
        </p:txBody>
      </p:sp>
      <p:sp>
        <p:nvSpPr>
          <p:cNvPr id="5" name="">
            <a:extLst xmlns:a="http://schemas.openxmlformats.org/drawingml/2006/main">
              <a:ext uri="{FF2B5EF4-FFF2-40B4-BE49-F238E27FC236}">
                <a16:creationId xmlns:a16="http://schemas.microsoft.com/office/drawing/2014/main" id="{CAE18425-6FB1-4C1E-891C-7E9BD68DC490}"/>
              </a:ext>
            </a:extLst>
          </p:cNvPr>
          <p:cNvSpPr>
            <a:spLocks xmlns:a="http://schemas.openxmlformats.org/drawingml/2006/main" noGrp="1"/>
          </p:cNvSpPr>
          <p:nvPr/>
        </p:nvSpPr>
        <p:spPr>
          <a:xfrm xmlns:a="http://schemas.openxmlformats.org/drawingml/2006/main">
            <a:off x="876300" y="1762125"/>
            <a:ext cx="10287000" cy="409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875">
                <a:solidFill>
                  <a:srgbClr val="13212D"/>
                </a:solidFill>
                <a:latin typeface="Helvetica Neue"/>
                <a:ea typeface="Helvetica Neue"/>
                <a:cs typeface="Helvetica Neue"/>
              </a:defRPr>
            </a:defPPr>
            <a:lvl1pPr>
              <a:defRPr sz="1875">
                <a:solidFill>
                  <a:srgbClr val="13212D"/>
                </a:solidFill>
                <a:latin typeface="Helvetica Neue"/>
                <a:ea typeface="Helvetica Neue"/>
                <a:cs typeface="Helvetica Neue"/>
              </a:defRPr>
            </a:lvl1pPr>
            <a:lvl2pPr>
              <a:defRPr sz="1875">
                <a:solidFill>
                  <a:srgbClr val="13212D"/>
                </a:solidFill>
                <a:latin typeface="Helvetica Neue"/>
                <a:ea typeface="Helvetica Neue"/>
                <a:cs typeface="Helvetica Neue"/>
              </a:defRPr>
            </a:lvl2pPr>
            <a:lvl3pPr>
              <a:defRPr sz="1875">
                <a:solidFill>
                  <a:srgbClr val="13212D"/>
                </a:solidFill>
                <a:latin typeface="Helvetica Neue"/>
                <a:ea typeface="Helvetica Neue"/>
                <a:cs typeface="Helvetica Neue"/>
              </a:defRPr>
            </a:lvl3pPr>
            <a:lvl4pPr>
              <a:defRPr sz="1875">
                <a:solidFill>
                  <a:srgbClr val="13212D"/>
                </a:solidFill>
                <a:latin typeface="Helvetica Neue"/>
                <a:ea typeface="Helvetica Neue"/>
                <a:cs typeface="Helvetica Neue"/>
              </a:defRPr>
            </a:lvl4pPr>
            <a:lvl5pPr>
              <a:defRPr sz="1875">
                <a:solidFill>
                  <a:srgbClr val="13212D"/>
                </a:solidFill>
                <a:latin typeface="Helvetica Neue"/>
                <a:ea typeface="Helvetica Neue"/>
                <a:cs typeface="Helvetica Neue"/>
              </a:defRPr>
            </a:lvl5pPr>
            <a:lvl6pPr>
              <a:defRPr sz="1875">
                <a:solidFill>
                  <a:srgbClr val="13212D"/>
                </a:solidFill>
                <a:latin typeface="Helvetica Neue"/>
                <a:ea typeface="Helvetica Neue"/>
                <a:cs typeface="Helvetica Neue"/>
              </a:defRPr>
            </a:lvl6pPr>
            <a:lvl7pPr>
              <a:defRPr sz="1875">
                <a:solidFill>
                  <a:srgbClr val="13212D"/>
                </a:solidFill>
                <a:latin typeface="Helvetica Neue"/>
                <a:ea typeface="Helvetica Neue"/>
                <a:cs typeface="Helvetica Neue"/>
              </a:defRPr>
            </a:lvl7pPr>
            <a:lvl8pPr>
              <a:defRPr sz="1875">
                <a:solidFill>
                  <a:srgbClr val="13212D"/>
                </a:solidFill>
                <a:latin typeface="Helvetica Neue"/>
                <a:ea typeface="Helvetica Neue"/>
                <a:cs typeface="Helvetica Neue"/>
              </a:defRPr>
            </a:lvl8pPr>
            <a:lvl9pPr>
              <a:defRPr sz="18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Airway symptoms, hypotension, severe dyspnea, or rapidly worsening reaction.</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Fever or infection symptoms in an immunocompromised patient.</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Unexpected bleeding, severe vomiting or diarrhea, altered mental status, or critical laboratory results.</a:t>
            </a:r>
          </a:p>
          <a:p xmlns:a="http://schemas.openxmlformats.org/drawingml/2006/main">
            <a:pPr marL="279400" indent="-127000">
              <a:spcAft>
                <a:spcPts val="1300"/>
              </a:spcAft>
              <a:buChar char="•"/>
              <a:defRPr sz="1875">
                <a:solidFill>
                  <a:srgbClr val="13212D"/>
                </a:solidFill>
                <a:latin typeface="Helvetica Neue"/>
                <a:ea typeface="Helvetica Neue"/>
                <a:cs typeface="Helvetica Neue"/>
              </a:defRPr>
            </a:pPr>
            <a:r>
              <a:rPr sz="1875">
                <a:solidFill>
                  <a:srgbClr val="13212D"/>
                </a:solidFill>
                <a:latin typeface="Helvetica Neue"/>
                <a:ea typeface="Helvetica Neue"/>
                <a:cs typeface="Helvetica Neue"/>
              </a:rPr>
              <a:t>Assess, stop or hold therapy as authorized, and activate the emergency pathway.</a:t>
            </a:r>
          </a:p>
        </p:txBody>
      </p:sp>
      <p:sp>
        <p:nvSpPr>
          <p:cNvPr id="6" name="">
            <a:extLst xmlns:a="http://schemas.openxmlformats.org/drawingml/2006/main">
              <a:ext uri="{FF2B5EF4-FFF2-40B4-BE49-F238E27FC236}">
                <a16:creationId xmlns:a16="http://schemas.microsoft.com/office/drawing/2014/main" id="{8EEAB3A0-3AAD-4ED5-AFC6-12CBA3AD3C8D}"/>
              </a:ext>
            </a:extLst>
          </p:cNvPr>
          <p:cNvSpPr>
            <a:spLocks xmlns:a="http://schemas.openxmlformats.org/drawingml/2006/main" noGrp="1"/>
          </p:cNvSpPr>
          <p:nvPr/>
        </p:nvSpPr>
        <p:spPr>
          <a:xfrm xmlns:a="http://schemas.openxmlformats.org/drawingml/2006/main">
            <a:off x="895350" y="6115050"/>
            <a:ext cx="10191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125" b="1">
                <a:solidFill>
                  <a:srgbClr val="B94F3D"/>
                </a:solidFill>
                <a:latin typeface="Helvetica Neue"/>
                <a:ea typeface="Helvetica Neue"/>
                <a:cs typeface="Helvetica Neue"/>
              </a:defRPr>
            </a:defPPr>
            <a:lvl1pPr>
              <a:defRPr sz="1125" b="1">
                <a:solidFill>
                  <a:srgbClr val="B94F3D"/>
                </a:solidFill>
                <a:latin typeface="Helvetica Neue"/>
                <a:ea typeface="Helvetica Neue"/>
                <a:cs typeface="Helvetica Neue"/>
              </a:defRPr>
            </a:lvl1pPr>
            <a:lvl2pPr>
              <a:defRPr sz="1125" b="1">
                <a:solidFill>
                  <a:srgbClr val="B94F3D"/>
                </a:solidFill>
                <a:latin typeface="Helvetica Neue"/>
                <a:ea typeface="Helvetica Neue"/>
                <a:cs typeface="Helvetica Neue"/>
              </a:defRPr>
            </a:lvl2pPr>
            <a:lvl3pPr>
              <a:defRPr sz="1125" b="1">
                <a:solidFill>
                  <a:srgbClr val="B94F3D"/>
                </a:solidFill>
                <a:latin typeface="Helvetica Neue"/>
                <a:ea typeface="Helvetica Neue"/>
                <a:cs typeface="Helvetica Neue"/>
              </a:defRPr>
            </a:lvl3pPr>
            <a:lvl4pPr>
              <a:defRPr sz="1125" b="1">
                <a:solidFill>
                  <a:srgbClr val="B94F3D"/>
                </a:solidFill>
                <a:latin typeface="Helvetica Neue"/>
                <a:ea typeface="Helvetica Neue"/>
                <a:cs typeface="Helvetica Neue"/>
              </a:defRPr>
            </a:lvl4pPr>
            <a:lvl5pPr>
              <a:defRPr sz="1125" b="1">
                <a:solidFill>
                  <a:srgbClr val="B94F3D"/>
                </a:solidFill>
                <a:latin typeface="Helvetica Neue"/>
                <a:ea typeface="Helvetica Neue"/>
                <a:cs typeface="Helvetica Neue"/>
              </a:defRPr>
            </a:lvl5pPr>
            <a:lvl6pPr>
              <a:defRPr sz="1125" b="1">
                <a:solidFill>
                  <a:srgbClr val="B94F3D"/>
                </a:solidFill>
                <a:latin typeface="Helvetica Neue"/>
                <a:ea typeface="Helvetica Neue"/>
                <a:cs typeface="Helvetica Neue"/>
              </a:defRPr>
            </a:lvl6pPr>
            <a:lvl7pPr>
              <a:defRPr sz="1125" b="1">
                <a:solidFill>
                  <a:srgbClr val="B94F3D"/>
                </a:solidFill>
                <a:latin typeface="Helvetica Neue"/>
                <a:ea typeface="Helvetica Neue"/>
                <a:cs typeface="Helvetica Neue"/>
              </a:defRPr>
            </a:lvl7pPr>
            <a:lvl8pPr>
              <a:defRPr sz="1125" b="1">
                <a:solidFill>
                  <a:srgbClr val="B94F3D"/>
                </a:solidFill>
                <a:latin typeface="Helvetica Neue"/>
                <a:ea typeface="Helvetica Neue"/>
                <a:cs typeface="Helvetica Neue"/>
              </a:defRPr>
            </a:lvl8pPr>
            <a:lvl9pPr>
              <a:defRPr sz="1125" b="1">
                <a:solidFill>
                  <a:srgbClr val="B94F3D"/>
                </a:solidFill>
                <a:latin typeface="Helvetica Neue"/>
                <a:ea typeface="Helvetica Neue"/>
                <a:cs typeface="Helvetica Neue"/>
              </a:defRPr>
            </a:lvl9pPr>
          </a:lstStyle>
          <a:p xmlns:a="http://schemas.openxmlformats.org/drawingml/2006/main">
            <a:pPr>
              <a:defRPr sz="1125" b="1">
                <a:solidFill>
                  <a:srgbClr val="B94F3D"/>
                </a:solidFill>
                <a:latin typeface="Helvetica Neue"/>
                <a:ea typeface="Helvetica Neue"/>
                <a:cs typeface="Helvetica Neue"/>
              </a:defRPr>
            </a:pPr>
            <a:r>
              <a:rPr sz="1125" b="1">
                <a:solidFill>
                  <a:srgbClr val="B94F3D"/>
                </a:solidFill>
                <a:latin typeface="Helvetica Neue"/>
                <a:ea typeface="Helvetica Neue"/>
                <a:cs typeface="Helvetica Neue"/>
              </a:rPr>
              <a:t>Use current orders, facility policy, and authorized scope when applying this information.</a:t>
            </a:r>
          </a:p>
        </p:txBody>
      </p:sp>
    </p:spTree>
    <p:extLst>
      <p:ext uri="{BB962C8B-B14F-4D97-AF65-F5344CB8AC3E}">
        <p14:creationId xmlns:p14="http://schemas.microsoft.com/office/powerpoint/2010/main" val="609093266"/>
      </p:ext>
    </p:extLst>
  </p:cSld>
</p:sld>
</file>

<file path=ppt/slides/slide11.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FDC555D6-3D35-4978-8510-0A1D0BBF7AA0}"/>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22DBFE74-B1C1-4388-A5A4-EC72EFB2DDE0}"/>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Practice and competency check</a:t>
            </a:r>
          </a:p>
        </p:txBody>
      </p:sp>
      <p:sp>
        <p:nvSpPr>
          <p:cNvPr id="3" name="">
            <a:extLst xmlns:a="http://schemas.openxmlformats.org/drawingml/2006/main">
              <a:ext uri="{FF2B5EF4-FFF2-40B4-BE49-F238E27FC236}">
                <a16:creationId xmlns:a16="http://schemas.microsoft.com/office/drawing/2014/main" id="{E53FEE25-6F1D-44B1-AF06-F337CB93FBAC}"/>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3C5DF67A-CB6A-4D3D-A68D-976BFA95D74E}"/>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11</a:t>
            </a:r>
          </a:p>
        </p:txBody>
      </p:sp>
      <p:sp>
        <p:nvSpPr>
          <p:cNvPr id="5" name="">
            <a:extLst xmlns:a="http://schemas.openxmlformats.org/drawingml/2006/main">
              <a:ext uri="{FF2B5EF4-FFF2-40B4-BE49-F238E27FC236}">
                <a16:creationId xmlns:a16="http://schemas.microsoft.com/office/drawing/2014/main" id="{47881D15-B52C-46F5-9974-821C01BFAADB}"/>
              </a:ext>
            </a:extLst>
          </p:cNvPr>
          <p:cNvSpPr>
            <a:spLocks xmlns:a="http://schemas.openxmlformats.org/drawingml/2006/main" noGrp="1"/>
          </p:cNvSpPr>
          <p:nvPr/>
        </p:nvSpPr>
        <p:spPr>
          <a:xfrm xmlns:a="http://schemas.openxmlformats.org/drawingml/2006/main">
            <a:off x="895350" y="1809750"/>
            <a:ext cx="10191750" cy="3143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175">
                <a:solidFill>
                  <a:srgbClr val="13212D"/>
                </a:solidFill>
                <a:latin typeface="Helvetica Neue"/>
                <a:ea typeface="Helvetica Neue"/>
                <a:cs typeface="Helvetica Neue"/>
              </a:defRPr>
            </a:defPPr>
            <a:lvl1pPr>
              <a:defRPr sz="2175">
                <a:solidFill>
                  <a:srgbClr val="13212D"/>
                </a:solidFill>
                <a:latin typeface="Helvetica Neue"/>
                <a:ea typeface="Helvetica Neue"/>
                <a:cs typeface="Helvetica Neue"/>
              </a:defRPr>
            </a:lvl1pPr>
            <a:lvl2pPr>
              <a:defRPr sz="2175">
                <a:solidFill>
                  <a:srgbClr val="13212D"/>
                </a:solidFill>
                <a:latin typeface="Helvetica Neue"/>
                <a:ea typeface="Helvetica Neue"/>
                <a:cs typeface="Helvetica Neue"/>
              </a:defRPr>
            </a:lvl2pPr>
            <a:lvl3pPr>
              <a:defRPr sz="2175">
                <a:solidFill>
                  <a:srgbClr val="13212D"/>
                </a:solidFill>
                <a:latin typeface="Helvetica Neue"/>
                <a:ea typeface="Helvetica Neue"/>
                <a:cs typeface="Helvetica Neue"/>
              </a:defRPr>
            </a:lvl3pPr>
            <a:lvl4pPr>
              <a:defRPr sz="2175">
                <a:solidFill>
                  <a:srgbClr val="13212D"/>
                </a:solidFill>
                <a:latin typeface="Helvetica Neue"/>
                <a:ea typeface="Helvetica Neue"/>
                <a:cs typeface="Helvetica Neue"/>
              </a:defRPr>
            </a:lvl4pPr>
            <a:lvl5pPr>
              <a:defRPr sz="2175">
                <a:solidFill>
                  <a:srgbClr val="13212D"/>
                </a:solidFill>
                <a:latin typeface="Helvetica Neue"/>
                <a:ea typeface="Helvetica Neue"/>
                <a:cs typeface="Helvetica Neue"/>
              </a:defRPr>
            </a:lvl5pPr>
            <a:lvl6pPr>
              <a:defRPr sz="2175">
                <a:solidFill>
                  <a:srgbClr val="13212D"/>
                </a:solidFill>
                <a:latin typeface="Helvetica Neue"/>
                <a:ea typeface="Helvetica Neue"/>
                <a:cs typeface="Helvetica Neue"/>
              </a:defRPr>
            </a:lvl6pPr>
            <a:lvl7pPr>
              <a:defRPr sz="2175">
                <a:solidFill>
                  <a:srgbClr val="13212D"/>
                </a:solidFill>
                <a:latin typeface="Helvetica Neue"/>
                <a:ea typeface="Helvetica Neue"/>
                <a:cs typeface="Helvetica Neue"/>
              </a:defRPr>
            </a:lvl7pPr>
            <a:lvl8pPr>
              <a:defRPr sz="2175">
                <a:solidFill>
                  <a:srgbClr val="13212D"/>
                </a:solidFill>
                <a:latin typeface="Helvetica Neue"/>
                <a:ea typeface="Helvetica Neue"/>
                <a:cs typeface="Helvetica Neue"/>
              </a:defRPr>
            </a:lvl8pPr>
            <a:lvl9pPr>
              <a:defRPr sz="217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Identify findings that require an immediate stop</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Select PPE for preparation, administration, and spill response</a:t>
            </a:r>
          </a:p>
          <a:p xmlns:a="http://schemas.openxmlformats.org/drawingml/2006/main">
            <a:pPr marL="279400" indent="-127000">
              <a:spcAft>
                <a:spcPts val="1300"/>
              </a:spcAft>
              <a:buChar char="•"/>
              <a:defRPr sz="2175">
                <a:solidFill>
                  <a:srgbClr val="13212D"/>
                </a:solidFill>
                <a:latin typeface="Helvetica Neue"/>
                <a:ea typeface="Helvetica Neue"/>
                <a:cs typeface="Helvetica Neue"/>
              </a:defRPr>
            </a:pPr>
            <a:r>
              <a:rPr sz="2175">
                <a:solidFill>
                  <a:srgbClr val="13212D"/>
                </a:solidFill>
                <a:latin typeface="Helvetica Neue"/>
                <a:ea typeface="Helvetica Neue"/>
                <a:cs typeface="Helvetica Neue"/>
              </a:rPr>
              <a:t>Rehearse the facility extravasation algorithm</a:t>
            </a:r>
          </a:p>
        </p:txBody>
      </p:sp>
      <p:sp>
        <p:nvSpPr>
          <p:cNvPr id="6" name="">
            <a:extLst xmlns:a="http://schemas.openxmlformats.org/drawingml/2006/main">
              <a:ext uri="{FF2B5EF4-FFF2-40B4-BE49-F238E27FC236}">
                <a16:creationId xmlns:a16="http://schemas.microsoft.com/office/drawing/2014/main" id="{B850C121-5B41-419A-A02D-915A65699108}"/>
              </a:ext>
            </a:extLst>
          </p:cNvPr>
          <p:cNvSpPr>
            <a:spLocks xmlns:a="http://schemas.openxmlformats.org/drawingml/2006/main" noGrp="1"/>
          </p:cNvSpPr>
          <p:nvPr/>
        </p:nvSpPr>
        <p:spPr>
          <a:xfrm xmlns:a="http://schemas.openxmlformats.org/drawingml/2006/main">
            <a:off x="895350" y="5334000"/>
            <a:ext cx="1019175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B94F3D"/>
                </a:solidFill>
                <a:latin typeface="Helvetica Neue"/>
                <a:ea typeface="Helvetica Neue"/>
                <a:cs typeface="Helvetica Neue"/>
              </a:defRPr>
            </a:defPPr>
            <a:lvl1pPr>
              <a:defRPr sz="1650" b="1">
                <a:solidFill>
                  <a:srgbClr val="B94F3D"/>
                </a:solidFill>
                <a:latin typeface="Helvetica Neue"/>
                <a:ea typeface="Helvetica Neue"/>
                <a:cs typeface="Helvetica Neue"/>
              </a:defRPr>
            </a:lvl1pPr>
            <a:lvl2pPr>
              <a:defRPr sz="1650" b="1">
                <a:solidFill>
                  <a:srgbClr val="B94F3D"/>
                </a:solidFill>
                <a:latin typeface="Helvetica Neue"/>
                <a:ea typeface="Helvetica Neue"/>
                <a:cs typeface="Helvetica Neue"/>
              </a:defRPr>
            </a:lvl2pPr>
            <a:lvl3pPr>
              <a:defRPr sz="1650" b="1">
                <a:solidFill>
                  <a:srgbClr val="B94F3D"/>
                </a:solidFill>
                <a:latin typeface="Helvetica Neue"/>
                <a:ea typeface="Helvetica Neue"/>
                <a:cs typeface="Helvetica Neue"/>
              </a:defRPr>
            </a:lvl3pPr>
            <a:lvl4pPr>
              <a:defRPr sz="1650" b="1">
                <a:solidFill>
                  <a:srgbClr val="B94F3D"/>
                </a:solidFill>
                <a:latin typeface="Helvetica Neue"/>
                <a:ea typeface="Helvetica Neue"/>
                <a:cs typeface="Helvetica Neue"/>
              </a:defRPr>
            </a:lvl4pPr>
            <a:lvl5pPr>
              <a:defRPr sz="1650" b="1">
                <a:solidFill>
                  <a:srgbClr val="B94F3D"/>
                </a:solidFill>
                <a:latin typeface="Helvetica Neue"/>
                <a:ea typeface="Helvetica Neue"/>
                <a:cs typeface="Helvetica Neue"/>
              </a:defRPr>
            </a:lvl5pPr>
            <a:lvl6pPr>
              <a:defRPr sz="1650" b="1">
                <a:solidFill>
                  <a:srgbClr val="B94F3D"/>
                </a:solidFill>
                <a:latin typeface="Helvetica Neue"/>
                <a:ea typeface="Helvetica Neue"/>
                <a:cs typeface="Helvetica Neue"/>
              </a:defRPr>
            </a:lvl6pPr>
            <a:lvl7pPr>
              <a:defRPr sz="1650" b="1">
                <a:solidFill>
                  <a:srgbClr val="B94F3D"/>
                </a:solidFill>
                <a:latin typeface="Helvetica Neue"/>
                <a:ea typeface="Helvetica Neue"/>
                <a:cs typeface="Helvetica Neue"/>
              </a:defRPr>
            </a:lvl7pPr>
            <a:lvl8pPr>
              <a:defRPr sz="1650" b="1">
                <a:solidFill>
                  <a:srgbClr val="B94F3D"/>
                </a:solidFill>
                <a:latin typeface="Helvetica Neue"/>
                <a:ea typeface="Helvetica Neue"/>
                <a:cs typeface="Helvetica Neue"/>
              </a:defRPr>
            </a:lvl8pPr>
            <a:lvl9pPr>
              <a:defRPr sz="1650" b="1">
                <a:solidFill>
                  <a:srgbClr val="B94F3D"/>
                </a:solidFill>
                <a:latin typeface="Helvetica Neue"/>
                <a:ea typeface="Helvetica Neue"/>
                <a:cs typeface="Helvetica Neue"/>
              </a:defRPr>
            </a:lvl9pPr>
          </a:lstStyle>
          <a:p xmlns:a="http://schemas.openxmlformats.org/drawingml/2006/main">
            <a:pPr>
              <a:defRPr sz="1650" b="1">
                <a:solidFill>
                  <a:srgbClr val="B94F3D"/>
                </a:solidFill>
                <a:latin typeface="Helvetica Neue"/>
                <a:ea typeface="Helvetica Neue"/>
                <a:cs typeface="Helvetica Neue"/>
              </a:defRPr>
            </a:pPr>
            <a:r>
              <a:rPr sz="1650" b="1">
                <a:solidFill>
                  <a:srgbClr val="B94F3D"/>
                </a:solidFill>
                <a:latin typeface="Helvetica Neue"/>
                <a:ea typeface="Helvetica Neue"/>
                <a:cs typeface="Helvetica Neue"/>
              </a:rPr>
              <a:t>Complete the matching online lesson and assessment before the in-person laboratory.</a:t>
            </a:r>
          </a:p>
        </p:txBody>
      </p:sp>
    </p:spTree>
    <p:extLst>
      <p:ext uri="{BB962C8B-B14F-4D97-AF65-F5344CB8AC3E}">
        <p14:creationId xmlns:p14="http://schemas.microsoft.com/office/powerpoint/2010/main" val="1091678700"/>
      </p:ext>
    </p:extLst>
  </p:cSld>
</p:sld>
</file>

<file path=ppt/slides/slide12.xml><?xml version="1.0" encoding="utf-8"?>
<p:sld xmlns:p="http://schemas.openxmlformats.org/presentationml/2006/main">
  <p:cSld>
    <p:bg>
      <p:bgPr>
        <a:solidFill xmlns:a="http://schemas.openxmlformats.org/drawingml/2006/main">
          <a:srgbClr val="F7F4EE"/>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99CA3C4-8E5C-4413-B8AE-3939B4751761}"/>
              </a:ext>
            </a:extLst>
          </p:cNvPr>
          <p:cNvSpPr>
            <a:spLocks xmlns:a="http://schemas.openxmlformats.org/drawingml/2006/main" noGrp="1"/>
          </p:cNvSpPr>
          <p:nvPr/>
        </p:nvSpPr>
        <p:spPr>
          <a:xfrm xmlns:a="http://schemas.openxmlformats.org/drawingml/2006/main">
            <a:off x="0" y="0"/>
            <a:ext cx="209550" cy="6858000"/>
          </a:xfrm>
          <a:prstGeom xmlns:a="http://schemas.openxmlformats.org/drawingml/2006/main" prst="rect">
            <a:avLst/>
          </a:prstGeom>
          <a:solidFill xmlns:a="http://schemas.openxmlformats.org/drawingml/2006/main">
            <a:srgbClr val="237B82"/>
          </a:solidFill>
          <a:ln xmlns:a="http://schemas.openxmlformats.org/drawingml/2006/main" w="0">
            <a:solidFill>
              <a:srgbClr val="237B82"/>
            </a:solidFill>
          </a:ln>
        </p:spPr>
      </p:sp>
      <p:sp>
        <p:nvSpPr>
          <p:cNvPr id="2" name="">
            <a:extLst xmlns:a="http://schemas.openxmlformats.org/drawingml/2006/main">
              <a:ext uri="{FF2B5EF4-FFF2-40B4-BE49-F238E27FC236}">
                <a16:creationId xmlns:a16="http://schemas.microsoft.com/office/drawing/2014/main" id="{DB72FA20-AF73-419C-82B7-B8D428DFC067}"/>
              </a:ext>
            </a:extLst>
          </p:cNvPr>
          <p:cNvSpPr>
            <a:spLocks xmlns:a="http://schemas.openxmlformats.org/drawingml/2006/main" noGrp="1"/>
          </p:cNvSpPr>
          <p:nvPr/>
        </p:nvSpPr>
        <p:spPr>
          <a:xfrm xmlns:a="http://schemas.openxmlformats.org/drawingml/2006/main">
            <a:off x="685800" y="400050"/>
            <a:ext cx="1000125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700" b="1">
                <a:solidFill>
                  <a:srgbClr val="15324A"/>
                </a:solidFill>
                <a:latin typeface="Helvetica Neue"/>
                <a:ea typeface="Helvetica Neue"/>
                <a:cs typeface="Helvetica Neue"/>
              </a:defRPr>
            </a:defPPr>
            <a:lvl1pPr>
              <a:defRPr sz="2700" b="1">
                <a:solidFill>
                  <a:srgbClr val="15324A"/>
                </a:solidFill>
                <a:latin typeface="Helvetica Neue"/>
                <a:ea typeface="Helvetica Neue"/>
                <a:cs typeface="Helvetica Neue"/>
              </a:defRPr>
            </a:lvl1pPr>
            <a:lvl2pPr>
              <a:defRPr sz="2700" b="1">
                <a:solidFill>
                  <a:srgbClr val="15324A"/>
                </a:solidFill>
                <a:latin typeface="Helvetica Neue"/>
                <a:ea typeface="Helvetica Neue"/>
                <a:cs typeface="Helvetica Neue"/>
              </a:defRPr>
            </a:lvl2pPr>
            <a:lvl3pPr>
              <a:defRPr sz="2700" b="1">
                <a:solidFill>
                  <a:srgbClr val="15324A"/>
                </a:solidFill>
                <a:latin typeface="Helvetica Neue"/>
                <a:ea typeface="Helvetica Neue"/>
                <a:cs typeface="Helvetica Neue"/>
              </a:defRPr>
            </a:lvl3pPr>
            <a:lvl4pPr>
              <a:defRPr sz="2700" b="1">
                <a:solidFill>
                  <a:srgbClr val="15324A"/>
                </a:solidFill>
                <a:latin typeface="Helvetica Neue"/>
                <a:ea typeface="Helvetica Neue"/>
                <a:cs typeface="Helvetica Neue"/>
              </a:defRPr>
            </a:lvl4pPr>
            <a:lvl5pPr>
              <a:defRPr sz="2700" b="1">
                <a:solidFill>
                  <a:srgbClr val="15324A"/>
                </a:solidFill>
                <a:latin typeface="Helvetica Neue"/>
                <a:ea typeface="Helvetica Neue"/>
                <a:cs typeface="Helvetica Neue"/>
              </a:defRPr>
            </a:lvl5pPr>
            <a:lvl6pPr>
              <a:defRPr sz="2700" b="1">
                <a:solidFill>
                  <a:srgbClr val="15324A"/>
                </a:solidFill>
                <a:latin typeface="Helvetica Neue"/>
                <a:ea typeface="Helvetica Neue"/>
                <a:cs typeface="Helvetica Neue"/>
              </a:defRPr>
            </a:lvl6pPr>
            <a:lvl7pPr>
              <a:defRPr sz="2700" b="1">
                <a:solidFill>
                  <a:srgbClr val="15324A"/>
                </a:solidFill>
                <a:latin typeface="Helvetica Neue"/>
                <a:ea typeface="Helvetica Neue"/>
                <a:cs typeface="Helvetica Neue"/>
              </a:defRPr>
            </a:lvl7pPr>
            <a:lvl8pPr>
              <a:defRPr sz="2700" b="1">
                <a:solidFill>
                  <a:srgbClr val="15324A"/>
                </a:solidFill>
                <a:latin typeface="Helvetica Neue"/>
                <a:ea typeface="Helvetica Neue"/>
                <a:cs typeface="Helvetica Neue"/>
              </a:defRPr>
            </a:lvl8pPr>
            <a:lvl9pPr>
              <a:defRPr sz="2700" b="1">
                <a:solidFill>
                  <a:srgbClr val="15324A"/>
                </a:solidFill>
                <a:latin typeface="Helvetica Neue"/>
                <a:ea typeface="Helvetica Neue"/>
                <a:cs typeface="Helvetica Neue"/>
              </a:defRPr>
            </a:lvl9pPr>
          </a:lstStyle>
          <a:p xmlns:a="http://schemas.openxmlformats.org/drawingml/2006/main">
            <a:pPr>
              <a:defRPr sz="2700" b="1">
                <a:solidFill>
                  <a:srgbClr val="15324A"/>
                </a:solidFill>
                <a:latin typeface="Helvetica Neue"/>
                <a:ea typeface="Helvetica Neue"/>
                <a:cs typeface="Helvetica Neue"/>
              </a:defRPr>
            </a:pPr>
            <a:r>
              <a:rPr sz="2700" b="1">
                <a:solidFill>
                  <a:srgbClr val="15324A"/>
                </a:solidFill>
                <a:latin typeface="Helvetica Neue"/>
                <a:ea typeface="Helvetica Neue"/>
                <a:cs typeface="Helvetica Neue"/>
              </a:rPr>
              <a:t>Key points</a:t>
            </a:r>
          </a:p>
        </p:txBody>
      </p:sp>
      <p:sp>
        <p:nvSpPr>
          <p:cNvPr id="3" name="">
            <a:extLst xmlns:a="http://schemas.openxmlformats.org/drawingml/2006/main">
              <a:ext uri="{FF2B5EF4-FFF2-40B4-BE49-F238E27FC236}">
                <a16:creationId xmlns:a16="http://schemas.microsoft.com/office/drawing/2014/main" id="{D8F649BF-86F0-4F2B-8D33-28A4101CF84B}"/>
              </a:ext>
            </a:extLst>
          </p:cNvPr>
          <p:cNvSpPr>
            <a:spLocks xmlns:a="http://schemas.openxmlformats.org/drawingml/2006/main" noGrp="1"/>
          </p:cNvSpPr>
          <p:nvPr/>
        </p:nvSpPr>
        <p:spPr>
          <a:xfrm xmlns:a="http://schemas.openxmlformats.org/drawingml/2006/main">
            <a:off x="704850" y="1257300"/>
            <a:ext cx="88582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91111"/>
          </a:bodyPr>
          <a:lstStyle xmlns:a="http://schemas.openxmlformats.org/drawingml/2006/main">
            <a:defPPr>
              <a:defRPr sz="1125" b="1">
                <a:solidFill>
                  <a:srgbClr val="237B82"/>
                </a:solidFill>
                <a:latin typeface="Helvetica Neue"/>
                <a:ea typeface="Helvetica Neue"/>
                <a:cs typeface="Helvetica Neue"/>
              </a:defRPr>
            </a:defPPr>
            <a:lvl1pPr>
              <a:defRPr sz="1125" b="1">
                <a:solidFill>
                  <a:srgbClr val="237B82"/>
                </a:solidFill>
                <a:latin typeface="Helvetica Neue"/>
                <a:ea typeface="Helvetica Neue"/>
                <a:cs typeface="Helvetica Neue"/>
              </a:defRPr>
            </a:lvl1pPr>
            <a:lvl2pPr>
              <a:defRPr sz="1125" b="1">
                <a:solidFill>
                  <a:srgbClr val="237B82"/>
                </a:solidFill>
                <a:latin typeface="Helvetica Neue"/>
                <a:ea typeface="Helvetica Neue"/>
                <a:cs typeface="Helvetica Neue"/>
              </a:defRPr>
            </a:lvl2pPr>
            <a:lvl3pPr>
              <a:defRPr sz="1125" b="1">
                <a:solidFill>
                  <a:srgbClr val="237B82"/>
                </a:solidFill>
                <a:latin typeface="Helvetica Neue"/>
                <a:ea typeface="Helvetica Neue"/>
                <a:cs typeface="Helvetica Neue"/>
              </a:defRPr>
            </a:lvl3pPr>
            <a:lvl4pPr>
              <a:defRPr sz="1125" b="1">
                <a:solidFill>
                  <a:srgbClr val="237B82"/>
                </a:solidFill>
                <a:latin typeface="Helvetica Neue"/>
                <a:ea typeface="Helvetica Neue"/>
                <a:cs typeface="Helvetica Neue"/>
              </a:defRPr>
            </a:lvl4pPr>
            <a:lvl5pPr>
              <a:defRPr sz="1125" b="1">
                <a:solidFill>
                  <a:srgbClr val="237B82"/>
                </a:solidFill>
                <a:latin typeface="Helvetica Neue"/>
                <a:ea typeface="Helvetica Neue"/>
                <a:cs typeface="Helvetica Neue"/>
              </a:defRPr>
            </a:lvl5pPr>
            <a:lvl6pPr>
              <a:defRPr sz="1125" b="1">
                <a:solidFill>
                  <a:srgbClr val="237B82"/>
                </a:solidFill>
                <a:latin typeface="Helvetica Neue"/>
                <a:ea typeface="Helvetica Neue"/>
                <a:cs typeface="Helvetica Neue"/>
              </a:defRPr>
            </a:lvl6pPr>
            <a:lvl7pPr>
              <a:defRPr sz="1125" b="1">
                <a:solidFill>
                  <a:srgbClr val="237B82"/>
                </a:solidFill>
                <a:latin typeface="Helvetica Neue"/>
                <a:ea typeface="Helvetica Neue"/>
                <a:cs typeface="Helvetica Neue"/>
              </a:defRPr>
            </a:lvl7pPr>
            <a:lvl8pPr>
              <a:defRPr sz="1125" b="1">
                <a:solidFill>
                  <a:srgbClr val="237B82"/>
                </a:solidFill>
                <a:latin typeface="Helvetica Neue"/>
                <a:ea typeface="Helvetica Neue"/>
                <a:cs typeface="Helvetica Neue"/>
              </a:defRPr>
            </a:lvl8pPr>
            <a:lvl9pPr>
              <a:defRPr sz="1125" b="1">
                <a:solidFill>
                  <a:srgbClr val="237B82"/>
                </a:solidFill>
                <a:latin typeface="Helvetica Neue"/>
                <a:ea typeface="Helvetica Neue"/>
                <a:cs typeface="Helvetica Neue"/>
              </a:defRPr>
            </a:lvl9pPr>
          </a:lstStyle>
          <a:p xmlns:a="http://schemas.openxmlformats.org/drawingml/2006/main">
            <a:pPr>
              <a:defRPr sz="1125" b="1">
                <a:solidFill>
                  <a:srgbClr val="237B82"/>
                </a:solidFill>
                <a:latin typeface="Helvetica Neue"/>
                <a:ea typeface="Helvetica Neue"/>
                <a:cs typeface="Helvetica Neue"/>
              </a:defRPr>
            </a:pPr>
            <a:r>
              <a:rPr sz="1125" b="1">
                <a:solidFill>
                  <a:srgbClr val="237B82"/>
                </a:solidFill>
                <a:latin typeface="Helvetica Neue"/>
                <a:ea typeface="Helvetica Neue"/>
                <a:cs typeface="Helvetica Neue"/>
              </a:rPr>
              <a:t>MODULE 6</a:t>
            </a:r>
          </a:p>
        </p:txBody>
      </p:sp>
      <p:sp>
        <p:nvSpPr>
          <p:cNvPr id="4" name="">
            <a:extLst xmlns:a="http://schemas.openxmlformats.org/drawingml/2006/main">
              <a:ext uri="{FF2B5EF4-FFF2-40B4-BE49-F238E27FC236}">
                <a16:creationId xmlns:a16="http://schemas.microsoft.com/office/drawing/2014/main" id="{DF096B70-3833-4D20-B0A2-3A54D0A9987D}"/>
              </a:ext>
            </a:extLst>
          </p:cNvPr>
          <p:cNvSpPr>
            <a:spLocks xmlns:a="http://schemas.openxmlformats.org/drawingml/2006/main" noGrp="1"/>
          </p:cNvSpPr>
          <p:nvPr/>
        </p:nvSpPr>
        <p:spPr>
          <a:xfrm xmlns:a="http://schemas.openxmlformats.org/drawingml/2006/main">
            <a:off x="11144250" y="457200"/>
            <a:ext cx="533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200" b="1">
                <a:solidFill>
                  <a:srgbClr val="237B82"/>
                </a:solidFill>
                <a:latin typeface="Helvetica Neue"/>
                <a:ea typeface="Helvetica Neue"/>
                <a:cs typeface="Helvetica Neue"/>
              </a:defRPr>
            </a:defPPr>
            <a:lvl1pPr>
              <a:defRPr sz="1200" b="1">
                <a:solidFill>
                  <a:srgbClr val="237B82"/>
                </a:solidFill>
                <a:latin typeface="Helvetica Neue"/>
                <a:ea typeface="Helvetica Neue"/>
                <a:cs typeface="Helvetica Neue"/>
              </a:defRPr>
            </a:lvl1pPr>
            <a:lvl2pPr>
              <a:defRPr sz="1200" b="1">
                <a:solidFill>
                  <a:srgbClr val="237B82"/>
                </a:solidFill>
                <a:latin typeface="Helvetica Neue"/>
                <a:ea typeface="Helvetica Neue"/>
                <a:cs typeface="Helvetica Neue"/>
              </a:defRPr>
            </a:lvl2pPr>
            <a:lvl3pPr>
              <a:defRPr sz="1200" b="1">
                <a:solidFill>
                  <a:srgbClr val="237B82"/>
                </a:solidFill>
                <a:latin typeface="Helvetica Neue"/>
                <a:ea typeface="Helvetica Neue"/>
                <a:cs typeface="Helvetica Neue"/>
              </a:defRPr>
            </a:lvl3pPr>
            <a:lvl4pPr>
              <a:defRPr sz="1200" b="1">
                <a:solidFill>
                  <a:srgbClr val="237B82"/>
                </a:solidFill>
                <a:latin typeface="Helvetica Neue"/>
                <a:ea typeface="Helvetica Neue"/>
                <a:cs typeface="Helvetica Neue"/>
              </a:defRPr>
            </a:lvl4pPr>
            <a:lvl5pPr>
              <a:defRPr sz="1200" b="1">
                <a:solidFill>
                  <a:srgbClr val="237B82"/>
                </a:solidFill>
                <a:latin typeface="Helvetica Neue"/>
                <a:ea typeface="Helvetica Neue"/>
                <a:cs typeface="Helvetica Neue"/>
              </a:defRPr>
            </a:lvl5pPr>
            <a:lvl6pPr>
              <a:defRPr sz="1200" b="1">
                <a:solidFill>
                  <a:srgbClr val="237B82"/>
                </a:solidFill>
                <a:latin typeface="Helvetica Neue"/>
                <a:ea typeface="Helvetica Neue"/>
                <a:cs typeface="Helvetica Neue"/>
              </a:defRPr>
            </a:lvl6pPr>
            <a:lvl7pPr>
              <a:defRPr sz="1200" b="1">
                <a:solidFill>
                  <a:srgbClr val="237B82"/>
                </a:solidFill>
                <a:latin typeface="Helvetica Neue"/>
                <a:ea typeface="Helvetica Neue"/>
                <a:cs typeface="Helvetica Neue"/>
              </a:defRPr>
            </a:lvl7pPr>
            <a:lvl8pPr>
              <a:defRPr sz="1200" b="1">
                <a:solidFill>
                  <a:srgbClr val="237B82"/>
                </a:solidFill>
                <a:latin typeface="Helvetica Neue"/>
                <a:ea typeface="Helvetica Neue"/>
                <a:cs typeface="Helvetica Neue"/>
              </a:defRPr>
            </a:lvl8pPr>
            <a:lvl9pPr>
              <a:defRPr sz="1200" b="1">
                <a:solidFill>
                  <a:srgbClr val="237B82"/>
                </a:solidFill>
                <a:latin typeface="Helvetica Neue"/>
                <a:ea typeface="Helvetica Neue"/>
                <a:cs typeface="Helvetica Neue"/>
              </a:defRPr>
            </a:lvl9pPr>
          </a:lstStyle>
          <a:p xmlns:a="http://schemas.openxmlformats.org/drawingml/2006/main">
            <a:pPr>
              <a:defRPr sz="1200" b="1">
                <a:solidFill>
                  <a:srgbClr val="237B82"/>
                </a:solidFill>
                <a:latin typeface="Helvetica Neue"/>
                <a:ea typeface="Helvetica Neue"/>
                <a:cs typeface="Helvetica Neue"/>
              </a:defRPr>
            </a:pPr>
            <a:r>
              <a:rPr sz="1200" b="1">
                <a:solidFill>
                  <a:srgbClr val="237B82"/>
                </a:solidFill>
                <a:latin typeface="Helvetica Neue"/>
                <a:ea typeface="Helvetica Neue"/>
                <a:cs typeface="Helvetica Neue"/>
              </a:rPr>
              <a:t>12</a:t>
            </a:r>
          </a:p>
        </p:txBody>
      </p:sp>
      <p:sp>
        <p:nvSpPr>
          <p:cNvPr id="5" name="">
            <a:extLst xmlns:a="http://schemas.openxmlformats.org/drawingml/2006/main">
              <a:ext uri="{FF2B5EF4-FFF2-40B4-BE49-F238E27FC236}">
                <a16:creationId xmlns:a16="http://schemas.microsoft.com/office/drawing/2014/main" id="{66741208-6ADA-4174-9801-4DBF0D0A2F81}"/>
              </a:ext>
            </a:extLst>
          </p:cNvPr>
          <p:cNvSpPr>
            <a:spLocks xmlns:a="http://schemas.openxmlformats.org/drawingml/2006/main" noGrp="1"/>
          </p:cNvSpPr>
          <p:nvPr/>
        </p:nvSpPr>
        <p:spPr>
          <a:xfrm xmlns:a="http://schemas.openxmlformats.org/drawingml/2006/main">
            <a:off x="895350" y="1809750"/>
            <a:ext cx="10191750" cy="3619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2025">
                <a:solidFill>
                  <a:srgbClr val="13212D"/>
                </a:solidFill>
                <a:latin typeface="Helvetica Neue"/>
                <a:ea typeface="Helvetica Neue"/>
                <a:cs typeface="Helvetica Neue"/>
              </a:defRPr>
            </a:defPPr>
            <a:lvl1pPr>
              <a:defRPr sz="2025">
                <a:solidFill>
                  <a:srgbClr val="13212D"/>
                </a:solidFill>
                <a:latin typeface="Helvetica Neue"/>
                <a:ea typeface="Helvetica Neue"/>
                <a:cs typeface="Helvetica Neue"/>
              </a:defRPr>
            </a:lvl1pPr>
            <a:lvl2pPr>
              <a:defRPr sz="2025">
                <a:solidFill>
                  <a:srgbClr val="13212D"/>
                </a:solidFill>
                <a:latin typeface="Helvetica Neue"/>
                <a:ea typeface="Helvetica Neue"/>
                <a:cs typeface="Helvetica Neue"/>
              </a:defRPr>
            </a:lvl2pPr>
            <a:lvl3pPr>
              <a:defRPr sz="2025">
                <a:solidFill>
                  <a:srgbClr val="13212D"/>
                </a:solidFill>
                <a:latin typeface="Helvetica Neue"/>
                <a:ea typeface="Helvetica Neue"/>
                <a:cs typeface="Helvetica Neue"/>
              </a:defRPr>
            </a:lvl3pPr>
            <a:lvl4pPr>
              <a:defRPr sz="2025">
                <a:solidFill>
                  <a:srgbClr val="13212D"/>
                </a:solidFill>
                <a:latin typeface="Helvetica Neue"/>
                <a:ea typeface="Helvetica Neue"/>
                <a:cs typeface="Helvetica Neue"/>
              </a:defRPr>
            </a:lvl4pPr>
            <a:lvl5pPr>
              <a:defRPr sz="2025">
                <a:solidFill>
                  <a:srgbClr val="13212D"/>
                </a:solidFill>
                <a:latin typeface="Helvetica Neue"/>
                <a:ea typeface="Helvetica Neue"/>
                <a:cs typeface="Helvetica Neue"/>
              </a:defRPr>
            </a:lvl5pPr>
            <a:lvl6pPr>
              <a:defRPr sz="2025">
                <a:solidFill>
                  <a:srgbClr val="13212D"/>
                </a:solidFill>
                <a:latin typeface="Helvetica Neue"/>
                <a:ea typeface="Helvetica Neue"/>
                <a:cs typeface="Helvetica Neue"/>
              </a:defRPr>
            </a:lvl6pPr>
            <a:lvl7pPr>
              <a:defRPr sz="2025">
                <a:solidFill>
                  <a:srgbClr val="13212D"/>
                </a:solidFill>
                <a:latin typeface="Helvetica Neue"/>
                <a:ea typeface="Helvetica Neue"/>
                <a:cs typeface="Helvetica Neue"/>
              </a:defRPr>
            </a:lvl7pPr>
            <a:lvl8pPr>
              <a:defRPr sz="2025">
                <a:solidFill>
                  <a:srgbClr val="13212D"/>
                </a:solidFill>
                <a:latin typeface="Helvetica Neue"/>
                <a:ea typeface="Helvetica Neue"/>
                <a:cs typeface="Helvetica Neue"/>
              </a:defRPr>
            </a:lvl8pPr>
            <a:lvl9pPr>
              <a:defRPr sz="2025">
                <a:solidFill>
                  <a:srgbClr val="13212D"/>
                </a:solidFill>
                <a:latin typeface="Helvetica Neue"/>
                <a:ea typeface="Helvetica Neue"/>
                <a:cs typeface="Helvetica Neue"/>
              </a:defRPr>
            </a:lvl9pPr>
          </a:lstStyle>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Explain major treatment concepts and common adverse effects</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Review the regimen, laboratory results, allergies, access device, premedications, hydration, current symptoms, and emergency plan. Verify the protocol and independent checks required for high-alert therapy.</a:t>
            </a:r>
          </a:p>
          <a:p xmlns:a="http://schemas.openxmlformats.org/drawingml/2006/main">
            <a:pPr marL="279400" indent="-127000">
              <a:spcAft>
                <a:spcPts val="1300"/>
              </a:spcAft>
              <a:buChar char="•"/>
              <a:defRPr sz="2025">
                <a:solidFill>
                  <a:srgbClr val="13212D"/>
                </a:solidFill>
                <a:latin typeface="Helvetica Neue"/>
                <a:ea typeface="Helvetica Neue"/>
                <a:cs typeface="Helvetica Neue"/>
              </a:defRPr>
            </a:pPr>
            <a:r>
              <a:rPr sz="2025">
                <a:solidFill>
                  <a:srgbClr val="13212D"/>
                </a:solidFill>
                <a:latin typeface="Helvetica Neue"/>
                <a:ea typeface="Helvetica Neue"/>
                <a:cs typeface="Helvetica Neue"/>
              </a:rPr>
              <a:t>Pain, burning, swelling, resistance, leakage, or loss of blood return can signal extravasation. Stop the drug, leave access in place when the agent-specific protocol requires aspiration or antidote, notify the qualified clinician, and follow the exact drug protocol.</a:t>
            </a:r>
          </a:p>
        </p:txBody>
      </p:sp>
      <p:sp>
        <p:nvSpPr>
          <p:cNvPr id="6" name="">
            <a:extLst xmlns:a="http://schemas.openxmlformats.org/drawingml/2006/main">
              <a:ext uri="{FF2B5EF4-FFF2-40B4-BE49-F238E27FC236}">
                <a16:creationId xmlns:a16="http://schemas.microsoft.com/office/drawing/2014/main" id="{8E6757EC-162C-48D5-B3D8-DC7CF4F60176}"/>
              </a:ext>
            </a:extLst>
          </p:cNvPr>
          <p:cNvSpPr>
            <a:spLocks xmlns:a="http://schemas.openxmlformats.org/drawingml/2006/main" noGrp="1"/>
          </p:cNvSpPr>
          <p:nvPr/>
        </p:nvSpPr>
        <p:spPr>
          <a:xfrm xmlns:a="http://schemas.openxmlformats.org/drawingml/2006/main">
            <a:off x="895350" y="5467350"/>
            <a:ext cx="1019175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chor="t">
            <a:normAutofit fontScale="100000"/>
          </a:bodyPr>
          <a:lstStyle xmlns:a="http://schemas.openxmlformats.org/drawingml/2006/main">
            <a:defPPr>
              <a:defRPr sz="1650" b="1">
                <a:solidFill>
                  <a:srgbClr val="237B82"/>
                </a:solidFill>
                <a:latin typeface="Helvetica Neue"/>
                <a:ea typeface="Helvetica Neue"/>
                <a:cs typeface="Helvetica Neue"/>
              </a:defRPr>
            </a:defPPr>
            <a:lvl1pPr>
              <a:defRPr sz="1650" b="1">
                <a:solidFill>
                  <a:srgbClr val="237B82"/>
                </a:solidFill>
                <a:latin typeface="Helvetica Neue"/>
                <a:ea typeface="Helvetica Neue"/>
                <a:cs typeface="Helvetica Neue"/>
              </a:defRPr>
            </a:lvl1pPr>
            <a:lvl2pPr>
              <a:defRPr sz="1650" b="1">
                <a:solidFill>
                  <a:srgbClr val="237B82"/>
                </a:solidFill>
                <a:latin typeface="Helvetica Neue"/>
                <a:ea typeface="Helvetica Neue"/>
                <a:cs typeface="Helvetica Neue"/>
              </a:defRPr>
            </a:lvl2pPr>
            <a:lvl3pPr>
              <a:defRPr sz="1650" b="1">
                <a:solidFill>
                  <a:srgbClr val="237B82"/>
                </a:solidFill>
                <a:latin typeface="Helvetica Neue"/>
                <a:ea typeface="Helvetica Neue"/>
                <a:cs typeface="Helvetica Neue"/>
              </a:defRPr>
            </a:lvl3pPr>
            <a:lvl4pPr>
              <a:defRPr sz="1650" b="1">
                <a:solidFill>
                  <a:srgbClr val="237B82"/>
                </a:solidFill>
                <a:latin typeface="Helvetica Neue"/>
                <a:ea typeface="Helvetica Neue"/>
                <a:cs typeface="Helvetica Neue"/>
              </a:defRPr>
            </a:lvl4pPr>
            <a:lvl5pPr>
              <a:defRPr sz="1650" b="1">
                <a:solidFill>
                  <a:srgbClr val="237B82"/>
                </a:solidFill>
                <a:latin typeface="Helvetica Neue"/>
                <a:ea typeface="Helvetica Neue"/>
                <a:cs typeface="Helvetica Neue"/>
              </a:defRPr>
            </a:lvl5pPr>
            <a:lvl6pPr>
              <a:defRPr sz="1650" b="1">
                <a:solidFill>
                  <a:srgbClr val="237B82"/>
                </a:solidFill>
                <a:latin typeface="Helvetica Neue"/>
                <a:ea typeface="Helvetica Neue"/>
                <a:cs typeface="Helvetica Neue"/>
              </a:defRPr>
            </a:lvl6pPr>
            <a:lvl7pPr>
              <a:defRPr sz="1650" b="1">
                <a:solidFill>
                  <a:srgbClr val="237B82"/>
                </a:solidFill>
                <a:latin typeface="Helvetica Neue"/>
                <a:ea typeface="Helvetica Neue"/>
                <a:cs typeface="Helvetica Neue"/>
              </a:defRPr>
            </a:lvl7pPr>
            <a:lvl8pPr>
              <a:defRPr sz="1650" b="1">
                <a:solidFill>
                  <a:srgbClr val="237B82"/>
                </a:solidFill>
                <a:latin typeface="Helvetica Neue"/>
                <a:ea typeface="Helvetica Neue"/>
                <a:cs typeface="Helvetica Neue"/>
              </a:defRPr>
            </a:lvl8pPr>
            <a:lvl9pPr>
              <a:defRPr sz="1650" b="1">
                <a:solidFill>
                  <a:srgbClr val="237B82"/>
                </a:solidFill>
                <a:latin typeface="Helvetica Neue"/>
                <a:ea typeface="Helvetica Neue"/>
                <a:cs typeface="Helvetica Neue"/>
              </a:defRPr>
            </a:lvl9pPr>
          </a:lstStyle>
          <a:p xmlns:a="http://schemas.openxmlformats.org/drawingml/2006/main">
            <a:pPr>
              <a:defRPr sz="1650" b="1">
                <a:solidFill>
                  <a:srgbClr val="237B82"/>
                </a:solidFill>
                <a:latin typeface="Helvetica Neue"/>
                <a:ea typeface="Helvetica Neue"/>
                <a:cs typeface="Helvetica Neue"/>
              </a:defRPr>
            </a:pPr>
            <a:r>
              <a:rPr sz="1650" b="1">
                <a:solidFill>
                  <a:srgbClr val="237B82"/>
                </a:solidFill>
                <a:latin typeface="Helvetica Neue"/>
                <a:ea typeface="Helvetica Neue"/>
                <a:cs typeface="Helvetica Neue"/>
              </a:rPr>
              <a:t>Review the course lesson, complete the assessment, and bring questions to the live session.</a:t>
            </a:r>
          </a:p>
        </p:txBody>
      </p:sp>
    </p:spTree>
    <p:extLst>
      <p:ext uri="{BB962C8B-B14F-4D97-AF65-F5344CB8AC3E}">
        <p14:creationId xmlns:p14="http://schemas.microsoft.com/office/powerpoint/2010/main" val="151153113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2026-10-23T09:24:27.9680000Z</dcterms:created>
  <dcterms:modified xsi:type="dcterms:W3CDTF">2026-10-23T09:24:27.9680000Z</dcterms:modified>
</coreProperties>
</file>