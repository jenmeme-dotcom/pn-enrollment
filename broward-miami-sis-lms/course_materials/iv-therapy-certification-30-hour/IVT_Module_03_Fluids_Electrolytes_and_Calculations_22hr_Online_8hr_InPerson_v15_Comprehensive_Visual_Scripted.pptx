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de960719174476" /><Relationship Type="http://schemas.openxmlformats.org/officeDocument/2006/relationships/extended-properties" Target="/docProps/app.xml" Id="Racdadb2985ed4539" /><Relationship Type="http://schemas.openxmlformats.org/officeDocument/2006/relationships/officeDocument" Target="/ppt/presentation.xml" Id="R624cb59812fb468c" /></Relationships>
</file>

<file path=ppt/presentation.xml><?xml version="1.0" encoding="utf-8"?>
<p:presentation xmlns:p="http://schemas.openxmlformats.org/presentationml/2006/main">
  <p:sldMasterIdLst>
    <p:sldMasterId xmlns:r="http://schemas.openxmlformats.org/officeDocument/2006/relationships" id="2147483648" r:id="Rd91f094f9e0341d0"/>
  </p:sldMasterIdLst>
  <p:notesMasterIdLst>
    <p:notesMasterId xmlns:r="http://schemas.openxmlformats.org/officeDocument/2006/relationships" r:id="R80e94ad4aca847d9"/>
  </p:notesMasterIdLst>
  <p:sldIdLst>
    <p:sldId xmlns:r="http://schemas.openxmlformats.org/officeDocument/2006/relationships" id="256" r:id="Raef71e3fec1840cf"/>
    <p:sldId xmlns:r="http://schemas.openxmlformats.org/officeDocument/2006/relationships" id="257" r:id="R4aa2f39ec2164b1b"/>
    <p:sldId xmlns:r="http://schemas.openxmlformats.org/officeDocument/2006/relationships" id="258" r:id="R8b65437bd6504496"/>
    <p:sldId xmlns:r="http://schemas.openxmlformats.org/officeDocument/2006/relationships" id="259" r:id="Rf3a5f832b11b4cd1"/>
    <p:sldId xmlns:r="http://schemas.openxmlformats.org/officeDocument/2006/relationships" id="260" r:id="R65044f726565466a"/>
    <p:sldId xmlns:r="http://schemas.openxmlformats.org/officeDocument/2006/relationships" id="261" r:id="R687c7ee9c4304133"/>
    <p:sldId xmlns:r="http://schemas.openxmlformats.org/officeDocument/2006/relationships" id="262" r:id="R89bce1df6a644fa7"/>
    <p:sldId xmlns:r="http://schemas.openxmlformats.org/officeDocument/2006/relationships" id="263" r:id="R60685ecba6e54dfe"/>
    <p:sldId xmlns:r="http://schemas.openxmlformats.org/officeDocument/2006/relationships" id="264" r:id="R413a774b5ae5408d"/>
    <p:sldId xmlns:r="http://schemas.openxmlformats.org/officeDocument/2006/relationships" id="265" r:id="R7a12a4ae01ec4c06"/>
    <p:sldId xmlns:r="http://schemas.openxmlformats.org/officeDocument/2006/relationships" id="266" r:id="R709185269f164f10"/>
    <p:sldId xmlns:r="http://schemas.openxmlformats.org/officeDocument/2006/relationships" id="267" r:id="R455ef21c00ed47c3"/>
    <p:sldId xmlns:r="http://schemas.openxmlformats.org/officeDocument/2006/relationships" id="268" r:id="Rd2bc637b4aa94e0d"/>
    <p:sldId xmlns:r="http://schemas.openxmlformats.org/officeDocument/2006/relationships" id="269" r:id="R778d9e42d9404068"/>
    <p:sldId xmlns:r="http://schemas.openxmlformats.org/officeDocument/2006/relationships" id="270" r:id="R91fa0cfc76594fc1"/>
    <p:sldId xmlns:r="http://schemas.openxmlformats.org/officeDocument/2006/relationships" id="271" r:id="Rcbcd77a150db4dd2"/>
    <p:sldId xmlns:r="http://schemas.openxmlformats.org/officeDocument/2006/relationships" id="272" r:id="Rc765676a1ba849aa"/>
    <p:sldId xmlns:r="http://schemas.openxmlformats.org/officeDocument/2006/relationships" id="273" r:id="R1554f8ca3c674830"/>
    <p:sldId xmlns:r="http://schemas.openxmlformats.org/officeDocument/2006/relationships" id="274" r:id="R4d564a9b879147a2"/>
    <p:sldId xmlns:r="http://schemas.openxmlformats.org/officeDocument/2006/relationships" id="275" r:id="Recce2072fabd4892"/>
    <p:sldId xmlns:r="http://schemas.openxmlformats.org/officeDocument/2006/relationships" id="276" r:id="R5ef4dd5c024a4fd0"/>
    <p:sldId xmlns:r="http://schemas.openxmlformats.org/officeDocument/2006/relationships" id="277" r:id="R1529ff71992642bc"/>
    <p:sldId xmlns:r="http://schemas.openxmlformats.org/officeDocument/2006/relationships" id="278" r:id="Rd096554ba00042f8"/>
    <p:sldId xmlns:r="http://schemas.openxmlformats.org/officeDocument/2006/relationships" id="279" r:id="R6ce2f11acf404731"/>
    <p:sldId xmlns:r="http://schemas.openxmlformats.org/officeDocument/2006/relationships" id="280" r:id="R3f55d44981be4ddd"/>
    <p:sldId xmlns:r="http://schemas.openxmlformats.org/officeDocument/2006/relationships" id="281" r:id="Re03d286d6c254b6b"/>
    <p:sldId xmlns:r="http://schemas.openxmlformats.org/officeDocument/2006/relationships" id="282" r:id="R0a0d0a3858164480"/>
    <p:sldId xmlns:r="http://schemas.openxmlformats.org/officeDocument/2006/relationships" id="283" r:id="R4a25e7e929c7468a"/>
    <p:sldId xmlns:r="http://schemas.openxmlformats.org/officeDocument/2006/relationships" id="284" r:id="R193384dac0e74a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5b70ce4fb14d11" /><Relationship Type="http://schemas.openxmlformats.org/officeDocument/2006/relationships/slideMaster" Target="/ppt/slideMasters/slideMaster1.xml" Id="Rd91f094f9e0341d0" /><Relationship Type="http://schemas.openxmlformats.org/officeDocument/2006/relationships/notesMaster" Target="/ppt/notesMasters/notesMaster1.xml" Id="R80e94ad4aca847d9" /><Relationship Type="http://schemas.openxmlformats.org/officeDocument/2006/relationships/presProps" Target="/ppt/presProps.xml" Id="Rbf7ea6e29dde4803" /><Relationship Type="http://schemas.openxmlformats.org/officeDocument/2006/relationships/tableStyles" Target="/ppt/tableStyles.xml" Id="Rc14495f25691434d" /><Relationship Type="http://schemas.openxmlformats.org/officeDocument/2006/relationships/slide" Target="/ppt/slides/slide1.xml" Id="Raef71e3fec1840cf" /><Relationship Type="http://schemas.openxmlformats.org/officeDocument/2006/relationships/slide" Target="/ppt/slides/slide2.xml" Id="R4aa2f39ec2164b1b" /><Relationship Type="http://schemas.openxmlformats.org/officeDocument/2006/relationships/slide" Target="/ppt/slides/slide3.xml" Id="R8b65437bd6504496" /><Relationship Type="http://schemas.openxmlformats.org/officeDocument/2006/relationships/slide" Target="/ppt/slides/slide4.xml" Id="Rf3a5f832b11b4cd1" /><Relationship Type="http://schemas.openxmlformats.org/officeDocument/2006/relationships/slide" Target="/ppt/slides/slide5.xml" Id="R65044f726565466a" /><Relationship Type="http://schemas.openxmlformats.org/officeDocument/2006/relationships/slide" Target="/ppt/slides/slide6.xml" Id="R687c7ee9c4304133" /><Relationship Type="http://schemas.openxmlformats.org/officeDocument/2006/relationships/slide" Target="/ppt/slides/slide7.xml" Id="R89bce1df6a644fa7" /><Relationship Type="http://schemas.openxmlformats.org/officeDocument/2006/relationships/slide" Target="/ppt/slides/slide8.xml" Id="R60685ecba6e54dfe" /><Relationship Type="http://schemas.openxmlformats.org/officeDocument/2006/relationships/slide" Target="/ppt/slides/slide9.xml" Id="R413a774b5ae5408d" /><Relationship Type="http://schemas.openxmlformats.org/officeDocument/2006/relationships/slide" Target="/ppt/slides/slide10.xml" Id="R7a12a4ae01ec4c06" /><Relationship Type="http://schemas.openxmlformats.org/officeDocument/2006/relationships/slide" Target="/ppt/slides/slide11.xml" Id="R709185269f164f10" /><Relationship Type="http://schemas.openxmlformats.org/officeDocument/2006/relationships/slide" Target="/ppt/slides/slide12.xml" Id="R455ef21c00ed47c3" /><Relationship Type="http://schemas.openxmlformats.org/officeDocument/2006/relationships/slide" Target="/ppt/slides/slide13.xml" Id="Rd2bc637b4aa94e0d" /><Relationship Type="http://schemas.openxmlformats.org/officeDocument/2006/relationships/slide" Target="/ppt/slides/slide14.xml" Id="R778d9e42d9404068" /><Relationship Type="http://schemas.openxmlformats.org/officeDocument/2006/relationships/slide" Target="/ppt/slides/slide15.xml" Id="R91fa0cfc76594fc1" /><Relationship Type="http://schemas.openxmlformats.org/officeDocument/2006/relationships/slide" Target="/ppt/slides/slide16.xml" Id="Rcbcd77a150db4dd2" /><Relationship Type="http://schemas.openxmlformats.org/officeDocument/2006/relationships/slide" Target="/ppt/slides/slide17.xml" Id="Rc765676a1ba849aa" /><Relationship Type="http://schemas.openxmlformats.org/officeDocument/2006/relationships/slide" Target="/ppt/slides/slide18.xml" Id="R1554f8ca3c674830" /><Relationship Type="http://schemas.openxmlformats.org/officeDocument/2006/relationships/slide" Target="/ppt/slides/slide19.xml" Id="R4d564a9b879147a2" /><Relationship Type="http://schemas.openxmlformats.org/officeDocument/2006/relationships/slide" Target="/ppt/slides/slide20.xml" Id="Recce2072fabd4892" /><Relationship Type="http://schemas.openxmlformats.org/officeDocument/2006/relationships/slide" Target="/ppt/slides/slide21.xml" Id="R5ef4dd5c024a4fd0" /><Relationship Type="http://schemas.openxmlformats.org/officeDocument/2006/relationships/slide" Target="/ppt/slides/slide22.xml" Id="R1529ff71992642bc" /><Relationship Type="http://schemas.openxmlformats.org/officeDocument/2006/relationships/slide" Target="/ppt/slides/slide23.xml" Id="Rd096554ba00042f8" /><Relationship Type="http://schemas.openxmlformats.org/officeDocument/2006/relationships/slide" Target="/ppt/slides/slide24.xml" Id="R6ce2f11acf404731" /><Relationship Type="http://schemas.openxmlformats.org/officeDocument/2006/relationships/slide" Target="/ppt/slides/slide25.xml" Id="R3f55d44981be4ddd" /><Relationship Type="http://schemas.openxmlformats.org/officeDocument/2006/relationships/slide" Target="/ppt/slides/slide26.xml" Id="Re03d286d6c254b6b" /><Relationship Type="http://schemas.openxmlformats.org/officeDocument/2006/relationships/slide" Target="/ppt/slides/slide27.xml" Id="R0a0d0a3858164480" /><Relationship Type="http://schemas.openxmlformats.org/officeDocument/2006/relationships/slide" Target="/ppt/slides/slide28.xml" Id="R4a25e7e929c7468a" /><Relationship Type="http://schemas.openxmlformats.org/officeDocument/2006/relationships/slide" Target="/ppt/slides/slide29.xml" Id="R193384dac0e74a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c05c4f67c147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153019d59c4e48" /><Relationship Type="http://schemas.openxmlformats.org/officeDocument/2006/relationships/notesMaster" Target="/ppt/notesMasters/notesMaster1.xml" Id="R67f11ae958bf40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e5fdf5673443a0" /><Relationship Type="http://schemas.openxmlformats.org/officeDocument/2006/relationships/notesMaster" Target="/ppt/notesMasters/notesMaster1.xml" Id="R7a8f31364b7b46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78dc3405b34ff9" /><Relationship Type="http://schemas.openxmlformats.org/officeDocument/2006/relationships/notesMaster" Target="/ppt/notesMasters/notesMaster1.xml" Id="R9180618f8da740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3a2403614c4688" /><Relationship Type="http://schemas.openxmlformats.org/officeDocument/2006/relationships/notesMaster" Target="/ppt/notesMasters/notesMaster1.xml" Id="R3a26e6785a7946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dbffc6b47d42e1" /><Relationship Type="http://schemas.openxmlformats.org/officeDocument/2006/relationships/notesMaster" Target="/ppt/notesMasters/notesMaster1.xml" Id="Rea8349ec12f548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30f3a43b4a41a4" /><Relationship Type="http://schemas.openxmlformats.org/officeDocument/2006/relationships/notesMaster" Target="/ppt/notesMasters/notesMaster1.xml" Id="Re1cd06317f1e4c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d2d852221f4c56" /><Relationship Type="http://schemas.openxmlformats.org/officeDocument/2006/relationships/notesMaster" Target="/ppt/notesMasters/notesMaster1.xml" Id="R7eb9d427b47642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d48b92aad94e93" /><Relationship Type="http://schemas.openxmlformats.org/officeDocument/2006/relationships/notesMaster" Target="/ppt/notesMasters/notesMaster1.xml" Id="R8be76d552f6d46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c67fe7bcbf42f1" /><Relationship Type="http://schemas.openxmlformats.org/officeDocument/2006/relationships/notesMaster" Target="/ppt/notesMasters/notesMaster1.xml" Id="R993abab3fa8e40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8931d91e3042f0" /><Relationship Type="http://schemas.openxmlformats.org/officeDocument/2006/relationships/notesMaster" Target="/ppt/notesMasters/notesMaster1.xml" Id="Ra27f746556594f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b247bc6613465d" /><Relationship Type="http://schemas.openxmlformats.org/officeDocument/2006/relationships/notesMaster" Target="/ppt/notesMasters/notesMaster1.xml" Id="R75d0ccdf78da41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24596cab3645af" /><Relationship Type="http://schemas.openxmlformats.org/officeDocument/2006/relationships/notesMaster" Target="/ppt/notesMasters/notesMaster1.xml" Id="R3f3f93377eaf42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8af258d635493a" /><Relationship Type="http://schemas.openxmlformats.org/officeDocument/2006/relationships/notesMaster" Target="/ppt/notesMasters/notesMaster1.xml" Id="R739e8350bf8343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287929a7a94bc8" /><Relationship Type="http://schemas.openxmlformats.org/officeDocument/2006/relationships/notesMaster" Target="/ppt/notesMasters/notesMaster1.xml" Id="R8cad33e1f92b44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190ee6a8b4436c" /><Relationship Type="http://schemas.openxmlformats.org/officeDocument/2006/relationships/notesMaster" Target="/ppt/notesMasters/notesMaster1.xml" Id="R14f4b967919543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80934a104f4bc1" /><Relationship Type="http://schemas.openxmlformats.org/officeDocument/2006/relationships/notesMaster" Target="/ppt/notesMasters/notesMaster1.xml" Id="R2a1b14e6bd9142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b809ccb7d3477e" /><Relationship Type="http://schemas.openxmlformats.org/officeDocument/2006/relationships/notesMaster" Target="/ppt/notesMasters/notesMaster1.xml" Id="R27cb7ac4cacd49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8cbf4421144166" /><Relationship Type="http://schemas.openxmlformats.org/officeDocument/2006/relationships/notesMaster" Target="/ppt/notesMasters/notesMaster1.xml" Id="R2d4f9395193746d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494005418a4d08" /><Relationship Type="http://schemas.openxmlformats.org/officeDocument/2006/relationships/notesMaster" Target="/ppt/notesMasters/notesMaster1.xml" Id="R2eb19b8373f145f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83214563e944f96" /><Relationship Type="http://schemas.openxmlformats.org/officeDocument/2006/relationships/notesMaster" Target="/ppt/notesMasters/notesMaster1.xml" Id="R2f81c175e28c4fd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ca3b3682ebf47f7" /><Relationship Type="http://schemas.openxmlformats.org/officeDocument/2006/relationships/notesMaster" Target="/ppt/notesMasters/notesMaster1.xml" Id="Rad8c300711e949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0e3292c49e4fac" /><Relationship Type="http://schemas.openxmlformats.org/officeDocument/2006/relationships/notesMaster" Target="/ppt/notesMasters/notesMaster1.xml" Id="Rf96e2fd48da64f3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135886076964b79" /><Relationship Type="http://schemas.openxmlformats.org/officeDocument/2006/relationships/notesMaster" Target="/ppt/notesMasters/notesMaster1.xml" Id="Re464455f1f5441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635b9f60ff249e7" /><Relationship Type="http://schemas.openxmlformats.org/officeDocument/2006/relationships/notesMaster" Target="/ppt/notesMasters/notesMaster1.xml" Id="Rf224cb96a1d346c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5d97a7319014bca" /><Relationship Type="http://schemas.openxmlformats.org/officeDocument/2006/relationships/notesMaster" Target="/ppt/notesMasters/notesMaster1.xml" Id="R62f235da7aca4e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cedf720e8742dd" /><Relationship Type="http://schemas.openxmlformats.org/officeDocument/2006/relationships/notesMaster" Target="/ppt/notesMasters/notesMaster1.xml" Id="R2544385c1f7a445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8d26f010d6541b5" /><Relationship Type="http://schemas.openxmlformats.org/officeDocument/2006/relationships/notesMaster" Target="/ppt/notesMasters/notesMaster1.xml" Id="R48420daa491a43b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b370cc8fcb4ae0" /><Relationship Type="http://schemas.openxmlformats.org/officeDocument/2006/relationships/notesMaster" Target="/ppt/notesMasters/notesMaster1.xml" Id="Rbab2b7cfdf7c451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93bfeea85e4d14" /><Relationship Type="http://schemas.openxmlformats.org/officeDocument/2006/relationships/notesMaster" Target="/ppt/notesMasters/notesMaster1.xml" Id="R00b3ba3b97e148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Cover media: Pexels photo by RDNE Stock project, https://www.pexels.com/photo/close-up-photo-of-an-infusion-pump-6129679/,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fluids and delivery equipment. First, Match the solution and additives to the complete order. Next, Inspect the container, ports, tubing, drip chamber, clamps, and pump before use. Next, Prime the complete fluid path without contaminating key parts or leaving air. Next, Trace the line from the patient to the correct container and pump channel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Original BMHI educational image generated October 23, 2026. Source topics: 30 Hour IV Certification Study Guide, revised March 2013, PDF pages 25 and 28-30.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movement across compartments. First, Osmosis: Water across a semipermeable membrane toward higher effective solute concentration; Explains cellular swelling or shrinking with tonicity changes Next, Diffusion: Solute from higher to lower concentration; Helps explain gas and electrolyte distribution Next, Filtration: Water and solutes driven by pressure; Contributes to capillary fluid movement and edema Next, Active transport: Solutes against a gradient using energy; Maintains sodium-potassium and other cellular gradients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14-15.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deficit and fluid excess. First, Vital signs: Tachycardia, orthostasis, hypotension; Hypertension, tachycardia, reduced oxygenation Next, Lungs: Usually clear unless another condition exists; Crackles, dyspnea, increased work of breathing Next, Skin and mucosa: Dry mucosa, poor turgor; Edema, rapid weight gain Next, Urine and weight: Low output, concentrated urine, weight loss; Variable output, dilution, daily weight gain Next, Neurologic: Weakness, dizziness, confusion; Headache, restlessness, confusion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topics: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Third spacing hides volume outside the circulation. First, Fluid can leave the intravascular space and collect where it does not support perfusion. Next, Edema, ascites, burns, inflammation, or low oncotic pressure may coexist with intravascular depletion. Next, Assess blood pressure, heart rate, urine output, daily weight, edema, abdominal findings, laboratory trends, and respiratory status together. Next, Do not assume visible edema means the patient has adequate circulating volume.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 14.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Solution categories and monitoring. First, Isotonic crystalloid: Expands extracellular volume with limited initial cellular shift; Fluid overload, chloride load, cardiac and renal tolerance Next, Hypotonic solution: Provides proportionally more free water and may move water into cells; Neurologic status, sodium, intravascular depletion Next, Hypertonic solution: Draws water toward the intravascular space; Rapid sodium or glucose changes, vein irritation, overload Next, Colloid or blood component: Raises oncotic pressure or replaces a specific component; Reaction, overload, indication, product-specific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18-19. Product selection requires the current order and pharmacy or facility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Where body fluid is located. First, Intracellular: Inside cells; Tonicity changes can move water into or out of cells Next, Intravascular: Inside blood vessels; Directly affects perfusion and circulatory volume Next, Interstitial: Between cells; Excess fluid may appear as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predicts water movement. First, Isotonic: Primarily expands extracellular volume; Lung sounds, edema, blood pressure Next, Hypotonic: Water moves toward cells; Neurologic status and cellular swelling risk Next, Hypertonic: Water moves out of cells; Vein irritation, sodium, glucose, and fluid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Major electrolytes and common adult reference ranges. First, Sodium: 135–145 mEq/L; Extracellular osmolality, water balance, nerve and muscle function Next, Potassium: 3.5–5.0 mEq/L; Cardiac conduction, muscle contraction, intracellular balance Next, Chloride: 96–106 mEq/L; Extracellular osmotic and acid-base balance Next, Calcium: 8.9–10.1 mg/dL; Bone, clotting, nerve signaling, muscle contraction Next, Magnesium: 1.5–2.5 mg/dL; Neuromuscular function and enzyme activity Next, Phosphorus: 2.5–4.5 mg/dL; Energy metabolism, cells, bone, and acid-base buffering Next, Reference ranges vary by laboratory, age, specimen type, albumin level, and clinical context. Use the reporting laboratory's range and evaluate trends rather than treating a single value in isolation.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Reference ranges vary by laboratory, age, specimen type, albumin level, and clinical context. Use the reporting laboratory's range and evaluate trends rather than treating a single value in isolation. Source: 30 Hour IV Certification Study Guide, revised March 2013, PDF pages 16-17. Ranges are presented as the packet's common adult examples and must be compared with the current reporting laboratory.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Sodium imbalance affects the brain and fluid balance. First, Hypernatremia: Thirst, irritability, weakness, altered mental status; severe cases may progress to seizures; Assess water loss, sodium gain, fluid balance, neurologic status, and ordered correction rate Next, Hyponatremia: Headache, nausea, confusion, fatigue, muscle weakness; severe or rapid decline may cause seizures; Review hypotonic fluids, excess free water, diuretics, GI losses, glucose, and the ordered correction plan Next, Rapid sodium correction can cause severe neurologic injury. Verify the solution, concentration, pump settings, monitoring schedule, and prescribed rate. Escalate acute neurologic changes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Rapid sodium correction can cause severe neurologic injury. Verify the solution, concentration, pump settings, monitoring schedule, and prescribed rate. Escalate acute neurologic changes immediately. Source: 30 Hour IV Certification Study Guide, revised March 2013, PDF pages 16-17. Findings were condensed for nursing recognition; treatment requires current orders and protocol.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imbalance can become a cardiac emergency. First, Hyperkalemia: Muscle weakness, paresthesia, nausea, bradycardia or other dysrhythmias; ECG changes may occur; Stop and clarify potassium-containing therapy when results or symptoms conflict with the order; obtain urgent assessment Next, Hypokalemia: Weakness, cramps, constipation, weak or irregular pulse; ECG changes and dysrhythmias may occur; Review GI loss, diuretics, insulin effect, and magnesium; verify replacement concentration and rate Next, Never give potassium by IV push. Use the ordered dilution, route, pump, monitoring, and maximum rate for the care setting. Confirm adequate renal function and urine output as required by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Never give potassium by IV push. Use the ordered dilution, route, pump, monitoring, and maximum rate for the care setting. Confirm adequate renal function and urine output as required by policy. Source: 30 Hour IV Certification Study Guide, revised March 2013, PDF pages 16-17. Medication and infusion directions were updated to a safety-focused framework rather than reproducing the packet's treatment list.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Calcium imbalance changes neuromuscular and cardiac function. First, Hypercalcemia: Fatigue, weakness, nausea, constipation, dehydration, confusion, shortened QT or dysrhythmia; Assess hydration, renal function, medications, ECG when indicated, and the ordered treatment response Next, Hypocalcemia: Perioral or fingertip tingling, cramps, tetany, hyperreflexia, possible laryngospasm, prolonged QT or dysrhythmia; Escalate airway symptoms, seizures, tetany, or ECG changes; verify calcium product and compatibility Next, Total calcium may be influenced by albumin. Ionized calcium may better reflect physiologically active calcium in selected patients. IV calcium products are not interchangeable and require order-specific administration.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Total calcium may be influenced by albumin. Ionized calcium may better reflect physiologically active calcium in selected patients. IV calcium products are not interchangeable and require order-specific administration. Source: 30 Hour IV Certification Study Guide, revised March 2013, PDF page 16. Findings were reorganized for recognition and safe escalation.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Magnesium and phosphorus support muscle, nerve, and cellular energy. First, High magnesium: Lethargy, weakness, hypotension, bradycardia, reduced reflexes, respiratory depression; Stop magnesium therapy when authorized, assess airway and circulation, notify immediately, and follow the emergency protocol Next, Low magnesium: Tremor, cramps, hyperreflexia, confusion, seizures, prolonged QT or dysrhythmias; Check related potassium and calcium abnormalities; verify replacement rate and monitoring Next, High phosphorus: Often reflects renal dysfunction; symptoms may relate to low calcium, including tingling, cramps, or tetany; Review renal function, calcium, medications, and the prescribed plan Next, Low phosphorus: Weakness, confusion, impaired respiratory muscle function, rhabdomyolysis in severe cases; Assess nutrition and refeeding risk; verify replacement product, route, and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16-18. Content was condensed and framed around assessment and escalation rather than fixed treatment recipes.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Chloride findings must be interpreted with sodium and acid-base status. First, Hyperchloremia: May occur with dehydration, bicarbonate loss, renal dysfunction, or large chloride loads; Review fluid type and volume, sodium, bicarbonate or total CO₂, renal function, and breathing pattern Next, Hypochloremia: May occur with vomiting, gastric suction, diuretics, or dilution; Review fluid losses, sodium, potassium, bicarbonate or total CO₂, and neuromuscular symptoms Next, Chloride abnormalities rarely stand alone. Evaluate the complete metabolic panel, fluid balance, clinical condition, and ordered IV solution before acting.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Chloride abnormalities rarely stand alone. Evaluate the complete metabolic panel, fluid balance, clinical condition, and ordered IV solution before acting. Source: 30 Hour IV Certification Study Guide, revised March 2013, PDF pages 16-17. The original list was reorganized to show the relationship between chloride, fluid therapy, and acid-base assessment.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Electrolyte result safety check. First, Verify: Does the result belong to this patient, and could hemolysis or collection error affect it? Next, Assess: Does the patient have neurologic, cardiac, respiratory, or neuromuscular changes? Next, Connect: Which fluids, medications, losses, renal changes, or nutrition therapies may contribute? Next, Protect: Should an infusion be stopped or held under policy while the result is clarified? Next, Escalate: Which finding requires immediate RN, prescriber, rapid-response, or emergency notification? Next, Treat the patient and verified clinical data together. Do not independently select a replacement product, concentration, or rate outside the nurse's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Treat the patient and verified clinical data together. Do not independently select a replacement product, concentration, or rate outside the nurse's authorized role. Teaching synthesis based on 30 Hour IV Certification Study Guide, revised March 2013, PDF pages 16-18, adapted to current orders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Metric conversion chart. First, Volume: 1 L = 1,000 mL; Convert the ordered bag volume Next, Mass: 1 g = 1,000 mg; Medication-dose conversion Next, Small mass: 1 mg = 1,000 mcg; High-alert and weight-based doses Next, Weight: 1 kg = 2.2 lb; Convert pounds to kilograms before dosing Next, Household volume: 1 tsp = 5 mL; 1 Tbsp = 15 mL; Use only when an approved clinical reference permits Next, Apothecary units are legacy units and are error-prone. Do not guess or rely on OCR-transcribed values; clarify the order and use an approved conversion reference.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Apothecary units are legacy units and are error-prone. Do not guess or rely on OCR-transcribed values; clarify the order and use an approved conversion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Pump-rate formula. First, Formula: mL/hr = total volume in mL ÷ time in hours. Next, Example: 1,000 mL ÷ 8 hr = 125 mL/hr. Next, Safety check: 125 mL/hr × 8 hr returns the original 1,000 mL. Next, Program the pump only after matching the result to the order and confirming the correct channel and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Gravity-rate formula. First, Formula: gtt/min = volume in mL × drop factor in gtt/mL ÷ time in minutes. Next, Example: 250 mL × 15 gtt/mL ÷ 90 min = 41.7 gtt/min. Next, Round to a whole drop: 42 gtt/min. Next, Reassess the drip because patient position, tubing height, and resistance can change a gravity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four-step calculation safety method. First, 1. Organize: Write the ordered volume, time, and tubing factor with units Next, 2. Convert: Make units consistent before calculating Next, 3. Calculate: Use one formula and keep units visible Next, 4. Verify: Work backward and ask whether the answer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Dose-volume calculation. First, Formula: volume to administer = desired dose ÷ dose on hand × volume on hand. Next, Example: order 50 mg; vial contains 250 mg in 10 mL. 50 ÷ 250 × 10 = 2 mL. Next, Label every number with its unit and make sure unwanted units cancel. Next, Verify the product concentration, maximum concentration, route, and administration rate before preparing the dose.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30 and 64-68.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Continuous medication infusion. First, First determine concentration: total drug amount ÷ total solution volume. Next, Then determine pump rate: ordered dose per hour ÷ concentration per mL. Next, Example: 20,000 units in 500 mL equals 40 units/mL. An order for 1,000 units/hr requires 25 mL/hr. Next, Use the pharmacy label and standardized concentration. Independently verify high-alert infusions as policy requires.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30 and 66-68. This example is for calculation practice, not a prescribing recommendation.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Intake and output calculation. First, Oral liquids, enteral fluids, IV solutions, blood products, liquid medications when policy requires: Urine, emesis, liquid stool, drains, suction, and other measurable losses Next, Convert all measures to mL and total for the defined period: Record time, source, and measurement method Next, Balance = total intake minus total output: Interpret the balance with daily weight, assessment, and clinical condition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calculation practice PDF pages 66-68.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657561c3b340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4d6500e3b449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fdf780c69b4b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447182c4934d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4b5e006900497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cea4c493cd42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FA905F-A408-4197-BCC8-8C825ACDCC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380A85-0C19-4C2D-A547-AA680B82D1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D9D8B0-6900-4F6F-BC3B-9E815850CB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7D89B3-EBF4-4C33-AC5C-CFD3A2F391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41F9ED-4352-4A4D-B962-225A6E7C5E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44CC0CD-F4FB-4752-9D38-A4AC7C5F67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00B0C4-5F62-46CA-9D18-6492198577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AD33DB-7F0E-4EC2-A1F0-9FA43E8793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ED2293-1653-408D-9F06-275A67BEAB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7AA493-95BC-4CA8-8030-F56C0475FB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b05ccb67ab45ac" /><Relationship Type="http://schemas.openxmlformats.org/officeDocument/2006/relationships/slideLayout" Target="/ppt/slideLayouts/slideLayout1.xml" Id="Rf3b1706b3dc6432a" /><Relationship Type="http://schemas.openxmlformats.org/officeDocument/2006/relationships/slideLayout" Target="/ppt/slideLayouts/slideLayout2.xml" Id="R5e75fd883c534606" /><Relationship Type="http://schemas.openxmlformats.org/officeDocument/2006/relationships/slideLayout" Target="/ppt/slideLayouts/slideLayout3.xml" Id="R927aacec68354b67" /><Relationship Type="http://schemas.openxmlformats.org/officeDocument/2006/relationships/slideLayout" Target="/ppt/slideLayouts/slideLayout4.xml" Id="Rae9df84dfd014602" /><Relationship Type="http://schemas.openxmlformats.org/officeDocument/2006/relationships/slideLayout" Target="/ppt/slideLayouts/slideLayout5.xml" Id="R95810b2cd9a543f9" /><Relationship Type="http://schemas.openxmlformats.org/officeDocument/2006/relationships/slideLayout" Target="/ppt/slideLayouts/slideLayout6.xml" Id="Rd9d29a2a8bc84a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b1706b3dc6432a"/>
    <p:sldLayoutId xmlns:r="http://schemas.openxmlformats.org/officeDocument/2006/relationships" id="2147483650" r:id="R5e75fd883c534606"/>
    <p:sldLayoutId xmlns:r="http://schemas.openxmlformats.org/officeDocument/2006/relationships" id="2147483651" r:id="R927aacec68354b67"/>
    <p:sldLayoutId xmlns:r="http://schemas.openxmlformats.org/officeDocument/2006/relationships" id="2147483652" r:id="Rae9df84dfd014602"/>
    <p:sldLayoutId xmlns:r="http://schemas.openxmlformats.org/officeDocument/2006/relationships" id="2147483653" r:id="R95810b2cd9a543f9"/>
    <p:sldLayoutId xmlns:r="http://schemas.openxmlformats.org/officeDocument/2006/relationships" id="2147483654" r:id="Rd9d29a2a8bc84a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9f4a3259a6420c" /><Relationship Type="http://schemas.openxmlformats.org/officeDocument/2006/relationships/image" Target="/ppt/media/image.jpeg" Id="R9109add6a0904a39" /><Relationship Type="http://schemas.openxmlformats.org/officeDocument/2006/relationships/notesSlide" Target="/ppt/notesSlides/notesSlide1.xml" Id="Ra6e318abda074d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9c2126218747a6" /><Relationship Type="http://schemas.openxmlformats.org/officeDocument/2006/relationships/notesSlide" Target="/ppt/notesSlides/notesSlide2.xml" Id="R6a7011e3562145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5a75ff8b554a9a" /><Relationship Type="http://schemas.openxmlformats.org/officeDocument/2006/relationships/notesSlide" Target="/ppt/notesSlides/notesSlide3.xml" Id="R2139a34e055d47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3f8f53820342b2" /><Relationship Type="http://schemas.openxmlformats.org/officeDocument/2006/relationships/notesSlide" Target="/ppt/notesSlides/notesSlide4.xml" Id="Rb59fcbf249434d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42f9986fe3f4985" /><Relationship Type="http://schemas.openxmlformats.org/officeDocument/2006/relationships/notesSlide" Target="/ppt/notesSlides/notesSlide5.xml" Id="R8542352ede3d4a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7cd597ba364caf" /><Relationship Type="http://schemas.openxmlformats.org/officeDocument/2006/relationships/notesSlide" Target="/ppt/notesSlides/notesSlide6.xml" Id="R8b8986fae7ec41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98376affe8486a" /><Relationship Type="http://schemas.openxmlformats.org/officeDocument/2006/relationships/image" Target="/ppt/media/image.png" Id="Rc159a127a3ff454b" /><Relationship Type="http://schemas.openxmlformats.org/officeDocument/2006/relationships/notesSlide" Target="/ppt/notesSlides/notesSlide7.xml" Id="Rde8fb7bc504540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da1169877f34277" /><Relationship Type="http://schemas.openxmlformats.org/officeDocument/2006/relationships/notesSlide" Target="/ppt/notesSlides/notesSlide8.xml" Id="Rec4f62715e874f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47df7f92bec40d6" /><Relationship Type="http://schemas.openxmlformats.org/officeDocument/2006/relationships/notesSlide" Target="/ppt/notesSlides/notesSlide9.xml" Id="R489526d5491042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5912e017eb439a" /><Relationship Type="http://schemas.openxmlformats.org/officeDocument/2006/relationships/notesSlide" Target="/ppt/notesSlides/notesSlide10.xml" Id="Rf833b402248e46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6d340b3d221469d" /><Relationship Type="http://schemas.openxmlformats.org/officeDocument/2006/relationships/notesSlide" Target="/ppt/notesSlides/notesSlide11.xml" Id="R41f23208c71c49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128e13739ec40f0" /><Relationship Type="http://schemas.openxmlformats.org/officeDocument/2006/relationships/notesSlide" Target="/ppt/notesSlides/notesSlide12.xml" Id="Rc2e71fe5802942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4ec17a160034e64" /><Relationship Type="http://schemas.openxmlformats.org/officeDocument/2006/relationships/notesSlide" Target="/ppt/notesSlides/notesSlide13.xml" Id="R7c7ad3d143194d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dc8e526e6934da4" /><Relationship Type="http://schemas.openxmlformats.org/officeDocument/2006/relationships/notesSlide" Target="/ppt/notesSlides/notesSlide14.xml" Id="R31de70d9553148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255130045cb4073" /><Relationship Type="http://schemas.openxmlformats.org/officeDocument/2006/relationships/notesSlide" Target="/ppt/notesSlides/notesSlide15.xml" Id="R7a1f3037e2e441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7bd3156ec4f4c09" /><Relationship Type="http://schemas.openxmlformats.org/officeDocument/2006/relationships/notesSlide" Target="/ppt/notesSlides/notesSlide16.xml" Id="R0c30887433984a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3f00c516e484b50" /><Relationship Type="http://schemas.openxmlformats.org/officeDocument/2006/relationships/notesSlide" Target="/ppt/notesSlides/notesSlide17.xml" Id="R9950ea9f168845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332babb45054f8f" /><Relationship Type="http://schemas.openxmlformats.org/officeDocument/2006/relationships/notesSlide" Target="/ppt/notesSlides/notesSlide18.xml" Id="R7da602080a7a44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e399c33cd0c4e1c" /><Relationship Type="http://schemas.openxmlformats.org/officeDocument/2006/relationships/notesSlide" Target="/ppt/notesSlides/notesSlide19.xml" Id="R5d24647621fb4ef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f1ff27ff75144ec" /><Relationship Type="http://schemas.openxmlformats.org/officeDocument/2006/relationships/notesSlide" Target="/ppt/notesSlides/notesSlide20.xml" Id="R0336c344ccf54f1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eef87f1ac4948d6" /><Relationship Type="http://schemas.openxmlformats.org/officeDocument/2006/relationships/notesSlide" Target="/ppt/notesSlides/notesSlide21.xml" Id="R513acded0d7249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2c73eb01fa24c8a" /><Relationship Type="http://schemas.openxmlformats.org/officeDocument/2006/relationships/notesSlide" Target="/ppt/notesSlides/notesSlide22.xml" Id="Rad731433fe0c4b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a354a6984394e81" /><Relationship Type="http://schemas.openxmlformats.org/officeDocument/2006/relationships/notesSlide" Target="/ppt/notesSlides/notesSlide23.xml" Id="Rf4f8de33b80543e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3d11cb6982845c7" /><Relationship Type="http://schemas.openxmlformats.org/officeDocument/2006/relationships/notesSlide" Target="/ppt/notesSlides/notesSlide24.xml" Id="R8f6097f165d743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2e0f9d5f8544c7f" /><Relationship Type="http://schemas.openxmlformats.org/officeDocument/2006/relationships/notesSlide" Target="/ppt/notesSlides/notesSlide25.xml" Id="R4552a975abbe44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16b6fa691c34fac" /><Relationship Type="http://schemas.openxmlformats.org/officeDocument/2006/relationships/notesSlide" Target="/ppt/notesSlides/notesSlide26.xml" Id="Rc9f321b33ebd4cc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3606a47c7084f0e" /><Relationship Type="http://schemas.openxmlformats.org/officeDocument/2006/relationships/notesSlide" Target="/ppt/notesSlides/notesSlide27.xml" Id="R657c1bfbf06a49c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95d2e48b3864923" /><Relationship Type="http://schemas.openxmlformats.org/officeDocument/2006/relationships/notesSlide" Target="/ppt/notesSlides/notesSlide28.xml" Id="R9dad1eb5208d482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cf1fcda73a34fef" /><Relationship Type="http://schemas.openxmlformats.org/officeDocument/2006/relationships/notesSlide" Target="/ppt/notesSlides/notesSlide29.xml" Id="R508817c3d5c84bae"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EF4028C-DB84-4AEF-8943-F2F9FBFC3BE9}"/>
              </a:ext>
            </a:extLst>
          </p:cNvPr>
          <p:cNvPicPr>
            <a:picLocks xmlns:a="http://schemas.openxmlformats.org/drawingml/2006/main" noChangeAspect="1"/>
          </p:cNvPicPr>
          <p:nvPr/>
        </p:nvPicPr>
        <p:blipFill>
          <a:blip xmlns:r="http://schemas.openxmlformats.org/officeDocument/2006/relationships" xmlns:a="http://schemas.openxmlformats.org/drawingml/2006/main" r:embed="R9109add6a0904a39"/>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A993FD-2C65-43F8-ABE8-9C42D6996D30}"/>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C40D6D2-FD4C-462A-8540-7D89EFDBCE87}"/>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5160C42C-73D6-44FC-8645-DC48944F8039}"/>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2D647305-C1E9-4566-8D2B-B71454631F2D}"/>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Fluids, Electrolytes, and Calculations</a:t>
            </a:r>
          </a:p>
        </p:txBody>
      </p:sp>
      <p:sp>
        <p:nvSpPr>
          <p:cNvPr id="6" name="">
            <a:extLst xmlns:a="http://schemas.openxmlformats.org/drawingml/2006/main">
              <a:ext uri="{FF2B5EF4-FFF2-40B4-BE49-F238E27FC236}">
                <a16:creationId xmlns:a16="http://schemas.microsoft.com/office/drawing/2014/main" id="{3D8E7B93-6102-4DDC-B56B-0EEF49D40AA0}"/>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3  |  30-Hour Basic Intravenous Therapy</a:t>
            </a:r>
          </a:p>
        </p:txBody>
      </p:sp>
      <p:sp>
        <p:nvSpPr>
          <p:cNvPr id="7" name="">
            <a:extLst xmlns:a="http://schemas.openxmlformats.org/drawingml/2006/main">
              <a:ext uri="{FF2B5EF4-FFF2-40B4-BE49-F238E27FC236}">
                <a16:creationId xmlns:a16="http://schemas.microsoft.com/office/drawing/2014/main" id="{430DFF2E-E065-4F91-8A0D-6E0BA66FA915}"/>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61108744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255E55-7511-4931-B9EA-25CC60C2CC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ECBAE8-C392-471A-B81E-7AC7B6C514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ED713649-B150-4452-B0E9-958C2DCEDB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71D7999-8913-400C-9D22-5B01EA5FC0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2123866-879C-491E-8E5D-05C0B0EA90E9}"/>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102263487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B886CB-3D4E-4A6C-BB3E-4939B28201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F3EE89-5914-410D-A6C8-30017B40F9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E05EF8F0-C670-4343-9261-20C91E5F92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2AF6A89-9262-4565-B33A-FAEEE6B7D6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D912725-CF73-4390-A46E-ED434CDD3E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ED9960B8-18F1-4532-8DC0-9463A54716F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4867690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BF9C78-E9EC-4C8D-848A-F27B45A2CB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0263F0-FAF5-4430-9278-8916624800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924E3540-FD7C-4C28-8312-1BADDC4CCD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AF27BB7-3905-43C8-B5BA-0944E6A73B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3BEFB62A-7C4F-4FD1-91E1-3DA1A24324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1B1E6FEE-B730-4041-B089-7A42539853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6031759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D7A81C-8E71-4FB8-9A68-77470989E4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813A24A-300B-4B4D-AC0E-E3B2B36381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F84EEC53-B0CD-411D-9CD8-EFE93309EF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E1E4DA0-FCE9-4E99-947D-5CE00A76BC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9271B81A-D55A-4B77-9A2B-11B21D30D63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D37788F7-F5F9-4CB4-A7D8-3EA32CB9D66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794929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152544-5490-4D53-BDCD-733AE43465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33B2D0-6BC0-440D-9435-359CA80F22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A0BF9B6F-503B-4617-97BF-D7BF4DFD9C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1CB9BD4-5616-406F-9480-6C0EE8AFB5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BE5636D0-806D-4AB5-B466-757FA8F513D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4F87890C-DC5C-460C-B0D0-C1C6A77539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6398408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84E149-5C46-46CE-93A7-35BF66A4F3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4DB046-8406-4488-926F-242374306E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fluids and delivery equipment</a:t>
            </a:r>
          </a:p>
        </p:txBody>
      </p:sp>
      <p:sp>
        <p:nvSpPr>
          <p:cNvPr id="3" name="">
            <a:extLst xmlns:a="http://schemas.openxmlformats.org/drawingml/2006/main">
              <a:ext uri="{FF2B5EF4-FFF2-40B4-BE49-F238E27FC236}">
                <a16:creationId xmlns:a16="http://schemas.microsoft.com/office/drawing/2014/main" id="{36FD4D2B-0387-4C9D-9407-3F43D578EE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CEFEB1B-7337-43CE-BB1A-17BC29CB71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27E1B6B-2511-4458-A8F5-51EDC3B26CEF}"/>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Match the solution and additives to the complete order.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container, ports, tubing, drip chamber, clamps, and pump before 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Prime the complete fluid path without contaminating key parts or leaving air.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the patient to the correct container and pump channel before starting.</a:t>
            </a:r>
          </a:p>
        </p:txBody>
      </p:sp>
      <p:pic>
        <p:nvPicPr>
          <p:cNvPr id="6" name="">
            <a:extLst xmlns:a="http://schemas.openxmlformats.org/drawingml/2006/main">
              <a:ext uri="{FF2B5EF4-FFF2-40B4-BE49-F238E27FC236}">
                <a16:creationId xmlns:a16="http://schemas.microsoft.com/office/drawing/2014/main" id="{5F685A8C-05F7-4E58-B183-8C52F15082EF}"/>
              </a:ext>
            </a:extLst>
          </p:cNvPr>
          <p:cNvPicPr>
            <a:picLocks xmlns:a="http://schemas.openxmlformats.org/drawingml/2006/main" noChangeAspect="1"/>
          </p:cNvPicPr>
          <p:nvPr/>
        </p:nvPicPr>
        <p:blipFill>
          <a:blip xmlns:r="http://schemas.openxmlformats.org/officeDocument/2006/relationships" xmlns:a="http://schemas.openxmlformats.org/drawingml/2006/main" r:embed="Rc159a127a3ff454b"/>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AB9E29-8B8F-44C9-ADA4-46891CC5AD24}"/>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8" name="">
            <a:extLst xmlns:a="http://schemas.openxmlformats.org/drawingml/2006/main">
              <a:ext uri="{FF2B5EF4-FFF2-40B4-BE49-F238E27FC236}">
                <a16:creationId xmlns:a16="http://schemas.microsoft.com/office/drawing/2014/main" id="{9DE71BE3-1315-4E55-A869-DF553D116A1F}"/>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51766108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5FD7822-D634-41D5-8F03-12DAB2525E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8F97F1-03C5-43C1-8ACF-67B1C12393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movement across compartments</a:t>
            </a:r>
          </a:p>
        </p:txBody>
      </p:sp>
      <p:sp>
        <p:nvSpPr>
          <p:cNvPr id="3" name="">
            <a:extLst xmlns:a="http://schemas.openxmlformats.org/drawingml/2006/main">
              <a:ext uri="{FF2B5EF4-FFF2-40B4-BE49-F238E27FC236}">
                <a16:creationId xmlns:a16="http://schemas.microsoft.com/office/drawing/2014/main" id="{529A8673-0451-494F-933D-21E3F46A50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917BC46-04C7-479C-A436-23C93814ABE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C502DC2-5A4E-4C19-A0B7-05DAE4A8548B}"/>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D0DFEA6-BA93-4541-94F8-F564999CC90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Process</a:t>
            </a:r>
          </a:p>
        </p:txBody>
      </p:sp>
      <p:sp>
        <p:nvSpPr>
          <p:cNvPr id="7" name="">
            <a:extLst xmlns:a="http://schemas.openxmlformats.org/drawingml/2006/main">
              <a:ext uri="{FF2B5EF4-FFF2-40B4-BE49-F238E27FC236}">
                <a16:creationId xmlns:a16="http://schemas.microsoft.com/office/drawing/2014/main" id="{F8D56194-AFC4-4E3A-B2B0-A5F0B32DE0E8}"/>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4A44F2E-10F3-4A30-A9F4-D71A525F4503}"/>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moves</a:t>
            </a:r>
          </a:p>
        </p:txBody>
      </p:sp>
      <p:sp>
        <p:nvSpPr>
          <p:cNvPr id="9" name="">
            <a:extLst xmlns:a="http://schemas.openxmlformats.org/drawingml/2006/main">
              <a:ext uri="{FF2B5EF4-FFF2-40B4-BE49-F238E27FC236}">
                <a16:creationId xmlns:a16="http://schemas.microsoft.com/office/drawing/2014/main" id="{3F287D05-4A29-4AA1-B51C-2378B0242E7F}"/>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D4A49A2-39D6-4CCD-BF38-006E41FB19AE}"/>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meaning</a:t>
            </a:r>
          </a:p>
        </p:txBody>
      </p:sp>
      <p:sp>
        <p:nvSpPr>
          <p:cNvPr id="11" name="">
            <a:extLst xmlns:a="http://schemas.openxmlformats.org/drawingml/2006/main">
              <a:ext uri="{FF2B5EF4-FFF2-40B4-BE49-F238E27FC236}">
                <a16:creationId xmlns:a16="http://schemas.microsoft.com/office/drawing/2014/main" id="{68BAC065-1BE8-47CB-B9E7-C627110AF830}"/>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B45C7C4-D2F8-478D-B2EC-9A42B525D793}"/>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Osmosis</a:t>
            </a:r>
          </a:p>
        </p:txBody>
      </p:sp>
      <p:sp>
        <p:nvSpPr>
          <p:cNvPr id="13" name="">
            <a:extLst xmlns:a="http://schemas.openxmlformats.org/drawingml/2006/main">
              <a:ext uri="{FF2B5EF4-FFF2-40B4-BE49-F238E27FC236}">
                <a16:creationId xmlns:a16="http://schemas.microsoft.com/office/drawing/2014/main" id="{4736EBC2-23FD-4493-AC8D-4F58D76D2E0A}"/>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FC3CC4C-4422-42AB-B427-4219387A69F6}"/>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across a semipermeable membrane toward higher effective solute concentration</a:t>
            </a:r>
          </a:p>
        </p:txBody>
      </p:sp>
      <p:sp>
        <p:nvSpPr>
          <p:cNvPr id="15" name="">
            <a:extLst xmlns:a="http://schemas.openxmlformats.org/drawingml/2006/main">
              <a:ext uri="{FF2B5EF4-FFF2-40B4-BE49-F238E27FC236}">
                <a16:creationId xmlns:a16="http://schemas.microsoft.com/office/drawing/2014/main" id="{765EDCCE-9A4F-4B08-859D-FBE16E612A92}"/>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9DEFCA7-BE4A-4C3B-B62C-C4DF3075D38F}"/>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Explains cellular swelling or shrinking with tonicity changes</a:t>
            </a:r>
          </a:p>
        </p:txBody>
      </p:sp>
      <p:sp>
        <p:nvSpPr>
          <p:cNvPr id="17" name="">
            <a:extLst xmlns:a="http://schemas.openxmlformats.org/drawingml/2006/main">
              <a:ext uri="{FF2B5EF4-FFF2-40B4-BE49-F238E27FC236}">
                <a16:creationId xmlns:a16="http://schemas.microsoft.com/office/drawing/2014/main" id="{4F306625-E660-49F7-BB24-589DF532BE4B}"/>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ED22519-FB3F-4863-9A8F-C2CA1C87F42B}"/>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Diffusion</a:t>
            </a:r>
          </a:p>
        </p:txBody>
      </p:sp>
      <p:sp>
        <p:nvSpPr>
          <p:cNvPr id="19" name="">
            <a:extLst xmlns:a="http://schemas.openxmlformats.org/drawingml/2006/main">
              <a:ext uri="{FF2B5EF4-FFF2-40B4-BE49-F238E27FC236}">
                <a16:creationId xmlns:a16="http://schemas.microsoft.com/office/drawing/2014/main" id="{E67664E0-0FDE-4B46-844C-B788B497C88B}"/>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2DCB9A1-7B35-4738-BE66-C63D58E002A1}"/>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Solute from higher to lower concentration</a:t>
            </a:r>
          </a:p>
        </p:txBody>
      </p:sp>
      <p:sp>
        <p:nvSpPr>
          <p:cNvPr id="21" name="">
            <a:extLst xmlns:a="http://schemas.openxmlformats.org/drawingml/2006/main">
              <a:ext uri="{FF2B5EF4-FFF2-40B4-BE49-F238E27FC236}">
                <a16:creationId xmlns:a16="http://schemas.microsoft.com/office/drawing/2014/main" id="{C695AFB4-F1FA-4E8A-B55E-8A27ABC6624D}"/>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4B00FFC-CA62-4F42-A037-06B14E6255E0}"/>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Helps explain gas and electrolyte distribution</a:t>
            </a:r>
          </a:p>
        </p:txBody>
      </p:sp>
      <p:sp>
        <p:nvSpPr>
          <p:cNvPr id="23" name="">
            <a:extLst xmlns:a="http://schemas.openxmlformats.org/drawingml/2006/main">
              <a:ext uri="{FF2B5EF4-FFF2-40B4-BE49-F238E27FC236}">
                <a16:creationId xmlns:a16="http://schemas.microsoft.com/office/drawing/2014/main" id="{F25DEB58-CCA5-4FF6-8C3C-653803EDDA1D}"/>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FDE1FEB-EBCA-4CEF-9BAC-BA215DC0D055}"/>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Filtration</a:t>
            </a:r>
          </a:p>
        </p:txBody>
      </p:sp>
      <p:sp>
        <p:nvSpPr>
          <p:cNvPr id="25" name="">
            <a:extLst xmlns:a="http://schemas.openxmlformats.org/drawingml/2006/main">
              <a:ext uri="{FF2B5EF4-FFF2-40B4-BE49-F238E27FC236}">
                <a16:creationId xmlns:a16="http://schemas.microsoft.com/office/drawing/2014/main" id="{60B64442-0DB0-4C5E-B13F-24E1220EF387}"/>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8086687-3A11-4DE4-9577-19B2E2A70A70}"/>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and solutes driven by pressure</a:t>
            </a:r>
          </a:p>
        </p:txBody>
      </p:sp>
      <p:sp>
        <p:nvSpPr>
          <p:cNvPr id="27" name="">
            <a:extLst xmlns:a="http://schemas.openxmlformats.org/drawingml/2006/main">
              <a:ext uri="{FF2B5EF4-FFF2-40B4-BE49-F238E27FC236}">
                <a16:creationId xmlns:a16="http://schemas.microsoft.com/office/drawing/2014/main" id="{F6FFF3D5-BB69-4A01-8016-5E851212FBE8}"/>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7EC9CC2-3031-4125-A2AA-CE620A9A3BB4}"/>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Contributes to capillary fluid movement and edema</a:t>
            </a:r>
          </a:p>
        </p:txBody>
      </p:sp>
      <p:sp>
        <p:nvSpPr>
          <p:cNvPr id="29" name="">
            <a:extLst xmlns:a="http://schemas.openxmlformats.org/drawingml/2006/main">
              <a:ext uri="{FF2B5EF4-FFF2-40B4-BE49-F238E27FC236}">
                <a16:creationId xmlns:a16="http://schemas.microsoft.com/office/drawing/2014/main" id="{BA48BC99-D9D7-4231-B4DA-DA9121B0D622}"/>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00700DB-76E1-4CEA-9CF8-6F0E648473A8}"/>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Active transport</a:t>
            </a:r>
          </a:p>
        </p:txBody>
      </p:sp>
      <p:sp>
        <p:nvSpPr>
          <p:cNvPr id="31" name="">
            <a:extLst xmlns:a="http://schemas.openxmlformats.org/drawingml/2006/main">
              <a:ext uri="{FF2B5EF4-FFF2-40B4-BE49-F238E27FC236}">
                <a16:creationId xmlns:a16="http://schemas.microsoft.com/office/drawing/2014/main" id="{74E45594-216C-4AD9-9197-9E5C919B206B}"/>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45FE3C4C-B1A2-49D6-AA8B-EBB85FAE7D03}"/>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Solutes against a gradient using energy</a:t>
            </a:r>
          </a:p>
        </p:txBody>
      </p:sp>
      <p:sp>
        <p:nvSpPr>
          <p:cNvPr id="33" name="">
            <a:extLst xmlns:a="http://schemas.openxmlformats.org/drawingml/2006/main">
              <a:ext uri="{FF2B5EF4-FFF2-40B4-BE49-F238E27FC236}">
                <a16:creationId xmlns:a16="http://schemas.microsoft.com/office/drawing/2014/main" id="{5BE04177-42F6-4B22-A9F8-6B494A8B0F00}"/>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145780EE-5BA8-4A95-A195-412E0A049198}"/>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Maintains sodium-potassium and other cellular gradients</a:t>
            </a:r>
          </a:p>
        </p:txBody>
      </p:sp>
    </p:spTree>
    <p:extLst>
      <p:ext uri="{BB962C8B-B14F-4D97-AF65-F5344CB8AC3E}">
        <p14:creationId xmlns:p14="http://schemas.microsoft.com/office/powerpoint/2010/main" val="255408525"/>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3A87A417-528C-4AAA-89EC-572AF0221D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9BBD33-7310-468D-AC5E-74903FEA39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deficit and fluid excess</a:t>
            </a:r>
          </a:p>
        </p:txBody>
      </p:sp>
      <p:sp>
        <p:nvSpPr>
          <p:cNvPr id="3" name="">
            <a:extLst xmlns:a="http://schemas.openxmlformats.org/drawingml/2006/main">
              <a:ext uri="{FF2B5EF4-FFF2-40B4-BE49-F238E27FC236}">
                <a16:creationId xmlns:a16="http://schemas.microsoft.com/office/drawing/2014/main" id="{D02BD00B-CB16-4044-B894-6EE555AC61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D091FCB-4BA9-4164-AA65-45D0F2354B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4FC39B97-D5F1-49C1-9EF5-EB0631357F66}"/>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680E35D-BE59-4327-BD58-41B461603AFE}"/>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a:t>
            </a:r>
          </a:p>
        </p:txBody>
      </p:sp>
      <p:sp>
        <p:nvSpPr>
          <p:cNvPr id="7" name="">
            <a:extLst xmlns:a="http://schemas.openxmlformats.org/drawingml/2006/main">
              <a:ext uri="{FF2B5EF4-FFF2-40B4-BE49-F238E27FC236}">
                <a16:creationId xmlns:a16="http://schemas.microsoft.com/office/drawing/2014/main" id="{C4E3CB59-0AC6-49ED-8306-FFEED8D92B00}"/>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B9C2252-4F84-48F0-BE84-FF870A9CB73D}"/>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deficit</a:t>
            </a:r>
          </a:p>
        </p:txBody>
      </p:sp>
      <p:sp>
        <p:nvSpPr>
          <p:cNvPr id="9" name="">
            <a:extLst xmlns:a="http://schemas.openxmlformats.org/drawingml/2006/main">
              <a:ext uri="{FF2B5EF4-FFF2-40B4-BE49-F238E27FC236}">
                <a16:creationId xmlns:a16="http://schemas.microsoft.com/office/drawing/2014/main" id="{B4FFF4C7-5D05-4547-B010-12F2B0E98BB6}"/>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6DEE08D-380C-4C88-9DC5-5387B0008B1A}"/>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excess</a:t>
            </a:r>
          </a:p>
        </p:txBody>
      </p:sp>
      <p:sp>
        <p:nvSpPr>
          <p:cNvPr id="11" name="">
            <a:extLst xmlns:a="http://schemas.openxmlformats.org/drawingml/2006/main">
              <a:ext uri="{FF2B5EF4-FFF2-40B4-BE49-F238E27FC236}">
                <a16:creationId xmlns:a16="http://schemas.microsoft.com/office/drawing/2014/main" id="{E164816C-E365-4A32-A60E-6AD223040ABC}"/>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CBF8517-EE78-4AB1-BFEF-886E55229798}"/>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Vital signs</a:t>
            </a:r>
          </a:p>
        </p:txBody>
      </p:sp>
      <p:sp>
        <p:nvSpPr>
          <p:cNvPr id="13" name="">
            <a:extLst xmlns:a="http://schemas.openxmlformats.org/drawingml/2006/main">
              <a:ext uri="{FF2B5EF4-FFF2-40B4-BE49-F238E27FC236}">
                <a16:creationId xmlns:a16="http://schemas.microsoft.com/office/drawing/2014/main" id="{23C2F0AE-8810-4FC1-80ED-1D9B8AE68F82}"/>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DA18AE5-BB81-48EF-BBBC-736994124D7F}"/>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Tachycardia, orthostasis, hypotension</a:t>
            </a:r>
          </a:p>
        </p:txBody>
      </p:sp>
      <p:sp>
        <p:nvSpPr>
          <p:cNvPr id="15" name="">
            <a:extLst xmlns:a="http://schemas.openxmlformats.org/drawingml/2006/main">
              <a:ext uri="{FF2B5EF4-FFF2-40B4-BE49-F238E27FC236}">
                <a16:creationId xmlns:a16="http://schemas.microsoft.com/office/drawing/2014/main" id="{B6A32AF8-8135-4EFA-B990-AE0E95DD199B}"/>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044B17E-D7C3-400F-967E-9BBADAEB3C29}"/>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Hypertension, tachycardia, reduced oxygenation</a:t>
            </a:r>
          </a:p>
        </p:txBody>
      </p:sp>
      <p:sp>
        <p:nvSpPr>
          <p:cNvPr id="17" name="">
            <a:extLst xmlns:a="http://schemas.openxmlformats.org/drawingml/2006/main">
              <a:ext uri="{FF2B5EF4-FFF2-40B4-BE49-F238E27FC236}">
                <a16:creationId xmlns:a16="http://schemas.microsoft.com/office/drawing/2014/main" id="{DE3DF83E-93BF-4B9E-869A-4CCB4E2E1BD0}"/>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B5926DB-0492-400A-A3AB-9CE0D0BF4292}"/>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Lungs</a:t>
            </a:r>
          </a:p>
        </p:txBody>
      </p:sp>
      <p:sp>
        <p:nvSpPr>
          <p:cNvPr id="19" name="">
            <a:extLst xmlns:a="http://schemas.openxmlformats.org/drawingml/2006/main">
              <a:ext uri="{FF2B5EF4-FFF2-40B4-BE49-F238E27FC236}">
                <a16:creationId xmlns:a16="http://schemas.microsoft.com/office/drawing/2014/main" id="{505B79F6-E06E-42AD-A63C-60933534B673}"/>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D27C58D-CF18-408F-8729-A72E8AB58DED}"/>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Usually clear unless another condition exists</a:t>
            </a:r>
          </a:p>
        </p:txBody>
      </p:sp>
      <p:sp>
        <p:nvSpPr>
          <p:cNvPr id="21" name="">
            <a:extLst xmlns:a="http://schemas.openxmlformats.org/drawingml/2006/main">
              <a:ext uri="{FF2B5EF4-FFF2-40B4-BE49-F238E27FC236}">
                <a16:creationId xmlns:a16="http://schemas.microsoft.com/office/drawing/2014/main" id="{2EED9917-8C4A-4357-8E2D-B19A9F2B8BB6}"/>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2547970-529B-4534-9BD7-AE7313C4B694}"/>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Crackles, dyspnea, increased work of breathing</a:t>
            </a:r>
          </a:p>
        </p:txBody>
      </p:sp>
      <p:sp>
        <p:nvSpPr>
          <p:cNvPr id="23" name="">
            <a:extLst xmlns:a="http://schemas.openxmlformats.org/drawingml/2006/main">
              <a:ext uri="{FF2B5EF4-FFF2-40B4-BE49-F238E27FC236}">
                <a16:creationId xmlns:a16="http://schemas.microsoft.com/office/drawing/2014/main" id="{F0457DF2-BE6B-4DEE-A90C-74B57C252AAD}"/>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4A4E6A8-EA24-4B38-9714-31F2CD01E75D}"/>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and mucosa</a:t>
            </a:r>
          </a:p>
        </p:txBody>
      </p:sp>
      <p:sp>
        <p:nvSpPr>
          <p:cNvPr id="25" name="">
            <a:extLst xmlns:a="http://schemas.openxmlformats.org/drawingml/2006/main">
              <a:ext uri="{FF2B5EF4-FFF2-40B4-BE49-F238E27FC236}">
                <a16:creationId xmlns:a16="http://schemas.microsoft.com/office/drawing/2014/main" id="{F0A65091-B6FA-4DAE-AB54-C47F08ACB6EC}"/>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D5E427E-2287-45BB-8321-EC2D7D62DF8D}"/>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Dry mucosa, poor turgor</a:t>
            </a:r>
          </a:p>
        </p:txBody>
      </p:sp>
      <p:sp>
        <p:nvSpPr>
          <p:cNvPr id="27" name="">
            <a:extLst xmlns:a="http://schemas.openxmlformats.org/drawingml/2006/main">
              <a:ext uri="{FF2B5EF4-FFF2-40B4-BE49-F238E27FC236}">
                <a16:creationId xmlns:a16="http://schemas.microsoft.com/office/drawing/2014/main" id="{772B100D-50BE-4788-BCC3-8B553794E48C}"/>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1B4B7B2-4037-4D72-8D14-144B89D1C435}"/>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Edema, rapid weight gain</a:t>
            </a:r>
          </a:p>
        </p:txBody>
      </p:sp>
      <p:sp>
        <p:nvSpPr>
          <p:cNvPr id="29" name="">
            <a:extLst xmlns:a="http://schemas.openxmlformats.org/drawingml/2006/main">
              <a:ext uri="{FF2B5EF4-FFF2-40B4-BE49-F238E27FC236}">
                <a16:creationId xmlns:a16="http://schemas.microsoft.com/office/drawing/2014/main" id="{E6770313-C47A-44F9-933C-A2122A1B1D10}"/>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0756168-9DDB-480C-896D-DFBBFFB6525E}"/>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Urine and weight</a:t>
            </a:r>
          </a:p>
        </p:txBody>
      </p:sp>
      <p:sp>
        <p:nvSpPr>
          <p:cNvPr id="31" name="">
            <a:extLst xmlns:a="http://schemas.openxmlformats.org/drawingml/2006/main">
              <a:ext uri="{FF2B5EF4-FFF2-40B4-BE49-F238E27FC236}">
                <a16:creationId xmlns:a16="http://schemas.microsoft.com/office/drawing/2014/main" id="{D5626649-FA09-45B5-A47B-9A6210C271F6}"/>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91D20A55-92A6-49B1-ADE8-D0D689149CA7}"/>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output, concentrated urine, weight loss</a:t>
            </a:r>
          </a:p>
        </p:txBody>
      </p:sp>
      <p:sp>
        <p:nvSpPr>
          <p:cNvPr id="33" name="">
            <a:extLst xmlns:a="http://schemas.openxmlformats.org/drawingml/2006/main">
              <a:ext uri="{FF2B5EF4-FFF2-40B4-BE49-F238E27FC236}">
                <a16:creationId xmlns:a16="http://schemas.microsoft.com/office/drawing/2014/main" id="{78CFEF62-072B-4987-BDAA-D9916A0826F7}"/>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3BE2431-8342-45C2-822B-9B40EE116C7D}"/>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Variable output, dilution, daily weight gain</a:t>
            </a:r>
          </a:p>
        </p:txBody>
      </p:sp>
      <p:sp>
        <p:nvSpPr>
          <p:cNvPr id="35" name="">
            <a:extLst xmlns:a="http://schemas.openxmlformats.org/drawingml/2006/main">
              <a:ext uri="{FF2B5EF4-FFF2-40B4-BE49-F238E27FC236}">
                <a16:creationId xmlns:a16="http://schemas.microsoft.com/office/drawing/2014/main" id="{A7369ACD-B645-417E-B2D5-DEA9CB3AF92D}"/>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C54908DB-E5B7-43E8-9388-A8D81F728C70}"/>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a:t>
            </a:r>
          </a:p>
        </p:txBody>
      </p:sp>
      <p:sp>
        <p:nvSpPr>
          <p:cNvPr id="37" name="">
            <a:extLst xmlns:a="http://schemas.openxmlformats.org/drawingml/2006/main">
              <a:ext uri="{FF2B5EF4-FFF2-40B4-BE49-F238E27FC236}">
                <a16:creationId xmlns:a16="http://schemas.microsoft.com/office/drawing/2014/main" id="{E7708995-9FEA-457E-89DC-83A2DD96E425}"/>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13BCFCAE-8FA6-408D-8EEE-B0CEC8305760}"/>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dizziness, confusion</a:t>
            </a:r>
          </a:p>
        </p:txBody>
      </p:sp>
      <p:sp>
        <p:nvSpPr>
          <p:cNvPr id="39" name="">
            <a:extLst xmlns:a="http://schemas.openxmlformats.org/drawingml/2006/main">
              <a:ext uri="{FF2B5EF4-FFF2-40B4-BE49-F238E27FC236}">
                <a16:creationId xmlns:a16="http://schemas.microsoft.com/office/drawing/2014/main" id="{BEA6A53F-F6C2-4206-8B14-296436A0F5BE}"/>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9558F931-85D9-4747-89D9-D141504C6B63}"/>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Headache, restlessness, confusion</a:t>
            </a:r>
          </a:p>
        </p:txBody>
      </p:sp>
    </p:spTree>
    <p:extLst>
      <p:ext uri="{BB962C8B-B14F-4D97-AF65-F5344CB8AC3E}">
        <p14:creationId xmlns:p14="http://schemas.microsoft.com/office/powerpoint/2010/main" val="214630626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D4A941-ADD4-477A-8330-52D13193D1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E95F36-D105-4354-8751-ECAD7E5878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Third spacing hides volume outside the circulation</a:t>
            </a:r>
          </a:p>
        </p:txBody>
      </p:sp>
      <p:sp>
        <p:nvSpPr>
          <p:cNvPr id="3" name="">
            <a:extLst xmlns:a="http://schemas.openxmlformats.org/drawingml/2006/main">
              <a:ext uri="{FF2B5EF4-FFF2-40B4-BE49-F238E27FC236}">
                <a16:creationId xmlns:a16="http://schemas.microsoft.com/office/drawing/2014/main" id="{08FF7362-E4F7-459C-B8FA-D55D1D7068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9395877-7AC7-4BCC-9DCE-AF97C16B5A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B49FCDB6-66D3-41C1-9738-5B57D77E7F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can leave the intravascular space and collect where it does not support perfusion.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ascites, burns, inflammation, or low oncotic pressure may coexist with intravascular depletion.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blood pressure, heart rate, urine output, daily weight, edema, abdominal findings, laboratory trends, and respiratory status together.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assume visible edema means the patient has adequate circulating volume.</a:t>
            </a:r>
          </a:p>
        </p:txBody>
      </p:sp>
      <p:sp>
        <p:nvSpPr>
          <p:cNvPr id="6" name="">
            <a:extLst xmlns:a="http://schemas.openxmlformats.org/drawingml/2006/main">
              <a:ext uri="{FF2B5EF4-FFF2-40B4-BE49-F238E27FC236}">
                <a16:creationId xmlns:a16="http://schemas.microsoft.com/office/drawing/2014/main" id="{1FFEB43A-2113-4DA7-9316-3584A0FF415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0781011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29A0AEA-0588-4DD4-82BD-DB62BC0D2A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11B6BF-50BA-42CA-9296-B236BEFDEB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Solution categories and monitoring</a:t>
            </a:r>
          </a:p>
        </p:txBody>
      </p:sp>
      <p:sp>
        <p:nvSpPr>
          <p:cNvPr id="3" name="">
            <a:extLst xmlns:a="http://schemas.openxmlformats.org/drawingml/2006/main">
              <a:ext uri="{FF2B5EF4-FFF2-40B4-BE49-F238E27FC236}">
                <a16:creationId xmlns:a16="http://schemas.microsoft.com/office/drawing/2014/main" id="{EB46FD0B-F366-476A-BCAF-F432E3A169F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D71F62E-F3AC-472F-BAA8-7318D50624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FD57F4C7-0B02-41F0-9703-D019F53F0E1B}"/>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CF0847B-2DC7-43D8-B626-0264F1FFF3E9}"/>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7" name="">
            <a:extLst xmlns:a="http://schemas.openxmlformats.org/drawingml/2006/main">
              <a:ext uri="{FF2B5EF4-FFF2-40B4-BE49-F238E27FC236}">
                <a16:creationId xmlns:a16="http://schemas.microsoft.com/office/drawing/2014/main" id="{C5165ED6-760E-4898-9AF6-0932770EBAC0}"/>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48631D0-3B56-40F9-AEBD-95CC471D806F}"/>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General effect</a:t>
            </a:r>
          </a:p>
        </p:txBody>
      </p:sp>
      <p:sp>
        <p:nvSpPr>
          <p:cNvPr id="9" name="">
            <a:extLst xmlns:a="http://schemas.openxmlformats.org/drawingml/2006/main">
              <a:ext uri="{FF2B5EF4-FFF2-40B4-BE49-F238E27FC236}">
                <a16:creationId xmlns:a16="http://schemas.microsoft.com/office/drawing/2014/main" id="{12906472-88C4-4D1D-ACF6-C1ED125662A9}"/>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DB04024-B84F-45F2-BF59-50E52F34AEBD}"/>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safety focus</a:t>
            </a:r>
          </a:p>
        </p:txBody>
      </p:sp>
      <p:sp>
        <p:nvSpPr>
          <p:cNvPr id="11" name="">
            <a:extLst xmlns:a="http://schemas.openxmlformats.org/drawingml/2006/main">
              <a:ext uri="{FF2B5EF4-FFF2-40B4-BE49-F238E27FC236}">
                <a16:creationId xmlns:a16="http://schemas.microsoft.com/office/drawing/2014/main" id="{FDC79F8E-2109-4002-B74E-143EA9B2C63B}"/>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039D66E-0F13-43B2-99E4-BF311A401C93}"/>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 crystalloid</a:t>
            </a:r>
          </a:p>
        </p:txBody>
      </p:sp>
      <p:sp>
        <p:nvSpPr>
          <p:cNvPr id="13" name="">
            <a:extLst xmlns:a="http://schemas.openxmlformats.org/drawingml/2006/main">
              <a:ext uri="{FF2B5EF4-FFF2-40B4-BE49-F238E27FC236}">
                <a16:creationId xmlns:a16="http://schemas.microsoft.com/office/drawing/2014/main" id="{D8A6F2D4-AD93-4B69-82DC-8EB043133F95}"/>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BA1304C-FB19-4BE3-9949-54DA4EBA994F}"/>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Expands extracellular volume with limited initial cellular shift</a:t>
            </a:r>
          </a:p>
        </p:txBody>
      </p:sp>
      <p:sp>
        <p:nvSpPr>
          <p:cNvPr id="15" name="">
            <a:extLst xmlns:a="http://schemas.openxmlformats.org/drawingml/2006/main">
              <a:ext uri="{FF2B5EF4-FFF2-40B4-BE49-F238E27FC236}">
                <a16:creationId xmlns:a16="http://schemas.microsoft.com/office/drawing/2014/main" id="{A276014A-2991-40C2-9DE2-1D3148A7A315}"/>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A47566D-1428-463D-9B4C-4262F0121076}"/>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overload, chloride load, cardiac and renal tolerance</a:t>
            </a:r>
          </a:p>
        </p:txBody>
      </p:sp>
      <p:sp>
        <p:nvSpPr>
          <p:cNvPr id="17" name="">
            <a:extLst xmlns:a="http://schemas.openxmlformats.org/drawingml/2006/main">
              <a:ext uri="{FF2B5EF4-FFF2-40B4-BE49-F238E27FC236}">
                <a16:creationId xmlns:a16="http://schemas.microsoft.com/office/drawing/2014/main" id="{4F8F874C-09DA-4AAE-B213-305637EEC728}"/>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F0D9B3A-366E-4D7F-A582-5C4A501E87EC}"/>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 solution</a:t>
            </a:r>
          </a:p>
        </p:txBody>
      </p:sp>
      <p:sp>
        <p:nvSpPr>
          <p:cNvPr id="19" name="">
            <a:extLst xmlns:a="http://schemas.openxmlformats.org/drawingml/2006/main">
              <a:ext uri="{FF2B5EF4-FFF2-40B4-BE49-F238E27FC236}">
                <a16:creationId xmlns:a16="http://schemas.microsoft.com/office/drawing/2014/main" id="{0FB6E068-4800-45B3-8FB9-12C3E5902B79}"/>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E901FA7-6058-4140-B220-85672C590016}"/>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Provides proportionally more free water and may move water into cells</a:t>
            </a:r>
          </a:p>
        </p:txBody>
      </p:sp>
      <p:sp>
        <p:nvSpPr>
          <p:cNvPr id="21" name="">
            <a:extLst xmlns:a="http://schemas.openxmlformats.org/drawingml/2006/main">
              <a:ext uri="{FF2B5EF4-FFF2-40B4-BE49-F238E27FC236}">
                <a16:creationId xmlns:a16="http://schemas.microsoft.com/office/drawing/2014/main" id="{CC28E486-D943-485D-8FB2-241B20293450}"/>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4F02BA1-CF1B-46D4-A524-ED802DF7F921}"/>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sodium, intravascular depletion</a:t>
            </a:r>
          </a:p>
        </p:txBody>
      </p:sp>
      <p:sp>
        <p:nvSpPr>
          <p:cNvPr id="23" name="">
            <a:extLst xmlns:a="http://schemas.openxmlformats.org/drawingml/2006/main">
              <a:ext uri="{FF2B5EF4-FFF2-40B4-BE49-F238E27FC236}">
                <a16:creationId xmlns:a16="http://schemas.microsoft.com/office/drawing/2014/main" id="{93EBFE90-E6CB-4A5E-879B-87038770CBAD}"/>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62E638B-B277-4E40-ACA7-4035D5E5FDCF}"/>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 solution</a:t>
            </a:r>
          </a:p>
        </p:txBody>
      </p:sp>
      <p:sp>
        <p:nvSpPr>
          <p:cNvPr id="25" name="">
            <a:extLst xmlns:a="http://schemas.openxmlformats.org/drawingml/2006/main">
              <a:ext uri="{FF2B5EF4-FFF2-40B4-BE49-F238E27FC236}">
                <a16:creationId xmlns:a16="http://schemas.microsoft.com/office/drawing/2014/main" id="{97483323-AE97-49CC-A937-080EB017B053}"/>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598EEB7-4139-4051-9585-8D7427AB3749}"/>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Draws water toward the intravascular space</a:t>
            </a:r>
          </a:p>
        </p:txBody>
      </p:sp>
      <p:sp>
        <p:nvSpPr>
          <p:cNvPr id="27" name="">
            <a:extLst xmlns:a="http://schemas.openxmlformats.org/drawingml/2006/main">
              <a:ext uri="{FF2B5EF4-FFF2-40B4-BE49-F238E27FC236}">
                <a16:creationId xmlns:a16="http://schemas.microsoft.com/office/drawing/2014/main" id="{A965B51F-2DD0-40B2-830D-A7EBBC74B8C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5CB4EDE-F01A-4183-B919-616FE8C3555C}"/>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sodium or glucose changes, vein irritation, overload</a:t>
            </a:r>
          </a:p>
        </p:txBody>
      </p:sp>
      <p:sp>
        <p:nvSpPr>
          <p:cNvPr id="29" name="">
            <a:extLst xmlns:a="http://schemas.openxmlformats.org/drawingml/2006/main">
              <a:ext uri="{FF2B5EF4-FFF2-40B4-BE49-F238E27FC236}">
                <a16:creationId xmlns:a16="http://schemas.microsoft.com/office/drawing/2014/main" id="{2FC09086-ABEA-4CE3-B472-472B9F9D70D4}"/>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3CF11E70-B69B-4E2B-8735-4AAA7C96E774}"/>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Colloid or blood component</a:t>
            </a:r>
          </a:p>
        </p:txBody>
      </p:sp>
      <p:sp>
        <p:nvSpPr>
          <p:cNvPr id="31" name="">
            <a:extLst xmlns:a="http://schemas.openxmlformats.org/drawingml/2006/main">
              <a:ext uri="{FF2B5EF4-FFF2-40B4-BE49-F238E27FC236}">
                <a16:creationId xmlns:a16="http://schemas.microsoft.com/office/drawing/2014/main" id="{5C470E51-22B2-4D60-81C5-D65ABDA32E10}"/>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40883A7-A206-4CEC-A9F3-CC58B00BE464}"/>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Raises oncotic pressure or replaces a specific component</a:t>
            </a:r>
          </a:p>
        </p:txBody>
      </p:sp>
      <p:sp>
        <p:nvSpPr>
          <p:cNvPr id="33" name="">
            <a:extLst xmlns:a="http://schemas.openxmlformats.org/drawingml/2006/main">
              <a:ext uri="{FF2B5EF4-FFF2-40B4-BE49-F238E27FC236}">
                <a16:creationId xmlns:a16="http://schemas.microsoft.com/office/drawing/2014/main" id="{C070BADE-238A-463D-A16D-D21951464D11}"/>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BEF721C-8A7D-4D4C-9C82-C7E29A94FD9C}"/>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overload, indication, product-specific monitoring</a:t>
            </a:r>
          </a:p>
        </p:txBody>
      </p:sp>
    </p:spTree>
    <p:extLst>
      <p:ext uri="{BB962C8B-B14F-4D97-AF65-F5344CB8AC3E}">
        <p14:creationId xmlns:p14="http://schemas.microsoft.com/office/powerpoint/2010/main" val="118440853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7B74C63-79C3-4894-8EB5-DDB4C7B0F6E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675E09-1B84-402D-9E3A-DE8B9FDF9B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Where body fluid is located</a:t>
            </a:r>
          </a:p>
        </p:txBody>
      </p:sp>
      <p:sp>
        <p:nvSpPr>
          <p:cNvPr id="3" name="">
            <a:extLst xmlns:a="http://schemas.openxmlformats.org/drawingml/2006/main">
              <a:ext uri="{FF2B5EF4-FFF2-40B4-BE49-F238E27FC236}">
                <a16:creationId xmlns:a16="http://schemas.microsoft.com/office/drawing/2014/main" id="{F08A8C1C-EF92-4109-AE6A-727B5CF0E5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03E45C8-5DDA-4617-AAFD-3719CA5285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237F1E51-960F-452F-98B7-167A4112E303}"/>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04B98C0-E106-452F-9B47-0A36D26D54E9}"/>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Compartment</a:t>
            </a:r>
          </a:p>
        </p:txBody>
      </p:sp>
      <p:sp>
        <p:nvSpPr>
          <p:cNvPr id="7" name="">
            <a:extLst xmlns:a="http://schemas.openxmlformats.org/drawingml/2006/main">
              <a:ext uri="{FF2B5EF4-FFF2-40B4-BE49-F238E27FC236}">
                <a16:creationId xmlns:a16="http://schemas.microsoft.com/office/drawing/2014/main" id="{4DE52A03-24D1-43E2-8CE7-BE42E617D524}"/>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8EA987D-5AF6-4189-B9DF-E5C57CD2CB99}"/>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Location</a:t>
            </a:r>
          </a:p>
        </p:txBody>
      </p:sp>
      <p:sp>
        <p:nvSpPr>
          <p:cNvPr id="9" name="">
            <a:extLst xmlns:a="http://schemas.openxmlformats.org/drawingml/2006/main">
              <a:ext uri="{FF2B5EF4-FFF2-40B4-BE49-F238E27FC236}">
                <a16:creationId xmlns:a16="http://schemas.microsoft.com/office/drawing/2014/main" id="{C605CD18-9156-450D-8CDA-2BC06CF7798B}"/>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0B1904D-69AB-4896-A2F0-2FC40B83E7AC}"/>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7134B78B-CB3D-4B3D-BCEB-926B936040EC}"/>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6485AF8-0BE6-4599-943B-8433B6079032}"/>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Intracellular</a:t>
            </a:r>
          </a:p>
        </p:txBody>
      </p:sp>
      <p:sp>
        <p:nvSpPr>
          <p:cNvPr id="13" name="">
            <a:extLst xmlns:a="http://schemas.openxmlformats.org/drawingml/2006/main">
              <a:ext uri="{FF2B5EF4-FFF2-40B4-BE49-F238E27FC236}">
                <a16:creationId xmlns:a16="http://schemas.microsoft.com/office/drawing/2014/main" id="{52AA1C2E-F001-48C0-B583-E5930D1D8BD2}"/>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B724914-FE02-4571-8BCA-DC673F868247}"/>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cells</a:t>
            </a:r>
          </a:p>
        </p:txBody>
      </p:sp>
      <p:sp>
        <p:nvSpPr>
          <p:cNvPr id="15" name="">
            <a:extLst xmlns:a="http://schemas.openxmlformats.org/drawingml/2006/main">
              <a:ext uri="{FF2B5EF4-FFF2-40B4-BE49-F238E27FC236}">
                <a16:creationId xmlns:a16="http://schemas.microsoft.com/office/drawing/2014/main" id="{C75ADCC8-45B3-4278-B48C-74B1828DA536}"/>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54B13CA-7116-4AF6-9A5A-B074E8DC193C}"/>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Tonicity changes can move water into or out of cells</a:t>
            </a:r>
          </a:p>
        </p:txBody>
      </p:sp>
      <p:sp>
        <p:nvSpPr>
          <p:cNvPr id="17" name="">
            <a:extLst xmlns:a="http://schemas.openxmlformats.org/drawingml/2006/main">
              <a:ext uri="{FF2B5EF4-FFF2-40B4-BE49-F238E27FC236}">
                <a16:creationId xmlns:a16="http://schemas.microsoft.com/office/drawing/2014/main" id="{7C29A756-7879-4053-8C87-00523F601EA2}"/>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C89446F-942C-447E-8F37-CA5DEE4D2959}"/>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Intravascular</a:t>
            </a:r>
          </a:p>
        </p:txBody>
      </p:sp>
      <p:sp>
        <p:nvSpPr>
          <p:cNvPr id="19" name="">
            <a:extLst xmlns:a="http://schemas.openxmlformats.org/drawingml/2006/main">
              <a:ext uri="{FF2B5EF4-FFF2-40B4-BE49-F238E27FC236}">
                <a16:creationId xmlns:a16="http://schemas.microsoft.com/office/drawing/2014/main" id="{EEB32FB9-43D2-4E5D-9DA8-50FD8FF5BB53}"/>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741132E-2D53-4CC9-B87A-8A311A0C8812}"/>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blood vessels</a:t>
            </a:r>
          </a:p>
        </p:txBody>
      </p:sp>
      <p:sp>
        <p:nvSpPr>
          <p:cNvPr id="21" name="">
            <a:extLst xmlns:a="http://schemas.openxmlformats.org/drawingml/2006/main">
              <a:ext uri="{FF2B5EF4-FFF2-40B4-BE49-F238E27FC236}">
                <a16:creationId xmlns:a16="http://schemas.microsoft.com/office/drawing/2014/main" id="{2D6CAAD4-5596-4F3E-86A7-DB2629F19833}"/>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577BF04-CBBC-43AD-968C-61641912996D}"/>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Directly affects perfusion and circulatory volume</a:t>
            </a:r>
          </a:p>
        </p:txBody>
      </p:sp>
      <p:sp>
        <p:nvSpPr>
          <p:cNvPr id="23" name="">
            <a:extLst xmlns:a="http://schemas.openxmlformats.org/drawingml/2006/main">
              <a:ext uri="{FF2B5EF4-FFF2-40B4-BE49-F238E27FC236}">
                <a16:creationId xmlns:a16="http://schemas.microsoft.com/office/drawing/2014/main" id="{530700B3-6C46-4C9A-9E84-44F32F3A6204}"/>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E9D2EAF-BEE1-4422-A709-16B03AE43034}"/>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Interstitial</a:t>
            </a:r>
          </a:p>
        </p:txBody>
      </p:sp>
      <p:sp>
        <p:nvSpPr>
          <p:cNvPr id="25" name="">
            <a:extLst xmlns:a="http://schemas.openxmlformats.org/drawingml/2006/main">
              <a:ext uri="{FF2B5EF4-FFF2-40B4-BE49-F238E27FC236}">
                <a16:creationId xmlns:a16="http://schemas.microsoft.com/office/drawing/2014/main" id="{2F3301F4-0EFB-49B8-81C0-AF40C6FF8CEA}"/>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34F6CBA-6F24-436F-A9FB-52F871AA38BF}"/>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Between cells</a:t>
            </a:r>
          </a:p>
        </p:txBody>
      </p:sp>
      <p:sp>
        <p:nvSpPr>
          <p:cNvPr id="27" name="">
            <a:extLst xmlns:a="http://schemas.openxmlformats.org/drawingml/2006/main">
              <a:ext uri="{FF2B5EF4-FFF2-40B4-BE49-F238E27FC236}">
                <a16:creationId xmlns:a16="http://schemas.microsoft.com/office/drawing/2014/main" id="{BB9F0ED7-2CA9-4811-A56F-3C642DF76DDC}"/>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A7429BD-C3EE-42D9-AC30-C2C556394628}"/>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Excess fluid may appear as edema</a:t>
            </a:r>
          </a:p>
        </p:txBody>
      </p:sp>
    </p:spTree>
    <p:extLst>
      <p:ext uri="{BB962C8B-B14F-4D97-AF65-F5344CB8AC3E}">
        <p14:creationId xmlns:p14="http://schemas.microsoft.com/office/powerpoint/2010/main" val="1763368440"/>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0DF4AAC-C6CA-434B-9FE2-91527D6D34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C90BFE2-5F1A-4B7D-9FF4-4357A602B1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 predicts water movement</a:t>
            </a:r>
          </a:p>
        </p:txBody>
      </p:sp>
      <p:sp>
        <p:nvSpPr>
          <p:cNvPr id="3" name="">
            <a:extLst xmlns:a="http://schemas.openxmlformats.org/drawingml/2006/main">
              <a:ext uri="{FF2B5EF4-FFF2-40B4-BE49-F238E27FC236}">
                <a16:creationId xmlns:a16="http://schemas.microsoft.com/office/drawing/2014/main" id="{05846D93-12DC-41A0-9464-706F7A8134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F4FE56D-968D-477A-83D0-012066281E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DC724633-77DA-4FF2-A2FA-6398DF8BC994}"/>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C727BB7-DD15-4D93-A518-739BA628D59D}"/>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Solution type</a:t>
            </a:r>
          </a:p>
        </p:txBody>
      </p:sp>
      <p:sp>
        <p:nvSpPr>
          <p:cNvPr id="7" name="">
            <a:extLst xmlns:a="http://schemas.openxmlformats.org/drawingml/2006/main">
              <a:ext uri="{FF2B5EF4-FFF2-40B4-BE49-F238E27FC236}">
                <a16:creationId xmlns:a16="http://schemas.microsoft.com/office/drawing/2014/main" id="{5723234F-B478-4A24-8E32-2DA070517FD2}"/>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1154C84-3CCD-45F9-97B8-C367F639639E}"/>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water shift</a:t>
            </a:r>
          </a:p>
        </p:txBody>
      </p:sp>
      <p:sp>
        <p:nvSpPr>
          <p:cNvPr id="9" name="">
            <a:extLst xmlns:a="http://schemas.openxmlformats.org/drawingml/2006/main">
              <a:ext uri="{FF2B5EF4-FFF2-40B4-BE49-F238E27FC236}">
                <a16:creationId xmlns:a16="http://schemas.microsoft.com/office/drawing/2014/main" id="{16FA5212-81A4-40A2-B318-034F87DB62B3}"/>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DA2F0B2-CA6E-4235-9699-D92DFA50AEE8}"/>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1" name="">
            <a:extLst xmlns:a="http://schemas.openxmlformats.org/drawingml/2006/main">
              <a:ext uri="{FF2B5EF4-FFF2-40B4-BE49-F238E27FC236}">
                <a16:creationId xmlns:a16="http://schemas.microsoft.com/office/drawing/2014/main" id="{572432F8-C15C-4122-AD9A-F37A2F54B0E7}"/>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3B3152E-E84F-4EAD-A511-E57E716569DE}"/>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3" name="">
            <a:extLst xmlns:a="http://schemas.openxmlformats.org/drawingml/2006/main">
              <a:ext uri="{FF2B5EF4-FFF2-40B4-BE49-F238E27FC236}">
                <a16:creationId xmlns:a16="http://schemas.microsoft.com/office/drawing/2014/main" id="{3B9D7621-CA92-45D4-BA0A-76D781260259}"/>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4A6E9FD-3A8D-403B-AA7E-23E01A15F97D}"/>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a:t>
            </a:r>
          </a:p>
        </p:txBody>
      </p:sp>
      <p:sp>
        <p:nvSpPr>
          <p:cNvPr id="15" name="">
            <a:extLst xmlns:a="http://schemas.openxmlformats.org/drawingml/2006/main">
              <a:ext uri="{FF2B5EF4-FFF2-40B4-BE49-F238E27FC236}">
                <a16:creationId xmlns:a16="http://schemas.microsoft.com/office/drawing/2014/main" id="{E54F3D84-8268-4A32-A680-27081A4B4D01}"/>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373035E-CDB5-4F3D-8B66-52DDA1383F74}"/>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 sounds, edema, blood pressure</a:t>
            </a:r>
          </a:p>
        </p:txBody>
      </p:sp>
      <p:sp>
        <p:nvSpPr>
          <p:cNvPr id="17" name="">
            <a:extLst xmlns:a="http://schemas.openxmlformats.org/drawingml/2006/main">
              <a:ext uri="{FF2B5EF4-FFF2-40B4-BE49-F238E27FC236}">
                <a16:creationId xmlns:a16="http://schemas.microsoft.com/office/drawing/2014/main" id="{5CFA6FE4-BD09-4B85-993B-3E97AC906412}"/>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3B95DA6-1589-4AEE-A39A-EC9B49D6D97C}"/>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19" name="">
            <a:extLst xmlns:a="http://schemas.openxmlformats.org/drawingml/2006/main">
              <a:ext uri="{FF2B5EF4-FFF2-40B4-BE49-F238E27FC236}">
                <a16:creationId xmlns:a16="http://schemas.microsoft.com/office/drawing/2014/main" id="{5A6E93D2-22DD-447F-8EB3-A4DECDE2A309}"/>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3FD2B59-2521-4FD8-BD8F-340F035E6263}"/>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toward cells</a:t>
            </a:r>
          </a:p>
        </p:txBody>
      </p:sp>
      <p:sp>
        <p:nvSpPr>
          <p:cNvPr id="21" name="">
            <a:extLst xmlns:a="http://schemas.openxmlformats.org/drawingml/2006/main">
              <a:ext uri="{FF2B5EF4-FFF2-40B4-BE49-F238E27FC236}">
                <a16:creationId xmlns:a16="http://schemas.microsoft.com/office/drawing/2014/main" id="{1E49391B-C041-4919-9C39-3266E4F4FD76}"/>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94491F6-5A98-4C5A-92B1-B610BE2D5539}"/>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and cellular swelling risk</a:t>
            </a:r>
          </a:p>
        </p:txBody>
      </p:sp>
      <p:sp>
        <p:nvSpPr>
          <p:cNvPr id="23" name="">
            <a:extLst xmlns:a="http://schemas.openxmlformats.org/drawingml/2006/main">
              <a:ext uri="{FF2B5EF4-FFF2-40B4-BE49-F238E27FC236}">
                <a16:creationId xmlns:a16="http://schemas.microsoft.com/office/drawing/2014/main" id="{5FDF1C81-5CDD-4527-BF63-86A07E688EA4}"/>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9C237DC-D649-4D36-BF3F-C2FD022BDBF7}"/>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5" name="">
            <a:extLst xmlns:a="http://schemas.openxmlformats.org/drawingml/2006/main">
              <a:ext uri="{FF2B5EF4-FFF2-40B4-BE49-F238E27FC236}">
                <a16:creationId xmlns:a16="http://schemas.microsoft.com/office/drawing/2014/main" id="{F500A4A3-6E60-4646-8BE0-B9C4082D87A3}"/>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55CA3FF-9FB8-483D-83A7-FDF712A7E3A1}"/>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out of cells</a:t>
            </a:r>
          </a:p>
        </p:txBody>
      </p:sp>
      <p:sp>
        <p:nvSpPr>
          <p:cNvPr id="27" name="">
            <a:extLst xmlns:a="http://schemas.openxmlformats.org/drawingml/2006/main">
              <a:ext uri="{FF2B5EF4-FFF2-40B4-BE49-F238E27FC236}">
                <a16:creationId xmlns:a16="http://schemas.microsoft.com/office/drawing/2014/main" id="{FBB3B8CE-A0E1-4C18-9676-FD6C0FACF1F2}"/>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C18E485-B5C5-4CC5-99F0-2428A3ABD49C}"/>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irritation, sodium, glucose, and fluid overload</a:t>
            </a:r>
          </a:p>
        </p:txBody>
      </p:sp>
    </p:spTree>
    <p:extLst>
      <p:ext uri="{BB962C8B-B14F-4D97-AF65-F5344CB8AC3E}">
        <p14:creationId xmlns:p14="http://schemas.microsoft.com/office/powerpoint/2010/main" val="358352501"/>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67D94907-56CD-46F6-B229-4550605E4C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E477F0-FB4D-4169-8141-E56B4B8D20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Major electrolytes and common adult reference ranges</a:t>
            </a:r>
          </a:p>
        </p:txBody>
      </p:sp>
      <p:sp>
        <p:nvSpPr>
          <p:cNvPr id="3" name="">
            <a:extLst xmlns:a="http://schemas.openxmlformats.org/drawingml/2006/main">
              <a:ext uri="{FF2B5EF4-FFF2-40B4-BE49-F238E27FC236}">
                <a16:creationId xmlns:a16="http://schemas.microsoft.com/office/drawing/2014/main" id="{8C105403-5DFA-4091-83C2-B2BD640993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0CB248F-1349-4EE7-89A4-49525A4755B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3B19A52B-EA39-4393-BBB2-18661F3A4B41}"/>
              </a:ext>
            </a:extLst>
          </p:cNvPr>
          <p:cNvSpPr>
            <a:spLocks xmlns:a="http://schemas.openxmlformats.org/drawingml/2006/main" noGrp="1"/>
          </p:cNvSpPr>
          <p:nvPr/>
        </p:nvSpPr>
        <p:spPr>
          <a:xfrm xmlns:a="http://schemas.openxmlformats.org/drawingml/2006/main">
            <a:off x="78105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9B718E8-E651-42FA-B7B3-170999C62C10}"/>
              </a:ext>
            </a:extLst>
          </p:cNvPr>
          <p:cNvSpPr>
            <a:spLocks xmlns:a="http://schemas.openxmlformats.org/drawingml/2006/main" noGrp="1"/>
          </p:cNvSpPr>
          <p:nvPr/>
        </p:nvSpPr>
        <p:spPr>
          <a:xfrm xmlns:a="http://schemas.openxmlformats.org/drawingml/2006/main">
            <a:off x="87630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Electrolyte</a:t>
            </a:r>
          </a:p>
        </p:txBody>
      </p:sp>
      <p:sp>
        <p:nvSpPr>
          <p:cNvPr id="7" name="">
            <a:extLst xmlns:a="http://schemas.openxmlformats.org/drawingml/2006/main">
              <a:ext uri="{FF2B5EF4-FFF2-40B4-BE49-F238E27FC236}">
                <a16:creationId xmlns:a16="http://schemas.microsoft.com/office/drawing/2014/main" id="{7C0803CA-4903-47BD-8DD0-3D4633EACCBD}"/>
              </a:ext>
            </a:extLst>
          </p:cNvPr>
          <p:cNvSpPr>
            <a:spLocks xmlns:a="http://schemas.openxmlformats.org/drawingml/2006/main" noGrp="1"/>
          </p:cNvSpPr>
          <p:nvPr/>
        </p:nvSpPr>
        <p:spPr>
          <a:xfrm xmlns:a="http://schemas.openxmlformats.org/drawingml/2006/main">
            <a:off x="430530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B38807F-C6F6-4152-9B13-980D872A6AD4}"/>
              </a:ext>
            </a:extLst>
          </p:cNvPr>
          <p:cNvSpPr>
            <a:spLocks xmlns:a="http://schemas.openxmlformats.org/drawingml/2006/main" noGrp="1"/>
          </p:cNvSpPr>
          <p:nvPr/>
        </p:nvSpPr>
        <p:spPr>
          <a:xfrm xmlns:a="http://schemas.openxmlformats.org/drawingml/2006/main">
            <a:off x="440055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reference range</a:t>
            </a:r>
          </a:p>
        </p:txBody>
      </p:sp>
      <p:sp>
        <p:nvSpPr>
          <p:cNvPr id="9" name="">
            <a:extLst xmlns:a="http://schemas.openxmlformats.org/drawingml/2006/main">
              <a:ext uri="{FF2B5EF4-FFF2-40B4-BE49-F238E27FC236}">
                <a16:creationId xmlns:a16="http://schemas.microsoft.com/office/drawing/2014/main" id="{FFC11D04-362D-4632-9717-8649D7FB531E}"/>
              </a:ext>
            </a:extLst>
          </p:cNvPr>
          <p:cNvSpPr>
            <a:spLocks xmlns:a="http://schemas.openxmlformats.org/drawingml/2006/main" noGrp="1"/>
          </p:cNvSpPr>
          <p:nvPr/>
        </p:nvSpPr>
        <p:spPr>
          <a:xfrm xmlns:a="http://schemas.openxmlformats.org/drawingml/2006/main">
            <a:off x="782955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50BAA1C-2C1E-43DA-86B1-4A5CFBEE4ADD}"/>
              </a:ext>
            </a:extLst>
          </p:cNvPr>
          <p:cNvSpPr>
            <a:spLocks xmlns:a="http://schemas.openxmlformats.org/drawingml/2006/main" noGrp="1"/>
          </p:cNvSpPr>
          <p:nvPr/>
        </p:nvSpPr>
        <p:spPr>
          <a:xfrm xmlns:a="http://schemas.openxmlformats.org/drawingml/2006/main">
            <a:off x="792480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role</a:t>
            </a:r>
          </a:p>
        </p:txBody>
      </p:sp>
      <p:sp>
        <p:nvSpPr>
          <p:cNvPr id="11" name="">
            <a:extLst xmlns:a="http://schemas.openxmlformats.org/drawingml/2006/main">
              <a:ext uri="{FF2B5EF4-FFF2-40B4-BE49-F238E27FC236}">
                <a16:creationId xmlns:a16="http://schemas.microsoft.com/office/drawing/2014/main" id="{9ACA5A13-9E0F-4961-833A-E64EE114F1A2}"/>
              </a:ext>
            </a:extLst>
          </p:cNvPr>
          <p:cNvSpPr>
            <a:spLocks xmlns:a="http://schemas.openxmlformats.org/drawingml/2006/main" noGrp="1"/>
          </p:cNvSpPr>
          <p:nvPr/>
        </p:nvSpPr>
        <p:spPr>
          <a:xfrm xmlns:a="http://schemas.openxmlformats.org/drawingml/2006/main">
            <a:off x="78105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12E04C2-E1B4-4212-857D-0BB0C459BB2C}"/>
              </a:ext>
            </a:extLst>
          </p:cNvPr>
          <p:cNvSpPr>
            <a:spLocks xmlns:a="http://schemas.openxmlformats.org/drawingml/2006/main" noGrp="1"/>
          </p:cNvSpPr>
          <p:nvPr/>
        </p:nvSpPr>
        <p:spPr>
          <a:xfrm xmlns:a="http://schemas.openxmlformats.org/drawingml/2006/main">
            <a:off x="87630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Sodium</a:t>
            </a:r>
          </a:p>
        </p:txBody>
      </p:sp>
      <p:sp>
        <p:nvSpPr>
          <p:cNvPr id="13" name="">
            <a:extLst xmlns:a="http://schemas.openxmlformats.org/drawingml/2006/main">
              <a:ext uri="{FF2B5EF4-FFF2-40B4-BE49-F238E27FC236}">
                <a16:creationId xmlns:a16="http://schemas.microsoft.com/office/drawing/2014/main" id="{52A241A9-C745-4150-B421-4A0293E2690D}"/>
              </a:ext>
            </a:extLst>
          </p:cNvPr>
          <p:cNvSpPr>
            <a:spLocks xmlns:a="http://schemas.openxmlformats.org/drawingml/2006/main" noGrp="1"/>
          </p:cNvSpPr>
          <p:nvPr/>
        </p:nvSpPr>
        <p:spPr>
          <a:xfrm xmlns:a="http://schemas.openxmlformats.org/drawingml/2006/main">
            <a:off x="430530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BE01788-D169-46DF-B497-0888E9AABEC1}"/>
              </a:ext>
            </a:extLst>
          </p:cNvPr>
          <p:cNvSpPr>
            <a:spLocks xmlns:a="http://schemas.openxmlformats.org/drawingml/2006/main" noGrp="1"/>
          </p:cNvSpPr>
          <p:nvPr/>
        </p:nvSpPr>
        <p:spPr>
          <a:xfrm xmlns:a="http://schemas.openxmlformats.org/drawingml/2006/main">
            <a:off x="440055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135–145 mEq/L</a:t>
            </a:r>
          </a:p>
        </p:txBody>
      </p:sp>
      <p:sp>
        <p:nvSpPr>
          <p:cNvPr id="15" name="">
            <a:extLst xmlns:a="http://schemas.openxmlformats.org/drawingml/2006/main">
              <a:ext uri="{FF2B5EF4-FFF2-40B4-BE49-F238E27FC236}">
                <a16:creationId xmlns:a16="http://schemas.microsoft.com/office/drawing/2014/main" id="{9944832F-84D6-4880-9D52-795DBC130D77}"/>
              </a:ext>
            </a:extLst>
          </p:cNvPr>
          <p:cNvSpPr>
            <a:spLocks xmlns:a="http://schemas.openxmlformats.org/drawingml/2006/main" noGrp="1"/>
          </p:cNvSpPr>
          <p:nvPr/>
        </p:nvSpPr>
        <p:spPr>
          <a:xfrm xmlns:a="http://schemas.openxmlformats.org/drawingml/2006/main">
            <a:off x="782955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28605C7-068D-4EB9-8E95-F5186B049D9D}"/>
              </a:ext>
            </a:extLst>
          </p:cNvPr>
          <p:cNvSpPr>
            <a:spLocks xmlns:a="http://schemas.openxmlformats.org/drawingml/2006/main" noGrp="1"/>
          </p:cNvSpPr>
          <p:nvPr/>
        </p:nvSpPr>
        <p:spPr>
          <a:xfrm xmlns:a="http://schemas.openxmlformats.org/drawingml/2006/main">
            <a:off x="792480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Extracellular osmolality, water balance, nerve and muscle function</a:t>
            </a:r>
          </a:p>
        </p:txBody>
      </p:sp>
      <p:sp>
        <p:nvSpPr>
          <p:cNvPr id="17" name="">
            <a:extLst xmlns:a="http://schemas.openxmlformats.org/drawingml/2006/main">
              <a:ext uri="{FF2B5EF4-FFF2-40B4-BE49-F238E27FC236}">
                <a16:creationId xmlns:a16="http://schemas.microsoft.com/office/drawing/2014/main" id="{C424735C-E83E-4C3E-9325-679F6728F1F0}"/>
              </a:ext>
            </a:extLst>
          </p:cNvPr>
          <p:cNvSpPr>
            <a:spLocks xmlns:a="http://schemas.openxmlformats.org/drawingml/2006/main" noGrp="1"/>
          </p:cNvSpPr>
          <p:nvPr/>
        </p:nvSpPr>
        <p:spPr>
          <a:xfrm xmlns:a="http://schemas.openxmlformats.org/drawingml/2006/main">
            <a:off x="78105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C78069E-7988-41C7-A405-A333AA81F4EA}"/>
              </a:ext>
            </a:extLst>
          </p:cNvPr>
          <p:cNvSpPr>
            <a:spLocks xmlns:a="http://schemas.openxmlformats.org/drawingml/2006/main" noGrp="1"/>
          </p:cNvSpPr>
          <p:nvPr/>
        </p:nvSpPr>
        <p:spPr>
          <a:xfrm xmlns:a="http://schemas.openxmlformats.org/drawingml/2006/main">
            <a:off x="87630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Potassium</a:t>
            </a:r>
          </a:p>
        </p:txBody>
      </p:sp>
      <p:sp>
        <p:nvSpPr>
          <p:cNvPr id="19" name="">
            <a:extLst xmlns:a="http://schemas.openxmlformats.org/drawingml/2006/main">
              <a:ext uri="{FF2B5EF4-FFF2-40B4-BE49-F238E27FC236}">
                <a16:creationId xmlns:a16="http://schemas.microsoft.com/office/drawing/2014/main" id="{F62B117F-3C9B-4A5C-B06B-AC0F04AB9662}"/>
              </a:ext>
            </a:extLst>
          </p:cNvPr>
          <p:cNvSpPr>
            <a:spLocks xmlns:a="http://schemas.openxmlformats.org/drawingml/2006/main" noGrp="1"/>
          </p:cNvSpPr>
          <p:nvPr/>
        </p:nvSpPr>
        <p:spPr>
          <a:xfrm xmlns:a="http://schemas.openxmlformats.org/drawingml/2006/main">
            <a:off x="430530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A025DF3-0748-44E7-9702-982046D2DA71}"/>
              </a:ext>
            </a:extLst>
          </p:cNvPr>
          <p:cNvSpPr>
            <a:spLocks xmlns:a="http://schemas.openxmlformats.org/drawingml/2006/main" noGrp="1"/>
          </p:cNvSpPr>
          <p:nvPr/>
        </p:nvSpPr>
        <p:spPr>
          <a:xfrm xmlns:a="http://schemas.openxmlformats.org/drawingml/2006/main">
            <a:off x="440055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3.5–5.0 mEq/L</a:t>
            </a:r>
          </a:p>
        </p:txBody>
      </p:sp>
      <p:sp>
        <p:nvSpPr>
          <p:cNvPr id="21" name="">
            <a:extLst xmlns:a="http://schemas.openxmlformats.org/drawingml/2006/main">
              <a:ext uri="{FF2B5EF4-FFF2-40B4-BE49-F238E27FC236}">
                <a16:creationId xmlns:a16="http://schemas.microsoft.com/office/drawing/2014/main" id="{1C6821A5-FD19-4481-B46F-F6AE40DC3E42}"/>
              </a:ext>
            </a:extLst>
          </p:cNvPr>
          <p:cNvSpPr>
            <a:spLocks xmlns:a="http://schemas.openxmlformats.org/drawingml/2006/main" noGrp="1"/>
          </p:cNvSpPr>
          <p:nvPr/>
        </p:nvSpPr>
        <p:spPr>
          <a:xfrm xmlns:a="http://schemas.openxmlformats.org/drawingml/2006/main">
            <a:off x="782955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1CC2E6A-BF6C-4FAD-9D3F-C47FAD973276}"/>
              </a:ext>
            </a:extLst>
          </p:cNvPr>
          <p:cNvSpPr>
            <a:spLocks xmlns:a="http://schemas.openxmlformats.org/drawingml/2006/main" noGrp="1"/>
          </p:cNvSpPr>
          <p:nvPr/>
        </p:nvSpPr>
        <p:spPr>
          <a:xfrm xmlns:a="http://schemas.openxmlformats.org/drawingml/2006/main">
            <a:off x="792480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Cardiac conduction, muscle contraction, intracellular balance</a:t>
            </a:r>
          </a:p>
        </p:txBody>
      </p:sp>
      <p:sp>
        <p:nvSpPr>
          <p:cNvPr id="23" name="">
            <a:extLst xmlns:a="http://schemas.openxmlformats.org/drawingml/2006/main">
              <a:ext uri="{FF2B5EF4-FFF2-40B4-BE49-F238E27FC236}">
                <a16:creationId xmlns:a16="http://schemas.microsoft.com/office/drawing/2014/main" id="{9E982C66-465D-497F-A2E3-A16A62B7C02D}"/>
              </a:ext>
            </a:extLst>
          </p:cNvPr>
          <p:cNvSpPr>
            <a:spLocks xmlns:a="http://schemas.openxmlformats.org/drawingml/2006/main" noGrp="1"/>
          </p:cNvSpPr>
          <p:nvPr/>
        </p:nvSpPr>
        <p:spPr>
          <a:xfrm xmlns:a="http://schemas.openxmlformats.org/drawingml/2006/main">
            <a:off x="78105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74BBD26-A81E-4ED0-88F9-BC80161EC6D6}"/>
              </a:ext>
            </a:extLst>
          </p:cNvPr>
          <p:cNvSpPr>
            <a:spLocks xmlns:a="http://schemas.openxmlformats.org/drawingml/2006/main" noGrp="1"/>
          </p:cNvSpPr>
          <p:nvPr/>
        </p:nvSpPr>
        <p:spPr>
          <a:xfrm xmlns:a="http://schemas.openxmlformats.org/drawingml/2006/main">
            <a:off x="87630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Chloride</a:t>
            </a:r>
          </a:p>
        </p:txBody>
      </p:sp>
      <p:sp>
        <p:nvSpPr>
          <p:cNvPr id="25" name="">
            <a:extLst xmlns:a="http://schemas.openxmlformats.org/drawingml/2006/main">
              <a:ext uri="{FF2B5EF4-FFF2-40B4-BE49-F238E27FC236}">
                <a16:creationId xmlns:a16="http://schemas.microsoft.com/office/drawing/2014/main" id="{E8183347-99FD-4CD0-BA10-43EEE9AE61CB}"/>
              </a:ext>
            </a:extLst>
          </p:cNvPr>
          <p:cNvSpPr>
            <a:spLocks xmlns:a="http://schemas.openxmlformats.org/drawingml/2006/main" noGrp="1"/>
          </p:cNvSpPr>
          <p:nvPr/>
        </p:nvSpPr>
        <p:spPr>
          <a:xfrm xmlns:a="http://schemas.openxmlformats.org/drawingml/2006/main">
            <a:off x="430530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7A0F792-28D5-4CBF-BCCA-94021B4F9CAB}"/>
              </a:ext>
            </a:extLst>
          </p:cNvPr>
          <p:cNvSpPr>
            <a:spLocks xmlns:a="http://schemas.openxmlformats.org/drawingml/2006/main" noGrp="1"/>
          </p:cNvSpPr>
          <p:nvPr/>
        </p:nvSpPr>
        <p:spPr>
          <a:xfrm xmlns:a="http://schemas.openxmlformats.org/drawingml/2006/main">
            <a:off x="440055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96–106 mEq/L</a:t>
            </a:r>
          </a:p>
        </p:txBody>
      </p:sp>
      <p:sp>
        <p:nvSpPr>
          <p:cNvPr id="27" name="">
            <a:extLst xmlns:a="http://schemas.openxmlformats.org/drawingml/2006/main">
              <a:ext uri="{FF2B5EF4-FFF2-40B4-BE49-F238E27FC236}">
                <a16:creationId xmlns:a16="http://schemas.microsoft.com/office/drawing/2014/main" id="{7A3F534D-F884-4AD1-B695-02C89BD44203}"/>
              </a:ext>
            </a:extLst>
          </p:cNvPr>
          <p:cNvSpPr>
            <a:spLocks xmlns:a="http://schemas.openxmlformats.org/drawingml/2006/main" noGrp="1"/>
          </p:cNvSpPr>
          <p:nvPr/>
        </p:nvSpPr>
        <p:spPr>
          <a:xfrm xmlns:a="http://schemas.openxmlformats.org/drawingml/2006/main">
            <a:off x="782955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CFCEDB7-DB83-4CE6-8B23-4AC5F2C9F8CF}"/>
              </a:ext>
            </a:extLst>
          </p:cNvPr>
          <p:cNvSpPr>
            <a:spLocks xmlns:a="http://schemas.openxmlformats.org/drawingml/2006/main" noGrp="1"/>
          </p:cNvSpPr>
          <p:nvPr/>
        </p:nvSpPr>
        <p:spPr>
          <a:xfrm xmlns:a="http://schemas.openxmlformats.org/drawingml/2006/main">
            <a:off x="792480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Extracellular osmotic and acid-base balance</a:t>
            </a:r>
          </a:p>
        </p:txBody>
      </p:sp>
      <p:sp>
        <p:nvSpPr>
          <p:cNvPr id="29" name="">
            <a:extLst xmlns:a="http://schemas.openxmlformats.org/drawingml/2006/main">
              <a:ext uri="{FF2B5EF4-FFF2-40B4-BE49-F238E27FC236}">
                <a16:creationId xmlns:a16="http://schemas.microsoft.com/office/drawing/2014/main" id="{C5831886-6D11-401F-8AAE-2AE74AF93045}"/>
              </a:ext>
            </a:extLst>
          </p:cNvPr>
          <p:cNvSpPr>
            <a:spLocks xmlns:a="http://schemas.openxmlformats.org/drawingml/2006/main" noGrp="1"/>
          </p:cNvSpPr>
          <p:nvPr/>
        </p:nvSpPr>
        <p:spPr>
          <a:xfrm xmlns:a="http://schemas.openxmlformats.org/drawingml/2006/main">
            <a:off x="78105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2D13178-9155-460A-B6B0-7E64E48663AC}"/>
              </a:ext>
            </a:extLst>
          </p:cNvPr>
          <p:cNvSpPr>
            <a:spLocks xmlns:a="http://schemas.openxmlformats.org/drawingml/2006/main" noGrp="1"/>
          </p:cNvSpPr>
          <p:nvPr/>
        </p:nvSpPr>
        <p:spPr>
          <a:xfrm xmlns:a="http://schemas.openxmlformats.org/drawingml/2006/main">
            <a:off x="87630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Calcium</a:t>
            </a:r>
          </a:p>
        </p:txBody>
      </p:sp>
      <p:sp>
        <p:nvSpPr>
          <p:cNvPr id="31" name="">
            <a:extLst xmlns:a="http://schemas.openxmlformats.org/drawingml/2006/main">
              <a:ext uri="{FF2B5EF4-FFF2-40B4-BE49-F238E27FC236}">
                <a16:creationId xmlns:a16="http://schemas.microsoft.com/office/drawing/2014/main" id="{81E048E7-0254-4859-83D5-11B561C217A0}"/>
              </a:ext>
            </a:extLst>
          </p:cNvPr>
          <p:cNvSpPr>
            <a:spLocks xmlns:a="http://schemas.openxmlformats.org/drawingml/2006/main" noGrp="1"/>
          </p:cNvSpPr>
          <p:nvPr/>
        </p:nvSpPr>
        <p:spPr>
          <a:xfrm xmlns:a="http://schemas.openxmlformats.org/drawingml/2006/main">
            <a:off x="430530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C0F816E-2256-41C8-BE1A-81819C0F8AA0}"/>
              </a:ext>
            </a:extLst>
          </p:cNvPr>
          <p:cNvSpPr>
            <a:spLocks xmlns:a="http://schemas.openxmlformats.org/drawingml/2006/main" noGrp="1"/>
          </p:cNvSpPr>
          <p:nvPr/>
        </p:nvSpPr>
        <p:spPr>
          <a:xfrm xmlns:a="http://schemas.openxmlformats.org/drawingml/2006/main">
            <a:off x="440055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8.9–10.1 mg/dL</a:t>
            </a:r>
          </a:p>
        </p:txBody>
      </p:sp>
      <p:sp>
        <p:nvSpPr>
          <p:cNvPr id="33" name="">
            <a:extLst xmlns:a="http://schemas.openxmlformats.org/drawingml/2006/main">
              <a:ext uri="{FF2B5EF4-FFF2-40B4-BE49-F238E27FC236}">
                <a16:creationId xmlns:a16="http://schemas.microsoft.com/office/drawing/2014/main" id="{A8C9EE73-3B57-4651-93AB-8C1A0ECCEB26}"/>
              </a:ext>
            </a:extLst>
          </p:cNvPr>
          <p:cNvSpPr>
            <a:spLocks xmlns:a="http://schemas.openxmlformats.org/drawingml/2006/main" noGrp="1"/>
          </p:cNvSpPr>
          <p:nvPr/>
        </p:nvSpPr>
        <p:spPr>
          <a:xfrm xmlns:a="http://schemas.openxmlformats.org/drawingml/2006/main">
            <a:off x="782955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1D3AA81-78AB-45A9-A120-07E4B8836F3F}"/>
              </a:ext>
            </a:extLst>
          </p:cNvPr>
          <p:cNvSpPr>
            <a:spLocks xmlns:a="http://schemas.openxmlformats.org/drawingml/2006/main" noGrp="1"/>
          </p:cNvSpPr>
          <p:nvPr/>
        </p:nvSpPr>
        <p:spPr>
          <a:xfrm xmlns:a="http://schemas.openxmlformats.org/drawingml/2006/main">
            <a:off x="792480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22"/>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Bone, clotting, nerve signaling, muscle contraction</a:t>
            </a:r>
          </a:p>
        </p:txBody>
      </p:sp>
      <p:sp>
        <p:nvSpPr>
          <p:cNvPr id="35" name="">
            <a:extLst xmlns:a="http://schemas.openxmlformats.org/drawingml/2006/main">
              <a:ext uri="{FF2B5EF4-FFF2-40B4-BE49-F238E27FC236}">
                <a16:creationId xmlns:a16="http://schemas.microsoft.com/office/drawing/2014/main" id="{7825F621-3C46-42B2-A3DB-0B33B7F9456A}"/>
              </a:ext>
            </a:extLst>
          </p:cNvPr>
          <p:cNvSpPr>
            <a:spLocks xmlns:a="http://schemas.openxmlformats.org/drawingml/2006/main" noGrp="1"/>
          </p:cNvSpPr>
          <p:nvPr/>
        </p:nvSpPr>
        <p:spPr>
          <a:xfrm xmlns:a="http://schemas.openxmlformats.org/drawingml/2006/main">
            <a:off x="78105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AE0D45E2-E855-40A7-BE33-64623F8E7DB8}"/>
              </a:ext>
            </a:extLst>
          </p:cNvPr>
          <p:cNvSpPr>
            <a:spLocks xmlns:a="http://schemas.openxmlformats.org/drawingml/2006/main" noGrp="1"/>
          </p:cNvSpPr>
          <p:nvPr/>
        </p:nvSpPr>
        <p:spPr>
          <a:xfrm xmlns:a="http://schemas.openxmlformats.org/drawingml/2006/main">
            <a:off x="87630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Magnesium</a:t>
            </a:r>
          </a:p>
        </p:txBody>
      </p:sp>
      <p:sp>
        <p:nvSpPr>
          <p:cNvPr id="37" name="">
            <a:extLst xmlns:a="http://schemas.openxmlformats.org/drawingml/2006/main">
              <a:ext uri="{FF2B5EF4-FFF2-40B4-BE49-F238E27FC236}">
                <a16:creationId xmlns:a16="http://schemas.microsoft.com/office/drawing/2014/main" id="{C492EE7F-4283-49FF-A607-9D15B8FD704C}"/>
              </a:ext>
            </a:extLst>
          </p:cNvPr>
          <p:cNvSpPr>
            <a:spLocks xmlns:a="http://schemas.openxmlformats.org/drawingml/2006/main" noGrp="1"/>
          </p:cNvSpPr>
          <p:nvPr/>
        </p:nvSpPr>
        <p:spPr>
          <a:xfrm xmlns:a="http://schemas.openxmlformats.org/drawingml/2006/main">
            <a:off x="430530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70A48628-16A2-429A-95D1-142867DC1F3A}"/>
              </a:ext>
            </a:extLst>
          </p:cNvPr>
          <p:cNvSpPr>
            <a:spLocks xmlns:a="http://schemas.openxmlformats.org/drawingml/2006/main" noGrp="1"/>
          </p:cNvSpPr>
          <p:nvPr/>
        </p:nvSpPr>
        <p:spPr>
          <a:xfrm xmlns:a="http://schemas.openxmlformats.org/drawingml/2006/main">
            <a:off x="440055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1.5–2.5 mg/dL</a:t>
            </a:r>
          </a:p>
        </p:txBody>
      </p:sp>
      <p:sp>
        <p:nvSpPr>
          <p:cNvPr id="39" name="">
            <a:extLst xmlns:a="http://schemas.openxmlformats.org/drawingml/2006/main">
              <a:ext uri="{FF2B5EF4-FFF2-40B4-BE49-F238E27FC236}">
                <a16:creationId xmlns:a16="http://schemas.microsoft.com/office/drawing/2014/main" id="{74C2B179-1899-4B9E-B884-69B371E13767}"/>
              </a:ext>
            </a:extLst>
          </p:cNvPr>
          <p:cNvSpPr>
            <a:spLocks xmlns:a="http://schemas.openxmlformats.org/drawingml/2006/main" noGrp="1"/>
          </p:cNvSpPr>
          <p:nvPr/>
        </p:nvSpPr>
        <p:spPr>
          <a:xfrm xmlns:a="http://schemas.openxmlformats.org/drawingml/2006/main">
            <a:off x="782955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6D909EF7-92FE-4099-9369-AF95DEA5AEBA}"/>
              </a:ext>
            </a:extLst>
          </p:cNvPr>
          <p:cNvSpPr>
            <a:spLocks xmlns:a="http://schemas.openxmlformats.org/drawingml/2006/main" noGrp="1"/>
          </p:cNvSpPr>
          <p:nvPr/>
        </p:nvSpPr>
        <p:spPr>
          <a:xfrm xmlns:a="http://schemas.openxmlformats.org/drawingml/2006/main">
            <a:off x="792480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Neuromuscular function and enzyme activity</a:t>
            </a:r>
          </a:p>
        </p:txBody>
      </p:sp>
      <p:sp>
        <p:nvSpPr>
          <p:cNvPr id="41" name="">
            <a:extLst xmlns:a="http://schemas.openxmlformats.org/drawingml/2006/main">
              <a:ext uri="{FF2B5EF4-FFF2-40B4-BE49-F238E27FC236}">
                <a16:creationId xmlns:a16="http://schemas.microsoft.com/office/drawing/2014/main" id="{3C34D295-92AE-4B2F-89C9-B43D63862265}"/>
              </a:ext>
            </a:extLst>
          </p:cNvPr>
          <p:cNvSpPr>
            <a:spLocks xmlns:a="http://schemas.openxmlformats.org/drawingml/2006/main" noGrp="1"/>
          </p:cNvSpPr>
          <p:nvPr/>
        </p:nvSpPr>
        <p:spPr>
          <a:xfrm xmlns:a="http://schemas.openxmlformats.org/drawingml/2006/main">
            <a:off x="78105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B294A6E2-56B6-4375-B8C5-9C65B67687FA}"/>
              </a:ext>
            </a:extLst>
          </p:cNvPr>
          <p:cNvSpPr>
            <a:spLocks xmlns:a="http://schemas.openxmlformats.org/drawingml/2006/main" noGrp="1"/>
          </p:cNvSpPr>
          <p:nvPr/>
        </p:nvSpPr>
        <p:spPr>
          <a:xfrm xmlns:a="http://schemas.openxmlformats.org/drawingml/2006/main">
            <a:off x="87630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Phosphorus</a:t>
            </a:r>
          </a:p>
        </p:txBody>
      </p:sp>
      <p:sp>
        <p:nvSpPr>
          <p:cNvPr id="43" name="">
            <a:extLst xmlns:a="http://schemas.openxmlformats.org/drawingml/2006/main">
              <a:ext uri="{FF2B5EF4-FFF2-40B4-BE49-F238E27FC236}">
                <a16:creationId xmlns:a16="http://schemas.microsoft.com/office/drawing/2014/main" id="{8CC17998-1DB2-4990-AD97-A067AA16607A}"/>
              </a:ext>
            </a:extLst>
          </p:cNvPr>
          <p:cNvSpPr>
            <a:spLocks xmlns:a="http://schemas.openxmlformats.org/drawingml/2006/main" noGrp="1"/>
          </p:cNvSpPr>
          <p:nvPr/>
        </p:nvSpPr>
        <p:spPr>
          <a:xfrm xmlns:a="http://schemas.openxmlformats.org/drawingml/2006/main">
            <a:off x="430530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4" name="">
            <a:extLst xmlns:a="http://schemas.openxmlformats.org/drawingml/2006/main">
              <a:ext uri="{FF2B5EF4-FFF2-40B4-BE49-F238E27FC236}">
                <a16:creationId xmlns:a16="http://schemas.microsoft.com/office/drawing/2014/main" id="{643BD20A-F025-48B0-8D58-58A05C890486}"/>
              </a:ext>
            </a:extLst>
          </p:cNvPr>
          <p:cNvSpPr>
            <a:spLocks xmlns:a="http://schemas.openxmlformats.org/drawingml/2006/main" noGrp="1"/>
          </p:cNvSpPr>
          <p:nvPr/>
        </p:nvSpPr>
        <p:spPr>
          <a:xfrm xmlns:a="http://schemas.openxmlformats.org/drawingml/2006/main">
            <a:off x="440055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2.5–4.5 mg/dL</a:t>
            </a:r>
          </a:p>
        </p:txBody>
      </p:sp>
      <p:sp>
        <p:nvSpPr>
          <p:cNvPr id="45" name="">
            <a:extLst xmlns:a="http://schemas.openxmlformats.org/drawingml/2006/main">
              <a:ext uri="{FF2B5EF4-FFF2-40B4-BE49-F238E27FC236}">
                <a16:creationId xmlns:a16="http://schemas.microsoft.com/office/drawing/2014/main" id="{A8A55B0F-843F-4FFA-910D-C6DCC10DC7FE}"/>
              </a:ext>
            </a:extLst>
          </p:cNvPr>
          <p:cNvSpPr>
            <a:spLocks xmlns:a="http://schemas.openxmlformats.org/drawingml/2006/main" noGrp="1"/>
          </p:cNvSpPr>
          <p:nvPr/>
        </p:nvSpPr>
        <p:spPr>
          <a:xfrm xmlns:a="http://schemas.openxmlformats.org/drawingml/2006/main">
            <a:off x="782955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6" name="">
            <a:extLst xmlns:a="http://schemas.openxmlformats.org/drawingml/2006/main">
              <a:ext uri="{FF2B5EF4-FFF2-40B4-BE49-F238E27FC236}">
                <a16:creationId xmlns:a16="http://schemas.microsoft.com/office/drawing/2014/main" id="{B4032B1D-5D2F-45EE-9740-68EEA1960D68}"/>
              </a:ext>
            </a:extLst>
          </p:cNvPr>
          <p:cNvSpPr>
            <a:spLocks xmlns:a="http://schemas.openxmlformats.org/drawingml/2006/main" noGrp="1"/>
          </p:cNvSpPr>
          <p:nvPr/>
        </p:nvSpPr>
        <p:spPr>
          <a:xfrm xmlns:a="http://schemas.openxmlformats.org/drawingml/2006/main">
            <a:off x="792480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Energy metabolism, cells, bone, and acid-base buffering</a:t>
            </a:r>
          </a:p>
        </p:txBody>
      </p:sp>
      <p:sp>
        <p:nvSpPr>
          <p:cNvPr id="47" name="">
            <a:extLst xmlns:a="http://schemas.openxmlformats.org/drawingml/2006/main">
              <a:ext uri="{FF2B5EF4-FFF2-40B4-BE49-F238E27FC236}">
                <a16:creationId xmlns:a16="http://schemas.microsoft.com/office/drawing/2014/main" id="{F055ACF4-12FA-4E87-A827-5F4D6C7528C4}"/>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Reference ranges vary by laboratory, age, specimen type, albumin level, and clinical context. Use the reporting laboratory's range and evaluate trends rather than treating a single value in isolation.</a:t>
            </a:r>
          </a:p>
        </p:txBody>
      </p:sp>
    </p:spTree>
    <p:extLst>
      <p:ext uri="{BB962C8B-B14F-4D97-AF65-F5344CB8AC3E}">
        <p14:creationId xmlns:p14="http://schemas.microsoft.com/office/powerpoint/2010/main" val="128356087"/>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5A4655B-0E1F-4F53-B825-59707EBA4A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F789F4-8DD9-4179-8349-4EF8B7CA07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Sodium imbalance affects the brain and fluid balance</a:t>
            </a:r>
          </a:p>
        </p:txBody>
      </p:sp>
      <p:sp>
        <p:nvSpPr>
          <p:cNvPr id="3" name="">
            <a:extLst xmlns:a="http://schemas.openxmlformats.org/drawingml/2006/main">
              <a:ext uri="{FF2B5EF4-FFF2-40B4-BE49-F238E27FC236}">
                <a16:creationId xmlns:a16="http://schemas.microsoft.com/office/drawing/2014/main" id="{4903D926-6E19-4135-A493-851A9B2522B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E559E01-5D4C-4E4D-9B4C-E9A75128BD1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DCADBDD5-7005-4525-AAE0-96082CE89DE2}"/>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F356C2E-CA25-4A58-A6BC-653CD091EB1C}"/>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957BDE16-AFC9-4541-BA8F-EE6B18B133F2}"/>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158F8E6-F57A-4550-BD47-0327962E8B62}"/>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9" name="">
            <a:extLst xmlns:a="http://schemas.openxmlformats.org/drawingml/2006/main">
              <a:ext uri="{FF2B5EF4-FFF2-40B4-BE49-F238E27FC236}">
                <a16:creationId xmlns:a16="http://schemas.microsoft.com/office/drawing/2014/main" id="{4EDD3023-64AA-4AD9-B046-39DCABAB44CD}"/>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A8DE30C-EA66-484E-9EB3-601A57E3A58E}"/>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1" name="">
            <a:extLst xmlns:a="http://schemas.openxmlformats.org/drawingml/2006/main">
              <a:ext uri="{FF2B5EF4-FFF2-40B4-BE49-F238E27FC236}">
                <a16:creationId xmlns:a16="http://schemas.microsoft.com/office/drawing/2014/main" id="{B00D3538-6C33-451D-A9AA-DFCCB43F51E9}"/>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9C6A7EB-7596-474A-99D3-D4281CA02F6D}"/>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Hypernatremia</a:t>
            </a:r>
          </a:p>
        </p:txBody>
      </p:sp>
      <p:sp>
        <p:nvSpPr>
          <p:cNvPr id="13" name="">
            <a:extLst xmlns:a="http://schemas.openxmlformats.org/drawingml/2006/main">
              <a:ext uri="{FF2B5EF4-FFF2-40B4-BE49-F238E27FC236}">
                <a16:creationId xmlns:a16="http://schemas.microsoft.com/office/drawing/2014/main" id="{6424E749-DBDA-41E9-9507-4BEF7633BB95}"/>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F9C4D28-A858-49D5-9FFD-BD625D061B72}"/>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Thirst, irritability, weakness, altered mental status; severe cases may progress to seizures</a:t>
            </a:r>
          </a:p>
        </p:txBody>
      </p:sp>
      <p:sp>
        <p:nvSpPr>
          <p:cNvPr id="15" name="">
            <a:extLst xmlns:a="http://schemas.openxmlformats.org/drawingml/2006/main">
              <a:ext uri="{FF2B5EF4-FFF2-40B4-BE49-F238E27FC236}">
                <a16:creationId xmlns:a16="http://schemas.microsoft.com/office/drawing/2014/main" id="{137BCEF7-7BF1-481F-B41D-696FD08D57E1}"/>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422412F-285E-475A-B856-50802D108E09}"/>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water loss, sodium gain, fluid balance, neurologic status, and ordered correction rate</a:t>
            </a:r>
          </a:p>
        </p:txBody>
      </p:sp>
      <p:sp>
        <p:nvSpPr>
          <p:cNvPr id="17" name="">
            <a:extLst xmlns:a="http://schemas.openxmlformats.org/drawingml/2006/main">
              <a:ext uri="{FF2B5EF4-FFF2-40B4-BE49-F238E27FC236}">
                <a16:creationId xmlns:a16="http://schemas.microsoft.com/office/drawing/2014/main" id="{BC5F0B13-586E-4C68-9C71-06281F8D8790}"/>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20BBF29-49B8-445B-979F-0A0BD2EE9913}"/>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Hyponatremia</a:t>
            </a:r>
          </a:p>
        </p:txBody>
      </p:sp>
      <p:sp>
        <p:nvSpPr>
          <p:cNvPr id="19" name="">
            <a:extLst xmlns:a="http://schemas.openxmlformats.org/drawingml/2006/main">
              <a:ext uri="{FF2B5EF4-FFF2-40B4-BE49-F238E27FC236}">
                <a16:creationId xmlns:a16="http://schemas.microsoft.com/office/drawing/2014/main" id="{073932DC-9D8C-4449-B5A9-1B65A29876CB}"/>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DC8EFCC-C3A1-40FA-8DDC-49B475AFA85C}"/>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Headache, nausea, confusion, fatigue, muscle weakness; severe or rapid decline may cause seizures</a:t>
            </a:r>
          </a:p>
        </p:txBody>
      </p:sp>
      <p:sp>
        <p:nvSpPr>
          <p:cNvPr id="21" name="">
            <a:extLst xmlns:a="http://schemas.openxmlformats.org/drawingml/2006/main">
              <a:ext uri="{FF2B5EF4-FFF2-40B4-BE49-F238E27FC236}">
                <a16:creationId xmlns:a16="http://schemas.microsoft.com/office/drawing/2014/main" id="{FAA9079C-5165-4BFD-9D80-B3470BF54666}"/>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2944C15-DCFE-400B-B62B-45003F1DD52B}"/>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hypotonic fluids, excess free water, diuretics, GI losses, glucose, and the ordered correction plan</a:t>
            </a:r>
          </a:p>
        </p:txBody>
      </p:sp>
      <p:sp>
        <p:nvSpPr>
          <p:cNvPr id="23" name="">
            <a:extLst xmlns:a="http://schemas.openxmlformats.org/drawingml/2006/main">
              <a:ext uri="{FF2B5EF4-FFF2-40B4-BE49-F238E27FC236}">
                <a16:creationId xmlns:a16="http://schemas.microsoft.com/office/drawing/2014/main" id="{CC5611A7-8886-4B89-B037-0699846E967B}"/>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Rapid sodium correction can cause severe neurologic injury. Verify the solution, concentration, pump settings, monitoring schedule, and prescribed rate. Escalate acute neurologic changes immediately.</a:t>
            </a:r>
          </a:p>
        </p:txBody>
      </p:sp>
    </p:spTree>
    <p:extLst>
      <p:ext uri="{BB962C8B-B14F-4D97-AF65-F5344CB8AC3E}">
        <p14:creationId xmlns:p14="http://schemas.microsoft.com/office/powerpoint/2010/main" val="932375370"/>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3500940-FE73-445F-B2E5-8BF0702F26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289535-D0CA-4BCD-8C96-B5EAF337EC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imbalance can become a cardiac emergency</a:t>
            </a:r>
          </a:p>
        </p:txBody>
      </p:sp>
      <p:sp>
        <p:nvSpPr>
          <p:cNvPr id="3" name="">
            <a:extLst xmlns:a="http://schemas.openxmlformats.org/drawingml/2006/main">
              <a:ext uri="{FF2B5EF4-FFF2-40B4-BE49-F238E27FC236}">
                <a16:creationId xmlns:a16="http://schemas.microsoft.com/office/drawing/2014/main" id="{0A62074F-B8F4-462F-8774-A66BC2F5A9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C5978F9-4EB3-4EE2-98B3-9BE4BC3CC1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DC8D4BC6-1B3D-4B5D-8825-415818E9D8DF}"/>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F536874-55E0-43C0-A7DA-E17F08F33244}"/>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06E1B488-E200-422B-9D3F-D6155FDAF320}"/>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A05F29A-D032-4D12-996F-4931DABF2E09}"/>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9" name="">
            <a:extLst xmlns:a="http://schemas.openxmlformats.org/drawingml/2006/main">
              <a:ext uri="{FF2B5EF4-FFF2-40B4-BE49-F238E27FC236}">
                <a16:creationId xmlns:a16="http://schemas.microsoft.com/office/drawing/2014/main" id="{9CFA7FAD-4178-43CD-B0CE-5F30E31D55BF}"/>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FBC917A-7C08-41D9-9E03-908A67C70F49}"/>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1" name="">
            <a:extLst xmlns:a="http://schemas.openxmlformats.org/drawingml/2006/main">
              <a:ext uri="{FF2B5EF4-FFF2-40B4-BE49-F238E27FC236}">
                <a16:creationId xmlns:a16="http://schemas.microsoft.com/office/drawing/2014/main" id="{4A6B2473-05A8-4B0E-BB5E-77718F50EBF4}"/>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62700D7-16B7-4B1D-B8CA-97FEEC695109}"/>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Hyperkalemia</a:t>
            </a:r>
          </a:p>
        </p:txBody>
      </p:sp>
      <p:sp>
        <p:nvSpPr>
          <p:cNvPr id="13" name="">
            <a:extLst xmlns:a="http://schemas.openxmlformats.org/drawingml/2006/main">
              <a:ext uri="{FF2B5EF4-FFF2-40B4-BE49-F238E27FC236}">
                <a16:creationId xmlns:a16="http://schemas.microsoft.com/office/drawing/2014/main" id="{BFE4F0E2-043E-4242-A186-4C5E56D0A4C8}"/>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BD57111-208E-4BDA-B529-5054D2F98853}"/>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weakness, paresthesia, nausea, bradycardia or other dysrhythmias; ECG changes may occur</a:t>
            </a:r>
          </a:p>
        </p:txBody>
      </p:sp>
      <p:sp>
        <p:nvSpPr>
          <p:cNvPr id="15" name="">
            <a:extLst xmlns:a="http://schemas.openxmlformats.org/drawingml/2006/main">
              <a:ext uri="{FF2B5EF4-FFF2-40B4-BE49-F238E27FC236}">
                <a16:creationId xmlns:a16="http://schemas.microsoft.com/office/drawing/2014/main" id="{B7D64930-5BF0-4AB7-ACC8-797B87C398B6}"/>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692C019-1FCF-4719-8207-F0FD61DC61CA}"/>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and clarify potassium-containing therapy when results or symptoms conflict with the order; obtain urgent assessment</a:t>
            </a:r>
          </a:p>
        </p:txBody>
      </p:sp>
      <p:sp>
        <p:nvSpPr>
          <p:cNvPr id="17" name="">
            <a:extLst xmlns:a="http://schemas.openxmlformats.org/drawingml/2006/main">
              <a:ext uri="{FF2B5EF4-FFF2-40B4-BE49-F238E27FC236}">
                <a16:creationId xmlns:a16="http://schemas.microsoft.com/office/drawing/2014/main" id="{DF7B44D1-0CF4-43B4-A794-2DE903199A57}"/>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1458D47-8920-4C7A-9C97-7983269076AD}"/>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Hypokalemia</a:t>
            </a:r>
          </a:p>
        </p:txBody>
      </p:sp>
      <p:sp>
        <p:nvSpPr>
          <p:cNvPr id="19" name="">
            <a:extLst xmlns:a="http://schemas.openxmlformats.org/drawingml/2006/main">
              <a:ext uri="{FF2B5EF4-FFF2-40B4-BE49-F238E27FC236}">
                <a16:creationId xmlns:a16="http://schemas.microsoft.com/office/drawing/2014/main" id="{F4005FB1-28B6-422A-8149-5903606C1304}"/>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C7B3D76-D1E8-4645-8754-F3B81255EABE}"/>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cramps, constipation, weak or irregular pulse; ECG changes and dysrhythmias may occur</a:t>
            </a:r>
          </a:p>
        </p:txBody>
      </p:sp>
      <p:sp>
        <p:nvSpPr>
          <p:cNvPr id="21" name="">
            <a:extLst xmlns:a="http://schemas.openxmlformats.org/drawingml/2006/main">
              <a:ext uri="{FF2B5EF4-FFF2-40B4-BE49-F238E27FC236}">
                <a16:creationId xmlns:a16="http://schemas.microsoft.com/office/drawing/2014/main" id="{86A53A03-0723-4D82-B02D-620707824152}"/>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49894E7-1A3F-402D-A151-DF6D19B31B34}"/>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GI loss, diuretics, insulin effect, and magnesium; verify replacement concentration and rate</a:t>
            </a:r>
          </a:p>
        </p:txBody>
      </p:sp>
      <p:sp>
        <p:nvSpPr>
          <p:cNvPr id="23" name="">
            <a:extLst xmlns:a="http://schemas.openxmlformats.org/drawingml/2006/main">
              <a:ext uri="{FF2B5EF4-FFF2-40B4-BE49-F238E27FC236}">
                <a16:creationId xmlns:a16="http://schemas.microsoft.com/office/drawing/2014/main" id="{052C85D2-3C1F-4197-8051-2461DAD7BA3A}"/>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Never give potassium by IV push. Use the ordered dilution, route, pump, monitoring, and maximum rate for the care setting. Confirm adequate renal function and urine output as required by policy.</a:t>
            </a:r>
          </a:p>
        </p:txBody>
      </p:sp>
    </p:spTree>
    <p:extLst>
      <p:ext uri="{BB962C8B-B14F-4D97-AF65-F5344CB8AC3E}">
        <p14:creationId xmlns:p14="http://schemas.microsoft.com/office/powerpoint/2010/main" val="2096425880"/>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DCDFF8-3DC0-4CBF-8464-DBC3D60387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C722E4-B94C-4B61-8958-5FCA4B1473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3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Calcium imbalance changes neuromuscular and cardiac function</a:t>
            </a:r>
          </a:p>
        </p:txBody>
      </p:sp>
      <p:sp>
        <p:nvSpPr>
          <p:cNvPr id="3" name="">
            <a:extLst xmlns:a="http://schemas.openxmlformats.org/drawingml/2006/main">
              <a:ext uri="{FF2B5EF4-FFF2-40B4-BE49-F238E27FC236}">
                <a16:creationId xmlns:a16="http://schemas.microsoft.com/office/drawing/2014/main" id="{E5F98439-23AC-4C89-B5DF-180943BCD4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74EC42B-F085-4F99-ABEE-6EAA53131D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16A9429B-71D3-4AF4-B3E5-6F72FBFE2EB2}"/>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CE049A43-54C5-4448-994B-98C539F65D28}"/>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F69DE8F2-0BFA-44A6-BBAE-A4758F6AD058}"/>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B3E8308-169B-4C01-BA66-E238FC9C9323}"/>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9" name="">
            <a:extLst xmlns:a="http://schemas.openxmlformats.org/drawingml/2006/main">
              <a:ext uri="{FF2B5EF4-FFF2-40B4-BE49-F238E27FC236}">
                <a16:creationId xmlns:a16="http://schemas.microsoft.com/office/drawing/2014/main" id="{361E3ADF-F11C-43D5-B2B1-7A3C4730DD3D}"/>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67188ED-2B5F-4AAB-BCB6-FCDCCE422DD3}"/>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1" name="">
            <a:extLst xmlns:a="http://schemas.openxmlformats.org/drawingml/2006/main">
              <a:ext uri="{FF2B5EF4-FFF2-40B4-BE49-F238E27FC236}">
                <a16:creationId xmlns:a16="http://schemas.microsoft.com/office/drawing/2014/main" id="{AE61BAEA-D950-4B01-827F-09C184D8E4A9}"/>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BD86041-28DF-49DE-8691-8C00D6FA49FC}"/>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Hypercalcemia</a:t>
            </a:r>
          </a:p>
        </p:txBody>
      </p:sp>
      <p:sp>
        <p:nvSpPr>
          <p:cNvPr id="13" name="">
            <a:extLst xmlns:a="http://schemas.openxmlformats.org/drawingml/2006/main">
              <a:ext uri="{FF2B5EF4-FFF2-40B4-BE49-F238E27FC236}">
                <a16:creationId xmlns:a16="http://schemas.microsoft.com/office/drawing/2014/main" id="{B852FF65-DAC7-4812-A24E-F4D31952E7DD}"/>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ACB0FD9-A6CF-4562-880B-AB0A8DB7D78A}"/>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Fatigue, weakness, nausea, constipation, dehydration, confusion, shortened QT or dysrhythmia</a:t>
            </a:r>
          </a:p>
        </p:txBody>
      </p:sp>
      <p:sp>
        <p:nvSpPr>
          <p:cNvPr id="15" name="">
            <a:extLst xmlns:a="http://schemas.openxmlformats.org/drawingml/2006/main">
              <a:ext uri="{FF2B5EF4-FFF2-40B4-BE49-F238E27FC236}">
                <a16:creationId xmlns:a16="http://schemas.microsoft.com/office/drawing/2014/main" id="{63FB238F-269F-4124-B1CE-865D1C455F8F}"/>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A7EF9CF-94B9-44AB-A795-89F582AA6E83}"/>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hydration, renal function, medications, ECG when indicated, and the ordered treatment response</a:t>
            </a:r>
          </a:p>
        </p:txBody>
      </p:sp>
      <p:sp>
        <p:nvSpPr>
          <p:cNvPr id="17" name="">
            <a:extLst xmlns:a="http://schemas.openxmlformats.org/drawingml/2006/main">
              <a:ext uri="{FF2B5EF4-FFF2-40B4-BE49-F238E27FC236}">
                <a16:creationId xmlns:a16="http://schemas.microsoft.com/office/drawing/2014/main" id="{17FA8915-8286-4B1B-9949-4B40F54A3366}"/>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0D1F622-C60F-40A8-A9C2-FEDA7F40CAC4}"/>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Hypocalcemia</a:t>
            </a:r>
          </a:p>
        </p:txBody>
      </p:sp>
      <p:sp>
        <p:nvSpPr>
          <p:cNvPr id="19" name="">
            <a:extLst xmlns:a="http://schemas.openxmlformats.org/drawingml/2006/main">
              <a:ext uri="{FF2B5EF4-FFF2-40B4-BE49-F238E27FC236}">
                <a16:creationId xmlns:a16="http://schemas.microsoft.com/office/drawing/2014/main" id="{BCD797DC-27B1-4646-B63C-ACC7877C3F78}"/>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5E6024C-6FFE-493E-9EE0-EC715519F2E2}"/>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Perioral or fingertip tingling, cramps, tetany, hyperreflexia, possible laryngospasm, prolonged QT or dysrhythmia</a:t>
            </a:r>
          </a:p>
        </p:txBody>
      </p:sp>
      <p:sp>
        <p:nvSpPr>
          <p:cNvPr id="21" name="">
            <a:extLst xmlns:a="http://schemas.openxmlformats.org/drawingml/2006/main">
              <a:ext uri="{FF2B5EF4-FFF2-40B4-BE49-F238E27FC236}">
                <a16:creationId xmlns:a16="http://schemas.microsoft.com/office/drawing/2014/main" id="{7CBF9EFD-C8C2-44F7-87DB-E29767869E42}"/>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052AF21-FC00-4CB1-9997-AAB12764BD10}"/>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 airway symptoms, seizures, tetany, or ECG changes; verify calcium product and compatibility</a:t>
            </a:r>
          </a:p>
        </p:txBody>
      </p:sp>
      <p:sp>
        <p:nvSpPr>
          <p:cNvPr id="23" name="">
            <a:extLst xmlns:a="http://schemas.openxmlformats.org/drawingml/2006/main">
              <a:ext uri="{FF2B5EF4-FFF2-40B4-BE49-F238E27FC236}">
                <a16:creationId xmlns:a16="http://schemas.microsoft.com/office/drawing/2014/main" id="{E07AD608-73CE-4CFC-876E-BE8E2D77D389}"/>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Total calcium may be influenced by albumin. Ionized calcium may better reflect physiologically active calcium in selected patients. IV calcium products are not interchangeable and require order-specific administration.</a:t>
            </a:r>
          </a:p>
        </p:txBody>
      </p:sp>
    </p:spTree>
    <p:extLst>
      <p:ext uri="{BB962C8B-B14F-4D97-AF65-F5344CB8AC3E}">
        <p14:creationId xmlns:p14="http://schemas.microsoft.com/office/powerpoint/2010/main" val="1630141267"/>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DCDD795-A6CB-4C82-95D5-0D9DDD3BA2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12DD7B-7F9B-4031-923F-F73B915372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Magnesium and phosphorus support muscle, nerve, and cellular energy</a:t>
            </a:r>
          </a:p>
        </p:txBody>
      </p:sp>
      <p:sp>
        <p:nvSpPr>
          <p:cNvPr id="3" name="">
            <a:extLst xmlns:a="http://schemas.openxmlformats.org/drawingml/2006/main">
              <a:ext uri="{FF2B5EF4-FFF2-40B4-BE49-F238E27FC236}">
                <a16:creationId xmlns:a16="http://schemas.microsoft.com/office/drawing/2014/main" id="{7840DF17-632D-43EC-AC1D-868F24B68E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38B1DFF-EEC2-4566-A0D4-A021339EE15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FD426B6B-FD1C-4ACF-A6DB-9100DE492E2C}"/>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69E6235C-3977-4D28-B2C7-C2656EB80083}"/>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Imbalance</a:t>
            </a:r>
          </a:p>
        </p:txBody>
      </p:sp>
      <p:sp>
        <p:nvSpPr>
          <p:cNvPr id="7" name="">
            <a:extLst xmlns:a="http://schemas.openxmlformats.org/drawingml/2006/main">
              <a:ext uri="{FF2B5EF4-FFF2-40B4-BE49-F238E27FC236}">
                <a16:creationId xmlns:a16="http://schemas.microsoft.com/office/drawing/2014/main" id="{3464400F-05D3-4DDC-83F4-65956894E3C9}"/>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4A845B7-AB8E-40A8-801C-3AEF624D0390}"/>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9" name="">
            <a:extLst xmlns:a="http://schemas.openxmlformats.org/drawingml/2006/main">
              <a:ext uri="{FF2B5EF4-FFF2-40B4-BE49-F238E27FC236}">
                <a16:creationId xmlns:a16="http://schemas.microsoft.com/office/drawing/2014/main" id="{709E8F7D-69FE-42F3-9139-2CCFB7CEAC93}"/>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093BC08-DAE9-4ABF-B264-F25B13380AE6}"/>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a:t>
            </a:r>
          </a:p>
        </p:txBody>
      </p:sp>
      <p:sp>
        <p:nvSpPr>
          <p:cNvPr id="11" name="">
            <a:extLst xmlns:a="http://schemas.openxmlformats.org/drawingml/2006/main">
              <a:ext uri="{FF2B5EF4-FFF2-40B4-BE49-F238E27FC236}">
                <a16:creationId xmlns:a16="http://schemas.microsoft.com/office/drawing/2014/main" id="{1796FB4C-0197-4FD8-A24C-B5EE95FEBAC0}"/>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9967FB2-C86A-46A2-8A7F-0CE2D76C7FF0}"/>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magnesium</a:t>
            </a:r>
          </a:p>
        </p:txBody>
      </p:sp>
      <p:sp>
        <p:nvSpPr>
          <p:cNvPr id="13" name="">
            <a:extLst xmlns:a="http://schemas.openxmlformats.org/drawingml/2006/main">
              <a:ext uri="{FF2B5EF4-FFF2-40B4-BE49-F238E27FC236}">
                <a16:creationId xmlns:a16="http://schemas.microsoft.com/office/drawing/2014/main" id="{FFBFB7AE-35FC-4DC5-9E0E-609067D447F0}"/>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AFB3D14-C067-40B1-B701-048884A6D532}"/>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Lethargy, weakness, hypotension, bradycardia, reduced reflexes, respiratory depression</a:t>
            </a:r>
          </a:p>
        </p:txBody>
      </p:sp>
      <p:sp>
        <p:nvSpPr>
          <p:cNvPr id="15" name="">
            <a:extLst xmlns:a="http://schemas.openxmlformats.org/drawingml/2006/main">
              <a:ext uri="{FF2B5EF4-FFF2-40B4-BE49-F238E27FC236}">
                <a16:creationId xmlns:a16="http://schemas.microsoft.com/office/drawing/2014/main" id="{B5E822F0-0BD4-4234-87A4-D8300D868C41}"/>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84559AC-0713-4DBF-9881-A456BF2A78B1}"/>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3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magnesium therapy when authorized, assess airway and circulation, notify immediately, and follow the emergency protocol</a:t>
            </a:r>
          </a:p>
        </p:txBody>
      </p:sp>
      <p:sp>
        <p:nvSpPr>
          <p:cNvPr id="17" name="">
            <a:extLst xmlns:a="http://schemas.openxmlformats.org/drawingml/2006/main">
              <a:ext uri="{FF2B5EF4-FFF2-40B4-BE49-F238E27FC236}">
                <a16:creationId xmlns:a16="http://schemas.microsoft.com/office/drawing/2014/main" id="{A0537397-401C-4E71-A6A1-A5DD68C2B033}"/>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B4D3791-0A71-4ED0-844A-BC7192627CFA}"/>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magnesium</a:t>
            </a:r>
          </a:p>
        </p:txBody>
      </p:sp>
      <p:sp>
        <p:nvSpPr>
          <p:cNvPr id="19" name="">
            <a:extLst xmlns:a="http://schemas.openxmlformats.org/drawingml/2006/main">
              <a:ext uri="{FF2B5EF4-FFF2-40B4-BE49-F238E27FC236}">
                <a16:creationId xmlns:a16="http://schemas.microsoft.com/office/drawing/2014/main" id="{5BF1A3B8-F234-4A15-82CD-12DC083A094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DC8D7DF-9BD3-4E79-803B-01B62FDB11D4}"/>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Tremor, cramps, hyperreflexia, confusion, seizures, prolonged QT or dysrhythmias</a:t>
            </a:r>
          </a:p>
        </p:txBody>
      </p:sp>
      <p:sp>
        <p:nvSpPr>
          <p:cNvPr id="21" name="">
            <a:extLst xmlns:a="http://schemas.openxmlformats.org/drawingml/2006/main">
              <a:ext uri="{FF2B5EF4-FFF2-40B4-BE49-F238E27FC236}">
                <a16:creationId xmlns:a16="http://schemas.microsoft.com/office/drawing/2014/main" id="{50299810-828B-400C-BCAF-EAC93098AC97}"/>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362147C-C83D-478B-BBB4-6B36AC4E7E4E}"/>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related potassium and calcium abnormalities; verify replacement rate and monitoring</a:t>
            </a:r>
          </a:p>
        </p:txBody>
      </p:sp>
      <p:sp>
        <p:nvSpPr>
          <p:cNvPr id="23" name="">
            <a:extLst xmlns:a="http://schemas.openxmlformats.org/drawingml/2006/main">
              <a:ext uri="{FF2B5EF4-FFF2-40B4-BE49-F238E27FC236}">
                <a16:creationId xmlns:a16="http://schemas.microsoft.com/office/drawing/2014/main" id="{2031B48D-3932-4247-A026-A1A6F0933C79}"/>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D7F0922-DF3B-4FCC-A8B2-2E8D4165C4CF}"/>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phosphorus</a:t>
            </a:r>
          </a:p>
        </p:txBody>
      </p:sp>
      <p:sp>
        <p:nvSpPr>
          <p:cNvPr id="25" name="">
            <a:extLst xmlns:a="http://schemas.openxmlformats.org/drawingml/2006/main">
              <a:ext uri="{FF2B5EF4-FFF2-40B4-BE49-F238E27FC236}">
                <a16:creationId xmlns:a16="http://schemas.microsoft.com/office/drawing/2014/main" id="{CC7E7769-7EC1-4AB3-BE64-1507D4514EE2}"/>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6F6D5DD-29AC-4914-BFDA-963543537F6D}"/>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reflects renal dysfunction; symptoms may relate to low calcium, including tingling, cramps, or tetany</a:t>
            </a:r>
          </a:p>
        </p:txBody>
      </p:sp>
      <p:sp>
        <p:nvSpPr>
          <p:cNvPr id="27" name="">
            <a:extLst xmlns:a="http://schemas.openxmlformats.org/drawingml/2006/main">
              <a:ext uri="{FF2B5EF4-FFF2-40B4-BE49-F238E27FC236}">
                <a16:creationId xmlns:a16="http://schemas.microsoft.com/office/drawing/2014/main" id="{CFA14521-3230-46DE-9D07-E519DED167AD}"/>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77251BA-E15F-4175-9638-9C77C54B627A}"/>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renal function, calcium, medications, and the prescribed plan</a:t>
            </a:r>
          </a:p>
        </p:txBody>
      </p:sp>
      <p:sp>
        <p:nvSpPr>
          <p:cNvPr id="29" name="">
            <a:extLst xmlns:a="http://schemas.openxmlformats.org/drawingml/2006/main">
              <a:ext uri="{FF2B5EF4-FFF2-40B4-BE49-F238E27FC236}">
                <a16:creationId xmlns:a16="http://schemas.microsoft.com/office/drawing/2014/main" id="{5F29446B-BAC7-4E13-A84C-A952DC0EE06B}"/>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A12CE07-75B7-4F0E-A4E4-33EE28366663}"/>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phosphorus</a:t>
            </a:r>
          </a:p>
        </p:txBody>
      </p:sp>
      <p:sp>
        <p:nvSpPr>
          <p:cNvPr id="31" name="">
            <a:extLst xmlns:a="http://schemas.openxmlformats.org/drawingml/2006/main">
              <a:ext uri="{FF2B5EF4-FFF2-40B4-BE49-F238E27FC236}">
                <a16:creationId xmlns:a16="http://schemas.microsoft.com/office/drawing/2014/main" id="{81B12FF1-3153-4DAF-80D5-057E6799C11D}"/>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1CAFADC5-287F-45B1-872F-28374DD0651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confusion, impaired respiratory muscle function, rhabdomyolysis in severe cases</a:t>
            </a:r>
          </a:p>
        </p:txBody>
      </p:sp>
      <p:sp>
        <p:nvSpPr>
          <p:cNvPr id="33" name="">
            <a:extLst xmlns:a="http://schemas.openxmlformats.org/drawingml/2006/main">
              <a:ext uri="{FF2B5EF4-FFF2-40B4-BE49-F238E27FC236}">
                <a16:creationId xmlns:a16="http://schemas.microsoft.com/office/drawing/2014/main" id="{9E4EAA1B-23F7-4610-9EBB-2F8F71B86620}"/>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1CD1FDA-B2E6-4039-A160-FCF13004F98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nutrition and refeeding risk; verify replacement product, route, and monitoring</a:t>
            </a:r>
          </a:p>
        </p:txBody>
      </p:sp>
    </p:spTree>
    <p:extLst>
      <p:ext uri="{BB962C8B-B14F-4D97-AF65-F5344CB8AC3E}">
        <p14:creationId xmlns:p14="http://schemas.microsoft.com/office/powerpoint/2010/main" val="1112680382"/>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4B0B15A-9F6F-45EC-9F36-6119F6BDB7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7CF1C0-AF4A-46E2-ABC9-7C98318BC2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Chloride findings must be interpreted with sodium and acid-base status</a:t>
            </a:r>
          </a:p>
        </p:txBody>
      </p:sp>
      <p:sp>
        <p:nvSpPr>
          <p:cNvPr id="3" name="">
            <a:extLst xmlns:a="http://schemas.openxmlformats.org/drawingml/2006/main">
              <a:ext uri="{FF2B5EF4-FFF2-40B4-BE49-F238E27FC236}">
                <a16:creationId xmlns:a16="http://schemas.microsoft.com/office/drawing/2014/main" id="{D710D1CE-A4C8-4789-A29C-2183D61EA8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B036321-6297-4FAE-8BBD-EB53C2DE81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D7C71F65-3C82-4AC1-A8BA-2B4A347209ED}"/>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2E7933B-AA41-4CCE-956B-7CF52A56C261}"/>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81A67731-2DB1-4901-91AD-5A873C9DB088}"/>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FC45580-198F-40FF-9701-5422BCE6492D}"/>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clinical association</a:t>
            </a:r>
          </a:p>
        </p:txBody>
      </p:sp>
      <p:sp>
        <p:nvSpPr>
          <p:cNvPr id="9" name="">
            <a:extLst xmlns:a="http://schemas.openxmlformats.org/drawingml/2006/main">
              <a:ext uri="{FF2B5EF4-FFF2-40B4-BE49-F238E27FC236}">
                <a16:creationId xmlns:a16="http://schemas.microsoft.com/office/drawing/2014/main" id="{B0504155-E49C-44AF-A878-F396179C8251}"/>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FEFBD0A-CAF1-41B2-A94A-6DB9D10A23A8}"/>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focus</a:t>
            </a:r>
          </a:p>
        </p:txBody>
      </p:sp>
      <p:sp>
        <p:nvSpPr>
          <p:cNvPr id="11" name="">
            <a:extLst xmlns:a="http://schemas.openxmlformats.org/drawingml/2006/main">
              <a:ext uri="{FF2B5EF4-FFF2-40B4-BE49-F238E27FC236}">
                <a16:creationId xmlns:a16="http://schemas.microsoft.com/office/drawing/2014/main" id="{63F04DA0-D684-43BD-99A6-2BC5755D1DEC}"/>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DD063FF-0564-49B8-876C-04F58F9B7565}"/>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Hyperchloremia</a:t>
            </a:r>
          </a:p>
        </p:txBody>
      </p:sp>
      <p:sp>
        <p:nvSpPr>
          <p:cNvPr id="13" name="">
            <a:extLst xmlns:a="http://schemas.openxmlformats.org/drawingml/2006/main">
              <a:ext uri="{FF2B5EF4-FFF2-40B4-BE49-F238E27FC236}">
                <a16:creationId xmlns:a16="http://schemas.microsoft.com/office/drawing/2014/main" id="{DB89C15C-B8B3-4F17-A05B-103E7FA4E7A6}"/>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349C597-B964-416D-9A1A-47290744F226}"/>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occur with dehydration, bicarbonate loss, renal dysfunction, or large chloride loads</a:t>
            </a:r>
          </a:p>
        </p:txBody>
      </p:sp>
      <p:sp>
        <p:nvSpPr>
          <p:cNvPr id="15" name="">
            <a:extLst xmlns:a="http://schemas.openxmlformats.org/drawingml/2006/main">
              <a:ext uri="{FF2B5EF4-FFF2-40B4-BE49-F238E27FC236}">
                <a16:creationId xmlns:a16="http://schemas.microsoft.com/office/drawing/2014/main" id="{CE50FEC8-FB55-4250-8397-530291534136}"/>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E7C6ADF-8A10-4110-A642-C1D5DEE3A95D}"/>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fluid type and volume, sodium, bicarbonate or total CO₂, renal function, and breathing pattern</a:t>
            </a:r>
          </a:p>
        </p:txBody>
      </p:sp>
      <p:sp>
        <p:nvSpPr>
          <p:cNvPr id="17" name="">
            <a:extLst xmlns:a="http://schemas.openxmlformats.org/drawingml/2006/main">
              <a:ext uri="{FF2B5EF4-FFF2-40B4-BE49-F238E27FC236}">
                <a16:creationId xmlns:a16="http://schemas.microsoft.com/office/drawing/2014/main" id="{98DA4653-914E-42F7-9AB9-31F624D4B575}"/>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3350231-974E-4C2A-836F-D5ABB953F828}"/>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Hypochloremia</a:t>
            </a:r>
          </a:p>
        </p:txBody>
      </p:sp>
      <p:sp>
        <p:nvSpPr>
          <p:cNvPr id="19" name="">
            <a:extLst xmlns:a="http://schemas.openxmlformats.org/drawingml/2006/main">
              <a:ext uri="{FF2B5EF4-FFF2-40B4-BE49-F238E27FC236}">
                <a16:creationId xmlns:a16="http://schemas.microsoft.com/office/drawing/2014/main" id="{34FFDD5A-D3BA-4445-892A-81F0C2F146DF}"/>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A654EDC-5A2A-46FD-99A3-A04E1D6A81BD}"/>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occur with vomiting, gastric suction, diuretics, or dilution</a:t>
            </a:r>
          </a:p>
        </p:txBody>
      </p:sp>
      <p:sp>
        <p:nvSpPr>
          <p:cNvPr id="21" name="">
            <a:extLst xmlns:a="http://schemas.openxmlformats.org/drawingml/2006/main">
              <a:ext uri="{FF2B5EF4-FFF2-40B4-BE49-F238E27FC236}">
                <a16:creationId xmlns:a16="http://schemas.microsoft.com/office/drawing/2014/main" id="{B4D65501-277C-4800-AD77-E2F7DCBDBCAC}"/>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A9431F0-525C-4926-9C46-0C51040EF8BB}"/>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fluid losses, sodium, potassium, bicarbonate or total CO₂, and neuromuscular symptoms</a:t>
            </a:r>
          </a:p>
        </p:txBody>
      </p:sp>
      <p:sp>
        <p:nvSpPr>
          <p:cNvPr id="23" name="">
            <a:extLst xmlns:a="http://schemas.openxmlformats.org/drawingml/2006/main">
              <a:ext uri="{FF2B5EF4-FFF2-40B4-BE49-F238E27FC236}">
                <a16:creationId xmlns:a16="http://schemas.microsoft.com/office/drawing/2014/main" id="{FF64F042-C594-4A2F-AAFA-1189F64D5AC9}"/>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Chloride abnormalities rarely stand alone. Evaluate the complete metabolic panel, fluid balance, clinical condition, and ordered IV solution before acting.</a:t>
            </a:r>
          </a:p>
        </p:txBody>
      </p:sp>
    </p:spTree>
    <p:extLst>
      <p:ext uri="{BB962C8B-B14F-4D97-AF65-F5344CB8AC3E}">
        <p14:creationId xmlns:p14="http://schemas.microsoft.com/office/powerpoint/2010/main" val="191452764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8C5F4F8-FFA0-4287-B61E-2CC9527D1B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39E151-9F70-4D44-91F8-9509F4669B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Electrolyte result safety check</a:t>
            </a:r>
          </a:p>
        </p:txBody>
      </p:sp>
      <p:sp>
        <p:nvSpPr>
          <p:cNvPr id="3" name="">
            <a:extLst xmlns:a="http://schemas.openxmlformats.org/drawingml/2006/main">
              <a:ext uri="{FF2B5EF4-FFF2-40B4-BE49-F238E27FC236}">
                <a16:creationId xmlns:a16="http://schemas.microsoft.com/office/drawing/2014/main" id="{2388FD31-A381-471D-AD63-916DF6D7D8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9649B04-02F8-4ADC-9F21-67ECBC05C8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F39BA7B3-F94B-4673-B08D-8EBC1BFFD0DA}"/>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B69811E-64AC-4B8C-88B5-B188F9867294}"/>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0B5731E7-1D07-4AD7-BBC0-E68801812B21}"/>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1C93E7B-8E08-4F6F-95AE-BAF00E051C78}"/>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question</a:t>
            </a:r>
          </a:p>
        </p:txBody>
      </p:sp>
      <p:sp>
        <p:nvSpPr>
          <p:cNvPr id="9" name="">
            <a:extLst xmlns:a="http://schemas.openxmlformats.org/drawingml/2006/main">
              <a:ext uri="{FF2B5EF4-FFF2-40B4-BE49-F238E27FC236}">
                <a16:creationId xmlns:a16="http://schemas.microsoft.com/office/drawing/2014/main" id="{34AA9202-47E4-469F-9950-C81BC96191EE}"/>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70F9586-F859-42DA-A08A-B7F6EE8C2AF7}"/>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a:t>
            </a:r>
          </a:p>
        </p:txBody>
      </p:sp>
      <p:sp>
        <p:nvSpPr>
          <p:cNvPr id="11" name="">
            <a:extLst xmlns:a="http://schemas.openxmlformats.org/drawingml/2006/main">
              <a:ext uri="{FF2B5EF4-FFF2-40B4-BE49-F238E27FC236}">
                <a16:creationId xmlns:a16="http://schemas.microsoft.com/office/drawing/2014/main" id="{00B5D19A-DB95-4343-8E77-71DD06487085}"/>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3C202F8-926E-4F7D-9E6E-044F3EE52352}"/>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result belong to this patient, and could hemolysis or collection error affect it?</a:t>
            </a:r>
          </a:p>
        </p:txBody>
      </p:sp>
      <p:sp>
        <p:nvSpPr>
          <p:cNvPr id="13" name="">
            <a:extLst xmlns:a="http://schemas.openxmlformats.org/drawingml/2006/main">
              <a:ext uri="{FF2B5EF4-FFF2-40B4-BE49-F238E27FC236}">
                <a16:creationId xmlns:a16="http://schemas.microsoft.com/office/drawing/2014/main" id="{0A8DBAAD-BE34-40CD-BF57-420DCC3B135A}"/>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5E9720B-2C3C-4CE5-8D20-A79FE12C7EAA}"/>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5" name="">
            <a:extLst xmlns:a="http://schemas.openxmlformats.org/drawingml/2006/main">
              <a:ext uri="{FF2B5EF4-FFF2-40B4-BE49-F238E27FC236}">
                <a16:creationId xmlns:a16="http://schemas.microsoft.com/office/drawing/2014/main" id="{D1F6BD3D-6BE2-4F23-8E93-39888927B685}"/>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297C3F2-2391-4611-837E-CBF349AF0E5A}"/>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patient have neurologic, cardiac, respiratory, or neuromuscular changes?</a:t>
            </a:r>
          </a:p>
        </p:txBody>
      </p:sp>
      <p:sp>
        <p:nvSpPr>
          <p:cNvPr id="17" name="">
            <a:extLst xmlns:a="http://schemas.openxmlformats.org/drawingml/2006/main">
              <a:ext uri="{FF2B5EF4-FFF2-40B4-BE49-F238E27FC236}">
                <a16:creationId xmlns:a16="http://schemas.microsoft.com/office/drawing/2014/main" id="{ABF3C78B-3730-48EB-894B-D91D41780733}"/>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389948D-A2D5-4243-BB9A-063471C36693}"/>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Connect</a:t>
            </a:r>
          </a:p>
        </p:txBody>
      </p:sp>
      <p:sp>
        <p:nvSpPr>
          <p:cNvPr id="19" name="">
            <a:extLst xmlns:a="http://schemas.openxmlformats.org/drawingml/2006/main">
              <a:ext uri="{FF2B5EF4-FFF2-40B4-BE49-F238E27FC236}">
                <a16:creationId xmlns:a16="http://schemas.microsoft.com/office/drawing/2014/main" id="{019ED0EB-A836-4E96-98AF-B4D8DD3E10A8}"/>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A39E34A-A5C1-4084-99D0-93B6A603E0F0}"/>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fluids, medications, losses, renal changes, or nutrition therapies may contribute?</a:t>
            </a:r>
          </a:p>
        </p:txBody>
      </p:sp>
      <p:sp>
        <p:nvSpPr>
          <p:cNvPr id="21" name="">
            <a:extLst xmlns:a="http://schemas.openxmlformats.org/drawingml/2006/main">
              <a:ext uri="{FF2B5EF4-FFF2-40B4-BE49-F238E27FC236}">
                <a16:creationId xmlns:a16="http://schemas.microsoft.com/office/drawing/2014/main" id="{CA599D7D-ABE8-4A53-B432-C830DB68FB0A}"/>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352880B-0D5F-4FD1-95ED-96BEFFC6263B}"/>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a:t>
            </a:r>
          </a:p>
        </p:txBody>
      </p:sp>
      <p:sp>
        <p:nvSpPr>
          <p:cNvPr id="23" name="">
            <a:extLst xmlns:a="http://schemas.openxmlformats.org/drawingml/2006/main">
              <a:ext uri="{FF2B5EF4-FFF2-40B4-BE49-F238E27FC236}">
                <a16:creationId xmlns:a16="http://schemas.microsoft.com/office/drawing/2014/main" id="{341956F1-59E5-4649-B2C5-BCE8103B9FB3}"/>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77FAF15-FAC9-446D-8C9D-86325E262158}"/>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Should an infusion be stopped or held under policy while the result is clarified?</a:t>
            </a:r>
          </a:p>
        </p:txBody>
      </p:sp>
      <p:sp>
        <p:nvSpPr>
          <p:cNvPr id="25" name="">
            <a:extLst xmlns:a="http://schemas.openxmlformats.org/drawingml/2006/main">
              <a:ext uri="{FF2B5EF4-FFF2-40B4-BE49-F238E27FC236}">
                <a16:creationId xmlns:a16="http://schemas.microsoft.com/office/drawing/2014/main" id="{ECD72A9F-D26E-4B37-8C43-20EFC70E604C}"/>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99AFC35-FC17-4863-A634-710808CAFB9E}"/>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7" name="">
            <a:extLst xmlns:a="http://schemas.openxmlformats.org/drawingml/2006/main">
              <a:ext uri="{FF2B5EF4-FFF2-40B4-BE49-F238E27FC236}">
                <a16:creationId xmlns:a16="http://schemas.microsoft.com/office/drawing/2014/main" id="{D8F9905F-2FC5-4AEB-82F0-5200861196A8}"/>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D948365-D75E-4ACF-9400-172409EE29BF}"/>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finding requires immediate RN, prescriber, rapid-response, or emergency notification?</a:t>
            </a:r>
          </a:p>
        </p:txBody>
      </p:sp>
      <p:sp>
        <p:nvSpPr>
          <p:cNvPr id="29" name="">
            <a:extLst xmlns:a="http://schemas.openxmlformats.org/drawingml/2006/main">
              <a:ext uri="{FF2B5EF4-FFF2-40B4-BE49-F238E27FC236}">
                <a16:creationId xmlns:a16="http://schemas.microsoft.com/office/drawing/2014/main" id="{EFA9FBA5-9DBD-4ED5-8330-F7ADBECA4DC0}"/>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Treat the patient and verified clinical data together. Do not independently select a replacement product, concentration, or rate outside the nurse's authorized role.</a:t>
            </a:r>
          </a:p>
        </p:txBody>
      </p:sp>
    </p:spTree>
    <p:extLst>
      <p:ext uri="{BB962C8B-B14F-4D97-AF65-F5344CB8AC3E}">
        <p14:creationId xmlns:p14="http://schemas.microsoft.com/office/powerpoint/2010/main" val="904808714"/>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2E0DBF0-A81B-4D1F-8FBE-16C1D93F87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F8EEEE-825A-43E7-8FFF-9AE9B258F1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Metric conversion chart</a:t>
            </a:r>
          </a:p>
        </p:txBody>
      </p:sp>
      <p:sp>
        <p:nvSpPr>
          <p:cNvPr id="3" name="">
            <a:extLst xmlns:a="http://schemas.openxmlformats.org/drawingml/2006/main">
              <a:ext uri="{FF2B5EF4-FFF2-40B4-BE49-F238E27FC236}">
                <a16:creationId xmlns:a16="http://schemas.microsoft.com/office/drawing/2014/main" id="{79E03A5D-CFB8-405C-B28F-A7F0230963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B87472B-0BBF-48F8-BDCC-C565B2A77C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700B9409-AFD1-4C17-AC6C-24DF87050E42}"/>
              </a:ext>
            </a:extLst>
          </p:cNvPr>
          <p:cNvSpPr>
            <a:spLocks xmlns:a="http://schemas.openxmlformats.org/drawingml/2006/main" noGrp="1"/>
          </p:cNvSpPr>
          <p:nvPr/>
        </p:nvSpPr>
        <p:spPr>
          <a:xfrm xmlns:a="http://schemas.openxmlformats.org/drawingml/2006/main">
            <a:off x="7810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20976AC-0BC7-4FE5-AC9A-71152918A6EA}"/>
              </a:ext>
            </a:extLst>
          </p:cNvPr>
          <p:cNvSpPr>
            <a:spLocks xmlns:a="http://schemas.openxmlformats.org/drawingml/2006/main" noGrp="1"/>
          </p:cNvSpPr>
          <p:nvPr/>
        </p:nvSpPr>
        <p:spPr>
          <a:xfrm xmlns:a="http://schemas.openxmlformats.org/drawingml/2006/main">
            <a:off x="8763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Relationship</a:t>
            </a:r>
          </a:p>
        </p:txBody>
      </p:sp>
      <p:sp>
        <p:nvSpPr>
          <p:cNvPr id="7" name="">
            <a:extLst xmlns:a="http://schemas.openxmlformats.org/drawingml/2006/main">
              <a:ext uri="{FF2B5EF4-FFF2-40B4-BE49-F238E27FC236}">
                <a16:creationId xmlns:a16="http://schemas.microsoft.com/office/drawing/2014/main" id="{E332D63E-4ACC-4B10-9945-85DA645BD92D}"/>
              </a:ext>
            </a:extLst>
          </p:cNvPr>
          <p:cNvSpPr>
            <a:spLocks xmlns:a="http://schemas.openxmlformats.org/drawingml/2006/main" noGrp="1"/>
          </p:cNvSpPr>
          <p:nvPr/>
        </p:nvSpPr>
        <p:spPr>
          <a:xfrm xmlns:a="http://schemas.openxmlformats.org/drawingml/2006/main">
            <a:off x="430530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17E6767-6BCF-4D4C-B9D8-942A92D1EE40}"/>
              </a:ext>
            </a:extLst>
          </p:cNvPr>
          <p:cNvSpPr>
            <a:spLocks xmlns:a="http://schemas.openxmlformats.org/drawingml/2006/main" noGrp="1"/>
          </p:cNvSpPr>
          <p:nvPr/>
        </p:nvSpPr>
        <p:spPr>
          <a:xfrm xmlns:a="http://schemas.openxmlformats.org/drawingml/2006/main">
            <a:off x="440055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Conversion</a:t>
            </a:r>
          </a:p>
        </p:txBody>
      </p:sp>
      <p:sp>
        <p:nvSpPr>
          <p:cNvPr id="9" name="">
            <a:extLst xmlns:a="http://schemas.openxmlformats.org/drawingml/2006/main">
              <a:ext uri="{FF2B5EF4-FFF2-40B4-BE49-F238E27FC236}">
                <a16:creationId xmlns:a16="http://schemas.microsoft.com/office/drawing/2014/main" id="{5A1315BB-DE40-4AE6-A035-04272ECA34D8}"/>
              </a:ext>
            </a:extLst>
          </p:cNvPr>
          <p:cNvSpPr>
            <a:spLocks xmlns:a="http://schemas.openxmlformats.org/drawingml/2006/main" noGrp="1"/>
          </p:cNvSpPr>
          <p:nvPr/>
        </p:nvSpPr>
        <p:spPr>
          <a:xfrm xmlns:a="http://schemas.openxmlformats.org/drawingml/2006/main">
            <a:off x="78295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AD9B118-87B7-4F27-9720-AE2F53AB2745}"/>
              </a:ext>
            </a:extLst>
          </p:cNvPr>
          <p:cNvSpPr>
            <a:spLocks xmlns:a="http://schemas.openxmlformats.org/drawingml/2006/main" noGrp="1"/>
          </p:cNvSpPr>
          <p:nvPr/>
        </p:nvSpPr>
        <p:spPr>
          <a:xfrm xmlns:a="http://schemas.openxmlformats.org/drawingml/2006/main">
            <a:off x="79248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Use</a:t>
            </a:r>
          </a:p>
        </p:txBody>
      </p:sp>
      <p:sp>
        <p:nvSpPr>
          <p:cNvPr id="11" name="">
            <a:extLst xmlns:a="http://schemas.openxmlformats.org/drawingml/2006/main">
              <a:ext uri="{FF2B5EF4-FFF2-40B4-BE49-F238E27FC236}">
                <a16:creationId xmlns:a16="http://schemas.microsoft.com/office/drawing/2014/main" id="{3B0429AF-1E39-44AF-9937-AD9310D13525}"/>
              </a:ext>
            </a:extLst>
          </p:cNvPr>
          <p:cNvSpPr>
            <a:spLocks xmlns:a="http://schemas.openxmlformats.org/drawingml/2006/main" noGrp="1"/>
          </p:cNvSpPr>
          <p:nvPr/>
        </p:nvSpPr>
        <p:spPr>
          <a:xfrm xmlns:a="http://schemas.openxmlformats.org/drawingml/2006/main">
            <a:off x="7810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7C0B220-A6CF-4B81-99C2-6F2FE21416C9}"/>
              </a:ext>
            </a:extLst>
          </p:cNvPr>
          <p:cNvSpPr>
            <a:spLocks xmlns:a="http://schemas.openxmlformats.org/drawingml/2006/main" noGrp="1"/>
          </p:cNvSpPr>
          <p:nvPr/>
        </p:nvSpPr>
        <p:spPr>
          <a:xfrm xmlns:a="http://schemas.openxmlformats.org/drawingml/2006/main">
            <a:off x="8763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3" name="">
            <a:extLst xmlns:a="http://schemas.openxmlformats.org/drawingml/2006/main">
              <a:ext uri="{FF2B5EF4-FFF2-40B4-BE49-F238E27FC236}">
                <a16:creationId xmlns:a16="http://schemas.microsoft.com/office/drawing/2014/main" id="{FE8097EB-BB5B-4658-BF4E-44FFDC8E9AD8}"/>
              </a:ext>
            </a:extLst>
          </p:cNvPr>
          <p:cNvSpPr>
            <a:spLocks xmlns:a="http://schemas.openxmlformats.org/drawingml/2006/main" noGrp="1"/>
          </p:cNvSpPr>
          <p:nvPr/>
        </p:nvSpPr>
        <p:spPr>
          <a:xfrm xmlns:a="http://schemas.openxmlformats.org/drawingml/2006/main">
            <a:off x="430530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55C2E91-CA57-41BF-B521-3A9F790854E2}"/>
              </a:ext>
            </a:extLst>
          </p:cNvPr>
          <p:cNvSpPr>
            <a:spLocks xmlns:a="http://schemas.openxmlformats.org/drawingml/2006/main" noGrp="1"/>
          </p:cNvSpPr>
          <p:nvPr/>
        </p:nvSpPr>
        <p:spPr>
          <a:xfrm xmlns:a="http://schemas.openxmlformats.org/drawingml/2006/main">
            <a:off x="440055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15" name="">
            <a:extLst xmlns:a="http://schemas.openxmlformats.org/drawingml/2006/main">
              <a:ext uri="{FF2B5EF4-FFF2-40B4-BE49-F238E27FC236}">
                <a16:creationId xmlns:a16="http://schemas.microsoft.com/office/drawing/2014/main" id="{484A7B37-7243-4783-8342-193BD81EEC0E}"/>
              </a:ext>
            </a:extLst>
          </p:cNvPr>
          <p:cNvSpPr>
            <a:spLocks xmlns:a="http://schemas.openxmlformats.org/drawingml/2006/main" noGrp="1"/>
          </p:cNvSpPr>
          <p:nvPr/>
        </p:nvSpPr>
        <p:spPr>
          <a:xfrm xmlns:a="http://schemas.openxmlformats.org/drawingml/2006/main">
            <a:off x="78295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8ABCD2C-F226-4C5F-A70D-D438AA3E0796}"/>
              </a:ext>
            </a:extLst>
          </p:cNvPr>
          <p:cNvSpPr>
            <a:spLocks xmlns:a="http://schemas.openxmlformats.org/drawingml/2006/main" noGrp="1"/>
          </p:cNvSpPr>
          <p:nvPr/>
        </p:nvSpPr>
        <p:spPr>
          <a:xfrm xmlns:a="http://schemas.openxmlformats.org/drawingml/2006/main">
            <a:off x="79248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the ordered bag volume</a:t>
            </a:r>
          </a:p>
        </p:txBody>
      </p:sp>
      <p:sp>
        <p:nvSpPr>
          <p:cNvPr id="17" name="">
            <a:extLst xmlns:a="http://schemas.openxmlformats.org/drawingml/2006/main">
              <a:ext uri="{FF2B5EF4-FFF2-40B4-BE49-F238E27FC236}">
                <a16:creationId xmlns:a16="http://schemas.microsoft.com/office/drawing/2014/main" id="{D25400AF-A717-4675-958B-551413FB764B}"/>
              </a:ext>
            </a:extLst>
          </p:cNvPr>
          <p:cNvSpPr>
            <a:spLocks xmlns:a="http://schemas.openxmlformats.org/drawingml/2006/main" noGrp="1"/>
          </p:cNvSpPr>
          <p:nvPr/>
        </p:nvSpPr>
        <p:spPr>
          <a:xfrm xmlns:a="http://schemas.openxmlformats.org/drawingml/2006/main">
            <a:off x="7810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6C8AB2B-93E4-4703-B6F5-2E26A48CD379}"/>
              </a:ext>
            </a:extLst>
          </p:cNvPr>
          <p:cNvSpPr>
            <a:spLocks xmlns:a="http://schemas.openxmlformats.org/drawingml/2006/main" noGrp="1"/>
          </p:cNvSpPr>
          <p:nvPr/>
        </p:nvSpPr>
        <p:spPr>
          <a:xfrm xmlns:a="http://schemas.openxmlformats.org/drawingml/2006/main">
            <a:off x="8763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19" name="">
            <a:extLst xmlns:a="http://schemas.openxmlformats.org/drawingml/2006/main">
              <a:ext uri="{FF2B5EF4-FFF2-40B4-BE49-F238E27FC236}">
                <a16:creationId xmlns:a16="http://schemas.microsoft.com/office/drawing/2014/main" id="{E113805F-FBAA-4487-BD52-865FA853A51E}"/>
              </a:ext>
            </a:extLst>
          </p:cNvPr>
          <p:cNvSpPr>
            <a:spLocks xmlns:a="http://schemas.openxmlformats.org/drawingml/2006/main" noGrp="1"/>
          </p:cNvSpPr>
          <p:nvPr/>
        </p:nvSpPr>
        <p:spPr>
          <a:xfrm xmlns:a="http://schemas.openxmlformats.org/drawingml/2006/main">
            <a:off x="430530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6C23486-5E9D-4185-8224-F296598064C9}"/>
              </a:ext>
            </a:extLst>
          </p:cNvPr>
          <p:cNvSpPr>
            <a:spLocks xmlns:a="http://schemas.openxmlformats.org/drawingml/2006/main" noGrp="1"/>
          </p:cNvSpPr>
          <p:nvPr/>
        </p:nvSpPr>
        <p:spPr>
          <a:xfrm xmlns:a="http://schemas.openxmlformats.org/drawingml/2006/main">
            <a:off x="440055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a:t>
            </a:r>
          </a:p>
        </p:txBody>
      </p:sp>
      <p:sp>
        <p:nvSpPr>
          <p:cNvPr id="21" name="">
            <a:extLst xmlns:a="http://schemas.openxmlformats.org/drawingml/2006/main">
              <a:ext uri="{FF2B5EF4-FFF2-40B4-BE49-F238E27FC236}">
                <a16:creationId xmlns:a16="http://schemas.microsoft.com/office/drawing/2014/main" id="{8709FBD6-CD60-4EF0-9D76-189A21F9CDB6}"/>
              </a:ext>
            </a:extLst>
          </p:cNvPr>
          <p:cNvSpPr>
            <a:spLocks xmlns:a="http://schemas.openxmlformats.org/drawingml/2006/main" noGrp="1"/>
          </p:cNvSpPr>
          <p:nvPr/>
        </p:nvSpPr>
        <p:spPr>
          <a:xfrm xmlns:a="http://schemas.openxmlformats.org/drawingml/2006/main">
            <a:off x="78295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DD221DD-C0C4-447F-BCCB-1025B8958216}"/>
              </a:ext>
            </a:extLst>
          </p:cNvPr>
          <p:cNvSpPr>
            <a:spLocks xmlns:a="http://schemas.openxmlformats.org/drawingml/2006/main" noGrp="1"/>
          </p:cNvSpPr>
          <p:nvPr/>
        </p:nvSpPr>
        <p:spPr>
          <a:xfrm xmlns:a="http://schemas.openxmlformats.org/drawingml/2006/main">
            <a:off x="79248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Medication-dose conversion</a:t>
            </a:r>
          </a:p>
        </p:txBody>
      </p:sp>
      <p:sp>
        <p:nvSpPr>
          <p:cNvPr id="23" name="">
            <a:extLst xmlns:a="http://schemas.openxmlformats.org/drawingml/2006/main">
              <a:ext uri="{FF2B5EF4-FFF2-40B4-BE49-F238E27FC236}">
                <a16:creationId xmlns:a16="http://schemas.microsoft.com/office/drawing/2014/main" id="{CD1E870F-CF41-45F8-B7AF-BD0042591D6E}"/>
              </a:ext>
            </a:extLst>
          </p:cNvPr>
          <p:cNvSpPr>
            <a:spLocks xmlns:a="http://schemas.openxmlformats.org/drawingml/2006/main" noGrp="1"/>
          </p:cNvSpPr>
          <p:nvPr/>
        </p:nvSpPr>
        <p:spPr>
          <a:xfrm xmlns:a="http://schemas.openxmlformats.org/drawingml/2006/main">
            <a:off x="7810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D540860-C272-4D55-8913-9375BF08EFE7}"/>
              </a:ext>
            </a:extLst>
          </p:cNvPr>
          <p:cNvSpPr>
            <a:spLocks xmlns:a="http://schemas.openxmlformats.org/drawingml/2006/main" noGrp="1"/>
          </p:cNvSpPr>
          <p:nvPr/>
        </p:nvSpPr>
        <p:spPr>
          <a:xfrm xmlns:a="http://schemas.openxmlformats.org/drawingml/2006/main">
            <a:off x="8763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mass</a:t>
            </a:r>
          </a:p>
        </p:txBody>
      </p:sp>
      <p:sp>
        <p:nvSpPr>
          <p:cNvPr id="25" name="">
            <a:extLst xmlns:a="http://schemas.openxmlformats.org/drawingml/2006/main">
              <a:ext uri="{FF2B5EF4-FFF2-40B4-BE49-F238E27FC236}">
                <a16:creationId xmlns:a16="http://schemas.microsoft.com/office/drawing/2014/main" id="{9DE020D7-CAD4-4274-A442-25156AC43281}"/>
              </a:ext>
            </a:extLst>
          </p:cNvPr>
          <p:cNvSpPr>
            <a:spLocks xmlns:a="http://schemas.openxmlformats.org/drawingml/2006/main" noGrp="1"/>
          </p:cNvSpPr>
          <p:nvPr/>
        </p:nvSpPr>
        <p:spPr>
          <a:xfrm xmlns:a="http://schemas.openxmlformats.org/drawingml/2006/main">
            <a:off x="430530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911D4F2-EE6E-409F-8CC5-BEAE27C9AB6D}"/>
              </a:ext>
            </a:extLst>
          </p:cNvPr>
          <p:cNvSpPr>
            <a:spLocks xmlns:a="http://schemas.openxmlformats.org/drawingml/2006/main" noGrp="1"/>
          </p:cNvSpPr>
          <p:nvPr/>
        </p:nvSpPr>
        <p:spPr>
          <a:xfrm xmlns:a="http://schemas.openxmlformats.org/drawingml/2006/main">
            <a:off x="440055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mg = 1,000 mcg</a:t>
            </a:r>
          </a:p>
        </p:txBody>
      </p:sp>
      <p:sp>
        <p:nvSpPr>
          <p:cNvPr id="27" name="">
            <a:extLst xmlns:a="http://schemas.openxmlformats.org/drawingml/2006/main">
              <a:ext uri="{FF2B5EF4-FFF2-40B4-BE49-F238E27FC236}">
                <a16:creationId xmlns:a16="http://schemas.microsoft.com/office/drawing/2014/main" id="{7D577579-971E-4847-B24C-F920583980CF}"/>
              </a:ext>
            </a:extLst>
          </p:cNvPr>
          <p:cNvSpPr>
            <a:spLocks xmlns:a="http://schemas.openxmlformats.org/drawingml/2006/main" noGrp="1"/>
          </p:cNvSpPr>
          <p:nvPr/>
        </p:nvSpPr>
        <p:spPr>
          <a:xfrm xmlns:a="http://schemas.openxmlformats.org/drawingml/2006/main">
            <a:off x="78295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A71766B-C646-4F87-99FF-D1BA2D6A7F0D}"/>
              </a:ext>
            </a:extLst>
          </p:cNvPr>
          <p:cNvSpPr>
            <a:spLocks xmlns:a="http://schemas.openxmlformats.org/drawingml/2006/main" noGrp="1"/>
          </p:cNvSpPr>
          <p:nvPr/>
        </p:nvSpPr>
        <p:spPr>
          <a:xfrm xmlns:a="http://schemas.openxmlformats.org/drawingml/2006/main">
            <a:off x="79248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High-alert and weight-based doses</a:t>
            </a:r>
          </a:p>
        </p:txBody>
      </p:sp>
      <p:sp>
        <p:nvSpPr>
          <p:cNvPr id="29" name="">
            <a:extLst xmlns:a="http://schemas.openxmlformats.org/drawingml/2006/main">
              <a:ext uri="{FF2B5EF4-FFF2-40B4-BE49-F238E27FC236}">
                <a16:creationId xmlns:a16="http://schemas.microsoft.com/office/drawing/2014/main" id="{7EE5864C-FE7E-4FA2-85A4-5643EF5021E8}"/>
              </a:ext>
            </a:extLst>
          </p:cNvPr>
          <p:cNvSpPr>
            <a:spLocks xmlns:a="http://schemas.openxmlformats.org/drawingml/2006/main" noGrp="1"/>
          </p:cNvSpPr>
          <p:nvPr/>
        </p:nvSpPr>
        <p:spPr>
          <a:xfrm xmlns:a="http://schemas.openxmlformats.org/drawingml/2006/main">
            <a:off x="7810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327B91F-7759-481C-AA3C-5EF5E92CAE8F}"/>
              </a:ext>
            </a:extLst>
          </p:cNvPr>
          <p:cNvSpPr>
            <a:spLocks xmlns:a="http://schemas.openxmlformats.org/drawingml/2006/main" noGrp="1"/>
          </p:cNvSpPr>
          <p:nvPr/>
        </p:nvSpPr>
        <p:spPr>
          <a:xfrm xmlns:a="http://schemas.openxmlformats.org/drawingml/2006/main">
            <a:off x="8763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31" name="">
            <a:extLst xmlns:a="http://schemas.openxmlformats.org/drawingml/2006/main">
              <a:ext uri="{FF2B5EF4-FFF2-40B4-BE49-F238E27FC236}">
                <a16:creationId xmlns:a16="http://schemas.microsoft.com/office/drawing/2014/main" id="{75A61ACD-448B-4158-B2C1-2CADD24053D9}"/>
              </a:ext>
            </a:extLst>
          </p:cNvPr>
          <p:cNvSpPr>
            <a:spLocks xmlns:a="http://schemas.openxmlformats.org/drawingml/2006/main" noGrp="1"/>
          </p:cNvSpPr>
          <p:nvPr/>
        </p:nvSpPr>
        <p:spPr>
          <a:xfrm xmlns:a="http://schemas.openxmlformats.org/drawingml/2006/main">
            <a:off x="430530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06BDF4F1-5C30-4177-B709-8ACE36ECD20A}"/>
              </a:ext>
            </a:extLst>
          </p:cNvPr>
          <p:cNvSpPr>
            <a:spLocks xmlns:a="http://schemas.openxmlformats.org/drawingml/2006/main" noGrp="1"/>
          </p:cNvSpPr>
          <p:nvPr/>
        </p:nvSpPr>
        <p:spPr>
          <a:xfrm xmlns:a="http://schemas.openxmlformats.org/drawingml/2006/main">
            <a:off x="440055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kg = 2.2 lb</a:t>
            </a:r>
          </a:p>
        </p:txBody>
      </p:sp>
      <p:sp>
        <p:nvSpPr>
          <p:cNvPr id="33" name="">
            <a:extLst xmlns:a="http://schemas.openxmlformats.org/drawingml/2006/main">
              <a:ext uri="{FF2B5EF4-FFF2-40B4-BE49-F238E27FC236}">
                <a16:creationId xmlns:a16="http://schemas.microsoft.com/office/drawing/2014/main" id="{B851307B-DA05-4578-9A10-2967F2649F41}"/>
              </a:ext>
            </a:extLst>
          </p:cNvPr>
          <p:cNvSpPr>
            <a:spLocks xmlns:a="http://schemas.openxmlformats.org/drawingml/2006/main" noGrp="1"/>
          </p:cNvSpPr>
          <p:nvPr/>
        </p:nvSpPr>
        <p:spPr>
          <a:xfrm xmlns:a="http://schemas.openxmlformats.org/drawingml/2006/main">
            <a:off x="78295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A2A0569-7DEC-43F4-8DA8-6761798987D5}"/>
              </a:ext>
            </a:extLst>
          </p:cNvPr>
          <p:cNvSpPr>
            <a:spLocks xmlns:a="http://schemas.openxmlformats.org/drawingml/2006/main" noGrp="1"/>
          </p:cNvSpPr>
          <p:nvPr/>
        </p:nvSpPr>
        <p:spPr>
          <a:xfrm xmlns:a="http://schemas.openxmlformats.org/drawingml/2006/main">
            <a:off x="79248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pounds to kilograms before dosing</a:t>
            </a:r>
          </a:p>
        </p:txBody>
      </p:sp>
      <p:sp>
        <p:nvSpPr>
          <p:cNvPr id="35" name="">
            <a:extLst xmlns:a="http://schemas.openxmlformats.org/drawingml/2006/main">
              <a:ext uri="{FF2B5EF4-FFF2-40B4-BE49-F238E27FC236}">
                <a16:creationId xmlns:a16="http://schemas.microsoft.com/office/drawing/2014/main" id="{2C342F1B-3D73-4285-AD01-1BD1B45CF8F8}"/>
              </a:ext>
            </a:extLst>
          </p:cNvPr>
          <p:cNvSpPr>
            <a:spLocks xmlns:a="http://schemas.openxmlformats.org/drawingml/2006/main" noGrp="1"/>
          </p:cNvSpPr>
          <p:nvPr/>
        </p:nvSpPr>
        <p:spPr>
          <a:xfrm xmlns:a="http://schemas.openxmlformats.org/drawingml/2006/main">
            <a:off x="7810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127ACB79-3DA2-42DE-AA90-75A23107384C}"/>
              </a:ext>
            </a:extLst>
          </p:cNvPr>
          <p:cNvSpPr>
            <a:spLocks xmlns:a="http://schemas.openxmlformats.org/drawingml/2006/main" noGrp="1"/>
          </p:cNvSpPr>
          <p:nvPr/>
        </p:nvSpPr>
        <p:spPr>
          <a:xfrm xmlns:a="http://schemas.openxmlformats.org/drawingml/2006/main">
            <a:off x="8763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Household volume</a:t>
            </a:r>
          </a:p>
        </p:txBody>
      </p:sp>
      <p:sp>
        <p:nvSpPr>
          <p:cNvPr id="37" name="">
            <a:extLst xmlns:a="http://schemas.openxmlformats.org/drawingml/2006/main">
              <a:ext uri="{FF2B5EF4-FFF2-40B4-BE49-F238E27FC236}">
                <a16:creationId xmlns:a16="http://schemas.microsoft.com/office/drawing/2014/main" id="{19A274EA-00AE-46B3-9EF3-4D8ED5D08CAE}"/>
              </a:ext>
            </a:extLst>
          </p:cNvPr>
          <p:cNvSpPr>
            <a:spLocks xmlns:a="http://schemas.openxmlformats.org/drawingml/2006/main" noGrp="1"/>
          </p:cNvSpPr>
          <p:nvPr/>
        </p:nvSpPr>
        <p:spPr>
          <a:xfrm xmlns:a="http://schemas.openxmlformats.org/drawingml/2006/main">
            <a:off x="430530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222AEFA5-3D10-42CA-80B6-B0D284D11DE9}"/>
              </a:ext>
            </a:extLst>
          </p:cNvPr>
          <p:cNvSpPr>
            <a:spLocks xmlns:a="http://schemas.openxmlformats.org/drawingml/2006/main" noGrp="1"/>
          </p:cNvSpPr>
          <p:nvPr/>
        </p:nvSpPr>
        <p:spPr>
          <a:xfrm xmlns:a="http://schemas.openxmlformats.org/drawingml/2006/main">
            <a:off x="440055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tsp = 5 mL; 1 Tbsp = 15 mL</a:t>
            </a:r>
          </a:p>
        </p:txBody>
      </p:sp>
      <p:sp>
        <p:nvSpPr>
          <p:cNvPr id="39" name="">
            <a:extLst xmlns:a="http://schemas.openxmlformats.org/drawingml/2006/main">
              <a:ext uri="{FF2B5EF4-FFF2-40B4-BE49-F238E27FC236}">
                <a16:creationId xmlns:a16="http://schemas.microsoft.com/office/drawing/2014/main" id="{0BB7A882-C14A-4EE2-A5DB-A1C749A85151}"/>
              </a:ext>
            </a:extLst>
          </p:cNvPr>
          <p:cNvSpPr>
            <a:spLocks xmlns:a="http://schemas.openxmlformats.org/drawingml/2006/main" noGrp="1"/>
          </p:cNvSpPr>
          <p:nvPr/>
        </p:nvSpPr>
        <p:spPr>
          <a:xfrm xmlns:a="http://schemas.openxmlformats.org/drawingml/2006/main">
            <a:off x="78295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0D8F7044-8E64-4E72-AE0F-9E5959B36C51}"/>
              </a:ext>
            </a:extLst>
          </p:cNvPr>
          <p:cNvSpPr>
            <a:spLocks xmlns:a="http://schemas.openxmlformats.org/drawingml/2006/main" noGrp="1"/>
          </p:cNvSpPr>
          <p:nvPr/>
        </p:nvSpPr>
        <p:spPr>
          <a:xfrm xmlns:a="http://schemas.openxmlformats.org/drawingml/2006/main">
            <a:off x="79248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an approved clinical reference permits</a:t>
            </a:r>
          </a:p>
        </p:txBody>
      </p:sp>
      <p:sp>
        <p:nvSpPr>
          <p:cNvPr id="41" name="">
            <a:extLst xmlns:a="http://schemas.openxmlformats.org/drawingml/2006/main">
              <a:ext uri="{FF2B5EF4-FFF2-40B4-BE49-F238E27FC236}">
                <a16:creationId xmlns:a16="http://schemas.microsoft.com/office/drawing/2014/main" id="{68ADF5DB-AF6F-48F9-A088-55F80FFBD613}"/>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Apothecary units are legacy units and are error-prone. Do not guess or rely on OCR-transcribed values; clarify the order and use an approved conversion reference.</a:t>
            </a:r>
          </a:p>
        </p:txBody>
      </p:sp>
    </p:spTree>
    <p:extLst>
      <p:ext uri="{BB962C8B-B14F-4D97-AF65-F5344CB8AC3E}">
        <p14:creationId xmlns:p14="http://schemas.microsoft.com/office/powerpoint/2010/main" val="821367021"/>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458DF9-5796-491F-A14A-8A20292BCD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C79046-2D63-4DF4-AF0F-D0E1025317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Pump-rate formula</a:t>
            </a:r>
          </a:p>
        </p:txBody>
      </p:sp>
      <p:sp>
        <p:nvSpPr>
          <p:cNvPr id="3" name="">
            <a:extLst xmlns:a="http://schemas.openxmlformats.org/drawingml/2006/main">
              <a:ext uri="{FF2B5EF4-FFF2-40B4-BE49-F238E27FC236}">
                <a16:creationId xmlns:a16="http://schemas.microsoft.com/office/drawing/2014/main" id="{5907F038-F512-489E-A497-386D282D7D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0C26C1B-EF05-4947-91A5-DA23C747BD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911F46B2-BE45-4547-8EAB-643B2938912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mL/hr = total volume in mL ÷ time in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1,000 mL ÷ 8 hr = 125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check: 125 mL/hr × 8 hr returns the original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Program the pump only after matching the result to the order and confirming the correct channel and line.</a:t>
            </a:r>
          </a:p>
        </p:txBody>
      </p:sp>
      <p:sp>
        <p:nvSpPr>
          <p:cNvPr id="6" name="">
            <a:extLst xmlns:a="http://schemas.openxmlformats.org/drawingml/2006/main">
              <a:ext uri="{FF2B5EF4-FFF2-40B4-BE49-F238E27FC236}">
                <a16:creationId xmlns:a16="http://schemas.microsoft.com/office/drawing/2014/main" id="{EA621D06-B579-448F-8580-D2C06BA7EB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31546063"/>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9DB91A-A4AA-4FE6-8E90-FF8B37616A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124831-7D04-4971-8106-ACC46E8486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Gravity-rate formula</a:t>
            </a:r>
          </a:p>
        </p:txBody>
      </p:sp>
      <p:sp>
        <p:nvSpPr>
          <p:cNvPr id="3" name="">
            <a:extLst xmlns:a="http://schemas.openxmlformats.org/drawingml/2006/main">
              <a:ext uri="{FF2B5EF4-FFF2-40B4-BE49-F238E27FC236}">
                <a16:creationId xmlns:a16="http://schemas.microsoft.com/office/drawing/2014/main" id="{BD621A02-03F6-42F0-B597-A4B1E1EF10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822602E-BC7F-4846-8D90-246132E533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8259E726-8711-431C-BCB4-DF08F46E6C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gtt/min = volume in mL × drop factor in gtt/mL ÷ time in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250 mL × 15 gtt/mL ÷ 90 min = 41.7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Round to a whole drop: 42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Reassess the drip because patient position, tubing height, and resistance can change a gravity rate.</a:t>
            </a:r>
          </a:p>
        </p:txBody>
      </p:sp>
      <p:sp>
        <p:nvSpPr>
          <p:cNvPr id="6" name="">
            <a:extLst xmlns:a="http://schemas.openxmlformats.org/drawingml/2006/main">
              <a:ext uri="{FF2B5EF4-FFF2-40B4-BE49-F238E27FC236}">
                <a16:creationId xmlns:a16="http://schemas.microsoft.com/office/drawing/2014/main" id="{7389A840-A81B-4D67-8FE2-899D29C3C7B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68276187"/>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86D29C8-4BF8-4814-B9F6-26FC8D0B73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BF11B9-73BC-4F62-8B02-B79549F05B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four-step calculation safety method</a:t>
            </a:r>
          </a:p>
        </p:txBody>
      </p:sp>
      <p:sp>
        <p:nvSpPr>
          <p:cNvPr id="3" name="">
            <a:extLst xmlns:a="http://schemas.openxmlformats.org/drawingml/2006/main">
              <a:ext uri="{FF2B5EF4-FFF2-40B4-BE49-F238E27FC236}">
                <a16:creationId xmlns:a16="http://schemas.microsoft.com/office/drawing/2014/main" id="{CB6A3930-1799-4651-80DB-6B117408484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8A8A6A6-3B3D-4832-87A1-174CE6BD32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BBABF4CA-9983-43F4-8F36-3BC02F3A7F47}"/>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8582314-77B1-4982-86A2-2637A21D3D13}"/>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90345322-2C59-4244-8722-C0B8759A1C13}"/>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BABDD32-AE84-4772-8179-5774FD4D70E5}"/>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9" name="">
            <a:extLst xmlns:a="http://schemas.openxmlformats.org/drawingml/2006/main">
              <a:ext uri="{FF2B5EF4-FFF2-40B4-BE49-F238E27FC236}">
                <a16:creationId xmlns:a16="http://schemas.microsoft.com/office/drawing/2014/main" id="{516B0821-7670-4BF8-A9F2-9156B5C81C22}"/>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DED4559-6A3D-4DBD-B8F7-068C70CA0042}"/>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Organize</a:t>
            </a:r>
          </a:p>
        </p:txBody>
      </p:sp>
      <p:sp>
        <p:nvSpPr>
          <p:cNvPr id="11" name="">
            <a:extLst xmlns:a="http://schemas.openxmlformats.org/drawingml/2006/main">
              <a:ext uri="{FF2B5EF4-FFF2-40B4-BE49-F238E27FC236}">
                <a16:creationId xmlns:a16="http://schemas.microsoft.com/office/drawing/2014/main" id="{85726C90-19E5-4874-9AB0-87F438F48E91}"/>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DB94FF4-65DB-4FD6-A32E-3936AD367D3E}"/>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Write the ordered volume, time, and tubing factor with units</a:t>
            </a:r>
          </a:p>
        </p:txBody>
      </p:sp>
      <p:sp>
        <p:nvSpPr>
          <p:cNvPr id="13" name="">
            <a:extLst xmlns:a="http://schemas.openxmlformats.org/drawingml/2006/main">
              <a:ext uri="{FF2B5EF4-FFF2-40B4-BE49-F238E27FC236}">
                <a16:creationId xmlns:a16="http://schemas.microsoft.com/office/drawing/2014/main" id="{EDBEF29B-9502-465B-8C15-75AF582C7DCD}"/>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C912C6A-485D-43CA-9343-B0998AA22410}"/>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 Convert</a:t>
            </a:r>
          </a:p>
        </p:txBody>
      </p:sp>
      <p:sp>
        <p:nvSpPr>
          <p:cNvPr id="15" name="">
            <a:extLst xmlns:a="http://schemas.openxmlformats.org/drawingml/2006/main">
              <a:ext uri="{FF2B5EF4-FFF2-40B4-BE49-F238E27FC236}">
                <a16:creationId xmlns:a16="http://schemas.microsoft.com/office/drawing/2014/main" id="{AECAB0A5-BB9A-4E8F-ACAF-49D9AA7ACD58}"/>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89AF640-BAA8-4161-83EE-7730ECFAEF32}"/>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Make units consistent before calculating</a:t>
            </a:r>
          </a:p>
        </p:txBody>
      </p:sp>
      <p:sp>
        <p:nvSpPr>
          <p:cNvPr id="17" name="">
            <a:extLst xmlns:a="http://schemas.openxmlformats.org/drawingml/2006/main">
              <a:ext uri="{FF2B5EF4-FFF2-40B4-BE49-F238E27FC236}">
                <a16:creationId xmlns:a16="http://schemas.microsoft.com/office/drawing/2014/main" id="{8C46F275-0E78-4D14-9954-E96473921FC9}"/>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FB3BEA4-C581-4C70-A1C0-8447D330CC5B}"/>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Calculate</a:t>
            </a:r>
          </a:p>
        </p:txBody>
      </p:sp>
      <p:sp>
        <p:nvSpPr>
          <p:cNvPr id="19" name="">
            <a:extLst xmlns:a="http://schemas.openxmlformats.org/drawingml/2006/main">
              <a:ext uri="{FF2B5EF4-FFF2-40B4-BE49-F238E27FC236}">
                <a16:creationId xmlns:a16="http://schemas.microsoft.com/office/drawing/2014/main" id="{2A887AB5-FBE9-4A1A-B374-9A725D43CE27}"/>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6EEC733-ED2A-43A7-A6A8-1449B2D33507}"/>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one formula and keep units visible</a:t>
            </a:r>
          </a:p>
        </p:txBody>
      </p:sp>
      <p:sp>
        <p:nvSpPr>
          <p:cNvPr id="21" name="">
            <a:extLst xmlns:a="http://schemas.openxmlformats.org/drawingml/2006/main">
              <a:ext uri="{FF2B5EF4-FFF2-40B4-BE49-F238E27FC236}">
                <a16:creationId xmlns:a16="http://schemas.microsoft.com/office/drawing/2014/main" id="{D6D1B1C0-55A1-4640-BA08-313490B5DADE}"/>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4AC1AA3-EF8B-4D95-8850-DCAABD8F029F}"/>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4. Verify</a:t>
            </a:r>
          </a:p>
        </p:txBody>
      </p:sp>
      <p:sp>
        <p:nvSpPr>
          <p:cNvPr id="23" name="">
            <a:extLst xmlns:a="http://schemas.openxmlformats.org/drawingml/2006/main">
              <a:ext uri="{FF2B5EF4-FFF2-40B4-BE49-F238E27FC236}">
                <a16:creationId xmlns:a16="http://schemas.microsoft.com/office/drawing/2014/main" id="{55E8EE55-9644-4398-9B60-7455055315B5}"/>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73FA809-5FE1-490B-BEB8-0E6A8222AB45}"/>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Work backward and ask whether the answer is clinically reasonable</a:t>
            </a:r>
          </a:p>
        </p:txBody>
      </p:sp>
    </p:spTree>
    <p:extLst>
      <p:ext uri="{BB962C8B-B14F-4D97-AF65-F5344CB8AC3E}">
        <p14:creationId xmlns:p14="http://schemas.microsoft.com/office/powerpoint/2010/main" val="1613799804"/>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EB07A9-BA39-431C-B528-5E1A006F10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1AF24A-FC7C-4E89-BDD8-F5C3E5A834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Dose-volume calculation</a:t>
            </a:r>
          </a:p>
        </p:txBody>
      </p:sp>
      <p:sp>
        <p:nvSpPr>
          <p:cNvPr id="3" name="">
            <a:extLst xmlns:a="http://schemas.openxmlformats.org/drawingml/2006/main">
              <a:ext uri="{FF2B5EF4-FFF2-40B4-BE49-F238E27FC236}">
                <a16:creationId xmlns:a16="http://schemas.microsoft.com/office/drawing/2014/main" id="{230AC4FF-B197-4031-9773-7DBBCAC2F38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3332BB2-7FD9-4F50-A67D-462D8EBA3B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13C41CA4-27D1-42C1-AE5F-F2BD21D2C2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volume to administer = desired dose ÷ dose on hand × volume on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order 50 mg; vial contains 250 mg in 10 mL. 50 ÷ 250 × 10 = 2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Label every number with its unit and make sure unwanted units cancel.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product concentration, maximum concentration, route, and administration rate before preparing the dose.</a:t>
            </a:r>
          </a:p>
        </p:txBody>
      </p:sp>
      <p:sp>
        <p:nvSpPr>
          <p:cNvPr id="6" name="">
            <a:extLst xmlns:a="http://schemas.openxmlformats.org/drawingml/2006/main">
              <a:ext uri="{FF2B5EF4-FFF2-40B4-BE49-F238E27FC236}">
                <a16:creationId xmlns:a16="http://schemas.microsoft.com/office/drawing/2014/main" id="{875E552C-D112-4F4E-B786-7A85A512486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86744090"/>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2C5B48-BE7B-4EF0-902F-64B870296B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AB997D9-BB2F-436A-B74D-FB0A1721CC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Continuous medication infusion</a:t>
            </a:r>
          </a:p>
        </p:txBody>
      </p:sp>
      <p:sp>
        <p:nvSpPr>
          <p:cNvPr id="3" name="">
            <a:extLst xmlns:a="http://schemas.openxmlformats.org/drawingml/2006/main">
              <a:ext uri="{FF2B5EF4-FFF2-40B4-BE49-F238E27FC236}">
                <a16:creationId xmlns:a16="http://schemas.microsoft.com/office/drawing/2014/main" id="{96AA369E-57E4-4C2E-8589-AC76880F36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8D5C17A-6009-4219-9911-7E91A7AC12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246F877B-8113-44E8-9826-6354F9DD8D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First determine concentration: total drug amount ÷ total solution volume.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determine pump rate: ordered dose per hour ÷ concentration per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20,000 units in 500 mL equals 40 units/mL. An order for 1,000 units/hr requires 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pharmacy label and standardized concentration. Independently verify high-alert infusions as policy requires.</a:t>
            </a:r>
          </a:p>
        </p:txBody>
      </p:sp>
      <p:sp>
        <p:nvSpPr>
          <p:cNvPr id="6" name="">
            <a:extLst xmlns:a="http://schemas.openxmlformats.org/drawingml/2006/main">
              <a:ext uri="{FF2B5EF4-FFF2-40B4-BE49-F238E27FC236}">
                <a16:creationId xmlns:a16="http://schemas.microsoft.com/office/drawing/2014/main" id="{A4D22DA6-667D-4685-BE5A-F99F4A844D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61628746"/>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6D7ADE9-F121-4059-90F4-5C5C00C555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5A62C05-B979-4C0B-95DA-B8713ACDFF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Intake and output calculation</a:t>
            </a:r>
          </a:p>
        </p:txBody>
      </p:sp>
      <p:sp>
        <p:nvSpPr>
          <p:cNvPr id="3" name="">
            <a:extLst xmlns:a="http://schemas.openxmlformats.org/drawingml/2006/main">
              <a:ext uri="{FF2B5EF4-FFF2-40B4-BE49-F238E27FC236}">
                <a16:creationId xmlns:a16="http://schemas.microsoft.com/office/drawing/2014/main" id="{A0620749-A163-413E-815C-8902769E6A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D475605-C183-484D-A937-7FA7C75E4E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38A70BB2-A1B6-4173-8F05-9D4C73087032}"/>
              </a:ext>
            </a:extLst>
          </p:cNvPr>
          <p:cNvSpPr>
            <a:spLocks xmlns:a="http://schemas.openxmlformats.org/drawingml/2006/main" noGrp="1"/>
          </p:cNvSpPr>
          <p:nvPr/>
        </p:nvSpPr>
        <p:spPr>
          <a:xfrm xmlns:a="http://schemas.openxmlformats.org/drawingml/2006/main">
            <a:off x="781050"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B46BD13-3F65-4BFB-A778-E8068064C857}"/>
              </a:ext>
            </a:extLst>
          </p:cNvPr>
          <p:cNvSpPr>
            <a:spLocks xmlns:a="http://schemas.openxmlformats.org/drawingml/2006/main" noGrp="1"/>
          </p:cNvSpPr>
          <p:nvPr/>
        </p:nvSpPr>
        <p:spPr>
          <a:xfrm xmlns:a="http://schemas.openxmlformats.org/drawingml/2006/main">
            <a:off x="876300"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Include as intake</a:t>
            </a:r>
          </a:p>
        </p:txBody>
      </p:sp>
      <p:sp>
        <p:nvSpPr>
          <p:cNvPr id="7" name="">
            <a:extLst xmlns:a="http://schemas.openxmlformats.org/drawingml/2006/main">
              <a:ext uri="{FF2B5EF4-FFF2-40B4-BE49-F238E27FC236}">
                <a16:creationId xmlns:a16="http://schemas.microsoft.com/office/drawing/2014/main" id="{3962703B-BA89-41D5-A5BB-9AF4FB5909A6}"/>
              </a:ext>
            </a:extLst>
          </p:cNvPr>
          <p:cNvSpPr>
            <a:spLocks xmlns:a="http://schemas.openxmlformats.org/drawingml/2006/main" noGrp="1"/>
          </p:cNvSpPr>
          <p:nvPr/>
        </p:nvSpPr>
        <p:spPr>
          <a:xfrm xmlns:a="http://schemas.openxmlformats.org/drawingml/2006/main">
            <a:off x="6067425"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D2B357E-FC34-4C84-8006-6BFCA8BAAB86}"/>
              </a:ext>
            </a:extLst>
          </p:cNvPr>
          <p:cNvSpPr>
            <a:spLocks xmlns:a="http://schemas.openxmlformats.org/drawingml/2006/main" noGrp="1"/>
          </p:cNvSpPr>
          <p:nvPr/>
        </p:nvSpPr>
        <p:spPr>
          <a:xfrm xmlns:a="http://schemas.openxmlformats.org/drawingml/2006/main">
            <a:off x="6162675"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Include as output</a:t>
            </a:r>
          </a:p>
        </p:txBody>
      </p:sp>
      <p:sp>
        <p:nvSpPr>
          <p:cNvPr id="9" name="">
            <a:extLst xmlns:a="http://schemas.openxmlformats.org/drawingml/2006/main">
              <a:ext uri="{FF2B5EF4-FFF2-40B4-BE49-F238E27FC236}">
                <a16:creationId xmlns:a16="http://schemas.microsoft.com/office/drawing/2014/main" id="{855B6807-EBA7-4D46-9C30-D3C8C844F17B}"/>
              </a:ext>
            </a:extLst>
          </p:cNvPr>
          <p:cNvSpPr>
            <a:spLocks xmlns:a="http://schemas.openxmlformats.org/drawingml/2006/main" noGrp="1"/>
          </p:cNvSpPr>
          <p:nvPr/>
        </p:nvSpPr>
        <p:spPr>
          <a:xfrm xmlns:a="http://schemas.openxmlformats.org/drawingml/2006/main">
            <a:off x="781050"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31FE28B-4665-4ABF-8AC3-91861781FB44}"/>
              </a:ext>
            </a:extLst>
          </p:cNvPr>
          <p:cNvSpPr>
            <a:spLocks xmlns:a="http://schemas.openxmlformats.org/drawingml/2006/main" noGrp="1"/>
          </p:cNvSpPr>
          <p:nvPr/>
        </p:nvSpPr>
        <p:spPr>
          <a:xfrm xmlns:a="http://schemas.openxmlformats.org/drawingml/2006/main">
            <a:off x="876300"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Oral liquids, enteral fluids, IV solutions, blood products, liquid medications when policy requires</a:t>
            </a:r>
          </a:p>
        </p:txBody>
      </p:sp>
      <p:sp>
        <p:nvSpPr>
          <p:cNvPr id="11" name="">
            <a:extLst xmlns:a="http://schemas.openxmlformats.org/drawingml/2006/main">
              <a:ext uri="{FF2B5EF4-FFF2-40B4-BE49-F238E27FC236}">
                <a16:creationId xmlns:a16="http://schemas.microsoft.com/office/drawing/2014/main" id="{E1D4E6F9-B1E4-4FC0-B357-64B950D3FFF6}"/>
              </a:ext>
            </a:extLst>
          </p:cNvPr>
          <p:cNvSpPr>
            <a:spLocks xmlns:a="http://schemas.openxmlformats.org/drawingml/2006/main" noGrp="1"/>
          </p:cNvSpPr>
          <p:nvPr/>
        </p:nvSpPr>
        <p:spPr>
          <a:xfrm xmlns:a="http://schemas.openxmlformats.org/drawingml/2006/main">
            <a:off x="6067425"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AB1940D-B4A3-4D83-ACE8-43DC328D338F}"/>
              </a:ext>
            </a:extLst>
          </p:cNvPr>
          <p:cNvSpPr>
            <a:spLocks xmlns:a="http://schemas.openxmlformats.org/drawingml/2006/main" noGrp="1"/>
          </p:cNvSpPr>
          <p:nvPr/>
        </p:nvSpPr>
        <p:spPr>
          <a:xfrm xmlns:a="http://schemas.openxmlformats.org/drawingml/2006/main">
            <a:off x="6162675"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Urine, emesis, liquid stool, drains, suction, and other measurable losses</a:t>
            </a:r>
          </a:p>
        </p:txBody>
      </p:sp>
      <p:sp>
        <p:nvSpPr>
          <p:cNvPr id="13" name="">
            <a:extLst xmlns:a="http://schemas.openxmlformats.org/drawingml/2006/main">
              <a:ext uri="{FF2B5EF4-FFF2-40B4-BE49-F238E27FC236}">
                <a16:creationId xmlns:a16="http://schemas.microsoft.com/office/drawing/2014/main" id="{650426EB-5948-4F4B-BA2A-ACE567960E1D}"/>
              </a:ext>
            </a:extLst>
          </p:cNvPr>
          <p:cNvSpPr>
            <a:spLocks xmlns:a="http://schemas.openxmlformats.org/drawingml/2006/main" noGrp="1"/>
          </p:cNvSpPr>
          <p:nvPr/>
        </p:nvSpPr>
        <p:spPr>
          <a:xfrm xmlns:a="http://schemas.openxmlformats.org/drawingml/2006/main">
            <a:off x="781050"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C606171-A356-436B-A880-A5DAE8756FF6}"/>
              </a:ext>
            </a:extLst>
          </p:cNvPr>
          <p:cNvSpPr>
            <a:spLocks xmlns:a="http://schemas.openxmlformats.org/drawingml/2006/main" noGrp="1"/>
          </p:cNvSpPr>
          <p:nvPr/>
        </p:nvSpPr>
        <p:spPr>
          <a:xfrm xmlns:a="http://schemas.openxmlformats.org/drawingml/2006/main">
            <a:off x="876300"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all measures to mL and total for the defined period</a:t>
            </a:r>
          </a:p>
        </p:txBody>
      </p:sp>
      <p:sp>
        <p:nvSpPr>
          <p:cNvPr id="15" name="">
            <a:extLst xmlns:a="http://schemas.openxmlformats.org/drawingml/2006/main">
              <a:ext uri="{FF2B5EF4-FFF2-40B4-BE49-F238E27FC236}">
                <a16:creationId xmlns:a16="http://schemas.microsoft.com/office/drawing/2014/main" id="{3B5F6872-F080-4EF7-8D88-C319C70356EF}"/>
              </a:ext>
            </a:extLst>
          </p:cNvPr>
          <p:cNvSpPr>
            <a:spLocks xmlns:a="http://schemas.openxmlformats.org/drawingml/2006/main" noGrp="1"/>
          </p:cNvSpPr>
          <p:nvPr/>
        </p:nvSpPr>
        <p:spPr>
          <a:xfrm xmlns:a="http://schemas.openxmlformats.org/drawingml/2006/main">
            <a:off x="6067425"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B73EF16-9715-4E70-A48A-D4F1D4D316E7}"/>
              </a:ext>
            </a:extLst>
          </p:cNvPr>
          <p:cNvSpPr>
            <a:spLocks xmlns:a="http://schemas.openxmlformats.org/drawingml/2006/main" noGrp="1"/>
          </p:cNvSpPr>
          <p:nvPr/>
        </p:nvSpPr>
        <p:spPr>
          <a:xfrm xmlns:a="http://schemas.openxmlformats.org/drawingml/2006/main">
            <a:off x="6162675"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time, source, and measurement method</a:t>
            </a:r>
          </a:p>
        </p:txBody>
      </p:sp>
      <p:sp>
        <p:nvSpPr>
          <p:cNvPr id="17" name="">
            <a:extLst xmlns:a="http://schemas.openxmlformats.org/drawingml/2006/main">
              <a:ext uri="{FF2B5EF4-FFF2-40B4-BE49-F238E27FC236}">
                <a16:creationId xmlns:a16="http://schemas.microsoft.com/office/drawing/2014/main" id="{7CFFBCA2-3842-440A-9F82-D9B9B4FA15FF}"/>
              </a:ext>
            </a:extLst>
          </p:cNvPr>
          <p:cNvSpPr>
            <a:spLocks xmlns:a="http://schemas.openxmlformats.org/drawingml/2006/main" noGrp="1"/>
          </p:cNvSpPr>
          <p:nvPr/>
        </p:nvSpPr>
        <p:spPr>
          <a:xfrm xmlns:a="http://schemas.openxmlformats.org/drawingml/2006/main">
            <a:off x="781050"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F71332B-CBF7-421E-AF64-1599D7D08E50}"/>
              </a:ext>
            </a:extLst>
          </p:cNvPr>
          <p:cNvSpPr>
            <a:spLocks xmlns:a="http://schemas.openxmlformats.org/drawingml/2006/main" noGrp="1"/>
          </p:cNvSpPr>
          <p:nvPr/>
        </p:nvSpPr>
        <p:spPr>
          <a:xfrm xmlns:a="http://schemas.openxmlformats.org/drawingml/2006/main">
            <a:off x="876300"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Balance = total intake minus total output</a:t>
            </a:r>
          </a:p>
        </p:txBody>
      </p:sp>
      <p:sp>
        <p:nvSpPr>
          <p:cNvPr id="19" name="">
            <a:extLst xmlns:a="http://schemas.openxmlformats.org/drawingml/2006/main">
              <a:ext uri="{FF2B5EF4-FFF2-40B4-BE49-F238E27FC236}">
                <a16:creationId xmlns:a16="http://schemas.microsoft.com/office/drawing/2014/main" id="{45758002-E478-4B6D-B3D7-A11B5BB3AF4C}"/>
              </a:ext>
            </a:extLst>
          </p:cNvPr>
          <p:cNvSpPr>
            <a:spLocks xmlns:a="http://schemas.openxmlformats.org/drawingml/2006/main" noGrp="1"/>
          </p:cNvSpPr>
          <p:nvPr/>
        </p:nvSpPr>
        <p:spPr>
          <a:xfrm xmlns:a="http://schemas.openxmlformats.org/drawingml/2006/main">
            <a:off x="6067425"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C55FEFA-96F5-4906-BA41-62E5CAD27687}"/>
              </a:ext>
            </a:extLst>
          </p:cNvPr>
          <p:cNvSpPr>
            <a:spLocks xmlns:a="http://schemas.openxmlformats.org/drawingml/2006/main" noGrp="1"/>
          </p:cNvSpPr>
          <p:nvPr/>
        </p:nvSpPr>
        <p:spPr>
          <a:xfrm xmlns:a="http://schemas.openxmlformats.org/drawingml/2006/main">
            <a:off x="6162675"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Interpret the balance with daily weight, assessment, and clinical condition</a:t>
            </a:r>
          </a:p>
        </p:txBody>
      </p:sp>
    </p:spTree>
    <p:extLst>
      <p:ext uri="{BB962C8B-B14F-4D97-AF65-F5344CB8AC3E}">
        <p14:creationId xmlns:p14="http://schemas.microsoft.com/office/powerpoint/2010/main" val="716645342"/>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C1C39E-A8E5-43F6-B4DB-A0D571A8D7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198F9C-E8B1-40DC-8A62-EBB52B2F1A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1F4B9B09-1BE5-48F8-B8E6-4991DE705D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55DBC13-D8E0-487E-925B-0D8DE96C9C3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3618D7B8-163A-4569-9D67-F5730BB9428F}"/>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5B211DA7-3007-45A8-9F46-48599AE59B0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43009127"/>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060F92-4299-4965-A437-A6A3A5A7B3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88DA65-31FC-48D6-B001-79376C10DA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B8C8AA26-898E-4A6E-AB54-70AC855C41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1E2A186-A468-42A0-9B8B-FC3D402A8F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E8C5C1C4-D66F-45CC-87FA-BF5E37FB9FF3}"/>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BD3D3D52-13FD-464C-B1AA-E2A33397447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7677856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2026-10-23T09:51:03.7730000Z</dcterms:created>
  <dcterms:modified xsi:type="dcterms:W3CDTF">2026-10-23T09:51:03.7730000Z</dcterms:modified>
</coreProperties>
</file>