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354100cdc54d88" /><Relationship Type="http://schemas.openxmlformats.org/officeDocument/2006/relationships/extended-properties" Target="/docProps/app.xml" Id="R8bfbc6ed97e84cb0" /><Relationship Type="http://schemas.openxmlformats.org/officeDocument/2006/relationships/officeDocument" Target="/ppt/presentation.xml" Id="Ra4758b8c42974dcc" /></Relationships>
</file>

<file path=ppt/presentation.xml><?xml version="1.0" encoding="utf-8"?>
<p:presentation xmlns:p="http://schemas.openxmlformats.org/presentationml/2006/main">
  <p:sldMasterIdLst>
    <p:sldMasterId xmlns:r="http://schemas.openxmlformats.org/officeDocument/2006/relationships" id="2147483648" r:id="Rb60b880438704814"/>
  </p:sldMasterIdLst>
  <p:notesMasterIdLst>
    <p:notesMasterId xmlns:r="http://schemas.openxmlformats.org/officeDocument/2006/relationships" r:id="R1a1252bb9f264d2c"/>
  </p:notesMasterIdLst>
  <p:sldIdLst>
    <p:sldId xmlns:r="http://schemas.openxmlformats.org/officeDocument/2006/relationships" id="256" r:id="R7f6c00568c6d4347"/>
    <p:sldId xmlns:r="http://schemas.openxmlformats.org/officeDocument/2006/relationships" id="257" r:id="Ra0f666416b854cdd"/>
    <p:sldId xmlns:r="http://schemas.openxmlformats.org/officeDocument/2006/relationships" id="258" r:id="R50746d9b1bcc4431"/>
    <p:sldId xmlns:r="http://schemas.openxmlformats.org/officeDocument/2006/relationships" id="259" r:id="Rebc0406497d84d88"/>
    <p:sldId xmlns:r="http://schemas.openxmlformats.org/officeDocument/2006/relationships" id="260" r:id="Rd0b54f6f242e47f7"/>
    <p:sldId xmlns:r="http://schemas.openxmlformats.org/officeDocument/2006/relationships" id="261" r:id="R529098a33feb425f"/>
    <p:sldId xmlns:r="http://schemas.openxmlformats.org/officeDocument/2006/relationships" id="262" r:id="R3dbb56ab816f4c65"/>
    <p:sldId xmlns:r="http://schemas.openxmlformats.org/officeDocument/2006/relationships" id="263" r:id="R73f905800306440e"/>
    <p:sldId xmlns:r="http://schemas.openxmlformats.org/officeDocument/2006/relationships" id="264" r:id="Rfd3e3fde3ddf4181"/>
    <p:sldId xmlns:r="http://schemas.openxmlformats.org/officeDocument/2006/relationships" id="265" r:id="R7f4b5c736b424a01"/>
    <p:sldId xmlns:r="http://schemas.openxmlformats.org/officeDocument/2006/relationships" id="266" r:id="R692eb5eaf29b40a5"/>
    <p:sldId xmlns:r="http://schemas.openxmlformats.org/officeDocument/2006/relationships" id="267" r:id="Rb42c391e58bd49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9395ea9ef244d9" /><Relationship Type="http://schemas.openxmlformats.org/officeDocument/2006/relationships/slideMaster" Target="/ppt/slideMasters/slideMaster1.xml" Id="Rb60b880438704814" /><Relationship Type="http://schemas.openxmlformats.org/officeDocument/2006/relationships/notesMaster" Target="/ppt/notesMasters/notesMaster1.xml" Id="R1a1252bb9f264d2c" /><Relationship Type="http://schemas.openxmlformats.org/officeDocument/2006/relationships/presProps" Target="/ppt/presProps.xml" Id="Re69a27a2893a4571" /><Relationship Type="http://schemas.openxmlformats.org/officeDocument/2006/relationships/tableStyles" Target="/ppt/tableStyles.xml" Id="R6bf38f9580634922" /><Relationship Type="http://schemas.openxmlformats.org/officeDocument/2006/relationships/slide" Target="/ppt/slides/slide1.xml" Id="R7f6c00568c6d4347" /><Relationship Type="http://schemas.openxmlformats.org/officeDocument/2006/relationships/slide" Target="/ppt/slides/slide2.xml" Id="Ra0f666416b854cdd" /><Relationship Type="http://schemas.openxmlformats.org/officeDocument/2006/relationships/slide" Target="/ppt/slides/slide3.xml" Id="R50746d9b1bcc4431" /><Relationship Type="http://schemas.openxmlformats.org/officeDocument/2006/relationships/slide" Target="/ppt/slides/slide4.xml" Id="Rebc0406497d84d88" /><Relationship Type="http://schemas.openxmlformats.org/officeDocument/2006/relationships/slide" Target="/ppt/slides/slide5.xml" Id="Rd0b54f6f242e47f7" /><Relationship Type="http://schemas.openxmlformats.org/officeDocument/2006/relationships/slide" Target="/ppt/slides/slide6.xml" Id="R529098a33feb425f" /><Relationship Type="http://schemas.openxmlformats.org/officeDocument/2006/relationships/slide" Target="/ppt/slides/slide7.xml" Id="R3dbb56ab816f4c65" /><Relationship Type="http://schemas.openxmlformats.org/officeDocument/2006/relationships/slide" Target="/ppt/slides/slide8.xml" Id="R73f905800306440e" /><Relationship Type="http://schemas.openxmlformats.org/officeDocument/2006/relationships/slide" Target="/ppt/slides/slide9.xml" Id="Rfd3e3fde3ddf4181" /><Relationship Type="http://schemas.openxmlformats.org/officeDocument/2006/relationships/slide" Target="/ppt/slides/slide10.xml" Id="R7f4b5c736b424a01" /><Relationship Type="http://schemas.openxmlformats.org/officeDocument/2006/relationships/slide" Target="/ppt/slides/slide11.xml" Id="R692eb5eaf29b40a5" /><Relationship Type="http://schemas.openxmlformats.org/officeDocument/2006/relationships/slide" Target="/ppt/slides/slide12.xml" Id="Rb42c391e58bd49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8b2b561dbf4f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538ee9ea6b4555" /><Relationship Type="http://schemas.openxmlformats.org/officeDocument/2006/relationships/notesMaster" Target="/ppt/notesMasters/notesMaster1.xml" Id="R5a02881803ef40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0ef4d3276d42c8" /><Relationship Type="http://schemas.openxmlformats.org/officeDocument/2006/relationships/notesMaster" Target="/ppt/notesMasters/notesMaster1.xml" Id="Rc224c320015643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1d70a485154d39" /><Relationship Type="http://schemas.openxmlformats.org/officeDocument/2006/relationships/notesMaster" Target="/ppt/notesMasters/notesMaster1.xml" Id="R262d471e717e44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29d90b9b2c4801" /><Relationship Type="http://schemas.openxmlformats.org/officeDocument/2006/relationships/notesMaster" Target="/ppt/notesMasters/notesMaster1.xml" Id="R537bd749df1340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9fa1870449452d" /><Relationship Type="http://schemas.openxmlformats.org/officeDocument/2006/relationships/notesMaster" Target="/ppt/notesMasters/notesMaster1.xml" Id="R832e1e0920584b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e5cf94836242c3" /><Relationship Type="http://schemas.openxmlformats.org/officeDocument/2006/relationships/notesMaster" Target="/ppt/notesMasters/notesMaster1.xml" Id="R5e8071ea82164f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f23ae9aa6b4a1b" /><Relationship Type="http://schemas.openxmlformats.org/officeDocument/2006/relationships/notesMaster" Target="/ppt/notesMasters/notesMaster1.xml" Id="R83e4978caacd42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2d68c50c3243e4" /><Relationship Type="http://schemas.openxmlformats.org/officeDocument/2006/relationships/notesMaster" Target="/ppt/notesMasters/notesMaster1.xml" Id="Raf1da4f164ca4d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470f7753844e9f" /><Relationship Type="http://schemas.openxmlformats.org/officeDocument/2006/relationships/notesMaster" Target="/ppt/notesMasters/notesMaster1.xml" Id="R548dac07ed874c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347a58bfea41d3" /><Relationship Type="http://schemas.openxmlformats.org/officeDocument/2006/relationships/notesMaster" Target="/ppt/notesMasters/notesMaster1.xml" Id="Rd0314459239641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0364a36c8e4839" /><Relationship Type="http://schemas.openxmlformats.org/officeDocument/2006/relationships/notesMaster" Target="/ppt/notesMasters/notesMaster1.xml" Id="R78c9ebf863f144c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6ccbaed4144407" /><Relationship Type="http://schemas.openxmlformats.org/officeDocument/2006/relationships/notesMaster" Target="/ppt/notesMasters/notesMaster1.xml" Id="Raaaf410d7a1048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Chemotherapy Safety, Module 6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Cover media: Pexels photo by Roman Muntean, https://www.pexels.com/photo/medical-professionals-wearing-personal-protective-equipment-14513020/,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major treatment concepts and common adverse effects Next, Describe safe handling and exposure precautions Next, Recognize extravasation and other urgent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Role and limits. First, Cancer therapy may use multiple agents and routes. Next, LPN participation must stay within current Florida rules, direct-supervision requirements, validated competency, and institutional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assessment. First, Review the regimen, laboratory results, allergies, access device, premedications, hydration, current symptoms, and emergency plan. Next, Verify the protocol and independent checks required for high-alert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Exposure prevention. First, Use chemotherapy-rated PPE and closed or secure connections according to policy. Next, Keep required spill materials available. Next, Dispose of contaminated supplies and bodily waste using hazardous-drug procedures.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First, Pain, burning, swelling, resistance, leakage, or loss of blood return can signal extravasation. Next,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is a high-alert workflow. First, Confirm the protocol, current cycle and day, dose basis, laboratory criteria, premedications, route, and access device. Next, Use every required independent check and never assume a prior cycle makes the current order correct. Next, Participate only within legal scope, validated competency, and direct-supervision requirements.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Hazardous-drug exposure routes. First, Skin or eye contact: Chemotherapy-rated gloves, gown, face and eye protection as indicated Next, Inhalation: Avoid aerosol generation and use required engineering controls Next, Sharps injury: Use safety devices and never recap Next, Contaminated waste or body fluids: Follow hazardous-waste and excreta precautions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warning signs. First, Pain, burning, stinging, swelling, blanching, redness, leakage, resistance, or absent blood return may signal extravasation. Next, Stop the infusion immediately; do not flush. Next, Leave the catheter in place when the agent-specific protocol calls for aspiration or antidote. Next, Notify the qualified clinician and follow the exact drug-specific protocol for aspiration, antidote, compress, elevation, documentation, and follow-up.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findings that require escalation. First, Airway symptoms, hypotension, severe dyspnea, or rapidly worsening reaction. Next, Fever or infection symptoms in an immunocompromised patient. Next, Unexpected bleeding, severe vomiting or diarrhea, altered mental status, or critical laboratory results. Next, Assess, stop or hold therapy as authorized, and activate the emergency pathway.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Identify findings that require an immediate stop Next, Select PPE for preparation, administration, and spill response Next, Rehearse the facility extravasation algorithm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major treatment concepts and common adverse effects Next, Review the regimen, laboratory results, allergies, access device, premedications, hydration, current symptoms, and emergency plan. Verify the protocol and independent checks required for high-alert therapy. Next, Pain, burning, swelling, resistance, leakage, or loss of blood return can signal extravasation.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1c599b64aa42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450c7c0d3144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259cf4346242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cffac492f2430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0777add282143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ad512cd7ad4d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C90650-BFAC-40AA-A527-17FE4563AD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5C484B-796B-4AEE-ADDF-9134452AE47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EC63A8-22CE-4A89-AAFD-B47B141968F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0A0195-2045-4B28-BF60-A3083935F7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070721-109F-4C7B-8EAF-B93E335B65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68C770-80B7-4A53-BA20-B945688427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3FBE21-AFDA-4480-8551-0D2E7A6076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65C683-E2EE-429E-A6D9-0B2286D611B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523A5C-CF9D-43ED-AFB7-FBD43F1CA5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551540-7E58-4305-8B32-F9052FA0E2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81e21f922e4b74" /><Relationship Type="http://schemas.openxmlformats.org/officeDocument/2006/relationships/slideLayout" Target="/ppt/slideLayouts/slideLayout1.xml" Id="Rfb543dd3790a4790" /><Relationship Type="http://schemas.openxmlformats.org/officeDocument/2006/relationships/slideLayout" Target="/ppt/slideLayouts/slideLayout2.xml" Id="Rb1bcf5dff54b4a38" /><Relationship Type="http://schemas.openxmlformats.org/officeDocument/2006/relationships/slideLayout" Target="/ppt/slideLayouts/slideLayout3.xml" Id="Rb51341ad0276425f" /><Relationship Type="http://schemas.openxmlformats.org/officeDocument/2006/relationships/slideLayout" Target="/ppt/slideLayouts/slideLayout4.xml" Id="R19428dae8a444e05" /><Relationship Type="http://schemas.openxmlformats.org/officeDocument/2006/relationships/slideLayout" Target="/ppt/slideLayouts/slideLayout5.xml" Id="R3fda1b45b0924b12" /><Relationship Type="http://schemas.openxmlformats.org/officeDocument/2006/relationships/slideLayout" Target="/ppt/slideLayouts/slideLayout6.xml" Id="R6ff7ba5d38784d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543dd3790a4790"/>
    <p:sldLayoutId xmlns:r="http://schemas.openxmlformats.org/officeDocument/2006/relationships" id="2147483650" r:id="Rb1bcf5dff54b4a38"/>
    <p:sldLayoutId xmlns:r="http://schemas.openxmlformats.org/officeDocument/2006/relationships" id="2147483651" r:id="Rb51341ad0276425f"/>
    <p:sldLayoutId xmlns:r="http://schemas.openxmlformats.org/officeDocument/2006/relationships" id="2147483652" r:id="R19428dae8a444e05"/>
    <p:sldLayoutId xmlns:r="http://schemas.openxmlformats.org/officeDocument/2006/relationships" id="2147483653" r:id="R3fda1b45b0924b12"/>
    <p:sldLayoutId xmlns:r="http://schemas.openxmlformats.org/officeDocument/2006/relationships" id="2147483654" r:id="R6ff7ba5d38784d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693269be4e54c38" /><Relationship Type="http://schemas.openxmlformats.org/officeDocument/2006/relationships/image" Target="/ppt/media/image.jpeg" Id="R279376e2cef942b0" /><Relationship Type="http://schemas.openxmlformats.org/officeDocument/2006/relationships/notesSlide" Target="/ppt/notesSlides/notesSlide1.xml" Id="Rd20dccd00dc249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9cd8f37e5d476f" /><Relationship Type="http://schemas.openxmlformats.org/officeDocument/2006/relationships/notesSlide" Target="/ppt/notesSlides/notesSlide2.xml" Id="Rb9c3703fd9a849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7ea20d2c98c42ff" /><Relationship Type="http://schemas.openxmlformats.org/officeDocument/2006/relationships/notesSlide" Target="/ppt/notesSlides/notesSlide3.xml" Id="R0d63e30582db49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b5bf3585d149d9" /><Relationship Type="http://schemas.openxmlformats.org/officeDocument/2006/relationships/notesSlide" Target="/ppt/notesSlides/notesSlide4.xml" Id="R818c45a9351646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86843f4ce1c4dcd" /><Relationship Type="http://schemas.openxmlformats.org/officeDocument/2006/relationships/notesSlide" Target="/ppt/notesSlides/notesSlide5.xml" Id="Rb9de95fd7a9542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66bc73972014666" /><Relationship Type="http://schemas.openxmlformats.org/officeDocument/2006/relationships/notesSlide" Target="/ppt/notesSlides/notesSlide6.xml" Id="R25675fac3a0d42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aecc45d3074214" /><Relationship Type="http://schemas.openxmlformats.org/officeDocument/2006/relationships/notesSlide" Target="/ppt/notesSlides/notesSlide7.xml" Id="R5e99d23e2f3143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54d3c68516d46f4" /><Relationship Type="http://schemas.openxmlformats.org/officeDocument/2006/relationships/notesSlide" Target="/ppt/notesSlides/notesSlide8.xml" Id="R61bc3bcba11645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0d5d4663404d6d" /><Relationship Type="http://schemas.openxmlformats.org/officeDocument/2006/relationships/notesSlide" Target="/ppt/notesSlides/notesSlide9.xml" Id="R5b4eeb99d68945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1fafb3d6fb1494a" /><Relationship Type="http://schemas.openxmlformats.org/officeDocument/2006/relationships/notesSlide" Target="/ppt/notesSlides/notesSlide10.xml" Id="Re24903bfeb6f44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bb0686cea5c4808" /><Relationship Type="http://schemas.openxmlformats.org/officeDocument/2006/relationships/notesSlide" Target="/ppt/notesSlides/notesSlide11.xml" Id="Ra16a0d28416740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ef56533ffaf4083" /><Relationship Type="http://schemas.openxmlformats.org/officeDocument/2006/relationships/notesSlide" Target="/ppt/notesSlides/notesSlide12.xml" Id="R57682172fa404ea9"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52A5CBA-DEFB-413B-BB07-D64682E5163B}"/>
              </a:ext>
            </a:extLst>
          </p:cNvPr>
          <p:cNvPicPr>
            <a:picLocks xmlns:a="http://schemas.openxmlformats.org/drawingml/2006/main" noChangeAspect="1"/>
          </p:cNvPicPr>
          <p:nvPr/>
        </p:nvPicPr>
        <p:blipFill>
          <a:blip xmlns:r="http://schemas.openxmlformats.org/officeDocument/2006/relationships" xmlns:a="http://schemas.openxmlformats.org/drawingml/2006/main" r:embed="R279376e2cef942b0"/>
          <a:srcRect xmlns:a="http://schemas.openxmlformats.org/drawingml/2006/main" l="2189" t="0" r="218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793CE4-0DA6-416B-A8A1-1CD1C48E0E01}"/>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34C3AD3-C766-4E01-B24D-FB03EB870569}"/>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A917E822-3416-4A9D-8D8C-0ABEB1AF1145}"/>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999BB97D-9377-4C11-9F50-AADD306053A5}"/>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Chemotherapy Safety</a:t>
            </a:r>
          </a:p>
        </p:txBody>
      </p:sp>
      <p:sp>
        <p:nvSpPr>
          <p:cNvPr id="6" name="">
            <a:extLst xmlns:a="http://schemas.openxmlformats.org/drawingml/2006/main">
              <a:ext uri="{FF2B5EF4-FFF2-40B4-BE49-F238E27FC236}">
                <a16:creationId xmlns:a16="http://schemas.microsoft.com/office/drawing/2014/main" id="{1A1F69A9-3411-4C37-9728-E9BE485E8E2A}"/>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6  |  30-Hour Basic Intravenous Therapy</a:t>
            </a:r>
          </a:p>
        </p:txBody>
      </p:sp>
      <p:sp>
        <p:nvSpPr>
          <p:cNvPr id="7" name="">
            <a:extLst xmlns:a="http://schemas.openxmlformats.org/drawingml/2006/main">
              <a:ext uri="{FF2B5EF4-FFF2-40B4-BE49-F238E27FC236}">
                <a16:creationId xmlns:a16="http://schemas.microsoft.com/office/drawing/2014/main" id="{51DA5D1A-0DAC-4993-A717-45F60ADA4192}"/>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36101225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4D2C96-C185-4488-89B5-E70E6D19EC6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F555AB-1CBD-4AD5-9E2A-B0EEE87A82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DAF778FE-F19F-46F3-BD52-0070D052302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9A4A29C-6062-4F67-8BC7-D067998D9CA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FA1DEBD3-C7DE-46EC-8620-329EC1727DF2}"/>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safe handling and exposure precautions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extravasation and other urgent complications</a:t>
            </a:r>
          </a:p>
        </p:txBody>
      </p:sp>
    </p:spTree>
    <p:extLst>
      <p:ext uri="{BB962C8B-B14F-4D97-AF65-F5344CB8AC3E}">
        <p14:creationId xmlns:p14="http://schemas.microsoft.com/office/powerpoint/2010/main" val="194446307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75628B-0716-4BD3-BC02-898316EF3F2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FD62524-27F2-4C2A-B476-648265AA70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Role and limits</a:t>
            </a:r>
          </a:p>
        </p:txBody>
      </p:sp>
      <p:sp>
        <p:nvSpPr>
          <p:cNvPr id="3" name="">
            <a:extLst xmlns:a="http://schemas.openxmlformats.org/drawingml/2006/main">
              <a:ext uri="{FF2B5EF4-FFF2-40B4-BE49-F238E27FC236}">
                <a16:creationId xmlns:a16="http://schemas.microsoft.com/office/drawing/2014/main" id="{A348CCC2-932A-4CBF-9A4D-37050AFD9FD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80E71CE-1E4E-4422-AB3F-CF74A8ACC7B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FDA5062-BC06-407D-A4D1-098A0C3246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Cancer therapy may use multiple agents and routes.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LPN participation must stay within current Florida rules, direct-supervision requirements, validated competency, and institutional policy.</a:t>
            </a:r>
          </a:p>
        </p:txBody>
      </p:sp>
      <p:sp>
        <p:nvSpPr>
          <p:cNvPr id="6" name="">
            <a:extLst xmlns:a="http://schemas.openxmlformats.org/drawingml/2006/main">
              <a:ext uri="{FF2B5EF4-FFF2-40B4-BE49-F238E27FC236}">
                <a16:creationId xmlns:a16="http://schemas.microsoft.com/office/drawing/2014/main" id="{6FF2F4EE-C964-485A-99C1-A61A0B5DC5F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65565358"/>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E8203D-6EFB-48B0-9696-49561A4010C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755F49C-3937-4857-8B90-38D4CE331B2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assessment</a:t>
            </a:r>
          </a:p>
        </p:txBody>
      </p:sp>
      <p:sp>
        <p:nvSpPr>
          <p:cNvPr id="3" name="">
            <a:extLst xmlns:a="http://schemas.openxmlformats.org/drawingml/2006/main">
              <a:ext uri="{FF2B5EF4-FFF2-40B4-BE49-F238E27FC236}">
                <a16:creationId xmlns:a16="http://schemas.microsoft.com/office/drawing/2014/main" id="{E89C8618-E1C4-49E4-8EF7-803C84DDFC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B75DF66-B04E-43CD-8334-70AAD985852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B3D5F12D-A227-47C9-BA77-1C6950ED3F8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Review the regimen, laboratory results, allergies, access device, premedications, hydration, current symptoms, and emergency plan.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protocol and independent checks required for high-alert therapy.</a:t>
            </a:r>
          </a:p>
        </p:txBody>
      </p:sp>
      <p:sp>
        <p:nvSpPr>
          <p:cNvPr id="6" name="">
            <a:extLst xmlns:a="http://schemas.openxmlformats.org/drawingml/2006/main">
              <a:ext uri="{FF2B5EF4-FFF2-40B4-BE49-F238E27FC236}">
                <a16:creationId xmlns:a16="http://schemas.microsoft.com/office/drawing/2014/main" id="{E3F88B3C-8D08-4F90-A9A6-D2436ACA67A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94126551"/>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080429-823F-4CA8-8B4B-129ECAB0553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23EA058-9A27-4A9A-AA64-9F69E2DE624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Exposure prevention</a:t>
            </a:r>
          </a:p>
        </p:txBody>
      </p:sp>
      <p:sp>
        <p:nvSpPr>
          <p:cNvPr id="3" name="">
            <a:extLst xmlns:a="http://schemas.openxmlformats.org/drawingml/2006/main">
              <a:ext uri="{FF2B5EF4-FFF2-40B4-BE49-F238E27FC236}">
                <a16:creationId xmlns:a16="http://schemas.microsoft.com/office/drawing/2014/main" id="{D6B39C6B-F672-4FFF-8BD7-46EE80731B5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30AA518-AC4F-4D82-BC6B-B6B6D189F05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C3A92BB4-30BC-47C3-A66F-994F07B5039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chemotherapy-rated PPE and closed or secure connections according to policy.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Keep required spill materials available.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Dispose of contaminated supplies and bodily waste using hazardous-drug procedures.</a:t>
            </a:r>
          </a:p>
        </p:txBody>
      </p:sp>
      <p:sp>
        <p:nvSpPr>
          <p:cNvPr id="6" name="">
            <a:extLst xmlns:a="http://schemas.openxmlformats.org/drawingml/2006/main">
              <a:ext uri="{FF2B5EF4-FFF2-40B4-BE49-F238E27FC236}">
                <a16:creationId xmlns:a16="http://schemas.microsoft.com/office/drawing/2014/main" id="{A92A9CD5-6193-4ACC-9AE1-0E4DC400A77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97743200"/>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BD3D6C-F18D-4D92-A2C8-177A1515A69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E712215-0E8B-4A0E-A110-B7D85241D6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a:t>
            </a:r>
          </a:p>
        </p:txBody>
      </p:sp>
      <p:sp>
        <p:nvSpPr>
          <p:cNvPr id="3" name="">
            <a:extLst xmlns:a="http://schemas.openxmlformats.org/drawingml/2006/main">
              <a:ext uri="{FF2B5EF4-FFF2-40B4-BE49-F238E27FC236}">
                <a16:creationId xmlns:a16="http://schemas.microsoft.com/office/drawing/2014/main" id="{74D3897E-B2FE-4D0F-A9FD-7B57EEADC9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8FB5653-3C16-488A-A14D-6BB4C4FA0B4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70F7AF4E-E8AA-44A5-AB0F-862F1754A0D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burning, swelling, resistance, leakage, or loss of blood return can signal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B9C3DA93-8EF0-4E41-9B77-E513A30AA44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23599186"/>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5871F3-3457-44F1-8B80-D6137867C09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334E13B-0266-4B49-80FE-7DFB481F91F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is a high-alert workflow</a:t>
            </a:r>
          </a:p>
        </p:txBody>
      </p:sp>
      <p:sp>
        <p:nvSpPr>
          <p:cNvPr id="3" name="">
            <a:extLst xmlns:a="http://schemas.openxmlformats.org/drawingml/2006/main">
              <a:ext uri="{FF2B5EF4-FFF2-40B4-BE49-F238E27FC236}">
                <a16:creationId xmlns:a16="http://schemas.microsoft.com/office/drawing/2014/main" id="{79427B64-68FF-4E1F-ACC8-D602CC84CE2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ECFC234-9F48-49D4-A2C5-A6DD1F8CAC4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93F87188-0A06-4CAF-81C8-7BE8114E82B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Confirm the protocol, current cycle and day, dose basis, laboratory criteria, premedications, route, and access device.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every required independent check and never assume a prior cycle makes the current order correct.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Participate only within legal scope, validated competency, and direct-supervision requirements.</a:t>
            </a:r>
          </a:p>
        </p:txBody>
      </p:sp>
      <p:sp>
        <p:nvSpPr>
          <p:cNvPr id="6" name="">
            <a:extLst xmlns:a="http://schemas.openxmlformats.org/drawingml/2006/main">
              <a:ext uri="{FF2B5EF4-FFF2-40B4-BE49-F238E27FC236}">
                <a16:creationId xmlns:a16="http://schemas.microsoft.com/office/drawing/2014/main" id="{E9C03B2F-C00C-4FA3-8D71-4A16FCE9C84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72735214"/>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0CCEDA1-FE8E-41FE-AA78-37F971DF07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C8B0EC-A42C-463A-8BF3-7B8E9DC97C7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Hazardous-drug exposure routes</a:t>
            </a:r>
          </a:p>
        </p:txBody>
      </p:sp>
      <p:sp>
        <p:nvSpPr>
          <p:cNvPr id="3" name="">
            <a:extLst xmlns:a="http://schemas.openxmlformats.org/drawingml/2006/main">
              <a:ext uri="{FF2B5EF4-FFF2-40B4-BE49-F238E27FC236}">
                <a16:creationId xmlns:a16="http://schemas.microsoft.com/office/drawing/2014/main" id="{587ABD59-0FF9-4096-83F7-DC866729DB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9A17CB3-CEBB-4FE3-870F-B206858AAC7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DF2040E8-909D-4B50-9682-D056D57C7E3B}"/>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0BAB291-EB77-4A47-A92B-D977C3F1809D}"/>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Route</a:t>
            </a:r>
          </a:p>
        </p:txBody>
      </p:sp>
      <p:sp>
        <p:nvSpPr>
          <p:cNvPr id="7" name="">
            <a:extLst xmlns:a="http://schemas.openxmlformats.org/drawingml/2006/main">
              <a:ext uri="{FF2B5EF4-FFF2-40B4-BE49-F238E27FC236}">
                <a16:creationId xmlns:a16="http://schemas.microsoft.com/office/drawing/2014/main" id="{78BE485E-82A5-4D94-B703-BF8E057B9E3B}"/>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F9E5C2D-E291-487B-89FB-333B84C25FDB}"/>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Prevention</a:t>
            </a:r>
          </a:p>
        </p:txBody>
      </p:sp>
      <p:sp>
        <p:nvSpPr>
          <p:cNvPr id="9" name="">
            <a:extLst xmlns:a="http://schemas.openxmlformats.org/drawingml/2006/main">
              <a:ext uri="{FF2B5EF4-FFF2-40B4-BE49-F238E27FC236}">
                <a16:creationId xmlns:a16="http://schemas.microsoft.com/office/drawing/2014/main" id="{D5B26EEC-B5DD-4437-9147-5842EE86A798}"/>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C93B4BB-2EFE-4B8D-ACB3-97D03432DE2D}"/>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or eye contact</a:t>
            </a:r>
          </a:p>
        </p:txBody>
      </p:sp>
      <p:sp>
        <p:nvSpPr>
          <p:cNvPr id="11" name="">
            <a:extLst xmlns:a="http://schemas.openxmlformats.org/drawingml/2006/main">
              <a:ext uri="{FF2B5EF4-FFF2-40B4-BE49-F238E27FC236}">
                <a16:creationId xmlns:a16="http://schemas.microsoft.com/office/drawing/2014/main" id="{1AFC1B7F-8CC7-4896-8BF6-7F43CECD69C0}"/>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A81D1C6-72F2-46AA-8992-24E3779D689B}"/>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Chemotherapy-rated gloves, gown, face and eye protection as indicated</a:t>
            </a:r>
          </a:p>
        </p:txBody>
      </p:sp>
      <p:sp>
        <p:nvSpPr>
          <p:cNvPr id="13" name="">
            <a:extLst xmlns:a="http://schemas.openxmlformats.org/drawingml/2006/main">
              <a:ext uri="{FF2B5EF4-FFF2-40B4-BE49-F238E27FC236}">
                <a16:creationId xmlns:a16="http://schemas.microsoft.com/office/drawing/2014/main" id="{84DC899F-9020-4164-8F0C-700BD74E119A}"/>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C2DEE18-D0F0-4D56-8218-3F51F205B186}"/>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Inhalation</a:t>
            </a:r>
          </a:p>
        </p:txBody>
      </p:sp>
      <p:sp>
        <p:nvSpPr>
          <p:cNvPr id="15" name="">
            <a:extLst xmlns:a="http://schemas.openxmlformats.org/drawingml/2006/main">
              <a:ext uri="{FF2B5EF4-FFF2-40B4-BE49-F238E27FC236}">
                <a16:creationId xmlns:a16="http://schemas.microsoft.com/office/drawing/2014/main" id="{A4FAA50B-2694-497A-B0A5-E949F4E8648C}"/>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C39D419-3CC4-4DD1-8FAB-83E6AA30A8A9}"/>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aerosol generation and use required engineering controls</a:t>
            </a:r>
          </a:p>
        </p:txBody>
      </p:sp>
      <p:sp>
        <p:nvSpPr>
          <p:cNvPr id="17" name="">
            <a:extLst xmlns:a="http://schemas.openxmlformats.org/drawingml/2006/main">
              <a:ext uri="{FF2B5EF4-FFF2-40B4-BE49-F238E27FC236}">
                <a16:creationId xmlns:a16="http://schemas.microsoft.com/office/drawing/2014/main" id="{F69DFABE-E43E-4743-9F4D-D7C3BDF73AEB}"/>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B377F60-7F86-4E89-B4C5-B1C717A02C86}"/>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Sharps injury</a:t>
            </a:r>
          </a:p>
        </p:txBody>
      </p:sp>
      <p:sp>
        <p:nvSpPr>
          <p:cNvPr id="19" name="">
            <a:extLst xmlns:a="http://schemas.openxmlformats.org/drawingml/2006/main">
              <a:ext uri="{FF2B5EF4-FFF2-40B4-BE49-F238E27FC236}">
                <a16:creationId xmlns:a16="http://schemas.microsoft.com/office/drawing/2014/main" id="{DB293F91-2C55-4899-BA47-067865B16F5E}"/>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0976FB3-B953-47FD-90C7-C38A203B63DE}"/>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safety devices and never recap</a:t>
            </a:r>
          </a:p>
        </p:txBody>
      </p:sp>
      <p:sp>
        <p:nvSpPr>
          <p:cNvPr id="21" name="">
            <a:extLst xmlns:a="http://schemas.openxmlformats.org/drawingml/2006/main">
              <a:ext uri="{FF2B5EF4-FFF2-40B4-BE49-F238E27FC236}">
                <a16:creationId xmlns:a16="http://schemas.microsoft.com/office/drawing/2014/main" id="{91AB5791-2F4E-4C28-B608-D978DF0BECA6}"/>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0437132-7972-4554-BB7D-1FB770CDEEAB}"/>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Contaminated waste or body fluids</a:t>
            </a:r>
          </a:p>
        </p:txBody>
      </p:sp>
      <p:sp>
        <p:nvSpPr>
          <p:cNvPr id="23" name="">
            <a:extLst xmlns:a="http://schemas.openxmlformats.org/drawingml/2006/main">
              <a:ext uri="{FF2B5EF4-FFF2-40B4-BE49-F238E27FC236}">
                <a16:creationId xmlns:a16="http://schemas.microsoft.com/office/drawing/2014/main" id="{CF09A91D-AB73-424F-8959-BCA9F26FCF74}"/>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417A6A5-47D9-46E4-911F-43AA88D2E56A}"/>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hazardous-waste and excreta precautions</a:t>
            </a:r>
          </a:p>
        </p:txBody>
      </p:sp>
    </p:spTree>
    <p:extLst>
      <p:ext uri="{BB962C8B-B14F-4D97-AF65-F5344CB8AC3E}">
        <p14:creationId xmlns:p14="http://schemas.microsoft.com/office/powerpoint/2010/main" val="2132070734"/>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D1CD96-A860-4A1A-9397-70106033FF9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62FEA95-461A-4B33-AD50-DA6A62009D6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 warning signs</a:t>
            </a:r>
          </a:p>
        </p:txBody>
      </p:sp>
      <p:sp>
        <p:nvSpPr>
          <p:cNvPr id="3" name="">
            <a:extLst xmlns:a="http://schemas.openxmlformats.org/drawingml/2006/main">
              <a:ext uri="{FF2B5EF4-FFF2-40B4-BE49-F238E27FC236}">
                <a16:creationId xmlns:a16="http://schemas.microsoft.com/office/drawing/2014/main" id="{BFAC8E2C-8DE5-494C-AA48-307C725E05F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9093DB2-4AAE-4481-A0EE-F80B2521547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F02B260A-7CB9-4315-9480-FF95D653284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burning, stinging, swelling, blanching, redness, leakage, resistance, or absent blood return may signal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infusion immediately; do not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Leave the catheter in place when the agent-specific protocol calls for aspiration or antidote.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qualified clinician and follow the exact drug-specific protocol for aspiration, antidote, compress, elevation, documentation, and follow-up.</a:t>
            </a:r>
          </a:p>
        </p:txBody>
      </p:sp>
      <p:sp>
        <p:nvSpPr>
          <p:cNvPr id="6" name="">
            <a:extLst xmlns:a="http://schemas.openxmlformats.org/drawingml/2006/main">
              <a:ext uri="{FF2B5EF4-FFF2-40B4-BE49-F238E27FC236}">
                <a16:creationId xmlns:a16="http://schemas.microsoft.com/office/drawing/2014/main" id="{0838C197-4B37-4A0A-9F10-8360D11CA66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02995548"/>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599579-9864-4BC4-B02F-12233D5B80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57DE438-580F-4009-BD95-3D287D8B484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findings that require escalation</a:t>
            </a:r>
          </a:p>
        </p:txBody>
      </p:sp>
      <p:sp>
        <p:nvSpPr>
          <p:cNvPr id="3" name="">
            <a:extLst xmlns:a="http://schemas.openxmlformats.org/drawingml/2006/main">
              <a:ext uri="{FF2B5EF4-FFF2-40B4-BE49-F238E27FC236}">
                <a16:creationId xmlns:a16="http://schemas.microsoft.com/office/drawing/2014/main" id="{C072A340-4AAC-4C6F-8CA4-36964013C27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D274BD3-DAB5-4946-9E9F-64654BC53F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45A531DA-8553-42D0-93E5-026E078D18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Airway symptoms, hypotension, severe dyspnea, or rapidly worsening reaction.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Fever or infection symptoms in an immunocompromised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Unexpected bleeding, severe vomiting or diarrhea, altered mental status, or critical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stop or hold therapy as authorized, and activate the emergency pathway.</a:t>
            </a:r>
          </a:p>
        </p:txBody>
      </p:sp>
      <p:sp>
        <p:nvSpPr>
          <p:cNvPr id="6" name="">
            <a:extLst xmlns:a="http://schemas.openxmlformats.org/drawingml/2006/main">
              <a:ext uri="{FF2B5EF4-FFF2-40B4-BE49-F238E27FC236}">
                <a16:creationId xmlns:a16="http://schemas.microsoft.com/office/drawing/2014/main" id="{FEAA0750-CD25-408A-8ED5-6DEBD56C8A5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57137451"/>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7E9F83-3C80-4691-8275-91ED99C4D37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F1537FF-C7C7-444A-A26A-AA98002C33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4B6A5351-6699-457E-8947-ED77962949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B9F62C5-9509-4A38-B18B-9965E377193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D25D17E7-DD08-44F4-8FB5-015BD4EEAF9F}"/>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findings that require an immediate stop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PPE for preparation, administration, and spill response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Rehearse the facility extravasation algorithm</a:t>
            </a:r>
          </a:p>
        </p:txBody>
      </p:sp>
      <p:sp>
        <p:nvSpPr>
          <p:cNvPr id="6" name="">
            <a:extLst xmlns:a="http://schemas.openxmlformats.org/drawingml/2006/main">
              <a:ext uri="{FF2B5EF4-FFF2-40B4-BE49-F238E27FC236}">
                <a16:creationId xmlns:a16="http://schemas.microsoft.com/office/drawing/2014/main" id="{15F40E00-4809-43CC-8828-E1677E712AAD}"/>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50013911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5C0BDE-51EC-4467-8AC5-943A42A3CDA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CD8BF53-FCE4-4E97-A397-456DC48C8E1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10333FB6-8D02-477E-A61D-F4EC39B013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E5D9B87-619E-438F-AEDF-7A5D7D5199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FFE7220F-8783-4609-BA4C-CBD7138B8E96}"/>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Review the regimen, laboratory results, allergies, access device, premedications, hydration, current symptoms, and emergency plan. Verify the protocol and independent checks required for high-alert therapy.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Pain, burning, swelling, resistance, leakage, or loss of blood return can signal extravasation. 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D2F28683-09C6-4FD7-80DA-480727CBEC4F}"/>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3569968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2026-10-23T09:19:12.6280000Z</dcterms:created>
  <dcterms:modified xsi:type="dcterms:W3CDTF">2026-10-23T09:19:12.6280000Z</dcterms:modified>
</coreProperties>
</file>