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0681cc2a5b14127" /><Relationship Type="http://schemas.openxmlformats.org/officeDocument/2006/relationships/extended-properties" Target="/docProps/app.xml" Id="Reb0fd5df309441b2" /><Relationship Type="http://schemas.openxmlformats.org/officeDocument/2006/relationships/officeDocument" Target="/ppt/presentation.xml" Id="R799fc129f8b249e1" /></Relationships>
</file>

<file path=ppt/presentation.xml><?xml version="1.0" encoding="utf-8"?>
<p:presentation xmlns:p="http://schemas.openxmlformats.org/presentationml/2006/main">
  <p:sldMasterIdLst>
    <p:sldMasterId xmlns:r="http://schemas.openxmlformats.org/officeDocument/2006/relationships" id="2147483648" r:id="R049461b923134c60"/>
  </p:sldMasterIdLst>
  <p:notesMasterIdLst>
    <p:notesMasterId xmlns:r="http://schemas.openxmlformats.org/officeDocument/2006/relationships" r:id="R5cc837d658e4449d"/>
  </p:notesMasterIdLst>
  <p:sldIdLst>
    <p:sldId xmlns:r="http://schemas.openxmlformats.org/officeDocument/2006/relationships" id="256" r:id="R77b3672b0fe44345"/>
    <p:sldId xmlns:r="http://schemas.openxmlformats.org/officeDocument/2006/relationships" id="257" r:id="R31766896845b42d0"/>
    <p:sldId xmlns:r="http://schemas.openxmlformats.org/officeDocument/2006/relationships" id="258" r:id="R74a42987d3be468a"/>
    <p:sldId xmlns:r="http://schemas.openxmlformats.org/officeDocument/2006/relationships" id="259" r:id="Rf66a93545b6f4a4a"/>
    <p:sldId xmlns:r="http://schemas.openxmlformats.org/officeDocument/2006/relationships" id="260" r:id="R778aaf7f47aa41b7"/>
    <p:sldId xmlns:r="http://schemas.openxmlformats.org/officeDocument/2006/relationships" id="261" r:id="Re7d3e4d022b64140"/>
    <p:sldId xmlns:r="http://schemas.openxmlformats.org/officeDocument/2006/relationships" id="262" r:id="R1d1429d76a8a4e8b"/>
    <p:sldId xmlns:r="http://schemas.openxmlformats.org/officeDocument/2006/relationships" id="263" r:id="R36953432e4b444f9"/>
    <p:sldId xmlns:r="http://schemas.openxmlformats.org/officeDocument/2006/relationships" id="264" r:id="R1815364b46bd48a7"/>
    <p:sldId xmlns:r="http://schemas.openxmlformats.org/officeDocument/2006/relationships" id="265" r:id="Rd1b487e0f69c4576"/>
    <p:sldId xmlns:r="http://schemas.openxmlformats.org/officeDocument/2006/relationships" id="266" r:id="R69eacbc54f914d3c"/>
    <p:sldId xmlns:r="http://schemas.openxmlformats.org/officeDocument/2006/relationships" id="267" r:id="Rbd61ae348e704c2b"/>
    <p:sldId xmlns:r="http://schemas.openxmlformats.org/officeDocument/2006/relationships" id="268" r:id="R725ea289ceb447f7"/>
    <p:sldId xmlns:r="http://schemas.openxmlformats.org/officeDocument/2006/relationships" id="269" r:id="Raa9eb112061d4cf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71d5a78da8a45a7" /><Relationship Type="http://schemas.openxmlformats.org/officeDocument/2006/relationships/slideMaster" Target="/ppt/slideMasters/slideMaster1.xml" Id="R049461b923134c60" /><Relationship Type="http://schemas.openxmlformats.org/officeDocument/2006/relationships/notesMaster" Target="/ppt/notesMasters/notesMaster1.xml" Id="R5cc837d658e4449d" /><Relationship Type="http://schemas.openxmlformats.org/officeDocument/2006/relationships/presProps" Target="/ppt/presProps.xml" Id="R3b6b51cbf74545db" /><Relationship Type="http://schemas.openxmlformats.org/officeDocument/2006/relationships/tableStyles" Target="/ppt/tableStyles.xml" Id="R53ea9e19ac944835" /><Relationship Type="http://schemas.openxmlformats.org/officeDocument/2006/relationships/slide" Target="/ppt/slides/slide1.xml" Id="R77b3672b0fe44345" /><Relationship Type="http://schemas.openxmlformats.org/officeDocument/2006/relationships/slide" Target="/ppt/slides/slide2.xml" Id="R31766896845b42d0" /><Relationship Type="http://schemas.openxmlformats.org/officeDocument/2006/relationships/slide" Target="/ppt/slides/slide3.xml" Id="R74a42987d3be468a" /><Relationship Type="http://schemas.openxmlformats.org/officeDocument/2006/relationships/slide" Target="/ppt/slides/slide4.xml" Id="Rf66a93545b6f4a4a" /><Relationship Type="http://schemas.openxmlformats.org/officeDocument/2006/relationships/slide" Target="/ppt/slides/slide5.xml" Id="R778aaf7f47aa41b7" /><Relationship Type="http://schemas.openxmlformats.org/officeDocument/2006/relationships/slide" Target="/ppt/slides/slide6.xml" Id="Re7d3e4d022b64140" /><Relationship Type="http://schemas.openxmlformats.org/officeDocument/2006/relationships/slide" Target="/ppt/slides/slide7.xml" Id="R1d1429d76a8a4e8b" /><Relationship Type="http://schemas.openxmlformats.org/officeDocument/2006/relationships/slide" Target="/ppt/slides/slide8.xml" Id="R36953432e4b444f9" /><Relationship Type="http://schemas.openxmlformats.org/officeDocument/2006/relationships/slide" Target="/ppt/slides/slide9.xml" Id="R1815364b46bd48a7" /><Relationship Type="http://schemas.openxmlformats.org/officeDocument/2006/relationships/slide" Target="/ppt/slides/slide10.xml" Id="Rd1b487e0f69c4576" /><Relationship Type="http://schemas.openxmlformats.org/officeDocument/2006/relationships/slide" Target="/ppt/slides/slide11.xml" Id="R69eacbc54f914d3c" /><Relationship Type="http://schemas.openxmlformats.org/officeDocument/2006/relationships/slide" Target="/ppt/slides/slide12.xml" Id="Rbd61ae348e704c2b" /><Relationship Type="http://schemas.openxmlformats.org/officeDocument/2006/relationships/slide" Target="/ppt/slides/slide13.xml" Id="R725ea289ceb447f7" /><Relationship Type="http://schemas.openxmlformats.org/officeDocument/2006/relationships/slide" Target="/ppt/slides/slide14.xml" Id="Raa9eb112061d4cf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2ed2bfd3ad4ae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e11335850f14bf1" /><Relationship Type="http://schemas.openxmlformats.org/officeDocument/2006/relationships/notesMaster" Target="/ppt/notesMasters/notesMaster1.xml" Id="R585de21ce7bb4d00" /></Relationships>
</file>

<file path=ppt/notesSlides/_rels/notesSlide2.xml.rels>&#65279;<?xml version="1.0" encoding="utf-8"?><Relationships xmlns="http://schemas.openxmlformats.org/package/2006/relationships"><Relationship Type="http://schemas.openxmlformats.org/officeDocument/2006/relationships/slide" Target="/ppt/slides/slide2.xml" Id="Re7e03bbb99a84e6d" /><Relationship Type="http://schemas.openxmlformats.org/officeDocument/2006/relationships/notesMaster" Target="/ppt/notesMasters/notesMaster1.xml" Id="R41fbb053cdc4471d" /></Relationships>
</file>

<file path=ppt/notesSlides/_rels/notesSlide3.xml.rels>&#65279;<?xml version="1.0" encoding="utf-8"?><Relationships xmlns="http://schemas.openxmlformats.org/package/2006/relationships"><Relationship Type="http://schemas.openxmlformats.org/officeDocument/2006/relationships/slide" Target="/ppt/slides/slide3.xml" Id="Ra701e12925c34fac" /><Relationship Type="http://schemas.openxmlformats.org/officeDocument/2006/relationships/notesMaster" Target="/ppt/notesMasters/notesMaster1.xml" Id="R0d35a6d724d14ca1" /></Relationships>
</file>

<file path=ppt/notesSlides/_rels/notesSlide4.xml.rels>&#65279;<?xml version="1.0" encoding="utf-8"?><Relationships xmlns="http://schemas.openxmlformats.org/package/2006/relationships"><Relationship Type="http://schemas.openxmlformats.org/officeDocument/2006/relationships/slide" Target="/ppt/slides/slide4.xml" Id="R0eaea060bddd4d8f" /><Relationship Type="http://schemas.openxmlformats.org/officeDocument/2006/relationships/notesMaster" Target="/ppt/notesMasters/notesMaster1.xml" Id="Rc61f2d793b014d9b" /></Relationships>
</file>

<file path=ppt/notesSlides/_rels/notesSlide5.xml.rels>&#65279;<?xml version="1.0" encoding="utf-8"?><Relationships xmlns="http://schemas.openxmlformats.org/package/2006/relationships"><Relationship Type="http://schemas.openxmlformats.org/officeDocument/2006/relationships/slide" Target="/ppt/slides/slide5.xml" Id="Ra0a449089a564ab7" /><Relationship Type="http://schemas.openxmlformats.org/officeDocument/2006/relationships/notesMaster" Target="/ppt/notesMasters/notesMaster1.xml" Id="R54befb7002c241d3" /></Relationships>
</file>

<file path=ppt/notesSlides/_rels/notesSlide6.xml.rels>&#65279;<?xml version="1.0" encoding="utf-8"?><Relationships xmlns="http://schemas.openxmlformats.org/package/2006/relationships"><Relationship Type="http://schemas.openxmlformats.org/officeDocument/2006/relationships/slide" Target="/ppt/slides/slide6.xml" Id="R2db59fa4aa3e4e14" /><Relationship Type="http://schemas.openxmlformats.org/officeDocument/2006/relationships/notesMaster" Target="/ppt/notesMasters/notesMaster1.xml" Id="Rc5ce4337e94b48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22c9eea6cb40b9" /><Relationship Type="http://schemas.openxmlformats.org/officeDocument/2006/relationships/notesMaster" Target="/ppt/notesMasters/notesMaster1.xml" Id="Rf62ca08494c341ab" /></Relationships>
</file>

<file path=ppt/notesSlides/_rels/notesSlide8.xml.rels>&#65279;<?xml version="1.0" encoding="utf-8"?><Relationships xmlns="http://schemas.openxmlformats.org/package/2006/relationships"><Relationship Type="http://schemas.openxmlformats.org/officeDocument/2006/relationships/slide" Target="/ppt/slides/slide8.xml" Id="R2e44e32b66d04ddb" /><Relationship Type="http://schemas.openxmlformats.org/officeDocument/2006/relationships/notesMaster" Target="/ppt/notesMasters/notesMaster1.xml" Id="Rd2dbae26717f4a9d" /></Relationships>
</file>

<file path=ppt/notesSlides/_rels/notesSlide9.xml.rels>&#65279;<?xml version="1.0" encoding="utf-8"?><Relationships xmlns="http://schemas.openxmlformats.org/package/2006/relationships"><Relationship Type="http://schemas.openxmlformats.org/officeDocument/2006/relationships/slide" Target="/ppt/slides/slide9.xml" Id="R2be2a1a1a34b423a" /><Relationship Type="http://schemas.openxmlformats.org/officeDocument/2006/relationships/notesMaster" Target="/ppt/notesMasters/notesMaster1.xml" Id="R0778e37e627a4e1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39f6c36f67384bfb" /><Relationship Type="http://schemas.openxmlformats.org/officeDocument/2006/relationships/notesMaster" Target="/ppt/notesMasters/notesMaster1.xml" Id="Rb45832d9f264415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cf0d47535b0443b" /><Relationship Type="http://schemas.openxmlformats.org/officeDocument/2006/relationships/notesMaster" Target="/ppt/notesMasters/notesMaster1.xml" Id="Rfa3bea62a8274d02"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020ba751a9e415c" /><Relationship Type="http://schemas.openxmlformats.org/officeDocument/2006/relationships/notesMaster" Target="/ppt/notesMasters/notesMaster1.xml" Id="Ra01a603afbfa4d99"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2dee90c8c5048c3" /><Relationship Type="http://schemas.openxmlformats.org/officeDocument/2006/relationships/notesMaster" Target="/ppt/notesMasters/notesMaster1.xml" Id="Re1a00732ca3242e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30c6bcb6fd514666" /><Relationship Type="http://schemas.openxmlformats.org/officeDocument/2006/relationships/notesMaster" Target="/ppt/notesMasters/notesMaster1.xml" Id="R99b495858fa44c4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Fluids, Electrolytes, and Calculations, Module 3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Relate fluid compartments to IV solution effects Next, Recognize common volume and electrolyte disturbances Next, Calculate pump and gravity infusion rates safely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Fluid compartments. First, Intracellular fluid lies within cells. Next, Extracellular fluid includes intravascular and interstitial spaces. Next, Osmosis moves water across a semipermeable membrane, while diffusion moves solutes down a concentration gradient.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First, Isotonic solutions have an effective concentration similar to plasma. Next, Hypotonic solutions promote movement of water into cells. Next, Hypertonic solutions draw water out of cells and require close monitoring.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Assessment. First, Track intake and output, daily weight, vital signs, lung sounds, edema, mucous membranes, cognition, urine output, and relevant laboratory values. Next, Escalate rapid changes or critical results.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Calculations. First, mL/hour equals volume divided by hours. Next, gtt/min equals volume times tubing drop factor divided by minutes. Next,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Where body fluid is located. First, Intracellular: Inside cells; Tonicity changes can move water into or out of cells Next, Intravascular: Inside blood vessels; Directly affects perfusion and circulatory volume Next, Interstitial: Between cells; Excess fluid may appear as edema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Tonicity predicts water movement. First, Isotonic: Primarily expands extracellular volume; Lung sounds, edema, blood pressure Next, Hypotonic: Water moves toward cells; Neurologic status and cellular swelling risk Next, Hypertonic: Water moves out of cells; Vein irritation, sodium, glucose, and fluid overload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Metric conversion chart. First, Volume: 1 L = 1,000 mL; Convert the ordered bag volume Next, Mass: 1 g = 1,000 mg; Medication-dose conversion Next, Small mass: 1 mg = 1,000 mcg; High-alert and weight-based doses Next, Weight: 1 kg = 2.2 lb; Convert pounds to kilograms before dosing Next, Household volume: 1 tsp = 5 mL; 1 Tbsp = 15 mL; Use only when an approved clinical reference permits Next, Apothecary units are legacy units and are error-prone. Do not guess or rely on OCR-transcribed values; clarify the order and use an approved conversion reference.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Apothecary units are legacy units and are error-prone. Do not guess or rely on OCR-transcribed values; clarify the order and use an approved conversion reference.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Pump-rate formula. First, Formula: mL/hr = total volume in mL ÷ time in hours. Next, Example: 1,000 mL ÷ 8 hr = 125 mL/hr. Next, Safety check: 125 mL/hr × 8 hr returns the original 1,000 mL. Next, Program the pump only after matching the result to the order and confirming the correct channel and line.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Gravity-rate formula. First, Formula: gtt/min = volume in mL × drop factor in gtt/mL ÷ time in minutes. Next, Example: 250 mL × 15 gtt/mL ÷ 90 min = 41.7 gtt/min. Next, Round to a whole drop: 42 gtt/min. Next, Reassess the drip because patient position, tubing height, and resistance can change a gravity rate.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A four-step calculation safety method. First, 1. Organize: Write the ordered volume, time, and tubing factor with units Next, 2. Convert: Make units consistent before calculating Next, 3. Calculate: Use one formula and keep units visible Next, 4. Verify: Work backward and ask whether the answer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17-50;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Calculate 1,000 mL over 8 hours on a pump Next, Calculate 250 mL over 90 minutes using 15 gtt/mL tubing Next, Choose monitoring priorities for fluid deficit and fluid excess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Relate fluid compartments to IV solution effects Next, Isotonic solutions have an effective concentration similar to plasma. Hypotonic solutions promote movement of water into cells. Hypertonic solutions draw water out of cells and require close monitoring. Next, mL/hour equals volume divided by hours. gtt/min equals volume times tubing drop factor divided by minutes. Label units, round only at the final step, and check whether the result is clinically reasonable.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17;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417acab5c7647e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c6bc2e2b62784145"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c025ffc32cb4f3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1ee4549c89f4eb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6fcaa7386e94d44"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339c941bb247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5AE5E03-B6A4-4F0F-8C5D-0C75C6ACBCF2}"/>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DDFA4E-17C4-4130-8C47-668A6CD4609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2C55062-5B95-44BD-B955-6FE6F4E48A3A}"/>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51F4C81-6B3F-4AA4-BAF4-8D5F20653ED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B49AD5A-ECFE-4F0D-B1DB-FE203E37945E}"/>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3A2542BC-862D-47DB-932E-BAD74F1A542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6C3320F9-AAC3-44AC-8089-4B09F780A32A}"/>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D714763-7B7E-444C-A40D-F3ECAB5589B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94F30E0-C0CA-4EE7-A58D-A6A237130B1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132899EC-5D37-4FA8-BF2A-D855B14060C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1362b69a2f743a5" /><Relationship Type="http://schemas.openxmlformats.org/officeDocument/2006/relationships/slideLayout" Target="/ppt/slideLayouts/slideLayout1.xml" Id="Re88ac7453aec4429" /><Relationship Type="http://schemas.openxmlformats.org/officeDocument/2006/relationships/slideLayout" Target="/ppt/slideLayouts/slideLayout2.xml" Id="R5038aa8a91d74b83" /><Relationship Type="http://schemas.openxmlformats.org/officeDocument/2006/relationships/slideLayout" Target="/ppt/slideLayouts/slideLayout3.xml" Id="R7788189f9d274ac1" /><Relationship Type="http://schemas.openxmlformats.org/officeDocument/2006/relationships/slideLayout" Target="/ppt/slideLayouts/slideLayout4.xml" Id="R67b7aa1aa9b04fc8" /><Relationship Type="http://schemas.openxmlformats.org/officeDocument/2006/relationships/slideLayout" Target="/ppt/slideLayouts/slideLayout5.xml" Id="R51d4b5dcc6ae45c6" /><Relationship Type="http://schemas.openxmlformats.org/officeDocument/2006/relationships/slideLayout" Target="/ppt/slideLayouts/slideLayout6.xml" Id="R0e1f2b573aa64525"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88ac7453aec4429"/>
    <p:sldLayoutId xmlns:r="http://schemas.openxmlformats.org/officeDocument/2006/relationships" id="2147483650" r:id="R5038aa8a91d74b83"/>
    <p:sldLayoutId xmlns:r="http://schemas.openxmlformats.org/officeDocument/2006/relationships" id="2147483651" r:id="R7788189f9d274ac1"/>
    <p:sldLayoutId xmlns:r="http://schemas.openxmlformats.org/officeDocument/2006/relationships" id="2147483652" r:id="R67b7aa1aa9b04fc8"/>
    <p:sldLayoutId xmlns:r="http://schemas.openxmlformats.org/officeDocument/2006/relationships" id="2147483653" r:id="R51d4b5dcc6ae45c6"/>
    <p:sldLayoutId xmlns:r="http://schemas.openxmlformats.org/officeDocument/2006/relationships" id="2147483654" r:id="R0e1f2b573aa64525"/>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36f7e1205abf405d" /><Relationship Type="http://schemas.openxmlformats.org/officeDocument/2006/relationships/notesSlide" Target="/ppt/notesSlides/notesSlide1.xml" Id="R5baabf466f65491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e036bb0706b480b" /><Relationship Type="http://schemas.openxmlformats.org/officeDocument/2006/relationships/notesSlide" Target="/ppt/notesSlides/notesSlide2.xml" Id="R8446b5064b5a4c72"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9da0f2303a45d5" /><Relationship Type="http://schemas.openxmlformats.org/officeDocument/2006/relationships/notesSlide" Target="/ppt/notesSlides/notesSlide3.xml" Id="R832dd1f38ea244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69e3301f4c49424b" /><Relationship Type="http://schemas.openxmlformats.org/officeDocument/2006/relationships/notesSlide" Target="/ppt/notesSlides/notesSlide4.xml" Id="R34aea89b72814c66"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be3404440b8d408c" /><Relationship Type="http://schemas.openxmlformats.org/officeDocument/2006/relationships/notesSlide" Target="/ppt/notesSlides/notesSlide5.xml" Id="Rb557557b6b4e485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d8cb0625f8147c2" /><Relationship Type="http://schemas.openxmlformats.org/officeDocument/2006/relationships/notesSlide" Target="/ppt/notesSlides/notesSlide6.xml" Id="Ra502fc44e50145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57923f16d4fb42ae" /><Relationship Type="http://schemas.openxmlformats.org/officeDocument/2006/relationships/notesSlide" Target="/ppt/notesSlides/notesSlide7.xml" Id="R44114611d00b4885"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9ac5a04b19643b8" /><Relationship Type="http://schemas.openxmlformats.org/officeDocument/2006/relationships/notesSlide" Target="/ppt/notesSlides/notesSlide8.xml" Id="R86708a0f1c9e4ef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9dd019e367d4e7c" /><Relationship Type="http://schemas.openxmlformats.org/officeDocument/2006/relationships/notesSlide" Target="/ppt/notesSlides/notesSlide9.xml" Id="Rf4a922e3fd78423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6f360fd53bd44bc1" /><Relationship Type="http://schemas.openxmlformats.org/officeDocument/2006/relationships/notesSlide" Target="/ppt/notesSlides/notesSlide10.xml" Id="R6e696fe470724b8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c19912c4c16b49c4" /><Relationship Type="http://schemas.openxmlformats.org/officeDocument/2006/relationships/notesSlide" Target="/ppt/notesSlides/notesSlide11.xml" Id="Rd37d5b3846554b96"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909009cb06434f" /><Relationship Type="http://schemas.openxmlformats.org/officeDocument/2006/relationships/notesSlide" Target="/ppt/notesSlides/notesSlide12.xml" Id="R154f1f4bc650445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8a69fdf2534443bf" /><Relationship Type="http://schemas.openxmlformats.org/officeDocument/2006/relationships/notesSlide" Target="/ppt/notesSlides/notesSlide13.xml" Id="Ree5ecb719497461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b9755ae3f4e4a73" /><Relationship Type="http://schemas.openxmlformats.org/officeDocument/2006/relationships/notesSlide" Target="/ppt/notesSlides/notesSlide14.xml" Id="Rc0975f46f2b94bf0"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AEB1A7-7FC6-46E0-ADAD-C4BBAAC16A10}"/>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041E753-3188-49BA-AA4E-5261F7933BA1}"/>
              </a:ext>
            </a:extLst>
          </p:cNvPr>
          <p:cNvSpPr>
            <a:spLocks xmlns:a="http://schemas.openxmlformats.org/drawingml/2006/main" noGrp="1"/>
          </p:cNvSpPr>
          <p:nvPr/>
        </p:nvSpPr>
        <p:spPr>
          <a:xfrm xmlns:a="http://schemas.openxmlformats.org/drawingml/2006/main">
            <a:off x="723900" y="628650"/>
            <a:ext cx="7620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3" name="">
            <a:extLst xmlns:a="http://schemas.openxmlformats.org/drawingml/2006/main">
              <a:ext uri="{FF2B5EF4-FFF2-40B4-BE49-F238E27FC236}">
                <a16:creationId xmlns:a16="http://schemas.microsoft.com/office/drawing/2014/main" id="{498FA65F-1F7D-43C2-A5C6-ECCE4F8368A0}"/>
              </a:ext>
            </a:extLst>
          </p:cNvPr>
          <p:cNvSpPr>
            <a:spLocks xmlns:a="http://schemas.openxmlformats.org/drawingml/2006/main" noGrp="1"/>
          </p:cNvSpPr>
          <p:nvPr/>
        </p:nvSpPr>
        <p:spPr>
          <a:xfrm xmlns:a="http://schemas.openxmlformats.org/drawingml/2006/main">
            <a:off x="723900" y="1809750"/>
            <a:ext cx="990600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900" b="1">
                <a:solidFill>
                  <a:srgbClr val="FFFFFF"/>
                </a:solidFill>
                <a:latin typeface="Helvetica Neue"/>
                <a:ea typeface="Helvetica Neue"/>
                <a:cs typeface="Helvetica Neue"/>
              </a:defRPr>
            </a:defPPr>
            <a:lvl1pPr>
              <a:defRPr sz="3900" b="1">
                <a:solidFill>
                  <a:srgbClr val="FFFFFF"/>
                </a:solidFill>
                <a:latin typeface="Helvetica Neue"/>
                <a:ea typeface="Helvetica Neue"/>
                <a:cs typeface="Helvetica Neue"/>
              </a:defRPr>
            </a:lvl1pPr>
            <a:lvl2pPr>
              <a:defRPr sz="3900" b="1">
                <a:solidFill>
                  <a:srgbClr val="FFFFFF"/>
                </a:solidFill>
                <a:latin typeface="Helvetica Neue"/>
                <a:ea typeface="Helvetica Neue"/>
                <a:cs typeface="Helvetica Neue"/>
              </a:defRPr>
            </a:lvl2pPr>
            <a:lvl3pPr>
              <a:defRPr sz="3900" b="1">
                <a:solidFill>
                  <a:srgbClr val="FFFFFF"/>
                </a:solidFill>
                <a:latin typeface="Helvetica Neue"/>
                <a:ea typeface="Helvetica Neue"/>
                <a:cs typeface="Helvetica Neue"/>
              </a:defRPr>
            </a:lvl3pPr>
            <a:lvl4pPr>
              <a:defRPr sz="3900" b="1">
                <a:solidFill>
                  <a:srgbClr val="FFFFFF"/>
                </a:solidFill>
                <a:latin typeface="Helvetica Neue"/>
                <a:ea typeface="Helvetica Neue"/>
                <a:cs typeface="Helvetica Neue"/>
              </a:defRPr>
            </a:lvl4pPr>
            <a:lvl5pPr>
              <a:defRPr sz="3900" b="1">
                <a:solidFill>
                  <a:srgbClr val="FFFFFF"/>
                </a:solidFill>
                <a:latin typeface="Helvetica Neue"/>
                <a:ea typeface="Helvetica Neue"/>
                <a:cs typeface="Helvetica Neue"/>
              </a:defRPr>
            </a:lvl5pPr>
            <a:lvl6pPr>
              <a:defRPr sz="3900" b="1">
                <a:solidFill>
                  <a:srgbClr val="FFFFFF"/>
                </a:solidFill>
                <a:latin typeface="Helvetica Neue"/>
                <a:ea typeface="Helvetica Neue"/>
                <a:cs typeface="Helvetica Neue"/>
              </a:defRPr>
            </a:lvl6pPr>
            <a:lvl7pPr>
              <a:defRPr sz="3900" b="1">
                <a:solidFill>
                  <a:srgbClr val="FFFFFF"/>
                </a:solidFill>
                <a:latin typeface="Helvetica Neue"/>
                <a:ea typeface="Helvetica Neue"/>
                <a:cs typeface="Helvetica Neue"/>
              </a:defRPr>
            </a:lvl7pPr>
            <a:lvl8pPr>
              <a:defRPr sz="3900" b="1">
                <a:solidFill>
                  <a:srgbClr val="FFFFFF"/>
                </a:solidFill>
                <a:latin typeface="Helvetica Neue"/>
                <a:ea typeface="Helvetica Neue"/>
                <a:cs typeface="Helvetica Neue"/>
              </a:defRPr>
            </a:lvl8pPr>
            <a:lvl9pPr>
              <a:defRPr sz="3900" b="1">
                <a:solidFill>
                  <a:srgbClr val="FFFFFF"/>
                </a:solidFill>
                <a:latin typeface="Helvetica Neue"/>
                <a:ea typeface="Helvetica Neue"/>
                <a:cs typeface="Helvetica Neue"/>
              </a:defRPr>
            </a:lvl9pPr>
          </a:lstStyle>
          <a:p xmlns:a="http://schemas.openxmlformats.org/drawingml/2006/main">
            <a:pPr>
              <a:defRPr sz="3900" b="1">
                <a:solidFill>
                  <a:srgbClr val="FFFFFF"/>
                </a:solidFill>
                <a:latin typeface="Helvetica Neue"/>
                <a:ea typeface="Helvetica Neue"/>
                <a:cs typeface="Helvetica Neue"/>
              </a:defRPr>
            </a:pPr>
            <a:r>
              <a:rPr sz="3900" b="1">
                <a:solidFill>
                  <a:srgbClr val="FFFFFF"/>
                </a:solidFill>
                <a:latin typeface="Helvetica Neue"/>
                <a:ea typeface="Helvetica Neue"/>
                <a:cs typeface="Helvetica Neue"/>
              </a:rPr>
              <a:t>Fluids, Electrolytes, and Calculations</a:t>
            </a:r>
          </a:p>
        </p:txBody>
      </p:sp>
      <p:sp>
        <p:nvSpPr>
          <p:cNvPr id="4" name="">
            <a:extLst xmlns:a="http://schemas.openxmlformats.org/drawingml/2006/main">
              <a:ext uri="{FF2B5EF4-FFF2-40B4-BE49-F238E27FC236}">
                <a16:creationId xmlns:a16="http://schemas.microsoft.com/office/drawing/2014/main" id="{787303A8-398A-4FFA-A251-FBF7C40BD812}"/>
              </a:ext>
            </a:extLst>
          </p:cNvPr>
          <p:cNvSpPr>
            <a:spLocks xmlns:a="http://schemas.openxmlformats.org/drawingml/2006/main" noGrp="1"/>
          </p:cNvSpPr>
          <p:nvPr/>
        </p:nvSpPr>
        <p:spPr>
          <a:xfrm xmlns:a="http://schemas.openxmlformats.org/drawingml/2006/main">
            <a:off x="762000" y="3943350"/>
            <a:ext cx="8763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FFFFFF"/>
                </a:solidFill>
                <a:latin typeface="Helvetica Neue"/>
                <a:ea typeface="Helvetica Neue"/>
                <a:cs typeface="Helvetica Neue"/>
              </a:defRPr>
            </a:defPPr>
            <a:lvl1pPr>
              <a:defRPr sz="1875">
                <a:solidFill>
                  <a:srgbClr val="FFFFFF"/>
                </a:solidFill>
                <a:latin typeface="Helvetica Neue"/>
                <a:ea typeface="Helvetica Neue"/>
                <a:cs typeface="Helvetica Neue"/>
              </a:defRPr>
            </a:lvl1pPr>
            <a:lvl2pPr>
              <a:defRPr sz="1875">
                <a:solidFill>
                  <a:srgbClr val="FFFFFF"/>
                </a:solidFill>
                <a:latin typeface="Helvetica Neue"/>
                <a:ea typeface="Helvetica Neue"/>
                <a:cs typeface="Helvetica Neue"/>
              </a:defRPr>
            </a:lvl2pPr>
            <a:lvl3pPr>
              <a:defRPr sz="1875">
                <a:solidFill>
                  <a:srgbClr val="FFFFFF"/>
                </a:solidFill>
                <a:latin typeface="Helvetica Neue"/>
                <a:ea typeface="Helvetica Neue"/>
                <a:cs typeface="Helvetica Neue"/>
              </a:defRPr>
            </a:lvl3pPr>
            <a:lvl4pPr>
              <a:defRPr sz="1875">
                <a:solidFill>
                  <a:srgbClr val="FFFFFF"/>
                </a:solidFill>
                <a:latin typeface="Helvetica Neue"/>
                <a:ea typeface="Helvetica Neue"/>
                <a:cs typeface="Helvetica Neue"/>
              </a:defRPr>
            </a:lvl4pPr>
            <a:lvl5pPr>
              <a:defRPr sz="1875">
                <a:solidFill>
                  <a:srgbClr val="FFFFFF"/>
                </a:solidFill>
                <a:latin typeface="Helvetica Neue"/>
                <a:ea typeface="Helvetica Neue"/>
                <a:cs typeface="Helvetica Neue"/>
              </a:defRPr>
            </a:lvl5pPr>
            <a:lvl6pPr>
              <a:defRPr sz="1875">
                <a:solidFill>
                  <a:srgbClr val="FFFFFF"/>
                </a:solidFill>
                <a:latin typeface="Helvetica Neue"/>
                <a:ea typeface="Helvetica Neue"/>
                <a:cs typeface="Helvetica Neue"/>
              </a:defRPr>
            </a:lvl6pPr>
            <a:lvl7pPr>
              <a:defRPr sz="1875">
                <a:solidFill>
                  <a:srgbClr val="FFFFFF"/>
                </a:solidFill>
                <a:latin typeface="Helvetica Neue"/>
                <a:ea typeface="Helvetica Neue"/>
                <a:cs typeface="Helvetica Neue"/>
              </a:defRPr>
            </a:lvl7pPr>
            <a:lvl8pPr>
              <a:defRPr sz="1875">
                <a:solidFill>
                  <a:srgbClr val="FFFFFF"/>
                </a:solidFill>
                <a:latin typeface="Helvetica Neue"/>
                <a:ea typeface="Helvetica Neue"/>
                <a:cs typeface="Helvetica Neue"/>
              </a:defRPr>
            </a:lvl8pPr>
            <a:lvl9pPr>
              <a:defRPr sz="1875">
                <a:solidFill>
                  <a:srgbClr val="FFFFFF"/>
                </a:solidFill>
                <a:latin typeface="Helvetica Neue"/>
                <a:ea typeface="Helvetica Neue"/>
                <a:cs typeface="Helvetica Neue"/>
              </a:defRPr>
            </a:lvl9pPr>
          </a:lstStyle>
          <a:p xmlns:a="http://schemas.openxmlformats.org/drawingml/2006/main">
            <a:pPr>
              <a:defRPr sz="1875">
                <a:solidFill>
                  <a:srgbClr val="FFFFFF"/>
                </a:solidFill>
                <a:latin typeface="Helvetica Neue"/>
                <a:ea typeface="Helvetica Neue"/>
                <a:cs typeface="Helvetica Neue"/>
              </a:defRPr>
            </a:pPr>
            <a:r>
              <a:rPr sz="1875">
                <a:solidFill>
                  <a:srgbClr val="FFFFFF"/>
                </a:solidFill>
                <a:latin typeface="Helvetica Neue"/>
                <a:ea typeface="Helvetica Neue"/>
                <a:cs typeface="Helvetica Neue"/>
              </a:rPr>
              <a:t>Module 3  |  30-Hour Basic Intravenous Therapy</a:t>
            </a:r>
          </a:p>
        </p:txBody>
      </p:sp>
      <p:sp>
        <p:nvSpPr>
          <p:cNvPr id="5" name="">
            <a:extLst xmlns:a="http://schemas.openxmlformats.org/drawingml/2006/main">
              <a:ext uri="{FF2B5EF4-FFF2-40B4-BE49-F238E27FC236}">
                <a16:creationId xmlns:a16="http://schemas.microsoft.com/office/drawing/2014/main" id="{99CBECAB-2D8A-4AA0-83D7-7AEE2F9A2B32}"/>
              </a:ext>
            </a:extLst>
          </p:cNvPr>
          <p:cNvSpPr>
            <a:spLocks xmlns:a="http://schemas.openxmlformats.org/drawingml/2006/main" noGrp="1"/>
          </p:cNvSpPr>
          <p:nvPr/>
        </p:nvSpPr>
        <p:spPr>
          <a:xfrm xmlns:a="http://schemas.openxmlformats.org/drawingml/2006/main">
            <a:off x="762000" y="4762500"/>
            <a:ext cx="895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500" b="1">
                <a:solidFill>
                  <a:srgbClr val="CFEDEF"/>
                </a:solidFill>
                <a:latin typeface="Helvetica Neue"/>
                <a:ea typeface="Helvetica Neue"/>
                <a:cs typeface="Helvetica Neue"/>
              </a:defRPr>
            </a:defPPr>
            <a:lvl1pPr>
              <a:defRPr sz="1500" b="1">
                <a:solidFill>
                  <a:srgbClr val="CFEDEF"/>
                </a:solidFill>
                <a:latin typeface="Helvetica Neue"/>
                <a:ea typeface="Helvetica Neue"/>
                <a:cs typeface="Helvetica Neue"/>
              </a:defRPr>
            </a:lvl1pPr>
            <a:lvl2pPr>
              <a:defRPr sz="1500" b="1">
                <a:solidFill>
                  <a:srgbClr val="CFEDEF"/>
                </a:solidFill>
                <a:latin typeface="Helvetica Neue"/>
                <a:ea typeface="Helvetica Neue"/>
                <a:cs typeface="Helvetica Neue"/>
              </a:defRPr>
            </a:lvl2pPr>
            <a:lvl3pPr>
              <a:defRPr sz="1500" b="1">
                <a:solidFill>
                  <a:srgbClr val="CFEDEF"/>
                </a:solidFill>
                <a:latin typeface="Helvetica Neue"/>
                <a:ea typeface="Helvetica Neue"/>
                <a:cs typeface="Helvetica Neue"/>
              </a:defRPr>
            </a:lvl3pPr>
            <a:lvl4pPr>
              <a:defRPr sz="1500" b="1">
                <a:solidFill>
                  <a:srgbClr val="CFEDEF"/>
                </a:solidFill>
                <a:latin typeface="Helvetica Neue"/>
                <a:ea typeface="Helvetica Neue"/>
                <a:cs typeface="Helvetica Neue"/>
              </a:defRPr>
            </a:lvl4pPr>
            <a:lvl5pPr>
              <a:defRPr sz="1500" b="1">
                <a:solidFill>
                  <a:srgbClr val="CFEDEF"/>
                </a:solidFill>
                <a:latin typeface="Helvetica Neue"/>
                <a:ea typeface="Helvetica Neue"/>
                <a:cs typeface="Helvetica Neue"/>
              </a:defRPr>
            </a:lvl5pPr>
            <a:lvl6pPr>
              <a:defRPr sz="1500" b="1">
                <a:solidFill>
                  <a:srgbClr val="CFEDEF"/>
                </a:solidFill>
                <a:latin typeface="Helvetica Neue"/>
                <a:ea typeface="Helvetica Neue"/>
                <a:cs typeface="Helvetica Neue"/>
              </a:defRPr>
            </a:lvl6pPr>
            <a:lvl7pPr>
              <a:defRPr sz="1500" b="1">
                <a:solidFill>
                  <a:srgbClr val="CFEDEF"/>
                </a:solidFill>
                <a:latin typeface="Helvetica Neue"/>
                <a:ea typeface="Helvetica Neue"/>
                <a:cs typeface="Helvetica Neue"/>
              </a:defRPr>
            </a:lvl7pPr>
            <a:lvl8pPr>
              <a:defRPr sz="1500" b="1">
                <a:solidFill>
                  <a:srgbClr val="CFEDEF"/>
                </a:solidFill>
                <a:latin typeface="Helvetica Neue"/>
                <a:ea typeface="Helvetica Neue"/>
                <a:cs typeface="Helvetica Neue"/>
              </a:defRPr>
            </a:lvl8pPr>
            <a:lvl9pPr>
              <a:defRPr sz="1500" b="1">
                <a:solidFill>
                  <a:srgbClr val="CFEDEF"/>
                </a:solidFill>
                <a:latin typeface="Helvetica Neue"/>
                <a:ea typeface="Helvetica Neue"/>
                <a:cs typeface="Helvetica Neue"/>
              </a:defRPr>
            </a:lvl9pPr>
          </a:lstStyle>
          <a:p xmlns:a="http://schemas.openxmlformats.org/drawingml/2006/main">
            <a:pPr>
              <a:defRPr sz="1500" b="1">
                <a:solidFill>
                  <a:srgbClr val="CFEDEF"/>
                </a:solidFill>
                <a:latin typeface="Helvetica Neue"/>
                <a:ea typeface="Helvetica Neue"/>
                <a:cs typeface="Helvetica Neue"/>
              </a:defRPr>
            </a:pPr>
            <a:r>
              <a:rPr sz="1500"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1980889165"/>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BE9D133-5F81-4D75-8165-C32B2FC87EC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FF68FFA-55B5-43C2-AE84-EB8FFAA8CAF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375BDE14-D9E5-440E-8259-3FA803F7327E}"/>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95482AE6-9E4E-4B6A-A5B3-F69342E8D1B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8716225F-CD90-4FBD-BD95-348852942270}"/>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common volume and electrolyte disturbances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pump and gravity infusion rates safely</a:t>
            </a:r>
          </a:p>
        </p:txBody>
      </p:sp>
    </p:spTree>
    <p:extLst>
      <p:ext uri="{BB962C8B-B14F-4D97-AF65-F5344CB8AC3E}">
        <p14:creationId xmlns:p14="http://schemas.microsoft.com/office/powerpoint/2010/main" val="1414339917"/>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26566247-2FB3-4560-AD72-F546B2E0AE3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29E199C-2C2B-461C-9FD6-11406857D6B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Fluid compartments</a:t>
            </a:r>
          </a:p>
        </p:txBody>
      </p:sp>
      <p:sp>
        <p:nvSpPr>
          <p:cNvPr id="3" name="">
            <a:extLst xmlns:a="http://schemas.openxmlformats.org/drawingml/2006/main">
              <a:ext uri="{FF2B5EF4-FFF2-40B4-BE49-F238E27FC236}">
                <a16:creationId xmlns:a16="http://schemas.microsoft.com/office/drawing/2014/main" id="{FD080DD8-F857-4C98-BE4D-84E74F4FD75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5419F2A-2A3C-4F2E-B5E4-D705E98141B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F7E3531F-EF38-42BB-8F12-33B63E800BFF}"/>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Intracellular fluid lies within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Extracellular fluid includes intravascular and interstitial spaces.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Osmosis moves water across a semipermeable membrane, while diffusion moves solutes down a concentration gradient.</a:t>
            </a:r>
          </a:p>
        </p:txBody>
      </p:sp>
      <p:sp>
        <p:nvSpPr>
          <p:cNvPr id="6" name="">
            <a:extLst xmlns:a="http://schemas.openxmlformats.org/drawingml/2006/main">
              <a:ext uri="{FF2B5EF4-FFF2-40B4-BE49-F238E27FC236}">
                <a16:creationId xmlns:a16="http://schemas.microsoft.com/office/drawing/2014/main" id="{F4FF882F-80CB-466B-8381-70C5CF9A0E3B}"/>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28219410"/>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3833C21-CCA3-4607-B6DA-8EA03465FC8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31A49B3-80A8-4FAC-B544-575D3F2B4A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a:t>
            </a:r>
          </a:p>
        </p:txBody>
      </p:sp>
      <p:sp>
        <p:nvSpPr>
          <p:cNvPr id="3" name="">
            <a:extLst xmlns:a="http://schemas.openxmlformats.org/drawingml/2006/main">
              <a:ext uri="{FF2B5EF4-FFF2-40B4-BE49-F238E27FC236}">
                <a16:creationId xmlns:a16="http://schemas.microsoft.com/office/drawing/2014/main" id="{4A345CE5-9AE2-4001-96A7-393AA2EE9575}"/>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ED061919-9579-4447-A495-86444516059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B469E479-EC02-4377-952A-B6F8B8521BE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Isotonic solutions have an effective concentration similar to plasma.</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Hypotonic solutions promote movement of water into cells.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Hypertonic solutions draw water out of cells and require close monitoring.</a:t>
            </a:r>
          </a:p>
        </p:txBody>
      </p:sp>
      <p:sp>
        <p:nvSpPr>
          <p:cNvPr id="6" name="">
            <a:extLst xmlns:a="http://schemas.openxmlformats.org/drawingml/2006/main">
              <a:ext uri="{FF2B5EF4-FFF2-40B4-BE49-F238E27FC236}">
                <a16:creationId xmlns:a16="http://schemas.microsoft.com/office/drawing/2014/main" id="{94120E00-0A79-4081-BD02-CD2BA4EA882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961472140"/>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85E0BE9D-822D-4397-9B64-BFB668EF20E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086B6FA2-660B-4F95-AB65-7EB49259B5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Assessment</a:t>
            </a:r>
          </a:p>
        </p:txBody>
      </p:sp>
      <p:sp>
        <p:nvSpPr>
          <p:cNvPr id="3" name="">
            <a:extLst xmlns:a="http://schemas.openxmlformats.org/drawingml/2006/main">
              <a:ext uri="{FF2B5EF4-FFF2-40B4-BE49-F238E27FC236}">
                <a16:creationId xmlns:a16="http://schemas.microsoft.com/office/drawing/2014/main" id="{3ABFA467-A050-4281-A5C0-D3C26700888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42EA95E-8A85-4A2C-8420-F7271E3ED3C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6C3197D4-B71C-439A-BF33-1550A0C92FDE}"/>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Track intake and output, daily weight, vital signs, lung sounds, edema, mucous membranes, cognition, urine output, and relevant laboratory values.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Escalate rapid changes or critical results.</a:t>
            </a:r>
          </a:p>
        </p:txBody>
      </p:sp>
      <p:sp>
        <p:nvSpPr>
          <p:cNvPr id="6" name="">
            <a:extLst xmlns:a="http://schemas.openxmlformats.org/drawingml/2006/main">
              <a:ext uri="{FF2B5EF4-FFF2-40B4-BE49-F238E27FC236}">
                <a16:creationId xmlns:a16="http://schemas.microsoft.com/office/drawing/2014/main" id="{ADF41350-C5BB-40DF-A9B2-CBD5726AF6EC}"/>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5434530"/>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347C4544-7189-4ABF-A312-C6123CAC19F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73692B0-D255-4C24-934F-87275AB36B7B}"/>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Calculations</a:t>
            </a:r>
          </a:p>
        </p:txBody>
      </p:sp>
      <p:sp>
        <p:nvSpPr>
          <p:cNvPr id="3" name="">
            <a:extLst xmlns:a="http://schemas.openxmlformats.org/drawingml/2006/main">
              <a:ext uri="{FF2B5EF4-FFF2-40B4-BE49-F238E27FC236}">
                <a16:creationId xmlns:a16="http://schemas.microsoft.com/office/drawing/2014/main" id="{16E399B1-9BBC-4EBF-9E93-63F01074513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C0A26F7C-1722-4562-9FD4-DA6C322D2150}"/>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F3E4DA26-6CEB-472E-9584-C5008A7E5A1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mL/hour equals volume divided by hours.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gtt/min equals volume times tubing drop factor divided by minutes.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8AAA944F-87F8-41CB-897E-225F5CF2EFF4}"/>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9315819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EB71A428-AB7D-4161-A390-0D85F35620C2}"/>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4F57EC59-C712-4307-BCFE-A8A0F56E26D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Where body fluid is located</a:t>
            </a:r>
          </a:p>
        </p:txBody>
      </p:sp>
      <p:sp>
        <p:nvSpPr>
          <p:cNvPr id="3" name="">
            <a:extLst xmlns:a="http://schemas.openxmlformats.org/drawingml/2006/main">
              <a:ext uri="{FF2B5EF4-FFF2-40B4-BE49-F238E27FC236}">
                <a16:creationId xmlns:a16="http://schemas.microsoft.com/office/drawing/2014/main" id="{7444041E-8C4A-4E6F-8C03-5213C9F778A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CD5DF3A-6A1F-4ACA-A3A8-905718E4C4B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C807B972-B39C-42AB-B049-ABCD101F977B}"/>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BECD3462-BA00-47C8-BACF-FF8601367583}"/>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Compartment</a:t>
            </a:r>
          </a:p>
        </p:txBody>
      </p:sp>
      <p:sp>
        <p:nvSpPr>
          <p:cNvPr id="7" name="">
            <a:extLst xmlns:a="http://schemas.openxmlformats.org/drawingml/2006/main">
              <a:ext uri="{FF2B5EF4-FFF2-40B4-BE49-F238E27FC236}">
                <a16:creationId xmlns:a16="http://schemas.microsoft.com/office/drawing/2014/main" id="{EF09EDBA-387C-441B-9680-645AF15AA26F}"/>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AB1495F3-5AA0-4A6F-8CF3-4A2CA1752B3C}"/>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Location</a:t>
            </a:r>
          </a:p>
        </p:txBody>
      </p:sp>
      <p:sp>
        <p:nvSpPr>
          <p:cNvPr id="9" name="">
            <a:extLst xmlns:a="http://schemas.openxmlformats.org/drawingml/2006/main">
              <a:ext uri="{FF2B5EF4-FFF2-40B4-BE49-F238E27FC236}">
                <a16:creationId xmlns:a16="http://schemas.microsoft.com/office/drawing/2014/main" id="{92ED7D5F-D1A3-4B7B-B69E-7F3EB52D49F7}"/>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67745CAC-A5B7-424B-BA50-4CDC482B9589}"/>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Clinical connection</a:t>
            </a:r>
          </a:p>
        </p:txBody>
      </p:sp>
      <p:sp>
        <p:nvSpPr>
          <p:cNvPr id="11" name="">
            <a:extLst xmlns:a="http://schemas.openxmlformats.org/drawingml/2006/main">
              <a:ext uri="{FF2B5EF4-FFF2-40B4-BE49-F238E27FC236}">
                <a16:creationId xmlns:a16="http://schemas.microsoft.com/office/drawing/2014/main" id="{27FD793B-89AD-4DFC-AC0B-502531B847C9}"/>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4E119A93-2095-480D-98B7-4F30B99C3C57}"/>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Intracellular</a:t>
            </a:r>
          </a:p>
        </p:txBody>
      </p:sp>
      <p:sp>
        <p:nvSpPr>
          <p:cNvPr id="13" name="">
            <a:extLst xmlns:a="http://schemas.openxmlformats.org/drawingml/2006/main">
              <a:ext uri="{FF2B5EF4-FFF2-40B4-BE49-F238E27FC236}">
                <a16:creationId xmlns:a16="http://schemas.microsoft.com/office/drawing/2014/main" id="{4DF60A07-E9D0-4728-8067-03C123154307}"/>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4D5ADBF-2D7D-46D7-8FAF-1E208F6CC7C2}"/>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cells</a:t>
            </a:r>
          </a:p>
        </p:txBody>
      </p:sp>
      <p:sp>
        <p:nvSpPr>
          <p:cNvPr id="15" name="">
            <a:extLst xmlns:a="http://schemas.openxmlformats.org/drawingml/2006/main">
              <a:ext uri="{FF2B5EF4-FFF2-40B4-BE49-F238E27FC236}">
                <a16:creationId xmlns:a16="http://schemas.microsoft.com/office/drawing/2014/main" id="{2A6B3172-DB3E-473B-B297-DDFE7BD5E398}"/>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36D80F43-FBD7-405F-AE78-795EA82FCF06}"/>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Tonicity changes can move water into or out of cells</a:t>
            </a:r>
          </a:p>
        </p:txBody>
      </p:sp>
      <p:sp>
        <p:nvSpPr>
          <p:cNvPr id="17" name="">
            <a:extLst xmlns:a="http://schemas.openxmlformats.org/drawingml/2006/main">
              <a:ext uri="{FF2B5EF4-FFF2-40B4-BE49-F238E27FC236}">
                <a16:creationId xmlns:a16="http://schemas.microsoft.com/office/drawing/2014/main" id="{905E21B5-1FF5-4BEA-B6F7-440E0B8202B3}"/>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6E4416C1-4620-4B62-9009-41164EFDACBE}"/>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Intravascular</a:t>
            </a:r>
          </a:p>
        </p:txBody>
      </p:sp>
      <p:sp>
        <p:nvSpPr>
          <p:cNvPr id="19" name="">
            <a:extLst xmlns:a="http://schemas.openxmlformats.org/drawingml/2006/main">
              <a:ext uri="{FF2B5EF4-FFF2-40B4-BE49-F238E27FC236}">
                <a16:creationId xmlns:a16="http://schemas.microsoft.com/office/drawing/2014/main" id="{F6256D19-861D-4D42-BA82-4ED70D5FF115}"/>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1B96BF7E-0123-4922-9AF7-202D75464489}"/>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Inside blood vessels</a:t>
            </a:r>
          </a:p>
        </p:txBody>
      </p:sp>
      <p:sp>
        <p:nvSpPr>
          <p:cNvPr id="21" name="">
            <a:extLst xmlns:a="http://schemas.openxmlformats.org/drawingml/2006/main">
              <a:ext uri="{FF2B5EF4-FFF2-40B4-BE49-F238E27FC236}">
                <a16:creationId xmlns:a16="http://schemas.microsoft.com/office/drawing/2014/main" id="{8C58F890-51D2-495B-97E9-33CDCE5ED02D}"/>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AD96BE6-B92D-43E9-9A5E-05CC00AB1970}"/>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Directly affects perfusion and circulatory volume</a:t>
            </a:r>
          </a:p>
        </p:txBody>
      </p:sp>
      <p:sp>
        <p:nvSpPr>
          <p:cNvPr id="23" name="">
            <a:extLst xmlns:a="http://schemas.openxmlformats.org/drawingml/2006/main">
              <a:ext uri="{FF2B5EF4-FFF2-40B4-BE49-F238E27FC236}">
                <a16:creationId xmlns:a16="http://schemas.microsoft.com/office/drawing/2014/main" id="{879B3BA1-18A7-4B2E-84B3-9FF36448E206}"/>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0C524E66-129B-4578-85DD-AD86E5ACB3FC}"/>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Interstitial</a:t>
            </a:r>
          </a:p>
        </p:txBody>
      </p:sp>
      <p:sp>
        <p:nvSpPr>
          <p:cNvPr id="25" name="">
            <a:extLst xmlns:a="http://schemas.openxmlformats.org/drawingml/2006/main">
              <a:ext uri="{FF2B5EF4-FFF2-40B4-BE49-F238E27FC236}">
                <a16:creationId xmlns:a16="http://schemas.microsoft.com/office/drawing/2014/main" id="{AB4DFAC6-0D72-485F-80F4-0D49CE0E08EA}"/>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D3F3527A-B915-4FA0-8A2A-AD3C0D23AB2F}"/>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Between cells</a:t>
            </a:r>
          </a:p>
        </p:txBody>
      </p:sp>
      <p:sp>
        <p:nvSpPr>
          <p:cNvPr id="27" name="">
            <a:extLst xmlns:a="http://schemas.openxmlformats.org/drawingml/2006/main">
              <a:ext uri="{FF2B5EF4-FFF2-40B4-BE49-F238E27FC236}">
                <a16:creationId xmlns:a16="http://schemas.microsoft.com/office/drawing/2014/main" id="{E05C8632-46A1-4FA1-B072-94D97EE761D7}"/>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B7B237DA-0BDC-45C3-A5C9-00BD76F16901}"/>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Excess fluid may appear as edema</a:t>
            </a:r>
          </a:p>
        </p:txBody>
      </p:sp>
    </p:spTree>
    <p:extLst>
      <p:ext uri="{BB962C8B-B14F-4D97-AF65-F5344CB8AC3E}">
        <p14:creationId xmlns:p14="http://schemas.microsoft.com/office/powerpoint/2010/main" val="1347084000"/>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9" name="">
            <a:extLst xmlns:a="http://schemas.openxmlformats.org/drawingml/2006/main">
              <a:ext uri="{FF2B5EF4-FFF2-40B4-BE49-F238E27FC236}">
                <a16:creationId xmlns:a16="http://schemas.microsoft.com/office/drawing/2014/main" id="{60D30278-202A-4F17-9E2D-9C0A6FA8A89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33B62362-D0DE-47D9-8E85-63258EA0CAEC}"/>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Tonicity predicts water movement</a:t>
            </a:r>
          </a:p>
        </p:txBody>
      </p:sp>
      <p:sp>
        <p:nvSpPr>
          <p:cNvPr id="3" name="">
            <a:extLst xmlns:a="http://schemas.openxmlformats.org/drawingml/2006/main">
              <a:ext uri="{FF2B5EF4-FFF2-40B4-BE49-F238E27FC236}">
                <a16:creationId xmlns:a16="http://schemas.microsoft.com/office/drawing/2014/main" id="{193D6626-8143-4917-9774-7741054B11C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6C1BAA8-1C9D-43E5-A1AF-D0B54B92CDC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4BBE2E46-5CF1-4E57-A41C-9C00F2BDFDC7}"/>
              </a:ext>
            </a:extLst>
          </p:cNvPr>
          <p:cNvSpPr>
            <a:spLocks xmlns:a="http://schemas.openxmlformats.org/drawingml/2006/main" noGrp="1"/>
          </p:cNvSpPr>
          <p:nvPr/>
        </p:nvSpPr>
        <p:spPr>
          <a:xfrm xmlns:a="http://schemas.openxmlformats.org/drawingml/2006/main">
            <a:off x="7810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88533E8B-D2EC-4CF1-BB00-11369D2E4047}"/>
              </a:ext>
            </a:extLst>
          </p:cNvPr>
          <p:cNvSpPr>
            <a:spLocks xmlns:a="http://schemas.openxmlformats.org/drawingml/2006/main" noGrp="1"/>
          </p:cNvSpPr>
          <p:nvPr/>
        </p:nvSpPr>
        <p:spPr>
          <a:xfrm xmlns:a="http://schemas.openxmlformats.org/drawingml/2006/main">
            <a:off x="8763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Solution type</a:t>
            </a:r>
          </a:p>
        </p:txBody>
      </p:sp>
      <p:sp>
        <p:nvSpPr>
          <p:cNvPr id="7" name="">
            <a:extLst xmlns:a="http://schemas.openxmlformats.org/drawingml/2006/main">
              <a:ext uri="{FF2B5EF4-FFF2-40B4-BE49-F238E27FC236}">
                <a16:creationId xmlns:a16="http://schemas.microsoft.com/office/drawing/2014/main" id="{781BCD2E-FAC1-438F-8121-6AE96070F07A}"/>
              </a:ext>
            </a:extLst>
          </p:cNvPr>
          <p:cNvSpPr>
            <a:spLocks xmlns:a="http://schemas.openxmlformats.org/drawingml/2006/main" noGrp="1"/>
          </p:cNvSpPr>
          <p:nvPr/>
        </p:nvSpPr>
        <p:spPr>
          <a:xfrm xmlns:a="http://schemas.openxmlformats.org/drawingml/2006/main">
            <a:off x="430530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7464AEF3-F2C6-47B5-AB81-8A58D8AD37E2}"/>
              </a:ext>
            </a:extLst>
          </p:cNvPr>
          <p:cNvSpPr>
            <a:spLocks xmlns:a="http://schemas.openxmlformats.org/drawingml/2006/main" noGrp="1"/>
          </p:cNvSpPr>
          <p:nvPr/>
        </p:nvSpPr>
        <p:spPr>
          <a:xfrm xmlns:a="http://schemas.openxmlformats.org/drawingml/2006/main">
            <a:off x="440055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Expected water shift</a:t>
            </a:r>
          </a:p>
        </p:txBody>
      </p:sp>
      <p:sp>
        <p:nvSpPr>
          <p:cNvPr id="9" name="">
            <a:extLst xmlns:a="http://schemas.openxmlformats.org/drawingml/2006/main">
              <a:ext uri="{FF2B5EF4-FFF2-40B4-BE49-F238E27FC236}">
                <a16:creationId xmlns:a16="http://schemas.microsoft.com/office/drawing/2014/main" id="{82C763EA-9891-411C-AAF0-14704CAFDF2E}"/>
              </a:ext>
            </a:extLst>
          </p:cNvPr>
          <p:cNvSpPr>
            <a:spLocks xmlns:a="http://schemas.openxmlformats.org/drawingml/2006/main" noGrp="1"/>
          </p:cNvSpPr>
          <p:nvPr/>
        </p:nvSpPr>
        <p:spPr>
          <a:xfrm xmlns:a="http://schemas.openxmlformats.org/drawingml/2006/main">
            <a:off x="7829550" y="1695450"/>
            <a:ext cx="3524250" cy="1071563"/>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2B827105-D707-4B6E-B3E2-59425CB6ADFE}"/>
              </a:ext>
            </a:extLst>
          </p:cNvPr>
          <p:cNvSpPr>
            <a:spLocks xmlns:a="http://schemas.openxmlformats.org/drawingml/2006/main" noGrp="1"/>
          </p:cNvSpPr>
          <p:nvPr/>
        </p:nvSpPr>
        <p:spPr>
          <a:xfrm xmlns:a="http://schemas.openxmlformats.org/drawingml/2006/main">
            <a:off x="7924800" y="1762125"/>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Key monitoring</a:t>
            </a:r>
          </a:p>
        </p:txBody>
      </p:sp>
      <p:sp>
        <p:nvSpPr>
          <p:cNvPr id="11" name="">
            <a:extLst xmlns:a="http://schemas.openxmlformats.org/drawingml/2006/main">
              <a:ext uri="{FF2B5EF4-FFF2-40B4-BE49-F238E27FC236}">
                <a16:creationId xmlns:a16="http://schemas.microsoft.com/office/drawing/2014/main" id="{567B2403-4B73-4F85-9FCD-6CCE3159D75C}"/>
              </a:ext>
            </a:extLst>
          </p:cNvPr>
          <p:cNvSpPr>
            <a:spLocks xmlns:a="http://schemas.openxmlformats.org/drawingml/2006/main" noGrp="1"/>
          </p:cNvSpPr>
          <p:nvPr/>
        </p:nvSpPr>
        <p:spPr>
          <a:xfrm xmlns:a="http://schemas.openxmlformats.org/drawingml/2006/main">
            <a:off x="7810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8697D5A4-F6AC-4762-B0D9-91FB79574DD5}"/>
              </a:ext>
            </a:extLst>
          </p:cNvPr>
          <p:cNvSpPr>
            <a:spLocks xmlns:a="http://schemas.openxmlformats.org/drawingml/2006/main" noGrp="1"/>
          </p:cNvSpPr>
          <p:nvPr/>
        </p:nvSpPr>
        <p:spPr>
          <a:xfrm xmlns:a="http://schemas.openxmlformats.org/drawingml/2006/main">
            <a:off x="8763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Isotonic</a:t>
            </a:r>
          </a:p>
        </p:txBody>
      </p:sp>
      <p:sp>
        <p:nvSpPr>
          <p:cNvPr id="13" name="">
            <a:extLst xmlns:a="http://schemas.openxmlformats.org/drawingml/2006/main">
              <a:ext uri="{FF2B5EF4-FFF2-40B4-BE49-F238E27FC236}">
                <a16:creationId xmlns:a16="http://schemas.microsoft.com/office/drawing/2014/main" id="{76D56EF8-2E03-44AC-9BA0-8326D065BB7E}"/>
              </a:ext>
            </a:extLst>
          </p:cNvPr>
          <p:cNvSpPr>
            <a:spLocks xmlns:a="http://schemas.openxmlformats.org/drawingml/2006/main" noGrp="1"/>
          </p:cNvSpPr>
          <p:nvPr/>
        </p:nvSpPr>
        <p:spPr>
          <a:xfrm xmlns:a="http://schemas.openxmlformats.org/drawingml/2006/main">
            <a:off x="430530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3FA802D7-4B87-4E41-B416-9BF3E9A46EE4}"/>
              </a:ext>
            </a:extLst>
          </p:cNvPr>
          <p:cNvSpPr>
            <a:spLocks xmlns:a="http://schemas.openxmlformats.org/drawingml/2006/main" noGrp="1"/>
          </p:cNvSpPr>
          <p:nvPr/>
        </p:nvSpPr>
        <p:spPr>
          <a:xfrm xmlns:a="http://schemas.openxmlformats.org/drawingml/2006/main">
            <a:off x="440055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Primarily expands extracellular volume</a:t>
            </a:r>
          </a:p>
        </p:txBody>
      </p:sp>
      <p:sp>
        <p:nvSpPr>
          <p:cNvPr id="15" name="">
            <a:extLst xmlns:a="http://schemas.openxmlformats.org/drawingml/2006/main">
              <a:ext uri="{FF2B5EF4-FFF2-40B4-BE49-F238E27FC236}">
                <a16:creationId xmlns:a16="http://schemas.microsoft.com/office/drawing/2014/main" id="{736424AB-84B2-4027-B590-B06D4534A93B}"/>
              </a:ext>
            </a:extLst>
          </p:cNvPr>
          <p:cNvSpPr>
            <a:spLocks xmlns:a="http://schemas.openxmlformats.org/drawingml/2006/main" noGrp="1"/>
          </p:cNvSpPr>
          <p:nvPr/>
        </p:nvSpPr>
        <p:spPr>
          <a:xfrm xmlns:a="http://schemas.openxmlformats.org/drawingml/2006/main">
            <a:off x="7829550" y="2767013"/>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9E29E771-524C-4384-918E-D388A6029439}"/>
              </a:ext>
            </a:extLst>
          </p:cNvPr>
          <p:cNvSpPr>
            <a:spLocks xmlns:a="http://schemas.openxmlformats.org/drawingml/2006/main" noGrp="1"/>
          </p:cNvSpPr>
          <p:nvPr/>
        </p:nvSpPr>
        <p:spPr>
          <a:xfrm xmlns:a="http://schemas.openxmlformats.org/drawingml/2006/main">
            <a:off x="7924800" y="2833688"/>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Lung sounds, edema, blood pressure</a:t>
            </a:r>
          </a:p>
        </p:txBody>
      </p:sp>
      <p:sp>
        <p:nvSpPr>
          <p:cNvPr id="17" name="">
            <a:extLst xmlns:a="http://schemas.openxmlformats.org/drawingml/2006/main">
              <a:ext uri="{FF2B5EF4-FFF2-40B4-BE49-F238E27FC236}">
                <a16:creationId xmlns:a16="http://schemas.microsoft.com/office/drawing/2014/main" id="{1E6E20A9-F5A5-452B-B95A-6AA68AFB29B7}"/>
              </a:ext>
            </a:extLst>
          </p:cNvPr>
          <p:cNvSpPr>
            <a:spLocks xmlns:a="http://schemas.openxmlformats.org/drawingml/2006/main" noGrp="1"/>
          </p:cNvSpPr>
          <p:nvPr/>
        </p:nvSpPr>
        <p:spPr>
          <a:xfrm xmlns:a="http://schemas.openxmlformats.org/drawingml/2006/main">
            <a:off x="7810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1365F5D7-EE09-4A31-9400-4EED2F66D7B0}"/>
              </a:ext>
            </a:extLst>
          </p:cNvPr>
          <p:cNvSpPr>
            <a:spLocks xmlns:a="http://schemas.openxmlformats.org/drawingml/2006/main" noGrp="1"/>
          </p:cNvSpPr>
          <p:nvPr/>
        </p:nvSpPr>
        <p:spPr>
          <a:xfrm xmlns:a="http://schemas.openxmlformats.org/drawingml/2006/main">
            <a:off x="8763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Hypotonic</a:t>
            </a:r>
          </a:p>
        </p:txBody>
      </p:sp>
      <p:sp>
        <p:nvSpPr>
          <p:cNvPr id="19" name="">
            <a:extLst xmlns:a="http://schemas.openxmlformats.org/drawingml/2006/main">
              <a:ext uri="{FF2B5EF4-FFF2-40B4-BE49-F238E27FC236}">
                <a16:creationId xmlns:a16="http://schemas.microsoft.com/office/drawing/2014/main" id="{FF8E19B2-CB9C-4646-B82A-42364CB1A4A0}"/>
              </a:ext>
            </a:extLst>
          </p:cNvPr>
          <p:cNvSpPr>
            <a:spLocks xmlns:a="http://schemas.openxmlformats.org/drawingml/2006/main" noGrp="1"/>
          </p:cNvSpPr>
          <p:nvPr/>
        </p:nvSpPr>
        <p:spPr>
          <a:xfrm xmlns:a="http://schemas.openxmlformats.org/drawingml/2006/main">
            <a:off x="430530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02FDED84-5E3D-485B-82E5-902E83F178E8}"/>
              </a:ext>
            </a:extLst>
          </p:cNvPr>
          <p:cNvSpPr>
            <a:spLocks xmlns:a="http://schemas.openxmlformats.org/drawingml/2006/main" noGrp="1"/>
          </p:cNvSpPr>
          <p:nvPr/>
        </p:nvSpPr>
        <p:spPr>
          <a:xfrm xmlns:a="http://schemas.openxmlformats.org/drawingml/2006/main">
            <a:off x="440055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toward cells</a:t>
            </a:r>
          </a:p>
        </p:txBody>
      </p:sp>
      <p:sp>
        <p:nvSpPr>
          <p:cNvPr id="21" name="">
            <a:extLst xmlns:a="http://schemas.openxmlformats.org/drawingml/2006/main">
              <a:ext uri="{FF2B5EF4-FFF2-40B4-BE49-F238E27FC236}">
                <a16:creationId xmlns:a16="http://schemas.microsoft.com/office/drawing/2014/main" id="{385A09E0-9F38-479F-9F1A-D2D5A0B401A0}"/>
              </a:ext>
            </a:extLst>
          </p:cNvPr>
          <p:cNvSpPr>
            <a:spLocks xmlns:a="http://schemas.openxmlformats.org/drawingml/2006/main" noGrp="1"/>
          </p:cNvSpPr>
          <p:nvPr/>
        </p:nvSpPr>
        <p:spPr>
          <a:xfrm xmlns:a="http://schemas.openxmlformats.org/drawingml/2006/main">
            <a:off x="7829550" y="3838575"/>
            <a:ext cx="3524250" cy="1071563"/>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D2B55B30-B54D-469E-BE19-5E0322C7928C}"/>
              </a:ext>
            </a:extLst>
          </p:cNvPr>
          <p:cNvSpPr>
            <a:spLocks xmlns:a="http://schemas.openxmlformats.org/drawingml/2006/main" noGrp="1"/>
          </p:cNvSpPr>
          <p:nvPr/>
        </p:nvSpPr>
        <p:spPr>
          <a:xfrm xmlns:a="http://schemas.openxmlformats.org/drawingml/2006/main">
            <a:off x="7924800" y="3905250"/>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Neurologic status and cellular swelling risk</a:t>
            </a:r>
          </a:p>
        </p:txBody>
      </p:sp>
      <p:sp>
        <p:nvSpPr>
          <p:cNvPr id="23" name="">
            <a:extLst xmlns:a="http://schemas.openxmlformats.org/drawingml/2006/main">
              <a:ext uri="{FF2B5EF4-FFF2-40B4-BE49-F238E27FC236}">
                <a16:creationId xmlns:a16="http://schemas.microsoft.com/office/drawing/2014/main" id="{71277BC7-6594-4D0C-9873-58F88026929A}"/>
              </a:ext>
            </a:extLst>
          </p:cNvPr>
          <p:cNvSpPr>
            <a:spLocks xmlns:a="http://schemas.openxmlformats.org/drawingml/2006/main" noGrp="1"/>
          </p:cNvSpPr>
          <p:nvPr/>
        </p:nvSpPr>
        <p:spPr>
          <a:xfrm xmlns:a="http://schemas.openxmlformats.org/drawingml/2006/main">
            <a:off x="7810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2E6ED9C4-A29D-4846-8053-B4247886D8D0}"/>
              </a:ext>
            </a:extLst>
          </p:cNvPr>
          <p:cNvSpPr>
            <a:spLocks xmlns:a="http://schemas.openxmlformats.org/drawingml/2006/main" noGrp="1"/>
          </p:cNvSpPr>
          <p:nvPr/>
        </p:nvSpPr>
        <p:spPr>
          <a:xfrm xmlns:a="http://schemas.openxmlformats.org/drawingml/2006/main">
            <a:off x="8763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Hypertonic</a:t>
            </a:r>
          </a:p>
        </p:txBody>
      </p:sp>
      <p:sp>
        <p:nvSpPr>
          <p:cNvPr id="25" name="">
            <a:extLst xmlns:a="http://schemas.openxmlformats.org/drawingml/2006/main">
              <a:ext uri="{FF2B5EF4-FFF2-40B4-BE49-F238E27FC236}">
                <a16:creationId xmlns:a16="http://schemas.microsoft.com/office/drawing/2014/main" id="{4410CDC6-43EF-410B-92FC-B05949734D54}"/>
              </a:ext>
            </a:extLst>
          </p:cNvPr>
          <p:cNvSpPr>
            <a:spLocks xmlns:a="http://schemas.openxmlformats.org/drawingml/2006/main" noGrp="1"/>
          </p:cNvSpPr>
          <p:nvPr/>
        </p:nvSpPr>
        <p:spPr>
          <a:xfrm xmlns:a="http://schemas.openxmlformats.org/drawingml/2006/main">
            <a:off x="430530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33953ADA-B4C4-4065-A833-799671A542A3}"/>
              </a:ext>
            </a:extLst>
          </p:cNvPr>
          <p:cNvSpPr>
            <a:spLocks xmlns:a="http://schemas.openxmlformats.org/drawingml/2006/main" noGrp="1"/>
          </p:cNvSpPr>
          <p:nvPr/>
        </p:nvSpPr>
        <p:spPr>
          <a:xfrm xmlns:a="http://schemas.openxmlformats.org/drawingml/2006/main">
            <a:off x="440055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Water moves out of cells</a:t>
            </a:r>
          </a:p>
        </p:txBody>
      </p:sp>
      <p:sp>
        <p:nvSpPr>
          <p:cNvPr id="27" name="">
            <a:extLst xmlns:a="http://schemas.openxmlformats.org/drawingml/2006/main">
              <a:ext uri="{FF2B5EF4-FFF2-40B4-BE49-F238E27FC236}">
                <a16:creationId xmlns:a16="http://schemas.microsoft.com/office/drawing/2014/main" id="{76145930-F280-445A-A31E-FB6771B8CE27}"/>
              </a:ext>
            </a:extLst>
          </p:cNvPr>
          <p:cNvSpPr>
            <a:spLocks xmlns:a="http://schemas.openxmlformats.org/drawingml/2006/main" noGrp="1"/>
          </p:cNvSpPr>
          <p:nvPr/>
        </p:nvSpPr>
        <p:spPr>
          <a:xfrm xmlns:a="http://schemas.openxmlformats.org/drawingml/2006/main">
            <a:off x="7829550" y="4910138"/>
            <a:ext cx="3524250" cy="1071563"/>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80145233-6B07-4027-92CB-77B277B69383}"/>
              </a:ext>
            </a:extLst>
          </p:cNvPr>
          <p:cNvSpPr>
            <a:spLocks xmlns:a="http://schemas.openxmlformats.org/drawingml/2006/main" noGrp="1"/>
          </p:cNvSpPr>
          <p:nvPr/>
        </p:nvSpPr>
        <p:spPr>
          <a:xfrm xmlns:a="http://schemas.openxmlformats.org/drawingml/2006/main">
            <a:off x="7924800" y="4976813"/>
            <a:ext cx="3333750" cy="93821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Vein irritation, sodium, glucose, and fluid overload</a:t>
            </a:r>
          </a:p>
        </p:txBody>
      </p:sp>
    </p:spTree>
    <p:extLst>
      <p:ext uri="{BB962C8B-B14F-4D97-AF65-F5344CB8AC3E}">
        <p14:creationId xmlns:p14="http://schemas.microsoft.com/office/powerpoint/2010/main" val="1308744313"/>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42" name="">
            <a:extLst xmlns:a="http://schemas.openxmlformats.org/drawingml/2006/main">
              <a:ext uri="{FF2B5EF4-FFF2-40B4-BE49-F238E27FC236}">
                <a16:creationId xmlns:a16="http://schemas.microsoft.com/office/drawing/2014/main" id="{33DFE18B-1813-46E0-BD09-2D18CD072F4B}"/>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4F274AE-44FC-49BD-89F6-0EA09602B0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Metric conversion chart</a:t>
            </a:r>
          </a:p>
        </p:txBody>
      </p:sp>
      <p:sp>
        <p:nvSpPr>
          <p:cNvPr id="3" name="">
            <a:extLst xmlns:a="http://schemas.openxmlformats.org/drawingml/2006/main">
              <a:ext uri="{FF2B5EF4-FFF2-40B4-BE49-F238E27FC236}">
                <a16:creationId xmlns:a16="http://schemas.microsoft.com/office/drawing/2014/main" id="{66D0464C-5A8F-490C-85D0-81C560F8D4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A600CD12-78DF-4014-9678-1EFB34B56312}"/>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56527D50-A7D5-4B5F-8854-C5A4C119D07C}"/>
              </a:ext>
            </a:extLst>
          </p:cNvPr>
          <p:cNvSpPr>
            <a:spLocks xmlns:a="http://schemas.openxmlformats.org/drawingml/2006/main" noGrp="1"/>
          </p:cNvSpPr>
          <p:nvPr/>
        </p:nvSpPr>
        <p:spPr>
          <a:xfrm xmlns:a="http://schemas.openxmlformats.org/drawingml/2006/main">
            <a:off x="7810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159684A4-878A-4FA4-9D0D-2356BDA2CD57}"/>
              </a:ext>
            </a:extLst>
          </p:cNvPr>
          <p:cNvSpPr>
            <a:spLocks xmlns:a="http://schemas.openxmlformats.org/drawingml/2006/main" noGrp="1"/>
          </p:cNvSpPr>
          <p:nvPr/>
        </p:nvSpPr>
        <p:spPr>
          <a:xfrm xmlns:a="http://schemas.openxmlformats.org/drawingml/2006/main">
            <a:off x="8763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Relationship</a:t>
            </a:r>
          </a:p>
        </p:txBody>
      </p:sp>
      <p:sp>
        <p:nvSpPr>
          <p:cNvPr id="7" name="">
            <a:extLst xmlns:a="http://schemas.openxmlformats.org/drawingml/2006/main">
              <a:ext uri="{FF2B5EF4-FFF2-40B4-BE49-F238E27FC236}">
                <a16:creationId xmlns:a16="http://schemas.microsoft.com/office/drawing/2014/main" id="{8D7914A0-A111-487B-9FCA-8A3BB26D55A4}"/>
              </a:ext>
            </a:extLst>
          </p:cNvPr>
          <p:cNvSpPr>
            <a:spLocks xmlns:a="http://schemas.openxmlformats.org/drawingml/2006/main" noGrp="1"/>
          </p:cNvSpPr>
          <p:nvPr/>
        </p:nvSpPr>
        <p:spPr>
          <a:xfrm xmlns:a="http://schemas.openxmlformats.org/drawingml/2006/main">
            <a:off x="430530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92E0111C-87FE-40CC-93F5-9C56C10A9384}"/>
              </a:ext>
            </a:extLst>
          </p:cNvPr>
          <p:cNvSpPr>
            <a:spLocks xmlns:a="http://schemas.openxmlformats.org/drawingml/2006/main" noGrp="1"/>
          </p:cNvSpPr>
          <p:nvPr/>
        </p:nvSpPr>
        <p:spPr>
          <a:xfrm xmlns:a="http://schemas.openxmlformats.org/drawingml/2006/main">
            <a:off x="440055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Conversion</a:t>
            </a:r>
          </a:p>
        </p:txBody>
      </p:sp>
      <p:sp>
        <p:nvSpPr>
          <p:cNvPr id="9" name="">
            <a:extLst xmlns:a="http://schemas.openxmlformats.org/drawingml/2006/main">
              <a:ext uri="{FF2B5EF4-FFF2-40B4-BE49-F238E27FC236}">
                <a16:creationId xmlns:a16="http://schemas.microsoft.com/office/drawing/2014/main" id="{BFD28174-B491-4BF8-811C-826BC8D488C8}"/>
              </a:ext>
            </a:extLst>
          </p:cNvPr>
          <p:cNvSpPr>
            <a:spLocks xmlns:a="http://schemas.openxmlformats.org/drawingml/2006/main" noGrp="1"/>
          </p:cNvSpPr>
          <p:nvPr/>
        </p:nvSpPr>
        <p:spPr>
          <a:xfrm xmlns:a="http://schemas.openxmlformats.org/drawingml/2006/main">
            <a:off x="7829550" y="1695450"/>
            <a:ext cx="3524250" cy="619125"/>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B2764DB9-714A-47B2-9BD4-C9CD7707736C}"/>
              </a:ext>
            </a:extLst>
          </p:cNvPr>
          <p:cNvSpPr>
            <a:spLocks xmlns:a="http://schemas.openxmlformats.org/drawingml/2006/main" noGrp="1"/>
          </p:cNvSpPr>
          <p:nvPr/>
        </p:nvSpPr>
        <p:spPr>
          <a:xfrm xmlns:a="http://schemas.openxmlformats.org/drawingml/2006/main">
            <a:off x="7924800" y="17621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Use</a:t>
            </a:r>
          </a:p>
        </p:txBody>
      </p:sp>
      <p:sp>
        <p:nvSpPr>
          <p:cNvPr id="11" name="">
            <a:extLst xmlns:a="http://schemas.openxmlformats.org/drawingml/2006/main">
              <a:ext uri="{FF2B5EF4-FFF2-40B4-BE49-F238E27FC236}">
                <a16:creationId xmlns:a16="http://schemas.microsoft.com/office/drawing/2014/main" id="{0046DB94-9CD2-43FD-973B-17A3649552A9}"/>
              </a:ext>
            </a:extLst>
          </p:cNvPr>
          <p:cNvSpPr>
            <a:spLocks xmlns:a="http://schemas.openxmlformats.org/drawingml/2006/main" noGrp="1"/>
          </p:cNvSpPr>
          <p:nvPr/>
        </p:nvSpPr>
        <p:spPr>
          <a:xfrm xmlns:a="http://schemas.openxmlformats.org/drawingml/2006/main">
            <a:off x="7810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D47D434F-C8D3-4A40-8B72-1DB77CE75CF6}"/>
              </a:ext>
            </a:extLst>
          </p:cNvPr>
          <p:cNvSpPr>
            <a:spLocks xmlns:a="http://schemas.openxmlformats.org/drawingml/2006/main" noGrp="1"/>
          </p:cNvSpPr>
          <p:nvPr/>
        </p:nvSpPr>
        <p:spPr>
          <a:xfrm xmlns:a="http://schemas.openxmlformats.org/drawingml/2006/main">
            <a:off x="8763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Volume</a:t>
            </a:r>
          </a:p>
        </p:txBody>
      </p:sp>
      <p:sp>
        <p:nvSpPr>
          <p:cNvPr id="13" name="">
            <a:extLst xmlns:a="http://schemas.openxmlformats.org/drawingml/2006/main">
              <a:ext uri="{FF2B5EF4-FFF2-40B4-BE49-F238E27FC236}">
                <a16:creationId xmlns:a16="http://schemas.microsoft.com/office/drawing/2014/main" id="{490B88DD-D990-4339-9B96-3B33D9CB0CA1}"/>
              </a:ext>
            </a:extLst>
          </p:cNvPr>
          <p:cNvSpPr>
            <a:spLocks xmlns:a="http://schemas.openxmlformats.org/drawingml/2006/main" noGrp="1"/>
          </p:cNvSpPr>
          <p:nvPr/>
        </p:nvSpPr>
        <p:spPr>
          <a:xfrm xmlns:a="http://schemas.openxmlformats.org/drawingml/2006/main">
            <a:off x="430530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DE2C5DEA-8851-4793-8BAD-4CE9380D97F3}"/>
              </a:ext>
            </a:extLst>
          </p:cNvPr>
          <p:cNvSpPr>
            <a:spLocks xmlns:a="http://schemas.openxmlformats.org/drawingml/2006/main" noGrp="1"/>
          </p:cNvSpPr>
          <p:nvPr/>
        </p:nvSpPr>
        <p:spPr>
          <a:xfrm xmlns:a="http://schemas.openxmlformats.org/drawingml/2006/main">
            <a:off x="440055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L = 1,000 mL</a:t>
            </a:r>
          </a:p>
        </p:txBody>
      </p:sp>
      <p:sp>
        <p:nvSpPr>
          <p:cNvPr id="15" name="">
            <a:extLst xmlns:a="http://schemas.openxmlformats.org/drawingml/2006/main">
              <a:ext uri="{FF2B5EF4-FFF2-40B4-BE49-F238E27FC236}">
                <a16:creationId xmlns:a16="http://schemas.microsoft.com/office/drawing/2014/main" id="{24932212-B5E2-4675-8631-C873D2254655}"/>
              </a:ext>
            </a:extLst>
          </p:cNvPr>
          <p:cNvSpPr>
            <a:spLocks xmlns:a="http://schemas.openxmlformats.org/drawingml/2006/main" noGrp="1"/>
          </p:cNvSpPr>
          <p:nvPr/>
        </p:nvSpPr>
        <p:spPr>
          <a:xfrm xmlns:a="http://schemas.openxmlformats.org/drawingml/2006/main">
            <a:off x="7829550" y="23145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D7E9F319-B83F-473D-BB4A-1634D46396F4}"/>
              </a:ext>
            </a:extLst>
          </p:cNvPr>
          <p:cNvSpPr>
            <a:spLocks xmlns:a="http://schemas.openxmlformats.org/drawingml/2006/main" noGrp="1"/>
          </p:cNvSpPr>
          <p:nvPr/>
        </p:nvSpPr>
        <p:spPr>
          <a:xfrm xmlns:a="http://schemas.openxmlformats.org/drawingml/2006/main">
            <a:off x="7924800" y="23812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the ordered bag volume</a:t>
            </a:r>
          </a:p>
        </p:txBody>
      </p:sp>
      <p:sp>
        <p:nvSpPr>
          <p:cNvPr id="17" name="">
            <a:extLst xmlns:a="http://schemas.openxmlformats.org/drawingml/2006/main">
              <a:ext uri="{FF2B5EF4-FFF2-40B4-BE49-F238E27FC236}">
                <a16:creationId xmlns:a16="http://schemas.microsoft.com/office/drawing/2014/main" id="{D9571349-9B58-4EDB-A38F-A64493E8546E}"/>
              </a:ext>
            </a:extLst>
          </p:cNvPr>
          <p:cNvSpPr>
            <a:spLocks xmlns:a="http://schemas.openxmlformats.org/drawingml/2006/main" noGrp="1"/>
          </p:cNvSpPr>
          <p:nvPr/>
        </p:nvSpPr>
        <p:spPr>
          <a:xfrm xmlns:a="http://schemas.openxmlformats.org/drawingml/2006/main">
            <a:off x="7810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243B425F-E280-4261-B379-73897FED9399}"/>
              </a:ext>
            </a:extLst>
          </p:cNvPr>
          <p:cNvSpPr>
            <a:spLocks xmlns:a="http://schemas.openxmlformats.org/drawingml/2006/main" noGrp="1"/>
          </p:cNvSpPr>
          <p:nvPr/>
        </p:nvSpPr>
        <p:spPr>
          <a:xfrm xmlns:a="http://schemas.openxmlformats.org/drawingml/2006/main">
            <a:off x="8763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Mass</a:t>
            </a:r>
          </a:p>
        </p:txBody>
      </p:sp>
      <p:sp>
        <p:nvSpPr>
          <p:cNvPr id="19" name="">
            <a:extLst xmlns:a="http://schemas.openxmlformats.org/drawingml/2006/main">
              <a:ext uri="{FF2B5EF4-FFF2-40B4-BE49-F238E27FC236}">
                <a16:creationId xmlns:a16="http://schemas.microsoft.com/office/drawing/2014/main" id="{34C74172-74EF-4C4A-9EB3-77E6D248431A}"/>
              </a:ext>
            </a:extLst>
          </p:cNvPr>
          <p:cNvSpPr>
            <a:spLocks xmlns:a="http://schemas.openxmlformats.org/drawingml/2006/main" noGrp="1"/>
          </p:cNvSpPr>
          <p:nvPr/>
        </p:nvSpPr>
        <p:spPr>
          <a:xfrm xmlns:a="http://schemas.openxmlformats.org/drawingml/2006/main">
            <a:off x="430530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98A0346F-1953-448F-847B-38B347E2F36D}"/>
              </a:ext>
            </a:extLst>
          </p:cNvPr>
          <p:cNvSpPr>
            <a:spLocks xmlns:a="http://schemas.openxmlformats.org/drawingml/2006/main" noGrp="1"/>
          </p:cNvSpPr>
          <p:nvPr/>
        </p:nvSpPr>
        <p:spPr>
          <a:xfrm xmlns:a="http://schemas.openxmlformats.org/drawingml/2006/main">
            <a:off x="440055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g = 1,000 mg</a:t>
            </a:r>
          </a:p>
        </p:txBody>
      </p:sp>
      <p:sp>
        <p:nvSpPr>
          <p:cNvPr id="21" name="">
            <a:extLst xmlns:a="http://schemas.openxmlformats.org/drawingml/2006/main">
              <a:ext uri="{FF2B5EF4-FFF2-40B4-BE49-F238E27FC236}">
                <a16:creationId xmlns:a16="http://schemas.microsoft.com/office/drawing/2014/main" id="{89EA11D3-56B4-428B-92CB-3CFBF6C11578}"/>
              </a:ext>
            </a:extLst>
          </p:cNvPr>
          <p:cNvSpPr>
            <a:spLocks xmlns:a="http://schemas.openxmlformats.org/drawingml/2006/main" noGrp="1"/>
          </p:cNvSpPr>
          <p:nvPr/>
        </p:nvSpPr>
        <p:spPr>
          <a:xfrm xmlns:a="http://schemas.openxmlformats.org/drawingml/2006/main">
            <a:off x="7829550" y="293370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8B10F51-47F7-4AD6-B2B6-89BFC9905A6A}"/>
              </a:ext>
            </a:extLst>
          </p:cNvPr>
          <p:cNvSpPr>
            <a:spLocks xmlns:a="http://schemas.openxmlformats.org/drawingml/2006/main" noGrp="1"/>
          </p:cNvSpPr>
          <p:nvPr/>
        </p:nvSpPr>
        <p:spPr>
          <a:xfrm xmlns:a="http://schemas.openxmlformats.org/drawingml/2006/main">
            <a:off x="7924800" y="300037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Medication-dose conversion</a:t>
            </a:r>
          </a:p>
        </p:txBody>
      </p:sp>
      <p:sp>
        <p:nvSpPr>
          <p:cNvPr id="23" name="">
            <a:extLst xmlns:a="http://schemas.openxmlformats.org/drawingml/2006/main">
              <a:ext uri="{FF2B5EF4-FFF2-40B4-BE49-F238E27FC236}">
                <a16:creationId xmlns:a16="http://schemas.microsoft.com/office/drawing/2014/main" id="{6D18D9B6-4ACC-497D-B4C0-A89E82079E30}"/>
              </a:ext>
            </a:extLst>
          </p:cNvPr>
          <p:cNvSpPr>
            <a:spLocks xmlns:a="http://schemas.openxmlformats.org/drawingml/2006/main" noGrp="1"/>
          </p:cNvSpPr>
          <p:nvPr/>
        </p:nvSpPr>
        <p:spPr>
          <a:xfrm xmlns:a="http://schemas.openxmlformats.org/drawingml/2006/main">
            <a:off x="7810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5F10C5EA-24A4-435E-B7C3-DA7A7B31BC27}"/>
              </a:ext>
            </a:extLst>
          </p:cNvPr>
          <p:cNvSpPr>
            <a:spLocks xmlns:a="http://schemas.openxmlformats.org/drawingml/2006/main" noGrp="1"/>
          </p:cNvSpPr>
          <p:nvPr/>
        </p:nvSpPr>
        <p:spPr>
          <a:xfrm xmlns:a="http://schemas.openxmlformats.org/drawingml/2006/main">
            <a:off x="8763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Small mass</a:t>
            </a:r>
          </a:p>
        </p:txBody>
      </p:sp>
      <p:sp>
        <p:nvSpPr>
          <p:cNvPr id="25" name="">
            <a:extLst xmlns:a="http://schemas.openxmlformats.org/drawingml/2006/main">
              <a:ext uri="{FF2B5EF4-FFF2-40B4-BE49-F238E27FC236}">
                <a16:creationId xmlns:a16="http://schemas.microsoft.com/office/drawing/2014/main" id="{03A498EA-E23C-4874-83F0-C5D0FEF390CC}"/>
              </a:ext>
            </a:extLst>
          </p:cNvPr>
          <p:cNvSpPr>
            <a:spLocks xmlns:a="http://schemas.openxmlformats.org/drawingml/2006/main" noGrp="1"/>
          </p:cNvSpPr>
          <p:nvPr/>
        </p:nvSpPr>
        <p:spPr>
          <a:xfrm xmlns:a="http://schemas.openxmlformats.org/drawingml/2006/main">
            <a:off x="430530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6" name="">
            <a:extLst xmlns:a="http://schemas.openxmlformats.org/drawingml/2006/main">
              <a:ext uri="{FF2B5EF4-FFF2-40B4-BE49-F238E27FC236}">
                <a16:creationId xmlns:a16="http://schemas.microsoft.com/office/drawing/2014/main" id="{FD8B1BC0-F5F4-4094-976E-9137043D80DF}"/>
              </a:ext>
            </a:extLst>
          </p:cNvPr>
          <p:cNvSpPr>
            <a:spLocks xmlns:a="http://schemas.openxmlformats.org/drawingml/2006/main" noGrp="1"/>
          </p:cNvSpPr>
          <p:nvPr/>
        </p:nvSpPr>
        <p:spPr>
          <a:xfrm xmlns:a="http://schemas.openxmlformats.org/drawingml/2006/main">
            <a:off x="440055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mg = 1,000 mcg</a:t>
            </a:r>
          </a:p>
        </p:txBody>
      </p:sp>
      <p:sp>
        <p:nvSpPr>
          <p:cNvPr id="27" name="">
            <a:extLst xmlns:a="http://schemas.openxmlformats.org/drawingml/2006/main">
              <a:ext uri="{FF2B5EF4-FFF2-40B4-BE49-F238E27FC236}">
                <a16:creationId xmlns:a16="http://schemas.microsoft.com/office/drawing/2014/main" id="{1495E4C1-39D6-493B-A42F-07273D6AD122}"/>
              </a:ext>
            </a:extLst>
          </p:cNvPr>
          <p:cNvSpPr>
            <a:spLocks xmlns:a="http://schemas.openxmlformats.org/drawingml/2006/main" noGrp="1"/>
          </p:cNvSpPr>
          <p:nvPr/>
        </p:nvSpPr>
        <p:spPr>
          <a:xfrm xmlns:a="http://schemas.openxmlformats.org/drawingml/2006/main">
            <a:off x="7829550" y="355282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8" name="">
            <a:extLst xmlns:a="http://schemas.openxmlformats.org/drawingml/2006/main">
              <a:ext uri="{FF2B5EF4-FFF2-40B4-BE49-F238E27FC236}">
                <a16:creationId xmlns:a16="http://schemas.microsoft.com/office/drawing/2014/main" id="{22A0AC42-53B3-4092-AD22-26B80C72479D}"/>
              </a:ext>
            </a:extLst>
          </p:cNvPr>
          <p:cNvSpPr>
            <a:spLocks xmlns:a="http://schemas.openxmlformats.org/drawingml/2006/main" noGrp="1"/>
          </p:cNvSpPr>
          <p:nvPr/>
        </p:nvSpPr>
        <p:spPr>
          <a:xfrm xmlns:a="http://schemas.openxmlformats.org/drawingml/2006/main">
            <a:off x="7924800" y="361950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High-alert and weight-based doses</a:t>
            </a:r>
          </a:p>
        </p:txBody>
      </p:sp>
      <p:sp>
        <p:nvSpPr>
          <p:cNvPr id="29" name="">
            <a:extLst xmlns:a="http://schemas.openxmlformats.org/drawingml/2006/main">
              <a:ext uri="{FF2B5EF4-FFF2-40B4-BE49-F238E27FC236}">
                <a16:creationId xmlns:a16="http://schemas.microsoft.com/office/drawing/2014/main" id="{C9EF33BA-3AE6-4545-89D5-0BF4EFFE294E}"/>
              </a:ext>
            </a:extLst>
          </p:cNvPr>
          <p:cNvSpPr>
            <a:spLocks xmlns:a="http://schemas.openxmlformats.org/drawingml/2006/main" noGrp="1"/>
          </p:cNvSpPr>
          <p:nvPr/>
        </p:nvSpPr>
        <p:spPr>
          <a:xfrm xmlns:a="http://schemas.openxmlformats.org/drawingml/2006/main">
            <a:off x="7810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0" name="">
            <a:extLst xmlns:a="http://schemas.openxmlformats.org/drawingml/2006/main">
              <a:ext uri="{FF2B5EF4-FFF2-40B4-BE49-F238E27FC236}">
                <a16:creationId xmlns:a16="http://schemas.microsoft.com/office/drawing/2014/main" id="{CA21C50A-8124-4078-A50D-330483E7C564}"/>
              </a:ext>
            </a:extLst>
          </p:cNvPr>
          <p:cNvSpPr>
            <a:spLocks xmlns:a="http://schemas.openxmlformats.org/drawingml/2006/main" noGrp="1"/>
          </p:cNvSpPr>
          <p:nvPr/>
        </p:nvSpPr>
        <p:spPr>
          <a:xfrm xmlns:a="http://schemas.openxmlformats.org/drawingml/2006/main">
            <a:off x="8763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Weight</a:t>
            </a:r>
          </a:p>
        </p:txBody>
      </p:sp>
      <p:sp>
        <p:nvSpPr>
          <p:cNvPr id="31" name="">
            <a:extLst xmlns:a="http://schemas.openxmlformats.org/drawingml/2006/main">
              <a:ext uri="{FF2B5EF4-FFF2-40B4-BE49-F238E27FC236}">
                <a16:creationId xmlns:a16="http://schemas.microsoft.com/office/drawing/2014/main" id="{2E84736E-5BBE-4A55-B6B1-B365BDEC8BBC}"/>
              </a:ext>
            </a:extLst>
          </p:cNvPr>
          <p:cNvSpPr>
            <a:spLocks xmlns:a="http://schemas.openxmlformats.org/drawingml/2006/main" noGrp="1"/>
          </p:cNvSpPr>
          <p:nvPr/>
        </p:nvSpPr>
        <p:spPr>
          <a:xfrm xmlns:a="http://schemas.openxmlformats.org/drawingml/2006/main">
            <a:off x="430530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2" name="">
            <a:extLst xmlns:a="http://schemas.openxmlformats.org/drawingml/2006/main">
              <a:ext uri="{FF2B5EF4-FFF2-40B4-BE49-F238E27FC236}">
                <a16:creationId xmlns:a16="http://schemas.microsoft.com/office/drawing/2014/main" id="{4240651A-2713-4AAE-88CA-C346E2A5340F}"/>
              </a:ext>
            </a:extLst>
          </p:cNvPr>
          <p:cNvSpPr>
            <a:spLocks xmlns:a="http://schemas.openxmlformats.org/drawingml/2006/main" noGrp="1"/>
          </p:cNvSpPr>
          <p:nvPr/>
        </p:nvSpPr>
        <p:spPr>
          <a:xfrm xmlns:a="http://schemas.openxmlformats.org/drawingml/2006/main">
            <a:off x="440055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kg = 2.2 lb</a:t>
            </a:r>
          </a:p>
        </p:txBody>
      </p:sp>
      <p:sp>
        <p:nvSpPr>
          <p:cNvPr id="33" name="">
            <a:extLst xmlns:a="http://schemas.openxmlformats.org/drawingml/2006/main">
              <a:ext uri="{FF2B5EF4-FFF2-40B4-BE49-F238E27FC236}">
                <a16:creationId xmlns:a16="http://schemas.microsoft.com/office/drawing/2014/main" id="{378F21DA-4599-4D93-844C-F195694577C2}"/>
              </a:ext>
            </a:extLst>
          </p:cNvPr>
          <p:cNvSpPr>
            <a:spLocks xmlns:a="http://schemas.openxmlformats.org/drawingml/2006/main" noGrp="1"/>
          </p:cNvSpPr>
          <p:nvPr/>
        </p:nvSpPr>
        <p:spPr>
          <a:xfrm xmlns:a="http://schemas.openxmlformats.org/drawingml/2006/main">
            <a:off x="7829550" y="4171950"/>
            <a:ext cx="3524250" cy="619125"/>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34" name="">
            <a:extLst xmlns:a="http://schemas.openxmlformats.org/drawingml/2006/main">
              <a:ext uri="{FF2B5EF4-FFF2-40B4-BE49-F238E27FC236}">
                <a16:creationId xmlns:a16="http://schemas.microsoft.com/office/drawing/2014/main" id="{FFD5165A-47BF-4883-AF4F-9943E8871826}"/>
              </a:ext>
            </a:extLst>
          </p:cNvPr>
          <p:cNvSpPr>
            <a:spLocks xmlns:a="http://schemas.openxmlformats.org/drawingml/2006/main" noGrp="1"/>
          </p:cNvSpPr>
          <p:nvPr/>
        </p:nvSpPr>
        <p:spPr>
          <a:xfrm xmlns:a="http://schemas.openxmlformats.org/drawingml/2006/main">
            <a:off x="7924800" y="4238625"/>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Convert pounds to kilograms before dosing</a:t>
            </a:r>
          </a:p>
        </p:txBody>
      </p:sp>
      <p:sp>
        <p:nvSpPr>
          <p:cNvPr id="35" name="">
            <a:extLst xmlns:a="http://schemas.openxmlformats.org/drawingml/2006/main">
              <a:ext uri="{FF2B5EF4-FFF2-40B4-BE49-F238E27FC236}">
                <a16:creationId xmlns:a16="http://schemas.microsoft.com/office/drawing/2014/main" id="{E2062E39-7F68-4DA1-9BBC-DC07274AD8C2}"/>
              </a:ext>
            </a:extLst>
          </p:cNvPr>
          <p:cNvSpPr>
            <a:spLocks xmlns:a="http://schemas.openxmlformats.org/drawingml/2006/main" noGrp="1"/>
          </p:cNvSpPr>
          <p:nvPr/>
        </p:nvSpPr>
        <p:spPr>
          <a:xfrm xmlns:a="http://schemas.openxmlformats.org/drawingml/2006/main">
            <a:off x="7810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6" name="">
            <a:extLst xmlns:a="http://schemas.openxmlformats.org/drawingml/2006/main">
              <a:ext uri="{FF2B5EF4-FFF2-40B4-BE49-F238E27FC236}">
                <a16:creationId xmlns:a16="http://schemas.microsoft.com/office/drawing/2014/main" id="{80139745-6859-4758-B2A1-E5D69385893E}"/>
              </a:ext>
            </a:extLst>
          </p:cNvPr>
          <p:cNvSpPr>
            <a:spLocks xmlns:a="http://schemas.openxmlformats.org/drawingml/2006/main" noGrp="1"/>
          </p:cNvSpPr>
          <p:nvPr/>
        </p:nvSpPr>
        <p:spPr>
          <a:xfrm xmlns:a="http://schemas.openxmlformats.org/drawingml/2006/main">
            <a:off x="8763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Household volume</a:t>
            </a:r>
          </a:p>
        </p:txBody>
      </p:sp>
      <p:sp>
        <p:nvSpPr>
          <p:cNvPr id="37" name="">
            <a:extLst xmlns:a="http://schemas.openxmlformats.org/drawingml/2006/main">
              <a:ext uri="{FF2B5EF4-FFF2-40B4-BE49-F238E27FC236}">
                <a16:creationId xmlns:a16="http://schemas.microsoft.com/office/drawing/2014/main" id="{7BA4308B-5047-4F1D-B243-237E0633CB5D}"/>
              </a:ext>
            </a:extLst>
          </p:cNvPr>
          <p:cNvSpPr>
            <a:spLocks xmlns:a="http://schemas.openxmlformats.org/drawingml/2006/main" noGrp="1"/>
          </p:cNvSpPr>
          <p:nvPr/>
        </p:nvSpPr>
        <p:spPr>
          <a:xfrm xmlns:a="http://schemas.openxmlformats.org/drawingml/2006/main">
            <a:off x="430530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38" name="">
            <a:extLst xmlns:a="http://schemas.openxmlformats.org/drawingml/2006/main">
              <a:ext uri="{FF2B5EF4-FFF2-40B4-BE49-F238E27FC236}">
                <a16:creationId xmlns:a16="http://schemas.microsoft.com/office/drawing/2014/main" id="{F1AE17A8-B825-43D2-9ADB-225B1B63E4D7}"/>
              </a:ext>
            </a:extLst>
          </p:cNvPr>
          <p:cNvSpPr>
            <a:spLocks xmlns:a="http://schemas.openxmlformats.org/drawingml/2006/main" noGrp="1"/>
          </p:cNvSpPr>
          <p:nvPr/>
        </p:nvSpPr>
        <p:spPr>
          <a:xfrm xmlns:a="http://schemas.openxmlformats.org/drawingml/2006/main">
            <a:off x="440055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tsp = 5 mL; 1 Tbsp = 15 mL</a:t>
            </a:r>
          </a:p>
        </p:txBody>
      </p:sp>
      <p:sp>
        <p:nvSpPr>
          <p:cNvPr id="39" name="">
            <a:extLst xmlns:a="http://schemas.openxmlformats.org/drawingml/2006/main">
              <a:ext uri="{FF2B5EF4-FFF2-40B4-BE49-F238E27FC236}">
                <a16:creationId xmlns:a16="http://schemas.microsoft.com/office/drawing/2014/main" id="{8FACE8DA-47E7-4C42-AA97-18568FF29109}"/>
              </a:ext>
            </a:extLst>
          </p:cNvPr>
          <p:cNvSpPr>
            <a:spLocks xmlns:a="http://schemas.openxmlformats.org/drawingml/2006/main" noGrp="1"/>
          </p:cNvSpPr>
          <p:nvPr/>
        </p:nvSpPr>
        <p:spPr>
          <a:xfrm xmlns:a="http://schemas.openxmlformats.org/drawingml/2006/main">
            <a:off x="7829550" y="4791075"/>
            <a:ext cx="3524250" cy="619125"/>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40" name="">
            <a:extLst xmlns:a="http://schemas.openxmlformats.org/drawingml/2006/main">
              <a:ext uri="{FF2B5EF4-FFF2-40B4-BE49-F238E27FC236}">
                <a16:creationId xmlns:a16="http://schemas.microsoft.com/office/drawing/2014/main" id="{9C8C0E72-DD96-4D43-B129-93AA11397593}"/>
              </a:ext>
            </a:extLst>
          </p:cNvPr>
          <p:cNvSpPr>
            <a:spLocks xmlns:a="http://schemas.openxmlformats.org/drawingml/2006/main" noGrp="1"/>
          </p:cNvSpPr>
          <p:nvPr/>
        </p:nvSpPr>
        <p:spPr>
          <a:xfrm xmlns:a="http://schemas.openxmlformats.org/drawingml/2006/main">
            <a:off x="7924800" y="4857750"/>
            <a:ext cx="3333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only when an approved clinical reference permits</a:t>
            </a:r>
          </a:p>
        </p:txBody>
      </p:sp>
      <p:sp>
        <p:nvSpPr>
          <p:cNvPr id="41" name="">
            <a:extLst xmlns:a="http://schemas.openxmlformats.org/drawingml/2006/main">
              <a:ext uri="{FF2B5EF4-FFF2-40B4-BE49-F238E27FC236}">
                <a16:creationId xmlns:a16="http://schemas.microsoft.com/office/drawing/2014/main" id="{5FBEC580-47F0-4A3D-BBCC-3DC2F28734B9}"/>
              </a:ext>
            </a:extLst>
          </p:cNvPr>
          <p:cNvSpPr>
            <a:spLocks xmlns:a="http://schemas.openxmlformats.org/drawingml/2006/main" noGrp="1"/>
          </p:cNvSpPr>
          <p:nvPr/>
        </p:nvSpPr>
        <p:spPr>
          <a:xfrm xmlns:a="http://schemas.openxmlformats.org/drawingml/2006/main">
            <a:off x="838200" y="5619750"/>
            <a:ext cx="103822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B94F3D"/>
                </a:solidFill>
                <a:latin typeface="Helvetica Neue"/>
                <a:ea typeface="Helvetica Neue"/>
                <a:cs typeface="Helvetica Neue"/>
              </a:defRPr>
            </a:defPPr>
            <a:lvl1pPr>
              <a:defRPr sz="1275" b="1">
                <a:solidFill>
                  <a:srgbClr val="B94F3D"/>
                </a:solidFill>
                <a:latin typeface="Helvetica Neue"/>
                <a:ea typeface="Helvetica Neue"/>
                <a:cs typeface="Helvetica Neue"/>
              </a:defRPr>
            </a:lvl1pPr>
            <a:lvl2pPr>
              <a:defRPr sz="1275" b="1">
                <a:solidFill>
                  <a:srgbClr val="B94F3D"/>
                </a:solidFill>
                <a:latin typeface="Helvetica Neue"/>
                <a:ea typeface="Helvetica Neue"/>
                <a:cs typeface="Helvetica Neue"/>
              </a:defRPr>
            </a:lvl2pPr>
            <a:lvl3pPr>
              <a:defRPr sz="1275" b="1">
                <a:solidFill>
                  <a:srgbClr val="B94F3D"/>
                </a:solidFill>
                <a:latin typeface="Helvetica Neue"/>
                <a:ea typeface="Helvetica Neue"/>
                <a:cs typeface="Helvetica Neue"/>
              </a:defRPr>
            </a:lvl3pPr>
            <a:lvl4pPr>
              <a:defRPr sz="1275" b="1">
                <a:solidFill>
                  <a:srgbClr val="B94F3D"/>
                </a:solidFill>
                <a:latin typeface="Helvetica Neue"/>
                <a:ea typeface="Helvetica Neue"/>
                <a:cs typeface="Helvetica Neue"/>
              </a:defRPr>
            </a:lvl4pPr>
            <a:lvl5pPr>
              <a:defRPr sz="1275" b="1">
                <a:solidFill>
                  <a:srgbClr val="B94F3D"/>
                </a:solidFill>
                <a:latin typeface="Helvetica Neue"/>
                <a:ea typeface="Helvetica Neue"/>
                <a:cs typeface="Helvetica Neue"/>
              </a:defRPr>
            </a:lvl5pPr>
            <a:lvl6pPr>
              <a:defRPr sz="1275" b="1">
                <a:solidFill>
                  <a:srgbClr val="B94F3D"/>
                </a:solidFill>
                <a:latin typeface="Helvetica Neue"/>
                <a:ea typeface="Helvetica Neue"/>
                <a:cs typeface="Helvetica Neue"/>
              </a:defRPr>
            </a:lvl6pPr>
            <a:lvl7pPr>
              <a:defRPr sz="1275" b="1">
                <a:solidFill>
                  <a:srgbClr val="B94F3D"/>
                </a:solidFill>
                <a:latin typeface="Helvetica Neue"/>
                <a:ea typeface="Helvetica Neue"/>
                <a:cs typeface="Helvetica Neue"/>
              </a:defRPr>
            </a:lvl7pPr>
            <a:lvl8pPr>
              <a:defRPr sz="1275" b="1">
                <a:solidFill>
                  <a:srgbClr val="B94F3D"/>
                </a:solidFill>
                <a:latin typeface="Helvetica Neue"/>
                <a:ea typeface="Helvetica Neue"/>
                <a:cs typeface="Helvetica Neue"/>
              </a:defRPr>
            </a:lvl8pPr>
            <a:lvl9pPr>
              <a:defRPr sz="1275" b="1">
                <a:solidFill>
                  <a:srgbClr val="B94F3D"/>
                </a:solidFill>
                <a:latin typeface="Helvetica Neue"/>
                <a:ea typeface="Helvetica Neue"/>
                <a:cs typeface="Helvetica Neue"/>
              </a:defRPr>
            </a:lvl9pPr>
          </a:lstStyle>
          <a:p xmlns:a="http://schemas.openxmlformats.org/drawingml/2006/main">
            <a:pPr>
              <a:defRPr sz="1275" b="1">
                <a:solidFill>
                  <a:srgbClr val="B94F3D"/>
                </a:solidFill>
                <a:latin typeface="Helvetica Neue"/>
                <a:ea typeface="Helvetica Neue"/>
                <a:cs typeface="Helvetica Neue"/>
              </a:defRPr>
            </a:pPr>
            <a:r>
              <a:rPr sz="1275" b="1">
                <a:solidFill>
                  <a:srgbClr val="B94F3D"/>
                </a:solidFill>
                <a:latin typeface="Helvetica Neue"/>
                <a:ea typeface="Helvetica Neue"/>
                <a:cs typeface="Helvetica Neue"/>
              </a:rPr>
              <a:t>Apothecary units are legacy units and are error-prone. Do not guess or rely on OCR-transcribed values; clarify the order and use an approved conversion reference.</a:t>
            </a:r>
          </a:p>
        </p:txBody>
      </p:sp>
    </p:spTree>
    <p:extLst>
      <p:ext uri="{BB962C8B-B14F-4D97-AF65-F5344CB8AC3E}">
        <p14:creationId xmlns:p14="http://schemas.microsoft.com/office/powerpoint/2010/main" val="533050626"/>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40F0920-F84A-4AD6-BE11-3A050B6E550C}"/>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0267D2C-9989-4A40-A8F8-55C7CAE0F186}"/>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Pump-rate formula</a:t>
            </a:r>
          </a:p>
        </p:txBody>
      </p:sp>
      <p:sp>
        <p:nvSpPr>
          <p:cNvPr id="3" name="">
            <a:extLst xmlns:a="http://schemas.openxmlformats.org/drawingml/2006/main">
              <a:ext uri="{FF2B5EF4-FFF2-40B4-BE49-F238E27FC236}">
                <a16:creationId xmlns:a16="http://schemas.microsoft.com/office/drawing/2014/main" id="{1F28BA46-C060-4F14-B70B-FEB429CF9DD9}"/>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FD4A9DF4-F906-4BDD-927A-4A68BA6F4C0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87AD061F-ACCF-4952-AD41-BA4B730FFCC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mL/hr = total volume in mL ÷ time in hours.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1,000 mL ÷ 8 hr = 125 mL/hr.</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Safety check: 125 mL/hr × 8 hr returns the original 1,000 mL.</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Program the pump only after matching the result to the order and confirming the correct channel and line.</a:t>
            </a:r>
          </a:p>
        </p:txBody>
      </p:sp>
      <p:sp>
        <p:nvSpPr>
          <p:cNvPr id="6" name="">
            <a:extLst xmlns:a="http://schemas.openxmlformats.org/drawingml/2006/main">
              <a:ext uri="{FF2B5EF4-FFF2-40B4-BE49-F238E27FC236}">
                <a16:creationId xmlns:a16="http://schemas.microsoft.com/office/drawing/2014/main" id="{4EBBEA00-95D4-4736-A29D-98E1DC8E5F1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533861787"/>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75354593-3EAE-4F1F-A2E6-7D19B92D59EF}"/>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2492C6-0D48-4916-8191-A3A4A6113D0A}"/>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Gravity-rate formula</a:t>
            </a:r>
          </a:p>
        </p:txBody>
      </p:sp>
      <p:sp>
        <p:nvSpPr>
          <p:cNvPr id="3" name="">
            <a:extLst xmlns:a="http://schemas.openxmlformats.org/drawingml/2006/main">
              <a:ext uri="{FF2B5EF4-FFF2-40B4-BE49-F238E27FC236}">
                <a16:creationId xmlns:a16="http://schemas.microsoft.com/office/drawing/2014/main" id="{9853E018-C108-44B0-93C5-BBA603B22044}"/>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BB6D132-C05C-465F-A3EC-4F90BB5D58C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21EE123B-79B5-4008-BAE5-547F2419CFFA}"/>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Formula: gtt/min = volume in mL × drop factor in gtt/mL ÷ time in minutes.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Example: 250 mL × 15 gtt/mL ÷ 90 min = 41.7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Round to a whole drop: 42 gtt/min.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Reassess the drip because patient position, tubing height, and resistance can change a gravity rate.</a:t>
            </a:r>
          </a:p>
        </p:txBody>
      </p:sp>
      <p:sp>
        <p:nvSpPr>
          <p:cNvPr id="6" name="">
            <a:extLst xmlns:a="http://schemas.openxmlformats.org/drawingml/2006/main">
              <a:ext uri="{FF2B5EF4-FFF2-40B4-BE49-F238E27FC236}">
                <a16:creationId xmlns:a16="http://schemas.microsoft.com/office/drawing/2014/main" id="{BD7E4851-3252-4BEA-B3B3-5F15AE7230D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2687905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6300CAB8-C730-42E0-9C75-C18E06E1742D}"/>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1697547E-D8EA-4037-ACC5-5414655C0B0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A four-step calculation safety method</a:t>
            </a:r>
          </a:p>
        </p:txBody>
      </p:sp>
      <p:sp>
        <p:nvSpPr>
          <p:cNvPr id="3" name="">
            <a:extLst xmlns:a="http://schemas.openxmlformats.org/drawingml/2006/main">
              <a:ext uri="{FF2B5EF4-FFF2-40B4-BE49-F238E27FC236}">
                <a16:creationId xmlns:a16="http://schemas.microsoft.com/office/drawing/2014/main" id="{DEB9AEE4-818E-4EA1-977D-A051EF514E7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7BEFBBC3-CBDD-4C86-ACE2-E0CC6353DB5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D9B9F0B2-970A-4DB0-B128-13187EBDBDCF}"/>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E7023E0F-F4E9-420D-9D28-A6168E430C07}"/>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Step</a:t>
            </a:r>
          </a:p>
        </p:txBody>
      </p:sp>
      <p:sp>
        <p:nvSpPr>
          <p:cNvPr id="7" name="">
            <a:extLst xmlns:a="http://schemas.openxmlformats.org/drawingml/2006/main">
              <a:ext uri="{FF2B5EF4-FFF2-40B4-BE49-F238E27FC236}">
                <a16:creationId xmlns:a16="http://schemas.microsoft.com/office/drawing/2014/main" id="{580A3A2A-B2D6-4659-86CE-B9E72E84B436}"/>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51633C3B-02EB-4D31-8EEE-2AA9A9FA5550}"/>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Action</a:t>
            </a:r>
          </a:p>
        </p:txBody>
      </p:sp>
      <p:sp>
        <p:nvSpPr>
          <p:cNvPr id="9" name="">
            <a:extLst xmlns:a="http://schemas.openxmlformats.org/drawingml/2006/main">
              <a:ext uri="{FF2B5EF4-FFF2-40B4-BE49-F238E27FC236}">
                <a16:creationId xmlns:a16="http://schemas.microsoft.com/office/drawing/2014/main" id="{ACBF94BB-09A4-4B04-8DA6-972AC90A95A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1616107B-E9E1-4214-BF33-0F2DB1BC10A2}"/>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1. Organize</a:t>
            </a:r>
          </a:p>
        </p:txBody>
      </p:sp>
      <p:sp>
        <p:nvSpPr>
          <p:cNvPr id="11" name="">
            <a:extLst xmlns:a="http://schemas.openxmlformats.org/drawingml/2006/main">
              <a:ext uri="{FF2B5EF4-FFF2-40B4-BE49-F238E27FC236}">
                <a16:creationId xmlns:a16="http://schemas.microsoft.com/office/drawing/2014/main" id="{46850029-18EF-42AB-8F35-1C01393A25DD}"/>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B363008-857B-46D0-ACCB-9B63161E43FE}"/>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Write the ordered volume, time, and tubing factor with units</a:t>
            </a:r>
          </a:p>
        </p:txBody>
      </p:sp>
      <p:sp>
        <p:nvSpPr>
          <p:cNvPr id="13" name="">
            <a:extLst xmlns:a="http://schemas.openxmlformats.org/drawingml/2006/main">
              <a:ext uri="{FF2B5EF4-FFF2-40B4-BE49-F238E27FC236}">
                <a16:creationId xmlns:a16="http://schemas.microsoft.com/office/drawing/2014/main" id="{29451981-E801-4C83-A062-D0CDAB5C3862}"/>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615B8302-A8FF-4416-8343-26F41748AD4F}"/>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2. Convert</a:t>
            </a:r>
          </a:p>
        </p:txBody>
      </p:sp>
      <p:sp>
        <p:nvSpPr>
          <p:cNvPr id="15" name="">
            <a:extLst xmlns:a="http://schemas.openxmlformats.org/drawingml/2006/main">
              <a:ext uri="{FF2B5EF4-FFF2-40B4-BE49-F238E27FC236}">
                <a16:creationId xmlns:a16="http://schemas.microsoft.com/office/drawing/2014/main" id="{C700F170-0C08-4C00-AB18-2AC32142689E}"/>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4A753170-3C96-4BE0-A3EF-330D5AF791FE}"/>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Make units consistent before calculating</a:t>
            </a:r>
          </a:p>
        </p:txBody>
      </p:sp>
      <p:sp>
        <p:nvSpPr>
          <p:cNvPr id="17" name="">
            <a:extLst xmlns:a="http://schemas.openxmlformats.org/drawingml/2006/main">
              <a:ext uri="{FF2B5EF4-FFF2-40B4-BE49-F238E27FC236}">
                <a16:creationId xmlns:a16="http://schemas.microsoft.com/office/drawing/2014/main" id="{6CF6807B-D7C6-478C-BE31-F15BE560D878}"/>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70BBBE86-DBF9-42F2-8C44-5ED7116B73CD}"/>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3. Calculate</a:t>
            </a:r>
          </a:p>
        </p:txBody>
      </p:sp>
      <p:sp>
        <p:nvSpPr>
          <p:cNvPr id="19" name="">
            <a:extLst xmlns:a="http://schemas.openxmlformats.org/drawingml/2006/main">
              <a:ext uri="{FF2B5EF4-FFF2-40B4-BE49-F238E27FC236}">
                <a16:creationId xmlns:a16="http://schemas.microsoft.com/office/drawing/2014/main" id="{9AA99F4C-EC9A-4621-8F9B-2555C6898B6C}"/>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B85D3E75-33E9-4E88-A2A6-BF660E959868}"/>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one formula and keep units visible</a:t>
            </a:r>
          </a:p>
        </p:txBody>
      </p:sp>
      <p:sp>
        <p:nvSpPr>
          <p:cNvPr id="21" name="">
            <a:extLst xmlns:a="http://schemas.openxmlformats.org/drawingml/2006/main">
              <a:ext uri="{FF2B5EF4-FFF2-40B4-BE49-F238E27FC236}">
                <a16:creationId xmlns:a16="http://schemas.microsoft.com/office/drawing/2014/main" id="{D58098F7-7974-4CBF-8388-B7154C699B71}"/>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CD49CC09-681F-4B8D-9167-2592DA8101E9}"/>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4. Verify</a:t>
            </a:r>
          </a:p>
        </p:txBody>
      </p:sp>
      <p:sp>
        <p:nvSpPr>
          <p:cNvPr id="23" name="">
            <a:extLst xmlns:a="http://schemas.openxmlformats.org/drawingml/2006/main">
              <a:ext uri="{FF2B5EF4-FFF2-40B4-BE49-F238E27FC236}">
                <a16:creationId xmlns:a16="http://schemas.microsoft.com/office/drawing/2014/main" id="{3A511DB4-D2D0-469C-8E25-E6E3E0B7971D}"/>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76DC448-AB15-49FB-9BD3-5AD69839634D}"/>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Work backward and ask whether the answer is clinically reasonable</a:t>
            </a:r>
          </a:p>
        </p:txBody>
      </p:sp>
    </p:spTree>
    <p:extLst>
      <p:ext uri="{BB962C8B-B14F-4D97-AF65-F5344CB8AC3E}">
        <p14:creationId xmlns:p14="http://schemas.microsoft.com/office/powerpoint/2010/main" val="894267679"/>
      </p:ext>
    </p:extLst>
  </p:cSld>
</p:sld>
</file>

<file path=ppt/slides/slide1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44340E7-66B5-453C-9630-781DFBAB65C4}"/>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8B8831EE-A4E6-4014-BD84-30842A90BCC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784C0771-AA0A-4492-A4CF-2F4172644188}"/>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5612033E-3727-486D-B8B5-3C03BB68BBE1}"/>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13</a:t>
            </a:r>
          </a:p>
        </p:txBody>
      </p:sp>
      <p:sp>
        <p:nvSpPr>
          <p:cNvPr id="5" name="">
            <a:extLst xmlns:a="http://schemas.openxmlformats.org/drawingml/2006/main">
              <a:ext uri="{FF2B5EF4-FFF2-40B4-BE49-F238E27FC236}">
                <a16:creationId xmlns:a16="http://schemas.microsoft.com/office/drawing/2014/main" id="{F9C2D87A-F3AF-457A-8399-94930439B13F}"/>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1,000 mL over 8 hours on a pump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Calculate 250 mL over 90 minutes using 15 gtt/mL tubing</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Choose monitoring priorities for fluid deficit and fluid excess</a:t>
            </a:r>
          </a:p>
        </p:txBody>
      </p:sp>
      <p:sp>
        <p:nvSpPr>
          <p:cNvPr id="6" name="">
            <a:extLst xmlns:a="http://schemas.openxmlformats.org/drawingml/2006/main">
              <a:ext uri="{FF2B5EF4-FFF2-40B4-BE49-F238E27FC236}">
                <a16:creationId xmlns:a16="http://schemas.microsoft.com/office/drawing/2014/main" id="{0E5600A3-9D20-498E-A6E4-11A87F5C4F29}"/>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260632639"/>
      </p:ext>
    </p:extLst>
  </p:cSld>
</p:sld>
</file>

<file path=ppt/slides/slide1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7F1CD4C-9804-4ADB-B550-7430403D31D7}"/>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52EFCE9-88F6-4A30-A15E-760BB11A260D}"/>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4FEAB19F-00AF-499B-8737-37E509141A5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3</a:t>
            </a:r>
          </a:p>
        </p:txBody>
      </p:sp>
      <p:sp>
        <p:nvSpPr>
          <p:cNvPr id="4" name="">
            <a:extLst xmlns:a="http://schemas.openxmlformats.org/drawingml/2006/main">
              <a:ext uri="{FF2B5EF4-FFF2-40B4-BE49-F238E27FC236}">
                <a16:creationId xmlns:a16="http://schemas.microsoft.com/office/drawing/2014/main" id="{87C7AF28-956C-4DA6-8482-6F0FACE8BF0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14</a:t>
            </a:r>
          </a:p>
        </p:txBody>
      </p:sp>
      <p:sp>
        <p:nvSpPr>
          <p:cNvPr id="5" name="">
            <a:extLst xmlns:a="http://schemas.openxmlformats.org/drawingml/2006/main">
              <a:ext uri="{FF2B5EF4-FFF2-40B4-BE49-F238E27FC236}">
                <a16:creationId xmlns:a16="http://schemas.microsoft.com/office/drawing/2014/main" id="{0535EB05-E3A6-4202-8085-23C8231332E9}"/>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Relate fluid compartments to IV solution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Isotonic solutions have an effective concentration similar to plasma. Hypotonic solutions promote movement of water into cells. Hypertonic solutions draw water out of cells and require close monitoring.</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mL/hour equals volume divided by hours. gtt/min equals volume times tubing drop factor divided by minutes. Label units, round only at the final step, and check whether the result is clinically reasonable.</a:t>
            </a:r>
          </a:p>
        </p:txBody>
      </p:sp>
      <p:sp>
        <p:nvSpPr>
          <p:cNvPr id="6" name="">
            <a:extLst xmlns:a="http://schemas.openxmlformats.org/drawingml/2006/main">
              <a:ext uri="{FF2B5EF4-FFF2-40B4-BE49-F238E27FC236}">
                <a16:creationId xmlns:a16="http://schemas.microsoft.com/office/drawing/2014/main" id="{7C69DBD9-D4A3-4588-AB09-3D835834801D}"/>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8682387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2026-10-23T08:07:03.0740000Z</dcterms:created>
  <dcterms:modified xsi:type="dcterms:W3CDTF">2026-10-23T08:07:03.0740000Z</dcterms:modified>
</coreProperties>
</file>