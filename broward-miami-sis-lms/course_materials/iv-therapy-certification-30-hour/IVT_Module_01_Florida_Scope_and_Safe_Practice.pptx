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bc349ce985d453e" /><Relationship Type="http://schemas.openxmlformats.org/officeDocument/2006/relationships/extended-properties" Target="/docProps/app.xml" Id="Rae40518464774f3e" /><Relationship Type="http://schemas.openxmlformats.org/officeDocument/2006/relationships/officeDocument" Target="/ppt/presentation.xml" Id="R8902a05f12944cd8" /></Relationships>
</file>

<file path=ppt/presentation.xml><?xml version="1.0" encoding="utf-8"?>
<p:presentation xmlns:p="http://schemas.openxmlformats.org/presentationml/2006/main">
  <p:sldMasterIdLst>
    <p:sldMasterId xmlns:r="http://schemas.openxmlformats.org/officeDocument/2006/relationships" id="2147483648" r:id="Rbe4f82dccdb1496f"/>
  </p:sldMasterIdLst>
  <p:notesMasterIdLst>
    <p:notesMasterId xmlns:r="http://schemas.openxmlformats.org/officeDocument/2006/relationships" r:id="Rfcbcbd8091f74ade"/>
  </p:notesMasterIdLst>
  <p:sldIdLst>
    <p:sldId xmlns:r="http://schemas.openxmlformats.org/officeDocument/2006/relationships" id="256" r:id="Rf9bc860ce079484e"/>
    <p:sldId xmlns:r="http://schemas.openxmlformats.org/officeDocument/2006/relationships" id="257" r:id="Rf8aa325ae0b24e6e"/>
    <p:sldId xmlns:r="http://schemas.openxmlformats.org/officeDocument/2006/relationships" id="258" r:id="Rd5a753d9780b4967"/>
    <p:sldId xmlns:r="http://schemas.openxmlformats.org/officeDocument/2006/relationships" id="259" r:id="R85375ac0a2fd4e58"/>
    <p:sldId xmlns:r="http://schemas.openxmlformats.org/officeDocument/2006/relationships" id="260" r:id="R6597a8d12e1749b2"/>
    <p:sldId xmlns:r="http://schemas.openxmlformats.org/officeDocument/2006/relationships" id="261" r:id="Rab4c782efba24d07"/>
    <p:sldId xmlns:r="http://schemas.openxmlformats.org/officeDocument/2006/relationships" id="262" r:id="R467a0239ffc740f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79e549e06d640ca" /><Relationship Type="http://schemas.openxmlformats.org/officeDocument/2006/relationships/slideMaster" Target="/ppt/slideMasters/slideMaster1.xml" Id="Rbe4f82dccdb1496f" /><Relationship Type="http://schemas.openxmlformats.org/officeDocument/2006/relationships/notesMaster" Target="/ppt/notesMasters/notesMaster1.xml" Id="Rfcbcbd8091f74ade" /><Relationship Type="http://schemas.openxmlformats.org/officeDocument/2006/relationships/presProps" Target="/ppt/presProps.xml" Id="Rfdc62f29849b4853" /><Relationship Type="http://schemas.openxmlformats.org/officeDocument/2006/relationships/tableStyles" Target="/ppt/tableStyles.xml" Id="R1c054d989fe341f4" /><Relationship Type="http://schemas.openxmlformats.org/officeDocument/2006/relationships/slide" Target="/ppt/slides/slide1.xml" Id="Rf9bc860ce079484e" /><Relationship Type="http://schemas.openxmlformats.org/officeDocument/2006/relationships/slide" Target="/ppt/slides/slide2.xml" Id="Rf8aa325ae0b24e6e" /><Relationship Type="http://schemas.openxmlformats.org/officeDocument/2006/relationships/slide" Target="/ppt/slides/slide3.xml" Id="Rd5a753d9780b4967" /><Relationship Type="http://schemas.openxmlformats.org/officeDocument/2006/relationships/slide" Target="/ppt/slides/slide4.xml" Id="R85375ac0a2fd4e58" /><Relationship Type="http://schemas.openxmlformats.org/officeDocument/2006/relationships/slide" Target="/ppt/slides/slide5.xml" Id="R6597a8d12e1749b2" /><Relationship Type="http://schemas.openxmlformats.org/officeDocument/2006/relationships/slide" Target="/ppt/slides/slide6.xml" Id="Rab4c782efba24d07" /><Relationship Type="http://schemas.openxmlformats.org/officeDocument/2006/relationships/slide" Target="/ppt/slides/slide7.xml" Id="R467a0239ffc740f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d2e61593f804a1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ba46deda81c4fd8" /><Relationship Type="http://schemas.openxmlformats.org/officeDocument/2006/relationships/notesMaster" Target="/ppt/notesMasters/notesMaster1.xml" Id="R0d7228f66cd34636" /></Relationships>
</file>

<file path=ppt/notesSlides/_rels/notesSlide2.xml.rels>&#65279;<?xml version="1.0" encoding="utf-8"?><Relationships xmlns="http://schemas.openxmlformats.org/package/2006/relationships"><Relationship Type="http://schemas.openxmlformats.org/officeDocument/2006/relationships/slide" Target="/ppt/slides/slide2.xml" Id="R0b82380a53834206" /><Relationship Type="http://schemas.openxmlformats.org/officeDocument/2006/relationships/notesMaster" Target="/ppt/notesMasters/notesMaster1.xml" Id="R65b999dc30144022" /></Relationships>
</file>

<file path=ppt/notesSlides/_rels/notesSlide3.xml.rels>&#65279;<?xml version="1.0" encoding="utf-8"?><Relationships xmlns="http://schemas.openxmlformats.org/package/2006/relationships"><Relationship Type="http://schemas.openxmlformats.org/officeDocument/2006/relationships/slide" Target="/ppt/slides/slide3.xml" Id="R146042d274cb4d95" /><Relationship Type="http://schemas.openxmlformats.org/officeDocument/2006/relationships/notesMaster" Target="/ppt/notesMasters/notesMaster1.xml" Id="Rf39408effa084edd" /></Relationships>
</file>

<file path=ppt/notesSlides/_rels/notesSlide4.xml.rels>&#65279;<?xml version="1.0" encoding="utf-8"?><Relationships xmlns="http://schemas.openxmlformats.org/package/2006/relationships"><Relationship Type="http://schemas.openxmlformats.org/officeDocument/2006/relationships/slide" Target="/ppt/slides/slide4.xml" Id="Rf2e0a6b9a1d44797" /><Relationship Type="http://schemas.openxmlformats.org/officeDocument/2006/relationships/notesMaster" Target="/ppt/notesMasters/notesMaster1.xml" Id="R4a5ebcd029ed4a9d" /></Relationships>
</file>

<file path=ppt/notesSlides/_rels/notesSlide5.xml.rels>&#65279;<?xml version="1.0" encoding="utf-8"?><Relationships xmlns="http://schemas.openxmlformats.org/package/2006/relationships"><Relationship Type="http://schemas.openxmlformats.org/officeDocument/2006/relationships/slide" Target="/ppt/slides/slide5.xml" Id="Rbe1f587c43ef4c4c" /><Relationship Type="http://schemas.openxmlformats.org/officeDocument/2006/relationships/notesMaster" Target="/ppt/notesMasters/notesMaster1.xml" Id="R3d2bd3a5d6854be1" /></Relationships>
</file>

<file path=ppt/notesSlides/_rels/notesSlide6.xml.rels>&#65279;<?xml version="1.0" encoding="utf-8"?><Relationships xmlns="http://schemas.openxmlformats.org/package/2006/relationships"><Relationship Type="http://schemas.openxmlformats.org/officeDocument/2006/relationships/slide" Target="/ppt/slides/slide6.xml" Id="R4bf5a70d41834f3e" /><Relationship Type="http://schemas.openxmlformats.org/officeDocument/2006/relationships/notesMaster" Target="/ppt/notesMasters/notesMaster1.xml" Id="Re19423f9cb844ff2" /></Relationships>
</file>

<file path=ppt/notesSlides/_rels/notesSlide7.xml.rels>&#65279;<?xml version="1.0" encoding="utf-8"?><Relationships xmlns="http://schemas.openxmlformats.org/package/2006/relationships"><Relationship Type="http://schemas.openxmlformats.org/officeDocument/2006/relationships/slide" Target="/ppt/slides/slide7.xml" Id="R789a80cebc174e67" /><Relationship Type="http://schemas.openxmlformats.org/officeDocument/2006/relationships/notesMaster" Target="/ppt/notesMasters/notesMaster1.xml" Id="Ra96425083c1746c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 </a:t>
            </a:r>
          </a:p>
          <a:p xmlns:a="http://schemas.openxmlformats.org/drawingml/2006/main">
            <a:r>
              <a:t>Current legal reference: Florida Administrative Code Rule 64B9-12.005, effective July 20, 2023; Florida Statutes section 464.003 (2026). Instructor must verify current institutional policy and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 </a:t>
            </a:r>
          </a:p>
          <a:p xmlns:a="http://schemas.openxmlformats.org/drawingml/2006/main">
            <a:r>
              <a:t>Current legal reference: Florida Administrative Code Rule 64B9-12.005, effective July 20, 2023; Florida Statutes section 464.003 (2026). Instructor must verify current institutional policy and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4-5. </a:t>
            </a:r>
          </a:p>
          <a:p xmlns:a="http://schemas.openxmlformats.org/drawingml/2006/main">
            <a:r>
              <a:t>Current legal reference: Florida Administrative Code Rule 64B9-12.005, effective July 20, 2023; Florida Statutes section 464.003 (2026). Instructor must verify current institutional policy and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4-6. </a:t>
            </a:r>
          </a:p>
          <a:p xmlns:a="http://schemas.openxmlformats.org/drawingml/2006/main">
            <a:r>
              <a:t>Current legal reference: Florida Administrative Code Rule 64B9-12.005, effective July 20, 2023; Florida Statutes section 464.003 (2026). Instructor must verify current institutional policy and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4-7. </a:t>
            </a:r>
          </a:p>
          <a:p xmlns:a="http://schemas.openxmlformats.org/drawingml/2006/main">
            <a:r>
              <a:t>Current legal reference: Florida Administrative Code Rule 64B9-12.005, effective July 20, 2023; Florida Statutes section 464.003 (2026). Instructor must verify current institutional policy and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4-8. </a:t>
            </a:r>
          </a:p>
          <a:p xmlns:a="http://schemas.openxmlformats.org/drawingml/2006/main">
            <a:r>
              <a:t>Current legal reference: Florida Administrative Code Rule 64B9-12.005, effective July 20, 2023; Florida Statutes section 464.003 (2026). Instructor must verify current institutional policy and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d07cf518408420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8edbdfbb82e4c90" /><Relationship Type="http://schemas.openxmlformats.org/officeDocument/2006/relationships/slideLayout" Target="/ppt/slideLayouts/slideLayout1.xml" Id="Rbf55ce71908b408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f55ce71908b408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8c063e90a074c47" /><Relationship Type="http://schemas.openxmlformats.org/officeDocument/2006/relationships/image" Target="/ppt/media/image.jpeg" Id="R19f50f2fc4ae4acf" /><Relationship Type="http://schemas.openxmlformats.org/officeDocument/2006/relationships/notesSlide" Target="/ppt/notesSlides/notesSlide1.xml" Id="R82cbe7d50108429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0957d66956a47f6" /><Relationship Type="http://schemas.openxmlformats.org/officeDocument/2006/relationships/notesSlide" Target="/ppt/notesSlides/notesSlide2.xml" Id="Rd20ce65331044a5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27c59eab643429d" /><Relationship Type="http://schemas.openxmlformats.org/officeDocument/2006/relationships/image" Target="/ppt/media/image2.jpeg" Id="Rf9413f2c34fa4e35" /><Relationship Type="http://schemas.openxmlformats.org/officeDocument/2006/relationships/notesSlide" Target="/ppt/notesSlides/notesSlide3.xml" Id="R8baf3ecc48ad4ac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2673c0bb3624c29" /><Relationship Type="http://schemas.openxmlformats.org/officeDocument/2006/relationships/image" Target="/ppt/media/image3.jpeg" Id="R4c286af35ec04f26" /><Relationship Type="http://schemas.openxmlformats.org/officeDocument/2006/relationships/notesSlide" Target="/ppt/notesSlides/notesSlide4.xml" Id="R93b3741420394f6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0290286653e4e06" /><Relationship Type="http://schemas.openxmlformats.org/officeDocument/2006/relationships/image" Target="/ppt/media/image4.jpeg" Id="R764eb70b169b40c3" /><Relationship Type="http://schemas.openxmlformats.org/officeDocument/2006/relationships/notesSlide" Target="/ppt/notesSlides/notesSlide5.xml" Id="R315f61e424404b7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bb07b70a6234619" /><Relationship Type="http://schemas.openxmlformats.org/officeDocument/2006/relationships/image" Target="/ppt/media/image5.jpeg" Id="Rd5edf3db6325428a" /><Relationship Type="http://schemas.openxmlformats.org/officeDocument/2006/relationships/notesSlide" Target="/ppt/notesSlides/notesSlide6.xml" Id="R063381a2e2764ab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b518f39fa4d4bae" /><Relationship Type="http://schemas.openxmlformats.org/officeDocument/2006/relationships/notesSlide" Target="/ppt/notesSlides/notesSlide7.xml" Id="Rbe619f471b954a03"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16EB66E-C07A-423E-81FA-BCC10426DA4A}"/>
              </a:ext>
            </a:extLst>
          </p:cNvPr>
          <p:cNvSpPr>
            <a:spLocks xmlns:a="http://schemas.openxmlformats.org/drawingml/2006/main" noGrp="1"/>
          </p:cNvSpPr>
          <p:nvPr/>
        </p:nvSpPr>
        <p:spPr>
          <a:xfrm xmlns:a="http://schemas.openxmlformats.org/drawingml/2006/main">
            <a:off x="704850" y="552450"/>
            <a:ext cx="762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1">
                <a:solidFill>
                  <a:srgbClr val="CFEDEF"/>
                </a:solidFill>
                <a:latin typeface="Helvetica Neue"/>
                <a:ea typeface="Helvetica Neue"/>
                <a:cs typeface="Helvetica Neue"/>
              </a:defRPr>
            </a:pPr>
            <a:r>
              <a:rPr sz="1350" b="1">
                <a:solidFill>
                  <a:srgbClr val="CFEDEF"/>
                </a:solidFill>
                <a:latin typeface="Helvetica Neue"/>
                <a:ea typeface="Helvetica Neue"/>
                <a:cs typeface="Helvetica Neue"/>
              </a:rPr>
              <a:t>BROWARD-MIAMI HEALTH INSTITUTE</a:t>
            </a:r>
          </a:p>
        </p:txBody>
      </p:sp>
      <p:sp>
        <p:nvSpPr>
          <p:cNvPr id="2" name="">
            <a:extLst xmlns:a="http://schemas.openxmlformats.org/drawingml/2006/main">
              <a:ext uri="{FF2B5EF4-FFF2-40B4-BE49-F238E27FC236}">
                <a16:creationId xmlns:a16="http://schemas.microsoft.com/office/drawing/2014/main" id="{CFBD4348-8221-4688-8D81-A3B9E0174EB5}"/>
              </a:ext>
            </a:extLst>
          </p:cNvPr>
          <p:cNvSpPr>
            <a:spLocks xmlns:a="http://schemas.openxmlformats.org/drawingml/2006/main" noGrp="1"/>
          </p:cNvSpPr>
          <p:nvPr/>
        </p:nvSpPr>
        <p:spPr>
          <a:xfrm xmlns:a="http://schemas.openxmlformats.org/drawingml/2006/main">
            <a:off x="704850" y="1695450"/>
            <a:ext cx="7143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Florida Scope and Safe IV Practice</a:t>
            </a:r>
          </a:p>
        </p:txBody>
      </p:sp>
      <p:sp>
        <p:nvSpPr>
          <p:cNvPr id="3" name="">
            <a:extLst xmlns:a="http://schemas.openxmlformats.org/drawingml/2006/main">
              <a:ext uri="{FF2B5EF4-FFF2-40B4-BE49-F238E27FC236}">
                <a16:creationId xmlns:a16="http://schemas.microsoft.com/office/drawing/2014/main" id="{97EE4591-169D-4125-8F75-13A6C1173EE4}"/>
              </a:ext>
            </a:extLst>
          </p:cNvPr>
          <p:cNvSpPr>
            <a:spLocks xmlns:a="http://schemas.openxmlformats.org/drawingml/2006/main" noGrp="1"/>
          </p:cNvSpPr>
          <p:nvPr/>
        </p:nvSpPr>
        <p:spPr>
          <a:xfrm xmlns:a="http://schemas.openxmlformats.org/drawingml/2006/main">
            <a:off x="742950" y="3810000"/>
            <a:ext cx="619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Module 1</a:t>
            </a:r>
          </a:p>
          <a:p xmlns:a="http://schemas.openxmlformats.org/drawingml/2006/main">
            <a:pPr>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30-Hour Basic Intravenous Therapy</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19f50f2fc4ae4acf"/>
          <a:stretch xmlns:a="http://schemas.openxmlformats.org/drawingml/2006/main"/>
        </p:blipFill>
        <p:spPr>
          <a:xfrm xmlns:a="http://schemas.openxmlformats.org/drawingml/2006/main">
            <a:off x="8286750" y="1461080"/>
            <a:ext cx="3000375" cy="3878690"/>
          </a:xfrm>
          <a:prstGeom xmlns:a="http://schemas.openxmlformats.org/drawingml/2006/main" prst="rect">
            <a:avLst/>
          </a:prstGeom>
        </p:spPr>
      </p:pic>
    </p:spTree>
    <p:extLst>
      <p:ext uri="{BB962C8B-B14F-4D97-AF65-F5344CB8AC3E}">
        <p14:creationId xmlns:p14="http://schemas.microsoft.com/office/powerpoint/2010/main" val="505865590"/>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61A14FB-388B-4DFB-BD0E-069A093B9A50}"/>
              </a:ext>
            </a:extLst>
          </p:cNvPr>
          <p:cNvSpPr>
            <a:spLocks xmlns:a="http://schemas.openxmlformats.org/drawingml/2006/main" noGrp="1"/>
          </p:cNvSpPr>
          <p:nvPr/>
        </p:nvSpPr>
        <p:spPr>
          <a:xfrm xmlns:a="http://schemas.openxmlformats.org/drawingml/2006/main">
            <a:off x="609600" y="32385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550" b="1">
                <a:solidFill>
                  <a:srgbClr val="15324A"/>
                </a:solidFill>
                <a:latin typeface="Helvetica Neue"/>
                <a:ea typeface="Helvetica Neue"/>
                <a:cs typeface="Helvetica Neue"/>
              </a:defRPr>
            </a:pPr>
            <a:r>
              <a:rPr sz="2550" b="1">
                <a:solidFill>
                  <a:srgbClr val="15324A"/>
                </a:solidFill>
                <a:latin typeface="Helvetica Neue"/>
                <a:ea typeface="Helvetica Neue"/>
                <a:cs typeface="Helvetica Neue"/>
              </a:rPr>
              <a:t>Learning objectives</a:t>
            </a:r>
          </a:p>
        </p:txBody>
      </p:sp>
      <p:sp>
        <p:nvSpPr>
          <p:cNvPr id="2" name="">
            <a:extLst xmlns:a="http://schemas.openxmlformats.org/drawingml/2006/main">
              <a:ext uri="{FF2B5EF4-FFF2-40B4-BE49-F238E27FC236}">
                <a16:creationId xmlns:a16="http://schemas.microsoft.com/office/drawing/2014/main" id="{9D0923C4-EAFB-48A3-837D-F05A94CAE7C7}"/>
              </a:ext>
            </a:extLst>
          </p:cNvPr>
          <p:cNvSpPr>
            <a:spLocks xmlns:a="http://schemas.openxmlformats.org/drawingml/2006/main" noGrp="1"/>
          </p:cNvSpPr>
          <p:nvPr/>
        </p:nvSpPr>
        <p:spPr>
          <a:xfrm xmlns:a="http://schemas.openxmlformats.org/drawingml/2006/main">
            <a:off x="11239500" y="40005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237B82"/>
                </a:solidFill>
                <a:latin typeface="Helvetica Neue"/>
                <a:ea typeface="Helvetica Neue"/>
                <a:cs typeface="Helvetica Neue"/>
              </a:defRPr>
            </a:pPr>
            <a:r>
              <a:rPr sz="1275" b="1">
                <a:solidFill>
                  <a:srgbClr val="237B82"/>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772C2D36-CE70-454B-8936-AFD3049E0956}"/>
              </a:ext>
            </a:extLst>
          </p:cNvPr>
          <p:cNvSpPr>
            <a:spLocks xmlns:a="http://schemas.openxmlformats.org/drawingml/2006/main" noGrp="1"/>
          </p:cNvSpPr>
          <p:nvPr/>
        </p:nvSpPr>
        <p:spPr>
          <a:xfrm xmlns:a="http://schemas.openxmlformats.org/drawingml/2006/main">
            <a:off x="952500" y="1428750"/>
            <a:ext cx="102870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1. Explain how Florida law and Board rules govern practical nursing</a:t>
            </a:r>
          </a:p>
          <a:p xmlns:a="http://schemas.openxmlformats.org/drawingml/2006/main">
            <a:r>
              <a:t/>
            </a:r>
          </a:p>
          <a:p xmlns:a="http://schemas.openxmlformats.org/drawingml/2006/main">
            <a:pP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2. Identify IV activities that require direction or direct supervision</a:t>
            </a:r>
          </a:p>
          <a:p xmlns:a="http://schemas.openxmlformats.org/drawingml/2006/main">
            <a:r>
              <a:t/>
            </a:r>
          </a:p>
          <a:p xmlns:a="http://schemas.openxmlformats.org/drawingml/2006/main">
            <a:pP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3. Describe education, competency verification, and documentation duties</a:t>
            </a:r>
          </a:p>
        </p:txBody>
      </p:sp>
    </p:spTree>
    <p:extLst>
      <p:ext uri="{BB962C8B-B14F-4D97-AF65-F5344CB8AC3E}">
        <p14:creationId xmlns:p14="http://schemas.microsoft.com/office/powerpoint/2010/main" val="1850674275"/>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74C4B55-D5B9-4A95-B721-C9E5090EF5E2}"/>
              </a:ext>
            </a:extLst>
          </p:cNvPr>
          <p:cNvSpPr>
            <a:spLocks xmlns:a="http://schemas.openxmlformats.org/drawingml/2006/main" noGrp="1"/>
          </p:cNvSpPr>
          <p:nvPr/>
        </p:nvSpPr>
        <p:spPr>
          <a:xfrm xmlns:a="http://schemas.openxmlformats.org/drawingml/2006/main">
            <a:off x="609600" y="32385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550" b="1">
                <a:solidFill>
                  <a:srgbClr val="15324A"/>
                </a:solidFill>
                <a:latin typeface="Helvetica Neue"/>
                <a:ea typeface="Helvetica Neue"/>
                <a:cs typeface="Helvetica Neue"/>
              </a:defRPr>
            </a:pPr>
            <a:r>
              <a:rPr sz="2550" b="1">
                <a:solidFill>
                  <a:srgbClr val="15324A"/>
                </a:solidFill>
                <a:latin typeface="Helvetica Neue"/>
                <a:ea typeface="Helvetica Neue"/>
                <a:cs typeface="Helvetica Neue"/>
              </a:rPr>
              <a:t>Scope begins with current authority</a:t>
            </a:r>
          </a:p>
        </p:txBody>
      </p:sp>
      <p:sp>
        <p:nvSpPr>
          <p:cNvPr id="2" name="">
            <a:extLst xmlns:a="http://schemas.openxmlformats.org/drawingml/2006/main">
              <a:ext uri="{FF2B5EF4-FFF2-40B4-BE49-F238E27FC236}">
                <a16:creationId xmlns:a16="http://schemas.microsoft.com/office/drawing/2014/main" id="{3332BF58-1427-4327-8C94-12DEC69CADB0}"/>
              </a:ext>
            </a:extLst>
          </p:cNvPr>
          <p:cNvSpPr>
            <a:spLocks xmlns:a="http://schemas.openxmlformats.org/drawingml/2006/main" noGrp="1"/>
          </p:cNvSpPr>
          <p:nvPr/>
        </p:nvSpPr>
        <p:spPr>
          <a:xfrm xmlns:a="http://schemas.openxmlformats.org/drawingml/2006/main">
            <a:off x="11239500" y="40005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237B82"/>
                </a:solidFill>
                <a:latin typeface="Helvetica Neue"/>
                <a:ea typeface="Helvetica Neue"/>
                <a:cs typeface="Helvetica Neue"/>
              </a:defRPr>
            </a:pPr>
            <a:r>
              <a:rPr sz="1275" b="1">
                <a:solidFill>
                  <a:srgbClr val="237B82"/>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825CB7BE-1B9D-448E-A781-8DB82B854CE5}"/>
              </a:ext>
            </a:extLst>
          </p:cNvPr>
          <p:cNvSpPr>
            <a:spLocks xmlns:a="http://schemas.openxmlformats.org/drawingml/2006/main" noGrp="1"/>
          </p:cNvSpPr>
          <p:nvPr/>
        </p:nvSpPr>
        <p:spPr>
          <a:xfrm xmlns:a="http://schemas.openxmlformats.org/drawingml/2006/main">
            <a:off x="857250" y="1476375"/>
            <a:ext cx="68580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Florida Statutes define practical nursing as selected nursing acts performed under authorized direction. Education and experience set personal limits. Employer policy may narrow the permitted role.</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f9413f2c34fa4e35"/>
          <a:stretch xmlns:a="http://schemas.openxmlformats.org/drawingml/2006/main"/>
        </p:blipFill>
        <p:spPr>
          <a:xfrm xmlns:a="http://schemas.openxmlformats.org/drawingml/2006/main">
            <a:off x="8286750" y="1724880"/>
            <a:ext cx="2857500" cy="3693990"/>
          </a:xfrm>
          <a:prstGeom xmlns:a="http://schemas.openxmlformats.org/drawingml/2006/main" prst="rect">
            <a:avLst/>
          </a:prstGeom>
        </p:spPr>
      </p:pic>
    </p:spTree>
    <p:extLst>
      <p:ext uri="{BB962C8B-B14F-4D97-AF65-F5344CB8AC3E}">
        <p14:creationId xmlns:p14="http://schemas.microsoft.com/office/powerpoint/2010/main" val="427491281"/>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E1EB8D9-00EA-4A05-A6B3-64C77EE58E71}"/>
              </a:ext>
            </a:extLst>
          </p:cNvPr>
          <p:cNvSpPr>
            <a:spLocks xmlns:a="http://schemas.openxmlformats.org/drawingml/2006/main" noGrp="1"/>
          </p:cNvSpPr>
          <p:nvPr/>
        </p:nvSpPr>
        <p:spPr>
          <a:xfrm xmlns:a="http://schemas.openxmlformats.org/drawingml/2006/main">
            <a:off x="609600" y="32385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550" b="1">
                <a:solidFill>
                  <a:srgbClr val="15324A"/>
                </a:solidFill>
                <a:latin typeface="Helvetica Neue"/>
                <a:ea typeface="Helvetica Neue"/>
                <a:cs typeface="Helvetica Neue"/>
              </a:defRPr>
            </a:pPr>
            <a:r>
              <a:rPr sz="2550" b="1">
                <a:solidFill>
                  <a:srgbClr val="15324A"/>
                </a:solidFill>
                <a:latin typeface="Helvetica Neue"/>
                <a:ea typeface="Helvetica Neue"/>
                <a:cs typeface="Helvetica Neue"/>
              </a:rPr>
              <a:t>The 30-hour qualification</a:t>
            </a:r>
          </a:p>
        </p:txBody>
      </p:sp>
      <p:sp>
        <p:nvSpPr>
          <p:cNvPr id="2" name="">
            <a:extLst xmlns:a="http://schemas.openxmlformats.org/drawingml/2006/main">
              <a:ext uri="{FF2B5EF4-FFF2-40B4-BE49-F238E27FC236}">
                <a16:creationId xmlns:a16="http://schemas.microsoft.com/office/drawing/2014/main" id="{9BFAC697-6CD7-4875-A4F8-249BF98C997B}"/>
              </a:ext>
            </a:extLst>
          </p:cNvPr>
          <p:cNvSpPr>
            <a:spLocks xmlns:a="http://schemas.openxmlformats.org/drawingml/2006/main" noGrp="1"/>
          </p:cNvSpPr>
          <p:nvPr/>
        </p:nvSpPr>
        <p:spPr>
          <a:xfrm xmlns:a="http://schemas.openxmlformats.org/drawingml/2006/main">
            <a:off x="11239500" y="40005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237B82"/>
                </a:solidFill>
                <a:latin typeface="Helvetica Neue"/>
                <a:ea typeface="Helvetica Neue"/>
                <a:cs typeface="Helvetica Neue"/>
              </a:defRPr>
            </a:pPr>
            <a:r>
              <a:rPr sz="1275" b="1">
                <a:solidFill>
                  <a:srgbClr val="237B82"/>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CD4DCF98-BB34-47D8-A4E8-360946A6AFF4}"/>
              </a:ext>
            </a:extLst>
          </p:cNvPr>
          <p:cNvSpPr>
            <a:spLocks xmlns:a="http://schemas.openxmlformats.org/drawingml/2006/main" noGrp="1"/>
          </p:cNvSpPr>
          <p:nvPr/>
        </p:nvSpPr>
        <p:spPr>
          <a:xfrm xmlns:a="http://schemas.openxmlformats.org/drawingml/2006/main">
            <a:off x="857250" y="1476375"/>
            <a:ext cx="68580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Florida Administrative Code Rule 64B9-12.005 requires at least 30 hours of post-graduate IV education for an LPN or graduate practical nurse who needs this qualification. Course content must cover the required cognitive and clinical areas.</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4c286af35ec04f26"/>
          <a:stretch xmlns:a="http://schemas.openxmlformats.org/drawingml/2006/main"/>
        </p:blipFill>
        <p:spPr>
          <a:xfrm xmlns:a="http://schemas.openxmlformats.org/drawingml/2006/main">
            <a:off x="8286750" y="1724880"/>
            <a:ext cx="2857500" cy="3693990"/>
          </a:xfrm>
          <a:prstGeom xmlns:a="http://schemas.openxmlformats.org/drawingml/2006/main" prst="rect">
            <a:avLst/>
          </a:prstGeom>
        </p:spPr>
      </p:pic>
    </p:spTree>
    <p:extLst>
      <p:ext uri="{BB962C8B-B14F-4D97-AF65-F5344CB8AC3E}">
        <p14:creationId xmlns:p14="http://schemas.microsoft.com/office/powerpoint/2010/main" val="957919387"/>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1A0AAE4-33D0-433F-BE36-0C9B07FC51DC}"/>
              </a:ext>
            </a:extLst>
          </p:cNvPr>
          <p:cNvSpPr>
            <a:spLocks xmlns:a="http://schemas.openxmlformats.org/drawingml/2006/main" noGrp="1"/>
          </p:cNvSpPr>
          <p:nvPr/>
        </p:nvSpPr>
        <p:spPr>
          <a:xfrm xmlns:a="http://schemas.openxmlformats.org/drawingml/2006/main">
            <a:off x="609600" y="32385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550" b="1">
                <a:solidFill>
                  <a:srgbClr val="15324A"/>
                </a:solidFill>
                <a:latin typeface="Helvetica Neue"/>
                <a:ea typeface="Helvetica Neue"/>
                <a:cs typeface="Helvetica Neue"/>
              </a:defRPr>
            </a:pPr>
            <a:r>
              <a:rPr sz="2550" b="1">
                <a:solidFill>
                  <a:srgbClr val="15324A"/>
                </a:solidFill>
                <a:latin typeface="Helvetica Neue"/>
                <a:ea typeface="Helvetica Neue"/>
                <a:cs typeface="Helvetica Neue"/>
              </a:rPr>
              <a:t>Central-line preparation</a:t>
            </a:r>
          </a:p>
        </p:txBody>
      </p:sp>
      <p:sp>
        <p:nvSpPr>
          <p:cNvPr id="2" name="">
            <a:extLst xmlns:a="http://schemas.openxmlformats.org/drawingml/2006/main">
              <a:ext uri="{FF2B5EF4-FFF2-40B4-BE49-F238E27FC236}">
                <a16:creationId xmlns:a16="http://schemas.microsoft.com/office/drawing/2014/main" id="{F0BB1D3B-2E86-4E80-BD1D-3F24BE1DB552}"/>
              </a:ext>
            </a:extLst>
          </p:cNvPr>
          <p:cNvSpPr>
            <a:spLocks xmlns:a="http://schemas.openxmlformats.org/drawingml/2006/main" noGrp="1"/>
          </p:cNvSpPr>
          <p:nvPr/>
        </p:nvSpPr>
        <p:spPr>
          <a:xfrm xmlns:a="http://schemas.openxmlformats.org/drawingml/2006/main">
            <a:off x="11239500" y="40005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237B82"/>
                </a:solidFill>
                <a:latin typeface="Helvetica Neue"/>
                <a:ea typeface="Helvetica Neue"/>
                <a:cs typeface="Helvetica Neue"/>
              </a:defRPr>
            </a:pPr>
            <a:r>
              <a:rPr sz="1275" b="1">
                <a:solidFill>
                  <a:srgbClr val="237B82"/>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4868FD38-C7D2-4433-B113-7B69DEDF2313}"/>
              </a:ext>
            </a:extLst>
          </p:cNvPr>
          <p:cNvSpPr>
            <a:spLocks xmlns:a="http://schemas.openxmlformats.org/drawingml/2006/main" noGrp="1"/>
          </p:cNvSpPr>
          <p:nvPr/>
        </p:nvSpPr>
        <p:spPr>
          <a:xfrm xmlns:a="http://schemas.openxmlformats.org/drawingml/2006/main">
            <a:off x="857250" y="1476375"/>
            <a:ext cx="68580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Central-line practice requires at least four hours of instruction that may count within the 30 hours. Training includes anatomy, site assessment, dressing and cap changes, flushing, administration, blood collection, and complication response.</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764eb70b169b40c3"/>
          <a:stretch xmlns:a="http://schemas.openxmlformats.org/drawingml/2006/main"/>
        </p:blipFill>
        <p:spPr>
          <a:xfrm xmlns:a="http://schemas.openxmlformats.org/drawingml/2006/main">
            <a:off x="8286750" y="1724880"/>
            <a:ext cx="2857500" cy="3693990"/>
          </a:xfrm>
          <a:prstGeom xmlns:a="http://schemas.openxmlformats.org/drawingml/2006/main" prst="rect">
            <a:avLst/>
          </a:prstGeom>
        </p:spPr>
      </p:pic>
    </p:spTree>
    <p:extLst>
      <p:ext uri="{BB962C8B-B14F-4D97-AF65-F5344CB8AC3E}">
        <p14:creationId xmlns:p14="http://schemas.microsoft.com/office/powerpoint/2010/main" val="521667454"/>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CED64E1-46CB-4C9A-894A-443BCFCCF80E}"/>
              </a:ext>
            </a:extLst>
          </p:cNvPr>
          <p:cNvSpPr>
            <a:spLocks xmlns:a="http://schemas.openxmlformats.org/drawingml/2006/main" noGrp="1"/>
          </p:cNvSpPr>
          <p:nvPr/>
        </p:nvSpPr>
        <p:spPr>
          <a:xfrm xmlns:a="http://schemas.openxmlformats.org/drawingml/2006/main">
            <a:off x="609600" y="32385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550" b="1">
                <a:solidFill>
                  <a:srgbClr val="15324A"/>
                </a:solidFill>
                <a:latin typeface="Helvetica Neue"/>
                <a:ea typeface="Helvetica Neue"/>
                <a:cs typeface="Helvetica Neue"/>
              </a:defRPr>
            </a:pPr>
            <a:r>
              <a:rPr sz="2550" b="1">
                <a:solidFill>
                  <a:srgbClr val="15324A"/>
                </a:solidFill>
                <a:latin typeface="Helvetica Neue"/>
                <a:ea typeface="Helvetica Neue"/>
                <a:cs typeface="Helvetica Neue"/>
              </a:rPr>
              <a:t>Clinical competence and records</a:t>
            </a:r>
          </a:p>
        </p:txBody>
      </p:sp>
      <p:sp>
        <p:nvSpPr>
          <p:cNvPr id="2" name="">
            <a:extLst xmlns:a="http://schemas.openxmlformats.org/drawingml/2006/main">
              <a:ext uri="{FF2B5EF4-FFF2-40B4-BE49-F238E27FC236}">
                <a16:creationId xmlns:a16="http://schemas.microsoft.com/office/drawing/2014/main" id="{577376FF-34EE-46E9-9B3D-F3131E804E17}"/>
              </a:ext>
            </a:extLst>
          </p:cNvPr>
          <p:cNvSpPr>
            <a:spLocks xmlns:a="http://schemas.openxmlformats.org/drawingml/2006/main" noGrp="1"/>
          </p:cNvSpPr>
          <p:nvPr/>
        </p:nvSpPr>
        <p:spPr>
          <a:xfrm xmlns:a="http://schemas.openxmlformats.org/drawingml/2006/main">
            <a:off x="11239500" y="40005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237B82"/>
                </a:solidFill>
                <a:latin typeface="Helvetica Neue"/>
                <a:ea typeface="Helvetica Neue"/>
                <a:cs typeface="Helvetica Neue"/>
              </a:defRPr>
            </a:pPr>
            <a:r>
              <a:rPr sz="1275" b="1">
                <a:solidFill>
                  <a:srgbClr val="237B82"/>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50BE3B4C-CEC4-4604-8438-4E3081F919C3}"/>
              </a:ext>
            </a:extLst>
          </p:cNvPr>
          <p:cNvSpPr>
            <a:spLocks xmlns:a="http://schemas.openxmlformats.org/drawingml/2006/main" noGrp="1"/>
          </p:cNvSpPr>
          <p:nvPr/>
        </p:nvSpPr>
        <p:spPr>
          <a:xfrm xmlns:a="http://schemas.openxmlformats.org/drawingml/2006/main">
            <a:off x="857250" y="1476375"/>
            <a:ext cx="68580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 Florida-licensed RN witnesses clinical practice and files a proficiency statement. The employing institution verifies competence under its protocol. Documentation identifies the device, site, solution, delivery method, assessment, response, and complications.</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d5edf3db6325428a"/>
          <a:stretch xmlns:a="http://schemas.openxmlformats.org/drawingml/2006/main"/>
        </p:blipFill>
        <p:spPr>
          <a:xfrm xmlns:a="http://schemas.openxmlformats.org/drawingml/2006/main">
            <a:off x="8286750" y="1724880"/>
            <a:ext cx="2857500" cy="3693990"/>
          </a:xfrm>
          <a:prstGeom xmlns:a="http://schemas.openxmlformats.org/drawingml/2006/main" prst="rect">
            <a:avLst/>
          </a:prstGeom>
        </p:spPr>
      </p:pic>
    </p:spTree>
    <p:extLst>
      <p:ext uri="{BB962C8B-B14F-4D97-AF65-F5344CB8AC3E}">
        <p14:creationId xmlns:p14="http://schemas.microsoft.com/office/powerpoint/2010/main" val="417807741"/>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F8A9DD7-1D61-40C4-B60B-C7C01DB3E6E4}"/>
              </a:ext>
            </a:extLst>
          </p:cNvPr>
          <p:cNvSpPr>
            <a:spLocks xmlns:a="http://schemas.openxmlformats.org/drawingml/2006/main" noGrp="1"/>
          </p:cNvSpPr>
          <p:nvPr/>
        </p:nvSpPr>
        <p:spPr>
          <a:xfrm xmlns:a="http://schemas.openxmlformats.org/drawingml/2006/main">
            <a:off x="609600" y="32385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550" b="1">
                <a:solidFill>
                  <a:srgbClr val="15324A"/>
                </a:solidFill>
                <a:latin typeface="Helvetica Neue"/>
                <a:ea typeface="Helvetica Neue"/>
                <a:cs typeface="Helvetica Neue"/>
              </a:defRPr>
            </a:pPr>
            <a:r>
              <a:rPr sz="2550" b="1">
                <a:solidFill>
                  <a:srgbClr val="15324A"/>
                </a:solidFill>
                <a:latin typeface="Helvetica Neue"/>
                <a:ea typeface="Helvetica Neue"/>
                <a:cs typeface="Helvetica Neue"/>
              </a:rPr>
              <a:t>Practice and competency check</a:t>
            </a:r>
          </a:p>
        </p:txBody>
      </p:sp>
      <p:sp>
        <p:nvSpPr>
          <p:cNvPr id="2" name="">
            <a:extLst xmlns:a="http://schemas.openxmlformats.org/drawingml/2006/main">
              <a:ext uri="{FF2B5EF4-FFF2-40B4-BE49-F238E27FC236}">
                <a16:creationId xmlns:a16="http://schemas.microsoft.com/office/drawing/2014/main" id="{F2BF2419-868C-4A5F-A006-070D279AF5FF}"/>
              </a:ext>
            </a:extLst>
          </p:cNvPr>
          <p:cNvSpPr>
            <a:spLocks xmlns:a="http://schemas.openxmlformats.org/drawingml/2006/main" noGrp="1"/>
          </p:cNvSpPr>
          <p:nvPr/>
        </p:nvSpPr>
        <p:spPr>
          <a:xfrm xmlns:a="http://schemas.openxmlformats.org/drawingml/2006/main">
            <a:off x="11239500" y="40005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237B82"/>
                </a:solidFill>
                <a:latin typeface="Helvetica Neue"/>
                <a:ea typeface="Helvetica Neue"/>
                <a:cs typeface="Helvetica Neue"/>
              </a:defRPr>
            </a:pPr>
            <a:r>
              <a:rPr sz="1275" b="1">
                <a:solidFill>
                  <a:srgbClr val="237B82"/>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3455A378-16DA-4844-A54C-186A3A0470E5}"/>
              </a:ext>
            </a:extLst>
          </p:cNvPr>
          <p:cNvSpPr>
            <a:spLocks xmlns:a="http://schemas.openxmlformats.org/drawingml/2006/main" noGrp="1"/>
          </p:cNvSpPr>
          <p:nvPr/>
        </p:nvSpPr>
        <p:spPr>
          <a:xfrm xmlns:a="http://schemas.openxmlformats.org/drawingml/2006/main">
            <a:off x="952500" y="1381125"/>
            <a:ext cx="102870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1. Classify five IV tasks as permitted, restricted, or requiring direct supervision</a:t>
            </a:r>
          </a:p>
          <a:p xmlns:a="http://schemas.openxmlformats.org/drawingml/2006/main">
            <a:r>
              <a:t/>
            </a:r>
          </a:p>
          <a:p xmlns:a="http://schemas.openxmlformats.org/drawingml/2006/main">
            <a:pP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2. Review an incomplete order and identify the clarification needed</a:t>
            </a:r>
          </a:p>
          <a:p xmlns:a="http://schemas.openxmlformats.org/drawingml/2006/main">
            <a:r>
              <a:t/>
            </a:r>
          </a:p>
          <a:p xmlns:a="http://schemas.openxmlformats.org/drawingml/2006/main">
            <a:pP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3. Write a complete peripheral IV documentation entry</a:t>
            </a:r>
          </a:p>
        </p:txBody>
      </p:sp>
      <p:sp>
        <p:nvSpPr>
          <p:cNvPr id="4" name="">
            <a:extLst xmlns:a="http://schemas.openxmlformats.org/drawingml/2006/main">
              <a:ext uri="{FF2B5EF4-FFF2-40B4-BE49-F238E27FC236}">
                <a16:creationId xmlns:a16="http://schemas.microsoft.com/office/drawing/2014/main" id="{2FE08FBF-C7F2-4385-92F4-62AF438F3902}"/>
              </a:ext>
            </a:extLst>
          </p:cNvPr>
          <p:cNvSpPr>
            <a:spLocks xmlns:a="http://schemas.openxmlformats.org/drawingml/2006/main" noGrp="1"/>
          </p:cNvSpPr>
          <p:nvPr/>
        </p:nvSpPr>
        <p:spPr>
          <a:xfrm xmlns:a="http://schemas.openxmlformats.org/drawingml/2006/main">
            <a:off x="952500" y="5334000"/>
            <a:ext cx="1028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1">
                <a:solidFill>
                  <a:srgbClr val="B94F3D"/>
                </a:solidFill>
                <a:latin typeface="Helvetica Neue"/>
                <a:ea typeface="Helvetica Neue"/>
                <a:cs typeface="Helvetica Neue"/>
              </a:defRPr>
            </a:pPr>
            <a:r>
              <a:rPr sz="1575" b="1">
                <a:solidFill>
                  <a:srgbClr val="B94F3D"/>
                </a:solidFill>
                <a:latin typeface="Helvetica Neue"/>
                <a:ea typeface="Helvetica Neue"/>
                <a:cs typeface="Helvetica Neue"/>
              </a:rPr>
              <a:t>Complete the matching online lesson and quiz before attending the skills lab.</a:t>
            </a:r>
          </a:p>
        </p:txBody>
      </p:sp>
    </p:spTree>
    <p:extLst>
      <p:ext uri="{BB962C8B-B14F-4D97-AF65-F5344CB8AC3E}">
        <p14:creationId xmlns:p14="http://schemas.microsoft.com/office/powerpoint/2010/main" val="8965912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2026-09-11T14:11:26.2680000Z</dcterms:created>
  <dcterms:modified xsi:type="dcterms:W3CDTF">2026-09-11T14:11:26.2680000Z</dcterms:modified>
</coreProperties>
</file>