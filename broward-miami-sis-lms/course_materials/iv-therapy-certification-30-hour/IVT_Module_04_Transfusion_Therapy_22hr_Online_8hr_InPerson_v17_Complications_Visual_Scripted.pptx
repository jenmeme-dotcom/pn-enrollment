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8ba0556cb049b4" /><Relationship Type="http://schemas.openxmlformats.org/officeDocument/2006/relationships/extended-properties" Target="/docProps/app.xml" Id="R3865e079c92a478a" /><Relationship Type="http://schemas.openxmlformats.org/officeDocument/2006/relationships/officeDocument" Target="/ppt/presentation.xml" Id="Rd44037760c9b4ce3" /></Relationships>
</file>

<file path=ppt/presentation.xml><?xml version="1.0" encoding="utf-8"?>
<p:presentation xmlns:p="http://schemas.openxmlformats.org/presentationml/2006/main">
  <p:sldMasterIdLst>
    <p:sldMasterId xmlns:r="http://schemas.openxmlformats.org/officeDocument/2006/relationships" id="2147483648" r:id="R042b7b7ac2b4424f"/>
  </p:sldMasterIdLst>
  <p:notesMasterIdLst>
    <p:notesMasterId xmlns:r="http://schemas.openxmlformats.org/officeDocument/2006/relationships" r:id="Ra0ef6a1df727479a"/>
  </p:notesMasterIdLst>
  <p:sldIdLst>
    <p:sldId xmlns:r="http://schemas.openxmlformats.org/officeDocument/2006/relationships" id="256" r:id="Rdf03d824dc7d4296"/>
    <p:sldId xmlns:r="http://schemas.openxmlformats.org/officeDocument/2006/relationships" id="257" r:id="R686116475ce34c4b"/>
    <p:sldId xmlns:r="http://schemas.openxmlformats.org/officeDocument/2006/relationships" id="258" r:id="Rd036ce6c43ff462b"/>
    <p:sldId xmlns:r="http://schemas.openxmlformats.org/officeDocument/2006/relationships" id="259" r:id="R9ed81170d7f9477e"/>
    <p:sldId xmlns:r="http://schemas.openxmlformats.org/officeDocument/2006/relationships" id="260" r:id="R26219461fd8146cb"/>
    <p:sldId xmlns:r="http://schemas.openxmlformats.org/officeDocument/2006/relationships" id="261" r:id="R283bcdf8c3c443a0"/>
    <p:sldId xmlns:r="http://schemas.openxmlformats.org/officeDocument/2006/relationships" id="262" r:id="R367d339cec64424f"/>
    <p:sldId xmlns:r="http://schemas.openxmlformats.org/officeDocument/2006/relationships" id="263" r:id="Re54c856e9d904049"/>
    <p:sldId xmlns:r="http://schemas.openxmlformats.org/officeDocument/2006/relationships" id="264" r:id="R81db521aebff43d6"/>
    <p:sldId xmlns:r="http://schemas.openxmlformats.org/officeDocument/2006/relationships" id="265" r:id="Rd5d3b7c794064d61"/>
    <p:sldId xmlns:r="http://schemas.openxmlformats.org/officeDocument/2006/relationships" id="266" r:id="Rd417165ffa9b4d61"/>
    <p:sldId xmlns:r="http://schemas.openxmlformats.org/officeDocument/2006/relationships" id="267" r:id="Rf58e4cdb025f41ed"/>
    <p:sldId xmlns:r="http://schemas.openxmlformats.org/officeDocument/2006/relationships" id="268" r:id="Rfa9ca92191c045b9"/>
    <p:sldId xmlns:r="http://schemas.openxmlformats.org/officeDocument/2006/relationships" id="269" r:id="R3cb3e1bfe1bc4d70"/>
    <p:sldId xmlns:r="http://schemas.openxmlformats.org/officeDocument/2006/relationships" id="270" r:id="R7594078afe0d4642"/>
    <p:sldId xmlns:r="http://schemas.openxmlformats.org/officeDocument/2006/relationships" id="271" r:id="R6f262132af5242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86661ab34f4ef3" /><Relationship Type="http://schemas.openxmlformats.org/officeDocument/2006/relationships/slideMaster" Target="/ppt/slideMasters/slideMaster1.xml" Id="R042b7b7ac2b4424f" /><Relationship Type="http://schemas.openxmlformats.org/officeDocument/2006/relationships/notesMaster" Target="/ppt/notesMasters/notesMaster1.xml" Id="Ra0ef6a1df727479a" /><Relationship Type="http://schemas.openxmlformats.org/officeDocument/2006/relationships/presProps" Target="/ppt/presProps.xml" Id="Redf821a6bd424986" /><Relationship Type="http://schemas.openxmlformats.org/officeDocument/2006/relationships/tableStyles" Target="/ppt/tableStyles.xml" Id="Rc97cdea58fbe4bfa" /><Relationship Type="http://schemas.openxmlformats.org/officeDocument/2006/relationships/slide" Target="/ppt/slides/slide1.xml" Id="Rdf03d824dc7d4296" /><Relationship Type="http://schemas.openxmlformats.org/officeDocument/2006/relationships/slide" Target="/ppt/slides/slide2.xml" Id="R686116475ce34c4b" /><Relationship Type="http://schemas.openxmlformats.org/officeDocument/2006/relationships/slide" Target="/ppt/slides/slide3.xml" Id="Rd036ce6c43ff462b" /><Relationship Type="http://schemas.openxmlformats.org/officeDocument/2006/relationships/slide" Target="/ppt/slides/slide4.xml" Id="R9ed81170d7f9477e" /><Relationship Type="http://schemas.openxmlformats.org/officeDocument/2006/relationships/slide" Target="/ppt/slides/slide5.xml" Id="R26219461fd8146cb" /><Relationship Type="http://schemas.openxmlformats.org/officeDocument/2006/relationships/slide" Target="/ppt/slides/slide6.xml" Id="R283bcdf8c3c443a0" /><Relationship Type="http://schemas.openxmlformats.org/officeDocument/2006/relationships/slide" Target="/ppt/slides/slide7.xml" Id="R367d339cec64424f" /><Relationship Type="http://schemas.openxmlformats.org/officeDocument/2006/relationships/slide" Target="/ppt/slides/slide8.xml" Id="Re54c856e9d904049" /><Relationship Type="http://schemas.openxmlformats.org/officeDocument/2006/relationships/slide" Target="/ppt/slides/slide9.xml" Id="R81db521aebff43d6" /><Relationship Type="http://schemas.openxmlformats.org/officeDocument/2006/relationships/slide" Target="/ppt/slides/slide10.xml" Id="Rd5d3b7c794064d61" /><Relationship Type="http://schemas.openxmlformats.org/officeDocument/2006/relationships/slide" Target="/ppt/slides/slide11.xml" Id="Rd417165ffa9b4d61" /><Relationship Type="http://schemas.openxmlformats.org/officeDocument/2006/relationships/slide" Target="/ppt/slides/slide12.xml" Id="Rf58e4cdb025f41ed" /><Relationship Type="http://schemas.openxmlformats.org/officeDocument/2006/relationships/slide" Target="/ppt/slides/slide13.xml" Id="Rfa9ca92191c045b9" /><Relationship Type="http://schemas.openxmlformats.org/officeDocument/2006/relationships/slide" Target="/ppt/slides/slide14.xml" Id="R3cb3e1bfe1bc4d70" /><Relationship Type="http://schemas.openxmlformats.org/officeDocument/2006/relationships/slide" Target="/ppt/slides/slide15.xml" Id="R7594078afe0d4642" /><Relationship Type="http://schemas.openxmlformats.org/officeDocument/2006/relationships/slide" Target="/ppt/slides/slide16.xml" Id="R6f262132af5242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5c40c72c2a4d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1df536e6134b43" /><Relationship Type="http://schemas.openxmlformats.org/officeDocument/2006/relationships/notesMaster" Target="/ppt/notesMasters/notesMaster1.xml" Id="Rfcd57491c1d4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97e7037fd94313" /><Relationship Type="http://schemas.openxmlformats.org/officeDocument/2006/relationships/notesMaster" Target="/ppt/notesMasters/notesMaster1.xml" Id="Rbc5ef116759143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f7ad3fdc5842fa" /><Relationship Type="http://schemas.openxmlformats.org/officeDocument/2006/relationships/notesMaster" Target="/ppt/notesMasters/notesMaster1.xml" Id="Ra45586cbaa4447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7bfc8a6ad743d9" /><Relationship Type="http://schemas.openxmlformats.org/officeDocument/2006/relationships/notesMaster" Target="/ppt/notesMasters/notesMaster1.xml" Id="Ra72c1ea30cf84f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3a27fc325443d3" /><Relationship Type="http://schemas.openxmlformats.org/officeDocument/2006/relationships/notesMaster" Target="/ppt/notesMasters/notesMaster1.xml" Id="Ra4b7b8b36cc743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fa088c9ab8464d" /><Relationship Type="http://schemas.openxmlformats.org/officeDocument/2006/relationships/notesMaster" Target="/ppt/notesMasters/notesMaster1.xml" Id="R580cc04776e045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619cf25d654732" /><Relationship Type="http://schemas.openxmlformats.org/officeDocument/2006/relationships/notesMaster" Target="/ppt/notesMasters/notesMaster1.xml" Id="R773bc82083dd46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db92578fd54789" /><Relationship Type="http://schemas.openxmlformats.org/officeDocument/2006/relationships/notesMaster" Target="/ppt/notesMasters/notesMaster1.xml" Id="R256c8e6d28814a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956a2df87c4451" /><Relationship Type="http://schemas.openxmlformats.org/officeDocument/2006/relationships/notesMaster" Target="/ppt/notesMasters/notesMaster1.xml" Id="R021e800e233f44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fc72a5db064818" /><Relationship Type="http://schemas.openxmlformats.org/officeDocument/2006/relationships/notesMaster" Target="/ppt/notesMasters/notesMaster1.xml" Id="R592451dba2ae4f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cbdf7317384d4b" /><Relationship Type="http://schemas.openxmlformats.org/officeDocument/2006/relationships/notesMaster" Target="/ppt/notesMasters/notesMaster1.xml" Id="Rcdd14a5ab43748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e3766ac30a44fe" /><Relationship Type="http://schemas.openxmlformats.org/officeDocument/2006/relationships/notesMaster" Target="/ppt/notesMasters/notesMaster1.xml" Id="R8ee7b976f8bb47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b790ed08bc43e4" /><Relationship Type="http://schemas.openxmlformats.org/officeDocument/2006/relationships/notesMaster" Target="/ppt/notesMasters/notesMaster1.xml" Id="R365d475823ac4d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5626da6e25466b" /><Relationship Type="http://schemas.openxmlformats.org/officeDocument/2006/relationships/notesMaster" Target="/ppt/notesMasters/notesMaster1.xml" Id="R1ac7b4ecaa784f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429b9896934cae" /><Relationship Type="http://schemas.openxmlformats.org/officeDocument/2006/relationships/notesMaster" Target="/ppt/notesMasters/notesMaster1.xml" Id="Ra3991e311edd4c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d883bf6b194513" /><Relationship Type="http://schemas.openxmlformats.org/officeDocument/2006/relationships/notesMaster" Target="/ppt/notesMasters/notesMaster1.xml" Id="R0796f336522749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and blood components. First, Red blood cells: Oxygen-carrying capacity; Reaction, volume tolerance, response in hemoglobin and symptoms Next, Platelets: Platelet number or function; Bleeding, reaction, post-transfusion count when ordered Next, Plasma: Multiple coagulation factors; Reaction, volume load, coagulation response Next, Cryoprecipitate: Fibrinogen and selected factors; Reaction and fibrinogen response when ordered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30 Hour IV Certification Study Guide, revised March 2013, PDF pages 48-49.</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ABO and Rh compatibility requires formal verification. First, Use the blood bank compatibility record and the facility's bedside verification process. Next, Do not rely on memory, a handwritten chart, or the patient's statement of blood type. Next, Match patient identifiers, component, ABO and Rh information, unit number, compatibility, expiration, and product appearance. Next, Stop for any discrepancy and contact the blood bank before proceeding.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topic: 30 Hour IV Certification Study Guide, revised March 2013, PDF page 50. Current blood-bank policy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Transfusion monitoring timeline. First, Before: Order, consent process, access, baseline assessment and vital signs, compatibility verification, emergency readiness Next, Initial period: Begin according to policy, remain able to observe closely, and watch for early reaction Next, During: Assess the patient, site, rate, volume tolerance, and required vital signs Next, Completion: Record product and volume, reassess, document response, and dispose or return materials as policy directs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topics: 30 Hour IV Certification Study Guide, revised March 2013, PDF pages 50-53. Timing and vital-sign intervals follow current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Acute reaction patterns. First, Hemolytic: Fever, chills, pain, hypotension, dyspnea, hemoglobinuria, rapid deterioration Next, Febrile nonhemolytic: Fever and chills without another established cause Next, Allergic or anaphylactic: Hives or itching; severe cases include airway symptoms and hypotension Next, Circulatory overload: Dyspnea, crackles, hypertension, edema, jugular venous distention Next, Bacterial contamination: High fever, rigors, hypotension, shock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Source: 30 Hour IV Certification Study Guide, revised March 2013, PDF pages 50-53.</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528ab09bb440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87c0c8a5b4e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9953968b3e4a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0494d2ce3147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7a892c280d40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adc3b5e00141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A73D2F-A1F8-4429-9330-2DFF86606C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21357D-4C04-455A-8FD1-2783DBB123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A65678-0613-472C-A28C-BCA47E98EF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CFE8B-33D1-41E3-BB19-815AFA801C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41FF57-3DCD-4DBA-8140-1DA9A29812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E12344-60CB-428F-B955-25219B8B14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C0F46E-638E-4EE4-90BC-3AD324E78C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E9767F2-3F6C-4EF7-A503-6A70F0D0AF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B05CC0-F33B-4694-90B6-CA667F3D18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32AB75-6869-4F9B-9F83-C414EF8CEB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90b0c12722477c" /><Relationship Type="http://schemas.openxmlformats.org/officeDocument/2006/relationships/slideLayout" Target="/ppt/slideLayouts/slideLayout1.xml" Id="R09b9ad275a224e57" /><Relationship Type="http://schemas.openxmlformats.org/officeDocument/2006/relationships/slideLayout" Target="/ppt/slideLayouts/slideLayout2.xml" Id="R948dacb759134b54" /><Relationship Type="http://schemas.openxmlformats.org/officeDocument/2006/relationships/slideLayout" Target="/ppt/slideLayouts/slideLayout3.xml" Id="Re6381173b64045c5" /><Relationship Type="http://schemas.openxmlformats.org/officeDocument/2006/relationships/slideLayout" Target="/ppt/slideLayouts/slideLayout4.xml" Id="R88cb67eb885d43af" /><Relationship Type="http://schemas.openxmlformats.org/officeDocument/2006/relationships/slideLayout" Target="/ppt/slideLayouts/slideLayout5.xml" Id="Rb7f143d51f284023" /><Relationship Type="http://schemas.openxmlformats.org/officeDocument/2006/relationships/slideLayout" Target="/ppt/slideLayouts/slideLayout6.xml" Id="R57753f5ff8704d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9ad275a224e57"/>
    <p:sldLayoutId xmlns:r="http://schemas.openxmlformats.org/officeDocument/2006/relationships" id="2147483650" r:id="R948dacb759134b54"/>
    <p:sldLayoutId xmlns:r="http://schemas.openxmlformats.org/officeDocument/2006/relationships" id="2147483651" r:id="Re6381173b64045c5"/>
    <p:sldLayoutId xmlns:r="http://schemas.openxmlformats.org/officeDocument/2006/relationships" id="2147483652" r:id="R88cb67eb885d43af"/>
    <p:sldLayoutId xmlns:r="http://schemas.openxmlformats.org/officeDocument/2006/relationships" id="2147483653" r:id="Rb7f143d51f284023"/>
    <p:sldLayoutId xmlns:r="http://schemas.openxmlformats.org/officeDocument/2006/relationships" id="2147483654" r:id="R57753f5ff8704d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8e9a246f034d7e" /><Relationship Type="http://schemas.openxmlformats.org/officeDocument/2006/relationships/image" Target="/ppt/media/image.jpeg" Id="R05401c0dc8274117" /><Relationship Type="http://schemas.openxmlformats.org/officeDocument/2006/relationships/notesSlide" Target="/ppt/notesSlides/notesSlide1.xml" Id="Rdc9051f38b7c42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1439a6c2324b2a" /><Relationship Type="http://schemas.openxmlformats.org/officeDocument/2006/relationships/notesSlide" Target="/ppt/notesSlides/notesSlide2.xml" Id="R394d2a45ee4345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88e510e94b4a6b" /><Relationship Type="http://schemas.openxmlformats.org/officeDocument/2006/relationships/notesSlide" Target="/ppt/notesSlides/notesSlide3.xml" Id="R2a754ba98b8c45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aed9b1d8754e4c" /><Relationship Type="http://schemas.openxmlformats.org/officeDocument/2006/relationships/notesSlide" Target="/ppt/notesSlides/notesSlide4.xml" Id="R0aa4c9c4f62248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a0b8bf385d42b4" /><Relationship Type="http://schemas.openxmlformats.org/officeDocument/2006/relationships/notesSlide" Target="/ppt/notesSlides/notesSlide5.xml" Id="R77572412d51d4e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c4422bc5dd470d" /><Relationship Type="http://schemas.openxmlformats.org/officeDocument/2006/relationships/notesSlide" Target="/ppt/notesSlides/notesSlide6.xml" Id="R11b116aebdc74d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e40061f3a740ca" /><Relationship Type="http://schemas.openxmlformats.org/officeDocument/2006/relationships/notesSlide" Target="/ppt/notesSlides/notesSlide7.xml" Id="R91632edf69694f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7c5e7200844f6f" /><Relationship Type="http://schemas.openxmlformats.org/officeDocument/2006/relationships/notesSlide" Target="/ppt/notesSlides/notesSlide8.xml" Id="Re30ae521364040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82668996cc4d11" /><Relationship Type="http://schemas.openxmlformats.org/officeDocument/2006/relationships/notesSlide" Target="/ppt/notesSlides/notesSlide9.xml" Id="R85e384b9b2ca4e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5eb755e89a4228" /><Relationship Type="http://schemas.openxmlformats.org/officeDocument/2006/relationships/notesSlide" Target="/ppt/notesSlides/notesSlide10.xml" Id="R9607a3503fa54a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4bc524b35094cf1" /><Relationship Type="http://schemas.openxmlformats.org/officeDocument/2006/relationships/notesSlide" Target="/ppt/notesSlides/notesSlide11.xml" Id="R1c942c56cf204d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876b7d31274718" /><Relationship Type="http://schemas.openxmlformats.org/officeDocument/2006/relationships/notesSlide" Target="/ppt/notesSlides/notesSlide12.xml" Id="R5af2977f6a434b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cdec7fa01f4bfc" /><Relationship Type="http://schemas.openxmlformats.org/officeDocument/2006/relationships/notesSlide" Target="/ppt/notesSlides/notesSlide13.xml" Id="R3e3fed7826fd449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40fcf3f9f43404f" /><Relationship Type="http://schemas.openxmlformats.org/officeDocument/2006/relationships/notesSlide" Target="/ppt/notesSlides/notesSlide14.xml" Id="R69aea7d72afa40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8df96bd8dfa4eac" /><Relationship Type="http://schemas.openxmlformats.org/officeDocument/2006/relationships/notesSlide" Target="/ppt/notesSlides/notesSlide15.xml" Id="R0945431b436b40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9345e7469c4568" /><Relationship Type="http://schemas.openxmlformats.org/officeDocument/2006/relationships/notesSlide" Target="/ppt/notesSlides/notesSlide16.xml" Id="Re1d588432c3c433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5CBEC9A-4C87-4FF1-A5D4-243B1B42C5B7}"/>
              </a:ext>
            </a:extLst>
          </p:cNvPr>
          <p:cNvPicPr>
            <a:picLocks xmlns:a="http://schemas.openxmlformats.org/drawingml/2006/main" noChangeAspect="1"/>
          </p:cNvPicPr>
          <p:nvPr/>
        </p:nvPicPr>
        <p:blipFill>
          <a:blip xmlns:r="http://schemas.openxmlformats.org/officeDocument/2006/relationships" xmlns:a="http://schemas.openxmlformats.org/drawingml/2006/main" r:embed="R05401c0dc8274117"/>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005A5E-BBAE-4CDC-B2DA-6C04F9F5017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F64B0196-DF31-4429-8F59-1A273F4E2090}"/>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3AF4F3A3-B508-40E2-9E4E-B7968C4B7135}"/>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896CD2F1-362A-4E4D-8B35-EBC6C95FFE86}"/>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A8140BD6-F695-4605-8F5A-83B5B1DC4094}"/>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667E6B95-D167-4A7B-9AB3-F78B7BC50CC1}"/>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39849690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F9E0CE-3F94-4976-BF09-BB1EA724B0D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3264BA04-27CA-410C-B3F9-D342FE0633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3A388FF-5566-490B-8F17-549BB39BC9DF}"/>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D88CDFB-4565-4B31-BF4A-BF20955AE06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5" name="">
            <a:extLst xmlns:a="http://schemas.openxmlformats.org/drawingml/2006/main">
              <a:ext uri="{FF2B5EF4-FFF2-40B4-BE49-F238E27FC236}">
                <a16:creationId xmlns:a16="http://schemas.microsoft.com/office/drawing/2014/main" id="{74543453-72D7-4555-A499-9F3137951A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E26769CE-C5A4-48A9-8194-61E0106C7F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62FF7A1B-3558-4B5E-94E9-71ABE4A08773}"/>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182657390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C0BB40-2098-4991-8AF5-452E16DBB31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8B62EE51-D742-4C59-8B25-86A62E009A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B1BD27A-A115-4390-A929-E150B6D8F5D1}"/>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068DB2F9-8823-4CE5-8CF5-7C8CCB2D95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5" name="">
            <a:extLst xmlns:a="http://schemas.openxmlformats.org/drawingml/2006/main">
              <a:ext uri="{FF2B5EF4-FFF2-40B4-BE49-F238E27FC236}">
                <a16:creationId xmlns:a16="http://schemas.microsoft.com/office/drawing/2014/main" id="{42CE9D1D-65CB-41E2-AD46-D3AF42748B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2DD0B45C-369C-4213-9FF3-66E8FF6012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DAA6B817-AD63-4752-84B1-87A6B9B9C3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8" name="">
            <a:extLst xmlns:a="http://schemas.openxmlformats.org/drawingml/2006/main">
              <a:ext uri="{FF2B5EF4-FFF2-40B4-BE49-F238E27FC236}">
                <a16:creationId xmlns:a16="http://schemas.microsoft.com/office/drawing/2014/main" id="{D8797FBE-ACFD-4519-8B5E-207E02E3EB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6842262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6D7511-4C2E-4E33-801A-E0D9F20A2DE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614CF52C-367F-42ED-8076-D9BE580164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53FCE19-445F-4AA7-B209-2C7FADAC93B4}"/>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E3A45F76-846B-466F-8A48-7BDF7B3350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5" name="">
            <a:extLst xmlns:a="http://schemas.openxmlformats.org/drawingml/2006/main">
              <a:ext uri="{FF2B5EF4-FFF2-40B4-BE49-F238E27FC236}">
                <a16:creationId xmlns:a16="http://schemas.microsoft.com/office/drawing/2014/main" id="{C5284DF5-15E1-4C6C-927F-B5FB5C3DF1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342D9FF9-3CBC-41E3-B4A1-2B1B46383F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F44932C9-8998-4FEE-886F-CA8F562B93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8" name="">
            <a:extLst xmlns:a="http://schemas.openxmlformats.org/drawingml/2006/main">
              <a:ext uri="{FF2B5EF4-FFF2-40B4-BE49-F238E27FC236}">
                <a16:creationId xmlns:a16="http://schemas.microsoft.com/office/drawing/2014/main" id="{418AC7B2-C175-4FA9-BA87-66C2C836E6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35891475"/>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9DAD54-A0E6-4210-8C1A-D08A90F950E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6C3733F-BE62-4FAD-94C5-B2785E5CB7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07A5638-4F2D-4771-80E3-FA64CD897FE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664EFBF-35E3-4D07-AA71-2EFC760D26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5" name="">
            <a:extLst xmlns:a="http://schemas.openxmlformats.org/drawingml/2006/main">
              <a:ext uri="{FF2B5EF4-FFF2-40B4-BE49-F238E27FC236}">
                <a16:creationId xmlns:a16="http://schemas.microsoft.com/office/drawing/2014/main" id="{6ECC0842-A101-4720-90E0-2DE0812274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ABF8A653-D05E-49D5-A7F9-746A9DBCD8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80604F7C-46E6-4AC4-AAC5-BBECA332A99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8" name="">
            <a:extLst xmlns:a="http://schemas.openxmlformats.org/drawingml/2006/main">
              <a:ext uri="{FF2B5EF4-FFF2-40B4-BE49-F238E27FC236}">
                <a16:creationId xmlns:a16="http://schemas.microsoft.com/office/drawing/2014/main" id="{D8DD1780-4230-4252-88A6-938A67F9BAD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729656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B20A3A-4858-4BB0-8C3C-9FD72AC59E9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769E3A23-4B1E-4977-BAFD-0DDD2983E8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3704698F-9770-4579-865C-E758C526B959}"/>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B716534-DACE-4B1D-8B98-A7B6CC3BD4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5" name="">
            <a:extLst xmlns:a="http://schemas.openxmlformats.org/drawingml/2006/main">
              <a:ext uri="{FF2B5EF4-FFF2-40B4-BE49-F238E27FC236}">
                <a16:creationId xmlns:a16="http://schemas.microsoft.com/office/drawing/2014/main" id="{8181F973-79C2-4164-B8DC-B7270591E7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3AF92432-1AE4-4A72-9E5E-FA27F6D4D1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98A4B202-A2F4-4D44-8FB8-7FC0D393F95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8" name="">
            <a:extLst xmlns:a="http://schemas.openxmlformats.org/drawingml/2006/main">
              <a:ext uri="{FF2B5EF4-FFF2-40B4-BE49-F238E27FC236}">
                <a16:creationId xmlns:a16="http://schemas.microsoft.com/office/drawing/2014/main" id="{5389046A-C907-4B34-B5B8-B8D1C1B7F1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7672600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C0C35A2-546C-4FB3-80B0-909B2A5F61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A8D5E69-5963-41D6-B82A-04AD2AC63D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BB79912-D10B-4758-99A5-A9A7A801D81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A94DCDD-0881-4B1A-AC10-A9FE03C3FF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and blood components</a:t>
            </a:r>
          </a:p>
        </p:txBody>
      </p:sp>
      <p:sp>
        <p:nvSpPr>
          <p:cNvPr id="5" name="">
            <a:extLst xmlns:a="http://schemas.openxmlformats.org/drawingml/2006/main">
              <a:ext uri="{FF2B5EF4-FFF2-40B4-BE49-F238E27FC236}">
                <a16:creationId xmlns:a16="http://schemas.microsoft.com/office/drawing/2014/main" id="{560E6E72-AB05-4C1E-A061-0D8ADF6D6B6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1C115D7F-2841-49D8-AB42-AA31C8782C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35E9BF62-ACF2-4F84-BA31-0712B00648E2}"/>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BAB0F57A-7395-4DCB-AD9F-9EA38320FF0A}"/>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9" name="">
            <a:extLst xmlns:a="http://schemas.openxmlformats.org/drawingml/2006/main">
              <a:ext uri="{FF2B5EF4-FFF2-40B4-BE49-F238E27FC236}">
                <a16:creationId xmlns:a16="http://schemas.microsoft.com/office/drawing/2014/main" id="{7ABF54B8-47EF-4848-A466-948099A2DEC5}"/>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3AAD200-D98D-4346-AAA6-1E0871BB5BB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What it primarily replaces</a:t>
            </a:r>
          </a:p>
        </p:txBody>
      </p:sp>
      <p:sp>
        <p:nvSpPr>
          <p:cNvPr id="11" name="">
            <a:extLst xmlns:a="http://schemas.openxmlformats.org/drawingml/2006/main">
              <a:ext uri="{FF2B5EF4-FFF2-40B4-BE49-F238E27FC236}">
                <a16:creationId xmlns:a16="http://schemas.microsoft.com/office/drawing/2014/main" id="{FE6EC0C9-BF62-4A3F-BB6A-EFA7544DDC19}"/>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6209CFEA-71FD-4A84-8315-552EB20E6DFB}"/>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3" name="">
            <a:extLst xmlns:a="http://schemas.openxmlformats.org/drawingml/2006/main">
              <a:ext uri="{FF2B5EF4-FFF2-40B4-BE49-F238E27FC236}">
                <a16:creationId xmlns:a16="http://schemas.microsoft.com/office/drawing/2014/main" id="{19BC036D-78EB-4E39-A38F-3DE8CE47DDA4}"/>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ACB10DA-964B-454A-8110-4D48EDC2B455}"/>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5" name="">
            <a:extLst xmlns:a="http://schemas.openxmlformats.org/drawingml/2006/main">
              <a:ext uri="{FF2B5EF4-FFF2-40B4-BE49-F238E27FC236}">
                <a16:creationId xmlns:a16="http://schemas.microsoft.com/office/drawing/2014/main" id="{6AF9B0B3-09C3-4761-86C5-4F70E1BEFCF6}"/>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B4DEE38-76C1-4AA1-9707-C8E3C99A6A10}"/>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Oxygen-carrying capacity</a:t>
            </a:r>
          </a:p>
        </p:txBody>
      </p:sp>
      <p:sp>
        <p:nvSpPr>
          <p:cNvPr id="17" name="">
            <a:extLst xmlns:a="http://schemas.openxmlformats.org/drawingml/2006/main">
              <a:ext uri="{FF2B5EF4-FFF2-40B4-BE49-F238E27FC236}">
                <a16:creationId xmlns:a16="http://schemas.microsoft.com/office/drawing/2014/main" id="{EB7F3642-AAEF-4D23-92CE-EC353FABBB9C}"/>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1CA2EAE-29EB-4A28-8B2D-657BA549E323}"/>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volume tolerance, response in hemoglobin and symptoms</a:t>
            </a:r>
          </a:p>
        </p:txBody>
      </p:sp>
      <p:sp>
        <p:nvSpPr>
          <p:cNvPr id="19" name="">
            <a:extLst xmlns:a="http://schemas.openxmlformats.org/drawingml/2006/main">
              <a:ext uri="{FF2B5EF4-FFF2-40B4-BE49-F238E27FC236}">
                <a16:creationId xmlns:a16="http://schemas.microsoft.com/office/drawing/2014/main" id="{DCD40375-038C-452A-A656-7D8D25470C65}"/>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B92BDA6-8597-4CF7-A962-AA451E822594}"/>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21" name="">
            <a:extLst xmlns:a="http://schemas.openxmlformats.org/drawingml/2006/main">
              <a:ext uri="{FF2B5EF4-FFF2-40B4-BE49-F238E27FC236}">
                <a16:creationId xmlns:a16="http://schemas.microsoft.com/office/drawing/2014/main" id="{47951888-A304-4728-BD56-58E0EDC4B982}"/>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8E7B336-02B2-460C-98AB-49CEFF7B8BCA}"/>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 number or function</a:t>
            </a:r>
          </a:p>
        </p:txBody>
      </p:sp>
      <p:sp>
        <p:nvSpPr>
          <p:cNvPr id="23" name="">
            <a:extLst xmlns:a="http://schemas.openxmlformats.org/drawingml/2006/main">
              <a:ext uri="{FF2B5EF4-FFF2-40B4-BE49-F238E27FC236}">
                <a16:creationId xmlns:a16="http://schemas.microsoft.com/office/drawing/2014/main" id="{4858507E-B562-4D1B-BD3E-023B6E94BA34}"/>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5620A34-0CC3-4630-9217-81797D61600D}"/>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Bleeding, reaction, post-transfusion count when ordered</a:t>
            </a:r>
          </a:p>
        </p:txBody>
      </p:sp>
      <p:sp>
        <p:nvSpPr>
          <p:cNvPr id="25" name="">
            <a:extLst xmlns:a="http://schemas.openxmlformats.org/drawingml/2006/main">
              <a:ext uri="{FF2B5EF4-FFF2-40B4-BE49-F238E27FC236}">
                <a16:creationId xmlns:a16="http://schemas.microsoft.com/office/drawing/2014/main" id="{13A2C808-0D96-4EC8-896D-2ADAEDAE6146}"/>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1117C11E-5A90-4076-AF41-C1CF7B22BB79}"/>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27" name="">
            <a:extLst xmlns:a="http://schemas.openxmlformats.org/drawingml/2006/main">
              <a:ext uri="{FF2B5EF4-FFF2-40B4-BE49-F238E27FC236}">
                <a16:creationId xmlns:a16="http://schemas.microsoft.com/office/drawing/2014/main" id="{ED92D987-325C-4828-A6B7-B466E34408AF}"/>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EFEB8FB-A244-4801-8A72-D003FD9FE0C0}"/>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coagulation factors</a:t>
            </a:r>
          </a:p>
        </p:txBody>
      </p:sp>
      <p:sp>
        <p:nvSpPr>
          <p:cNvPr id="29" name="">
            <a:extLst xmlns:a="http://schemas.openxmlformats.org/drawingml/2006/main">
              <a:ext uri="{FF2B5EF4-FFF2-40B4-BE49-F238E27FC236}">
                <a16:creationId xmlns:a16="http://schemas.microsoft.com/office/drawing/2014/main" id="{A384984F-7C67-4B91-B40F-0CA2C55F863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F20A323-F6FD-46E1-8E27-1E6A32982AD9}"/>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volume load, coagulation response</a:t>
            </a:r>
          </a:p>
        </p:txBody>
      </p:sp>
      <p:sp>
        <p:nvSpPr>
          <p:cNvPr id="31" name="">
            <a:extLst xmlns:a="http://schemas.openxmlformats.org/drawingml/2006/main">
              <a:ext uri="{FF2B5EF4-FFF2-40B4-BE49-F238E27FC236}">
                <a16:creationId xmlns:a16="http://schemas.microsoft.com/office/drawing/2014/main" id="{76D70B7D-465C-49A6-A0AE-4BB7FBA848B9}"/>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F74DBDE4-DEAF-400A-B8CF-2A838247D0EE}"/>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33" name="">
            <a:extLst xmlns:a="http://schemas.openxmlformats.org/drawingml/2006/main">
              <a:ext uri="{FF2B5EF4-FFF2-40B4-BE49-F238E27FC236}">
                <a16:creationId xmlns:a16="http://schemas.microsoft.com/office/drawing/2014/main" id="{C550AF07-7842-4521-BA2A-A23CED76528A}"/>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4A457AD-EFD0-4493-B1A9-E3F916CE38F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Fibrinogen and selected factors</a:t>
            </a:r>
          </a:p>
        </p:txBody>
      </p:sp>
      <p:sp>
        <p:nvSpPr>
          <p:cNvPr id="35" name="">
            <a:extLst xmlns:a="http://schemas.openxmlformats.org/drawingml/2006/main">
              <a:ext uri="{FF2B5EF4-FFF2-40B4-BE49-F238E27FC236}">
                <a16:creationId xmlns:a16="http://schemas.microsoft.com/office/drawing/2014/main" id="{C9E94825-2A36-4EA3-A8F8-ADFBD65A6F7E}"/>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234BBD2A-47D7-4255-9421-39F2442AF563}"/>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Reaction and fibrinogen response when ordered</a:t>
            </a:r>
          </a:p>
        </p:txBody>
      </p:sp>
    </p:spTree>
    <p:extLst>
      <p:ext uri="{BB962C8B-B14F-4D97-AF65-F5344CB8AC3E}">
        <p14:creationId xmlns:p14="http://schemas.microsoft.com/office/powerpoint/2010/main" val="27053087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E0DBF8-28BE-4026-9504-C2CE7177790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6049643-F26F-4317-8D1E-3E027FC765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5D75547E-D991-413D-8D49-599ED3FF0FE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6F707325-483D-407B-98FA-BEFC322AD0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ABO and Rh compatibility requires formal verification</a:t>
            </a:r>
          </a:p>
        </p:txBody>
      </p:sp>
      <p:sp>
        <p:nvSpPr>
          <p:cNvPr id="5" name="">
            <a:extLst xmlns:a="http://schemas.openxmlformats.org/drawingml/2006/main">
              <a:ext uri="{FF2B5EF4-FFF2-40B4-BE49-F238E27FC236}">
                <a16:creationId xmlns:a16="http://schemas.microsoft.com/office/drawing/2014/main" id="{3CBE7A87-1A9C-4674-ACA2-74E3CD4F4E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8BCC4DB8-0A5B-4E0E-9214-7ED23FF32D5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C060E552-337F-49D1-9C4F-B3C7AEC0A2F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the blood bank compatibility record and the facility's bedside verification process.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rely on memory, a handwritten chart, or the patient's statement of blood type.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Match patient identifiers, component, ABO and Rh information, unit number, compatibility, expiration, and product appearance.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for any discrepancy and contact the blood bank before proceeding.</a:t>
            </a:r>
          </a:p>
        </p:txBody>
      </p:sp>
      <p:sp>
        <p:nvSpPr>
          <p:cNvPr id="8" name="">
            <a:extLst xmlns:a="http://schemas.openxmlformats.org/drawingml/2006/main">
              <a:ext uri="{FF2B5EF4-FFF2-40B4-BE49-F238E27FC236}">
                <a16:creationId xmlns:a16="http://schemas.microsoft.com/office/drawing/2014/main" id="{D5A466C0-1896-4AD2-9350-7E0CA05974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8291033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A39D02A-4B1D-4A9F-9BA1-87A9F2588A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5ABE16BB-FCB5-4B3B-A842-A1B0B40980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0DEC0D3-FC77-4A50-A956-7E67406E30EE}"/>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15DDA32F-9F98-4CC1-AECB-F02F61C7DF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Transfusion monitoring timeline</a:t>
            </a:r>
          </a:p>
        </p:txBody>
      </p:sp>
      <p:sp>
        <p:nvSpPr>
          <p:cNvPr id="5" name="">
            <a:extLst xmlns:a="http://schemas.openxmlformats.org/drawingml/2006/main">
              <a:ext uri="{FF2B5EF4-FFF2-40B4-BE49-F238E27FC236}">
                <a16:creationId xmlns:a16="http://schemas.microsoft.com/office/drawing/2014/main" id="{BDC949EE-516A-4E43-9D7C-4A3D53A92B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2A0CBC88-36E5-464D-877C-A8C2500DA3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49FB3509-90CF-4B13-81C2-6FDCDF14AC2A}"/>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ED30984-206C-4867-B95A-FC71AA45DCF8}"/>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Phase</a:t>
            </a:r>
          </a:p>
        </p:txBody>
      </p:sp>
      <p:sp>
        <p:nvSpPr>
          <p:cNvPr id="9" name="">
            <a:extLst xmlns:a="http://schemas.openxmlformats.org/drawingml/2006/main">
              <a:ext uri="{FF2B5EF4-FFF2-40B4-BE49-F238E27FC236}">
                <a16:creationId xmlns:a16="http://schemas.microsoft.com/office/drawing/2014/main" id="{775DD074-F3FB-41A5-9AA1-49D53DD2C72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66E2401-679E-4DBF-8398-BEBABDE11D9A}"/>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Nursing focus</a:t>
            </a:r>
          </a:p>
        </p:txBody>
      </p:sp>
      <p:sp>
        <p:nvSpPr>
          <p:cNvPr id="11" name="">
            <a:extLst xmlns:a="http://schemas.openxmlformats.org/drawingml/2006/main">
              <a:ext uri="{FF2B5EF4-FFF2-40B4-BE49-F238E27FC236}">
                <a16:creationId xmlns:a16="http://schemas.microsoft.com/office/drawing/2014/main" id="{9120263F-33B0-4A41-A57A-D6EE54229B46}"/>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430D60D-3839-41B2-8500-67D0493FB181}"/>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Before</a:t>
            </a:r>
          </a:p>
        </p:txBody>
      </p:sp>
      <p:sp>
        <p:nvSpPr>
          <p:cNvPr id="13" name="">
            <a:extLst xmlns:a="http://schemas.openxmlformats.org/drawingml/2006/main">
              <a:ext uri="{FF2B5EF4-FFF2-40B4-BE49-F238E27FC236}">
                <a16:creationId xmlns:a16="http://schemas.microsoft.com/office/drawing/2014/main" id="{936D5544-8879-443D-9A54-D8A35DE15E8F}"/>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CE6C833-72E6-42DA-8E47-BF4D70ECDE2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 consent process, access, baseline assessment and vital signs, compatibility verification, emergency readiness</a:t>
            </a:r>
          </a:p>
        </p:txBody>
      </p:sp>
      <p:sp>
        <p:nvSpPr>
          <p:cNvPr id="15" name="">
            <a:extLst xmlns:a="http://schemas.openxmlformats.org/drawingml/2006/main">
              <a:ext uri="{FF2B5EF4-FFF2-40B4-BE49-F238E27FC236}">
                <a16:creationId xmlns:a16="http://schemas.microsoft.com/office/drawing/2014/main" id="{47974857-8F70-4254-B279-5BC221FEF154}"/>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8A7C64D-5F0B-4389-B114-CE61024ABF58}"/>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Initial period</a:t>
            </a:r>
          </a:p>
        </p:txBody>
      </p:sp>
      <p:sp>
        <p:nvSpPr>
          <p:cNvPr id="17" name="">
            <a:extLst xmlns:a="http://schemas.openxmlformats.org/drawingml/2006/main">
              <a:ext uri="{FF2B5EF4-FFF2-40B4-BE49-F238E27FC236}">
                <a16:creationId xmlns:a16="http://schemas.microsoft.com/office/drawing/2014/main" id="{24571C31-3BDB-4927-A765-19AC24773FE5}"/>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BAB581D-5521-444A-8AB3-DAC666DDDE44}"/>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Begin according to policy, remain able to observe closely, and watch for early reaction</a:t>
            </a:r>
          </a:p>
        </p:txBody>
      </p:sp>
      <p:sp>
        <p:nvSpPr>
          <p:cNvPr id="19" name="">
            <a:extLst xmlns:a="http://schemas.openxmlformats.org/drawingml/2006/main">
              <a:ext uri="{FF2B5EF4-FFF2-40B4-BE49-F238E27FC236}">
                <a16:creationId xmlns:a16="http://schemas.microsoft.com/office/drawing/2014/main" id="{3E97F9B7-4D5A-46C5-81A5-C13159F3E59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7BA73F1-D99E-403E-B15F-BADBFA69774C}"/>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During</a:t>
            </a:r>
          </a:p>
        </p:txBody>
      </p:sp>
      <p:sp>
        <p:nvSpPr>
          <p:cNvPr id="21" name="">
            <a:extLst xmlns:a="http://schemas.openxmlformats.org/drawingml/2006/main">
              <a:ext uri="{FF2B5EF4-FFF2-40B4-BE49-F238E27FC236}">
                <a16:creationId xmlns:a16="http://schemas.microsoft.com/office/drawing/2014/main" id="{07764B96-B428-4A2C-ABE0-33AAA3FF9DB7}"/>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6450ADD-3EC1-4111-89F2-DF8CD511206F}"/>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the patient, site, rate, volume tolerance, and required vital signs</a:t>
            </a:r>
          </a:p>
        </p:txBody>
      </p:sp>
      <p:sp>
        <p:nvSpPr>
          <p:cNvPr id="23" name="">
            <a:extLst xmlns:a="http://schemas.openxmlformats.org/drawingml/2006/main">
              <a:ext uri="{FF2B5EF4-FFF2-40B4-BE49-F238E27FC236}">
                <a16:creationId xmlns:a16="http://schemas.microsoft.com/office/drawing/2014/main" id="{D1AA43DA-A3B6-41CA-AE4E-A63AFC34BBE2}"/>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176F5AD6-F24B-4F8E-8891-F68AEE01D498}"/>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Completion</a:t>
            </a:r>
          </a:p>
        </p:txBody>
      </p:sp>
      <p:sp>
        <p:nvSpPr>
          <p:cNvPr id="25" name="">
            <a:extLst xmlns:a="http://schemas.openxmlformats.org/drawingml/2006/main">
              <a:ext uri="{FF2B5EF4-FFF2-40B4-BE49-F238E27FC236}">
                <a16:creationId xmlns:a16="http://schemas.microsoft.com/office/drawing/2014/main" id="{1EB4EB63-B8B0-467A-A234-B2CC2AD85FFB}"/>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BC9F307-0848-459D-8EE5-380450E4B087}"/>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product and volume, reassess, document response, and dispose or return materials as policy directs</a:t>
            </a:r>
          </a:p>
        </p:txBody>
      </p:sp>
    </p:spTree>
    <p:extLst>
      <p:ext uri="{BB962C8B-B14F-4D97-AF65-F5344CB8AC3E}">
        <p14:creationId xmlns:p14="http://schemas.microsoft.com/office/powerpoint/2010/main" val="166536661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D33F412-40DA-44DF-B776-1AC9DA78F45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5D66F07-543E-45B1-855D-734F7CB934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DC4CFB1-1736-49AD-A596-389F260A430C}"/>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1BFFE34-3A3E-43EC-91FB-A60A9F1AA8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Acute reaction patterns</a:t>
            </a:r>
          </a:p>
        </p:txBody>
      </p:sp>
      <p:sp>
        <p:nvSpPr>
          <p:cNvPr id="5" name="">
            <a:extLst xmlns:a="http://schemas.openxmlformats.org/drawingml/2006/main">
              <a:ext uri="{FF2B5EF4-FFF2-40B4-BE49-F238E27FC236}">
                <a16:creationId xmlns:a16="http://schemas.microsoft.com/office/drawing/2014/main" id="{2D6E584F-6ED0-4956-B321-3DB1EABB7D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651BFA17-F14F-4965-B836-E2E0C9924E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E0C862B1-18D4-4B4F-BDA7-E398176ADDA1}"/>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003BF76-54DF-4773-87A7-EDB2C22ED59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F27CC71A-3BDE-43AC-AFB6-B1BE9CD7F1DA}"/>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832DC9D-B34E-4B76-9CE8-AA00A2DB4932}"/>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Typical clues</a:t>
            </a:r>
          </a:p>
        </p:txBody>
      </p:sp>
      <p:sp>
        <p:nvSpPr>
          <p:cNvPr id="11" name="">
            <a:extLst xmlns:a="http://schemas.openxmlformats.org/drawingml/2006/main">
              <a:ext uri="{FF2B5EF4-FFF2-40B4-BE49-F238E27FC236}">
                <a16:creationId xmlns:a16="http://schemas.microsoft.com/office/drawing/2014/main" id="{D0BD953A-1DFA-4D92-AEDC-9746026DEFAB}"/>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2B8F02A-5B00-4FF0-AD13-5AD65D30E3F7}"/>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3" name="">
            <a:extLst xmlns:a="http://schemas.openxmlformats.org/drawingml/2006/main">
              <a:ext uri="{FF2B5EF4-FFF2-40B4-BE49-F238E27FC236}">
                <a16:creationId xmlns:a16="http://schemas.microsoft.com/office/drawing/2014/main" id="{3C191D89-FAD8-4FFD-AF78-3200356A287A}"/>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0AF485D-4ABD-4256-9F76-1791903D62DD}"/>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dyspnea, hemoglobinuria, rapid deterioration</a:t>
            </a:r>
          </a:p>
        </p:txBody>
      </p:sp>
      <p:sp>
        <p:nvSpPr>
          <p:cNvPr id="15" name="">
            <a:extLst xmlns:a="http://schemas.openxmlformats.org/drawingml/2006/main">
              <a:ext uri="{FF2B5EF4-FFF2-40B4-BE49-F238E27FC236}">
                <a16:creationId xmlns:a16="http://schemas.microsoft.com/office/drawing/2014/main" id="{AC4F7FA0-E0AB-426D-A262-09F9CB633614}"/>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A2C2893-50D3-4E10-846E-56D39524C1A1}"/>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 nonhemolytic</a:t>
            </a:r>
          </a:p>
        </p:txBody>
      </p:sp>
      <p:sp>
        <p:nvSpPr>
          <p:cNvPr id="17" name="">
            <a:extLst xmlns:a="http://schemas.openxmlformats.org/drawingml/2006/main">
              <a:ext uri="{FF2B5EF4-FFF2-40B4-BE49-F238E27FC236}">
                <a16:creationId xmlns:a16="http://schemas.microsoft.com/office/drawing/2014/main" id="{39CD71ED-BEFE-4680-A8D1-258FF21D0D03}"/>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8C509D5-9406-4B0E-B54E-6E55EEB61D60}"/>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and chills without another established cause</a:t>
            </a:r>
          </a:p>
        </p:txBody>
      </p:sp>
      <p:sp>
        <p:nvSpPr>
          <p:cNvPr id="19" name="">
            <a:extLst xmlns:a="http://schemas.openxmlformats.org/drawingml/2006/main">
              <a:ext uri="{FF2B5EF4-FFF2-40B4-BE49-F238E27FC236}">
                <a16:creationId xmlns:a16="http://schemas.microsoft.com/office/drawing/2014/main" id="{E5734D71-9842-4A60-990E-395806B9E941}"/>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89EFE6D-9C29-4A86-8F07-453A5023EE6C}"/>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 or anaphylactic</a:t>
            </a:r>
          </a:p>
        </p:txBody>
      </p:sp>
      <p:sp>
        <p:nvSpPr>
          <p:cNvPr id="21" name="">
            <a:extLst xmlns:a="http://schemas.openxmlformats.org/drawingml/2006/main">
              <a:ext uri="{FF2B5EF4-FFF2-40B4-BE49-F238E27FC236}">
                <a16:creationId xmlns:a16="http://schemas.microsoft.com/office/drawing/2014/main" id="{93F5E34C-4A9F-475E-B1E5-6537EFF61E91}"/>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B5657F6-D0C9-4180-A695-5905AA50B39D}"/>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Hives or itching; severe cases include airway symptoms and hypotension</a:t>
            </a:r>
          </a:p>
        </p:txBody>
      </p:sp>
      <p:sp>
        <p:nvSpPr>
          <p:cNvPr id="23" name="">
            <a:extLst xmlns:a="http://schemas.openxmlformats.org/drawingml/2006/main">
              <a:ext uri="{FF2B5EF4-FFF2-40B4-BE49-F238E27FC236}">
                <a16:creationId xmlns:a16="http://schemas.microsoft.com/office/drawing/2014/main" id="{046D792E-C878-49C0-AAA8-2BF0494BAD0A}"/>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CB8E868-6176-4D9E-997B-68DDB194A4FD}"/>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5" name="">
            <a:extLst xmlns:a="http://schemas.openxmlformats.org/drawingml/2006/main">
              <a:ext uri="{FF2B5EF4-FFF2-40B4-BE49-F238E27FC236}">
                <a16:creationId xmlns:a16="http://schemas.microsoft.com/office/drawing/2014/main" id="{20EC0650-D1E3-4316-81DF-129A66F95DE4}"/>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A87B2EE4-F65C-484A-9289-061C7EBEE399}"/>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 jugular venous distention</a:t>
            </a:r>
          </a:p>
        </p:txBody>
      </p:sp>
      <p:sp>
        <p:nvSpPr>
          <p:cNvPr id="27" name="">
            <a:extLst xmlns:a="http://schemas.openxmlformats.org/drawingml/2006/main">
              <a:ext uri="{FF2B5EF4-FFF2-40B4-BE49-F238E27FC236}">
                <a16:creationId xmlns:a16="http://schemas.microsoft.com/office/drawing/2014/main" id="{77007639-45A2-4A84-86CA-B82D3BD824F3}"/>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B4653F6-A7E5-4468-8EEA-8E3F978AAF85}"/>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Bacterial contamination</a:t>
            </a:r>
          </a:p>
        </p:txBody>
      </p:sp>
      <p:sp>
        <p:nvSpPr>
          <p:cNvPr id="29" name="">
            <a:extLst xmlns:a="http://schemas.openxmlformats.org/drawingml/2006/main">
              <a:ext uri="{FF2B5EF4-FFF2-40B4-BE49-F238E27FC236}">
                <a16:creationId xmlns:a16="http://schemas.microsoft.com/office/drawing/2014/main" id="{2BE3B905-9C73-43C2-9CFA-712BE9B68FF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34D3EB7-C48D-448B-BAF5-5F18F133BE6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shock</a:t>
            </a:r>
          </a:p>
        </p:txBody>
      </p:sp>
    </p:spTree>
    <p:extLst>
      <p:ext uri="{BB962C8B-B14F-4D97-AF65-F5344CB8AC3E}">
        <p14:creationId xmlns:p14="http://schemas.microsoft.com/office/powerpoint/2010/main" val="109041023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90D3ADC-5582-4F63-BED0-ECA3A7D8B43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FB01CBD4-6C93-4445-B378-2CE5C0E910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C05DF72-129D-42D0-A812-A53C6C032E3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A53C909B-52A6-4382-A460-42FE484B43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5" name="">
            <a:extLst xmlns:a="http://schemas.openxmlformats.org/drawingml/2006/main">
              <a:ext uri="{FF2B5EF4-FFF2-40B4-BE49-F238E27FC236}">
                <a16:creationId xmlns:a16="http://schemas.microsoft.com/office/drawing/2014/main" id="{E1308AF9-8AA3-424B-8C0E-C47A2DAABD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F59B9B31-4786-4793-888A-2B87F2D2B0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43BC3566-EECB-4F5A-A2AB-581B5B5D7759}"/>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D96E10A-38A6-4678-891C-D891330BD725}"/>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9" name="">
            <a:extLst xmlns:a="http://schemas.openxmlformats.org/drawingml/2006/main">
              <a:ext uri="{FF2B5EF4-FFF2-40B4-BE49-F238E27FC236}">
                <a16:creationId xmlns:a16="http://schemas.microsoft.com/office/drawing/2014/main" id="{80F53BD0-30F9-410C-B4C3-DD055AC698D0}"/>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F0FF296-6493-4021-B274-2CFCB70388D0}"/>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11" name="">
            <a:extLst xmlns:a="http://schemas.openxmlformats.org/drawingml/2006/main">
              <a:ext uri="{FF2B5EF4-FFF2-40B4-BE49-F238E27FC236}">
                <a16:creationId xmlns:a16="http://schemas.microsoft.com/office/drawing/2014/main" id="{50323263-0284-4416-9E29-880AB86DFC33}"/>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764C17F-3F9B-4EEA-8600-C6C04644EE09}"/>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3" name="">
            <a:extLst xmlns:a="http://schemas.openxmlformats.org/drawingml/2006/main">
              <a:ext uri="{FF2B5EF4-FFF2-40B4-BE49-F238E27FC236}">
                <a16:creationId xmlns:a16="http://schemas.microsoft.com/office/drawing/2014/main" id="{F9ADB498-DFA3-4A66-87E9-47E8BC649904}"/>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D649909-73D1-4A91-9DBD-E2F24041F850}"/>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5" name="">
            <a:extLst xmlns:a="http://schemas.openxmlformats.org/drawingml/2006/main">
              <a:ext uri="{FF2B5EF4-FFF2-40B4-BE49-F238E27FC236}">
                <a16:creationId xmlns:a16="http://schemas.microsoft.com/office/drawing/2014/main" id="{87BA910E-CDBD-4464-922C-536EDFE4B36F}"/>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1C202AF-078A-45B6-8C2C-91B2D3F5A103}"/>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7" name="">
            <a:extLst xmlns:a="http://schemas.openxmlformats.org/drawingml/2006/main">
              <a:ext uri="{FF2B5EF4-FFF2-40B4-BE49-F238E27FC236}">
                <a16:creationId xmlns:a16="http://schemas.microsoft.com/office/drawing/2014/main" id="{C1BF3BBE-8ADB-40AF-9B3D-44617C152982}"/>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BE600A8-FEE5-4257-A9EB-4878B55A4F76}"/>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9" name="">
            <a:extLst xmlns:a="http://schemas.openxmlformats.org/drawingml/2006/main">
              <a:ext uri="{FF2B5EF4-FFF2-40B4-BE49-F238E27FC236}">
                <a16:creationId xmlns:a16="http://schemas.microsoft.com/office/drawing/2014/main" id="{CF211D65-DBDA-48D1-B846-F5B245D5E2EC}"/>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85B6D0E-2F31-488A-BC34-626A67C20FD6}"/>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21" name="">
            <a:extLst xmlns:a="http://schemas.openxmlformats.org/drawingml/2006/main">
              <a:ext uri="{FF2B5EF4-FFF2-40B4-BE49-F238E27FC236}">
                <a16:creationId xmlns:a16="http://schemas.microsoft.com/office/drawing/2014/main" id="{6305F14F-1C1C-4DEB-8B92-CC2E6DDF71AF}"/>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A6864D9-6C82-4038-82B3-71FB6525ED9C}"/>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3" name="">
            <a:extLst xmlns:a="http://schemas.openxmlformats.org/drawingml/2006/main">
              <a:ext uri="{FF2B5EF4-FFF2-40B4-BE49-F238E27FC236}">
                <a16:creationId xmlns:a16="http://schemas.microsoft.com/office/drawing/2014/main" id="{92854A0F-4A22-4DEC-A394-B3AB5A176867}"/>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D3C10A0-ECD1-4843-8A82-5B40AE29C00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5" name="">
            <a:extLst xmlns:a="http://schemas.openxmlformats.org/drawingml/2006/main">
              <a:ext uri="{FF2B5EF4-FFF2-40B4-BE49-F238E27FC236}">
                <a16:creationId xmlns:a16="http://schemas.microsoft.com/office/drawing/2014/main" id="{0819FAE8-00C7-4749-BF7C-EA5F7383552B}"/>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85840401-DF6E-4881-9B25-2C5C4BDF22FC}"/>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59402496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F9B15D-9A69-420D-A8DE-C4F739DE415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D3C88666-619F-4DAF-823E-AE870949F9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D59721B-7339-4067-B9FC-CA45F6B4DED8}"/>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F1E5BC5-BC5C-4955-A78B-B32A070DFF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5" name="">
            <a:extLst xmlns:a="http://schemas.openxmlformats.org/drawingml/2006/main">
              <a:ext uri="{FF2B5EF4-FFF2-40B4-BE49-F238E27FC236}">
                <a16:creationId xmlns:a16="http://schemas.microsoft.com/office/drawing/2014/main" id="{DAF2C0A4-AF64-44D7-90C2-913D4AEEEA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1EA76BAA-820A-408A-82DC-CCA2B5399F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7CCF301C-647C-4D29-BD25-6273CEF3A1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8" name="">
            <a:extLst xmlns:a="http://schemas.openxmlformats.org/drawingml/2006/main">
              <a:ext uri="{FF2B5EF4-FFF2-40B4-BE49-F238E27FC236}">
                <a16:creationId xmlns:a16="http://schemas.microsoft.com/office/drawing/2014/main" id="{6C5F9753-623F-4A1C-8417-3006A60184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3925059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1D848F6-C0C1-4D20-8C10-E7E68F5AA2D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CBC38D8-1D38-40AB-91E7-DC7528EE3D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8043847-2142-43DF-8886-D06B25DCB162}"/>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C7A7A2F9-5BA9-4E0D-AE33-F04F547E48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5" name="">
            <a:extLst xmlns:a="http://schemas.openxmlformats.org/drawingml/2006/main">
              <a:ext uri="{FF2B5EF4-FFF2-40B4-BE49-F238E27FC236}">
                <a16:creationId xmlns:a16="http://schemas.microsoft.com/office/drawing/2014/main" id="{23CF3443-8AC9-4565-8D08-80A7D32630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8CD2E9B2-27F9-431B-8D21-A0FA85306F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E72CE542-C884-44C6-9778-6E9253DA8E76}"/>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B164B04-F930-4524-807F-95C9713A35AB}"/>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9" name="">
            <a:extLst xmlns:a="http://schemas.openxmlformats.org/drawingml/2006/main">
              <a:ext uri="{FF2B5EF4-FFF2-40B4-BE49-F238E27FC236}">
                <a16:creationId xmlns:a16="http://schemas.microsoft.com/office/drawing/2014/main" id="{4F3171F8-CC1E-4B8A-8351-FC19EC884DCA}"/>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34FAF83-7F29-4FAC-B9A0-9BDC3B1FC44C}"/>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11" name="">
            <a:extLst xmlns:a="http://schemas.openxmlformats.org/drawingml/2006/main">
              <a:ext uri="{FF2B5EF4-FFF2-40B4-BE49-F238E27FC236}">
                <a16:creationId xmlns:a16="http://schemas.microsoft.com/office/drawing/2014/main" id="{54C817FB-C59C-4D49-97AD-92358A91CEF7}"/>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0B9BFF9-97A2-4980-89BF-5042E1EDCF44}"/>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3" name="">
            <a:extLst xmlns:a="http://schemas.openxmlformats.org/drawingml/2006/main">
              <a:ext uri="{FF2B5EF4-FFF2-40B4-BE49-F238E27FC236}">
                <a16:creationId xmlns:a16="http://schemas.microsoft.com/office/drawing/2014/main" id="{79D37D08-D4B6-4AAC-894E-55B9C8E65A77}"/>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A999323-4E67-4EA6-82EA-442B0A69B54D}"/>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5" name="">
            <a:extLst xmlns:a="http://schemas.openxmlformats.org/drawingml/2006/main">
              <a:ext uri="{FF2B5EF4-FFF2-40B4-BE49-F238E27FC236}">
                <a16:creationId xmlns:a16="http://schemas.microsoft.com/office/drawing/2014/main" id="{47E6CC6E-E4C5-42A6-9E3D-314922F8EA9C}"/>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F6286D6-57F7-4732-BD2A-A723807C169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7" name="">
            <a:extLst xmlns:a="http://schemas.openxmlformats.org/drawingml/2006/main">
              <a:ext uri="{FF2B5EF4-FFF2-40B4-BE49-F238E27FC236}">
                <a16:creationId xmlns:a16="http://schemas.microsoft.com/office/drawing/2014/main" id="{0F4C11BF-7F7E-4FE5-B4A1-A92248183212}"/>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2C171D4-0B47-4BE7-A6EF-1B0FD14D998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9" name="">
            <a:extLst xmlns:a="http://schemas.openxmlformats.org/drawingml/2006/main">
              <a:ext uri="{FF2B5EF4-FFF2-40B4-BE49-F238E27FC236}">
                <a16:creationId xmlns:a16="http://schemas.microsoft.com/office/drawing/2014/main" id="{BF7281B8-540F-44CC-ACA4-E34D8C6BA520}"/>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AE09530-71A3-4A74-9FD5-FC061259927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21" name="">
            <a:extLst xmlns:a="http://schemas.openxmlformats.org/drawingml/2006/main">
              <a:ext uri="{FF2B5EF4-FFF2-40B4-BE49-F238E27FC236}">
                <a16:creationId xmlns:a16="http://schemas.microsoft.com/office/drawing/2014/main" id="{97508559-EF24-499B-937F-7DCC05964495}"/>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045C645-5BF8-4C25-9ED8-EBE7CAAAFCE1}"/>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3" name="">
            <a:extLst xmlns:a="http://schemas.openxmlformats.org/drawingml/2006/main">
              <a:ext uri="{FF2B5EF4-FFF2-40B4-BE49-F238E27FC236}">
                <a16:creationId xmlns:a16="http://schemas.microsoft.com/office/drawing/2014/main" id="{C2AFF525-A8F5-4F8A-B87F-BF30AC0EA15D}"/>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BD6C3F2-FE34-4669-BA8C-826D2FC4435D}"/>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5" name="">
            <a:extLst xmlns:a="http://schemas.openxmlformats.org/drawingml/2006/main">
              <a:ext uri="{FF2B5EF4-FFF2-40B4-BE49-F238E27FC236}">
                <a16:creationId xmlns:a16="http://schemas.microsoft.com/office/drawing/2014/main" id="{85909E9C-79F1-4553-A926-CDBB0929698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D67CFE9-BE00-4B86-BE57-E52C7176D480}"/>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7" name="">
            <a:extLst xmlns:a="http://schemas.openxmlformats.org/drawingml/2006/main">
              <a:ext uri="{FF2B5EF4-FFF2-40B4-BE49-F238E27FC236}">
                <a16:creationId xmlns:a16="http://schemas.microsoft.com/office/drawing/2014/main" id="{4FB00327-A147-4F0E-84A3-87D5FBD04950}"/>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2A269BF-3B41-4B4C-B71D-A671C31AA080}"/>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9" name="">
            <a:extLst xmlns:a="http://schemas.openxmlformats.org/drawingml/2006/main">
              <a:ext uri="{FF2B5EF4-FFF2-40B4-BE49-F238E27FC236}">
                <a16:creationId xmlns:a16="http://schemas.microsoft.com/office/drawing/2014/main" id="{E1906DA3-A619-47F0-8EBF-B587324427E5}"/>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3F71F77-C5D5-4415-A6D9-8981A6A74C74}"/>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129460385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189D8-6B3C-41CC-981E-7DCD1B176C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04ABF86E-980D-4EAE-AFF7-1324C7A72D9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6B92944B-2D5F-400C-8238-AF56B227C17B}"/>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2A9D6F68-A772-418A-BC21-E2FA728039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5" name="">
            <a:extLst xmlns:a="http://schemas.openxmlformats.org/drawingml/2006/main">
              <a:ext uri="{FF2B5EF4-FFF2-40B4-BE49-F238E27FC236}">
                <a16:creationId xmlns:a16="http://schemas.microsoft.com/office/drawing/2014/main" id="{07C3D846-98D6-4EFA-BD70-9EA06CB922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06245D41-89BE-4DA0-8F20-E6C81050CAA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65C3CC58-93BA-41A3-901D-344D8B9513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8" name="">
            <a:extLst xmlns:a="http://schemas.openxmlformats.org/drawingml/2006/main">
              <a:ext uri="{FF2B5EF4-FFF2-40B4-BE49-F238E27FC236}">
                <a16:creationId xmlns:a16="http://schemas.microsoft.com/office/drawing/2014/main" id="{3F60E01C-43D5-4A32-99B0-3FEDEAF4D5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03857118"/>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17CCD3-9C61-4496-A158-FAB6AA52690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9F03E469-E571-4C97-8E53-0C5CED38D1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83319883-FE38-47BE-91B1-D368F6166E77}"/>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F534FDB2-D552-4B1F-B695-E939E102B4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5" name="">
            <a:extLst xmlns:a="http://schemas.openxmlformats.org/drawingml/2006/main">
              <a:ext uri="{FF2B5EF4-FFF2-40B4-BE49-F238E27FC236}">
                <a16:creationId xmlns:a16="http://schemas.microsoft.com/office/drawing/2014/main" id="{E40DDF10-1BCE-44CA-A2FD-A27D8B2E5B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E694E122-329C-4717-BA3B-90C5218C26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FF2A0017-5255-411F-8B08-A4CBBEB0EC3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8" name="">
            <a:extLst xmlns:a="http://schemas.openxmlformats.org/drawingml/2006/main">
              <a:ext uri="{FF2B5EF4-FFF2-40B4-BE49-F238E27FC236}">
                <a16:creationId xmlns:a16="http://schemas.microsoft.com/office/drawing/2014/main" id="{85042ED9-7E01-4145-8C68-06AD67BCC06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99497385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14D0E3-4CC6-4FF5-9099-BE8BF6E65E0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324A"/>
          </a:solidFill>
          <a:ln xmlns:a="http://schemas.openxmlformats.org/drawingml/2006/main" w="0">
            <a:solidFill>
              <a:srgbClr val="15324A"/>
            </a:solidFill>
          </a:ln>
        </p:spPr>
      </p:sp>
      <p:sp>
        <p:nvSpPr>
          <p:cNvPr id="2" name="">
            <a:extLst xmlns:a="http://schemas.openxmlformats.org/drawingml/2006/main">
              <a:ext uri="{FF2B5EF4-FFF2-40B4-BE49-F238E27FC236}">
                <a16:creationId xmlns:a16="http://schemas.microsoft.com/office/drawing/2014/main" id="{2DA2F995-AB93-4CA1-92AB-36620CEC8D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3728398-2116-4286-9186-09F29E5930D3}"/>
              </a:ext>
            </a:extLst>
          </p:cNvPr>
          <p:cNvSpPr>
            <a:spLocks xmlns:a="http://schemas.openxmlformats.org/drawingml/2006/main" noGrp="1"/>
          </p:cNvSpPr>
          <p:nvPr/>
        </p:nvSpPr>
        <p:spPr>
          <a:xfrm xmlns:a="http://schemas.openxmlformats.org/drawingml/2006/main">
            <a:off x="209550" y="6705600"/>
            <a:ext cx="11982450" cy="152400"/>
          </a:xfrm>
          <a:prstGeom xmlns:a="http://schemas.openxmlformats.org/drawingml/2006/main" prst="rect">
            <a:avLst/>
          </a:prstGeom>
          <a:solidFill xmlns:a="http://schemas.openxmlformats.org/drawingml/2006/main">
            <a:srgbClr val="CFEDEF"/>
          </a:solidFill>
          <a:ln xmlns:a="http://schemas.openxmlformats.org/drawingml/2006/main" w="0">
            <a:solidFill>
              <a:srgbClr val="CFEDEF"/>
            </a:solidFill>
          </a:ln>
        </p:spPr>
      </p:sp>
      <p:sp>
        <p:nvSpPr>
          <p:cNvPr id="4" name="">
            <a:extLst xmlns:a="http://schemas.openxmlformats.org/drawingml/2006/main">
              <a:ext uri="{FF2B5EF4-FFF2-40B4-BE49-F238E27FC236}">
                <a16:creationId xmlns:a16="http://schemas.microsoft.com/office/drawing/2014/main" id="{BBD62A1C-D6C0-449C-BEDA-3EB3A458F8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5" name="">
            <a:extLst xmlns:a="http://schemas.openxmlformats.org/drawingml/2006/main">
              <a:ext uri="{FF2B5EF4-FFF2-40B4-BE49-F238E27FC236}">
                <a16:creationId xmlns:a16="http://schemas.microsoft.com/office/drawing/2014/main" id="{57A64BC9-3BBB-4FDA-BAE5-E2F07270B1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6" name="">
            <a:extLst xmlns:a="http://schemas.openxmlformats.org/drawingml/2006/main">
              <a:ext uri="{FF2B5EF4-FFF2-40B4-BE49-F238E27FC236}">
                <a16:creationId xmlns:a16="http://schemas.microsoft.com/office/drawing/2014/main" id="{B09A439F-CF91-4200-90AD-1F173083176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297D9DCA-7E0F-4DF9-A6BB-D41758D4E0CF}"/>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8" name="">
            <a:extLst xmlns:a="http://schemas.openxmlformats.org/drawingml/2006/main">
              <a:ext uri="{FF2B5EF4-FFF2-40B4-BE49-F238E27FC236}">
                <a16:creationId xmlns:a16="http://schemas.microsoft.com/office/drawing/2014/main" id="{D53F8CB1-5C63-49F7-AF43-7AC19585404E}"/>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9315048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2026-10-23T13:06:17.9180000Z</dcterms:created>
  <dcterms:modified xsi:type="dcterms:W3CDTF">2026-10-23T13:06:17.9180000Z</dcterms:modified>
</coreProperties>
</file>