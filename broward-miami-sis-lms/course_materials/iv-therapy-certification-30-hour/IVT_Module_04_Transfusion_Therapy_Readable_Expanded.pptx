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aa279affe64c7c" /><Relationship Type="http://schemas.openxmlformats.org/officeDocument/2006/relationships/extended-properties" Target="/docProps/app.xml" Id="R58ef592400954a81" /><Relationship Type="http://schemas.openxmlformats.org/officeDocument/2006/relationships/officeDocument" Target="/ppt/presentation.xml" Id="R7030be87ad6f4a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5fe07b2d5f4852"/>
  </p:sldMasterIdLst>
  <p:notesMasterIdLst>
    <p:notesMasterId xmlns:r="http://schemas.openxmlformats.org/officeDocument/2006/relationships" r:id="Rc0e555c7e23e4a40"/>
  </p:notesMasterIdLst>
  <p:sldIdLst>
    <p:sldId xmlns:r="http://schemas.openxmlformats.org/officeDocument/2006/relationships" id="256" r:id="Rc8d00690e4d74861"/>
    <p:sldId xmlns:r="http://schemas.openxmlformats.org/officeDocument/2006/relationships" id="257" r:id="R20004eb20eb343b6"/>
    <p:sldId xmlns:r="http://schemas.openxmlformats.org/officeDocument/2006/relationships" id="258" r:id="Rf44ea6e999cf49f5"/>
    <p:sldId xmlns:r="http://schemas.openxmlformats.org/officeDocument/2006/relationships" id="259" r:id="R68eea8ee35944a56"/>
    <p:sldId xmlns:r="http://schemas.openxmlformats.org/officeDocument/2006/relationships" id="260" r:id="Rd6467f3f9e434de8"/>
    <p:sldId xmlns:r="http://schemas.openxmlformats.org/officeDocument/2006/relationships" id="261" r:id="R25797948dd0d496b"/>
    <p:sldId xmlns:r="http://schemas.openxmlformats.org/officeDocument/2006/relationships" id="262" r:id="R691565a5332e495d"/>
    <p:sldId xmlns:r="http://schemas.openxmlformats.org/officeDocument/2006/relationships" id="263" r:id="R3d0ad53a764540b7"/>
    <p:sldId xmlns:r="http://schemas.openxmlformats.org/officeDocument/2006/relationships" id="264" r:id="R4e7c76e505e34f24"/>
    <p:sldId xmlns:r="http://schemas.openxmlformats.org/officeDocument/2006/relationships" id="265" r:id="R7c3eabbd3df14a90"/>
    <p:sldId xmlns:r="http://schemas.openxmlformats.org/officeDocument/2006/relationships" id="266" r:id="R6ee165eaf2dc48de"/>
    <p:sldId xmlns:r="http://schemas.openxmlformats.org/officeDocument/2006/relationships" id="267" r:id="R674e9fddd40b47b6"/>
    <p:sldId xmlns:r="http://schemas.openxmlformats.org/officeDocument/2006/relationships" id="268" r:id="Rc873ecc7116245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697e2da2bf41d3" /><Relationship Type="http://schemas.openxmlformats.org/officeDocument/2006/relationships/slideMaster" Target="/ppt/slideMasters/slideMaster1.xml" Id="Rec5fe07b2d5f4852" /><Relationship Type="http://schemas.openxmlformats.org/officeDocument/2006/relationships/notesMaster" Target="/ppt/notesMasters/notesMaster1.xml" Id="Rc0e555c7e23e4a40" /><Relationship Type="http://schemas.openxmlformats.org/officeDocument/2006/relationships/presProps" Target="/ppt/presProps.xml" Id="R2dd8b859c0304138" /><Relationship Type="http://schemas.openxmlformats.org/officeDocument/2006/relationships/tableStyles" Target="/ppt/tableStyles.xml" Id="R2f4fdcb15cba4f03" /><Relationship Type="http://schemas.openxmlformats.org/officeDocument/2006/relationships/slide" Target="/ppt/slides/slide1.xml" Id="Rc8d00690e4d74861" /><Relationship Type="http://schemas.openxmlformats.org/officeDocument/2006/relationships/slide" Target="/ppt/slides/slide2.xml" Id="R20004eb20eb343b6" /><Relationship Type="http://schemas.openxmlformats.org/officeDocument/2006/relationships/slide" Target="/ppt/slides/slide3.xml" Id="Rf44ea6e999cf49f5" /><Relationship Type="http://schemas.openxmlformats.org/officeDocument/2006/relationships/slide" Target="/ppt/slides/slide4.xml" Id="R68eea8ee35944a56" /><Relationship Type="http://schemas.openxmlformats.org/officeDocument/2006/relationships/slide" Target="/ppt/slides/slide5.xml" Id="Rd6467f3f9e434de8" /><Relationship Type="http://schemas.openxmlformats.org/officeDocument/2006/relationships/slide" Target="/ppt/slides/slide6.xml" Id="R25797948dd0d496b" /><Relationship Type="http://schemas.openxmlformats.org/officeDocument/2006/relationships/slide" Target="/ppt/slides/slide7.xml" Id="R691565a5332e495d" /><Relationship Type="http://schemas.openxmlformats.org/officeDocument/2006/relationships/slide" Target="/ppt/slides/slide8.xml" Id="R3d0ad53a764540b7" /><Relationship Type="http://schemas.openxmlformats.org/officeDocument/2006/relationships/slide" Target="/ppt/slides/slide9.xml" Id="R4e7c76e505e34f24" /><Relationship Type="http://schemas.openxmlformats.org/officeDocument/2006/relationships/slide" Target="/ppt/slides/slide10.xml" Id="R7c3eabbd3df14a90" /><Relationship Type="http://schemas.openxmlformats.org/officeDocument/2006/relationships/slide" Target="/ppt/slides/slide11.xml" Id="R6ee165eaf2dc48de" /><Relationship Type="http://schemas.openxmlformats.org/officeDocument/2006/relationships/slide" Target="/ppt/slides/slide12.xml" Id="R674e9fddd40b47b6" /><Relationship Type="http://schemas.openxmlformats.org/officeDocument/2006/relationships/slide" Target="/ppt/slides/slide13.xml" Id="Rc873ecc7116245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0e63b87d8b4f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f895b37cd34dc9" /><Relationship Type="http://schemas.openxmlformats.org/officeDocument/2006/relationships/notesMaster" Target="/ppt/notesMasters/notesMaster1.xml" Id="Rc938dcc0415345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2d8c96ad3044cf" /><Relationship Type="http://schemas.openxmlformats.org/officeDocument/2006/relationships/notesMaster" Target="/ppt/notesMasters/notesMaster1.xml" Id="R1af4ade113b248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288a1b64924df9" /><Relationship Type="http://schemas.openxmlformats.org/officeDocument/2006/relationships/notesMaster" Target="/ppt/notesMasters/notesMaster1.xml" Id="R029f9249e50d45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e004638bb24880" /><Relationship Type="http://schemas.openxmlformats.org/officeDocument/2006/relationships/notesMaster" Target="/ppt/notesMasters/notesMaster1.xml" Id="R33f0b929788347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617f80604040d5" /><Relationship Type="http://schemas.openxmlformats.org/officeDocument/2006/relationships/notesMaster" Target="/ppt/notesMasters/notesMaster1.xml" Id="R8403a780be1743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3a0e84932f46c6" /><Relationship Type="http://schemas.openxmlformats.org/officeDocument/2006/relationships/notesMaster" Target="/ppt/notesMasters/notesMaster1.xml" Id="R0bc755f13bea4a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43220dd82e4e21" /><Relationship Type="http://schemas.openxmlformats.org/officeDocument/2006/relationships/notesMaster" Target="/ppt/notesMasters/notesMaster1.xml" Id="R8e59a46ffa7249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7a2bdba5ea49d4" /><Relationship Type="http://schemas.openxmlformats.org/officeDocument/2006/relationships/notesMaster" Target="/ppt/notesMasters/notesMaster1.xml" Id="Re6e2645919ac4f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ad2647b16d4382" /><Relationship Type="http://schemas.openxmlformats.org/officeDocument/2006/relationships/notesMaster" Target="/ppt/notesMasters/notesMaster1.xml" Id="Rce1855aa510d42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e08042fc714a69" /><Relationship Type="http://schemas.openxmlformats.org/officeDocument/2006/relationships/notesMaster" Target="/ppt/notesMasters/notesMaster1.xml" Id="R183cac30ee0c4d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9c63098d084cb4" /><Relationship Type="http://schemas.openxmlformats.org/officeDocument/2006/relationships/notesMaster" Target="/ppt/notesMasters/notesMaster1.xml" Id="R3a4b1383a8c842d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2d5cad8227b461a" /><Relationship Type="http://schemas.openxmlformats.org/officeDocument/2006/relationships/notesMaster" Target="/ppt/notesMasters/notesMaster1.xml" Id="R614f3b3dea38447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1d7291e67f74e5a" /><Relationship Type="http://schemas.openxmlformats.org/officeDocument/2006/relationships/notesMaster" Target="/ppt/notesMasters/notesMaster1.xml" Id="Rd04302513c9645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51-63;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51-63;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51-63;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51-63;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51-63;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51-63;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51-63;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51-63;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51-63;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51; BMHI IVT 030 course content. Online preparation precedes live practice.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1e19c2d7f0460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1b6898bc8b4fc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80cd68eee3482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942eb6040841d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5b6e29ee1e41c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f5d4b5115445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7B5A6A-0E79-42D3-9135-EEDD0B63FD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D55DFFB-0537-4FFA-9681-C74D83C43FA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1A1D1D1-665D-4C42-9A42-8364833F1A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ED27E2-B218-454F-9DC0-CD0E85411A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C0EB8C7-3C48-484B-B83F-A4E92E5CDB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51F2045-C12D-4A8E-B2CE-7532D9D078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486660C-B36A-4359-B1E2-51B623A0C9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0CA9B8C-FFD9-4242-9D70-74FFFE09903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53A4AF-B2CA-4912-9F00-ACBC4DB346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8B93C71-A120-442C-8EA5-E431B23E6C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7e902bbf82404f" /><Relationship Type="http://schemas.openxmlformats.org/officeDocument/2006/relationships/slideLayout" Target="/ppt/slideLayouts/slideLayout1.xml" Id="Recaa521e3f11415f" /><Relationship Type="http://schemas.openxmlformats.org/officeDocument/2006/relationships/slideLayout" Target="/ppt/slideLayouts/slideLayout2.xml" Id="R23815c7baecf484b" /><Relationship Type="http://schemas.openxmlformats.org/officeDocument/2006/relationships/slideLayout" Target="/ppt/slideLayouts/slideLayout3.xml" Id="R75d7d3438cf143a7" /><Relationship Type="http://schemas.openxmlformats.org/officeDocument/2006/relationships/slideLayout" Target="/ppt/slideLayouts/slideLayout4.xml" Id="R26291891abda41fb" /><Relationship Type="http://schemas.openxmlformats.org/officeDocument/2006/relationships/slideLayout" Target="/ppt/slideLayouts/slideLayout5.xml" Id="R38af21a5ec224e7a" /><Relationship Type="http://schemas.openxmlformats.org/officeDocument/2006/relationships/slideLayout" Target="/ppt/slideLayouts/slideLayout6.xml" Id="R9e7a5ed5deff45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aa521e3f11415f"/>
    <p:sldLayoutId xmlns:r="http://schemas.openxmlformats.org/officeDocument/2006/relationships" id="2147483650" r:id="R23815c7baecf484b"/>
    <p:sldLayoutId xmlns:r="http://schemas.openxmlformats.org/officeDocument/2006/relationships" id="2147483651" r:id="R75d7d3438cf143a7"/>
    <p:sldLayoutId xmlns:r="http://schemas.openxmlformats.org/officeDocument/2006/relationships" id="2147483652" r:id="R26291891abda41fb"/>
    <p:sldLayoutId xmlns:r="http://schemas.openxmlformats.org/officeDocument/2006/relationships" id="2147483653" r:id="R38af21a5ec224e7a"/>
    <p:sldLayoutId xmlns:r="http://schemas.openxmlformats.org/officeDocument/2006/relationships" id="2147483654" r:id="R9e7a5ed5deff45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63ec449a634f1b" /><Relationship Type="http://schemas.openxmlformats.org/officeDocument/2006/relationships/notesSlide" Target="/ppt/notesSlides/notesSlide1.xml" Id="Rf8b9b021c1e246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0f677c6bbd4a56" /><Relationship Type="http://schemas.openxmlformats.org/officeDocument/2006/relationships/notesSlide" Target="/ppt/notesSlides/notesSlide2.xml" Id="Rbc50c5ab4fc940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35d137145a4890" /><Relationship Type="http://schemas.openxmlformats.org/officeDocument/2006/relationships/notesSlide" Target="/ppt/notesSlides/notesSlide3.xml" Id="Rd9d1cf86471847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a692db10e94358" /><Relationship Type="http://schemas.openxmlformats.org/officeDocument/2006/relationships/notesSlide" Target="/ppt/notesSlides/notesSlide4.xml" Id="R9f66e38369a14c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c4f3067e4f4da8" /><Relationship Type="http://schemas.openxmlformats.org/officeDocument/2006/relationships/notesSlide" Target="/ppt/notesSlides/notesSlide5.xml" Id="R3af1407731514a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0fdd8524e64438" /><Relationship Type="http://schemas.openxmlformats.org/officeDocument/2006/relationships/notesSlide" Target="/ppt/notesSlides/notesSlide6.xml" Id="R2a37cfa5774449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678178a5bf43c1" /><Relationship Type="http://schemas.openxmlformats.org/officeDocument/2006/relationships/notesSlide" Target="/ppt/notesSlides/notesSlide7.xml" Id="Rbd7a94266efd41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751cb370fd49d4" /><Relationship Type="http://schemas.openxmlformats.org/officeDocument/2006/relationships/notesSlide" Target="/ppt/notesSlides/notesSlide8.xml" Id="Rbcccb61597884e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84b65c109c4b24" /><Relationship Type="http://schemas.openxmlformats.org/officeDocument/2006/relationships/notesSlide" Target="/ppt/notesSlides/notesSlide9.xml" Id="R08c1162467d140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cf40a1f0e34b4a" /><Relationship Type="http://schemas.openxmlformats.org/officeDocument/2006/relationships/notesSlide" Target="/ppt/notesSlides/notesSlide10.xml" Id="R05e80f743b5e430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38e3983e944958" /><Relationship Type="http://schemas.openxmlformats.org/officeDocument/2006/relationships/notesSlide" Target="/ppt/notesSlides/notesSlide11.xml" Id="R4ba6ea65dd324d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50b8efbcca4b01" /><Relationship Type="http://schemas.openxmlformats.org/officeDocument/2006/relationships/notesSlide" Target="/ppt/notesSlides/notesSlide12.xml" Id="Rd9333f0713144a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07d737772b4450" /><Relationship Type="http://schemas.openxmlformats.org/officeDocument/2006/relationships/notesSlide" Target="/ppt/notesSlides/notesSlide13.xml" Id="Rd503561e59d74a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2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64AFD-0C93-41AE-9169-84DC6194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0B6FC-1B38-47EC-BDC2-AFFD5C7B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rPr>
              <a:t>BROWARD-MIAMI HEALTH INSTITUTE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4B825E-B238-4131-9777-3B2CA982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990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Transfusion Therapy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976E8-E015-434E-93E1-520D8F00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  |  30-Hour Basic Intravenous Therapy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FFAA5-B757-4C2C-AD24-B04848EF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rPr>
              <a:t>Expanded instructor presentation</a:t>
            </a:r>
          </a:p>
        </p:txBody>
      </p:sp>
    </p:spTree>
    <p:extLst>
      <p:ext uri="{BB962C8B-B14F-4D97-AF65-F5344CB8AC3E}">
        <p14:creationId xmlns:p14="http://schemas.microsoft.com/office/powerpoint/2010/main" val="7189551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C126BD-F418-4BF9-937D-A8424807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8B019-CCB0-49A4-BCF8-069E3012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Learning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91FB1-8541-405F-8B65-B5502467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B3A9F-784C-45DA-84DF-0C786992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8014D-F97F-4F49-98E6-8620F7EA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Identify common blood components and indications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Apply patient and product verification safeguards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Recognize transfusion reactions and initiate the correct response</a:t>
            </a:r>
          </a:p>
        </p:txBody>
      </p:sp>
    </p:spTree>
    <p:extLst>
      <p:ext uri="{BB962C8B-B14F-4D97-AF65-F5344CB8AC3E}">
        <p14:creationId xmlns:p14="http://schemas.microsoft.com/office/powerpoint/2010/main" val="15588052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21DE20-CD1F-4136-9894-2E77A06A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96DC3-EB0E-4007-8357-110315A6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Therapeutic goals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C449F-BFC3-4A49-880D-A1568FAD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5516B-5340-4076-8EC8-EBB380F2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2F9ED-7016-4AD5-B2B7-5762858A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Blood components may restore oxygen-carrying capacity, circulating volume, platelets, or coagulation factors.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Verify the current indication and prescriber order for the specific component.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3D192C-AEB9-479F-B565-C6915608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3421008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98E99-BFED-4206-BB3A-6007EA7E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28504-2181-4E83-AB97-B87612C9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4E013-97AA-4013-9274-1292D4D1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B095D-8F1C-43DA-A052-0B7AB5DB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C6E817-14DB-4E84-8E95-7B524DEE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Use the institution's approved two-person or electronic verification process.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Match the patient, order, compatibility record, unit identifiers, expiration, and product appearance before connection.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6EEC50-F1F1-44F4-B7BF-669FCE56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8403601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7B7EE-FE4D-4D70-8466-6E56F576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982EC-549B-497D-AD06-B147E28D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Administration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7F962-CCA0-4CE6-B24C-8AE8C2A3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60C20-62D1-4B34-BB91-99548A89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04D96-95C2-431E-A364-B59BF58F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Obtain baseline assessment, use approved blood tubing and compatible solution, begin within the required time, remain available during the early period, and monitor at policy-defined intervals.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B35D0-1801-4479-8F7A-7DACE775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8214291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614B5-D5C3-451C-A102-EFD5252C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071E3-1D47-403E-A183-F602E0AD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Suspected reaction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4A9B3-EB90-4BF0-8871-0943091C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7761D-0B3D-4323-9F57-18726E2A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EEF8D-5665-4255-9EEC-508261E8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Stop the transfusion immediately.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Maintain access as policy directs, assess airway and circulation, obtain vital signs, notify the RN and prescriber, recheck identification, and complete required specimens and documentation.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60976-BFBE-4FB9-BB64-B92F6A50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2363475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A0B660-FCE8-49BB-854C-6DF2C871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1F686-AA4F-42FD-AA57-95DB77D1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85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Blood Components, Parenteral Nutrition, and High-Risk Therapy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AE2F4-6E89-4E90-B1FD-22DC1D1D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55AE4-CB32-4E9D-8C8C-F85D7434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69FC9-57F4-4D1B-B45B-C7322090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Blood administration requires specific authorization, patient identification, consent verification, baseline assessment, product verification by qualified staff, dedicated compatible tubing/solution, close early monitoring, and prompt response to reactions.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If a reaction is suspected, stop the transfusion, maintain access as policy directs with compatible solution/new tubing, assess and support the patient, notify required personnel, recheck identification, and complete ordered specimens/documentation.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CA7575-C922-4CD1-8850-1D41E525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5519925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5B6587-9926-4D9E-8C7B-C109E8F5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683CA-FF21-464F-9DE2-D2F47B18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85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Blood Components, Parenteral Nutrition, and High-Risk Therapy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385B9-EBBB-41B1-9FF4-3BFC7626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073F73-F9CA-48C8-BD42-9989D8FE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A6DFE-EF92-42FF-9FF3-8A89A93B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Parenteral nutrition contains concentrated nutrients and carries metabolic, infection, and line risks.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Verify the formulation and rate, use the required central or peripheral route, dedicated lumen and filter when ordered, strict asepsis, glucose/electrolyte monitoring, and never abruptly change therapy without direction.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0C2FE-5D2D-4D4C-A408-15FD552E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9195983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CBA8B1-5D4F-468C-A7B4-3002D464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37FE34-FAA0-4AAE-A096-056B7AA1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85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Blood Components, Parenteral Nutrition, and High-Risk Therapy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BF7AB4-8BC7-458E-AB3F-831A4823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1E911-F76C-4F52-8605-6F920576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8F8C0-742A-4CF1-A706-DD1AA2B6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High-alert and vesicant medications require current drug-specific guidance, appropriate access, blood return/patency checks when indicated, close monitoring, and immediate use of the facility extravasation or emergency protocol.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98E869-CC1D-4902-AC4E-1FC919BF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9477206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3B86B-0763-49AF-9758-D058A265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30935-300F-4483-9614-6D58D187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Live Review: Infection Control, Access Devices, Blood, and Nutrition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081C2-77DD-4103-9660-77F95C74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648AA-9B25-449E-ACBA-EAE3044B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E3E7B-FF36-48FC-A977-F502FFA6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Instructor demonstrations and guided discussion cover hand hygiene, PPE, aseptic non-touch technique, skin preparation, connector disinfection, dressing assessment, peripheral versus central access, device restrictions, blood components and reactions, parenteral nutrition, high-alert therapy, and emergency readiness.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6F8FD6-5F76-4F42-8709-AE49B45A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8538989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FFEBD9-B2EA-4BE6-9F33-2B191740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7F448-14EE-46CF-AF84-6117CA80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Live Review: Infection Control, Access Devices, Blood, and Nutrition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4575C-E69C-45B4-8694-CDC41F2C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D05218-363F-4A28-87CA-989AC1F6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6EC20-85F8-488F-A926-4F73A105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Students complete verbal teach-back for suspected infection, transfusion reaction, and central-line complication scenarios.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instructor documents attendance and provides remediation before lab participation when a learner cannot state the immediate safety 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A8FB76-AE35-407E-9D29-A95CF6AD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3462067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C8B52-8731-4B63-85C7-59931D16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2D72DA-CD7F-4002-9EA9-8F9BD295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Practice and competency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35063-1A49-412D-8E0E-07591412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9B388-10C6-40E7-AD53-EE7CDF85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2FE4E9-6375-40BD-B618-C126BF06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Complete a mock bedside verification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Differentiate allergic, febrile, hemolytic, overload, and septic findings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Use SBAR to report a suspected reaction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022339-70CB-408A-9925-D3E45964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Complete the matching online lesson and assessment before the in-person laboratory.</a:t>
            </a:r>
          </a:p>
        </p:txBody>
      </p:sp>
    </p:spTree>
    <p:extLst>
      <p:ext uri="{BB962C8B-B14F-4D97-AF65-F5344CB8AC3E}">
        <p14:creationId xmlns:p14="http://schemas.microsoft.com/office/powerpoint/2010/main" val="10386038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D531A-4E1B-4CC4-9077-1F024114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D2AF0-BA92-496F-9F9C-AFCA18DA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Key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FFA91-22DC-4633-8E42-55730B90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CB4BF-D3C1-4488-84CE-0329A9E9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AF676-0B73-4981-83E1-45A2E66A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Identify common blood components and indications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Use the institution's approved two-person or electronic verification process. Match the patient, order, compatibility record, unit identifiers, expiration, and product appearance before connection.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Stop the transfusion immediately. Maintain access as policy directs, assess airway and circulation, obtain vital signs, notify the RN and prescriber, recheck identification, and complete required specimens and documentation.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A2FA9-31DF-4A19-A30B-738C5ADA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Review the course lesson, complete the assessment, and bring questions to the live session.</a:t>
            </a:r>
          </a:p>
        </p:txBody>
      </p:sp>
    </p:spTree>
    <p:extLst>
      <p:ext uri="{BB962C8B-B14F-4D97-AF65-F5344CB8AC3E}">
        <p14:creationId xmlns:p14="http://schemas.microsoft.com/office/powerpoint/2010/main" val="964327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2026-10-20T23:43:15.0610000Z</dcterms:created>
  <dcterms:modified xsi:type="dcterms:W3CDTF">2026-10-20T23:43:15.0610000Z</dcterms:modified>
</coreProperties>
</file>