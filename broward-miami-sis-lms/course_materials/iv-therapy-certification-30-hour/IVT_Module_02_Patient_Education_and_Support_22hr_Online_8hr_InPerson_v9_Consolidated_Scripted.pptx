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8daf8dd4e74242" /><Relationship Type="http://schemas.openxmlformats.org/officeDocument/2006/relationships/extended-properties" Target="/docProps/app.xml" Id="R32d08b7488144faa" /><Relationship Type="http://schemas.openxmlformats.org/officeDocument/2006/relationships/officeDocument" Target="/ppt/presentation.xml" Id="R384f5654e8d3415a" /></Relationships>
</file>

<file path=ppt/presentation.xml><?xml version="1.0" encoding="utf-8"?>
<p:presentation xmlns:p="http://schemas.openxmlformats.org/presentationml/2006/main">
  <p:sldMasterIdLst>
    <p:sldMasterId xmlns:r="http://schemas.openxmlformats.org/officeDocument/2006/relationships" id="2147483648" r:id="Rb9dc36b563064d9b"/>
  </p:sldMasterIdLst>
  <p:notesMasterIdLst>
    <p:notesMasterId xmlns:r="http://schemas.openxmlformats.org/officeDocument/2006/relationships" r:id="R3ac771010f97463a"/>
  </p:notesMasterIdLst>
  <p:sldIdLst>
    <p:sldId xmlns:r="http://schemas.openxmlformats.org/officeDocument/2006/relationships" id="256" r:id="Ra92a34ac620040c4"/>
    <p:sldId xmlns:r="http://schemas.openxmlformats.org/officeDocument/2006/relationships" id="257" r:id="Rff75bed514c44c03"/>
    <p:sldId xmlns:r="http://schemas.openxmlformats.org/officeDocument/2006/relationships" id="258" r:id="R9124077c96444f22"/>
    <p:sldId xmlns:r="http://schemas.openxmlformats.org/officeDocument/2006/relationships" id="259" r:id="R2320cb21ef4e4e41"/>
    <p:sldId xmlns:r="http://schemas.openxmlformats.org/officeDocument/2006/relationships" id="260" r:id="R2cacdc0acb894d35"/>
    <p:sldId xmlns:r="http://schemas.openxmlformats.org/officeDocument/2006/relationships" id="261" r:id="R27d86c1882654651"/>
    <p:sldId xmlns:r="http://schemas.openxmlformats.org/officeDocument/2006/relationships" id="262" r:id="R06bb242fd1a24b90"/>
    <p:sldId xmlns:r="http://schemas.openxmlformats.org/officeDocument/2006/relationships" id="263" r:id="R88584598a1f7465c"/>
    <p:sldId xmlns:r="http://schemas.openxmlformats.org/officeDocument/2006/relationships" id="264" r:id="R95409a16f42a4c1a"/>
    <p:sldId xmlns:r="http://schemas.openxmlformats.org/officeDocument/2006/relationships" id="265" r:id="R727dfff0c29f4340"/>
    <p:sldId xmlns:r="http://schemas.openxmlformats.org/officeDocument/2006/relationships" id="266" r:id="Ra2410240810d4ed0"/>
    <p:sldId xmlns:r="http://schemas.openxmlformats.org/officeDocument/2006/relationships" id="267" r:id="R4ea1e850f17d4e89"/>
    <p:sldId xmlns:r="http://schemas.openxmlformats.org/officeDocument/2006/relationships" id="268" r:id="Re70dad9c546642c1"/>
    <p:sldId xmlns:r="http://schemas.openxmlformats.org/officeDocument/2006/relationships" id="269" r:id="R0d1464c695a240c6"/>
    <p:sldId xmlns:r="http://schemas.openxmlformats.org/officeDocument/2006/relationships" id="270" r:id="Rcd3baaea655b456f"/>
    <p:sldId xmlns:r="http://schemas.openxmlformats.org/officeDocument/2006/relationships" id="271" r:id="Rc2969dfd0ab849f6"/>
    <p:sldId xmlns:r="http://schemas.openxmlformats.org/officeDocument/2006/relationships" id="272" r:id="R5076b28661584216"/>
    <p:sldId xmlns:r="http://schemas.openxmlformats.org/officeDocument/2006/relationships" id="273" r:id="R6d1a1da02bf44afa"/>
    <p:sldId xmlns:r="http://schemas.openxmlformats.org/officeDocument/2006/relationships" id="274" r:id="R46c8625a79cb4bb4"/>
    <p:sldId xmlns:r="http://schemas.openxmlformats.org/officeDocument/2006/relationships" id="275" r:id="R24348b029de84cd2"/>
    <p:sldId xmlns:r="http://schemas.openxmlformats.org/officeDocument/2006/relationships" id="276" r:id="Rb112a33c97264760"/>
    <p:sldId xmlns:r="http://schemas.openxmlformats.org/officeDocument/2006/relationships" id="277" r:id="R6490b2620fd244cb"/>
    <p:sldId xmlns:r="http://schemas.openxmlformats.org/officeDocument/2006/relationships" id="278" r:id="R4713b88c9f054b47"/>
    <p:sldId xmlns:r="http://schemas.openxmlformats.org/officeDocument/2006/relationships" id="279" r:id="Rc622fe5f59bd433a"/>
    <p:sldId xmlns:r="http://schemas.openxmlformats.org/officeDocument/2006/relationships" id="280" r:id="R69acaef4f328491b"/>
    <p:sldId xmlns:r="http://schemas.openxmlformats.org/officeDocument/2006/relationships" id="281" r:id="Rb63d233ea44c4eac"/>
    <p:sldId xmlns:r="http://schemas.openxmlformats.org/officeDocument/2006/relationships" id="282" r:id="R8a302d2b7ba941b3"/>
    <p:sldId xmlns:r="http://schemas.openxmlformats.org/officeDocument/2006/relationships" id="283" r:id="R31636bf5bc1245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30e01a5a074b6e" /><Relationship Type="http://schemas.openxmlformats.org/officeDocument/2006/relationships/slideMaster" Target="/ppt/slideMasters/slideMaster1.xml" Id="Rb9dc36b563064d9b" /><Relationship Type="http://schemas.openxmlformats.org/officeDocument/2006/relationships/notesMaster" Target="/ppt/notesMasters/notesMaster1.xml" Id="R3ac771010f97463a" /><Relationship Type="http://schemas.openxmlformats.org/officeDocument/2006/relationships/presProps" Target="/ppt/presProps.xml" Id="R48bde5205b0a4b4a" /><Relationship Type="http://schemas.openxmlformats.org/officeDocument/2006/relationships/tableStyles" Target="/ppt/tableStyles.xml" Id="Ra4dc39cbf7b74ab5" /><Relationship Type="http://schemas.openxmlformats.org/officeDocument/2006/relationships/slide" Target="/ppt/slides/slide1.xml" Id="Ra92a34ac620040c4" /><Relationship Type="http://schemas.openxmlformats.org/officeDocument/2006/relationships/slide" Target="/ppt/slides/slide2.xml" Id="Rff75bed514c44c03" /><Relationship Type="http://schemas.openxmlformats.org/officeDocument/2006/relationships/slide" Target="/ppt/slides/slide3.xml" Id="R9124077c96444f22" /><Relationship Type="http://schemas.openxmlformats.org/officeDocument/2006/relationships/slide" Target="/ppt/slides/slide4.xml" Id="R2320cb21ef4e4e41" /><Relationship Type="http://schemas.openxmlformats.org/officeDocument/2006/relationships/slide" Target="/ppt/slides/slide5.xml" Id="R2cacdc0acb894d35" /><Relationship Type="http://schemas.openxmlformats.org/officeDocument/2006/relationships/slide" Target="/ppt/slides/slide6.xml" Id="R27d86c1882654651" /><Relationship Type="http://schemas.openxmlformats.org/officeDocument/2006/relationships/slide" Target="/ppt/slides/slide7.xml" Id="R06bb242fd1a24b90" /><Relationship Type="http://schemas.openxmlformats.org/officeDocument/2006/relationships/slide" Target="/ppt/slides/slide8.xml" Id="R88584598a1f7465c" /><Relationship Type="http://schemas.openxmlformats.org/officeDocument/2006/relationships/slide" Target="/ppt/slides/slide9.xml" Id="R95409a16f42a4c1a" /><Relationship Type="http://schemas.openxmlformats.org/officeDocument/2006/relationships/slide" Target="/ppt/slides/slide10.xml" Id="R727dfff0c29f4340" /><Relationship Type="http://schemas.openxmlformats.org/officeDocument/2006/relationships/slide" Target="/ppt/slides/slide11.xml" Id="Ra2410240810d4ed0" /><Relationship Type="http://schemas.openxmlformats.org/officeDocument/2006/relationships/slide" Target="/ppt/slides/slide12.xml" Id="R4ea1e850f17d4e89" /><Relationship Type="http://schemas.openxmlformats.org/officeDocument/2006/relationships/slide" Target="/ppt/slides/slide13.xml" Id="Re70dad9c546642c1" /><Relationship Type="http://schemas.openxmlformats.org/officeDocument/2006/relationships/slide" Target="/ppt/slides/slide14.xml" Id="R0d1464c695a240c6" /><Relationship Type="http://schemas.openxmlformats.org/officeDocument/2006/relationships/slide" Target="/ppt/slides/slide15.xml" Id="Rcd3baaea655b456f" /><Relationship Type="http://schemas.openxmlformats.org/officeDocument/2006/relationships/slide" Target="/ppt/slides/slide16.xml" Id="Rc2969dfd0ab849f6" /><Relationship Type="http://schemas.openxmlformats.org/officeDocument/2006/relationships/slide" Target="/ppt/slides/slide17.xml" Id="R5076b28661584216" /><Relationship Type="http://schemas.openxmlformats.org/officeDocument/2006/relationships/slide" Target="/ppt/slides/slide18.xml" Id="R6d1a1da02bf44afa" /><Relationship Type="http://schemas.openxmlformats.org/officeDocument/2006/relationships/slide" Target="/ppt/slides/slide19.xml" Id="R46c8625a79cb4bb4" /><Relationship Type="http://schemas.openxmlformats.org/officeDocument/2006/relationships/slide" Target="/ppt/slides/slide20.xml" Id="R24348b029de84cd2" /><Relationship Type="http://schemas.openxmlformats.org/officeDocument/2006/relationships/slide" Target="/ppt/slides/slide21.xml" Id="Rb112a33c97264760" /><Relationship Type="http://schemas.openxmlformats.org/officeDocument/2006/relationships/slide" Target="/ppt/slides/slide22.xml" Id="R6490b2620fd244cb" /><Relationship Type="http://schemas.openxmlformats.org/officeDocument/2006/relationships/slide" Target="/ppt/slides/slide23.xml" Id="R4713b88c9f054b47" /><Relationship Type="http://schemas.openxmlformats.org/officeDocument/2006/relationships/slide" Target="/ppt/slides/slide24.xml" Id="Rc622fe5f59bd433a" /><Relationship Type="http://schemas.openxmlformats.org/officeDocument/2006/relationships/slide" Target="/ppt/slides/slide25.xml" Id="R69acaef4f328491b" /><Relationship Type="http://schemas.openxmlformats.org/officeDocument/2006/relationships/slide" Target="/ppt/slides/slide26.xml" Id="Rb63d233ea44c4eac" /><Relationship Type="http://schemas.openxmlformats.org/officeDocument/2006/relationships/slide" Target="/ppt/slides/slide27.xml" Id="R8a302d2b7ba941b3" /><Relationship Type="http://schemas.openxmlformats.org/officeDocument/2006/relationships/slide" Target="/ppt/slides/slide28.xml" Id="R31636bf5bc1245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a892b9cbe34f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3657381ca9410c" /><Relationship Type="http://schemas.openxmlformats.org/officeDocument/2006/relationships/notesMaster" Target="/ppt/notesMasters/notesMaster1.xml" Id="R8ec52dcb348743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54f99a851c4171" /><Relationship Type="http://schemas.openxmlformats.org/officeDocument/2006/relationships/notesMaster" Target="/ppt/notesMasters/notesMaster1.xml" Id="R7b5cde2dab884a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f7c2c701e54d94" /><Relationship Type="http://schemas.openxmlformats.org/officeDocument/2006/relationships/notesMaster" Target="/ppt/notesMasters/notesMaster1.xml" Id="R63ec170e1b2c48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a7046706ba47d8" /><Relationship Type="http://schemas.openxmlformats.org/officeDocument/2006/relationships/notesMaster" Target="/ppt/notesMasters/notesMaster1.xml" Id="R0870aa7dc0684a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3c295a62b84894" /><Relationship Type="http://schemas.openxmlformats.org/officeDocument/2006/relationships/notesMaster" Target="/ppt/notesMasters/notesMaster1.xml" Id="Rdf85f359dd7046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d1d62481f348c4" /><Relationship Type="http://schemas.openxmlformats.org/officeDocument/2006/relationships/notesMaster" Target="/ppt/notesMasters/notesMaster1.xml" Id="Rff1d55aceaaf44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e88c163ce64af6" /><Relationship Type="http://schemas.openxmlformats.org/officeDocument/2006/relationships/notesMaster" Target="/ppt/notesMasters/notesMaster1.xml" Id="R01a1d8ca5ffb49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85b8d3ae234015" /><Relationship Type="http://schemas.openxmlformats.org/officeDocument/2006/relationships/notesMaster" Target="/ppt/notesMasters/notesMaster1.xml" Id="R47edc055c36540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35e7c1127043dd" /><Relationship Type="http://schemas.openxmlformats.org/officeDocument/2006/relationships/notesMaster" Target="/ppt/notesMasters/notesMaster1.xml" Id="R7acec6bc0c5349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6cdf1821664098" /><Relationship Type="http://schemas.openxmlformats.org/officeDocument/2006/relationships/notesMaster" Target="/ppt/notesMasters/notesMaster1.xml" Id="R320bd874c6ec4c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3e489c8ff84717" /><Relationship Type="http://schemas.openxmlformats.org/officeDocument/2006/relationships/notesMaster" Target="/ppt/notesMasters/notesMaster1.xml" Id="R4492f1c57c1140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6752892d974b42" /><Relationship Type="http://schemas.openxmlformats.org/officeDocument/2006/relationships/notesMaster" Target="/ppt/notesMasters/notesMaster1.xml" Id="Recbc27b12ec14e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be2a36aa37443f" /><Relationship Type="http://schemas.openxmlformats.org/officeDocument/2006/relationships/notesMaster" Target="/ppt/notesMasters/notesMaster1.xml" Id="Rd881c994e5054e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0f02265524458c" /><Relationship Type="http://schemas.openxmlformats.org/officeDocument/2006/relationships/notesMaster" Target="/ppt/notesMasters/notesMaster1.xml" Id="Rd5be77db7c2b46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279bb55d174a3e" /><Relationship Type="http://schemas.openxmlformats.org/officeDocument/2006/relationships/notesMaster" Target="/ppt/notesMasters/notesMaster1.xml" Id="R691e0494731245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ddaf96cb5f4429" /><Relationship Type="http://schemas.openxmlformats.org/officeDocument/2006/relationships/notesMaster" Target="/ppt/notesMasters/notesMaster1.xml" Id="Ra16c6ed922d24a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b96063bc4e4478" /><Relationship Type="http://schemas.openxmlformats.org/officeDocument/2006/relationships/notesMaster" Target="/ppt/notesMasters/notesMaster1.xml" Id="R4a8864b46d74400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4462f896e24ae9" /><Relationship Type="http://schemas.openxmlformats.org/officeDocument/2006/relationships/notesMaster" Target="/ppt/notesMasters/notesMaster1.xml" Id="R74927ecb55e54db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fbad90f53d4796" /><Relationship Type="http://schemas.openxmlformats.org/officeDocument/2006/relationships/notesMaster" Target="/ppt/notesMasters/notesMaster1.xml" Id="R6d6c221b7fe34c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1732157ef040e2" /><Relationship Type="http://schemas.openxmlformats.org/officeDocument/2006/relationships/notesMaster" Target="/ppt/notesMasters/notesMaster1.xml" Id="R42b9273718134e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56a7e870db24fe4" /><Relationship Type="http://schemas.openxmlformats.org/officeDocument/2006/relationships/notesMaster" Target="/ppt/notesMasters/notesMaster1.xml" Id="R5eda441d4b1a46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d819d741fb4b8e" /><Relationship Type="http://schemas.openxmlformats.org/officeDocument/2006/relationships/notesMaster" Target="/ppt/notesMasters/notesMaster1.xml" Id="Ra502a25768e64e2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3cb86d078084bf5" /><Relationship Type="http://schemas.openxmlformats.org/officeDocument/2006/relationships/notesMaster" Target="/ppt/notesMasters/notesMaster1.xml" Id="Ree784212abef465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212432797a4ab2" /><Relationship Type="http://schemas.openxmlformats.org/officeDocument/2006/relationships/notesMaster" Target="/ppt/notesMasters/notesMaster1.xml" Id="Rd77f18d4767e4a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6e588826d5e4271" /><Relationship Type="http://schemas.openxmlformats.org/officeDocument/2006/relationships/notesMaster" Target="/ppt/notesMasters/notesMaster1.xml" Id="Rb93e3b5df26049c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43b1a671034923" /><Relationship Type="http://schemas.openxmlformats.org/officeDocument/2006/relationships/notesMaster" Target="/ppt/notesMasters/notesMaster1.xml" Id="Reb1f49194b7641b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cae20d2869c4c18" /><Relationship Type="http://schemas.openxmlformats.org/officeDocument/2006/relationships/notesMaster" Target="/ppt/notesMasters/notesMaster1.xml" Id="R8ee167c1340e4d5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d47f3f9d4f74285" /><Relationship Type="http://schemas.openxmlformats.org/officeDocument/2006/relationships/notesMaster" Target="/ppt/notesMasters/notesMaster1.xml" Id="R8cfc0a62af8145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Circulation, Veins, and Peripheral Site Selection 1. First, Veins return blood to the heart at lower pressure, have thinner walls than arteries, and often contain valves. Next, Superficial veins of the hand and forearm are commonly considered for peripheral access. Next, Begin distally when clinically appropriate so proximal sites remain available.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Circulation, Veins, and Peripheral Site Selection 2. First, Assess both extremities for vein visibility, palpability, direction, depth, resilience, and nearby joints. Next, Match the smallest suitable catheter and shortest suitable length to the prescribed therapy, anticipated duration, vein, patient age, and condition.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Circulation, Veins, and Peripheral Site Selection 3. First, Avoid or seek explicit direction for sites affected by infection, burns, impaired circulation or sensation, prior infiltration/phlebitis, dialysis access, lymph-node dissection, paralysis, or other contraindications. Next, Lower-extremity and special-population access must follow current policy and orders.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Patient-centered preparation. First, Explain the purpose and steps, obtain cooperation, address anxiety, preserve privacy, position comfortably, and honor the patient's right to ask questions or refuse.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Documentation, Patient Teaching, and Lab Readiness 1. First, Document the order verification, date/time, indication, site/side, vein when required, device type/gauge/length, number of attempts and inserter, antiseptic, dressing/securement, patency, solution/medication/rate, pump settings, patient tolerance/teaching, assessments, complications, actions, notifications, and response. Next, Record discontinuation and catheter integrity.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Documentation, Patient Teaching, and Lab Readiness 2. First, Teach the patient to protect the device and report pain, burning, wetness, leaking, swelling, redness, warmth, coolness, tightness, bleeding, pump alarms, fever/chills, shortness of breath, rash, or other new symptoms.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Pre-lab mental rehearsal. First, Use a deliberate pause before every procedure: correct patient, order, therapy, access, equipment, infection-control plan, calculation, emergency plan, and documentation. Next, In lab, verbalize each safety check and stop immediately if a critical element is missed.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Education in the Administration of IV Therapy. First, MODULE 2 Module Objectives At the conclusion of this self-learning module, the learner will be able to: 1. Next, State the nursing actions which will relieve patient's anxiety towards IV therapy. Next, Identify patient needs for education regarding IV therapy. Next, Discuss nursing actions which will help patient cope with IV therapy. Next, State nursing actions which show compassion for the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Education in the Administration of IV Therapy — continued. First, Unit Outline Scope of IV Therapy Delivery of Solutions Next, Medications and Blood Products Techniques for Administration of IV Therapy Direct Access to Circulation Technical Skills Patient Centered Care Assessment of Physical and Emotional State Patient/Family Attitudes Next, Recognition of Anxiety Elderly Patients Nursing Interventions Preparation Patient/Family Teaching Technical Expertise Documentation Glossary Bibliography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of IV Therapy. First, Intravenous Therapy is used for the administration of a wide variety of solutions, medications, and blood products. Next, This is a very complex area of practice which challenges the nurse in attaining and maintaining clinical competency in: Next, * Methods of Delivery *Dosages *Selection of Equipment *Operation of Equipment *Troubleshooting Catheters Next, Tubing, and Equipment Techniques for administration of IV Therapy IV administration provides direct access to the patient's body circulation. Next, This advantage of immediate action is also a disadvantage should an error be made in amount, dosage, rate or method of delivery.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of IV Therapy — continued. First, IV therapy is an invasive therapy which also offers a risk of life-threatening infection. Next, IV therapy is not an isolated technical skill but combines cognitive and intuitive skills of the nurse in interpreting, evaluating, and acting on behalf of the patient. Next, Patient centered nursing care in the administration of IV therapy includes: observation, assessment, knowledge of the patients overall condition, and disease process. Next, Patient education as part of nursing action meets the patient's right to know. Next, Accurate information given to the patient prepares him or her to cooperate and participate in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of IV Therapy — continued. First, IV therapy is an invasive therapy in which complications may occur. Next, Patient's may have had prior experience with the procedure or received information from friends or family members. Next, Their level of understanding must be assessed. Next, Some aspects that the patient may fear are: *Pain *Disfigurement *Bruising *Bleeding *Altered Body Image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Centered Care. First, The nurse caring for the patient receiving IV therapy must initially assess the patient's physical condition and emotional state prior to the administration of IV therapy. Next, The RN is responsible for patient assessment and coordinating the delegation of information to the LPN. Next, The assessment includes: Next, *Patient's attitude *Previous experience *Knowledge level * Ability to cope with painful procedures Observe the patient's body language and facial expressions for overt signs of anxiety (talking more than usual, silence, Next, crying, trembling, etc.).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Centered Care — continued. First, Listen to the patient and allow the patient to verbalize their anxieties. Next, Acknowledgement of the painful nature of some IV procedures, most of which are only briefly painful, should be offered. Next, A calm approach to the patient is always appropriate when questioning the patient as to his or her level of understanding. Next, Have the patient verbalize what he or she knows about the type of IV therapy ordered and what the patient's expectations are. Next, Factual answers to patient's questions about risks, and emphasizing careful technique to prevent complications are important.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Centered Care — continued. First, The nurse should give careful explanations of: Next, *Type of IV Therapy *Length of Therapy *Expected Effects *Any Patient Restrictions Specific instructions should be given the patient regarding what signs and symptoms should be reported to the nurse during the infusion Next, therapy. Next, All explanations should be given, when possible, to family members or friends as well as the patient. Next, So they can reinforce information and provide support for the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Centered Care — continued. First, In cases in which the patient will be going home with some form if IV therapy, for example a Hickman catheter or an implanted infusion port, detailed information, verbal and written, must be given for those procedures Next, the patient and/or family will be performing. Next, Careful coordination with the home health care team is essential for smooth transition from inpatient to home setting. Next, The meticulous technique necessary for the prevention of infection and other complications requires instruction and demonstration by the nurse and return demonstration by the patient or caregivers.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Centered Care — continued. First, Timely and complete documentation of all procedures and of those solutions and medications given, as well as any side effects or complications of therapy are necessary to provide a clinical and legal record of the Next, patient's care.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Vein. First, Glossary Accountable Subject to giving an account: Next, answerable Deep vein inside chest or neck (not on surface) Policy Definite course or method of action...to guide and determine present and future action Procedure A particular way of acting or accomplishing something Next, Responsible Able to answer for one's conduct and obligations Rule Prescribed guide for conduct or action Standard Something established by authority, custom, or general consent Scope of practice Extent of (nursing) Next, practice Module Bibliography Florida Statute 464 Next, Nursing Florida Board of Nursing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Vein — continued. First, Rules 64B9 Next, Agency for Health Care Administration. Next, Pocket Guide to Intravenous Therapy, Third Edition, La Roca et al, Mosby, Baltimore, MD 1997. Next, Intravenous Therapy: Clinical Principal and Practice, Terry et al, W.B.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Vein — continued. First, Saunders Company, Philadelphia, PA, 1995. Next, American Heritage Dictionary, Second College Edition, Houghton Mifflin Company, Boston, MA 1976.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009d6c6b4e41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57ed3b694c45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4ccd45437e4b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324f59469549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e9f1b27c9d45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de30657ab347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1C019E-1796-4850-80CA-B1FF7FDD5D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A6C310-49A5-4490-98AB-E44A2F3C91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241856-C525-43EF-96C7-36F15FEB26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E7AE78-7563-45F8-AD4C-D275874782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16D3C7D-13AE-4A33-AC22-43CFCCB00A6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4306E8-F0E7-4A27-8678-BF98802D9D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A2F638-F8E5-428E-B1C1-4E0A01CCA1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2411F5-B75E-4471-9743-6E4EDE9A17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2FC187-B2A3-4B59-A067-1F69C8ECEF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7992F1-BCD4-496D-B823-C84D8BB6C6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b55cff02ec40e8" /><Relationship Type="http://schemas.openxmlformats.org/officeDocument/2006/relationships/slideLayout" Target="/ppt/slideLayouts/slideLayout1.xml" Id="Rfd5f624c805b458d" /><Relationship Type="http://schemas.openxmlformats.org/officeDocument/2006/relationships/slideLayout" Target="/ppt/slideLayouts/slideLayout2.xml" Id="R5ce4ecef5d5d48ce" /><Relationship Type="http://schemas.openxmlformats.org/officeDocument/2006/relationships/slideLayout" Target="/ppt/slideLayouts/slideLayout3.xml" Id="Raa60dee2181f4090" /><Relationship Type="http://schemas.openxmlformats.org/officeDocument/2006/relationships/slideLayout" Target="/ppt/slideLayouts/slideLayout4.xml" Id="R84967145d1444933" /><Relationship Type="http://schemas.openxmlformats.org/officeDocument/2006/relationships/slideLayout" Target="/ppt/slideLayouts/slideLayout5.xml" Id="Rb5cfa5d142824cf2" /><Relationship Type="http://schemas.openxmlformats.org/officeDocument/2006/relationships/slideLayout" Target="/ppt/slideLayouts/slideLayout6.xml" Id="Rc8b13ed295b641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f624c805b458d"/>
    <p:sldLayoutId xmlns:r="http://schemas.openxmlformats.org/officeDocument/2006/relationships" id="2147483650" r:id="R5ce4ecef5d5d48ce"/>
    <p:sldLayoutId xmlns:r="http://schemas.openxmlformats.org/officeDocument/2006/relationships" id="2147483651" r:id="Raa60dee2181f4090"/>
    <p:sldLayoutId xmlns:r="http://schemas.openxmlformats.org/officeDocument/2006/relationships" id="2147483652" r:id="R84967145d1444933"/>
    <p:sldLayoutId xmlns:r="http://schemas.openxmlformats.org/officeDocument/2006/relationships" id="2147483653" r:id="Rb5cfa5d142824cf2"/>
    <p:sldLayoutId xmlns:r="http://schemas.openxmlformats.org/officeDocument/2006/relationships" id="2147483654" r:id="Rc8b13ed295b641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cfb4f4eb48498d" /><Relationship Type="http://schemas.openxmlformats.org/officeDocument/2006/relationships/notesSlide" Target="/ppt/notesSlides/notesSlide1.xml" Id="R24e71744cfcd41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7649af135b4ce1" /><Relationship Type="http://schemas.openxmlformats.org/officeDocument/2006/relationships/notesSlide" Target="/ppt/notesSlides/notesSlide2.xml" Id="Rb5ea9ee589e249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938f38d7ab4ca9" /><Relationship Type="http://schemas.openxmlformats.org/officeDocument/2006/relationships/notesSlide" Target="/ppt/notesSlides/notesSlide3.xml" Id="Rcbe799f1efc446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d0a0a72d754e42" /><Relationship Type="http://schemas.openxmlformats.org/officeDocument/2006/relationships/notesSlide" Target="/ppt/notesSlides/notesSlide4.xml" Id="R54780d278a7f4a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e448bcb9664ae4" /><Relationship Type="http://schemas.openxmlformats.org/officeDocument/2006/relationships/notesSlide" Target="/ppt/notesSlides/notesSlide5.xml" Id="R7beb36ca982e48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b61d9860113493a" /><Relationship Type="http://schemas.openxmlformats.org/officeDocument/2006/relationships/notesSlide" Target="/ppt/notesSlides/notesSlide6.xml" Id="R79485bba732b45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acbde4af4745c9" /><Relationship Type="http://schemas.openxmlformats.org/officeDocument/2006/relationships/notesSlide" Target="/ppt/notesSlides/notesSlide7.xml" Id="Rd57f54e1451345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1ba4537e4b4c81" /><Relationship Type="http://schemas.openxmlformats.org/officeDocument/2006/relationships/notesSlide" Target="/ppt/notesSlides/notesSlide8.xml" Id="R47387ae68e5648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089c77c74247e8" /><Relationship Type="http://schemas.openxmlformats.org/officeDocument/2006/relationships/notesSlide" Target="/ppt/notesSlides/notesSlide9.xml" Id="R29e64cf3d4294f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57a6ea3fde4cfc" /><Relationship Type="http://schemas.openxmlformats.org/officeDocument/2006/relationships/notesSlide" Target="/ppt/notesSlides/notesSlide10.xml" Id="R32dbb0d48ba341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74d980c9dd4738" /><Relationship Type="http://schemas.openxmlformats.org/officeDocument/2006/relationships/notesSlide" Target="/ppt/notesSlides/notesSlide11.xml" Id="R7c16dcdae00b4b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f8de98daa24aab" /><Relationship Type="http://schemas.openxmlformats.org/officeDocument/2006/relationships/notesSlide" Target="/ppt/notesSlides/notesSlide12.xml" Id="Rd4968a4eedeb46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dfd248a141541e0" /><Relationship Type="http://schemas.openxmlformats.org/officeDocument/2006/relationships/notesSlide" Target="/ppt/notesSlides/notesSlide13.xml" Id="R1018d5d8b8cb4a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a26d7092cc0454e" /><Relationship Type="http://schemas.openxmlformats.org/officeDocument/2006/relationships/notesSlide" Target="/ppt/notesSlides/notesSlide14.xml" Id="R9ca1f3c07b1b43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7302a33b0914e7c" /><Relationship Type="http://schemas.openxmlformats.org/officeDocument/2006/relationships/notesSlide" Target="/ppt/notesSlides/notesSlide15.xml" Id="Re227029d7d6142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a02959b81cf4b0f" /><Relationship Type="http://schemas.openxmlformats.org/officeDocument/2006/relationships/notesSlide" Target="/ppt/notesSlides/notesSlide16.xml" Id="R1cba16f91c624b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d8f63b4fa14edb" /><Relationship Type="http://schemas.openxmlformats.org/officeDocument/2006/relationships/notesSlide" Target="/ppt/notesSlides/notesSlide17.xml" Id="R3e091d92076e41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2a6af32238c4f69" /><Relationship Type="http://schemas.openxmlformats.org/officeDocument/2006/relationships/notesSlide" Target="/ppt/notesSlides/notesSlide18.xml" Id="R72377ccaf7b741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9a4e951a5fb4e84" /><Relationship Type="http://schemas.openxmlformats.org/officeDocument/2006/relationships/notesSlide" Target="/ppt/notesSlides/notesSlide19.xml" Id="R0b764c38da2c4c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e38cb786a16472f" /><Relationship Type="http://schemas.openxmlformats.org/officeDocument/2006/relationships/notesSlide" Target="/ppt/notesSlides/notesSlide20.xml" Id="R9832fc8cc9a445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a3d7ab748b94b86" /><Relationship Type="http://schemas.openxmlformats.org/officeDocument/2006/relationships/notesSlide" Target="/ppt/notesSlides/notesSlide21.xml" Id="Rf48a100d6c154b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5c067d3d23c486d" /><Relationship Type="http://schemas.openxmlformats.org/officeDocument/2006/relationships/notesSlide" Target="/ppt/notesSlides/notesSlide22.xml" Id="R3d09bccff4914d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dfa5ab0af8d4aa8" /><Relationship Type="http://schemas.openxmlformats.org/officeDocument/2006/relationships/notesSlide" Target="/ppt/notesSlides/notesSlide23.xml" Id="R7714f34752fc46c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522036b7ab04c58" /><Relationship Type="http://schemas.openxmlformats.org/officeDocument/2006/relationships/notesSlide" Target="/ppt/notesSlides/notesSlide24.xml" Id="Rbe4615b55a8f466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233d6c44b504c73" /><Relationship Type="http://schemas.openxmlformats.org/officeDocument/2006/relationships/notesSlide" Target="/ppt/notesSlides/notesSlide25.xml" Id="R5231fc6fbf40443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36baba3de7540c1" /><Relationship Type="http://schemas.openxmlformats.org/officeDocument/2006/relationships/notesSlide" Target="/ppt/notesSlides/notesSlide26.xml" Id="Rc66b92335d4043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cb46ce6b0de4a5a" /><Relationship Type="http://schemas.openxmlformats.org/officeDocument/2006/relationships/notesSlide" Target="/ppt/notesSlides/notesSlide27.xml" Id="Rae308fa8800443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9ee10a88e5d412c" /><Relationship Type="http://schemas.openxmlformats.org/officeDocument/2006/relationships/notesSlide" Target="/ppt/notesSlides/notesSlide28.xml" Id="R0db71ff093dd46b3"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8F7AE3-EE28-4FFC-8B98-28F6B6612E1A}"/>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348739C-240D-4F42-A4AB-C8CA8D1DD531}"/>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C20B242C-15E5-401D-9D2B-3C15BCD20AB0}"/>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Patient Education and Support</a:t>
            </a:r>
          </a:p>
        </p:txBody>
      </p:sp>
      <p:sp>
        <p:nvSpPr>
          <p:cNvPr id="4" name="">
            <a:extLst xmlns:a="http://schemas.openxmlformats.org/drawingml/2006/main">
              <a:ext uri="{FF2B5EF4-FFF2-40B4-BE49-F238E27FC236}">
                <a16:creationId xmlns:a16="http://schemas.microsoft.com/office/drawing/2014/main" id="{04FF738D-2A2E-4F1B-AD5E-12800E579EAA}"/>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2  |  30-Hour Basic Intravenous Therapy</a:t>
            </a:r>
          </a:p>
        </p:txBody>
      </p:sp>
      <p:sp>
        <p:nvSpPr>
          <p:cNvPr id="5" name="">
            <a:extLst xmlns:a="http://schemas.openxmlformats.org/drawingml/2006/main">
              <a:ext uri="{FF2B5EF4-FFF2-40B4-BE49-F238E27FC236}">
                <a16:creationId xmlns:a16="http://schemas.microsoft.com/office/drawing/2014/main" id="{1728320C-55AF-4276-AE5E-4E3E0975BF5C}"/>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327178664"/>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10321F-54AC-48E3-ACCC-CBEB3F36F8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817D97-F562-44FB-9CF0-3647CA4286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A3318A55-D22A-4682-8423-8E4BEC2E12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916030D-82A9-41D7-A5FC-EE36584AAB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AC3A921-5773-4E23-8017-683AC36111B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64497794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6F440B-462B-45F1-9101-8E7949E9A2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7D9FBE-C829-4317-8B84-C837899C1C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3" name="">
            <a:extLst xmlns:a="http://schemas.openxmlformats.org/drawingml/2006/main">
              <a:ext uri="{FF2B5EF4-FFF2-40B4-BE49-F238E27FC236}">
                <a16:creationId xmlns:a16="http://schemas.microsoft.com/office/drawing/2014/main" id="{2B0080CB-831E-4231-B170-808B0B0D32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8724F3F-9B72-49E4-B1D1-7EAD494E4B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C109BDF-8553-4370-BEF4-7ABE388099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6" name="">
            <a:extLst xmlns:a="http://schemas.openxmlformats.org/drawingml/2006/main">
              <a:ext uri="{FF2B5EF4-FFF2-40B4-BE49-F238E27FC236}">
                <a16:creationId xmlns:a16="http://schemas.microsoft.com/office/drawing/2014/main" id="{22F0CCC5-7ACB-4C5D-9B32-2F2C7B8C58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845795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5FC6D9-F25C-4EB0-8E16-E46F361697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A0CC450-87C3-4958-8649-B30FF400C9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3" name="">
            <a:extLst xmlns:a="http://schemas.openxmlformats.org/drawingml/2006/main">
              <a:ext uri="{FF2B5EF4-FFF2-40B4-BE49-F238E27FC236}">
                <a16:creationId xmlns:a16="http://schemas.microsoft.com/office/drawing/2014/main" id="{551BC309-78B5-4321-8FA3-1B39FAF090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95546DF3-A5D4-48EE-80E2-2E7E876343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785E70BF-5109-4D6C-838C-112F453C210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6" name="">
            <a:extLst xmlns:a="http://schemas.openxmlformats.org/drawingml/2006/main">
              <a:ext uri="{FF2B5EF4-FFF2-40B4-BE49-F238E27FC236}">
                <a16:creationId xmlns:a16="http://schemas.microsoft.com/office/drawing/2014/main" id="{2BB02C8E-78E9-4376-B1BC-6BEA9F1AA3B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2548927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C4248F-8914-42C1-8ED5-A627CDD266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31282FB-628A-4484-AF57-22F2763D41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3" name="">
            <a:extLst xmlns:a="http://schemas.openxmlformats.org/drawingml/2006/main">
              <a:ext uri="{FF2B5EF4-FFF2-40B4-BE49-F238E27FC236}">
                <a16:creationId xmlns:a16="http://schemas.microsoft.com/office/drawing/2014/main" id="{37A56162-BB53-4818-A959-1FE9E62F7C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95C6432-03F3-42DD-8F00-7A667DCA1C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C42A9EFF-5A63-4535-880A-5D8D4D9832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6" name="">
            <a:extLst xmlns:a="http://schemas.openxmlformats.org/drawingml/2006/main">
              <a:ext uri="{FF2B5EF4-FFF2-40B4-BE49-F238E27FC236}">
                <a16:creationId xmlns:a16="http://schemas.microsoft.com/office/drawing/2014/main" id="{A3335674-D4BF-4ED7-89C4-67707D9C99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34437891"/>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9D9122-DC0C-4BC3-B33B-09538F8CAD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890689-CC9E-4BEB-A6B6-2812A2C074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3" name="">
            <a:extLst xmlns:a="http://schemas.openxmlformats.org/drawingml/2006/main">
              <a:ext uri="{FF2B5EF4-FFF2-40B4-BE49-F238E27FC236}">
                <a16:creationId xmlns:a16="http://schemas.microsoft.com/office/drawing/2014/main" id="{F84753CA-7025-48B3-8150-D9A9FD4C53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134FE7E8-A874-44F1-B5DB-8C76425E92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2FD5000E-CE7C-461E-9CB8-F81F870F5B8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C8F622E9-D409-4335-9593-EBBEDD5A07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1784032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A5F98D-7B9C-4F64-80BE-E86640E8AE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03B84A-09FE-4480-98C5-2D58894377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Circulation, Veins, and Peripheral Site Selection 1</a:t>
            </a:r>
          </a:p>
        </p:txBody>
      </p:sp>
      <p:sp>
        <p:nvSpPr>
          <p:cNvPr id="3" name="">
            <a:extLst xmlns:a="http://schemas.openxmlformats.org/drawingml/2006/main">
              <a:ext uri="{FF2B5EF4-FFF2-40B4-BE49-F238E27FC236}">
                <a16:creationId xmlns:a16="http://schemas.microsoft.com/office/drawing/2014/main" id="{ACC0AC61-296F-46D0-8195-9F523FF2E7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A3430D6E-EAA6-4C85-A132-80509E7CAF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C4E3BF8-C24C-40DC-A483-944699F3DB5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Veins return blood to the heart at lower pressure, have thinner walls than arteries, and often contain valves.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Superficial veins of the hand and forearm are commonly considered for peripheral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clinically appropriate so proximal sites remain available.</a:t>
            </a:r>
          </a:p>
        </p:txBody>
      </p:sp>
      <p:sp>
        <p:nvSpPr>
          <p:cNvPr id="6" name="">
            <a:extLst xmlns:a="http://schemas.openxmlformats.org/drawingml/2006/main">
              <a:ext uri="{FF2B5EF4-FFF2-40B4-BE49-F238E27FC236}">
                <a16:creationId xmlns:a16="http://schemas.microsoft.com/office/drawing/2014/main" id="{3E0864DC-75F0-4D9A-974F-A789FB46CE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3528966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8EC7ED-1905-4666-A4E4-2C42CD2AE9D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6DF58D8-C0CC-4282-8A37-7AF9D6F119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Circulation, Veins, and Peripheral Site Selection 2</a:t>
            </a:r>
          </a:p>
        </p:txBody>
      </p:sp>
      <p:sp>
        <p:nvSpPr>
          <p:cNvPr id="3" name="">
            <a:extLst xmlns:a="http://schemas.openxmlformats.org/drawingml/2006/main">
              <a:ext uri="{FF2B5EF4-FFF2-40B4-BE49-F238E27FC236}">
                <a16:creationId xmlns:a16="http://schemas.microsoft.com/office/drawing/2014/main" id="{F927E4FF-B324-493A-9389-C903DF8699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0210960-E3DE-4D99-BA21-26A06A52A2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3815B5AA-8C4F-4998-8E45-83F02569176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Assess both extremities for vein visibility, palpability, direction, depth, resilience, and nearby joints.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smallest suitable catheter and shortest suitable length to the prescribed therapy, anticipated duration, vein, patient age, and condition.</a:t>
            </a:r>
          </a:p>
        </p:txBody>
      </p:sp>
      <p:sp>
        <p:nvSpPr>
          <p:cNvPr id="6" name="">
            <a:extLst xmlns:a="http://schemas.openxmlformats.org/drawingml/2006/main">
              <a:ext uri="{FF2B5EF4-FFF2-40B4-BE49-F238E27FC236}">
                <a16:creationId xmlns:a16="http://schemas.microsoft.com/office/drawing/2014/main" id="{7B462F0B-DDFB-439A-A6EC-3C739B44E5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4164825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8B989C-549F-4CBC-A472-207EE08301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995323-B536-4DEE-A845-24B622A339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Circulation, Veins, and Peripheral Site Selection 3</a:t>
            </a:r>
          </a:p>
        </p:txBody>
      </p:sp>
      <p:sp>
        <p:nvSpPr>
          <p:cNvPr id="3" name="">
            <a:extLst xmlns:a="http://schemas.openxmlformats.org/drawingml/2006/main">
              <a:ext uri="{FF2B5EF4-FFF2-40B4-BE49-F238E27FC236}">
                <a16:creationId xmlns:a16="http://schemas.microsoft.com/office/drawing/2014/main" id="{D79ACD46-0E14-4CDD-870B-CA85234D39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4018B81-04F2-4156-A182-9F94B24B86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A3589094-F55F-475E-9325-973972D0AE0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or seek explicit direction for sites affected by infection, burns, impaired circulation or sensation, prior infiltration/phlebitis, dialysis access, lymph-node dissection, paralysis, or other contraindications.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Lower-extremity and special-population access must follow current policy and orders.</a:t>
            </a:r>
          </a:p>
        </p:txBody>
      </p:sp>
      <p:sp>
        <p:nvSpPr>
          <p:cNvPr id="6" name="">
            <a:extLst xmlns:a="http://schemas.openxmlformats.org/drawingml/2006/main">
              <a:ext uri="{FF2B5EF4-FFF2-40B4-BE49-F238E27FC236}">
                <a16:creationId xmlns:a16="http://schemas.microsoft.com/office/drawing/2014/main" id="{8443D134-FA34-4F98-890B-466D336C89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6870950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474EE5-B7EF-4CC4-A436-1418DF9390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E9A088-0C75-461F-B8EA-8BDA77EC57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Patient-centered preparation</a:t>
            </a:r>
          </a:p>
        </p:txBody>
      </p:sp>
      <p:sp>
        <p:nvSpPr>
          <p:cNvPr id="3" name="">
            <a:extLst xmlns:a="http://schemas.openxmlformats.org/drawingml/2006/main">
              <a:ext uri="{FF2B5EF4-FFF2-40B4-BE49-F238E27FC236}">
                <a16:creationId xmlns:a16="http://schemas.microsoft.com/office/drawing/2014/main" id="{E7416689-9D77-4FAD-9125-07C26FAB3A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CD37377F-40C6-4392-80BF-A5C958B83E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0F24BCFE-CF01-458D-AB4E-534B24C6E8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and steps, obtain cooperation, address anxiety, preserve privacy, position comfortably, and honor the patient's right to ask questions or refuse.</a:t>
            </a:r>
          </a:p>
        </p:txBody>
      </p:sp>
      <p:sp>
        <p:nvSpPr>
          <p:cNvPr id="6" name="">
            <a:extLst xmlns:a="http://schemas.openxmlformats.org/drawingml/2006/main">
              <a:ext uri="{FF2B5EF4-FFF2-40B4-BE49-F238E27FC236}">
                <a16:creationId xmlns:a16="http://schemas.microsoft.com/office/drawing/2014/main" id="{3F7A24B4-4A6D-41C1-ADA3-C66F031784A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4111358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1A098E-918F-4F2E-ADE4-889BAD2FF3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B90E15-12B1-488A-B96A-AD81AEFC5B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Documentation, Patient Teaching, and Lab Readiness 1</a:t>
            </a:r>
          </a:p>
        </p:txBody>
      </p:sp>
      <p:sp>
        <p:nvSpPr>
          <p:cNvPr id="3" name="">
            <a:extLst xmlns:a="http://schemas.openxmlformats.org/drawingml/2006/main">
              <a:ext uri="{FF2B5EF4-FFF2-40B4-BE49-F238E27FC236}">
                <a16:creationId xmlns:a16="http://schemas.microsoft.com/office/drawing/2014/main" id="{2D61156F-2E74-4ADC-ACEB-924E210371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61E59F7-2A07-4CF7-8E98-2EF6FAB980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346B9F38-302B-4289-AFAB-9111FE0BF8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the order verification, date/time, indication, site/side, vein when required, device type/gauge/length, number of attempts and inserter, antiseptic, dressing/securement, patency, solution/medication/rate, pump settings, patient tolerance/teaching, assessments, complications, actions, notifications, and response.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discontinuation and catheter integrity.</a:t>
            </a:r>
          </a:p>
        </p:txBody>
      </p:sp>
      <p:sp>
        <p:nvSpPr>
          <p:cNvPr id="6" name="">
            <a:extLst xmlns:a="http://schemas.openxmlformats.org/drawingml/2006/main">
              <a:ext uri="{FF2B5EF4-FFF2-40B4-BE49-F238E27FC236}">
                <a16:creationId xmlns:a16="http://schemas.microsoft.com/office/drawing/2014/main" id="{31C74417-7518-47AD-88BB-0DA870216E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4120379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54AB7D-C1FC-4A04-AD1C-564164717D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2F07D0-B89B-4344-ABB8-D55559A8E6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Documentation, Patient Teaching, and Lab Readiness 2</a:t>
            </a:r>
          </a:p>
        </p:txBody>
      </p:sp>
      <p:sp>
        <p:nvSpPr>
          <p:cNvPr id="3" name="">
            <a:extLst xmlns:a="http://schemas.openxmlformats.org/drawingml/2006/main">
              <a:ext uri="{FF2B5EF4-FFF2-40B4-BE49-F238E27FC236}">
                <a16:creationId xmlns:a16="http://schemas.microsoft.com/office/drawing/2014/main" id="{6AEF38F2-7810-49C0-8451-F3FC1A4D48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1D3887F0-439A-497C-8998-654E8ED0E5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71E85DBB-884E-44A9-97E9-9345204109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Teach the patient to protect the device and report pain, burning, wetness, leaking, swelling, redness, warmth, coolness, tightness, bleeding, pump alarms, fever/chills, shortness of breath, rash, or other new symptoms.</a:t>
            </a:r>
          </a:p>
        </p:txBody>
      </p:sp>
      <p:sp>
        <p:nvSpPr>
          <p:cNvPr id="6" name="">
            <a:extLst xmlns:a="http://schemas.openxmlformats.org/drawingml/2006/main">
              <a:ext uri="{FF2B5EF4-FFF2-40B4-BE49-F238E27FC236}">
                <a16:creationId xmlns:a16="http://schemas.microsoft.com/office/drawing/2014/main" id="{702DC971-D279-4903-80D3-44D6283529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1782110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BCDFDB-3B72-4D3B-8D3E-5C18D331142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04790D0-97D7-40EE-9B97-19837BE56F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Pre-lab mental rehearsal</a:t>
            </a:r>
          </a:p>
        </p:txBody>
      </p:sp>
      <p:sp>
        <p:nvSpPr>
          <p:cNvPr id="3" name="">
            <a:extLst xmlns:a="http://schemas.openxmlformats.org/drawingml/2006/main">
              <a:ext uri="{FF2B5EF4-FFF2-40B4-BE49-F238E27FC236}">
                <a16:creationId xmlns:a16="http://schemas.microsoft.com/office/drawing/2014/main" id="{BB77DE46-F24F-4B95-BBF9-0D5B2716600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9C8BCE37-27F3-4706-B242-59058D1C24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815C587A-E27D-4AB4-A163-D37A7FA6D7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deliberate pause before every procedure: correct patient, order, therapy, access, equipment, infection-control plan, calculation, emergency plan, and documentation.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 lab, verbalize each safety check and stop immediately if a critical element is missed.</a:t>
            </a:r>
          </a:p>
        </p:txBody>
      </p:sp>
      <p:sp>
        <p:nvSpPr>
          <p:cNvPr id="6" name="">
            <a:extLst xmlns:a="http://schemas.openxmlformats.org/drawingml/2006/main">
              <a:ext uri="{FF2B5EF4-FFF2-40B4-BE49-F238E27FC236}">
                <a16:creationId xmlns:a16="http://schemas.microsoft.com/office/drawing/2014/main" id="{4629D0E6-77C0-4362-B6BE-C659F7CC66F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24493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B57971-3DCD-445E-96C9-8DBE106BF0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C4D2F5-8B56-4BBD-86A7-77C4566C32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Education in the Administration of IV Therapy</a:t>
            </a:r>
          </a:p>
        </p:txBody>
      </p:sp>
      <p:sp>
        <p:nvSpPr>
          <p:cNvPr id="3" name="">
            <a:extLst xmlns:a="http://schemas.openxmlformats.org/drawingml/2006/main">
              <a:ext uri="{FF2B5EF4-FFF2-40B4-BE49-F238E27FC236}">
                <a16:creationId xmlns:a16="http://schemas.microsoft.com/office/drawing/2014/main" id="{451D1DBF-47C5-4BC1-AC42-D81DCDAF6E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0175DF27-2252-4CDD-86E8-554793FBC8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5B2CE475-6924-4822-AC3C-4AE24410EF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MODULE 2 Module Objectives At the conclusion of this self-learning module, the learner will be able to: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State the nursing actions which will relieve patient's anxiety towards IV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Identify patient needs for education regarding IV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nursing actions which will help patient cope with IV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State nursing actions which show compassion for the patient.</a:t>
            </a:r>
          </a:p>
        </p:txBody>
      </p:sp>
      <p:sp>
        <p:nvSpPr>
          <p:cNvPr id="6" name="">
            <a:extLst xmlns:a="http://schemas.openxmlformats.org/drawingml/2006/main">
              <a:ext uri="{FF2B5EF4-FFF2-40B4-BE49-F238E27FC236}">
                <a16:creationId xmlns:a16="http://schemas.microsoft.com/office/drawing/2014/main" id="{DF4DE7B3-E02F-4CDF-A8CF-13B078EAB54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ACE400C-C628-4FC0-A99C-8AA5058BBB0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13</a:t>
            </a:r>
          </a:p>
        </p:txBody>
      </p:sp>
    </p:spTree>
    <p:extLst>
      <p:ext uri="{BB962C8B-B14F-4D97-AF65-F5344CB8AC3E}">
        <p14:creationId xmlns:p14="http://schemas.microsoft.com/office/powerpoint/2010/main" val="1059211187"/>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493473-8318-4BD9-9BF9-0CEFA22E74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00A270-083F-4272-A36E-521E8B7176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Education in the Administration of IV Therapy — continued</a:t>
            </a:r>
          </a:p>
        </p:txBody>
      </p:sp>
      <p:sp>
        <p:nvSpPr>
          <p:cNvPr id="3" name="">
            <a:extLst xmlns:a="http://schemas.openxmlformats.org/drawingml/2006/main">
              <a:ext uri="{FF2B5EF4-FFF2-40B4-BE49-F238E27FC236}">
                <a16:creationId xmlns:a16="http://schemas.microsoft.com/office/drawing/2014/main" id="{75AFA316-A83C-40D1-B2C7-71F505F3B3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234635F2-6518-4E67-9A47-7786AE90FD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30EC6E02-B53E-4A6A-9E07-FFB67B44E8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Unit Outline Scope of IV Therapy Delivery of Solutions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Medications and Blood Products Techniques for Administration of IV Therapy Direct Access to Circulation Technical Skills Patient Centered Care Assessment of Physical and Emotional State Patient/Family Attitudes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Recognition of Anxiety Elderly Patients Nursing Interventions Preparation Patient/Family Teaching Technical Expertise Documentation Glossary Bibliography</a:t>
            </a:r>
          </a:p>
        </p:txBody>
      </p:sp>
      <p:sp>
        <p:nvSpPr>
          <p:cNvPr id="6" name="">
            <a:extLst xmlns:a="http://schemas.openxmlformats.org/drawingml/2006/main">
              <a:ext uri="{FF2B5EF4-FFF2-40B4-BE49-F238E27FC236}">
                <a16:creationId xmlns:a16="http://schemas.microsoft.com/office/drawing/2014/main" id="{352EEFDD-B835-435F-BF89-D6036E897C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B57627-FEF2-4394-9B6A-69CF8E63C6C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13</a:t>
            </a:r>
          </a:p>
        </p:txBody>
      </p:sp>
    </p:spTree>
    <p:extLst>
      <p:ext uri="{BB962C8B-B14F-4D97-AF65-F5344CB8AC3E}">
        <p14:creationId xmlns:p14="http://schemas.microsoft.com/office/powerpoint/2010/main" val="1693877941"/>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CD0C03-083B-4697-8401-507E8803B2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8779A7-A149-4D24-8B18-92D62AE556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of IV Therapy</a:t>
            </a:r>
          </a:p>
        </p:txBody>
      </p:sp>
      <p:sp>
        <p:nvSpPr>
          <p:cNvPr id="3" name="">
            <a:extLst xmlns:a="http://schemas.openxmlformats.org/drawingml/2006/main">
              <a:ext uri="{FF2B5EF4-FFF2-40B4-BE49-F238E27FC236}">
                <a16:creationId xmlns:a16="http://schemas.microsoft.com/office/drawing/2014/main" id="{29CC2152-968B-4AAF-9FD9-BF5B6399DA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C128329-47B8-442F-B758-E19D85A2E1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7A37A1A6-CF0A-46A9-9ACB-2F4A282B3F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Intravenous Therapy is used for the administration of a wide variety of solutions, medications, and blood products.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a very complex area of practice which challenges the nurse in attaining and maintaining clinical competency 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Methods of Delivery *Dosages *Selection of Equipment *Operation of Equipment *Troubleshooting Catheters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Tubing, and Equipment Techniques for administration of IV Therapy IV administration provides direct access to the patient's body circulation.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advantage of immediate action is also a disadvantage should an error be made in amount, dosage, rate or method of delivery.</a:t>
            </a:r>
          </a:p>
        </p:txBody>
      </p:sp>
      <p:sp>
        <p:nvSpPr>
          <p:cNvPr id="6" name="">
            <a:extLst xmlns:a="http://schemas.openxmlformats.org/drawingml/2006/main">
              <a:ext uri="{FF2B5EF4-FFF2-40B4-BE49-F238E27FC236}">
                <a16:creationId xmlns:a16="http://schemas.microsoft.com/office/drawing/2014/main" id="{E86AF3C1-38CF-45B2-B537-D2F7E13E711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FFC2B30-3F89-4699-9E51-F7471CDA55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14</a:t>
            </a:r>
          </a:p>
        </p:txBody>
      </p:sp>
    </p:spTree>
    <p:extLst>
      <p:ext uri="{BB962C8B-B14F-4D97-AF65-F5344CB8AC3E}">
        <p14:creationId xmlns:p14="http://schemas.microsoft.com/office/powerpoint/2010/main" val="1360565524"/>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97092F-505F-494D-AF42-10AB4D8527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F0166D-27BA-499A-BC6E-697BAE857D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of IV Therapy — continued</a:t>
            </a:r>
          </a:p>
        </p:txBody>
      </p:sp>
      <p:sp>
        <p:nvSpPr>
          <p:cNvPr id="3" name="">
            <a:extLst xmlns:a="http://schemas.openxmlformats.org/drawingml/2006/main">
              <a:ext uri="{FF2B5EF4-FFF2-40B4-BE49-F238E27FC236}">
                <a16:creationId xmlns:a16="http://schemas.microsoft.com/office/drawing/2014/main" id="{243679DC-19CB-4B3F-907E-593A78EEE5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292AA4C-64C5-425B-A1D5-6E6AAD36D9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4DD50C49-6949-4438-9737-29B198B8EC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IV therapy is an invasive therapy which also offers a risk of life-threatening infection.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IV therapy is not an isolated technical skill but combines cognitive and intuitive skills of the nurse in interpreting, evaluating, and acting on behalf of the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 centered nursing care in the administration of IV therapy includes: observation, assessment, knowledge of the patients overall condition, and disease process.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 education as part of nursing action meets the patient's right to know.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Accurate information given to the patient prepares him or her to cooperate and participate in therapy.</a:t>
            </a:r>
          </a:p>
        </p:txBody>
      </p:sp>
      <p:sp>
        <p:nvSpPr>
          <p:cNvPr id="6" name="">
            <a:extLst xmlns:a="http://schemas.openxmlformats.org/drawingml/2006/main">
              <a:ext uri="{FF2B5EF4-FFF2-40B4-BE49-F238E27FC236}">
                <a16:creationId xmlns:a16="http://schemas.microsoft.com/office/drawing/2014/main" id="{9F77001D-129A-4A69-B746-9B4AF5D489E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EF15DAA-1166-40C4-920A-7972CD6BC7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14</a:t>
            </a:r>
          </a:p>
        </p:txBody>
      </p:sp>
    </p:spTree>
    <p:extLst>
      <p:ext uri="{BB962C8B-B14F-4D97-AF65-F5344CB8AC3E}">
        <p14:creationId xmlns:p14="http://schemas.microsoft.com/office/powerpoint/2010/main" val="1472708035"/>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A895BE-733A-4B25-8F15-182119D598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948BF8-41CD-4C04-9699-343D798BA9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of IV Therapy — continued</a:t>
            </a:r>
          </a:p>
        </p:txBody>
      </p:sp>
      <p:sp>
        <p:nvSpPr>
          <p:cNvPr id="3" name="">
            <a:extLst xmlns:a="http://schemas.openxmlformats.org/drawingml/2006/main">
              <a:ext uri="{FF2B5EF4-FFF2-40B4-BE49-F238E27FC236}">
                <a16:creationId xmlns:a16="http://schemas.microsoft.com/office/drawing/2014/main" id="{B220C49F-C874-4683-9F4B-14BF4DB38A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83D6742-4D39-4B69-B503-FB623BE786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52A0F38F-E22A-4C78-9E01-E1DBFAF908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therapy is an invasive therapy in which complications may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may have had prior experience with the procedure or received information from friends or family members.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Their level of understanding must be assessed.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 aspects that the patient may fear are: *Pain *Disfigurement *Bruising *Bleeding *Altered Body Image</a:t>
            </a:r>
          </a:p>
        </p:txBody>
      </p:sp>
      <p:sp>
        <p:nvSpPr>
          <p:cNvPr id="6" name="">
            <a:extLst xmlns:a="http://schemas.openxmlformats.org/drawingml/2006/main">
              <a:ext uri="{FF2B5EF4-FFF2-40B4-BE49-F238E27FC236}">
                <a16:creationId xmlns:a16="http://schemas.microsoft.com/office/drawing/2014/main" id="{B23DF245-0E66-4737-9EE0-750C56CBA4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70BF097-C5B0-43BD-8AD7-EB80AF9B10F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14</a:t>
            </a:r>
          </a:p>
        </p:txBody>
      </p:sp>
    </p:spTree>
    <p:extLst>
      <p:ext uri="{BB962C8B-B14F-4D97-AF65-F5344CB8AC3E}">
        <p14:creationId xmlns:p14="http://schemas.microsoft.com/office/powerpoint/2010/main" val="1230535582"/>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47C39E-3C11-44A6-97CB-97F90C2ACA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DF849AF-9A85-4C76-92AA-2179E033758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Centered Care</a:t>
            </a:r>
          </a:p>
        </p:txBody>
      </p:sp>
      <p:sp>
        <p:nvSpPr>
          <p:cNvPr id="3" name="">
            <a:extLst xmlns:a="http://schemas.openxmlformats.org/drawingml/2006/main">
              <a:ext uri="{FF2B5EF4-FFF2-40B4-BE49-F238E27FC236}">
                <a16:creationId xmlns:a16="http://schemas.microsoft.com/office/drawing/2014/main" id="{2BA93B7B-4D26-4C5D-B943-44D6393737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423ECCB-70C9-4028-9695-4AB33F0B12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C673FF3B-05DC-4EAF-B331-50A4C7C1928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caring for the patient receiving IV therapy must initially assess the patient's physical condition and emotional state prior to the administration of IV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RN is responsible for patient assessment and coordinating the delegation of information to the LPN.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assessment includes: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*Patient's attitude *Previous experience *Knowledge level * Ability to cope with painful procedures Observe the patient's body language and facial expressions for overt signs of anxiety (talking more than usual, silence,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crying, trembling, etc.).</a:t>
            </a:r>
          </a:p>
        </p:txBody>
      </p:sp>
      <p:sp>
        <p:nvSpPr>
          <p:cNvPr id="6" name="">
            <a:extLst xmlns:a="http://schemas.openxmlformats.org/drawingml/2006/main">
              <a:ext uri="{FF2B5EF4-FFF2-40B4-BE49-F238E27FC236}">
                <a16:creationId xmlns:a16="http://schemas.microsoft.com/office/drawing/2014/main" id="{A6489BA5-4896-4D40-B4CD-07CE705691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1789A89-CB15-4E6A-A92C-22A6555DDB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15</a:t>
            </a:r>
          </a:p>
        </p:txBody>
      </p:sp>
    </p:spTree>
    <p:extLst>
      <p:ext uri="{BB962C8B-B14F-4D97-AF65-F5344CB8AC3E}">
        <p14:creationId xmlns:p14="http://schemas.microsoft.com/office/powerpoint/2010/main" val="56621554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22B5EC-F03F-4CAA-BEF2-A7EC32A864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C3A16A-88B7-420D-B196-3F7A1CB216C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Centered Care — continued</a:t>
            </a:r>
          </a:p>
        </p:txBody>
      </p:sp>
      <p:sp>
        <p:nvSpPr>
          <p:cNvPr id="3" name="">
            <a:extLst xmlns:a="http://schemas.openxmlformats.org/drawingml/2006/main">
              <a:ext uri="{FF2B5EF4-FFF2-40B4-BE49-F238E27FC236}">
                <a16:creationId xmlns:a16="http://schemas.microsoft.com/office/drawing/2014/main" id="{1F27EE41-5FC4-4BBF-8993-9FCDACB526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0C7ACDD9-EE34-461C-ABAB-8D8B29FA880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7BEF7F64-CDF1-40E2-A386-10F3C9DA54F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Listen to the patient and allow the patient to verbalize their anxieties.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Acknowledgement of the painful nature of some IV procedures, most of which are only briefly painful, should be offered.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calm approach to the patient is always appropriate when questioning the patient as to his or her level of understanding.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Have the patient verbalize what he or she knows about the type of IV therapy ordered and what the patient's expectations are.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Factual answers to patient's questions about risks, and emphasizing careful technique to prevent complications are important.</a:t>
            </a:r>
          </a:p>
        </p:txBody>
      </p:sp>
      <p:sp>
        <p:nvSpPr>
          <p:cNvPr id="6" name="">
            <a:extLst xmlns:a="http://schemas.openxmlformats.org/drawingml/2006/main">
              <a:ext uri="{FF2B5EF4-FFF2-40B4-BE49-F238E27FC236}">
                <a16:creationId xmlns:a16="http://schemas.microsoft.com/office/drawing/2014/main" id="{EC61EDDB-B1BF-4BDF-A568-E11ECE8E67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E38D54A-C0B3-4FE5-8100-E5A7A04375A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15</a:t>
            </a:r>
          </a:p>
        </p:txBody>
      </p:sp>
    </p:spTree>
    <p:extLst>
      <p:ext uri="{BB962C8B-B14F-4D97-AF65-F5344CB8AC3E}">
        <p14:creationId xmlns:p14="http://schemas.microsoft.com/office/powerpoint/2010/main" val="175466291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541CE8-F8C2-49FF-A2F1-9862C34AC3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54C1B4-D61B-4F16-9248-F7867352D96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Centered Care — continued</a:t>
            </a:r>
          </a:p>
        </p:txBody>
      </p:sp>
      <p:sp>
        <p:nvSpPr>
          <p:cNvPr id="3" name="">
            <a:extLst xmlns:a="http://schemas.openxmlformats.org/drawingml/2006/main">
              <a:ext uri="{FF2B5EF4-FFF2-40B4-BE49-F238E27FC236}">
                <a16:creationId xmlns:a16="http://schemas.microsoft.com/office/drawing/2014/main" id="{5C169DE1-D735-487B-8C65-4AFEA76E09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D43FA97-208F-4A2C-80BB-37847971E1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76B430F7-B968-4379-A773-65B21068F8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should give careful explanations of: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*Type of IV Therapy *Length of Therapy *Expected Effects *Any Patient Restrictions Specific instructions should be given the patient regarding what signs and symptoms should be reported to the nurse during the infusion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All explanations should be given, when possible, to family members or friends as well as the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 they can reinforce information and provide support for the patient.</a:t>
            </a:r>
          </a:p>
        </p:txBody>
      </p:sp>
      <p:sp>
        <p:nvSpPr>
          <p:cNvPr id="6" name="">
            <a:extLst xmlns:a="http://schemas.openxmlformats.org/drawingml/2006/main">
              <a:ext uri="{FF2B5EF4-FFF2-40B4-BE49-F238E27FC236}">
                <a16:creationId xmlns:a16="http://schemas.microsoft.com/office/drawing/2014/main" id="{5973D07C-2D73-41B3-BA98-43DB62DCBA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7BCEAE-802C-4147-A393-374B4BAC417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15</a:t>
            </a:r>
          </a:p>
        </p:txBody>
      </p:sp>
    </p:spTree>
    <p:extLst>
      <p:ext uri="{BB962C8B-B14F-4D97-AF65-F5344CB8AC3E}">
        <p14:creationId xmlns:p14="http://schemas.microsoft.com/office/powerpoint/2010/main" val="1315322894"/>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97D765-2926-4252-A9E9-B5067594CF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B900EB-0AAE-4F13-A910-30F9082AA12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Centered Care — continued</a:t>
            </a:r>
          </a:p>
        </p:txBody>
      </p:sp>
      <p:sp>
        <p:nvSpPr>
          <p:cNvPr id="3" name="">
            <a:extLst xmlns:a="http://schemas.openxmlformats.org/drawingml/2006/main">
              <a:ext uri="{FF2B5EF4-FFF2-40B4-BE49-F238E27FC236}">
                <a16:creationId xmlns:a16="http://schemas.microsoft.com/office/drawing/2014/main" id="{9AFB293A-9CB4-4EBA-81AB-E934964C8B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90036BC0-D49D-404E-B071-93744CAA03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EF5B4BF6-8101-40CE-9E08-B74A30ADB8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cases in which the patient will be going home with some form if IV therapy, for example a Hickman catheter or an implanted infusion port, detailed information, verbal and written, must be given for those procedures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and/or family will be performing.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Careful coordination with the home health care team is essential for smooth transition from inpatient to home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meticulous technique necessary for the prevention of infection and other complications requires instruction and demonstration by the nurse and return demonstration by the patient or caregivers.</a:t>
            </a:r>
          </a:p>
        </p:txBody>
      </p:sp>
      <p:sp>
        <p:nvSpPr>
          <p:cNvPr id="6" name="">
            <a:extLst xmlns:a="http://schemas.openxmlformats.org/drawingml/2006/main">
              <a:ext uri="{FF2B5EF4-FFF2-40B4-BE49-F238E27FC236}">
                <a16:creationId xmlns:a16="http://schemas.microsoft.com/office/drawing/2014/main" id="{4DBEAABE-E34A-4DA7-8AD9-45BB91693A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AB8183-559B-407F-BD7C-67BDD6FBBB9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15</a:t>
            </a:r>
          </a:p>
        </p:txBody>
      </p:sp>
    </p:spTree>
    <p:extLst>
      <p:ext uri="{BB962C8B-B14F-4D97-AF65-F5344CB8AC3E}">
        <p14:creationId xmlns:p14="http://schemas.microsoft.com/office/powerpoint/2010/main" val="1480953596"/>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44E5FF-A4A9-44A3-8273-EF52C97DE1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9BE6B7-6B4E-4102-99FF-719C067DA2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Centered Care — continued</a:t>
            </a:r>
          </a:p>
        </p:txBody>
      </p:sp>
      <p:sp>
        <p:nvSpPr>
          <p:cNvPr id="3" name="">
            <a:extLst xmlns:a="http://schemas.openxmlformats.org/drawingml/2006/main">
              <a:ext uri="{FF2B5EF4-FFF2-40B4-BE49-F238E27FC236}">
                <a16:creationId xmlns:a16="http://schemas.microsoft.com/office/drawing/2014/main" id="{7A69869A-0584-47B2-8B15-0BCFFA9595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BAD583A3-0316-494D-9F00-08CFAC31A1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3FF7C9B3-38F5-4AC5-8440-1F219AD299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Timely and complete documentation of all procedures and of those solutions and medications given, as well as any side effects or complications of therapy are necessary to provide a clinical and legal record of the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patient's care.</a:t>
            </a:r>
          </a:p>
        </p:txBody>
      </p:sp>
      <p:sp>
        <p:nvSpPr>
          <p:cNvPr id="6" name="">
            <a:extLst xmlns:a="http://schemas.openxmlformats.org/drawingml/2006/main">
              <a:ext uri="{FF2B5EF4-FFF2-40B4-BE49-F238E27FC236}">
                <a16:creationId xmlns:a16="http://schemas.microsoft.com/office/drawing/2014/main" id="{11F9F613-923B-4AA6-98B0-4166DAADF6F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76EED88-4B38-42C3-84D8-372A099D3E1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15</a:t>
            </a:r>
          </a:p>
        </p:txBody>
      </p:sp>
    </p:spTree>
    <p:extLst>
      <p:ext uri="{BB962C8B-B14F-4D97-AF65-F5344CB8AC3E}">
        <p14:creationId xmlns:p14="http://schemas.microsoft.com/office/powerpoint/2010/main" val="939364163"/>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567676-19C5-4942-8CE0-98ACABD93C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B930CD-16BB-4292-BDCC-1649ED0600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Vein</a:t>
            </a:r>
          </a:p>
        </p:txBody>
      </p:sp>
      <p:sp>
        <p:nvSpPr>
          <p:cNvPr id="3" name="">
            <a:extLst xmlns:a="http://schemas.openxmlformats.org/drawingml/2006/main">
              <a:ext uri="{FF2B5EF4-FFF2-40B4-BE49-F238E27FC236}">
                <a16:creationId xmlns:a16="http://schemas.microsoft.com/office/drawing/2014/main" id="{42A8AAF0-5B6A-4AE3-8CEF-49A98A452D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C0DD7AD-2C85-464A-9F86-2548AD0308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DE5F1EC6-2404-40D9-B7BA-23DDC2888E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Glossary Accountable Subject to giving an account: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answerable Deep vein inside chest or neck (not on surface) Policy Definite course or method of action...to guide and determine present and future action Procedure A particular way of acting or accomplishing something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Responsible Able to answer for one's conduct and obligations Rule Prescribed guide for conduct or action Standard Something established by authority, custom, or general consent Scope of practice Extent of (nursing)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practice Module Bibliography Florida Statute 464</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Nursing Florida Board of Nursing</a:t>
            </a:r>
          </a:p>
        </p:txBody>
      </p:sp>
      <p:sp>
        <p:nvSpPr>
          <p:cNvPr id="6" name="">
            <a:extLst xmlns:a="http://schemas.openxmlformats.org/drawingml/2006/main">
              <a:ext uri="{FF2B5EF4-FFF2-40B4-BE49-F238E27FC236}">
                <a16:creationId xmlns:a16="http://schemas.microsoft.com/office/drawing/2014/main" id="{1E0C7C9E-8D15-4EEC-BE5C-FBCEFAA9DD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8E66685-4B18-464B-8DFF-E2605E15B4B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16</a:t>
            </a:r>
          </a:p>
        </p:txBody>
      </p:sp>
    </p:spTree>
    <p:extLst>
      <p:ext uri="{BB962C8B-B14F-4D97-AF65-F5344CB8AC3E}">
        <p14:creationId xmlns:p14="http://schemas.microsoft.com/office/powerpoint/2010/main" val="1576756067"/>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D3FD1C-5C15-4A49-B83E-BB4F968AF8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0B48549-DCCB-45C2-863B-7B0B3E44054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Vein — continued</a:t>
            </a:r>
          </a:p>
        </p:txBody>
      </p:sp>
      <p:sp>
        <p:nvSpPr>
          <p:cNvPr id="3" name="">
            <a:extLst xmlns:a="http://schemas.openxmlformats.org/drawingml/2006/main">
              <a:ext uri="{FF2B5EF4-FFF2-40B4-BE49-F238E27FC236}">
                <a16:creationId xmlns:a16="http://schemas.microsoft.com/office/drawing/2014/main" id="{DAD20415-3F51-4362-AE32-2EDE7DAC73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E98DE3F9-7A27-40B7-9119-50ADCDA547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B8E9B069-2FA9-4643-A9CF-8326669283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Rules 64B9</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Agency for Health Care Administration.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Pocket Guide to Intravenous Therapy, Third Edition, La Roca et al, Mosby, Baltimore, MD 1997.</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Therapy: Clinical Principal and Practice, Terry et al, W.B.</a:t>
            </a:r>
          </a:p>
        </p:txBody>
      </p:sp>
      <p:sp>
        <p:nvSpPr>
          <p:cNvPr id="6" name="">
            <a:extLst xmlns:a="http://schemas.openxmlformats.org/drawingml/2006/main">
              <a:ext uri="{FF2B5EF4-FFF2-40B4-BE49-F238E27FC236}">
                <a16:creationId xmlns:a16="http://schemas.microsoft.com/office/drawing/2014/main" id="{3226F2D3-075F-4FE1-9019-956DCA43CB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F061AD0-96F6-4710-B48B-EED2782406F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16</a:t>
            </a:r>
          </a:p>
        </p:txBody>
      </p:sp>
    </p:spTree>
    <p:extLst>
      <p:ext uri="{BB962C8B-B14F-4D97-AF65-F5344CB8AC3E}">
        <p14:creationId xmlns:p14="http://schemas.microsoft.com/office/powerpoint/2010/main" val="2127714856"/>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AFB7E2-0E1C-459B-AEF1-8E1D7B11FA6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A44A8D-FDCF-442C-AA68-63DC7D8EDA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Vein — continued</a:t>
            </a:r>
          </a:p>
        </p:txBody>
      </p:sp>
      <p:sp>
        <p:nvSpPr>
          <p:cNvPr id="3" name="">
            <a:extLst xmlns:a="http://schemas.openxmlformats.org/drawingml/2006/main">
              <a:ext uri="{FF2B5EF4-FFF2-40B4-BE49-F238E27FC236}">
                <a16:creationId xmlns:a16="http://schemas.microsoft.com/office/drawing/2014/main" id="{34036DCE-A203-4188-A951-092385F8CF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554BFE7B-2875-4BE4-927D-E1DFDA784A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E664D976-8C92-4344-B2D7-C870CAE1FA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Saunders Company, Philadelphia, PA, 1995.</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American Heritage Dictionary, Second College Edition, Houghton Mifflin Company, Boston, MA 1976.</a:t>
            </a:r>
          </a:p>
        </p:txBody>
      </p:sp>
      <p:sp>
        <p:nvSpPr>
          <p:cNvPr id="6" name="">
            <a:extLst xmlns:a="http://schemas.openxmlformats.org/drawingml/2006/main">
              <a:ext uri="{FF2B5EF4-FFF2-40B4-BE49-F238E27FC236}">
                <a16:creationId xmlns:a16="http://schemas.microsoft.com/office/drawing/2014/main" id="{138916B0-43EA-4BAB-85CE-CB4D132334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8CD57C3-7F9D-40DA-8FBC-C0F3A0A604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16</a:t>
            </a:r>
          </a:p>
        </p:txBody>
      </p:sp>
    </p:spTree>
    <p:extLst>
      <p:ext uri="{BB962C8B-B14F-4D97-AF65-F5344CB8AC3E}">
        <p14:creationId xmlns:p14="http://schemas.microsoft.com/office/powerpoint/2010/main" val="734331921"/>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4BD87A-B181-4FFC-AF81-B22C661CBC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4D77A2-E894-4825-AA24-F68702470F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42419D41-2FA8-4293-95CC-879FD926F9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B66844A7-0CBA-47EF-97A2-15430F8523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35507704-0D08-4F5B-A05E-ED0C72CBF5EC}"/>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6" name="">
            <a:extLst xmlns:a="http://schemas.openxmlformats.org/drawingml/2006/main">
              <a:ext uri="{FF2B5EF4-FFF2-40B4-BE49-F238E27FC236}">
                <a16:creationId xmlns:a16="http://schemas.microsoft.com/office/drawing/2014/main" id="{0EE91F2B-98BE-400B-BF51-64B16A264AD1}"/>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58651832"/>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69167C-E3B8-4C55-9F5E-8667EB55B9D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699E6A-13FA-4944-9280-FE6F394795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1FA685E5-F235-440A-8C64-DFD752D42E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CFE04C4-E5FD-4D4F-B5C2-D9DEB3E2D8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E3B41E1E-21B5-49C7-AE42-1B82555C4430}"/>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FC5E89CF-E5C0-40EF-9375-789A66C8B1AD}"/>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531852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2026-10-23T07:15:50.6270000Z</dcterms:created>
  <dcterms:modified xsi:type="dcterms:W3CDTF">2026-10-23T07:15:50.6270000Z</dcterms:modified>
</coreProperties>
</file>