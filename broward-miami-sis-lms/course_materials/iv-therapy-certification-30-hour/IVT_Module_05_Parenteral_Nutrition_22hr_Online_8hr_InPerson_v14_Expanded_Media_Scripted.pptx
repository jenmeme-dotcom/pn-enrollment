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36311ae9d945ed" /><Relationship Type="http://schemas.openxmlformats.org/officeDocument/2006/relationships/extended-properties" Target="/docProps/app.xml" Id="R9e331aaaf67d4c5c" /><Relationship Type="http://schemas.openxmlformats.org/officeDocument/2006/relationships/officeDocument" Target="/ppt/presentation.xml" Id="Reaadf6175eb84ced" /></Relationships>
</file>

<file path=ppt/presentation.xml><?xml version="1.0" encoding="utf-8"?>
<p:presentation xmlns:p="http://schemas.openxmlformats.org/presentationml/2006/main">
  <p:sldMasterIdLst>
    <p:sldMasterId xmlns:r="http://schemas.openxmlformats.org/officeDocument/2006/relationships" id="2147483648" r:id="R8c9317cb653c4c64"/>
  </p:sldMasterIdLst>
  <p:notesMasterIdLst>
    <p:notesMasterId xmlns:r="http://schemas.openxmlformats.org/officeDocument/2006/relationships" r:id="Rc4f19801200d4efb"/>
  </p:notesMasterIdLst>
  <p:sldIdLst>
    <p:sldId xmlns:r="http://schemas.openxmlformats.org/officeDocument/2006/relationships" id="256" r:id="R608d973dc013423f"/>
    <p:sldId xmlns:r="http://schemas.openxmlformats.org/officeDocument/2006/relationships" id="257" r:id="Ref1adc303b724109"/>
    <p:sldId xmlns:r="http://schemas.openxmlformats.org/officeDocument/2006/relationships" id="258" r:id="R15eaaf256c364d7e"/>
    <p:sldId xmlns:r="http://schemas.openxmlformats.org/officeDocument/2006/relationships" id="259" r:id="R0ffbf1ac1f8b4b00"/>
    <p:sldId xmlns:r="http://schemas.openxmlformats.org/officeDocument/2006/relationships" id="260" r:id="R23c4fb65491f4c0b"/>
    <p:sldId xmlns:r="http://schemas.openxmlformats.org/officeDocument/2006/relationships" id="261" r:id="R77d76ddd8f6b48ec"/>
    <p:sldId xmlns:r="http://schemas.openxmlformats.org/officeDocument/2006/relationships" id="262" r:id="Rdd55ead37bab49b3"/>
    <p:sldId xmlns:r="http://schemas.openxmlformats.org/officeDocument/2006/relationships" id="263" r:id="R2807ad47ddb84524"/>
    <p:sldId xmlns:r="http://schemas.openxmlformats.org/officeDocument/2006/relationships" id="264" r:id="Rd0d3fe033b434e89"/>
    <p:sldId xmlns:r="http://schemas.openxmlformats.org/officeDocument/2006/relationships" id="265" r:id="R6e0338a6d00e4ceb"/>
    <p:sldId xmlns:r="http://schemas.openxmlformats.org/officeDocument/2006/relationships" id="266" r:id="R5742bd8cedb942dc"/>
    <p:sldId xmlns:r="http://schemas.openxmlformats.org/officeDocument/2006/relationships" id="267" r:id="R5d247dbefcad45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959300d8f74120" /><Relationship Type="http://schemas.openxmlformats.org/officeDocument/2006/relationships/slideMaster" Target="/ppt/slideMasters/slideMaster1.xml" Id="R8c9317cb653c4c64" /><Relationship Type="http://schemas.openxmlformats.org/officeDocument/2006/relationships/notesMaster" Target="/ppt/notesMasters/notesMaster1.xml" Id="Rc4f19801200d4efb" /><Relationship Type="http://schemas.openxmlformats.org/officeDocument/2006/relationships/presProps" Target="/ppt/presProps.xml" Id="R87994f16abdf40c0" /><Relationship Type="http://schemas.openxmlformats.org/officeDocument/2006/relationships/tableStyles" Target="/ppt/tableStyles.xml" Id="R76f914511e2b4b20" /><Relationship Type="http://schemas.openxmlformats.org/officeDocument/2006/relationships/slide" Target="/ppt/slides/slide1.xml" Id="R608d973dc013423f" /><Relationship Type="http://schemas.openxmlformats.org/officeDocument/2006/relationships/slide" Target="/ppt/slides/slide2.xml" Id="Ref1adc303b724109" /><Relationship Type="http://schemas.openxmlformats.org/officeDocument/2006/relationships/slide" Target="/ppt/slides/slide3.xml" Id="R15eaaf256c364d7e" /><Relationship Type="http://schemas.openxmlformats.org/officeDocument/2006/relationships/slide" Target="/ppt/slides/slide4.xml" Id="R0ffbf1ac1f8b4b00" /><Relationship Type="http://schemas.openxmlformats.org/officeDocument/2006/relationships/slide" Target="/ppt/slides/slide5.xml" Id="R23c4fb65491f4c0b" /><Relationship Type="http://schemas.openxmlformats.org/officeDocument/2006/relationships/slide" Target="/ppt/slides/slide6.xml" Id="R77d76ddd8f6b48ec" /><Relationship Type="http://schemas.openxmlformats.org/officeDocument/2006/relationships/slide" Target="/ppt/slides/slide7.xml" Id="Rdd55ead37bab49b3" /><Relationship Type="http://schemas.openxmlformats.org/officeDocument/2006/relationships/slide" Target="/ppt/slides/slide8.xml" Id="R2807ad47ddb84524" /><Relationship Type="http://schemas.openxmlformats.org/officeDocument/2006/relationships/slide" Target="/ppt/slides/slide9.xml" Id="Rd0d3fe033b434e89" /><Relationship Type="http://schemas.openxmlformats.org/officeDocument/2006/relationships/slide" Target="/ppt/slides/slide10.xml" Id="R6e0338a6d00e4ceb" /><Relationship Type="http://schemas.openxmlformats.org/officeDocument/2006/relationships/slide" Target="/ppt/slides/slide11.xml" Id="R5742bd8cedb942dc" /><Relationship Type="http://schemas.openxmlformats.org/officeDocument/2006/relationships/slide" Target="/ppt/slides/slide12.xml" Id="R5d247dbefcad45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1a11687b9248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dc4bcae756485e" /><Relationship Type="http://schemas.openxmlformats.org/officeDocument/2006/relationships/notesMaster" Target="/ppt/notesMasters/notesMaster1.xml" Id="R50d8eb9236c74f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f40d0f5f7e4164" /><Relationship Type="http://schemas.openxmlformats.org/officeDocument/2006/relationships/notesMaster" Target="/ppt/notesMasters/notesMaster1.xml" Id="R4e98fb38bdee41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19cde8001344a9" /><Relationship Type="http://schemas.openxmlformats.org/officeDocument/2006/relationships/notesMaster" Target="/ppt/notesMasters/notesMaster1.xml" Id="Rf067738328bf44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da41c1c60542ef" /><Relationship Type="http://schemas.openxmlformats.org/officeDocument/2006/relationships/notesMaster" Target="/ppt/notesMasters/notesMaster1.xml" Id="R05dae2c27eb24b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0bd0be5d214c5c" /><Relationship Type="http://schemas.openxmlformats.org/officeDocument/2006/relationships/notesMaster" Target="/ppt/notesMasters/notesMaster1.xml" Id="R367fd7177a1142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0ad32412c1457d" /><Relationship Type="http://schemas.openxmlformats.org/officeDocument/2006/relationships/notesMaster" Target="/ppt/notesMasters/notesMaster1.xml" Id="R94e6c185794e4c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cfd70df6974e10" /><Relationship Type="http://schemas.openxmlformats.org/officeDocument/2006/relationships/notesMaster" Target="/ppt/notesMasters/notesMaster1.xml" Id="R31be1f19920248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0a0a6eec5049b1" /><Relationship Type="http://schemas.openxmlformats.org/officeDocument/2006/relationships/notesMaster" Target="/ppt/notesMasters/notesMaster1.xml" Id="R149cbd6ad2734d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c352cb79bd4be5" /><Relationship Type="http://schemas.openxmlformats.org/officeDocument/2006/relationships/notesMaster" Target="/ppt/notesMasters/notesMaster1.xml" Id="Rf77b6b78f88442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e0c39ee51448c6" /><Relationship Type="http://schemas.openxmlformats.org/officeDocument/2006/relationships/notesMaster" Target="/ppt/notesMasters/notesMaster1.xml" Id="R9de3d918b8114b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e3042b8e0f45e2" /><Relationship Type="http://schemas.openxmlformats.org/officeDocument/2006/relationships/notesMaster" Target="/ppt/notesMasters/notesMaster1.xml" Id="Rcfcb286e53a946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384858fe9d47a7" /><Relationship Type="http://schemas.openxmlformats.org/officeDocument/2006/relationships/notesMaster" Target="/ppt/notesMasters/notesMaster1.xml" Id="Rd78ac490c01243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Parenteral Nutrition, Module 5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Cover media: Pexels photo by Stéf -b., https://www.pexels.com/photo/iv-drip-in-hospital-11081177/,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indications and major components of parenteral nutrition Next, Distinguish peripheral from central administration Next, Recognize metabolic, infectious, and mechanical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parenteral nutrition is used. First, Parenteral nutrition supports patients whose gastrointestinal tract cannot meet nutritional needs. Next, Formulations may contain amino acids, dextrose, electrolytes, vitamins, trace elements, fluid, and lipids.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Route and concentration. First, Peripheral formulations have lower osmolarity and limited duration. Next, Concentrated formulations generally require central access. Next, Verify the prescribed route, formulation, filter, tubing, and dedicated lumen.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Safe administration. First, Use strict asepsis, compare the bag with the order, inspect for separation or precipitate, program the exact rate, and avoid unapproved concurrent medications. Next, Do not accelerate a delayed infusion.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First,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versus central parenteral nutrition. First, Concentration: Lower osmolarity; More concentrated Next, Typical use: Shorter-term or supplemental; Longer-term or full nutritional support Next, Access: Appropriate peripheral vein; Central venous access Next, Major concern: Phlebitis and limited tolerance; Central-line infection and metabolic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Verify the PN bag before connection. First, Match the patient, formula, components, additives, route, total volume, rate, and expiration to the order. Next, Inspect for separation, precipitate, particles, leaks, or damage. Next, Confirm the correct filter, tubing, pump channel, and dedicated lumen. Next, Resolve any discrepancy with pharmacy and the supervising clinician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Monitoring connects the formula to the patient. First, Glucose: Hyperglycemia or hypoglycemia Next, Daily weight and fluid balance: Fluid gain, deficit, or overload Next, Electrolytes: Shifts and possible refeeding syndrome Next, Temperature and line site: Possible infection Next, Liver, renal, and triglyceride results: Tolerance and need for regimen adjustment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PN is delayed or interrupted. First, Do not speed up the infusion to catch up. Next, Assess the reason for interruption and check the current glucose when indicated. Next, Notify the supervising clinician and follow the ordered contingency plan. Next, Document the actual amount infused, interruption, assessment, notifications, and new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62-66;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Inspect a simulated PN label and identify discrepancies Next, Respond to a bag running two hours behind Next, Plan monitoring for a patient starting concentrated PN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indications and major components of parenteral nutrition Next, Peripheral formulations have lower osmolarity and limited duration. Concentrated formulations generally require central access. Verify the prescribed route, formulation, filter, tubing, and dedicated lumen. Next, Monitor glucose, fluid balance, weight, electrolytes, liver and renal indicators, triglycerides when lipids are used, site and line condition, temperature, and signs of refeeding syndrome or bloodstream infection.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28381cc24b41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14a78401084f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f392fd028c40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6d4611b1634e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fe41c4edbb43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c3b7ee9fb54c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F27EA3-3DE4-48BC-8A67-3454701144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31E873-020D-44BD-93D6-B76A899CB9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786CEC-4A6F-4D05-9E4E-F3C649B7CF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57073A-5FDB-4581-B1FB-3DDE029E32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8A6C1D-C08E-4CC4-BD71-C6C006BA624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FF44038-EAAB-43D0-BA2A-915C09D88A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5A5F3B-0FBF-4165-ADC3-77D34BA0C8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978580-36DB-4F4A-856D-4C607695E2B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7D1A36-237A-4DE2-B7E8-CF99D39133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48389E-6070-45F3-85FC-718C908C85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82c88f5bf14164" /><Relationship Type="http://schemas.openxmlformats.org/officeDocument/2006/relationships/slideLayout" Target="/ppt/slideLayouts/slideLayout1.xml" Id="R8481fcce8d054660" /><Relationship Type="http://schemas.openxmlformats.org/officeDocument/2006/relationships/slideLayout" Target="/ppt/slideLayouts/slideLayout2.xml" Id="R4519d269c7834e71" /><Relationship Type="http://schemas.openxmlformats.org/officeDocument/2006/relationships/slideLayout" Target="/ppt/slideLayouts/slideLayout3.xml" Id="R58cf119e14944daf" /><Relationship Type="http://schemas.openxmlformats.org/officeDocument/2006/relationships/slideLayout" Target="/ppt/slideLayouts/slideLayout4.xml" Id="R2418cca91d56435e" /><Relationship Type="http://schemas.openxmlformats.org/officeDocument/2006/relationships/slideLayout" Target="/ppt/slideLayouts/slideLayout5.xml" Id="Rf186af8e09cd4f64" /><Relationship Type="http://schemas.openxmlformats.org/officeDocument/2006/relationships/slideLayout" Target="/ppt/slideLayouts/slideLayout6.xml" Id="R0c08b278630849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81fcce8d054660"/>
    <p:sldLayoutId xmlns:r="http://schemas.openxmlformats.org/officeDocument/2006/relationships" id="2147483650" r:id="R4519d269c7834e71"/>
    <p:sldLayoutId xmlns:r="http://schemas.openxmlformats.org/officeDocument/2006/relationships" id="2147483651" r:id="R58cf119e14944daf"/>
    <p:sldLayoutId xmlns:r="http://schemas.openxmlformats.org/officeDocument/2006/relationships" id="2147483652" r:id="R2418cca91d56435e"/>
    <p:sldLayoutId xmlns:r="http://schemas.openxmlformats.org/officeDocument/2006/relationships" id="2147483653" r:id="Rf186af8e09cd4f64"/>
    <p:sldLayoutId xmlns:r="http://schemas.openxmlformats.org/officeDocument/2006/relationships" id="2147483654" r:id="R0c08b278630849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fa5e7200d594398" /><Relationship Type="http://schemas.openxmlformats.org/officeDocument/2006/relationships/image" Target="/ppt/media/image.jpeg" Id="R8e0fc32a26514025" /><Relationship Type="http://schemas.openxmlformats.org/officeDocument/2006/relationships/notesSlide" Target="/ppt/notesSlides/notesSlide1.xml" Id="Rb5fb186c28aa40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910337d6ba4b02" /><Relationship Type="http://schemas.openxmlformats.org/officeDocument/2006/relationships/notesSlide" Target="/ppt/notesSlides/notesSlide2.xml" Id="R763e7b7e213f4c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ad88328daaf48e4" /><Relationship Type="http://schemas.openxmlformats.org/officeDocument/2006/relationships/notesSlide" Target="/ppt/notesSlides/notesSlide3.xml" Id="R725e956a16fc46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254bd252514514" /><Relationship Type="http://schemas.openxmlformats.org/officeDocument/2006/relationships/notesSlide" Target="/ppt/notesSlides/notesSlide4.xml" Id="Rf5a0e6f54c0345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78cbc6822e42fa" /><Relationship Type="http://schemas.openxmlformats.org/officeDocument/2006/relationships/notesSlide" Target="/ppt/notesSlides/notesSlide5.xml" Id="Rf26565b8428145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d0d01a7a034569" /><Relationship Type="http://schemas.openxmlformats.org/officeDocument/2006/relationships/notesSlide" Target="/ppt/notesSlides/notesSlide6.xml" Id="R03bcf8d8fc7747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5bc64db4e84999" /><Relationship Type="http://schemas.openxmlformats.org/officeDocument/2006/relationships/notesSlide" Target="/ppt/notesSlides/notesSlide7.xml" Id="Rcf62c3c3205945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24dfd0f1784385" /><Relationship Type="http://schemas.openxmlformats.org/officeDocument/2006/relationships/notesSlide" Target="/ppt/notesSlides/notesSlide8.xml" Id="Rf98dfc34889b47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a3c2144e854894" /><Relationship Type="http://schemas.openxmlformats.org/officeDocument/2006/relationships/notesSlide" Target="/ppt/notesSlides/notesSlide9.xml" Id="Rab0bd5db63734e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c587bbecd9346b2" /><Relationship Type="http://schemas.openxmlformats.org/officeDocument/2006/relationships/notesSlide" Target="/ppt/notesSlides/notesSlide10.xml" Id="R28b8edcfe82d47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5fbbd9bb56846c9" /><Relationship Type="http://schemas.openxmlformats.org/officeDocument/2006/relationships/notesSlide" Target="/ppt/notesSlides/notesSlide11.xml" Id="Rb6e111eb0bdf46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a4694d6a5c54bc8" /><Relationship Type="http://schemas.openxmlformats.org/officeDocument/2006/relationships/notesSlide" Target="/ppt/notesSlides/notesSlide12.xml" Id="R4e51beee93c6452d"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E08F63C-F1B9-4446-AAF7-75F98DBE68B8}"/>
              </a:ext>
            </a:extLst>
          </p:cNvPr>
          <p:cNvPicPr>
            <a:picLocks xmlns:a="http://schemas.openxmlformats.org/drawingml/2006/main" noChangeAspect="1"/>
          </p:cNvPicPr>
          <p:nvPr/>
        </p:nvPicPr>
        <p:blipFill>
          <a:blip xmlns:r="http://schemas.openxmlformats.org/officeDocument/2006/relationships" xmlns:a="http://schemas.openxmlformats.org/drawingml/2006/main" r:embed="R8e0fc32a26514025"/>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A7438B-F119-4F5D-83FB-7A4F84B32DD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7C05AEA-D641-460A-91E4-7AD9EDEB1481}"/>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B6D73E39-36DF-473F-93DE-CCC232A0B1E1}"/>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5CAEECF2-A378-4343-AB2C-FE043BE2CC20}"/>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Parenteral Nutrition</a:t>
            </a:r>
          </a:p>
        </p:txBody>
      </p:sp>
      <p:sp>
        <p:nvSpPr>
          <p:cNvPr id="6" name="">
            <a:extLst xmlns:a="http://schemas.openxmlformats.org/drawingml/2006/main">
              <a:ext uri="{FF2B5EF4-FFF2-40B4-BE49-F238E27FC236}">
                <a16:creationId xmlns:a16="http://schemas.microsoft.com/office/drawing/2014/main" id="{BA7F2BE6-A0E8-4BBE-A04A-614AAD3CD3D6}"/>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5  |  30-Hour Basic Intravenous Therapy</a:t>
            </a:r>
          </a:p>
        </p:txBody>
      </p:sp>
      <p:sp>
        <p:nvSpPr>
          <p:cNvPr id="7" name="">
            <a:extLst xmlns:a="http://schemas.openxmlformats.org/drawingml/2006/main">
              <a:ext uri="{FF2B5EF4-FFF2-40B4-BE49-F238E27FC236}">
                <a16:creationId xmlns:a16="http://schemas.microsoft.com/office/drawing/2014/main" id="{2B4B0E93-A9A2-48EB-8E1B-8C9619603C17}"/>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300010071"/>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A7C522-9AE3-40C1-8358-1F436448B8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F1B458-1EBC-44F5-B6BA-68CF0FDFE3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0361ABBE-F8C9-472B-A67D-495FD2855DE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B2E62A05-DFC4-4D0F-8CF0-CB3DCF6428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1E64E7D-6279-4255-B3D6-C517BECB574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Distinguish peripheral from central administration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metabolic, infectious, and mechanical complications</a:t>
            </a:r>
          </a:p>
        </p:txBody>
      </p:sp>
    </p:spTree>
    <p:extLst>
      <p:ext uri="{BB962C8B-B14F-4D97-AF65-F5344CB8AC3E}">
        <p14:creationId xmlns:p14="http://schemas.microsoft.com/office/powerpoint/2010/main" val="26845668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181A2E-3C59-404D-B26C-27EDC742A7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0DB3AB5-5686-4D99-8022-3652E503C9D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parenteral nutrition is used</a:t>
            </a:r>
          </a:p>
        </p:txBody>
      </p:sp>
      <p:sp>
        <p:nvSpPr>
          <p:cNvPr id="3" name="">
            <a:extLst xmlns:a="http://schemas.openxmlformats.org/drawingml/2006/main">
              <a:ext uri="{FF2B5EF4-FFF2-40B4-BE49-F238E27FC236}">
                <a16:creationId xmlns:a16="http://schemas.microsoft.com/office/drawing/2014/main" id="{97028F79-0C7D-40D7-AB9B-93F50D8CCC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7BC07E8F-A1FD-40F7-A53E-97FFA11AA7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6E435D4D-B129-45B1-9429-C5E3C63064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supports patients whose gastrointestinal tract cannot meet nutritional needs.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Formulations may contain amino acids, dextrose, electrolytes, vitamins, trace elements, fluid, and lipids.</a:t>
            </a:r>
          </a:p>
        </p:txBody>
      </p:sp>
      <p:sp>
        <p:nvSpPr>
          <p:cNvPr id="6" name="">
            <a:extLst xmlns:a="http://schemas.openxmlformats.org/drawingml/2006/main">
              <a:ext uri="{FF2B5EF4-FFF2-40B4-BE49-F238E27FC236}">
                <a16:creationId xmlns:a16="http://schemas.microsoft.com/office/drawing/2014/main" id="{11A5924A-8135-48D9-8142-62CF7AA2A0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1186197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98DB01-F310-48A4-9202-5506ED797C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681A90C-70D2-471E-BE44-7CF318A388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Route and concentration</a:t>
            </a:r>
          </a:p>
        </p:txBody>
      </p:sp>
      <p:sp>
        <p:nvSpPr>
          <p:cNvPr id="3" name="">
            <a:extLst xmlns:a="http://schemas.openxmlformats.org/drawingml/2006/main">
              <a:ext uri="{FF2B5EF4-FFF2-40B4-BE49-F238E27FC236}">
                <a16:creationId xmlns:a16="http://schemas.microsoft.com/office/drawing/2014/main" id="{EEEE231A-5630-4073-8A81-76D6CFE098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0876C51D-AAE4-4E61-A242-5EAFC2050F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CC6DE748-168C-4188-83A7-1228822D90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Peripheral formulations have lower osmolarity and limited duration.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Concentrated formulations generally require central access.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prescribed route, formulation, filter, tubing, and dedicated lumen.</a:t>
            </a:r>
          </a:p>
        </p:txBody>
      </p:sp>
      <p:sp>
        <p:nvSpPr>
          <p:cNvPr id="6" name="">
            <a:extLst xmlns:a="http://schemas.openxmlformats.org/drawingml/2006/main">
              <a:ext uri="{FF2B5EF4-FFF2-40B4-BE49-F238E27FC236}">
                <a16:creationId xmlns:a16="http://schemas.microsoft.com/office/drawing/2014/main" id="{AF2318BC-D5C4-4656-BD0E-88F678082A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9043981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5713B7-1EDF-47F7-9A13-6A839F2593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995249A-1D62-4FD4-9B0A-C1C323DA1F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Safe administration</a:t>
            </a:r>
          </a:p>
        </p:txBody>
      </p:sp>
      <p:sp>
        <p:nvSpPr>
          <p:cNvPr id="3" name="">
            <a:extLst xmlns:a="http://schemas.openxmlformats.org/drawingml/2006/main">
              <a:ext uri="{FF2B5EF4-FFF2-40B4-BE49-F238E27FC236}">
                <a16:creationId xmlns:a16="http://schemas.microsoft.com/office/drawing/2014/main" id="{819CC9A2-93C1-43D9-9C37-70FB336FAB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9F894D18-8998-4DA2-BB77-6795B134BD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FE0DFC71-CD29-409E-BA5F-E6DE827721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strict asepsis, compare the bag with the order, inspect for separation or precipitate, program the exact rate, and avoid unapproved concurrent medications.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accelerate a delayed infusion.</a:t>
            </a:r>
          </a:p>
        </p:txBody>
      </p:sp>
      <p:sp>
        <p:nvSpPr>
          <p:cNvPr id="6" name="">
            <a:extLst xmlns:a="http://schemas.openxmlformats.org/drawingml/2006/main">
              <a:ext uri="{FF2B5EF4-FFF2-40B4-BE49-F238E27FC236}">
                <a16:creationId xmlns:a16="http://schemas.microsoft.com/office/drawing/2014/main" id="{2662D0CA-9B5D-4BF6-B98E-46E0FB0B815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909163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32E21E-420B-477D-9E99-1ED59F517A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5A38C8D-051E-4D88-AF2D-FB45F5F60E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a:t>
            </a:r>
          </a:p>
        </p:txBody>
      </p:sp>
      <p:sp>
        <p:nvSpPr>
          <p:cNvPr id="3" name="">
            <a:extLst xmlns:a="http://schemas.openxmlformats.org/drawingml/2006/main">
              <a:ext uri="{FF2B5EF4-FFF2-40B4-BE49-F238E27FC236}">
                <a16:creationId xmlns:a16="http://schemas.microsoft.com/office/drawing/2014/main" id="{F9902FE5-3E4C-4111-87B0-17B44B9D73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DDF95954-8014-49C0-9F34-3EBFA8AE4D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B8EB831F-4586-470E-8DF1-EF56176678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AC81EA9C-B141-4C85-8EF7-377D26023CD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0361130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33F3E54-1797-4F1B-9E91-25CB910B05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FB7466-6993-48B1-AC11-CBB5F46F67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versus central parenteral nutrition</a:t>
            </a:r>
          </a:p>
        </p:txBody>
      </p:sp>
      <p:sp>
        <p:nvSpPr>
          <p:cNvPr id="3" name="">
            <a:extLst xmlns:a="http://schemas.openxmlformats.org/drawingml/2006/main">
              <a:ext uri="{FF2B5EF4-FFF2-40B4-BE49-F238E27FC236}">
                <a16:creationId xmlns:a16="http://schemas.microsoft.com/office/drawing/2014/main" id="{04A04F7D-01DB-4915-B14E-94A8A97C2B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05FC74D7-BB71-428C-9ED9-E8E502A5C1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D7BD9DD4-1A20-4156-A40A-D9D7D85F1AF6}"/>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C371125-E600-4A57-A8A1-C8FB976DA3FB}"/>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7" name="">
            <a:extLst xmlns:a="http://schemas.openxmlformats.org/drawingml/2006/main">
              <a:ext uri="{FF2B5EF4-FFF2-40B4-BE49-F238E27FC236}">
                <a16:creationId xmlns:a16="http://schemas.microsoft.com/office/drawing/2014/main" id="{CF41760C-9266-4240-858D-D126E751223A}"/>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C0FB815-7632-4B56-AE5C-CD17710DD1DA}"/>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Peripheral PN</a:t>
            </a:r>
          </a:p>
        </p:txBody>
      </p:sp>
      <p:sp>
        <p:nvSpPr>
          <p:cNvPr id="9" name="">
            <a:extLst xmlns:a="http://schemas.openxmlformats.org/drawingml/2006/main">
              <a:ext uri="{FF2B5EF4-FFF2-40B4-BE49-F238E27FC236}">
                <a16:creationId xmlns:a16="http://schemas.microsoft.com/office/drawing/2014/main" id="{265B69BA-6EFC-45CE-B21F-4E356FA92291}"/>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0792772-B0A4-40C1-8F36-6DC750098801}"/>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Central PN</a:t>
            </a:r>
          </a:p>
        </p:txBody>
      </p:sp>
      <p:sp>
        <p:nvSpPr>
          <p:cNvPr id="11" name="">
            <a:extLst xmlns:a="http://schemas.openxmlformats.org/drawingml/2006/main">
              <a:ext uri="{FF2B5EF4-FFF2-40B4-BE49-F238E27FC236}">
                <a16:creationId xmlns:a16="http://schemas.microsoft.com/office/drawing/2014/main" id="{727E1C00-D75E-476D-B832-19CDED7AEB9D}"/>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D0CB384-E8F6-4486-9151-0682039B5136}"/>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a:t>
            </a:r>
          </a:p>
        </p:txBody>
      </p:sp>
      <p:sp>
        <p:nvSpPr>
          <p:cNvPr id="13" name="">
            <a:extLst xmlns:a="http://schemas.openxmlformats.org/drawingml/2006/main">
              <a:ext uri="{FF2B5EF4-FFF2-40B4-BE49-F238E27FC236}">
                <a16:creationId xmlns:a16="http://schemas.microsoft.com/office/drawing/2014/main" id="{DCE7BE79-0902-4ABE-B143-B9C4BFFA38C2}"/>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C6BF56A-F051-47ED-9C9F-08548A189EEF}"/>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osmolarity</a:t>
            </a:r>
          </a:p>
        </p:txBody>
      </p:sp>
      <p:sp>
        <p:nvSpPr>
          <p:cNvPr id="15" name="">
            <a:extLst xmlns:a="http://schemas.openxmlformats.org/drawingml/2006/main">
              <a:ext uri="{FF2B5EF4-FFF2-40B4-BE49-F238E27FC236}">
                <a16:creationId xmlns:a16="http://schemas.microsoft.com/office/drawing/2014/main" id="{7FAFD1FC-5690-4273-B57B-7416A2300E46}"/>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326052A-B7CE-408B-AAC2-A4EDA9C86562}"/>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More concentrated</a:t>
            </a:r>
          </a:p>
        </p:txBody>
      </p:sp>
      <p:sp>
        <p:nvSpPr>
          <p:cNvPr id="17" name="">
            <a:extLst xmlns:a="http://schemas.openxmlformats.org/drawingml/2006/main">
              <a:ext uri="{FF2B5EF4-FFF2-40B4-BE49-F238E27FC236}">
                <a16:creationId xmlns:a16="http://schemas.microsoft.com/office/drawing/2014/main" id="{75ECD521-DDB3-4F1D-A077-207BE8771960}"/>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1B277A9-6BE1-45E0-83AE-5BEFB7A47BDE}"/>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Typical use</a:t>
            </a:r>
          </a:p>
        </p:txBody>
      </p:sp>
      <p:sp>
        <p:nvSpPr>
          <p:cNvPr id="19" name="">
            <a:extLst xmlns:a="http://schemas.openxmlformats.org/drawingml/2006/main">
              <a:ext uri="{FF2B5EF4-FFF2-40B4-BE49-F238E27FC236}">
                <a16:creationId xmlns:a16="http://schemas.microsoft.com/office/drawing/2014/main" id="{368FCE62-5DE5-4B87-9901-38FC820FC530}"/>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6EEB205-FD31-4D35-96E9-C2BE3C28D90A}"/>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Shorter-term or supplemental</a:t>
            </a:r>
          </a:p>
        </p:txBody>
      </p:sp>
      <p:sp>
        <p:nvSpPr>
          <p:cNvPr id="21" name="">
            <a:extLst xmlns:a="http://schemas.openxmlformats.org/drawingml/2006/main">
              <a:ext uri="{FF2B5EF4-FFF2-40B4-BE49-F238E27FC236}">
                <a16:creationId xmlns:a16="http://schemas.microsoft.com/office/drawing/2014/main" id="{8F66E8D2-1708-4E69-A0C0-9CF0D818006E}"/>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033486C-D543-42FB-941E-F4EFE7297A7A}"/>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Longer-term or full nutritional support</a:t>
            </a:r>
          </a:p>
        </p:txBody>
      </p:sp>
      <p:sp>
        <p:nvSpPr>
          <p:cNvPr id="23" name="">
            <a:extLst xmlns:a="http://schemas.openxmlformats.org/drawingml/2006/main">
              <a:ext uri="{FF2B5EF4-FFF2-40B4-BE49-F238E27FC236}">
                <a16:creationId xmlns:a16="http://schemas.microsoft.com/office/drawing/2014/main" id="{42803F94-D9EF-4416-B14C-7CB3A04A9CCC}"/>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0B977F6-BDD5-4D31-AE07-025A2945D6B9}"/>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25" name="">
            <a:extLst xmlns:a="http://schemas.openxmlformats.org/drawingml/2006/main">
              <a:ext uri="{FF2B5EF4-FFF2-40B4-BE49-F238E27FC236}">
                <a16:creationId xmlns:a16="http://schemas.microsoft.com/office/drawing/2014/main" id="{C0ECCF3D-4F6F-4A52-BD9E-62638023AA46}"/>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C470FD1-7072-4F4C-AD6E-7FDB91817EF6}"/>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peripheral vein</a:t>
            </a:r>
          </a:p>
        </p:txBody>
      </p:sp>
      <p:sp>
        <p:nvSpPr>
          <p:cNvPr id="27" name="">
            <a:extLst xmlns:a="http://schemas.openxmlformats.org/drawingml/2006/main">
              <a:ext uri="{FF2B5EF4-FFF2-40B4-BE49-F238E27FC236}">
                <a16:creationId xmlns:a16="http://schemas.microsoft.com/office/drawing/2014/main" id="{3D212EAA-5B2C-4007-AB56-2EA074B7D747}"/>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DA698ED-BCD2-44D8-9208-5FA9E513AC4B}"/>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venous access</a:t>
            </a:r>
          </a:p>
        </p:txBody>
      </p:sp>
      <p:sp>
        <p:nvSpPr>
          <p:cNvPr id="29" name="">
            <a:extLst xmlns:a="http://schemas.openxmlformats.org/drawingml/2006/main">
              <a:ext uri="{FF2B5EF4-FFF2-40B4-BE49-F238E27FC236}">
                <a16:creationId xmlns:a16="http://schemas.microsoft.com/office/drawing/2014/main" id="{EE0D33B6-BCE4-4901-9439-52897E5C2736}"/>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28F71C0-544C-4CAD-B1B4-020674746F17}"/>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Major concern</a:t>
            </a:r>
          </a:p>
        </p:txBody>
      </p:sp>
      <p:sp>
        <p:nvSpPr>
          <p:cNvPr id="31" name="">
            <a:extLst xmlns:a="http://schemas.openxmlformats.org/drawingml/2006/main">
              <a:ext uri="{FF2B5EF4-FFF2-40B4-BE49-F238E27FC236}">
                <a16:creationId xmlns:a16="http://schemas.microsoft.com/office/drawing/2014/main" id="{43B971CC-96AD-4B96-92B5-A403A1232F32}"/>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ACA66522-4687-46DB-BADA-EAD5B653EB41}"/>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 and limited tolerance</a:t>
            </a:r>
          </a:p>
        </p:txBody>
      </p:sp>
      <p:sp>
        <p:nvSpPr>
          <p:cNvPr id="33" name="">
            <a:extLst xmlns:a="http://schemas.openxmlformats.org/drawingml/2006/main">
              <a:ext uri="{FF2B5EF4-FFF2-40B4-BE49-F238E27FC236}">
                <a16:creationId xmlns:a16="http://schemas.microsoft.com/office/drawing/2014/main" id="{FE77C41C-E119-44E5-AED5-09729C6B2F06}"/>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5BF1C68D-5704-4C36-99AB-2B60202D8C44}"/>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Central-line infection and metabolic complications</a:t>
            </a:r>
          </a:p>
        </p:txBody>
      </p:sp>
    </p:spTree>
    <p:extLst>
      <p:ext uri="{BB962C8B-B14F-4D97-AF65-F5344CB8AC3E}">
        <p14:creationId xmlns:p14="http://schemas.microsoft.com/office/powerpoint/2010/main" val="99839412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4767AE-B018-41E1-8357-61E2660714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7CB00A-0010-473D-B02E-1D54E93203A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Verify the PN bag before connection</a:t>
            </a:r>
          </a:p>
        </p:txBody>
      </p:sp>
      <p:sp>
        <p:nvSpPr>
          <p:cNvPr id="3" name="">
            <a:extLst xmlns:a="http://schemas.openxmlformats.org/drawingml/2006/main">
              <a:ext uri="{FF2B5EF4-FFF2-40B4-BE49-F238E27FC236}">
                <a16:creationId xmlns:a16="http://schemas.microsoft.com/office/drawing/2014/main" id="{DDE2952F-7A4A-4F21-9FFE-B464ED4ACA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AE7C8DC5-AE2C-4F10-BC93-F81BB3FD5A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5DFF0972-F057-4017-B33E-B84124CB618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the patient, formula, components, additives, route, total volume, rate, and expiration to the order.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for separation, precipitate, particles, leaks, or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correct filter, tubing, pump channel, and dedicated lumen.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Resolve any discrepancy with pharmacy and the supervising clinician before starting.</a:t>
            </a:r>
          </a:p>
        </p:txBody>
      </p:sp>
      <p:sp>
        <p:nvSpPr>
          <p:cNvPr id="6" name="">
            <a:extLst xmlns:a="http://schemas.openxmlformats.org/drawingml/2006/main">
              <a:ext uri="{FF2B5EF4-FFF2-40B4-BE49-F238E27FC236}">
                <a16:creationId xmlns:a16="http://schemas.microsoft.com/office/drawing/2014/main" id="{B5429C37-DFC3-4845-8B3E-D7C7B412511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51217603"/>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E7A6583-B8E2-4479-BED7-15A29D5DA0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5E1B162-E227-4FEB-B009-3322C83E415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Monitoring connects the formula to the patient</a:t>
            </a:r>
          </a:p>
        </p:txBody>
      </p:sp>
      <p:sp>
        <p:nvSpPr>
          <p:cNvPr id="3" name="">
            <a:extLst xmlns:a="http://schemas.openxmlformats.org/drawingml/2006/main">
              <a:ext uri="{FF2B5EF4-FFF2-40B4-BE49-F238E27FC236}">
                <a16:creationId xmlns:a16="http://schemas.microsoft.com/office/drawing/2014/main" id="{B06165A6-3BF4-469C-AAB4-8023C6560B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AD89BBB9-44C7-4737-9CC9-0FC9E00403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9AA5085C-5031-4A51-A4A6-BE7FB3B7A96C}"/>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D93D075-7A9A-4632-A712-6D37BB1965F7}"/>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Monitor</a:t>
            </a:r>
          </a:p>
        </p:txBody>
      </p:sp>
      <p:sp>
        <p:nvSpPr>
          <p:cNvPr id="7" name="">
            <a:extLst xmlns:a="http://schemas.openxmlformats.org/drawingml/2006/main">
              <a:ext uri="{FF2B5EF4-FFF2-40B4-BE49-F238E27FC236}">
                <a16:creationId xmlns:a16="http://schemas.microsoft.com/office/drawing/2014/main" id="{097CD29A-0DC4-4E81-B697-0110AD375CEB}"/>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007012B-0D1D-467A-8E31-1C9E4811A41E}"/>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can reveal</a:t>
            </a:r>
          </a:p>
        </p:txBody>
      </p:sp>
      <p:sp>
        <p:nvSpPr>
          <p:cNvPr id="9" name="">
            <a:extLst xmlns:a="http://schemas.openxmlformats.org/drawingml/2006/main">
              <a:ext uri="{FF2B5EF4-FFF2-40B4-BE49-F238E27FC236}">
                <a16:creationId xmlns:a16="http://schemas.microsoft.com/office/drawing/2014/main" id="{44B2B6AA-9445-41AD-845A-47937C221BCE}"/>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769D640-21D2-4C2F-81D6-3999491BD851}"/>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Glucose</a:t>
            </a:r>
          </a:p>
        </p:txBody>
      </p:sp>
      <p:sp>
        <p:nvSpPr>
          <p:cNvPr id="11" name="">
            <a:extLst xmlns:a="http://schemas.openxmlformats.org/drawingml/2006/main">
              <a:ext uri="{FF2B5EF4-FFF2-40B4-BE49-F238E27FC236}">
                <a16:creationId xmlns:a16="http://schemas.microsoft.com/office/drawing/2014/main" id="{586FF35F-D5E2-4DEB-8EA3-39DF7D7F5A95}"/>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BAB1818-C1CB-451E-8DCC-C0CB242AA8A8}"/>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Hyperglycemia or hypoglycemia</a:t>
            </a:r>
          </a:p>
        </p:txBody>
      </p:sp>
      <p:sp>
        <p:nvSpPr>
          <p:cNvPr id="13" name="">
            <a:extLst xmlns:a="http://schemas.openxmlformats.org/drawingml/2006/main">
              <a:ext uri="{FF2B5EF4-FFF2-40B4-BE49-F238E27FC236}">
                <a16:creationId xmlns:a16="http://schemas.microsoft.com/office/drawing/2014/main" id="{D2E2CD23-A9C7-45BB-AF6A-FE4C4F44E3ED}"/>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793D0C1-725C-4880-99EB-4C9E83133824}"/>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Daily weight and fluid balance</a:t>
            </a:r>
          </a:p>
        </p:txBody>
      </p:sp>
      <p:sp>
        <p:nvSpPr>
          <p:cNvPr id="15" name="">
            <a:extLst xmlns:a="http://schemas.openxmlformats.org/drawingml/2006/main">
              <a:ext uri="{FF2B5EF4-FFF2-40B4-BE49-F238E27FC236}">
                <a16:creationId xmlns:a16="http://schemas.microsoft.com/office/drawing/2014/main" id="{26B65677-83C5-44B4-86FD-E4FEB88CF26F}"/>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9B00B2B-A690-4855-8C4A-1C479B4537D1}"/>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gain, deficit, or overload</a:t>
            </a:r>
          </a:p>
        </p:txBody>
      </p:sp>
      <p:sp>
        <p:nvSpPr>
          <p:cNvPr id="17" name="">
            <a:extLst xmlns:a="http://schemas.openxmlformats.org/drawingml/2006/main">
              <a:ext uri="{FF2B5EF4-FFF2-40B4-BE49-F238E27FC236}">
                <a16:creationId xmlns:a16="http://schemas.microsoft.com/office/drawing/2014/main" id="{7C95D1DE-B6FB-4C59-B8E5-F8A8E9738C55}"/>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55B44A7-9BE2-4DBE-BDFC-74939362A356}"/>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Electrolytes</a:t>
            </a:r>
          </a:p>
        </p:txBody>
      </p:sp>
      <p:sp>
        <p:nvSpPr>
          <p:cNvPr id="19" name="">
            <a:extLst xmlns:a="http://schemas.openxmlformats.org/drawingml/2006/main">
              <a:ext uri="{FF2B5EF4-FFF2-40B4-BE49-F238E27FC236}">
                <a16:creationId xmlns:a16="http://schemas.microsoft.com/office/drawing/2014/main" id="{C599CF1F-2FA2-4D51-8FC6-89876A26104A}"/>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57E7E6C-6732-4BDD-B6A5-C1E0997098A6}"/>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Shifts and possible refeeding syndrome</a:t>
            </a:r>
          </a:p>
        </p:txBody>
      </p:sp>
      <p:sp>
        <p:nvSpPr>
          <p:cNvPr id="21" name="">
            <a:extLst xmlns:a="http://schemas.openxmlformats.org/drawingml/2006/main">
              <a:ext uri="{FF2B5EF4-FFF2-40B4-BE49-F238E27FC236}">
                <a16:creationId xmlns:a16="http://schemas.microsoft.com/office/drawing/2014/main" id="{6D2F9F5B-BBC7-464B-A5F5-B88978E300B1}"/>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D794D66-EC49-4F6F-9AB1-001FF725E90C}"/>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and line site</a:t>
            </a:r>
          </a:p>
        </p:txBody>
      </p:sp>
      <p:sp>
        <p:nvSpPr>
          <p:cNvPr id="23" name="">
            <a:extLst xmlns:a="http://schemas.openxmlformats.org/drawingml/2006/main">
              <a:ext uri="{FF2B5EF4-FFF2-40B4-BE49-F238E27FC236}">
                <a16:creationId xmlns:a16="http://schemas.microsoft.com/office/drawing/2014/main" id="{70A817D2-A1B3-47C9-B119-829468F49D32}"/>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6D92D66-77D0-46BC-BD1F-A79AA17EE4C6}"/>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infection</a:t>
            </a:r>
          </a:p>
        </p:txBody>
      </p:sp>
      <p:sp>
        <p:nvSpPr>
          <p:cNvPr id="25" name="">
            <a:extLst xmlns:a="http://schemas.openxmlformats.org/drawingml/2006/main">
              <a:ext uri="{FF2B5EF4-FFF2-40B4-BE49-F238E27FC236}">
                <a16:creationId xmlns:a16="http://schemas.microsoft.com/office/drawing/2014/main" id="{616692E0-FBC9-409A-8FAB-AC2580D29115}"/>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DB1A0FA-D81C-4DC6-B047-FBBE43292561}"/>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Liver, renal, and triglyceride results</a:t>
            </a:r>
          </a:p>
        </p:txBody>
      </p:sp>
      <p:sp>
        <p:nvSpPr>
          <p:cNvPr id="27" name="">
            <a:extLst xmlns:a="http://schemas.openxmlformats.org/drawingml/2006/main">
              <a:ext uri="{FF2B5EF4-FFF2-40B4-BE49-F238E27FC236}">
                <a16:creationId xmlns:a16="http://schemas.microsoft.com/office/drawing/2014/main" id="{5BF37372-A97B-43B0-BC16-ED16FC95B234}"/>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F55F129-46F4-44F8-AA00-BD2ABC52774B}"/>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Tolerance and need for regimen adjustment</a:t>
            </a:r>
          </a:p>
        </p:txBody>
      </p:sp>
    </p:spTree>
    <p:extLst>
      <p:ext uri="{BB962C8B-B14F-4D97-AF65-F5344CB8AC3E}">
        <p14:creationId xmlns:p14="http://schemas.microsoft.com/office/powerpoint/2010/main" val="119784530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840EA2-5257-4BAF-9B9C-F64493A8B6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4A0648-66D7-4D0F-B9C5-360112D9918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PN is delayed or interrupted</a:t>
            </a:r>
          </a:p>
        </p:txBody>
      </p:sp>
      <p:sp>
        <p:nvSpPr>
          <p:cNvPr id="3" name="">
            <a:extLst xmlns:a="http://schemas.openxmlformats.org/drawingml/2006/main">
              <a:ext uri="{FF2B5EF4-FFF2-40B4-BE49-F238E27FC236}">
                <a16:creationId xmlns:a16="http://schemas.microsoft.com/office/drawing/2014/main" id="{26D4FB3E-FE28-4DC0-87A7-AC6A00BBA8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921A8DA6-2872-45B6-9825-114305F96FF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75AAA8E6-9668-4C7A-B3B0-87C7B2DD757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speed up the infusion to catch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reason for interruption and check the current glucose when indicated.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clinician and follow the ordered contingency plan.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the actual amount infused, interruption, assessment, notifications, and new instructions.</a:t>
            </a:r>
          </a:p>
        </p:txBody>
      </p:sp>
      <p:sp>
        <p:nvSpPr>
          <p:cNvPr id="6" name="">
            <a:extLst xmlns:a="http://schemas.openxmlformats.org/drawingml/2006/main">
              <a:ext uri="{FF2B5EF4-FFF2-40B4-BE49-F238E27FC236}">
                <a16:creationId xmlns:a16="http://schemas.microsoft.com/office/drawing/2014/main" id="{1BA43103-511F-4749-BF1B-21A8A4946A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23833786"/>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3F3472-BF1A-455B-B1CC-4208C98B43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8B22E4-CA17-43C1-A7C6-92A2EDBE6E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09A7878D-827F-4327-BE38-24553B599A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01460AFE-52FC-48D9-A32E-FD99065B2F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C26BD3A-6E73-4F90-ADA0-AB7603FBC0D5}"/>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Inspect a simulated PN label and identify discrepancies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a bag running two hours behind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Plan monitoring for a patient starting concentrated PN</a:t>
            </a:r>
          </a:p>
        </p:txBody>
      </p:sp>
      <p:sp>
        <p:nvSpPr>
          <p:cNvPr id="6" name="">
            <a:extLst xmlns:a="http://schemas.openxmlformats.org/drawingml/2006/main">
              <a:ext uri="{FF2B5EF4-FFF2-40B4-BE49-F238E27FC236}">
                <a16:creationId xmlns:a16="http://schemas.microsoft.com/office/drawing/2014/main" id="{9AA12E66-D454-43D8-B5B2-F07971F79400}"/>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573232443"/>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93F9E3-83C3-41C7-A777-BA7EE25C8B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BD2DB4-85D9-43FD-AB04-579C999BCEA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332FB367-1DA7-44EA-A66A-6E0FA8339A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5</a:t>
            </a:r>
          </a:p>
        </p:txBody>
      </p:sp>
      <p:sp>
        <p:nvSpPr>
          <p:cNvPr id="4" name="">
            <a:extLst xmlns:a="http://schemas.openxmlformats.org/drawingml/2006/main">
              <a:ext uri="{FF2B5EF4-FFF2-40B4-BE49-F238E27FC236}">
                <a16:creationId xmlns:a16="http://schemas.microsoft.com/office/drawing/2014/main" id="{A105AE50-A666-4491-BADC-34D532D99B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AC4F870B-9ABD-49FD-A62B-C2A1F09E8999}"/>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indications and major components of parenteral nutrition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Peripheral formulations have lower osmolarity and limited duration. Concentrated formulations generally require central access. Verify the prescribed route, formulation, filter, tubing, and dedicated lumen.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Monitor glucose, fluid balance, weight, electrolytes, liver and renal indicators, triglycerides when lipids are used, site and line condition, temperature, and signs of refeeding syndrome or bloodstream infection.</a:t>
            </a:r>
          </a:p>
        </p:txBody>
      </p:sp>
      <p:sp>
        <p:nvSpPr>
          <p:cNvPr id="6" name="">
            <a:extLst xmlns:a="http://schemas.openxmlformats.org/drawingml/2006/main">
              <a:ext uri="{FF2B5EF4-FFF2-40B4-BE49-F238E27FC236}">
                <a16:creationId xmlns:a16="http://schemas.microsoft.com/office/drawing/2014/main" id="{96B37DDA-FCE9-434A-ADE5-C8675E1CDBF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5335852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2026-10-23T09:45:44.1190000Z</dcterms:created>
  <dcterms:modified xsi:type="dcterms:W3CDTF">2026-10-23T09:45:44.1190000Z</dcterms:modified>
</coreProperties>
</file>