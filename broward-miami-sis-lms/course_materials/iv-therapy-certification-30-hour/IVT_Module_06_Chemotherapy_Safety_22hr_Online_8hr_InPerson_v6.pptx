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f8a4715cc94350" /><Relationship Type="http://schemas.openxmlformats.org/officeDocument/2006/relationships/extended-properties" Target="/docProps/app.xml" Id="R8159987ffc84418d" /><Relationship Type="http://schemas.openxmlformats.org/officeDocument/2006/relationships/officeDocument" Target="/ppt/presentation.xml" Id="R03b593d70ca64896" /></Relationships>
</file>

<file path=ppt/presentation.xml><?xml version="1.0" encoding="utf-8"?>
<p:presentation xmlns:p="http://schemas.openxmlformats.org/presentationml/2006/main">
  <p:sldMasterIdLst>
    <p:sldMasterId xmlns:r="http://schemas.openxmlformats.org/officeDocument/2006/relationships" id="2147483648" r:id="Rf6f4dcc0ee4141fe"/>
  </p:sldMasterIdLst>
  <p:notesMasterIdLst>
    <p:notesMasterId xmlns:r="http://schemas.openxmlformats.org/officeDocument/2006/relationships" r:id="Rfd1802c2135a4899"/>
  </p:notesMasterIdLst>
  <p:sldIdLst>
    <p:sldId xmlns:r="http://schemas.openxmlformats.org/officeDocument/2006/relationships" id="256" r:id="R9245656f7b2c43e7"/>
    <p:sldId xmlns:r="http://schemas.openxmlformats.org/officeDocument/2006/relationships" id="257" r:id="R1eb87a6cc2f14f47"/>
    <p:sldId xmlns:r="http://schemas.openxmlformats.org/officeDocument/2006/relationships" id="258" r:id="Re861e29e7c4d465b"/>
    <p:sldId xmlns:r="http://schemas.openxmlformats.org/officeDocument/2006/relationships" id="259" r:id="R3559d3524b364984"/>
    <p:sldId xmlns:r="http://schemas.openxmlformats.org/officeDocument/2006/relationships" id="260" r:id="R2a1627369f934565"/>
    <p:sldId xmlns:r="http://schemas.openxmlformats.org/officeDocument/2006/relationships" id="261" r:id="R77361999071144b7"/>
    <p:sldId xmlns:r="http://schemas.openxmlformats.org/officeDocument/2006/relationships" id="262" r:id="Rbcfd0ff87fb642d0"/>
    <p:sldId xmlns:r="http://schemas.openxmlformats.org/officeDocument/2006/relationships" id="263" r:id="R4f3ba0641ffa44e2"/>
    <p:sldId xmlns:r="http://schemas.openxmlformats.org/officeDocument/2006/relationships" id="264" r:id="R14113292b8a34bed"/>
    <p:sldId xmlns:r="http://schemas.openxmlformats.org/officeDocument/2006/relationships" id="265" r:id="Ra9414f5fcd494ea0"/>
    <p:sldId xmlns:r="http://schemas.openxmlformats.org/officeDocument/2006/relationships" id="266" r:id="R3385ae88967b4e1a"/>
    <p:sldId xmlns:r="http://schemas.openxmlformats.org/officeDocument/2006/relationships" id="267" r:id="Ra357e34ae60f40c6"/>
    <p:sldId xmlns:r="http://schemas.openxmlformats.org/officeDocument/2006/relationships" id="268" r:id="Rfb1427b58a0f427c"/>
    <p:sldId xmlns:r="http://schemas.openxmlformats.org/officeDocument/2006/relationships" id="269" r:id="R449950a0ac884b00"/>
    <p:sldId xmlns:r="http://schemas.openxmlformats.org/officeDocument/2006/relationships" id="270" r:id="Rd59e32b9ed2940a0"/>
    <p:sldId xmlns:r="http://schemas.openxmlformats.org/officeDocument/2006/relationships" id="271" r:id="R2b09d99a56ce44e2"/>
    <p:sldId xmlns:r="http://schemas.openxmlformats.org/officeDocument/2006/relationships" id="272" r:id="Re2c314359af34d13"/>
    <p:sldId xmlns:r="http://schemas.openxmlformats.org/officeDocument/2006/relationships" id="273" r:id="R6147e63e4dcd4e66"/>
    <p:sldId xmlns:r="http://schemas.openxmlformats.org/officeDocument/2006/relationships" id="274" r:id="Rb584c2efc7074925"/>
    <p:sldId xmlns:r="http://schemas.openxmlformats.org/officeDocument/2006/relationships" id="275" r:id="Rc0963a50f010458f"/>
    <p:sldId xmlns:r="http://schemas.openxmlformats.org/officeDocument/2006/relationships" id="276" r:id="R445c779aa20c437e"/>
    <p:sldId xmlns:r="http://schemas.openxmlformats.org/officeDocument/2006/relationships" id="277" r:id="R29b5d0a1c08e497f"/>
    <p:sldId xmlns:r="http://schemas.openxmlformats.org/officeDocument/2006/relationships" id="278" r:id="Rb71ab97e24c74d01"/>
    <p:sldId xmlns:r="http://schemas.openxmlformats.org/officeDocument/2006/relationships" id="279" r:id="R9aef7af712364fdc"/>
    <p:sldId xmlns:r="http://schemas.openxmlformats.org/officeDocument/2006/relationships" id="280" r:id="R848ff83a12c1403a"/>
    <p:sldId xmlns:r="http://schemas.openxmlformats.org/officeDocument/2006/relationships" id="281" r:id="Ra34a220871c34cf1"/>
    <p:sldId xmlns:r="http://schemas.openxmlformats.org/officeDocument/2006/relationships" id="282" r:id="Rdbe2f8d899a84b92"/>
    <p:sldId xmlns:r="http://schemas.openxmlformats.org/officeDocument/2006/relationships" id="283" r:id="R741f3fcc23a840fe"/>
    <p:sldId xmlns:r="http://schemas.openxmlformats.org/officeDocument/2006/relationships" id="284" r:id="R12b34f37a30143ac"/>
    <p:sldId xmlns:r="http://schemas.openxmlformats.org/officeDocument/2006/relationships" id="285" r:id="R575a90b8e28c4b19"/>
    <p:sldId xmlns:r="http://schemas.openxmlformats.org/officeDocument/2006/relationships" id="286" r:id="Rc12f858636064e78"/>
    <p:sldId xmlns:r="http://schemas.openxmlformats.org/officeDocument/2006/relationships" id="287" r:id="R9042326a571e4e04"/>
    <p:sldId xmlns:r="http://schemas.openxmlformats.org/officeDocument/2006/relationships" id="288" r:id="R90ade03739c04e52"/>
    <p:sldId xmlns:r="http://schemas.openxmlformats.org/officeDocument/2006/relationships" id="289" r:id="Ra95d655b60034da9"/>
    <p:sldId xmlns:r="http://schemas.openxmlformats.org/officeDocument/2006/relationships" id="290" r:id="Rf570909292ef45de"/>
    <p:sldId xmlns:r="http://schemas.openxmlformats.org/officeDocument/2006/relationships" id="291" r:id="R96fc7f397adf47c1"/>
    <p:sldId xmlns:r="http://schemas.openxmlformats.org/officeDocument/2006/relationships" id="292" r:id="Rfe1e034081f8450b"/>
    <p:sldId xmlns:r="http://schemas.openxmlformats.org/officeDocument/2006/relationships" id="293" r:id="R5651dba8c64f4fee"/>
    <p:sldId xmlns:r="http://schemas.openxmlformats.org/officeDocument/2006/relationships" id="294" r:id="R8fb3ac83a8ab42ef"/>
    <p:sldId xmlns:r="http://schemas.openxmlformats.org/officeDocument/2006/relationships" id="295" r:id="R014bc952509d4d3b"/>
    <p:sldId xmlns:r="http://schemas.openxmlformats.org/officeDocument/2006/relationships" id="296" r:id="R716b68bbb0e84272"/>
    <p:sldId xmlns:r="http://schemas.openxmlformats.org/officeDocument/2006/relationships" id="297" r:id="Ra3034de8adcd495a"/>
    <p:sldId xmlns:r="http://schemas.openxmlformats.org/officeDocument/2006/relationships" id="298" r:id="R64032e4eae5445a2"/>
    <p:sldId xmlns:r="http://schemas.openxmlformats.org/officeDocument/2006/relationships" id="299" r:id="Rf89ec102b4594a79"/>
    <p:sldId xmlns:r="http://schemas.openxmlformats.org/officeDocument/2006/relationships" id="300" r:id="R366a0ca685b54727"/>
    <p:sldId xmlns:r="http://schemas.openxmlformats.org/officeDocument/2006/relationships" id="301" r:id="Rd2119fc61b5442ca"/>
    <p:sldId xmlns:r="http://schemas.openxmlformats.org/officeDocument/2006/relationships" id="302" r:id="Rdd6449b71ec94885"/>
    <p:sldId xmlns:r="http://schemas.openxmlformats.org/officeDocument/2006/relationships" id="303" r:id="R4b15789efc6c40b2"/>
    <p:sldId xmlns:r="http://schemas.openxmlformats.org/officeDocument/2006/relationships" id="304" r:id="R18a661432136472c"/>
    <p:sldId xmlns:r="http://schemas.openxmlformats.org/officeDocument/2006/relationships" id="305" r:id="Rc005d9b01d2543e5"/>
    <p:sldId xmlns:r="http://schemas.openxmlformats.org/officeDocument/2006/relationships" id="306" r:id="R1f0fb7f77c364d01"/>
    <p:sldId xmlns:r="http://schemas.openxmlformats.org/officeDocument/2006/relationships" id="307" r:id="Ra9c29d46e8574957"/>
    <p:sldId xmlns:r="http://schemas.openxmlformats.org/officeDocument/2006/relationships" id="308" r:id="Rb825850d598f468d"/>
    <p:sldId xmlns:r="http://schemas.openxmlformats.org/officeDocument/2006/relationships" id="309" r:id="Rea58dcba4e9e41ae"/>
    <p:sldId xmlns:r="http://schemas.openxmlformats.org/officeDocument/2006/relationships" id="310" r:id="Rce5d1d4edd7e4b99"/>
    <p:sldId xmlns:r="http://schemas.openxmlformats.org/officeDocument/2006/relationships" id="311" r:id="R1dcecfcd2f444141"/>
    <p:sldId xmlns:r="http://schemas.openxmlformats.org/officeDocument/2006/relationships" id="312" r:id="R7b59c218894d4ad6"/>
    <p:sldId xmlns:r="http://schemas.openxmlformats.org/officeDocument/2006/relationships" id="313" r:id="Rd0fb9b57323d424f"/>
    <p:sldId xmlns:r="http://schemas.openxmlformats.org/officeDocument/2006/relationships" id="314" r:id="R631978fe698b47b2"/>
    <p:sldId xmlns:r="http://schemas.openxmlformats.org/officeDocument/2006/relationships" id="315" r:id="R95be3042f2934ef0"/>
    <p:sldId xmlns:r="http://schemas.openxmlformats.org/officeDocument/2006/relationships" id="316" r:id="Ra616ddadbfa94076"/>
    <p:sldId xmlns:r="http://schemas.openxmlformats.org/officeDocument/2006/relationships" id="317" r:id="R058eccadc2624880"/>
    <p:sldId xmlns:r="http://schemas.openxmlformats.org/officeDocument/2006/relationships" id="318" r:id="Re9aaf68aaa674483"/>
    <p:sldId xmlns:r="http://schemas.openxmlformats.org/officeDocument/2006/relationships" id="319" r:id="Rd1cf3951fe2c4b58"/>
    <p:sldId xmlns:r="http://schemas.openxmlformats.org/officeDocument/2006/relationships" id="320" r:id="Re3e5807a85ed4fc2"/>
    <p:sldId xmlns:r="http://schemas.openxmlformats.org/officeDocument/2006/relationships" id="321" r:id="Ra6f423c70a594a79"/>
    <p:sldId xmlns:r="http://schemas.openxmlformats.org/officeDocument/2006/relationships" id="322" r:id="R2cb900d259924a05"/>
    <p:sldId xmlns:r="http://schemas.openxmlformats.org/officeDocument/2006/relationships" id="323" r:id="R4f1317e4d9374dc4"/>
    <p:sldId xmlns:r="http://schemas.openxmlformats.org/officeDocument/2006/relationships" id="324" r:id="R1adee94db9fb474c"/>
    <p:sldId xmlns:r="http://schemas.openxmlformats.org/officeDocument/2006/relationships" id="325" r:id="R7057ac781170409c"/>
    <p:sldId xmlns:r="http://schemas.openxmlformats.org/officeDocument/2006/relationships" id="326" r:id="R86a4964e83404df6"/>
    <p:sldId xmlns:r="http://schemas.openxmlformats.org/officeDocument/2006/relationships" id="327" r:id="R449608d139c44a51"/>
    <p:sldId xmlns:r="http://schemas.openxmlformats.org/officeDocument/2006/relationships" id="328" r:id="R4f8b0889b9c8473b"/>
    <p:sldId xmlns:r="http://schemas.openxmlformats.org/officeDocument/2006/relationships" id="329" r:id="R99b8fdf791944f95"/>
    <p:sldId xmlns:r="http://schemas.openxmlformats.org/officeDocument/2006/relationships" id="330" r:id="Re18a54ad0bb44a7d"/>
    <p:sldId xmlns:r="http://schemas.openxmlformats.org/officeDocument/2006/relationships" id="331" r:id="Rf7b8536acf5945cf"/>
    <p:sldId xmlns:r="http://schemas.openxmlformats.org/officeDocument/2006/relationships" id="332" r:id="R7372b5a61c004f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782b0a271947b5" /><Relationship Type="http://schemas.openxmlformats.org/officeDocument/2006/relationships/slideMaster" Target="/ppt/slideMasters/slideMaster1.xml" Id="Rf6f4dcc0ee4141fe" /><Relationship Type="http://schemas.openxmlformats.org/officeDocument/2006/relationships/notesMaster" Target="/ppt/notesMasters/notesMaster1.xml" Id="Rfd1802c2135a4899" /><Relationship Type="http://schemas.openxmlformats.org/officeDocument/2006/relationships/presProps" Target="/ppt/presProps.xml" Id="R95cca9450e0f4542" /><Relationship Type="http://schemas.openxmlformats.org/officeDocument/2006/relationships/tableStyles" Target="/ppt/tableStyles.xml" Id="R3f2618ea5f684ea5" /><Relationship Type="http://schemas.openxmlformats.org/officeDocument/2006/relationships/slide" Target="/ppt/slides/slide1.xml" Id="R9245656f7b2c43e7" /><Relationship Type="http://schemas.openxmlformats.org/officeDocument/2006/relationships/slide" Target="/ppt/slides/slide2.xml" Id="R1eb87a6cc2f14f47" /><Relationship Type="http://schemas.openxmlformats.org/officeDocument/2006/relationships/slide" Target="/ppt/slides/slide3.xml" Id="Re861e29e7c4d465b" /><Relationship Type="http://schemas.openxmlformats.org/officeDocument/2006/relationships/slide" Target="/ppt/slides/slide4.xml" Id="R3559d3524b364984" /><Relationship Type="http://schemas.openxmlformats.org/officeDocument/2006/relationships/slide" Target="/ppt/slides/slide5.xml" Id="R2a1627369f934565" /><Relationship Type="http://schemas.openxmlformats.org/officeDocument/2006/relationships/slide" Target="/ppt/slides/slide6.xml" Id="R77361999071144b7" /><Relationship Type="http://schemas.openxmlformats.org/officeDocument/2006/relationships/slide" Target="/ppt/slides/slide7.xml" Id="Rbcfd0ff87fb642d0" /><Relationship Type="http://schemas.openxmlformats.org/officeDocument/2006/relationships/slide" Target="/ppt/slides/slide8.xml" Id="R4f3ba0641ffa44e2" /><Relationship Type="http://schemas.openxmlformats.org/officeDocument/2006/relationships/slide" Target="/ppt/slides/slide9.xml" Id="R14113292b8a34bed" /><Relationship Type="http://schemas.openxmlformats.org/officeDocument/2006/relationships/slide" Target="/ppt/slides/slide10.xml" Id="Ra9414f5fcd494ea0" /><Relationship Type="http://schemas.openxmlformats.org/officeDocument/2006/relationships/slide" Target="/ppt/slides/slide11.xml" Id="R3385ae88967b4e1a" /><Relationship Type="http://schemas.openxmlformats.org/officeDocument/2006/relationships/slide" Target="/ppt/slides/slide12.xml" Id="Ra357e34ae60f40c6" /><Relationship Type="http://schemas.openxmlformats.org/officeDocument/2006/relationships/slide" Target="/ppt/slides/slide13.xml" Id="Rfb1427b58a0f427c" /><Relationship Type="http://schemas.openxmlformats.org/officeDocument/2006/relationships/slide" Target="/ppt/slides/slide14.xml" Id="R449950a0ac884b00" /><Relationship Type="http://schemas.openxmlformats.org/officeDocument/2006/relationships/slide" Target="/ppt/slides/slide15.xml" Id="Rd59e32b9ed2940a0" /><Relationship Type="http://schemas.openxmlformats.org/officeDocument/2006/relationships/slide" Target="/ppt/slides/slide16.xml" Id="R2b09d99a56ce44e2" /><Relationship Type="http://schemas.openxmlformats.org/officeDocument/2006/relationships/slide" Target="/ppt/slides/slide17.xml" Id="Re2c314359af34d13" /><Relationship Type="http://schemas.openxmlformats.org/officeDocument/2006/relationships/slide" Target="/ppt/slides/slide18.xml" Id="R6147e63e4dcd4e66" /><Relationship Type="http://schemas.openxmlformats.org/officeDocument/2006/relationships/slide" Target="/ppt/slides/slide19.xml" Id="Rb584c2efc7074925" /><Relationship Type="http://schemas.openxmlformats.org/officeDocument/2006/relationships/slide" Target="/ppt/slides/slide20.xml" Id="Rc0963a50f010458f" /><Relationship Type="http://schemas.openxmlformats.org/officeDocument/2006/relationships/slide" Target="/ppt/slides/slide21.xml" Id="R445c779aa20c437e" /><Relationship Type="http://schemas.openxmlformats.org/officeDocument/2006/relationships/slide" Target="/ppt/slides/slide22.xml" Id="R29b5d0a1c08e497f" /><Relationship Type="http://schemas.openxmlformats.org/officeDocument/2006/relationships/slide" Target="/ppt/slides/slide23.xml" Id="Rb71ab97e24c74d01" /><Relationship Type="http://schemas.openxmlformats.org/officeDocument/2006/relationships/slide" Target="/ppt/slides/slide24.xml" Id="R9aef7af712364fdc" /><Relationship Type="http://schemas.openxmlformats.org/officeDocument/2006/relationships/slide" Target="/ppt/slides/slide25.xml" Id="R848ff83a12c1403a" /><Relationship Type="http://schemas.openxmlformats.org/officeDocument/2006/relationships/slide" Target="/ppt/slides/slide26.xml" Id="Ra34a220871c34cf1" /><Relationship Type="http://schemas.openxmlformats.org/officeDocument/2006/relationships/slide" Target="/ppt/slides/slide27.xml" Id="Rdbe2f8d899a84b92" /><Relationship Type="http://schemas.openxmlformats.org/officeDocument/2006/relationships/slide" Target="/ppt/slides/slide28.xml" Id="R741f3fcc23a840fe" /><Relationship Type="http://schemas.openxmlformats.org/officeDocument/2006/relationships/slide" Target="/ppt/slides/slide29.xml" Id="R12b34f37a30143ac" /><Relationship Type="http://schemas.openxmlformats.org/officeDocument/2006/relationships/slide" Target="/ppt/slides/slide30.xml" Id="R575a90b8e28c4b19" /><Relationship Type="http://schemas.openxmlformats.org/officeDocument/2006/relationships/slide" Target="/ppt/slides/slide31.xml" Id="Rc12f858636064e78" /><Relationship Type="http://schemas.openxmlformats.org/officeDocument/2006/relationships/slide" Target="/ppt/slides/slide32.xml" Id="R9042326a571e4e04" /><Relationship Type="http://schemas.openxmlformats.org/officeDocument/2006/relationships/slide" Target="/ppt/slides/slide33.xml" Id="R90ade03739c04e52" /><Relationship Type="http://schemas.openxmlformats.org/officeDocument/2006/relationships/slide" Target="/ppt/slides/slide34.xml" Id="Ra95d655b60034da9" /><Relationship Type="http://schemas.openxmlformats.org/officeDocument/2006/relationships/slide" Target="/ppt/slides/slide35.xml" Id="Rf570909292ef45de" /><Relationship Type="http://schemas.openxmlformats.org/officeDocument/2006/relationships/slide" Target="/ppt/slides/slide36.xml" Id="R96fc7f397adf47c1" /><Relationship Type="http://schemas.openxmlformats.org/officeDocument/2006/relationships/slide" Target="/ppt/slides/slide37.xml" Id="Rfe1e034081f8450b" /><Relationship Type="http://schemas.openxmlformats.org/officeDocument/2006/relationships/slide" Target="/ppt/slides/slide38.xml" Id="R5651dba8c64f4fee" /><Relationship Type="http://schemas.openxmlformats.org/officeDocument/2006/relationships/slide" Target="/ppt/slides/slide39.xml" Id="R8fb3ac83a8ab42ef" /><Relationship Type="http://schemas.openxmlformats.org/officeDocument/2006/relationships/slide" Target="/ppt/slides/slide40.xml" Id="R014bc952509d4d3b" /><Relationship Type="http://schemas.openxmlformats.org/officeDocument/2006/relationships/slide" Target="/ppt/slides/slide41.xml" Id="R716b68bbb0e84272" /><Relationship Type="http://schemas.openxmlformats.org/officeDocument/2006/relationships/slide" Target="/ppt/slides/slide42.xml" Id="Ra3034de8adcd495a" /><Relationship Type="http://schemas.openxmlformats.org/officeDocument/2006/relationships/slide" Target="/ppt/slides/slide43.xml" Id="R64032e4eae5445a2" /><Relationship Type="http://schemas.openxmlformats.org/officeDocument/2006/relationships/slide" Target="/ppt/slides/slide44.xml" Id="Rf89ec102b4594a79" /><Relationship Type="http://schemas.openxmlformats.org/officeDocument/2006/relationships/slide" Target="/ppt/slides/slide45.xml" Id="R366a0ca685b54727" /><Relationship Type="http://schemas.openxmlformats.org/officeDocument/2006/relationships/slide" Target="/ppt/slides/slide46.xml" Id="Rd2119fc61b5442ca" /><Relationship Type="http://schemas.openxmlformats.org/officeDocument/2006/relationships/slide" Target="/ppt/slides/slide47.xml" Id="Rdd6449b71ec94885" /><Relationship Type="http://schemas.openxmlformats.org/officeDocument/2006/relationships/slide" Target="/ppt/slides/slide48.xml" Id="R4b15789efc6c40b2" /><Relationship Type="http://schemas.openxmlformats.org/officeDocument/2006/relationships/slide" Target="/ppt/slides/slide49.xml" Id="R18a661432136472c" /><Relationship Type="http://schemas.openxmlformats.org/officeDocument/2006/relationships/slide" Target="/ppt/slides/slide50.xml" Id="Rc005d9b01d2543e5" /><Relationship Type="http://schemas.openxmlformats.org/officeDocument/2006/relationships/slide" Target="/ppt/slides/slide51.xml" Id="R1f0fb7f77c364d01" /><Relationship Type="http://schemas.openxmlformats.org/officeDocument/2006/relationships/slide" Target="/ppt/slides/slide52.xml" Id="Ra9c29d46e8574957" /><Relationship Type="http://schemas.openxmlformats.org/officeDocument/2006/relationships/slide" Target="/ppt/slides/slide53.xml" Id="Rb825850d598f468d" /><Relationship Type="http://schemas.openxmlformats.org/officeDocument/2006/relationships/slide" Target="/ppt/slides/slide54.xml" Id="Rea58dcba4e9e41ae" /><Relationship Type="http://schemas.openxmlformats.org/officeDocument/2006/relationships/slide" Target="/ppt/slides/slide55.xml" Id="Rce5d1d4edd7e4b99" /><Relationship Type="http://schemas.openxmlformats.org/officeDocument/2006/relationships/slide" Target="/ppt/slides/slide56.xml" Id="R1dcecfcd2f444141" /><Relationship Type="http://schemas.openxmlformats.org/officeDocument/2006/relationships/slide" Target="/ppt/slides/slide57.xml" Id="R7b59c218894d4ad6" /><Relationship Type="http://schemas.openxmlformats.org/officeDocument/2006/relationships/slide" Target="/ppt/slides/slide58.xml" Id="Rd0fb9b57323d424f" /><Relationship Type="http://schemas.openxmlformats.org/officeDocument/2006/relationships/slide" Target="/ppt/slides/slide59.xml" Id="R631978fe698b47b2" /><Relationship Type="http://schemas.openxmlformats.org/officeDocument/2006/relationships/slide" Target="/ppt/slides/slide60.xml" Id="R95be3042f2934ef0" /><Relationship Type="http://schemas.openxmlformats.org/officeDocument/2006/relationships/slide" Target="/ppt/slides/slide61.xml" Id="Ra616ddadbfa94076" /><Relationship Type="http://schemas.openxmlformats.org/officeDocument/2006/relationships/slide" Target="/ppt/slides/slide62.xml" Id="R058eccadc2624880" /><Relationship Type="http://schemas.openxmlformats.org/officeDocument/2006/relationships/slide" Target="/ppt/slides/slide63.xml" Id="Re9aaf68aaa674483" /><Relationship Type="http://schemas.openxmlformats.org/officeDocument/2006/relationships/slide" Target="/ppt/slides/slide64.xml" Id="Rd1cf3951fe2c4b58" /><Relationship Type="http://schemas.openxmlformats.org/officeDocument/2006/relationships/slide" Target="/ppt/slides/slide65.xml" Id="Re3e5807a85ed4fc2" /><Relationship Type="http://schemas.openxmlformats.org/officeDocument/2006/relationships/slide" Target="/ppt/slides/slide66.xml" Id="Ra6f423c70a594a79" /><Relationship Type="http://schemas.openxmlformats.org/officeDocument/2006/relationships/slide" Target="/ppt/slides/slide67.xml" Id="R2cb900d259924a05" /><Relationship Type="http://schemas.openxmlformats.org/officeDocument/2006/relationships/slide" Target="/ppt/slides/slide68.xml" Id="R4f1317e4d9374dc4" /><Relationship Type="http://schemas.openxmlformats.org/officeDocument/2006/relationships/slide" Target="/ppt/slides/slide69.xml" Id="R1adee94db9fb474c" /><Relationship Type="http://schemas.openxmlformats.org/officeDocument/2006/relationships/slide" Target="/ppt/slides/slide70.xml" Id="R7057ac781170409c" /><Relationship Type="http://schemas.openxmlformats.org/officeDocument/2006/relationships/slide" Target="/ppt/slides/slide71.xml" Id="R86a4964e83404df6" /><Relationship Type="http://schemas.openxmlformats.org/officeDocument/2006/relationships/slide" Target="/ppt/slides/slide72.xml" Id="R449608d139c44a51" /><Relationship Type="http://schemas.openxmlformats.org/officeDocument/2006/relationships/slide" Target="/ppt/slides/slide73.xml" Id="R4f8b0889b9c8473b" /><Relationship Type="http://schemas.openxmlformats.org/officeDocument/2006/relationships/slide" Target="/ppt/slides/slide74.xml" Id="R99b8fdf791944f95" /><Relationship Type="http://schemas.openxmlformats.org/officeDocument/2006/relationships/slide" Target="/ppt/slides/slide75.xml" Id="Re18a54ad0bb44a7d" /><Relationship Type="http://schemas.openxmlformats.org/officeDocument/2006/relationships/slide" Target="/ppt/slides/slide76.xml" Id="Rf7b8536acf5945cf" /><Relationship Type="http://schemas.openxmlformats.org/officeDocument/2006/relationships/slide" Target="/ppt/slides/slide77.xml" Id="R7372b5a61c004f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61467cf17043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b5d7486fea4097" /><Relationship Type="http://schemas.openxmlformats.org/officeDocument/2006/relationships/notesMaster" Target="/ppt/notesMasters/notesMaster1.xml" Id="Red015897d45341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26a5cc824242bd" /><Relationship Type="http://schemas.openxmlformats.org/officeDocument/2006/relationships/notesMaster" Target="/ppt/notesMasters/notesMaster1.xml" Id="R678d6566740547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48d401bf824988" /><Relationship Type="http://schemas.openxmlformats.org/officeDocument/2006/relationships/notesMaster" Target="/ppt/notesMasters/notesMaster1.xml" Id="Rb86b7facdbe143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f04f7227bf4d51" /><Relationship Type="http://schemas.openxmlformats.org/officeDocument/2006/relationships/notesMaster" Target="/ppt/notesMasters/notesMaster1.xml" Id="Rfddc25c791d844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d2f02fb2fb4b49" /><Relationship Type="http://schemas.openxmlformats.org/officeDocument/2006/relationships/notesMaster" Target="/ppt/notesMasters/notesMaster1.xml" Id="R6becda10956a40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b996f28dc941ff" /><Relationship Type="http://schemas.openxmlformats.org/officeDocument/2006/relationships/notesMaster" Target="/ppt/notesMasters/notesMaster1.xml" Id="R2c87adbef62848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4037d0fba149ef" /><Relationship Type="http://schemas.openxmlformats.org/officeDocument/2006/relationships/notesMaster" Target="/ppt/notesMasters/notesMaster1.xml" Id="R9cf6a35c3c0e40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7c0a4d0f4e45d5" /><Relationship Type="http://schemas.openxmlformats.org/officeDocument/2006/relationships/notesMaster" Target="/ppt/notesMasters/notesMaster1.xml" Id="R0589dd88cda944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feddafa071486e" /><Relationship Type="http://schemas.openxmlformats.org/officeDocument/2006/relationships/notesMaster" Target="/ppt/notesMasters/notesMaster1.xml" Id="R48f139cdcd324b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c4b440daee4523" /><Relationship Type="http://schemas.openxmlformats.org/officeDocument/2006/relationships/notesMaster" Target="/ppt/notesMasters/notesMaster1.xml" Id="R6be55ff8a8094f6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b940328fd44d18" /><Relationship Type="http://schemas.openxmlformats.org/officeDocument/2006/relationships/notesMaster" Target="/ppt/notesMasters/notesMaster1.xml" Id="R1f405ed81b6343b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f82268b09c34618" /><Relationship Type="http://schemas.openxmlformats.org/officeDocument/2006/relationships/notesMaster" Target="/ppt/notesMasters/notesMaster1.xml" Id="R4450da6a60fa4bf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6f13815cb2f46c8" /><Relationship Type="http://schemas.openxmlformats.org/officeDocument/2006/relationships/notesMaster" Target="/ppt/notesMasters/notesMaster1.xml" Id="Rbb14b90e6f3f4a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5abd5542ee4ccb" /><Relationship Type="http://schemas.openxmlformats.org/officeDocument/2006/relationships/notesMaster" Target="/ppt/notesMasters/notesMaster1.xml" Id="R705b6d35c86644d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2f8a0219e914b19" /><Relationship Type="http://schemas.openxmlformats.org/officeDocument/2006/relationships/notesMaster" Target="/ppt/notesMasters/notesMaster1.xml" Id="R883897e241bd44c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a939cf599b743f6" /><Relationship Type="http://schemas.openxmlformats.org/officeDocument/2006/relationships/notesMaster" Target="/ppt/notesMasters/notesMaster1.xml" Id="Raea2306f97754a8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7a4b9e70ab14b23" /><Relationship Type="http://schemas.openxmlformats.org/officeDocument/2006/relationships/notesMaster" Target="/ppt/notesMasters/notesMaster1.xml" Id="R6c7584c59693412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333c97592934519" /><Relationship Type="http://schemas.openxmlformats.org/officeDocument/2006/relationships/notesMaster" Target="/ppt/notesMasters/notesMaster1.xml" Id="Reff277f233e64e3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bdad39229da4fbe" /><Relationship Type="http://schemas.openxmlformats.org/officeDocument/2006/relationships/notesMaster" Target="/ppt/notesMasters/notesMaster1.xml" Id="Rce8db0e985d147f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5fc4d6f67084f79" /><Relationship Type="http://schemas.openxmlformats.org/officeDocument/2006/relationships/notesMaster" Target="/ppt/notesMasters/notesMaster1.xml" Id="R531b67fe8f3c426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53726c3717641c2" /><Relationship Type="http://schemas.openxmlformats.org/officeDocument/2006/relationships/notesMaster" Target="/ppt/notesMasters/notesMaster1.xml" Id="Raef7a1c28f6f47a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e1a952f02d944ec" /><Relationship Type="http://schemas.openxmlformats.org/officeDocument/2006/relationships/notesMaster" Target="/ppt/notesMasters/notesMaster1.xml" Id="Rdd2370eb4cbd4cf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26e138aedc141fa" /><Relationship Type="http://schemas.openxmlformats.org/officeDocument/2006/relationships/notesMaster" Target="/ppt/notesMasters/notesMaster1.xml" Id="Rf1c3bd6bcc97421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5a7d31901964e63" /><Relationship Type="http://schemas.openxmlformats.org/officeDocument/2006/relationships/notesMaster" Target="/ppt/notesMasters/notesMaster1.xml" Id="R7d7a9e6e03cb453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95a296f41cb4ef0" /><Relationship Type="http://schemas.openxmlformats.org/officeDocument/2006/relationships/notesMaster" Target="/ppt/notesMasters/notesMaster1.xml" Id="Ra06125fc08514db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ef4326d9e3f4a72" /><Relationship Type="http://schemas.openxmlformats.org/officeDocument/2006/relationships/notesMaster" Target="/ppt/notesMasters/notesMaster1.xml" Id="Rc4d2f81411b14d9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8a556b1702b4708" /><Relationship Type="http://schemas.openxmlformats.org/officeDocument/2006/relationships/notesMaster" Target="/ppt/notesMasters/notesMaster1.xml" Id="Re52fe557d29b4fd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05e4ff582b74b4d" /><Relationship Type="http://schemas.openxmlformats.org/officeDocument/2006/relationships/notesMaster" Target="/ppt/notesMasters/notesMaster1.xml" Id="Re2556d6f72824fe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4bfef55b89a49a2" /><Relationship Type="http://schemas.openxmlformats.org/officeDocument/2006/relationships/notesMaster" Target="/ppt/notesMasters/notesMaster1.xml" Id="Re967a22b75f7412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06959e8cf6d4c89" /><Relationship Type="http://schemas.openxmlformats.org/officeDocument/2006/relationships/notesMaster" Target="/ppt/notesMasters/notesMaster1.xml" Id="R740bb8a3bef6454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5b440ca21884c0b" /><Relationship Type="http://schemas.openxmlformats.org/officeDocument/2006/relationships/notesMaster" Target="/ppt/notesMasters/notesMaster1.xml" Id="R4093be2c3cc94bf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c15c5db09cb4529" /><Relationship Type="http://schemas.openxmlformats.org/officeDocument/2006/relationships/notesMaster" Target="/ppt/notesMasters/notesMaster1.xml" Id="R6a0a6c29b22348e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3251fbd670a4d58" /><Relationship Type="http://schemas.openxmlformats.org/officeDocument/2006/relationships/notesMaster" Target="/ppt/notesMasters/notesMaster1.xml" Id="Rad5e6d99b50e4dc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cbff6c448974ffc" /><Relationship Type="http://schemas.openxmlformats.org/officeDocument/2006/relationships/notesMaster" Target="/ppt/notesMasters/notesMaster1.xml" Id="R3d507219942144a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3cd22d2d4664e06" /><Relationship Type="http://schemas.openxmlformats.org/officeDocument/2006/relationships/notesMaster" Target="/ppt/notesMasters/notesMaster1.xml" Id="Rfbc4c7cbec264a4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2436f07c22e42f6" /><Relationship Type="http://schemas.openxmlformats.org/officeDocument/2006/relationships/notesMaster" Target="/ppt/notesMasters/notesMaster1.xml" Id="R87e5274fec99455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677e87867204e44" /><Relationship Type="http://schemas.openxmlformats.org/officeDocument/2006/relationships/notesMaster" Target="/ppt/notesMasters/notesMaster1.xml" Id="Rdef9fe0239de43c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2979184ef604013" /><Relationship Type="http://schemas.openxmlformats.org/officeDocument/2006/relationships/notesMaster" Target="/ppt/notesMasters/notesMaster1.xml" Id="R055ce7882624464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53c25668f3b4551" /><Relationship Type="http://schemas.openxmlformats.org/officeDocument/2006/relationships/notesMaster" Target="/ppt/notesMasters/notesMaster1.xml" Id="R8cc2e2e6cd654bd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c907c7e6858404c" /><Relationship Type="http://schemas.openxmlformats.org/officeDocument/2006/relationships/notesMaster" Target="/ppt/notesMasters/notesMaster1.xml" Id="R4f699414965c407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d669d7eb3be4079" /><Relationship Type="http://schemas.openxmlformats.org/officeDocument/2006/relationships/notesMaster" Target="/ppt/notesMasters/notesMaster1.xml" Id="R0a5301f657e145e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6fd8013ccf94ccc" /><Relationship Type="http://schemas.openxmlformats.org/officeDocument/2006/relationships/notesMaster" Target="/ppt/notesMasters/notesMaster1.xml" Id="R0939cb31fceb453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76af53b3cbb4cb4" /><Relationship Type="http://schemas.openxmlformats.org/officeDocument/2006/relationships/notesMaster" Target="/ppt/notesMasters/notesMaster1.xml" Id="R1dc107d742034a0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43eec0ecbdf4a35" /><Relationship Type="http://schemas.openxmlformats.org/officeDocument/2006/relationships/notesMaster" Target="/ppt/notesMasters/notesMaster1.xml" Id="R70c31d7d84a3462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42b3926eeb34e9e" /><Relationship Type="http://schemas.openxmlformats.org/officeDocument/2006/relationships/notesMaster" Target="/ppt/notesMasters/notesMaster1.xml" Id="Re5550bc8d15d4eb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4475ed0cc754631" /><Relationship Type="http://schemas.openxmlformats.org/officeDocument/2006/relationships/notesMaster" Target="/ppt/notesMasters/notesMaster1.xml" Id="R296f2732213141d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6eacae07eeb4bb0" /><Relationship Type="http://schemas.openxmlformats.org/officeDocument/2006/relationships/notesMaster" Target="/ppt/notesMasters/notesMaster1.xml" Id="R83172161e49b41c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2432da221594ec7" /><Relationship Type="http://schemas.openxmlformats.org/officeDocument/2006/relationships/notesMaster" Target="/ppt/notesMasters/notesMaster1.xml" Id="R6d6b922beab3464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c168108052a46f0" /><Relationship Type="http://schemas.openxmlformats.org/officeDocument/2006/relationships/notesMaster" Target="/ppt/notesMasters/notesMaster1.xml" Id="R85a11245d5024e3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ccdacc484774a97" /><Relationship Type="http://schemas.openxmlformats.org/officeDocument/2006/relationships/notesMaster" Target="/ppt/notesMasters/notesMaster1.xml" Id="R473ce30d68bf426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794f871392f4326" /><Relationship Type="http://schemas.openxmlformats.org/officeDocument/2006/relationships/notesMaster" Target="/ppt/notesMasters/notesMaster1.xml" Id="R8186b76763d4494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7bd97275b0240ac" /><Relationship Type="http://schemas.openxmlformats.org/officeDocument/2006/relationships/notesMaster" Target="/ppt/notesMasters/notesMaster1.xml" Id="Raaea4fd001794bf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17e66caf5e54b16" /><Relationship Type="http://schemas.openxmlformats.org/officeDocument/2006/relationships/notesMaster" Target="/ppt/notesMasters/notesMaster1.xml" Id="Rd0c9cef45db04e38"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8694d955c1e43c4" /><Relationship Type="http://schemas.openxmlformats.org/officeDocument/2006/relationships/notesMaster" Target="/ppt/notesMasters/notesMaster1.xml" Id="R5325459dca49427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e65ab85bcb074136" /><Relationship Type="http://schemas.openxmlformats.org/officeDocument/2006/relationships/notesMaster" Target="/ppt/notesMasters/notesMaster1.xml" Id="R9c4aa802dff34d8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9f8c33b989294a31" /><Relationship Type="http://schemas.openxmlformats.org/officeDocument/2006/relationships/notesMaster" Target="/ppt/notesMasters/notesMaster1.xml" Id="R96a340737d0349fb"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c555300188bd4630" /><Relationship Type="http://schemas.openxmlformats.org/officeDocument/2006/relationships/notesMaster" Target="/ppt/notesMasters/notesMaster1.xml" Id="R6356e56cc6554a6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9b47b67101cd454f" /><Relationship Type="http://schemas.openxmlformats.org/officeDocument/2006/relationships/notesMaster" Target="/ppt/notesMasters/notesMaster1.xml" Id="R44f234cc0bba4a3f"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402e18a18154ddb" /><Relationship Type="http://schemas.openxmlformats.org/officeDocument/2006/relationships/notesMaster" Target="/ppt/notesMasters/notesMaster1.xml" Id="R6ba6b36e9a8240e1"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9ecd3a528e2447e4" /><Relationship Type="http://schemas.openxmlformats.org/officeDocument/2006/relationships/notesMaster" Target="/ppt/notesMasters/notesMaster1.xml" Id="Rffb459bbd7bb4f71"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5354995ac6d2489f" /><Relationship Type="http://schemas.openxmlformats.org/officeDocument/2006/relationships/notesMaster" Target="/ppt/notesMasters/notesMaster1.xml" Id="R79d7d8f4af35451c"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34824b0917724e4f" /><Relationship Type="http://schemas.openxmlformats.org/officeDocument/2006/relationships/notesMaster" Target="/ppt/notesMasters/notesMaster1.xml" Id="R82d2a3266fd543e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5e720e2fe3654b73" /><Relationship Type="http://schemas.openxmlformats.org/officeDocument/2006/relationships/notesMaster" Target="/ppt/notesMasters/notesMaster1.xml" Id="R96e7cbbe80014afe"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32061cd46d0d4701" /><Relationship Type="http://schemas.openxmlformats.org/officeDocument/2006/relationships/notesMaster" Target="/ppt/notesMasters/notesMaster1.xml" Id="R02b096b30c86495b"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803e11aff776468c" /><Relationship Type="http://schemas.openxmlformats.org/officeDocument/2006/relationships/notesMaster" Target="/ppt/notesMasters/notesMaster1.xml" Id="R59f688582ba64170"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94df376a96f3427d" /><Relationship Type="http://schemas.openxmlformats.org/officeDocument/2006/relationships/notesMaster" Target="/ppt/notesMasters/notesMaster1.xml" Id="R35534b1879ff4e92"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3fa7a8dca1504929" /><Relationship Type="http://schemas.openxmlformats.org/officeDocument/2006/relationships/notesMaster" Target="/ppt/notesMasters/notesMaster1.xml" Id="Rdddb7d292bc04f32"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6dc55eafd4854c3f" /><Relationship Type="http://schemas.openxmlformats.org/officeDocument/2006/relationships/notesMaster" Target="/ppt/notesMasters/notesMaster1.xml" Id="R12ca0fcb7c7f4b15"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c99756b441714d77" /><Relationship Type="http://schemas.openxmlformats.org/officeDocument/2006/relationships/notesMaster" Target="/ppt/notesMasters/notesMaster1.xml" Id="R7b6fea30981240ba"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1a6c84a36ccd4002" /><Relationship Type="http://schemas.openxmlformats.org/officeDocument/2006/relationships/notesMaster" Target="/ppt/notesMasters/notesMaster1.xml" Id="Rfe908791471843d7"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ba950dbf45604ba7" /><Relationship Type="http://schemas.openxmlformats.org/officeDocument/2006/relationships/notesMaster" Target="/ppt/notesMasters/notesMaster1.xml" Id="Rfdc8012debcf4682"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d4f7783a7f6d467e" /><Relationship Type="http://schemas.openxmlformats.org/officeDocument/2006/relationships/notesMaster" Target="/ppt/notesMasters/notesMaster1.xml" Id="Rc57794d3a0274cb2"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d4251297f3e5434e" /><Relationship Type="http://schemas.openxmlformats.org/officeDocument/2006/relationships/notesMaster" Target="/ppt/notesMasters/notesMaster1.xml" Id="R3ddf4633de3648a5"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37c228551c2d4f05" /><Relationship Type="http://schemas.openxmlformats.org/officeDocument/2006/relationships/notesMaster" Target="/ppt/notesMasters/notesMaster1.xml" Id="R608da81271f14de3"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3e556a819c3a428b" /><Relationship Type="http://schemas.openxmlformats.org/officeDocument/2006/relationships/notesMaster" Target="/ppt/notesMasters/notesMaster1.xml" Id="R4dc1a8339dae412d"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6d573542cd384836" /><Relationship Type="http://schemas.openxmlformats.org/officeDocument/2006/relationships/notesMaster" Target="/ppt/notesMasters/notesMaster1.xml" Id="R4b11b0a449be4593"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19766313026e4a4c" /><Relationship Type="http://schemas.openxmlformats.org/officeDocument/2006/relationships/notesMaster" Target="/ppt/notesMasters/notesMaster1.xml" Id="Rf7ae6f87fa7a4d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b2de03780c44a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19b96d989ab49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84f4d36641b4c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71aae9b66c347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69c03dc680446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092ec0223b046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280EE0-5FBF-43A0-AA8C-98867BD23C0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1A876C0-6072-4F9A-875D-90A255DED12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E3FC885-EB45-41F1-9E00-9B137026CA4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E09781-D253-43FB-BF7B-7D1DC351D1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9030E5C-DC62-42D3-8758-EA7A1C9CB05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F900412-BEA5-43F7-9F96-CEDEF1665E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7CFB282-DE64-495F-94B0-AF55784DFC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203CEFA-C465-4E71-AA7D-C2692374696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9E251D-B1CE-400F-AA97-08679A8B81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4EBAB3-C4E3-430F-B243-D7CD077BBE1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cf6a1255af4992" /><Relationship Type="http://schemas.openxmlformats.org/officeDocument/2006/relationships/slideLayout" Target="/ppt/slideLayouts/slideLayout1.xml" Id="R72465d5e8d824eea" /><Relationship Type="http://schemas.openxmlformats.org/officeDocument/2006/relationships/slideLayout" Target="/ppt/slideLayouts/slideLayout2.xml" Id="R0b9d819c71004eec" /><Relationship Type="http://schemas.openxmlformats.org/officeDocument/2006/relationships/slideLayout" Target="/ppt/slideLayouts/slideLayout3.xml" Id="R5797bb82e5c14d86" /><Relationship Type="http://schemas.openxmlformats.org/officeDocument/2006/relationships/slideLayout" Target="/ppt/slideLayouts/slideLayout4.xml" Id="R05c780537c224228" /><Relationship Type="http://schemas.openxmlformats.org/officeDocument/2006/relationships/slideLayout" Target="/ppt/slideLayouts/slideLayout5.xml" Id="R8e4deef049384105" /><Relationship Type="http://schemas.openxmlformats.org/officeDocument/2006/relationships/slideLayout" Target="/ppt/slideLayouts/slideLayout6.xml" Id="R14dfc2ef5c0840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465d5e8d824eea"/>
    <p:sldLayoutId xmlns:r="http://schemas.openxmlformats.org/officeDocument/2006/relationships" id="2147483650" r:id="R0b9d819c71004eec"/>
    <p:sldLayoutId xmlns:r="http://schemas.openxmlformats.org/officeDocument/2006/relationships" id="2147483651" r:id="R5797bb82e5c14d86"/>
    <p:sldLayoutId xmlns:r="http://schemas.openxmlformats.org/officeDocument/2006/relationships" id="2147483652" r:id="R05c780537c224228"/>
    <p:sldLayoutId xmlns:r="http://schemas.openxmlformats.org/officeDocument/2006/relationships" id="2147483653" r:id="R8e4deef049384105"/>
    <p:sldLayoutId xmlns:r="http://schemas.openxmlformats.org/officeDocument/2006/relationships" id="2147483654" r:id="R14dfc2ef5c0840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46077480a4c4e98" /><Relationship Type="http://schemas.openxmlformats.org/officeDocument/2006/relationships/notesSlide" Target="/ppt/notesSlides/notesSlide1.xml" Id="Rf40a89c4675448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5f98d96a00a466d" /><Relationship Type="http://schemas.openxmlformats.org/officeDocument/2006/relationships/notesSlide" Target="/ppt/notesSlides/notesSlide2.xml" Id="R78ae8b3d904a46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26d445803494068" /><Relationship Type="http://schemas.openxmlformats.org/officeDocument/2006/relationships/notesSlide" Target="/ppt/notesSlides/notesSlide3.xml" Id="R7b0f73caa37a4c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6073915d3994d29" /><Relationship Type="http://schemas.openxmlformats.org/officeDocument/2006/relationships/notesSlide" Target="/ppt/notesSlides/notesSlide4.xml" Id="R23b4d1b1ebf84b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d4a12e20ed74f57" /><Relationship Type="http://schemas.openxmlformats.org/officeDocument/2006/relationships/notesSlide" Target="/ppt/notesSlides/notesSlide5.xml" Id="R52c2ba0cd9344a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f6ff5c2b6924d79" /><Relationship Type="http://schemas.openxmlformats.org/officeDocument/2006/relationships/notesSlide" Target="/ppt/notesSlides/notesSlide6.xml" Id="Rc64690d445234c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1037d3c418f4108" /><Relationship Type="http://schemas.openxmlformats.org/officeDocument/2006/relationships/notesSlide" Target="/ppt/notesSlides/notesSlide7.xml" Id="R399b3f0d865d49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37a46c4bb8644ce" /><Relationship Type="http://schemas.openxmlformats.org/officeDocument/2006/relationships/notesSlide" Target="/ppt/notesSlides/notesSlide8.xml" Id="R1c5b242fb98149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457bd0fa4964a05" /><Relationship Type="http://schemas.openxmlformats.org/officeDocument/2006/relationships/notesSlide" Target="/ppt/notesSlides/notesSlide9.xml" Id="R922268c8eb9b4d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f45fc715b064206" /><Relationship Type="http://schemas.openxmlformats.org/officeDocument/2006/relationships/notesSlide" Target="/ppt/notesSlides/notesSlide10.xml" Id="Rb9b57e34747848e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395445358994b50" /><Relationship Type="http://schemas.openxmlformats.org/officeDocument/2006/relationships/notesSlide" Target="/ppt/notesSlides/notesSlide11.xml" Id="Rfacd28da57ff45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c68154bc8894c10" /><Relationship Type="http://schemas.openxmlformats.org/officeDocument/2006/relationships/notesSlide" Target="/ppt/notesSlides/notesSlide12.xml" Id="R3368820c6ef04ba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89fb885a3944a3f" /><Relationship Type="http://schemas.openxmlformats.org/officeDocument/2006/relationships/notesSlide" Target="/ppt/notesSlides/notesSlide13.xml" Id="Rbf1e219b615e497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e80143f91d64246" /><Relationship Type="http://schemas.openxmlformats.org/officeDocument/2006/relationships/notesSlide" Target="/ppt/notesSlides/notesSlide14.xml" Id="R791c803c264a4b7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8108af1d3da4d2d" /><Relationship Type="http://schemas.openxmlformats.org/officeDocument/2006/relationships/notesSlide" Target="/ppt/notesSlides/notesSlide15.xml" Id="R74f7004f56cc40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c03ddbe72e04345" /><Relationship Type="http://schemas.openxmlformats.org/officeDocument/2006/relationships/notesSlide" Target="/ppt/notesSlides/notesSlide16.xml" Id="R20cc53a7fe74487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0fa9236d9d7446c" /><Relationship Type="http://schemas.openxmlformats.org/officeDocument/2006/relationships/notesSlide" Target="/ppt/notesSlides/notesSlide17.xml" Id="Rf76cd84ba862416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c95a638d25e40a7" /><Relationship Type="http://schemas.openxmlformats.org/officeDocument/2006/relationships/notesSlide" Target="/ppt/notesSlides/notesSlide18.xml" Id="R36bf5df642324e4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5d065ef9c0a419c" /><Relationship Type="http://schemas.openxmlformats.org/officeDocument/2006/relationships/notesSlide" Target="/ppt/notesSlides/notesSlide19.xml" Id="Rcadd7fd0c5e8439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e59046047b44cd0" /><Relationship Type="http://schemas.openxmlformats.org/officeDocument/2006/relationships/notesSlide" Target="/ppt/notesSlides/notesSlide20.xml" Id="Re16e41bece4749f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e863ec4bc9f4e81" /><Relationship Type="http://schemas.openxmlformats.org/officeDocument/2006/relationships/notesSlide" Target="/ppt/notesSlides/notesSlide21.xml" Id="Rf99db687aaaa4ca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5ac3aaca7724c89" /><Relationship Type="http://schemas.openxmlformats.org/officeDocument/2006/relationships/notesSlide" Target="/ppt/notesSlides/notesSlide22.xml" Id="Rc3be92423ec54b9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2b38803a6dd4285" /><Relationship Type="http://schemas.openxmlformats.org/officeDocument/2006/relationships/notesSlide" Target="/ppt/notesSlides/notesSlide23.xml" Id="R373f0a02c0cb427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d7bde2f71624bd0" /><Relationship Type="http://schemas.openxmlformats.org/officeDocument/2006/relationships/notesSlide" Target="/ppt/notesSlides/notesSlide24.xml" Id="Rb9720e7c0983486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eb10c046dc84cfb" /><Relationship Type="http://schemas.openxmlformats.org/officeDocument/2006/relationships/notesSlide" Target="/ppt/notesSlides/notesSlide25.xml" Id="Rb0d95b0b46d64d8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33d6d600546472c" /><Relationship Type="http://schemas.openxmlformats.org/officeDocument/2006/relationships/notesSlide" Target="/ppt/notesSlides/notesSlide26.xml" Id="R620d08cac5f34be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267235ef35e4689" /><Relationship Type="http://schemas.openxmlformats.org/officeDocument/2006/relationships/notesSlide" Target="/ppt/notesSlides/notesSlide27.xml" Id="R1be582c4637d41f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0557ab1e6f44404" /><Relationship Type="http://schemas.openxmlformats.org/officeDocument/2006/relationships/notesSlide" Target="/ppt/notesSlides/notesSlide28.xml" Id="Re2c6cdabce264e1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091a95ff65642ca" /><Relationship Type="http://schemas.openxmlformats.org/officeDocument/2006/relationships/notesSlide" Target="/ppt/notesSlides/notesSlide29.xml" Id="R1579175e24e9407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b248f5b23dd4ba2" /><Relationship Type="http://schemas.openxmlformats.org/officeDocument/2006/relationships/notesSlide" Target="/ppt/notesSlides/notesSlide30.xml" Id="R84ef4992dd7744c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7f2139a87b14790" /><Relationship Type="http://schemas.openxmlformats.org/officeDocument/2006/relationships/notesSlide" Target="/ppt/notesSlides/notesSlide31.xml" Id="Rb5059cbe3cec4ca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070a313560f4588" /><Relationship Type="http://schemas.openxmlformats.org/officeDocument/2006/relationships/notesSlide" Target="/ppt/notesSlides/notesSlide32.xml" Id="R334f2e59087e4f9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740f83c62fc4542" /><Relationship Type="http://schemas.openxmlformats.org/officeDocument/2006/relationships/notesSlide" Target="/ppt/notesSlides/notesSlide33.xml" Id="R7bf4ccef3c9f4d7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723ae5b47033461e" /><Relationship Type="http://schemas.openxmlformats.org/officeDocument/2006/relationships/notesSlide" Target="/ppt/notesSlides/notesSlide34.xml" Id="R32a512767403450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05f81734eef4e20" /><Relationship Type="http://schemas.openxmlformats.org/officeDocument/2006/relationships/notesSlide" Target="/ppt/notesSlides/notesSlide35.xml" Id="Rcdb4fd9aef324fe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0d2086d7daee4820" /><Relationship Type="http://schemas.openxmlformats.org/officeDocument/2006/relationships/notesSlide" Target="/ppt/notesSlides/notesSlide36.xml" Id="R84921fe1b6df41d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17ab6138984498f" /><Relationship Type="http://schemas.openxmlformats.org/officeDocument/2006/relationships/notesSlide" Target="/ppt/notesSlides/notesSlide37.xml" Id="Raf5d6393e8d24d0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2510d8b275b443e5" /><Relationship Type="http://schemas.openxmlformats.org/officeDocument/2006/relationships/notesSlide" Target="/ppt/notesSlides/notesSlide38.xml" Id="R569de374ab6643e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5e57879fd2eb4301" /><Relationship Type="http://schemas.openxmlformats.org/officeDocument/2006/relationships/notesSlide" Target="/ppt/notesSlides/notesSlide39.xml" Id="R47e982bd436d48a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18e6e938d354654" /><Relationship Type="http://schemas.openxmlformats.org/officeDocument/2006/relationships/notesSlide" Target="/ppt/notesSlides/notesSlide40.xml" Id="R524ecd8b67ff4d8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464fe75854664d28" /><Relationship Type="http://schemas.openxmlformats.org/officeDocument/2006/relationships/notesSlide" Target="/ppt/notesSlides/notesSlide41.xml" Id="R4106ece58ca74ed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3cffba2ce9044fac" /><Relationship Type="http://schemas.openxmlformats.org/officeDocument/2006/relationships/notesSlide" Target="/ppt/notesSlides/notesSlide42.xml" Id="R91825a9046b5464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03f8a7692b734be7" /><Relationship Type="http://schemas.openxmlformats.org/officeDocument/2006/relationships/notesSlide" Target="/ppt/notesSlides/notesSlide43.xml" Id="R4f5ee2d3eb95453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6996389667fb40b8" /><Relationship Type="http://schemas.openxmlformats.org/officeDocument/2006/relationships/notesSlide" Target="/ppt/notesSlides/notesSlide44.xml" Id="Re98d594f338f41e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76059ff2d4b04a09" /><Relationship Type="http://schemas.openxmlformats.org/officeDocument/2006/relationships/notesSlide" Target="/ppt/notesSlides/notesSlide45.xml" Id="Rd4b72b324ff3451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fbf65d78bb0c4206" /><Relationship Type="http://schemas.openxmlformats.org/officeDocument/2006/relationships/notesSlide" Target="/ppt/notesSlides/notesSlide46.xml" Id="R87c3ba179d2b45c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8b2fcf368f844ee1" /><Relationship Type="http://schemas.openxmlformats.org/officeDocument/2006/relationships/notesSlide" Target="/ppt/notesSlides/notesSlide47.xml" Id="R614bb239d4c446b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d024407ceec64715" /><Relationship Type="http://schemas.openxmlformats.org/officeDocument/2006/relationships/notesSlide" Target="/ppt/notesSlides/notesSlide48.xml" Id="R010efacd4f04406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f2dc21dc1d4945d7" /><Relationship Type="http://schemas.openxmlformats.org/officeDocument/2006/relationships/notesSlide" Target="/ppt/notesSlides/notesSlide49.xml" Id="R246e77b25166414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c8dbc66468274e1b" /><Relationship Type="http://schemas.openxmlformats.org/officeDocument/2006/relationships/notesSlide" Target="/ppt/notesSlides/notesSlide50.xml" Id="R26e4d9a22c4041c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10411e6b5f24468d" /><Relationship Type="http://schemas.openxmlformats.org/officeDocument/2006/relationships/notesSlide" Target="/ppt/notesSlides/notesSlide51.xml" Id="R03f406dc22874d5e"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daba2528624d4163" /><Relationship Type="http://schemas.openxmlformats.org/officeDocument/2006/relationships/notesSlide" Target="/ppt/notesSlides/notesSlide52.xml" Id="R7d1fe494a3cb457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fa37cb9a5a8a4de3" /><Relationship Type="http://schemas.openxmlformats.org/officeDocument/2006/relationships/notesSlide" Target="/ppt/notesSlides/notesSlide53.xml" Id="R87246dcea9e9403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9b811a23b8554e69" /><Relationship Type="http://schemas.openxmlformats.org/officeDocument/2006/relationships/notesSlide" Target="/ppt/notesSlides/notesSlide54.xml" Id="R15e2e5d072b04d5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17ad4d97cd12448e" /><Relationship Type="http://schemas.openxmlformats.org/officeDocument/2006/relationships/notesSlide" Target="/ppt/notesSlides/notesSlide55.xml" Id="R8297b18165ea4bf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37b0e9acb4fe466a" /><Relationship Type="http://schemas.openxmlformats.org/officeDocument/2006/relationships/notesSlide" Target="/ppt/notesSlides/notesSlide56.xml" Id="Rac17bdf76739405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81c3ccf8511f475f" /><Relationship Type="http://schemas.openxmlformats.org/officeDocument/2006/relationships/notesSlide" Target="/ppt/notesSlides/notesSlide57.xml" Id="R1d519df007e2430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8d4023c1152a4c44" /><Relationship Type="http://schemas.openxmlformats.org/officeDocument/2006/relationships/notesSlide" Target="/ppt/notesSlides/notesSlide58.xml" Id="R738a44174b574dc0"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dd7793f5c3c8407c" /><Relationship Type="http://schemas.openxmlformats.org/officeDocument/2006/relationships/notesSlide" Target="/ppt/notesSlides/notesSlide59.xml" Id="R66504c7a58804af8"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c25736a4a2af407e" /><Relationship Type="http://schemas.openxmlformats.org/officeDocument/2006/relationships/notesSlide" Target="/ppt/notesSlides/notesSlide60.xml" Id="Ree5eb8b2ea2c43a7"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c704abfa49cc4480" /><Relationship Type="http://schemas.openxmlformats.org/officeDocument/2006/relationships/notesSlide" Target="/ppt/notesSlides/notesSlide61.xml" Id="R271e0a8b30fd4f7b"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ab80723ddf654404" /><Relationship Type="http://schemas.openxmlformats.org/officeDocument/2006/relationships/notesSlide" Target="/ppt/notesSlides/notesSlide62.xml" Id="Rba9958db78e94ac0"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6eba2377fcdc49cd" /><Relationship Type="http://schemas.openxmlformats.org/officeDocument/2006/relationships/notesSlide" Target="/ppt/notesSlides/notesSlide63.xml" Id="Rda80caf5c3df4d53"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3b4ca398a6354f44" /><Relationship Type="http://schemas.openxmlformats.org/officeDocument/2006/relationships/notesSlide" Target="/ppt/notesSlides/notesSlide64.xml" Id="Rcea9507fc7954f2d"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93ad81f2909c4c0c" /><Relationship Type="http://schemas.openxmlformats.org/officeDocument/2006/relationships/notesSlide" Target="/ppt/notesSlides/notesSlide65.xml" Id="Rc58cc8ac24464eec"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4ad1799445a346ed" /><Relationship Type="http://schemas.openxmlformats.org/officeDocument/2006/relationships/notesSlide" Target="/ppt/notesSlides/notesSlide66.xml" Id="R67676cf4bf9c4263"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d05fd674de5e4016" /><Relationship Type="http://schemas.openxmlformats.org/officeDocument/2006/relationships/notesSlide" Target="/ppt/notesSlides/notesSlide67.xml" Id="Rfd8457cc4f7f4cbc"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4d48678edc0b401d" /><Relationship Type="http://schemas.openxmlformats.org/officeDocument/2006/relationships/notesSlide" Target="/ppt/notesSlides/notesSlide68.xml" Id="Rcf167514e11e4919"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41a46746da5c4e55" /><Relationship Type="http://schemas.openxmlformats.org/officeDocument/2006/relationships/notesSlide" Target="/ppt/notesSlides/notesSlide69.xml" Id="Refa1068ce1d5410e"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a59a4fe076144cee" /><Relationship Type="http://schemas.openxmlformats.org/officeDocument/2006/relationships/notesSlide" Target="/ppt/notesSlides/notesSlide70.xml" Id="Rdf0d3e42d65b47c8"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43572f1d4e804296" /><Relationship Type="http://schemas.openxmlformats.org/officeDocument/2006/relationships/notesSlide" Target="/ppt/notesSlides/notesSlide71.xml" Id="R07bdf380c3014e9d"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b9d8b2ed8eb24511" /><Relationship Type="http://schemas.openxmlformats.org/officeDocument/2006/relationships/notesSlide" Target="/ppt/notesSlides/notesSlide72.xml" Id="R9f80568446324ef7"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f1db88ca28dc4bfa" /><Relationship Type="http://schemas.openxmlformats.org/officeDocument/2006/relationships/notesSlide" Target="/ppt/notesSlides/notesSlide73.xml" Id="R4e48e9ce2f6a4de0"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b1d983199b864c12" /><Relationship Type="http://schemas.openxmlformats.org/officeDocument/2006/relationships/notesSlide" Target="/ppt/notesSlides/notesSlide74.xml" Id="R888410b35d9e4f14"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1d837f234a594f01" /><Relationship Type="http://schemas.openxmlformats.org/officeDocument/2006/relationships/notesSlide" Target="/ppt/notesSlides/notesSlide75.xml" Id="R00e36b2fc7d24595"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4cb5ca8447ae4377" /><Relationship Type="http://schemas.openxmlformats.org/officeDocument/2006/relationships/notesSlide" Target="/ppt/notesSlides/notesSlide76.xml" Id="R7986da9e9a854ebd"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f857d762ba1a4bf8" /><Relationship Type="http://schemas.openxmlformats.org/officeDocument/2006/relationships/notesSlide" Target="/ppt/notesSlides/notesSlide77.xml" Id="R39d61d149d5a4de6"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8650F7-F36E-4132-A621-058C8F59CC42}"/>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B63577C-5C6C-4A98-ADD0-BF68102BF0B9}"/>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55FF2D36-0733-434B-B08B-191FD54CAA6E}"/>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Chemotherapy Safety</a:t>
            </a:r>
          </a:p>
        </p:txBody>
      </p:sp>
      <p:sp>
        <p:nvSpPr>
          <p:cNvPr id="4" name="">
            <a:extLst xmlns:a="http://schemas.openxmlformats.org/drawingml/2006/main">
              <a:ext uri="{FF2B5EF4-FFF2-40B4-BE49-F238E27FC236}">
                <a16:creationId xmlns:a16="http://schemas.microsoft.com/office/drawing/2014/main" id="{3F4062CF-5C69-433C-981A-8C7B4EE6C60D}"/>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6  |  30-Hour Basic Intravenous Therapy</a:t>
            </a:r>
          </a:p>
        </p:txBody>
      </p:sp>
      <p:sp>
        <p:nvSpPr>
          <p:cNvPr id="5" name="">
            <a:extLst xmlns:a="http://schemas.openxmlformats.org/drawingml/2006/main">
              <a:ext uri="{FF2B5EF4-FFF2-40B4-BE49-F238E27FC236}">
                <a16:creationId xmlns:a16="http://schemas.microsoft.com/office/drawing/2014/main" id="{C5E06D64-0B0F-467C-B67E-8302D8A2E35F}"/>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Comprehensive instructor presentation • full manual coverage</a:t>
            </a:r>
          </a:p>
        </p:txBody>
      </p:sp>
    </p:spTree>
    <p:extLst>
      <p:ext uri="{BB962C8B-B14F-4D97-AF65-F5344CB8AC3E}">
        <p14:creationId xmlns:p14="http://schemas.microsoft.com/office/powerpoint/2010/main" val="1812374630"/>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312488-27BB-42C8-83B1-63ADD2A613A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13E55AA-B359-4AF0-AE0C-D9465B63847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D6E36263-5788-4D80-A9A4-12D506DD1DC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3D5D8FA-6318-4381-A8F8-4297E413328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DEAAD8EE-9BAC-4F14-B5EA-817B5FCE327D}"/>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safe handling and exposure precautions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extravasation and other urgent complications</a:t>
            </a:r>
          </a:p>
        </p:txBody>
      </p:sp>
    </p:spTree>
    <p:extLst>
      <p:ext uri="{BB962C8B-B14F-4D97-AF65-F5344CB8AC3E}">
        <p14:creationId xmlns:p14="http://schemas.microsoft.com/office/powerpoint/2010/main" val="518973851"/>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4604E2-D9BE-4428-89BD-D296D3C9D9A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93DE605-9E4C-440F-B2A7-510F639D2B9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Role and limits</a:t>
            </a:r>
          </a:p>
        </p:txBody>
      </p:sp>
      <p:sp>
        <p:nvSpPr>
          <p:cNvPr id="3" name="">
            <a:extLst xmlns:a="http://schemas.openxmlformats.org/drawingml/2006/main">
              <a:ext uri="{FF2B5EF4-FFF2-40B4-BE49-F238E27FC236}">
                <a16:creationId xmlns:a16="http://schemas.microsoft.com/office/drawing/2014/main" id="{0E46170E-31CC-4307-9687-81BEA6C6932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45514BB-672C-4425-90DB-B3EA454E7A3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CA604944-687F-420F-9D9D-E1B47125C45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Cancer therapy may use multiple agents and routes.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LPN participation must stay within current Florida rules, direct-supervision requirements, validated competency, and institutional policy.</a:t>
            </a:r>
          </a:p>
        </p:txBody>
      </p:sp>
      <p:sp>
        <p:nvSpPr>
          <p:cNvPr id="6" name="">
            <a:extLst xmlns:a="http://schemas.openxmlformats.org/drawingml/2006/main">
              <a:ext uri="{FF2B5EF4-FFF2-40B4-BE49-F238E27FC236}">
                <a16:creationId xmlns:a16="http://schemas.microsoft.com/office/drawing/2014/main" id="{2F3C838A-C9A8-47FF-AD70-E6CD83BF5B6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18707671"/>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871BD4-3141-483B-B43F-AB6E669FE5A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18B65AF-811F-4ED6-9968-F5B6FDCF7F2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assessment</a:t>
            </a:r>
          </a:p>
        </p:txBody>
      </p:sp>
      <p:sp>
        <p:nvSpPr>
          <p:cNvPr id="3" name="">
            <a:extLst xmlns:a="http://schemas.openxmlformats.org/drawingml/2006/main">
              <a:ext uri="{FF2B5EF4-FFF2-40B4-BE49-F238E27FC236}">
                <a16:creationId xmlns:a16="http://schemas.microsoft.com/office/drawing/2014/main" id="{73EE8E59-11C5-4FCA-BDBD-FE5600B9688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05B8453A-4088-4B85-A23B-7E8E6BF2CFE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7758045D-C5F2-4541-A6A0-F925715EE70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Review the regimen, laboratory results, allergies, access device, premedications, hydration, current symptoms, and emergency plan.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protocol and independent checks required for high-alert therapy.</a:t>
            </a:r>
          </a:p>
        </p:txBody>
      </p:sp>
      <p:sp>
        <p:nvSpPr>
          <p:cNvPr id="6" name="">
            <a:extLst xmlns:a="http://schemas.openxmlformats.org/drawingml/2006/main">
              <a:ext uri="{FF2B5EF4-FFF2-40B4-BE49-F238E27FC236}">
                <a16:creationId xmlns:a16="http://schemas.microsoft.com/office/drawing/2014/main" id="{AF037F84-0BA1-4201-9843-18CB2A41223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46636317"/>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1BD3F8-716F-4C4E-8FBD-6718D6F0BDB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A1015ED-C76C-412C-A718-2B6CB9AC137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Exposure prevention</a:t>
            </a:r>
          </a:p>
        </p:txBody>
      </p:sp>
      <p:sp>
        <p:nvSpPr>
          <p:cNvPr id="3" name="">
            <a:extLst xmlns:a="http://schemas.openxmlformats.org/drawingml/2006/main">
              <a:ext uri="{FF2B5EF4-FFF2-40B4-BE49-F238E27FC236}">
                <a16:creationId xmlns:a16="http://schemas.microsoft.com/office/drawing/2014/main" id="{4AC7D7FB-A72B-42D5-A7C2-B9C2C039297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45F444E-DCCE-4449-87C7-2687D36173D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03D2268B-FE65-4180-BC08-73453219C1C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chemotherapy-rated PPE and closed or secure connections according to policy.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Keep required spill materials available.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Dispose of contaminated supplies and bodily waste using hazardous-drug procedures.</a:t>
            </a:r>
          </a:p>
        </p:txBody>
      </p:sp>
      <p:sp>
        <p:nvSpPr>
          <p:cNvPr id="6" name="">
            <a:extLst xmlns:a="http://schemas.openxmlformats.org/drawingml/2006/main">
              <a:ext uri="{FF2B5EF4-FFF2-40B4-BE49-F238E27FC236}">
                <a16:creationId xmlns:a16="http://schemas.microsoft.com/office/drawing/2014/main" id="{CF42B2C9-3D48-430C-B3DD-9C5CAEE398A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85119109"/>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374A27D-49D8-4BC4-A24A-FCF397552B7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13688EC-22CF-4F78-AF85-AC7BF1B08F0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Extravasation</a:t>
            </a:r>
          </a:p>
        </p:txBody>
      </p:sp>
      <p:sp>
        <p:nvSpPr>
          <p:cNvPr id="3" name="">
            <a:extLst xmlns:a="http://schemas.openxmlformats.org/drawingml/2006/main">
              <a:ext uri="{FF2B5EF4-FFF2-40B4-BE49-F238E27FC236}">
                <a16:creationId xmlns:a16="http://schemas.microsoft.com/office/drawing/2014/main" id="{F85A120D-0EB0-4B04-AB37-FB57D5EE54D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772ED857-8572-4E9F-BE8C-015EBB6BBA2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367B5C61-1BF0-4069-A841-5E4D06D3A33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Pain, burning, swelling, resistance, leakage, or loss of blood return can signal extravasation.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drug, leave access in place when the agent-specific protocol requires aspiration or antidote, notify the qualified clinician, and follow the exact drug protocol.</a:t>
            </a:r>
          </a:p>
        </p:txBody>
      </p:sp>
      <p:sp>
        <p:nvSpPr>
          <p:cNvPr id="6" name="">
            <a:extLst xmlns:a="http://schemas.openxmlformats.org/drawingml/2006/main">
              <a:ext uri="{FF2B5EF4-FFF2-40B4-BE49-F238E27FC236}">
                <a16:creationId xmlns:a16="http://schemas.microsoft.com/office/drawing/2014/main" id="{A6FCE799-8D8E-421B-8A15-2D4534A3839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73461631"/>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607521A-03E7-4034-9E0F-2B722F45719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AA80392-8290-434C-B744-B9AB72EBD59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85"/>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Components, Parenteral Nutrition, and High-Risk Therapy 1</a:t>
            </a:r>
          </a:p>
        </p:txBody>
      </p:sp>
      <p:sp>
        <p:nvSpPr>
          <p:cNvPr id="3" name="">
            <a:extLst xmlns:a="http://schemas.openxmlformats.org/drawingml/2006/main">
              <a:ext uri="{FF2B5EF4-FFF2-40B4-BE49-F238E27FC236}">
                <a16:creationId xmlns:a16="http://schemas.microsoft.com/office/drawing/2014/main" id="{65C5DACB-1E42-4DEE-BCDE-1C8C17055BD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B3C5DA94-8EB3-4185-B41C-C6F42053CB7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BD274661-047C-4DF4-B6D7-EEA258D2A40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Blood administration requires specific authorization, patient identification, consent verification, baseline assessment, product verification by qualified staff, dedicated compatible tubing/solution, close early monitoring, and prompt response to reactions.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 a reaction is suspected, stop the transfusion, maintain access as policy directs with compatible solution/new tubing, assess and support the patient, notify required personnel, recheck identification, and complete ordered specimens/documentation.</a:t>
            </a:r>
          </a:p>
        </p:txBody>
      </p:sp>
      <p:sp>
        <p:nvSpPr>
          <p:cNvPr id="6" name="">
            <a:extLst xmlns:a="http://schemas.openxmlformats.org/drawingml/2006/main">
              <a:ext uri="{FF2B5EF4-FFF2-40B4-BE49-F238E27FC236}">
                <a16:creationId xmlns:a16="http://schemas.microsoft.com/office/drawing/2014/main" id="{11999A49-EBC7-4CE7-82F3-0AC5B5FE08B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95162898"/>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EBABBB-9D2F-41BB-9ED1-8546F2DD35A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F2675F0-4BF3-4B91-B5E9-65BCE4F8354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85"/>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Components, Parenteral Nutrition, and High-Risk Therapy 2</a:t>
            </a:r>
          </a:p>
        </p:txBody>
      </p:sp>
      <p:sp>
        <p:nvSpPr>
          <p:cNvPr id="3" name="">
            <a:extLst xmlns:a="http://schemas.openxmlformats.org/drawingml/2006/main">
              <a:ext uri="{FF2B5EF4-FFF2-40B4-BE49-F238E27FC236}">
                <a16:creationId xmlns:a16="http://schemas.microsoft.com/office/drawing/2014/main" id="{17AB3219-34A6-42FF-BBA4-EB9D917E01B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F7798F67-226A-4CD3-B0DC-83BEECAB71B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54364CA5-334F-47B1-AEEF-6DFE68028CC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Parenteral nutrition contains concentrated nutrients and carries metabolic, infection, and line risks.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formulation and rate, use the required central or peripheral route, dedicated lumen and filter when ordered, strict asepsis, glucose/electrolyte monitoring, and never abruptly change therapy without direction.</a:t>
            </a:r>
          </a:p>
        </p:txBody>
      </p:sp>
      <p:sp>
        <p:nvSpPr>
          <p:cNvPr id="6" name="">
            <a:extLst xmlns:a="http://schemas.openxmlformats.org/drawingml/2006/main">
              <a:ext uri="{FF2B5EF4-FFF2-40B4-BE49-F238E27FC236}">
                <a16:creationId xmlns:a16="http://schemas.microsoft.com/office/drawing/2014/main" id="{B0537371-7C7C-4875-A0B2-46AC46E5508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45758418"/>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7618CA-33B4-4C4D-8E18-C7F461EDBCC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D47D4AE-2D6C-4AB0-BDBE-9ED59987A3B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85"/>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Components, Parenteral Nutrition, and High-Risk Therapy 3</a:t>
            </a:r>
          </a:p>
        </p:txBody>
      </p:sp>
      <p:sp>
        <p:nvSpPr>
          <p:cNvPr id="3" name="">
            <a:extLst xmlns:a="http://schemas.openxmlformats.org/drawingml/2006/main">
              <a:ext uri="{FF2B5EF4-FFF2-40B4-BE49-F238E27FC236}">
                <a16:creationId xmlns:a16="http://schemas.microsoft.com/office/drawing/2014/main" id="{C1892923-2C51-4EEE-BA11-BFE975CCD4B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93CD5A4-C898-4B58-B728-F180C56B43E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8AE6B1E7-B484-4EEA-923A-9522A444501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High-alert and vesicant medications require current drug-specific guidance, appropriate access, blood return/patency checks when indicated, close monitoring, and immediate use of the facility extravasation or emergency protocol.</a:t>
            </a:r>
          </a:p>
        </p:txBody>
      </p:sp>
      <p:sp>
        <p:nvSpPr>
          <p:cNvPr id="6" name="">
            <a:extLst xmlns:a="http://schemas.openxmlformats.org/drawingml/2006/main">
              <a:ext uri="{FF2B5EF4-FFF2-40B4-BE49-F238E27FC236}">
                <a16:creationId xmlns:a16="http://schemas.microsoft.com/office/drawing/2014/main" id="{163AD8C1-C80B-42E8-9D4B-394A8233EB6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3897191"/>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E96EFE-0EC0-4984-8027-17DDB4F00B7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5D8DA5B-58A3-4766-8695-A6BD1FB2327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Local complications</a:t>
            </a:r>
          </a:p>
        </p:txBody>
      </p:sp>
      <p:sp>
        <p:nvSpPr>
          <p:cNvPr id="3" name="">
            <a:extLst xmlns:a="http://schemas.openxmlformats.org/drawingml/2006/main">
              <a:ext uri="{FF2B5EF4-FFF2-40B4-BE49-F238E27FC236}">
                <a16:creationId xmlns:a16="http://schemas.microsoft.com/office/drawing/2014/main" id="{06654013-BEA1-42A0-9C52-55F23D99B9B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D563D2A3-F8F6-4A43-B36D-DB915C6B1CC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2D9D3566-10BE-4E12-8AB9-4786CBC1B1A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Infiltration: cool, pale, swollen, uncomfortable site; slowed infusion.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Extravasation: vesicant leakage with pain, blistering, tissue injury, or altered sensation.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Phlebitis: pain, erythema, warmth, swelling, or palpable venous cord.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Hematoma/bleeding, occlusion, dislodgement, leakage, nerve injury, and arterial puncture.</a:t>
            </a:r>
          </a:p>
        </p:txBody>
      </p:sp>
      <p:sp>
        <p:nvSpPr>
          <p:cNvPr id="6" name="">
            <a:extLst xmlns:a="http://schemas.openxmlformats.org/drawingml/2006/main">
              <a:ext uri="{FF2B5EF4-FFF2-40B4-BE49-F238E27FC236}">
                <a16:creationId xmlns:a16="http://schemas.microsoft.com/office/drawing/2014/main" id="{D8D8CCCE-485E-47FB-A93C-6B584034649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94755558"/>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8D967A-1F35-4357-ABFC-619CED9FBEA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D00822B-ADB9-4215-80A4-70D4669052D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Systemic complications</a:t>
            </a:r>
          </a:p>
        </p:txBody>
      </p:sp>
      <p:sp>
        <p:nvSpPr>
          <p:cNvPr id="3" name="">
            <a:extLst xmlns:a="http://schemas.openxmlformats.org/drawingml/2006/main">
              <a:ext uri="{FF2B5EF4-FFF2-40B4-BE49-F238E27FC236}">
                <a16:creationId xmlns:a16="http://schemas.microsoft.com/office/drawing/2014/main" id="{1B1D5114-8BAE-464A-8DAA-04FE95E0316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10CB86D4-F9E4-4D76-B3FD-0DA70660E2E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ECA37D37-BFBB-4CA1-8FFC-66A986F2FF9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Allergic reaction/anaphylaxis, bloodstream infection/sepsis, fluid overload, speed shock, air embolism, catheter embolism, and transfusion reaction require rapid recognition.</a:t>
            </a:r>
          </a:p>
        </p:txBody>
      </p:sp>
      <p:sp>
        <p:nvSpPr>
          <p:cNvPr id="6" name="">
            <a:extLst xmlns:a="http://schemas.openxmlformats.org/drawingml/2006/main">
              <a:ext uri="{FF2B5EF4-FFF2-40B4-BE49-F238E27FC236}">
                <a16:creationId xmlns:a16="http://schemas.microsoft.com/office/drawing/2014/main" id="{2864119A-2DCF-430C-8E16-EB7C218F284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52884173"/>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8154A33-8D00-46C3-989D-8D624B9CF35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66C99A0-92DB-4E6E-9BE5-DA728055C03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General response</a:t>
            </a:r>
          </a:p>
        </p:txBody>
      </p:sp>
      <p:sp>
        <p:nvSpPr>
          <p:cNvPr id="3" name="">
            <a:extLst xmlns:a="http://schemas.openxmlformats.org/drawingml/2006/main">
              <a:ext uri="{FF2B5EF4-FFF2-40B4-BE49-F238E27FC236}">
                <a16:creationId xmlns:a16="http://schemas.microsoft.com/office/drawing/2014/main" id="{840F1EA9-D0AF-40D0-8C0F-67995E927C0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032240F3-87D8-4464-B195-B55C8375999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18FA10F8-1FD6-46D4-9E48-3F951916DA3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infusion when indicated, assess airway/breathing/circulation and vital signs, activate emergency response, notify the RN/prescriber, preserve access or equipment as drug-specific protocol requires, position/support the patient, administer ordered treatment, document objective findings/actions/response, and complete an event report when required.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force-flush an occluded or compromised device.</a:t>
            </a:r>
          </a:p>
        </p:txBody>
      </p:sp>
      <p:sp>
        <p:nvSpPr>
          <p:cNvPr id="6" name="">
            <a:extLst xmlns:a="http://schemas.openxmlformats.org/drawingml/2006/main">
              <a:ext uri="{FF2B5EF4-FFF2-40B4-BE49-F238E27FC236}">
                <a16:creationId xmlns:a16="http://schemas.microsoft.com/office/drawing/2014/main" id="{8D962C83-85C8-4689-8255-3561E3EB7D3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7989066"/>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5FD68B-A67E-4F94-9ABA-9862C70502A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2A55F67-E3E2-4918-8DFC-1C9C3F8CA0F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a:t>
            </a:r>
          </a:p>
        </p:txBody>
      </p:sp>
      <p:sp>
        <p:nvSpPr>
          <p:cNvPr id="3" name="">
            <a:extLst xmlns:a="http://schemas.openxmlformats.org/drawingml/2006/main">
              <a:ext uri="{FF2B5EF4-FFF2-40B4-BE49-F238E27FC236}">
                <a16:creationId xmlns:a16="http://schemas.microsoft.com/office/drawing/2014/main" id="{096753FF-C893-40A3-A906-B98498CA8E2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DC875990-BFCC-4034-8F8B-F180293B571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984C1751-A38E-4DBE-A3FF-A9556C2DAEA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MODULE SIX MODULE OBJECTIVES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Answer written and verbal questions on the role of Chemotherapy as a treatment modality Discuss the need for and benefits of patient / family teaching before the initiation of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Chemotherapy List the various chemotherapeutic agents used in the treatment of different types of cancer and the nursing interventions appropriate for specific complications Name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other routes of administration for chemotherapeutic agents.</a:t>
            </a:r>
          </a:p>
        </p:txBody>
      </p:sp>
      <p:sp>
        <p:nvSpPr>
          <p:cNvPr id="6" name="">
            <a:extLst xmlns:a="http://schemas.openxmlformats.org/drawingml/2006/main">
              <a:ext uri="{FF2B5EF4-FFF2-40B4-BE49-F238E27FC236}">
                <a16:creationId xmlns:a16="http://schemas.microsoft.com/office/drawing/2014/main" id="{E9C423F1-198E-41D5-8EFD-DA5EEB47B28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31E55F3-34D9-41D2-87E3-93BDC3680AB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67</a:t>
            </a:r>
          </a:p>
        </p:txBody>
      </p:sp>
    </p:spTree>
    <p:extLst>
      <p:ext uri="{BB962C8B-B14F-4D97-AF65-F5344CB8AC3E}">
        <p14:creationId xmlns:p14="http://schemas.microsoft.com/office/powerpoint/2010/main" val="287530854"/>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6D8AA3-14AE-47B6-87B9-553AE943D4A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6B2D8AC-869E-47EE-BFDC-7612559CE60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462C251D-EBD6-4678-847A-E36ED6CBED2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9A91CBDA-3701-4237-B9F6-5849F33181F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435C71E6-D7D9-4583-8226-87C21A6A995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Discuss the psychosocial effects of chemotherapy on the patient and family and interventions to assist in this crisis Answer written and verbal questions about the actions of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chemotherapeutic agents.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Discuss the side effects of these different agents and their corresponding nursing actions.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SECTION OUTLINE Overview and definition.</a:t>
            </a:r>
          </a:p>
        </p:txBody>
      </p:sp>
      <p:sp>
        <p:nvSpPr>
          <p:cNvPr id="6" name="">
            <a:extLst xmlns:a="http://schemas.openxmlformats.org/drawingml/2006/main">
              <a:ext uri="{FF2B5EF4-FFF2-40B4-BE49-F238E27FC236}">
                <a16:creationId xmlns:a16="http://schemas.microsoft.com/office/drawing/2014/main" id="{BC715C92-ACA1-487E-AC73-FC302451B00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127645F-3426-4C78-807A-D5147806F8B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67</a:t>
            </a:r>
          </a:p>
        </p:txBody>
      </p:sp>
    </p:spTree>
    <p:extLst>
      <p:ext uri="{BB962C8B-B14F-4D97-AF65-F5344CB8AC3E}">
        <p14:creationId xmlns:p14="http://schemas.microsoft.com/office/powerpoint/2010/main" val="795310965"/>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8E6585-A04C-4DC5-B3B8-23C705E6BF1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E7AEFF8-8C70-4271-97EB-724EAFF118C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8CF9624E-F3CC-42A6-AA5A-39D07D211D7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A536B79-FCFC-48D6-8C68-B290F943FE2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1FA14215-012C-4754-9212-FF98B621D50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Cellular reproduction 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Healthy cell cycle b.</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Difference between healthy cell and cancer cell cycle.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Preparation and handling of chemotherapeutic agents.</a:t>
            </a:r>
          </a:p>
        </p:txBody>
      </p:sp>
      <p:sp>
        <p:nvSpPr>
          <p:cNvPr id="6" name="">
            <a:extLst xmlns:a="http://schemas.openxmlformats.org/drawingml/2006/main">
              <a:ext uri="{FF2B5EF4-FFF2-40B4-BE49-F238E27FC236}">
                <a16:creationId xmlns:a16="http://schemas.microsoft.com/office/drawing/2014/main" id="{83F0A99D-F1D6-451D-B3DD-FF850C08826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FF68B92-19D1-442C-B80A-BBF5A88AA18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67</a:t>
            </a:r>
          </a:p>
        </p:txBody>
      </p:sp>
    </p:spTree>
    <p:extLst>
      <p:ext uri="{BB962C8B-B14F-4D97-AF65-F5344CB8AC3E}">
        <p14:creationId xmlns:p14="http://schemas.microsoft.com/office/powerpoint/2010/main" val="1655800505"/>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2416D4-2AAC-482A-8674-66A30556D31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1F53D6B-6B43-4A0A-A370-CD7328863F0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80117C39-35F7-442D-8D72-BE5FFC57DE2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90B60E3-11C8-492D-B4D2-ECBACABAB30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3552A578-DACF-4264-93A5-5265D783FCE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Administration Classification of chemotherapeutic agents.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Side effects of agents Nursing interventions 8.</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Patient Teaching Alternative Routes</a:t>
            </a:r>
          </a:p>
        </p:txBody>
      </p:sp>
      <p:sp>
        <p:nvSpPr>
          <p:cNvPr id="6" name="">
            <a:extLst xmlns:a="http://schemas.openxmlformats.org/drawingml/2006/main">
              <a:ext uri="{FF2B5EF4-FFF2-40B4-BE49-F238E27FC236}">
                <a16:creationId xmlns:a16="http://schemas.microsoft.com/office/drawing/2014/main" id="{06B0F019-8B8C-46AB-96E0-6028E877B31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D76EB13-7B3A-489D-987A-2D03D2A6368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67</a:t>
            </a:r>
          </a:p>
        </p:txBody>
      </p:sp>
    </p:spTree>
    <p:extLst>
      <p:ext uri="{BB962C8B-B14F-4D97-AF65-F5344CB8AC3E}">
        <p14:creationId xmlns:p14="http://schemas.microsoft.com/office/powerpoint/2010/main" val="1245197071"/>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2C33BB-327D-4839-BD4F-B2C91439948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1E832F0-5D10-4E88-8FF0-8EE201D7240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a:t>
            </a:r>
          </a:p>
        </p:txBody>
      </p:sp>
      <p:sp>
        <p:nvSpPr>
          <p:cNvPr id="3" name="">
            <a:extLst xmlns:a="http://schemas.openxmlformats.org/drawingml/2006/main">
              <a:ext uri="{FF2B5EF4-FFF2-40B4-BE49-F238E27FC236}">
                <a16:creationId xmlns:a16="http://schemas.microsoft.com/office/drawing/2014/main" id="{7DEDFF84-511D-429B-9D31-A659B6B1112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97EF4610-564E-4B16-9185-6D9AC5DC3AD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85AEE8F2-C196-4F6A-9F27-34C01762146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word "Chemotherapy" comes from two words that mean chemical and treatment.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today's use the word Chemotherapy refers to the specific group of drugs that are used to treat the many forms of cancer.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Combination Chemotherapy - Cancer chemotherapy involves the use of several specialized drugs.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Adjuvant Chemotherapy - refers to the use of surgery and or radiation therapy to increase the probability of a successful treatment.</a:t>
            </a:r>
          </a:p>
        </p:txBody>
      </p:sp>
      <p:sp>
        <p:nvSpPr>
          <p:cNvPr id="6" name="">
            <a:extLst xmlns:a="http://schemas.openxmlformats.org/drawingml/2006/main">
              <a:ext uri="{FF2B5EF4-FFF2-40B4-BE49-F238E27FC236}">
                <a16:creationId xmlns:a16="http://schemas.microsoft.com/office/drawing/2014/main" id="{191464BB-8856-430D-AFF9-EC543873CA9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4448C7C-F66A-40BB-8986-99E754D1641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68</a:t>
            </a:r>
          </a:p>
        </p:txBody>
      </p:sp>
    </p:spTree>
    <p:extLst>
      <p:ext uri="{BB962C8B-B14F-4D97-AF65-F5344CB8AC3E}">
        <p14:creationId xmlns:p14="http://schemas.microsoft.com/office/powerpoint/2010/main" val="1015672359"/>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417660-A8F6-4666-9CB8-1236779EE54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0A6CE6A-8791-4E69-97C7-A0E96CE396F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DBB7C081-ED62-4688-9C03-FD5678F303C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9F1643E0-CA44-44B6-8DDB-4AB7A1554A0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11F9A6AF-3C2D-48E3-8D7B-28819935AE6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Adjuvant Chemotherapy may be added to the drug therapy to destroy any remaining cancerous cells that were not eliminated by chemotherapy agents..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Cellular Reproduction The reproductive cycle of an individual cell can provide the basic information for understanding how chemotherapy works.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cell cycle includes the preparation that occurs before the cell divides, as well as the actual division itself.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process is as follows: G 1 Phase, S Phase, G 2 Phase, M Phase, and Go Phase.</a:t>
            </a:r>
          </a:p>
        </p:txBody>
      </p:sp>
      <p:sp>
        <p:nvSpPr>
          <p:cNvPr id="6" name="">
            <a:extLst xmlns:a="http://schemas.openxmlformats.org/drawingml/2006/main">
              <a:ext uri="{FF2B5EF4-FFF2-40B4-BE49-F238E27FC236}">
                <a16:creationId xmlns:a16="http://schemas.microsoft.com/office/drawing/2014/main" id="{052234DA-DDE3-4B88-8E90-86DCB77C306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A6560B7-F265-4B8B-96EE-CF15E9390C1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68</a:t>
            </a:r>
          </a:p>
        </p:txBody>
      </p:sp>
    </p:spTree>
    <p:extLst>
      <p:ext uri="{BB962C8B-B14F-4D97-AF65-F5344CB8AC3E}">
        <p14:creationId xmlns:p14="http://schemas.microsoft.com/office/powerpoint/2010/main" val="1369145421"/>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DF9531-2282-48F2-9B4D-F125D8F2B31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6D81DA8-8B37-4B28-BB5B-BECFF307364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9EB300ED-B8D6-4B17-8947-48AACCCDDB1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5A78FFC0-5007-464E-946B-F81BE1D512D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6E658242-E4C2-4139-A315-C4D4EFCC2BD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Different cells have a different rate of reproduction.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example, mucous cells reproduce very rapidly compared to nerve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 you read the descriptions below think of' the goal of chemotherapy in destroying cancerous cells and the side effects of damaging normal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G-l Phase (Gap 1) - Formation of protein and RNA.</a:t>
            </a:r>
          </a:p>
        </p:txBody>
      </p:sp>
      <p:sp>
        <p:nvSpPr>
          <p:cNvPr id="6" name="">
            <a:extLst xmlns:a="http://schemas.openxmlformats.org/drawingml/2006/main">
              <a:ext uri="{FF2B5EF4-FFF2-40B4-BE49-F238E27FC236}">
                <a16:creationId xmlns:a16="http://schemas.microsoft.com/office/drawing/2014/main" id="{98BCD39A-FF23-4553-BF50-BEDC31B8FC5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743E58B-AB13-4F82-849C-3A55F152DF2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68</a:t>
            </a:r>
          </a:p>
        </p:txBody>
      </p:sp>
    </p:spTree>
    <p:extLst>
      <p:ext uri="{BB962C8B-B14F-4D97-AF65-F5344CB8AC3E}">
        <p14:creationId xmlns:p14="http://schemas.microsoft.com/office/powerpoint/2010/main" val="213498819"/>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CEEA18-BCF2-425D-BC29-ED2D41EEB23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605E011-A918-47CC-9C70-4D3403E24F1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4E7312D6-026A-4C46-968D-7056EB2B2F4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85392C7D-5EA4-4ACA-A871-94E452E2101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FF0CA53E-76A4-4F00-852B-3CCDC8973BC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May take minutes to years.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 Phase (Synthesis) - Cell prepares for division, DNA is duplicated.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Time of preparation is 6 minutes to 50 years.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G-2 Phase (Gap 11) - The second period of RNA and protein synthesis, taking an average time of less than 6 hours.</a:t>
            </a:r>
          </a:p>
        </p:txBody>
      </p:sp>
      <p:sp>
        <p:nvSpPr>
          <p:cNvPr id="6" name="">
            <a:extLst xmlns:a="http://schemas.openxmlformats.org/drawingml/2006/main">
              <a:ext uri="{FF2B5EF4-FFF2-40B4-BE49-F238E27FC236}">
                <a16:creationId xmlns:a16="http://schemas.microsoft.com/office/drawing/2014/main" id="{2DF5C288-1703-4D92-AD34-74BE7C0A688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DAE7B4B-BDDE-4E35-ADD6-AAF403E2BA6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68</a:t>
            </a:r>
          </a:p>
        </p:txBody>
      </p:sp>
    </p:spTree>
    <p:extLst>
      <p:ext uri="{BB962C8B-B14F-4D97-AF65-F5344CB8AC3E}">
        <p14:creationId xmlns:p14="http://schemas.microsoft.com/office/powerpoint/2010/main" val="158400680"/>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FF491F-F5E7-4EFC-B5D1-0992FE25890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323BA98-06B9-4D8E-AC2C-537B679BE6A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6E95D608-173F-44C0-B02E-4DB9DA0DB68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88A03E3-A881-4CDF-AA48-19113C809B6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E5818B1D-BCD0-40FD-B79E-04A71728BC1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 Phase (Mitosis) - Actual cell division takes place in this phase, the parent cell divides into two complete sibling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Each sibling cell contains the exact amount and type of chromosomes as the parent.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process takes about one hour.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*Prophase - The nuclear membrane breaks down and the chromosomes are dumped.</a:t>
            </a:r>
          </a:p>
        </p:txBody>
      </p:sp>
      <p:sp>
        <p:nvSpPr>
          <p:cNvPr id="6" name="">
            <a:extLst xmlns:a="http://schemas.openxmlformats.org/drawingml/2006/main">
              <a:ext uri="{FF2B5EF4-FFF2-40B4-BE49-F238E27FC236}">
                <a16:creationId xmlns:a16="http://schemas.microsoft.com/office/drawing/2014/main" id="{5F8E813E-1C8E-4E5A-8FB8-69581C8A6B8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C0D2D37-6DEA-4728-8B26-DFC55F8F50B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68</a:t>
            </a:r>
          </a:p>
        </p:txBody>
      </p:sp>
    </p:spTree>
    <p:extLst>
      <p:ext uri="{BB962C8B-B14F-4D97-AF65-F5344CB8AC3E}">
        <p14:creationId xmlns:p14="http://schemas.microsoft.com/office/powerpoint/2010/main" val="812870763"/>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48E36D-FEC8-49DD-A34A-28C6028FFEC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684D3CD-4473-4434-A7D5-2E091F30FA4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58B366CC-F8F0-4D86-8DD7-BA65350871F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FB0E56E3-D1F7-44BC-A766-66B81ABBDF3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D4A59102-F31A-4F39-BC9A-A9D748764D3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*Metaphase - The chromosomes line up in the middle of the cell *Anaphase - The chromosomes move to the poles of the cell (centrioles).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*Telophase- The actual cell division and production of two new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Go Phase - The resting stage for the cell.</a:t>
            </a:r>
          </a:p>
        </p:txBody>
      </p:sp>
      <p:sp>
        <p:nvSpPr>
          <p:cNvPr id="6" name="">
            <a:extLst xmlns:a="http://schemas.openxmlformats.org/drawingml/2006/main">
              <a:ext uri="{FF2B5EF4-FFF2-40B4-BE49-F238E27FC236}">
                <a16:creationId xmlns:a16="http://schemas.microsoft.com/office/drawing/2014/main" id="{96D40F52-CD07-4B83-96BB-07CA29AA801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3D52D6C-C959-4F03-AF65-633D54EABD4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68</a:t>
            </a:r>
          </a:p>
        </p:txBody>
      </p:sp>
    </p:spTree>
    <p:extLst>
      <p:ext uri="{BB962C8B-B14F-4D97-AF65-F5344CB8AC3E}">
        <p14:creationId xmlns:p14="http://schemas.microsoft.com/office/powerpoint/2010/main" val="786673199"/>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FEB9F0-6AC4-45EE-A9C0-2ECDFB30358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C3A86E0-233E-488D-9ACA-C240CBE7DDD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signaling cells to reproduce based upon need. Cancer cells do not respond to these</a:t>
            </a:r>
          </a:p>
        </p:txBody>
      </p:sp>
      <p:sp>
        <p:nvSpPr>
          <p:cNvPr id="3" name="">
            <a:extLst xmlns:a="http://schemas.openxmlformats.org/drawingml/2006/main">
              <a:ext uri="{FF2B5EF4-FFF2-40B4-BE49-F238E27FC236}">
                <a16:creationId xmlns:a16="http://schemas.microsoft.com/office/drawing/2014/main" id="{9CB26A42-98F3-401E-919E-AF70E421305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696B6CB4-ACB2-4010-991A-8DA34168C94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4ED6763B-0812-49C5-B948-E1F7D025CCC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are differences and similarities between the divisions of cancer cells and the bodies "normal"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First the differences...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body has a feedback mechanism for feedback signals and reproduce in an uncontrolled manner without regard for the bodies needs: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Also, instead of dividing into two cells, they may divide into several new cells at a time.</a:t>
            </a:r>
          </a:p>
        </p:txBody>
      </p:sp>
      <p:sp>
        <p:nvSpPr>
          <p:cNvPr id="6" name="">
            <a:extLst xmlns:a="http://schemas.openxmlformats.org/drawingml/2006/main">
              <a:ext uri="{FF2B5EF4-FFF2-40B4-BE49-F238E27FC236}">
                <a16:creationId xmlns:a16="http://schemas.microsoft.com/office/drawing/2014/main" id="{DDCAEB1D-3D30-476D-99EA-B86B54FD506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A6D5EE7-61B3-462D-97C2-40A4DA5EFC2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69</a:t>
            </a:r>
          </a:p>
        </p:txBody>
      </p:sp>
    </p:spTree>
    <p:extLst>
      <p:ext uri="{BB962C8B-B14F-4D97-AF65-F5344CB8AC3E}">
        <p14:creationId xmlns:p14="http://schemas.microsoft.com/office/powerpoint/2010/main" val="1364079263"/>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FBB61B-D5F0-44AA-BE03-4DD24E6E9A3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BF64F50-B261-4F16-9EFB-41F206C4E8C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signaling cells to reproduce based upon need. Cancer cells do not respond to these — continued</a:t>
            </a:r>
          </a:p>
        </p:txBody>
      </p:sp>
      <p:sp>
        <p:nvSpPr>
          <p:cNvPr id="3" name="">
            <a:extLst xmlns:a="http://schemas.openxmlformats.org/drawingml/2006/main">
              <a:ext uri="{FF2B5EF4-FFF2-40B4-BE49-F238E27FC236}">
                <a16:creationId xmlns:a16="http://schemas.microsoft.com/office/drawing/2014/main" id="{1A42635E-AAD7-4033-819D-608328D2A64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FB39840A-E911-4DB2-89BB-C0647A478EA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BC32B450-9EFC-45F7-9E36-5CBBDB4F6BF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rapidly growing cell masses soon begin pushing their way into the surrounding normal tissues.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Cancer cells lack cohesiveness as well.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They may fragment or metastasize, and be carried to other parts of the body by the blood or lymph systems, where their growth may continue in an uncontrolled fashion at a new location.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Most of the similarities are in the process of the "cell cycle" itself.</a:t>
            </a:r>
          </a:p>
        </p:txBody>
      </p:sp>
      <p:sp>
        <p:nvSpPr>
          <p:cNvPr id="6" name="">
            <a:extLst xmlns:a="http://schemas.openxmlformats.org/drawingml/2006/main">
              <a:ext uri="{FF2B5EF4-FFF2-40B4-BE49-F238E27FC236}">
                <a16:creationId xmlns:a16="http://schemas.microsoft.com/office/drawing/2014/main" id="{0438B175-7B65-4792-AD60-3F8F18F675D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A31A7FB-FE50-4EF3-A4C9-09B3DA35F36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69</a:t>
            </a:r>
          </a:p>
        </p:txBody>
      </p:sp>
    </p:spTree>
    <p:extLst>
      <p:ext uri="{BB962C8B-B14F-4D97-AF65-F5344CB8AC3E}">
        <p14:creationId xmlns:p14="http://schemas.microsoft.com/office/powerpoint/2010/main" val="1280718951"/>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B8B09B-A1C8-4CE2-8B1C-57528C722EF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7E1486B-D8C5-4DB1-A20E-BB7E288D446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signaling cells to reproduce based upon need. Cancer cells do not respond to these — continued</a:t>
            </a:r>
          </a:p>
        </p:txBody>
      </p:sp>
      <p:sp>
        <p:nvSpPr>
          <p:cNvPr id="3" name="">
            <a:extLst xmlns:a="http://schemas.openxmlformats.org/drawingml/2006/main">
              <a:ext uri="{FF2B5EF4-FFF2-40B4-BE49-F238E27FC236}">
                <a16:creationId xmlns:a16="http://schemas.microsoft.com/office/drawing/2014/main" id="{41C5A0B1-BD4B-43EF-A363-F973E5026AA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E5940013-F78F-4793-A8E7-06FC1F1557E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6EB3F6B1-73DE-4205-95DD-631B6FF48CB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All types of cells, normal and cancerous, go through the cell cycle.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goal of chemotherapy is to kill cancerous cells and minimize the harm done to normal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To destroy the greatest number of cancer cells, chemotherapy agents are often given in combination.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They are also given at certain times and in precise doses to attack the cancerous cells either at specific phases of the cell cycle, or throughout the cell cycle.</a:t>
            </a:r>
          </a:p>
        </p:txBody>
      </p:sp>
      <p:sp>
        <p:nvSpPr>
          <p:cNvPr id="6" name="">
            <a:extLst xmlns:a="http://schemas.openxmlformats.org/drawingml/2006/main">
              <a:ext uri="{FF2B5EF4-FFF2-40B4-BE49-F238E27FC236}">
                <a16:creationId xmlns:a16="http://schemas.microsoft.com/office/drawing/2014/main" id="{589C242B-DC68-413B-BC19-5C123D976E1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D24E886-528E-4CE3-8B1B-108BA855E6E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69</a:t>
            </a:r>
          </a:p>
        </p:txBody>
      </p:sp>
    </p:spTree>
    <p:extLst>
      <p:ext uri="{BB962C8B-B14F-4D97-AF65-F5344CB8AC3E}">
        <p14:creationId xmlns:p14="http://schemas.microsoft.com/office/powerpoint/2010/main" val="92880433"/>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C074E0-44E7-4BB9-8B80-2B0B1A02044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1908031-2BEC-4B6D-B851-CD43CD43A79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signaling cells to reproduce based upon need. Cancer cells do not respond to these — continued</a:t>
            </a:r>
          </a:p>
        </p:txBody>
      </p:sp>
      <p:sp>
        <p:nvSpPr>
          <p:cNvPr id="3" name="">
            <a:extLst xmlns:a="http://schemas.openxmlformats.org/drawingml/2006/main">
              <a:ext uri="{FF2B5EF4-FFF2-40B4-BE49-F238E27FC236}">
                <a16:creationId xmlns:a16="http://schemas.microsoft.com/office/drawing/2014/main" id="{9343EB3B-2F33-4CE7-90E5-25F0EA5D251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76BC4714-0786-46F0-8637-81A929895B8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84E17062-6728-47C1-99C8-60F2B728DA0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agents are very strong and damage to normal cells is inevitable.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Healthy cells that reproduce quickly are the ones that are most prone to injury, and result in the greatest severity of experienced side effects (i.e.: hair, mucous membranes).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is a large variety of chemotherapeutic agents now in use.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Many more are being discovered each year, as well as new uses for present agents.</a:t>
            </a:r>
          </a:p>
        </p:txBody>
      </p:sp>
      <p:sp>
        <p:nvSpPr>
          <p:cNvPr id="6" name="">
            <a:extLst xmlns:a="http://schemas.openxmlformats.org/drawingml/2006/main">
              <a:ext uri="{FF2B5EF4-FFF2-40B4-BE49-F238E27FC236}">
                <a16:creationId xmlns:a16="http://schemas.microsoft.com/office/drawing/2014/main" id="{C55B8DF1-06B5-4A6A-A067-A99F68DAFF6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8526B12-866C-4E77-9B77-30AA50436CD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69</a:t>
            </a:r>
          </a:p>
        </p:txBody>
      </p:sp>
    </p:spTree>
    <p:extLst>
      <p:ext uri="{BB962C8B-B14F-4D97-AF65-F5344CB8AC3E}">
        <p14:creationId xmlns:p14="http://schemas.microsoft.com/office/powerpoint/2010/main" val="1403922996"/>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B6C730-1B43-484B-A969-59CFA2C1941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5EB0D4D-6987-4FF2-998C-A9A8CD05326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signaling cells to reproduce based upon need. Cancer cells do not respond to these — continued</a:t>
            </a:r>
          </a:p>
        </p:txBody>
      </p:sp>
      <p:sp>
        <p:nvSpPr>
          <p:cNvPr id="3" name="">
            <a:extLst xmlns:a="http://schemas.openxmlformats.org/drawingml/2006/main">
              <a:ext uri="{FF2B5EF4-FFF2-40B4-BE49-F238E27FC236}">
                <a16:creationId xmlns:a16="http://schemas.microsoft.com/office/drawing/2014/main" id="{C3281D73-17D1-45E9-9E2C-67264E3836A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F90D393C-EF24-4E9B-9573-E3CDC26DE25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022BC395-A0E7-4C31-81C8-52149CBA8BF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Due to the high level of toxicity of these medications, knowing their method of action, dosages, side effects, mode of delivery, and methods to treat emergency reactions and side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effects is essential.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simple medication error can have disastrous consequences.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Preparation and Handling Everyone who comes in contact with chemotherapy drugs must be careful in their handling.</a:t>
            </a:r>
          </a:p>
        </p:txBody>
      </p:sp>
      <p:sp>
        <p:nvSpPr>
          <p:cNvPr id="6" name="">
            <a:extLst xmlns:a="http://schemas.openxmlformats.org/drawingml/2006/main">
              <a:ext uri="{FF2B5EF4-FFF2-40B4-BE49-F238E27FC236}">
                <a16:creationId xmlns:a16="http://schemas.microsoft.com/office/drawing/2014/main" id="{049D7BF4-2F56-4F16-BF7C-4C9331DB4E7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EC45944-A23F-4FF6-8FBF-C6B0E29AA84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69</a:t>
            </a:r>
          </a:p>
        </p:txBody>
      </p:sp>
    </p:spTree>
    <p:extLst>
      <p:ext uri="{BB962C8B-B14F-4D97-AF65-F5344CB8AC3E}">
        <p14:creationId xmlns:p14="http://schemas.microsoft.com/office/powerpoint/2010/main" val="1340295218"/>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5CAE80-AF8A-4793-94B2-2BEE10CF4A3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D682ADD-6B7B-4769-BCF6-050BE59CB6B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signaling cells to reproduce based upon need. Cancer cells do not respond to these — continued</a:t>
            </a:r>
          </a:p>
        </p:txBody>
      </p:sp>
      <p:sp>
        <p:nvSpPr>
          <p:cNvPr id="3" name="">
            <a:extLst xmlns:a="http://schemas.openxmlformats.org/drawingml/2006/main">
              <a:ext uri="{FF2B5EF4-FFF2-40B4-BE49-F238E27FC236}">
                <a16:creationId xmlns:a16="http://schemas.microsoft.com/office/drawing/2014/main" id="{8CF99E51-CAEB-49E3-809A-76BF039E67C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6C0E2EC-5748-437C-A504-DB3F7BAF4DC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7A5CDE1F-F528-4D96-9BEB-E5F4E0A751D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Mutagenic and carcinogenic reactions have been noted in people with prolonged or repeated exposure.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Precautions to take include: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drawing and mixing these agents under a special air flow hood, wearing a protective gown, gloves and mask, and adhering to strict biohazardous waste disposal procedures.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wastes which are collected in biohazard secure containers, and then must be disposed of in accordance with city, state and federal regulations.</a:t>
            </a:r>
          </a:p>
        </p:txBody>
      </p:sp>
      <p:sp>
        <p:nvSpPr>
          <p:cNvPr id="6" name="">
            <a:extLst xmlns:a="http://schemas.openxmlformats.org/drawingml/2006/main">
              <a:ext uri="{FF2B5EF4-FFF2-40B4-BE49-F238E27FC236}">
                <a16:creationId xmlns:a16="http://schemas.microsoft.com/office/drawing/2014/main" id="{800D6B81-EC45-4F9D-AB77-22A261E8D47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47AE4E4-E12E-4C6B-BD0C-9F472F26E90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69</a:t>
            </a:r>
          </a:p>
        </p:txBody>
      </p:sp>
    </p:spTree>
    <p:extLst>
      <p:ext uri="{BB962C8B-B14F-4D97-AF65-F5344CB8AC3E}">
        <p14:creationId xmlns:p14="http://schemas.microsoft.com/office/powerpoint/2010/main" val="471668224"/>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4AA52E4-F46C-4B2F-96F4-05F9C9BBA87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E2ED299-3C32-47A5-8353-0C9C5FCC2EB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signaling cells to reproduce based upon need. Cancer cells do not respond to these — continued</a:t>
            </a:r>
          </a:p>
        </p:txBody>
      </p:sp>
      <p:sp>
        <p:nvSpPr>
          <p:cNvPr id="3" name="">
            <a:extLst xmlns:a="http://schemas.openxmlformats.org/drawingml/2006/main">
              <a:ext uri="{FF2B5EF4-FFF2-40B4-BE49-F238E27FC236}">
                <a16:creationId xmlns:a16="http://schemas.microsoft.com/office/drawing/2014/main" id="{30BA7FC3-67F1-40EF-AA70-C9EE4D2D792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8618F18B-2444-4678-A89F-7565F0314A4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0EBFAD8F-1D00-4575-A2DC-8FECECBAF07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Administration Parental drugs, of which chemotherapy agents are but one type, are classified as vesicants, nonvesicants, and irritants.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This classification depends upon their potential to damage the body's tissues if they leave the vein (extravasate).</a:t>
            </a:r>
          </a:p>
        </p:txBody>
      </p:sp>
      <p:sp>
        <p:nvSpPr>
          <p:cNvPr id="6" name="">
            <a:extLst xmlns:a="http://schemas.openxmlformats.org/drawingml/2006/main">
              <a:ext uri="{FF2B5EF4-FFF2-40B4-BE49-F238E27FC236}">
                <a16:creationId xmlns:a16="http://schemas.microsoft.com/office/drawing/2014/main" id="{55E990F6-5BA4-403F-AF76-79E2F5C42AA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9016F41-7F20-4F52-83E5-CB0C394D8CD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69</a:t>
            </a:r>
          </a:p>
        </p:txBody>
      </p:sp>
    </p:spTree>
    <p:extLst>
      <p:ext uri="{BB962C8B-B14F-4D97-AF65-F5344CB8AC3E}">
        <p14:creationId xmlns:p14="http://schemas.microsoft.com/office/powerpoint/2010/main" val="892685005"/>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86C939B-F32E-428F-85D5-A78A9F08C8E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A9352D9-8AD2-41DE-B6B4-8E8EE3FC8FC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082"/>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by peripheral IV catheters in a continuous drip or with a syringe.</a:t>
            </a:r>
          </a:p>
        </p:txBody>
      </p:sp>
      <p:sp>
        <p:nvSpPr>
          <p:cNvPr id="3" name="">
            <a:extLst xmlns:a="http://schemas.openxmlformats.org/drawingml/2006/main">
              <a:ext uri="{FF2B5EF4-FFF2-40B4-BE49-F238E27FC236}">
                <a16:creationId xmlns:a16="http://schemas.microsoft.com/office/drawing/2014/main" id="{E122E134-5251-44A8-8D32-46857F811F4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66C9B5CB-B712-4914-BBE9-B18545E02D3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5" name="">
            <a:extLst xmlns:a="http://schemas.openxmlformats.org/drawingml/2006/main">
              <a:ext uri="{FF2B5EF4-FFF2-40B4-BE49-F238E27FC236}">
                <a16:creationId xmlns:a16="http://schemas.microsoft.com/office/drawing/2014/main" id="{E6138FDA-0BCC-4312-853D-6DA4FC06A3A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Vesicants are extremely toxic to skin, subcutaneous tissue, and muscles and may cause necrosis with infiltration.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of these agents requires careful selection of the venous access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the site is obtained, the catheter requires strict observation and care to prevent complications.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Hourly site evaluations and blood return checks are necessary when vesicants are given as a continuous drip.</a:t>
            </a:r>
          </a:p>
        </p:txBody>
      </p:sp>
      <p:sp>
        <p:nvSpPr>
          <p:cNvPr id="6" name="">
            <a:extLst xmlns:a="http://schemas.openxmlformats.org/drawingml/2006/main">
              <a:ext uri="{FF2B5EF4-FFF2-40B4-BE49-F238E27FC236}">
                <a16:creationId xmlns:a16="http://schemas.microsoft.com/office/drawing/2014/main" id="{F1E7D6A3-32EA-423E-BACF-5FDAB2AF78D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A7E1B16-628E-4047-9502-379CCA86B59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70</a:t>
            </a:r>
          </a:p>
        </p:txBody>
      </p:sp>
    </p:spTree>
    <p:extLst>
      <p:ext uri="{BB962C8B-B14F-4D97-AF65-F5344CB8AC3E}">
        <p14:creationId xmlns:p14="http://schemas.microsoft.com/office/powerpoint/2010/main" val="1042486061"/>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42CFBF-BA72-4B1F-B62D-5FCBEAAFB51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4DFDD7E-A7D8-4F39-85A0-66ED753981D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by peripheral IV catheters in a continuous drip or with a syringe. — continued</a:t>
            </a:r>
          </a:p>
        </p:txBody>
      </p:sp>
      <p:sp>
        <p:nvSpPr>
          <p:cNvPr id="3" name="">
            <a:extLst xmlns:a="http://schemas.openxmlformats.org/drawingml/2006/main">
              <a:ext uri="{FF2B5EF4-FFF2-40B4-BE49-F238E27FC236}">
                <a16:creationId xmlns:a16="http://schemas.microsoft.com/office/drawing/2014/main" id="{AC4474A0-ED30-449C-BFE5-B0272717F8A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B0D5455D-F76C-47B8-8FC2-39A5DDF2FB5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5" name="">
            <a:extLst xmlns:a="http://schemas.openxmlformats.org/drawingml/2006/main">
              <a:ext uri="{FF2B5EF4-FFF2-40B4-BE49-F238E27FC236}">
                <a16:creationId xmlns:a16="http://schemas.microsoft.com/office/drawing/2014/main" id="{0082CFBA-F7A6-44EA-BA93-E35147CFA76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patient must notify the staff of any abnormal feelings in the area if the IV catheter (i.e., pain, burning, itching, etc.).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Nonvesicants have little toxic effects on the soft tissue.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drugs may be safely given by peripheral IV catheters in a continuous drip or with a syringe.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Irritants are less toxic than vesicants and may only cause burning or minimal inflammation in the area near the catheter.</a:t>
            </a:r>
          </a:p>
        </p:txBody>
      </p:sp>
      <p:sp>
        <p:nvSpPr>
          <p:cNvPr id="6" name="">
            <a:extLst xmlns:a="http://schemas.openxmlformats.org/drawingml/2006/main">
              <a:ext uri="{FF2B5EF4-FFF2-40B4-BE49-F238E27FC236}">
                <a16:creationId xmlns:a16="http://schemas.microsoft.com/office/drawing/2014/main" id="{9D23ED7D-ABD9-4FBC-A059-9BEC85781EE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D36D630-44AE-4B4B-B982-1B61FB8A1FB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70</a:t>
            </a:r>
          </a:p>
        </p:txBody>
      </p:sp>
    </p:spTree>
    <p:extLst>
      <p:ext uri="{BB962C8B-B14F-4D97-AF65-F5344CB8AC3E}">
        <p14:creationId xmlns:p14="http://schemas.microsoft.com/office/powerpoint/2010/main" val="1355186615"/>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CC07D3D-623D-4229-A566-52F7089CAB8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E627C51-0EAF-4EA0-88D1-98F4208A66B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by peripheral IV catheters in a continuous drip or with a syringe. — continued</a:t>
            </a:r>
          </a:p>
        </p:txBody>
      </p:sp>
      <p:sp>
        <p:nvSpPr>
          <p:cNvPr id="3" name="">
            <a:extLst xmlns:a="http://schemas.openxmlformats.org/drawingml/2006/main">
              <a:ext uri="{FF2B5EF4-FFF2-40B4-BE49-F238E27FC236}">
                <a16:creationId xmlns:a16="http://schemas.microsoft.com/office/drawing/2014/main" id="{D0ED9A82-95A8-4929-AF48-BE9D4B8E10C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60C0C16C-D502-40D1-8F9F-349FBA0E08A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5" name="">
            <a:extLst xmlns:a="http://schemas.openxmlformats.org/drawingml/2006/main">
              <a:ext uri="{FF2B5EF4-FFF2-40B4-BE49-F238E27FC236}">
                <a16:creationId xmlns:a16="http://schemas.microsoft.com/office/drawing/2014/main" id="{82E7FD91-77CE-4F33-A628-0DF1991B121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They may be safely given by continuous infusion or by syringe.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Due to the irritating effect of all chemotherapy agents on the inner lining of veins, a long course of treatment will leave them very fragile.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will increase the chance of extravasation and may necessitate the use of a central venous catheter or infusion port.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Even with a central line the need for careful evaluation of the catheter and surrounding tissue for extravasation remains.</a:t>
            </a:r>
          </a:p>
        </p:txBody>
      </p:sp>
      <p:sp>
        <p:nvSpPr>
          <p:cNvPr id="6" name="">
            <a:extLst xmlns:a="http://schemas.openxmlformats.org/drawingml/2006/main">
              <a:ext uri="{FF2B5EF4-FFF2-40B4-BE49-F238E27FC236}">
                <a16:creationId xmlns:a16="http://schemas.microsoft.com/office/drawing/2014/main" id="{6DAA6537-3A11-4214-8799-F8AB4AE71B3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F5B276C-E7E8-4125-9F1F-EAB747BC875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70</a:t>
            </a:r>
          </a:p>
        </p:txBody>
      </p:sp>
    </p:spTree>
    <p:extLst>
      <p:ext uri="{BB962C8B-B14F-4D97-AF65-F5344CB8AC3E}">
        <p14:creationId xmlns:p14="http://schemas.microsoft.com/office/powerpoint/2010/main" val="903392438"/>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CCF3DB-DDBB-43D7-BD85-C7398293BF2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DFEDBE7-E125-4B09-90FB-0E3E7B4EF26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by peripheral IV catheters in a continuous drip or with a syringe. — continued</a:t>
            </a:r>
          </a:p>
        </p:txBody>
      </p:sp>
      <p:sp>
        <p:nvSpPr>
          <p:cNvPr id="3" name="">
            <a:extLst xmlns:a="http://schemas.openxmlformats.org/drawingml/2006/main">
              <a:ext uri="{FF2B5EF4-FFF2-40B4-BE49-F238E27FC236}">
                <a16:creationId xmlns:a16="http://schemas.microsoft.com/office/drawing/2014/main" id="{54CA196B-EF0B-475B-9335-79AFF41D87C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04ED5D35-2CEC-454E-88FB-E88A5D55787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5" name="">
            <a:extLst xmlns:a="http://schemas.openxmlformats.org/drawingml/2006/main">
              <a:ext uri="{FF2B5EF4-FFF2-40B4-BE49-F238E27FC236}">
                <a16:creationId xmlns:a16="http://schemas.microsoft.com/office/drawing/2014/main" id="{D79EFED8-EB21-4D38-BCAC-EDC2857121E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Those who are predisposed to these problems are the elderly, patients on long-term chemotherapy, and diabetics.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administration of chemotherapy always requires the three C's: Caution with handling, Careful administration technique, and Continuous observation of the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CLASSIFICATION OF CHEMOTHERAPY AGENTS (From Cancer Chemotherapy: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Reference Guide by Linda Tenenbaum) Alkylating Agents Busulfan (Myleran) Chlorambucil (Leukeran) Cispolatin (Platinol) Cyclophosphamide (Cytoxan) Mechlorethamine (Mustargen) Melphalan</a:t>
            </a:r>
          </a:p>
        </p:txBody>
      </p:sp>
      <p:sp>
        <p:nvSpPr>
          <p:cNvPr id="6" name="">
            <a:extLst xmlns:a="http://schemas.openxmlformats.org/drawingml/2006/main">
              <a:ext uri="{FF2B5EF4-FFF2-40B4-BE49-F238E27FC236}">
                <a16:creationId xmlns:a16="http://schemas.microsoft.com/office/drawing/2014/main" id="{0268FBE5-11A9-49A8-9821-1BE2654FD86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ABE3204-0171-409A-88D5-C5EF46CB464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70</a:t>
            </a:r>
          </a:p>
        </p:txBody>
      </p:sp>
    </p:spTree>
    <p:extLst>
      <p:ext uri="{BB962C8B-B14F-4D97-AF65-F5344CB8AC3E}">
        <p14:creationId xmlns:p14="http://schemas.microsoft.com/office/powerpoint/2010/main" val="1463033443"/>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9AE768-0E3A-4B4E-803F-7977DB74FAA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1F475F4-7AB4-4AE1-9317-1F90F274ADA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by peripheral IV catheters in a continuous drip or with a syringe. — continued</a:t>
            </a:r>
          </a:p>
        </p:txBody>
      </p:sp>
      <p:sp>
        <p:nvSpPr>
          <p:cNvPr id="3" name="">
            <a:extLst xmlns:a="http://schemas.openxmlformats.org/drawingml/2006/main">
              <a:ext uri="{FF2B5EF4-FFF2-40B4-BE49-F238E27FC236}">
                <a16:creationId xmlns:a16="http://schemas.microsoft.com/office/drawing/2014/main" id="{DDDFBF94-043A-4B3A-95E3-1B058DBFE85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141C7719-2600-40E1-9943-0D2B9C30595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5" name="">
            <a:extLst xmlns:a="http://schemas.openxmlformats.org/drawingml/2006/main">
              <a:ext uri="{FF2B5EF4-FFF2-40B4-BE49-F238E27FC236}">
                <a16:creationId xmlns:a16="http://schemas.microsoft.com/office/drawing/2014/main" id="{D4B29E4C-41D6-435D-9C23-877BBBA3FE9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(Alkeran) Dacarbazine (DTIC) Ifosfamide (Ifex) Uracil Antibiotics Bleomycin (Blenoxane) Dactinomycin (Actinomycin) Daunorubicin (Cerubidin) Doxorubicin (Adriamycin) Mitomycin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(Mutamycin)</a:t>
            </a:r>
          </a:p>
        </p:txBody>
      </p:sp>
      <p:sp>
        <p:nvSpPr>
          <p:cNvPr id="6" name="">
            <a:extLst xmlns:a="http://schemas.openxmlformats.org/drawingml/2006/main">
              <a:ext uri="{FF2B5EF4-FFF2-40B4-BE49-F238E27FC236}">
                <a16:creationId xmlns:a16="http://schemas.microsoft.com/office/drawing/2014/main" id="{365E722D-31E8-4E35-BDDE-8E24C77F8CE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2E20558-BD6A-4DD2-AD67-A7C85394487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70</a:t>
            </a:r>
          </a:p>
        </p:txBody>
      </p:sp>
    </p:spTree>
    <p:extLst>
      <p:ext uri="{BB962C8B-B14F-4D97-AF65-F5344CB8AC3E}">
        <p14:creationId xmlns:p14="http://schemas.microsoft.com/office/powerpoint/2010/main" val="1062036666"/>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EC16E3-B32E-4DBC-BCF3-E8FFAB1C8F4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D42EBA6-61C0-4B87-A379-30349A8FD55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Anti-Metabolite Agents</a:t>
            </a:r>
          </a:p>
        </p:txBody>
      </p:sp>
      <p:sp>
        <p:nvSpPr>
          <p:cNvPr id="3" name="">
            <a:extLst xmlns:a="http://schemas.openxmlformats.org/drawingml/2006/main">
              <a:ext uri="{FF2B5EF4-FFF2-40B4-BE49-F238E27FC236}">
                <a16:creationId xmlns:a16="http://schemas.microsoft.com/office/drawing/2014/main" id="{E2C47A23-4F29-4A53-9BC6-29BDC15EC30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5760D357-A4FC-4D49-933B-A7DF4D6D59B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35</a:t>
            </a:r>
          </a:p>
        </p:txBody>
      </p:sp>
      <p:sp>
        <p:nvSpPr>
          <p:cNvPr id="5" name="">
            <a:extLst xmlns:a="http://schemas.openxmlformats.org/drawingml/2006/main">
              <a:ext uri="{FF2B5EF4-FFF2-40B4-BE49-F238E27FC236}">
                <a16:creationId xmlns:a16="http://schemas.microsoft.com/office/drawing/2014/main" id="{4B54057C-4CF3-4F98-83B1-9CBCB923A41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Cytarabine (Cytosar) 5-flurouracil (5-FU) - Methotrexate (Mexate) Nitroureas Agents Cormustine (BCNU) Lomustine (CCNU) Strep toxocin (Zanosar) Hormonal Agents Estrogens Glucocorticoids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Progestational Agents Antiestrogens Androgens Gonadotropin-releasing hormone analogs Common Side Effects Cancer chemotherapy agents cause a wide variety of side effects, minor to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severe, that involve all of the major organ groups.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use of combination and adjuvant therapies increases the probability of untoward side effects.</a:t>
            </a:r>
          </a:p>
        </p:txBody>
      </p:sp>
      <p:sp>
        <p:nvSpPr>
          <p:cNvPr id="6" name="">
            <a:extLst xmlns:a="http://schemas.openxmlformats.org/drawingml/2006/main">
              <a:ext uri="{FF2B5EF4-FFF2-40B4-BE49-F238E27FC236}">
                <a16:creationId xmlns:a16="http://schemas.microsoft.com/office/drawing/2014/main" id="{D19C644D-A76D-47D6-A328-EB94035EC7D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BF12E0A-1307-4C31-8A49-4621170C37A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71</a:t>
            </a:r>
          </a:p>
        </p:txBody>
      </p:sp>
    </p:spTree>
    <p:extLst>
      <p:ext uri="{BB962C8B-B14F-4D97-AF65-F5344CB8AC3E}">
        <p14:creationId xmlns:p14="http://schemas.microsoft.com/office/powerpoint/2010/main" val="789282702"/>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2BBE8F0-D79C-4E77-92A7-8D160842E36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C50846F-3DAC-4E50-B674-623DE7E4B73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Anti-Metabolite Agents — continued</a:t>
            </a:r>
          </a:p>
        </p:txBody>
      </p:sp>
      <p:sp>
        <p:nvSpPr>
          <p:cNvPr id="3" name="">
            <a:extLst xmlns:a="http://schemas.openxmlformats.org/drawingml/2006/main">
              <a:ext uri="{FF2B5EF4-FFF2-40B4-BE49-F238E27FC236}">
                <a16:creationId xmlns:a16="http://schemas.microsoft.com/office/drawing/2014/main" id="{CFD4ABC5-109C-48AF-B7EC-75937140010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443095E8-88B5-460C-A1FD-879C4EF0215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36</a:t>
            </a:r>
          </a:p>
        </p:txBody>
      </p:sp>
      <p:sp>
        <p:nvSpPr>
          <p:cNvPr id="5" name="">
            <a:extLst xmlns:a="http://schemas.openxmlformats.org/drawingml/2006/main">
              <a:ext uri="{FF2B5EF4-FFF2-40B4-BE49-F238E27FC236}">
                <a16:creationId xmlns:a16="http://schemas.microsoft.com/office/drawing/2014/main" id="{0139B1A7-B10A-4196-9828-F4F8E2E08EE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Several of the major side effects of chemotherapy in general, are described below.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you are the nurse responsible for giving these agents, you need to know the specific negative actions of each individual drug, and combination of drugs.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discussion of different nursing interventions that will assist your patients and families through some of the difficult side effects follows: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Neurological Sensory changes, headaches, neuropathies HEEN T Oral thrush, headaches, photophobia Respiratory Decreased immunity to upper respiratory infections and pneumonia Cardiac</a:t>
            </a:r>
          </a:p>
        </p:txBody>
      </p:sp>
      <p:sp>
        <p:nvSpPr>
          <p:cNvPr id="6" name="">
            <a:extLst xmlns:a="http://schemas.openxmlformats.org/drawingml/2006/main">
              <a:ext uri="{FF2B5EF4-FFF2-40B4-BE49-F238E27FC236}">
                <a16:creationId xmlns:a16="http://schemas.microsoft.com/office/drawing/2014/main" id="{0BE241B8-EC16-4B41-A07B-FE1C2E37AAF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3DA6E6A-740D-4367-B610-07E87AF96A8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71</a:t>
            </a:r>
          </a:p>
        </p:txBody>
      </p:sp>
    </p:spTree>
    <p:extLst>
      <p:ext uri="{BB962C8B-B14F-4D97-AF65-F5344CB8AC3E}">
        <p14:creationId xmlns:p14="http://schemas.microsoft.com/office/powerpoint/2010/main" val="2142424542"/>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F1DE11-1939-40EB-A612-CBE0B9DCE01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C72209B-118E-4F8A-9AEE-AD1FA714333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Anti-Metabolite Agents — continued</a:t>
            </a:r>
          </a:p>
        </p:txBody>
      </p:sp>
      <p:sp>
        <p:nvSpPr>
          <p:cNvPr id="3" name="">
            <a:extLst xmlns:a="http://schemas.openxmlformats.org/drawingml/2006/main">
              <a:ext uri="{FF2B5EF4-FFF2-40B4-BE49-F238E27FC236}">
                <a16:creationId xmlns:a16="http://schemas.microsoft.com/office/drawing/2014/main" id="{D2918B57-8B70-48C6-AB53-235FB3C511A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EECBBE43-9F80-4B6F-B9E1-BF8E5CA9B90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37</a:t>
            </a:r>
          </a:p>
        </p:txBody>
      </p:sp>
      <p:sp>
        <p:nvSpPr>
          <p:cNvPr id="5" name="">
            <a:extLst xmlns:a="http://schemas.openxmlformats.org/drawingml/2006/main">
              <a:ext uri="{FF2B5EF4-FFF2-40B4-BE49-F238E27FC236}">
                <a16:creationId xmlns:a16="http://schemas.microsoft.com/office/drawing/2014/main" id="{A14B9318-0691-41CF-98A0-BF4E77CBD8E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Dehydration, fluid imbalances, cardiac toxicity GI Nausea, vomiting, diarrhea, stomatitis, reduced appetite, changes in food taste, constipation GU Hematuria, increased chance of</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infection, urine discoloration, renal failure GYN Dysmennorhia, yeast infections</a:t>
            </a:r>
          </a:p>
        </p:txBody>
      </p:sp>
      <p:sp>
        <p:nvSpPr>
          <p:cNvPr id="6" name="">
            <a:extLst xmlns:a="http://schemas.openxmlformats.org/drawingml/2006/main">
              <a:ext uri="{FF2B5EF4-FFF2-40B4-BE49-F238E27FC236}">
                <a16:creationId xmlns:a16="http://schemas.microsoft.com/office/drawing/2014/main" id="{AA581C67-02FB-4D9E-A781-4D1762D24BD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1D0EE89-324A-4669-BB49-6F5B78010CE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71</a:t>
            </a:r>
          </a:p>
        </p:txBody>
      </p:sp>
    </p:spTree>
    <p:extLst>
      <p:ext uri="{BB962C8B-B14F-4D97-AF65-F5344CB8AC3E}">
        <p14:creationId xmlns:p14="http://schemas.microsoft.com/office/powerpoint/2010/main" val="299690114"/>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2B68D5-42BD-4BAA-AB78-2FB0449A8F8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B514008-B40B-4C93-BF2B-6140249B085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112"/>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agents with pain, swelling, and possible necrosis</a:t>
            </a:r>
          </a:p>
        </p:txBody>
      </p:sp>
      <p:sp>
        <p:nvSpPr>
          <p:cNvPr id="3" name="">
            <a:extLst xmlns:a="http://schemas.openxmlformats.org/drawingml/2006/main">
              <a:ext uri="{FF2B5EF4-FFF2-40B4-BE49-F238E27FC236}">
                <a16:creationId xmlns:a16="http://schemas.microsoft.com/office/drawing/2014/main" id="{7A2F081A-C3EA-47E9-98F3-70C2E65DA0B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8ABD1D78-D38E-4542-B542-D6933D360FA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38</a:t>
            </a:r>
          </a:p>
        </p:txBody>
      </p:sp>
      <p:sp>
        <p:nvSpPr>
          <p:cNvPr id="5" name="">
            <a:extLst xmlns:a="http://schemas.openxmlformats.org/drawingml/2006/main">
              <a:ext uri="{FF2B5EF4-FFF2-40B4-BE49-F238E27FC236}">
                <a16:creationId xmlns:a16="http://schemas.microsoft.com/office/drawing/2014/main" id="{D2B08DF4-F5AC-4B8A-9AF9-83B7CD32150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Extremities Muscles mass loss (due to decreased food intake), weakness, and decreased mobility Skin Decreased turgor, bruising, redness, itching, increased pigmentation, and yeast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infection, alopecia.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Extravasation of chemotherapy agents with pain, swelling, and possible necrosis Hematopoetic Myelosuppression (inhibition of the bone marrow, which produces blood cells, resulting 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anemia, bleeding disorders, and increased risk of infection) Psychosocial Withdrawal, regression, depression, possible suicidal.</a:t>
            </a:r>
          </a:p>
        </p:txBody>
      </p:sp>
      <p:sp>
        <p:nvSpPr>
          <p:cNvPr id="6" name="">
            <a:extLst xmlns:a="http://schemas.openxmlformats.org/drawingml/2006/main">
              <a:ext uri="{FF2B5EF4-FFF2-40B4-BE49-F238E27FC236}">
                <a16:creationId xmlns:a16="http://schemas.microsoft.com/office/drawing/2014/main" id="{6E70B5DA-C5AB-485D-AD34-C4DD3E33222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DFCA288-4D12-4062-BF2C-26A44D9AFEC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72</a:t>
            </a:r>
          </a:p>
        </p:txBody>
      </p:sp>
    </p:spTree>
    <p:extLst>
      <p:ext uri="{BB962C8B-B14F-4D97-AF65-F5344CB8AC3E}">
        <p14:creationId xmlns:p14="http://schemas.microsoft.com/office/powerpoint/2010/main" val="871848122"/>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972A05-0115-4041-9E65-8608B41FBE0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3B215C7-D296-482E-B89E-BF4953DACE3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agents with pain, swelling, and possible necrosis — continued</a:t>
            </a:r>
          </a:p>
        </p:txBody>
      </p:sp>
      <p:sp>
        <p:nvSpPr>
          <p:cNvPr id="3" name="">
            <a:extLst xmlns:a="http://schemas.openxmlformats.org/drawingml/2006/main">
              <a:ext uri="{FF2B5EF4-FFF2-40B4-BE49-F238E27FC236}">
                <a16:creationId xmlns:a16="http://schemas.microsoft.com/office/drawing/2014/main" id="{122B433B-76C6-4792-8997-E6D096F204F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F24E94C3-63D4-4608-BAA4-D7E5291FA15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39</a:t>
            </a:r>
          </a:p>
        </p:txBody>
      </p:sp>
      <p:sp>
        <p:nvSpPr>
          <p:cNvPr id="5" name="">
            <a:extLst xmlns:a="http://schemas.openxmlformats.org/drawingml/2006/main">
              <a:ext uri="{FF2B5EF4-FFF2-40B4-BE49-F238E27FC236}">
                <a16:creationId xmlns:a16="http://schemas.microsoft.com/office/drawing/2014/main" id="{AD9084DE-767C-4364-85E9-A584733E473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Increased stress on family unit.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Damaged self-concept.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Loss of sexual drive.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Nursing Interventions Nausea &amp; Vomiting Foods served cold or at room temperature are better tolerated.</a:t>
            </a:r>
          </a:p>
        </p:txBody>
      </p:sp>
      <p:sp>
        <p:nvSpPr>
          <p:cNvPr id="6" name="">
            <a:extLst xmlns:a="http://schemas.openxmlformats.org/drawingml/2006/main">
              <a:ext uri="{FF2B5EF4-FFF2-40B4-BE49-F238E27FC236}">
                <a16:creationId xmlns:a16="http://schemas.microsoft.com/office/drawing/2014/main" id="{689AE07D-4FBF-4A70-A51D-8BF4E21541A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760DB13-C831-4BC3-ACE0-FD8AF9A452A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72</a:t>
            </a:r>
          </a:p>
        </p:txBody>
      </p:sp>
    </p:spTree>
    <p:extLst>
      <p:ext uri="{BB962C8B-B14F-4D97-AF65-F5344CB8AC3E}">
        <p14:creationId xmlns:p14="http://schemas.microsoft.com/office/powerpoint/2010/main" val="26245703"/>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3001CB-80DE-45EE-B2CF-A2BFEC2A94F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5D01BD6-945F-41ED-9FC4-60904ADFF15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agents with pain, swelling, and possible necrosis — continued</a:t>
            </a:r>
          </a:p>
        </p:txBody>
      </p:sp>
      <p:sp>
        <p:nvSpPr>
          <p:cNvPr id="3" name="">
            <a:extLst xmlns:a="http://schemas.openxmlformats.org/drawingml/2006/main">
              <a:ext uri="{FF2B5EF4-FFF2-40B4-BE49-F238E27FC236}">
                <a16:creationId xmlns:a16="http://schemas.microsoft.com/office/drawing/2014/main" id="{17D15228-BD2F-443C-B4E2-6D397969C97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3D99B71-DF0A-48C2-8A51-96F5C8ABB42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40</a:t>
            </a:r>
          </a:p>
        </p:txBody>
      </p:sp>
      <p:sp>
        <p:nvSpPr>
          <p:cNvPr id="5" name="">
            <a:extLst xmlns:a="http://schemas.openxmlformats.org/drawingml/2006/main">
              <a:ext uri="{FF2B5EF4-FFF2-40B4-BE49-F238E27FC236}">
                <a16:creationId xmlns:a16="http://schemas.microsoft.com/office/drawing/2014/main" id="{BE914C0E-4696-4463-A643-64BEC360232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Avoid sweet, salty, spicy, and odiferous foods A clear liquid diet for times of nausea, before and after every treatment.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Eat smaller meals in greater frequency Decrease unpleasant surroundings Do not bring food to nauseated patients, wait until they are ready to eat Provide distractions when possible, 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games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TV, reading Give anti-emetics as ordered, and as soon as needed Myelosuppression Use isolation techniques that protect patient form exposure to communicable pathogens Use universal</a:t>
            </a:r>
          </a:p>
        </p:txBody>
      </p:sp>
      <p:sp>
        <p:nvSpPr>
          <p:cNvPr id="6" name="">
            <a:extLst xmlns:a="http://schemas.openxmlformats.org/drawingml/2006/main">
              <a:ext uri="{FF2B5EF4-FFF2-40B4-BE49-F238E27FC236}">
                <a16:creationId xmlns:a16="http://schemas.microsoft.com/office/drawing/2014/main" id="{283702E2-B08F-4A8D-B946-B7FCD2A5C65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0C68D22-0882-43C0-8B41-DC922F94AEF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72</a:t>
            </a:r>
          </a:p>
        </p:txBody>
      </p:sp>
    </p:spTree>
    <p:extLst>
      <p:ext uri="{BB962C8B-B14F-4D97-AF65-F5344CB8AC3E}">
        <p14:creationId xmlns:p14="http://schemas.microsoft.com/office/powerpoint/2010/main" val="1597232857"/>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8C3D01-9F37-459F-AD15-EE9F879FA56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6F478DC-393A-4F76-879E-4CD390C1873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agents with pain, swelling, and possible necrosis — continued</a:t>
            </a:r>
          </a:p>
        </p:txBody>
      </p:sp>
      <p:sp>
        <p:nvSpPr>
          <p:cNvPr id="3" name="">
            <a:extLst xmlns:a="http://schemas.openxmlformats.org/drawingml/2006/main">
              <a:ext uri="{FF2B5EF4-FFF2-40B4-BE49-F238E27FC236}">
                <a16:creationId xmlns:a16="http://schemas.microsoft.com/office/drawing/2014/main" id="{D3EAA845-6F0E-4FDC-B5D7-299CA57381E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1C2AD2DE-54DA-4581-8DA4-E0FF62111E3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41</a:t>
            </a:r>
          </a:p>
        </p:txBody>
      </p:sp>
      <p:sp>
        <p:nvSpPr>
          <p:cNvPr id="5" name="">
            <a:extLst xmlns:a="http://schemas.openxmlformats.org/drawingml/2006/main">
              <a:ext uri="{FF2B5EF4-FFF2-40B4-BE49-F238E27FC236}">
                <a16:creationId xmlns:a16="http://schemas.microsoft.com/office/drawing/2014/main" id="{533CCB47-9CB3-4F06-AC9A-90F7A69664B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precautions Support pre and post treatment hydration (IV or PO) Assess for and report signs of anemia or bleeding Stomatitis Assess the oral cavity at least BID, and report infection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Encourage oral intake Avoid wearing ill-fitting dentures Avoid alcohol, tobacco, and foods that are hot or cold Use a soft toothbrush or sponge brush and stop flossing with bleeding or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pain Use topical anesthetics if ordered prior to oral hygiene and eating to increase comfort</a:t>
            </a:r>
          </a:p>
        </p:txBody>
      </p:sp>
      <p:sp>
        <p:nvSpPr>
          <p:cNvPr id="6" name="">
            <a:extLst xmlns:a="http://schemas.openxmlformats.org/drawingml/2006/main">
              <a:ext uri="{FF2B5EF4-FFF2-40B4-BE49-F238E27FC236}">
                <a16:creationId xmlns:a16="http://schemas.microsoft.com/office/drawing/2014/main" id="{536F7928-8028-4C6B-922B-FD102E909B9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89AEE2D-2AD8-4DF0-95F4-8977E09A8E1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72</a:t>
            </a:r>
          </a:p>
        </p:txBody>
      </p:sp>
    </p:spTree>
    <p:extLst>
      <p:ext uri="{BB962C8B-B14F-4D97-AF65-F5344CB8AC3E}">
        <p14:creationId xmlns:p14="http://schemas.microsoft.com/office/powerpoint/2010/main" val="500562310"/>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12D890A-B713-436D-88BE-EC7AE18EABE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D5002A9-C098-4340-9EED-5AFD2077F2B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Encourage the patient to report any discomfort, swelling, or</a:t>
            </a:r>
          </a:p>
        </p:txBody>
      </p:sp>
      <p:sp>
        <p:nvSpPr>
          <p:cNvPr id="3" name="">
            <a:extLst xmlns:a="http://schemas.openxmlformats.org/drawingml/2006/main">
              <a:ext uri="{FF2B5EF4-FFF2-40B4-BE49-F238E27FC236}">
                <a16:creationId xmlns:a16="http://schemas.microsoft.com/office/drawing/2014/main" id="{CBC10CDD-B486-4A51-965D-46261118B32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6395175-883B-4FCE-A30B-CD9951A405C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42</a:t>
            </a:r>
          </a:p>
        </p:txBody>
      </p:sp>
      <p:sp>
        <p:nvSpPr>
          <p:cNvPr id="5" name="">
            <a:extLst xmlns:a="http://schemas.openxmlformats.org/drawingml/2006/main">
              <a:ext uri="{FF2B5EF4-FFF2-40B4-BE49-F238E27FC236}">
                <a16:creationId xmlns:a16="http://schemas.microsoft.com/office/drawing/2014/main" id="{606741B8-6B75-46FC-8501-D8E32BD5C8F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Report quantity and quality of diarrhea and give anti-diarrhea medications as ordered (at regular intervals, not PRN) Extravasation Monitor insertion site frequently and carefully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document Encourage the patient to report any discomfort, swelling, or discoloration at the site If extravasation is suspected, stop the IV, do not remove the catheter, and notify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charge nurse immediately List of Common Vesicant / Irritant Drugs 1 Nitrogen Mustard (Mechlorethamine) 2.</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Mutamycin (Mitomycin C) Velban (Binblastine) Oncovin (Vincristine) Eldisine (Vindesine) VM-26 (Teniposide) Adriamycine (Doxorubicin) Cerubidine (Daunomycin, Daunorubicin, Rubidomycin 9.</a:t>
            </a:r>
          </a:p>
        </p:txBody>
      </p:sp>
      <p:sp>
        <p:nvSpPr>
          <p:cNvPr id="6" name="">
            <a:extLst xmlns:a="http://schemas.openxmlformats.org/drawingml/2006/main">
              <a:ext uri="{FF2B5EF4-FFF2-40B4-BE49-F238E27FC236}">
                <a16:creationId xmlns:a16="http://schemas.microsoft.com/office/drawing/2014/main" id="{94DE5833-1C34-40FC-9CB8-2F82A78D363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A43EB2B-BB73-4BFA-9F98-D10415FF1A8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73</a:t>
            </a:r>
          </a:p>
        </p:txBody>
      </p:sp>
    </p:spTree>
    <p:extLst>
      <p:ext uri="{BB962C8B-B14F-4D97-AF65-F5344CB8AC3E}">
        <p14:creationId xmlns:p14="http://schemas.microsoft.com/office/powerpoint/2010/main" val="1819192412"/>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C2EE8B-1F58-4971-B7CC-61E1B0DC6F4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78D4C2B-3382-48D8-AF21-2156912485C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Encourage the patient to report any discomfort, swelling, or — continued</a:t>
            </a:r>
          </a:p>
        </p:txBody>
      </p:sp>
      <p:sp>
        <p:nvSpPr>
          <p:cNvPr id="3" name="">
            <a:extLst xmlns:a="http://schemas.openxmlformats.org/drawingml/2006/main">
              <a:ext uri="{FF2B5EF4-FFF2-40B4-BE49-F238E27FC236}">
                <a16:creationId xmlns:a16="http://schemas.microsoft.com/office/drawing/2014/main" id="{1F873D6F-B1B0-4B7D-9C34-204D9BC9BCD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61DF0C1-24B5-4DBB-BE0A-8BC711DFF9D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43</a:t>
            </a:r>
          </a:p>
        </p:txBody>
      </p:sp>
      <p:sp>
        <p:nvSpPr>
          <p:cNvPr id="5" name="">
            <a:extLst xmlns:a="http://schemas.openxmlformats.org/drawingml/2006/main">
              <a:ext uri="{FF2B5EF4-FFF2-40B4-BE49-F238E27FC236}">
                <a16:creationId xmlns:a16="http://schemas.microsoft.com/office/drawing/2014/main" id="{E28D3817-5129-4FBA-8306-4DF2636D73E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Cosmegen(Dactinomycin, Actinomycin D) 10.</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Bisantrene 11 Mithramycin (Mithracin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Plicamycin) 12 Dacarbazine (DTIC) Specific Drug Side Effects Adriamycin: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Urine turns reddish in color (not from blood)</a:t>
            </a:r>
          </a:p>
        </p:txBody>
      </p:sp>
      <p:sp>
        <p:nvSpPr>
          <p:cNvPr id="6" name="">
            <a:extLst xmlns:a="http://schemas.openxmlformats.org/drawingml/2006/main">
              <a:ext uri="{FF2B5EF4-FFF2-40B4-BE49-F238E27FC236}">
                <a16:creationId xmlns:a16="http://schemas.microsoft.com/office/drawing/2014/main" id="{D175F904-E6B3-42C9-8E81-D7FDEA2E14C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AB1F3E0-0D2A-47B5-B502-D607CB6529D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73</a:t>
            </a:r>
          </a:p>
        </p:txBody>
      </p:sp>
    </p:spTree>
    <p:extLst>
      <p:ext uri="{BB962C8B-B14F-4D97-AF65-F5344CB8AC3E}">
        <p14:creationId xmlns:p14="http://schemas.microsoft.com/office/powerpoint/2010/main" val="81545194"/>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1900F96-6799-41A9-91AD-4C2D6537E7B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A33C0A2-4319-400F-89F8-03BEB369657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Encourage the patient to report any discomfort, swelling, or — continued</a:t>
            </a:r>
          </a:p>
        </p:txBody>
      </p:sp>
      <p:sp>
        <p:nvSpPr>
          <p:cNvPr id="3" name="">
            <a:extLst xmlns:a="http://schemas.openxmlformats.org/drawingml/2006/main">
              <a:ext uri="{FF2B5EF4-FFF2-40B4-BE49-F238E27FC236}">
                <a16:creationId xmlns:a16="http://schemas.microsoft.com/office/drawing/2014/main" id="{BE0ACC9F-D5FF-4069-9C43-F5E9C6ACC9F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F99AEE1-DEFA-49DA-A316-556A372412F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44</a:t>
            </a:r>
          </a:p>
        </p:txBody>
      </p:sp>
      <p:sp>
        <p:nvSpPr>
          <p:cNvPr id="5" name="">
            <a:extLst xmlns:a="http://schemas.openxmlformats.org/drawingml/2006/main">
              <a:ext uri="{FF2B5EF4-FFF2-40B4-BE49-F238E27FC236}">
                <a16:creationId xmlns:a16="http://schemas.microsoft.com/office/drawing/2014/main" id="{04423DF9-6C78-4054-9080-84790D7C37A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Lasts one to two days after medication is given Bleomycin: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Adverse reactions include shaking, chills and febrile reactions.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test dose is normally given</a:t>
            </a:r>
          </a:p>
        </p:txBody>
      </p:sp>
      <p:sp>
        <p:nvSpPr>
          <p:cNvPr id="6" name="">
            <a:extLst xmlns:a="http://schemas.openxmlformats.org/drawingml/2006/main">
              <a:ext uri="{FF2B5EF4-FFF2-40B4-BE49-F238E27FC236}">
                <a16:creationId xmlns:a16="http://schemas.microsoft.com/office/drawing/2014/main" id="{BA45BF5A-2B9C-438E-B308-3B16FD4E121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B484CE6-3796-46C5-9324-6E12DFD98D2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73</a:t>
            </a:r>
          </a:p>
        </p:txBody>
      </p:sp>
    </p:spTree>
    <p:extLst>
      <p:ext uri="{BB962C8B-B14F-4D97-AF65-F5344CB8AC3E}">
        <p14:creationId xmlns:p14="http://schemas.microsoft.com/office/powerpoint/2010/main" val="1350517872"/>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78C183-7B73-4BA3-81A6-3C254A84741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5739070-D9ED-4D22-8C07-40D614694DD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TEACHING</a:t>
            </a:r>
          </a:p>
        </p:txBody>
      </p:sp>
      <p:sp>
        <p:nvSpPr>
          <p:cNvPr id="3" name="">
            <a:extLst xmlns:a="http://schemas.openxmlformats.org/drawingml/2006/main">
              <a:ext uri="{FF2B5EF4-FFF2-40B4-BE49-F238E27FC236}">
                <a16:creationId xmlns:a16="http://schemas.microsoft.com/office/drawing/2014/main" id="{D55494CC-D3EE-4A6E-A222-1406BC6FC87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E477C2F0-1846-4FAB-8D8F-0BC420C3FB1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45</a:t>
            </a:r>
          </a:p>
        </p:txBody>
      </p:sp>
      <p:sp>
        <p:nvSpPr>
          <p:cNvPr id="5" name="">
            <a:extLst xmlns:a="http://schemas.openxmlformats.org/drawingml/2006/main">
              <a:ext uri="{FF2B5EF4-FFF2-40B4-BE49-F238E27FC236}">
                <a16:creationId xmlns:a16="http://schemas.microsoft.com/office/drawing/2014/main" id="{5B005751-2D93-4369-B8E4-95103394B31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Many fears exist in our society about cancer and chemotherapy.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Your patient and their family will be very apprehensive about the disease as well as the treatment.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Whether those fears are grounded in fact, or based on misinformation, they must be addressed.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Although a caring and compassionate demeanor is required in oncology nursing, the single most effective tool for reducing apprehension is information.</a:t>
            </a:r>
          </a:p>
        </p:txBody>
      </p:sp>
      <p:sp>
        <p:nvSpPr>
          <p:cNvPr id="6" name="">
            <a:extLst xmlns:a="http://schemas.openxmlformats.org/drawingml/2006/main">
              <a:ext uri="{FF2B5EF4-FFF2-40B4-BE49-F238E27FC236}">
                <a16:creationId xmlns:a16="http://schemas.microsoft.com/office/drawing/2014/main" id="{5D0ADA3F-4BFC-4B72-9A2C-687280C6CAC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A7D1F16-C053-4A3C-A715-800E6C56FF8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74</a:t>
            </a:r>
          </a:p>
        </p:txBody>
      </p:sp>
    </p:spTree>
    <p:extLst>
      <p:ext uri="{BB962C8B-B14F-4D97-AF65-F5344CB8AC3E}">
        <p14:creationId xmlns:p14="http://schemas.microsoft.com/office/powerpoint/2010/main" val="333391758"/>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75384B-A69D-4CAE-9DA8-1B2C9E75C33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4F45D50-FB67-43B6-A78D-B898C409D2A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TEACHING — continued</a:t>
            </a:r>
          </a:p>
        </p:txBody>
      </p:sp>
      <p:sp>
        <p:nvSpPr>
          <p:cNvPr id="3" name="">
            <a:extLst xmlns:a="http://schemas.openxmlformats.org/drawingml/2006/main">
              <a:ext uri="{FF2B5EF4-FFF2-40B4-BE49-F238E27FC236}">
                <a16:creationId xmlns:a16="http://schemas.microsoft.com/office/drawing/2014/main" id="{3A6309D4-5E6A-4B4F-B81E-80BA64539FD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5478007-B64E-49A3-8994-F3927FAE572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46</a:t>
            </a:r>
          </a:p>
        </p:txBody>
      </p:sp>
      <p:sp>
        <p:nvSpPr>
          <p:cNvPr id="5" name="">
            <a:extLst xmlns:a="http://schemas.openxmlformats.org/drawingml/2006/main">
              <a:ext uri="{FF2B5EF4-FFF2-40B4-BE49-F238E27FC236}">
                <a16:creationId xmlns:a16="http://schemas.microsoft.com/office/drawing/2014/main" id="{480C27C4-BCE2-4862-903B-52791161E3A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Knowledge about the disease, the treatment, and expected outcomes will alleviate anxieties and aid in the formation of a cooperative and successful relationship with your patient 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their treatment.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changes and challenges that occur during the course of cancer and treatment affect all areas of an individuals' life: psychological, social, sexual, spiritual, and physical.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Nothing is left untouched.</a:t>
            </a:r>
          </a:p>
        </p:txBody>
      </p:sp>
      <p:sp>
        <p:nvSpPr>
          <p:cNvPr id="6" name="">
            <a:extLst xmlns:a="http://schemas.openxmlformats.org/drawingml/2006/main">
              <a:ext uri="{FF2B5EF4-FFF2-40B4-BE49-F238E27FC236}">
                <a16:creationId xmlns:a16="http://schemas.microsoft.com/office/drawing/2014/main" id="{8FDC7A2E-B92D-4B89-95A4-83D1174F80D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58786BD-35B5-47F9-B091-EB4CE608B1B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74</a:t>
            </a:r>
          </a:p>
        </p:txBody>
      </p:sp>
    </p:spTree>
    <p:extLst>
      <p:ext uri="{BB962C8B-B14F-4D97-AF65-F5344CB8AC3E}">
        <p14:creationId xmlns:p14="http://schemas.microsoft.com/office/powerpoint/2010/main" val="1060542968"/>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9B5EB2-5613-4B92-B151-3B2916FFE8E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2BAB18C-DE89-444C-BCB3-1F1842208D1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TEACHING — continued</a:t>
            </a:r>
          </a:p>
        </p:txBody>
      </p:sp>
      <p:sp>
        <p:nvSpPr>
          <p:cNvPr id="3" name="">
            <a:extLst xmlns:a="http://schemas.openxmlformats.org/drawingml/2006/main">
              <a:ext uri="{FF2B5EF4-FFF2-40B4-BE49-F238E27FC236}">
                <a16:creationId xmlns:a16="http://schemas.microsoft.com/office/drawing/2014/main" id="{70E598AE-9112-4D6F-B2B4-CDC71F72F35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A8E3CEC-24A8-4235-9EF6-F8EE7947645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47</a:t>
            </a:r>
          </a:p>
        </p:txBody>
      </p:sp>
      <p:sp>
        <p:nvSpPr>
          <p:cNvPr id="5" name="">
            <a:extLst xmlns:a="http://schemas.openxmlformats.org/drawingml/2006/main">
              <a:ext uri="{FF2B5EF4-FFF2-40B4-BE49-F238E27FC236}">
                <a16:creationId xmlns:a16="http://schemas.microsoft.com/office/drawing/2014/main" id="{A90DA384-2A88-4AAC-B4DC-1E0B6C42471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education you provide should encompass all of these areas.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question and answer examples only touch briefly on some of the issues that you will encounter: Q.</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Will the Chemotherapy be painful?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Taking chemotherapeutic agents is no more painful than any other medication.</a:t>
            </a:r>
          </a:p>
        </p:txBody>
      </p:sp>
      <p:sp>
        <p:nvSpPr>
          <p:cNvPr id="6" name="">
            <a:extLst xmlns:a="http://schemas.openxmlformats.org/drawingml/2006/main">
              <a:ext uri="{FF2B5EF4-FFF2-40B4-BE49-F238E27FC236}">
                <a16:creationId xmlns:a16="http://schemas.microsoft.com/office/drawing/2014/main" id="{808DCB5C-9165-4466-8B9C-6758F9C9681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62A4708-5D7D-47E3-8DA8-5A4FFB4CBC2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74</a:t>
            </a:r>
          </a:p>
        </p:txBody>
      </p:sp>
    </p:spTree>
    <p:extLst>
      <p:ext uri="{BB962C8B-B14F-4D97-AF65-F5344CB8AC3E}">
        <p14:creationId xmlns:p14="http://schemas.microsoft.com/office/powerpoint/2010/main" val="1841499521"/>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FC3F0C-A0D1-461F-B24A-A525276FD84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B3B6095-1A07-40E4-AA7C-AD07B0CED82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TEACHING — continued</a:t>
            </a:r>
          </a:p>
        </p:txBody>
      </p:sp>
      <p:sp>
        <p:nvSpPr>
          <p:cNvPr id="3" name="">
            <a:extLst xmlns:a="http://schemas.openxmlformats.org/drawingml/2006/main">
              <a:ext uri="{FF2B5EF4-FFF2-40B4-BE49-F238E27FC236}">
                <a16:creationId xmlns:a16="http://schemas.microsoft.com/office/drawing/2014/main" id="{67B32863-2927-4C61-965B-DD131463D4C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17B83AD0-045B-42DD-A429-AC03BD97554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48</a:t>
            </a:r>
          </a:p>
        </p:txBody>
      </p:sp>
      <p:sp>
        <p:nvSpPr>
          <p:cNvPr id="5" name="">
            <a:extLst xmlns:a="http://schemas.openxmlformats.org/drawingml/2006/main">
              <a:ext uri="{FF2B5EF4-FFF2-40B4-BE49-F238E27FC236}">
                <a16:creationId xmlns:a16="http://schemas.microsoft.com/office/drawing/2014/main" id="{01C36D30-82FC-4272-A882-9157E4F3E0C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pills are no worse, the injections hurt just like a normal injection, and the only discomfort you feel form the IV medications is from the insertion of the needle itself.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Will I lose my hair from having chemotherapy?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Hair cells grow more rapidly than most of the bodies other cells and this makes them similar to cancer cells which also reproduce rapidly.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Chemotherapy attacks fast growing cells more than slow ones, which is why the hair follicle is sometimes damaged.</a:t>
            </a:r>
          </a:p>
        </p:txBody>
      </p:sp>
      <p:sp>
        <p:nvSpPr>
          <p:cNvPr id="6" name="">
            <a:extLst xmlns:a="http://schemas.openxmlformats.org/drawingml/2006/main">
              <a:ext uri="{FF2B5EF4-FFF2-40B4-BE49-F238E27FC236}">
                <a16:creationId xmlns:a16="http://schemas.microsoft.com/office/drawing/2014/main" id="{BE0C5540-1FD9-4031-93EF-056B078346B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41204D5-E158-4441-ADCB-0107344266E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74</a:t>
            </a:r>
          </a:p>
        </p:txBody>
      </p:sp>
    </p:spTree>
    <p:extLst>
      <p:ext uri="{BB962C8B-B14F-4D97-AF65-F5344CB8AC3E}">
        <p14:creationId xmlns:p14="http://schemas.microsoft.com/office/powerpoint/2010/main" val="1936548930"/>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4F51C3D-E400-4E04-AEF4-FC8408561FB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61AC89A-AD9D-4796-98A9-DEC05CB2CAA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TEACHING — continued</a:t>
            </a:r>
          </a:p>
        </p:txBody>
      </p:sp>
      <p:sp>
        <p:nvSpPr>
          <p:cNvPr id="3" name="">
            <a:extLst xmlns:a="http://schemas.openxmlformats.org/drawingml/2006/main">
              <a:ext uri="{FF2B5EF4-FFF2-40B4-BE49-F238E27FC236}">
                <a16:creationId xmlns:a16="http://schemas.microsoft.com/office/drawing/2014/main" id="{E5F390BA-084C-4885-8CFF-7ADF7DBB528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EF4EA6F6-D90E-4337-A15E-33FE8DF5A11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49</a:t>
            </a:r>
          </a:p>
        </p:txBody>
      </p:sp>
      <p:sp>
        <p:nvSpPr>
          <p:cNvPr id="5" name="">
            <a:extLst xmlns:a="http://schemas.openxmlformats.org/drawingml/2006/main">
              <a:ext uri="{FF2B5EF4-FFF2-40B4-BE49-F238E27FC236}">
                <a16:creationId xmlns:a16="http://schemas.microsoft.com/office/drawing/2014/main" id="{A71EB360-1AA8-454C-AD92-ABFB2BF408D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are a number of interventions available to reduce this problem.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What can I do about the problems with my skin?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Each individual reacts differently to the medication.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Redness, itching, and dryness are possibilities that may occur.</a:t>
            </a:r>
          </a:p>
        </p:txBody>
      </p:sp>
      <p:sp>
        <p:nvSpPr>
          <p:cNvPr id="6" name="">
            <a:extLst xmlns:a="http://schemas.openxmlformats.org/drawingml/2006/main">
              <a:ext uri="{FF2B5EF4-FFF2-40B4-BE49-F238E27FC236}">
                <a16:creationId xmlns:a16="http://schemas.microsoft.com/office/drawing/2014/main" id="{6C520FF1-78BF-434B-A13D-8F59E767333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547DF95-1408-4132-8FE6-10E76CA0B65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74</a:t>
            </a:r>
          </a:p>
        </p:txBody>
      </p:sp>
    </p:spTree>
    <p:extLst>
      <p:ext uri="{BB962C8B-B14F-4D97-AF65-F5344CB8AC3E}">
        <p14:creationId xmlns:p14="http://schemas.microsoft.com/office/powerpoint/2010/main" val="637047926"/>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56FAC3-074A-4F19-94B5-02DED0D7B43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2590621-0293-41AE-82CD-4F487D85DA6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TEACHING — continued</a:t>
            </a:r>
          </a:p>
        </p:txBody>
      </p:sp>
      <p:sp>
        <p:nvSpPr>
          <p:cNvPr id="3" name="">
            <a:extLst xmlns:a="http://schemas.openxmlformats.org/drawingml/2006/main">
              <a:ext uri="{FF2B5EF4-FFF2-40B4-BE49-F238E27FC236}">
                <a16:creationId xmlns:a16="http://schemas.microsoft.com/office/drawing/2014/main" id="{06F66AA1-ED67-46BD-BDBB-B4EF6F866F5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949FED9-012E-4E0A-93C8-7E00378F68A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50</a:t>
            </a:r>
          </a:p>
        </p:txBody>
      </p:sp>
      <p:sp>
        <p:nvSpPr>
          <p:cNvPr id="5" name="">
            <a:extLst xmlns:a="http://schemas.openxmlformats.org/drawingml/2006/main">
              <a:ext uri="{FF2B5EF4-FFF2-40B4-BE49-F238E27FC236}">
                <a16:creationId xmlns:a16="http://schemas.microsoft.com/office/drawing/2014/main" id="{FD3E815A-DC6E-42AD-BD23-E7387B10294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Most skin problems can be treated with a variety of creams and lotions for comfort.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How will I know if I'm getting an infection?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 you develop a new pain or discomfort, fever, temperature, chills, cough, urinary or gynecological problems, or other unusual symptoms, contact the physician or nurse.</a:t>
            </a:r>
          </a:p>
        </p:txBody>
      </p:sp>
      <p:sp>
        <p:nvSpPr>
          <p:cNvPr id="6" name="">
            <a:extLst xmlns:a="http://schemas.openxmlformats.org/drawingml/2006/main">
              <a:ext uri="{FF2B5EF4-FFF2-40B4-BE49-F238E27FC236}">
                <a16:creationId xmlns:a16="http://schemas.microsoft.com/office/drawing/2014/main" id="{04B400DB-7D27-4E2F-B24A-79597BCB360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9FC6764-E8E7-47D0-AF14-AE508935F49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74</a:t>
            </a:r>
          </a:p>
        </p:txBody>
      </p:sp>
    </p:spTree>
    <p:extLst>
      <p:ext uri="{BB962C8B-B14F-4D97-AF65-F5344CB8AC3E}">
        <p14:creationId xmlns:p14="http://schemas.microsoft.com/office/powerpoint/2010/main" val="971169758"/>
      </p:ext>
    </p:extLst>
  </p:cSld>
</p:sld>
</file>

<file path=ppt/slides/slide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9823D31-182A-4BE1-98E3-0C3940F05F1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352F276-4806-4DEE-AF33-E599F332DD6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puts a great stress on the body and increases its nutritional needs.</a:t>
            </a:r>
          </a:p>
        </p:txBody>
      </p:sp>
      <p:sp>
        <p:nvSpPr>
          <p:cNvPr id="3" name="">
            <a:extLst xmlns:a="http://schemas.openxmlformats.org/drawingml/2006/main">
              <a:ext uri="{FF2B5EF4-FFF2-40B4-BE49-F238E27FC236}">
                <a16:creationId xmlns:a16="http://schemas.microsoft.com/office/drawing/2014/main" id="{201F433E-38F6-4263-A760-1EA15E3991C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0DE4E80-D96C-432E-9ED0-32969434CFF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51</a:t>
            </a:r>
          </a:p>
        </p:txBody>
      </p:sp>
      <p:sp>
        <p:nvSpPr>
          <p:cNvPr id="5" name="">
            <a:extLst xmlns:a="http://schemas.openxmlformats.org/drawingml/2006/main">
              <a:ext uri="{FF2B5EF4-FFF2-40B4-BE49-F238E27FC236}">
                <a16:creationId xmlns:a16="http://schemas.microsoft.com/office/drawing/2014/main" id="{C1F7FAEB-1DF6-4E01-8C5D-FC92CC4B682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 important is drinking liquids?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Due to the action of some agents on the kidneys, it is very important to drink a greater amount of liquid than normal.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Why do I need to eat when I don't even want to look at food?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Chemotherapy puts a great stress on the body and increases its nutritional needs.</a:t>
            </a:r>
          </a:p>
        </p:txBody>
      </p:sp>
      <p:sp>
        <p:nvSpPr>
          <p:cNvPr id="6" name="">
            <a:extLst xmlns:a="http://schemas.openxmlformats.org/drawingml/2006/main">
              <a:ext uri="{FF2B5EF4-FFF2-40B4-BE49-F238E27FC236}">
                <a16:creationId xmlns:a16="http://schemas.microsoft.com/office/drawing/2014/main" id="{38891C16-00EE-49F7-859C-2903FE48A89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9D9E7BE-6BF1-491D-ADB9-38CEB5914E4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75</a:t>
            </a:r>
          </a:p>
        </p:txBody>
      </p:sp>
    </p:spTree>
    <p:extLst>
      <p:ext uri="{BB962C8B-B14F-4D97-AF65-F5344CB8AC3E}">
        <p14:creationId xmlns:p14="http://schemas.microsoft.com/office/powerpoint/2010/main" val="2099888833"/>
      </p:ext>
    </p:extLst>
  </p:cSld>
</p:sld>
</file>

<file path=ppt/slides/slide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B984EB-9DE6-4C1C-9F4F-B83E3709E07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53C4AC5-8A9A-4DE6-8B14-A65E600990B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puts a great stress on the body and increases its nutritional needs. — continued</a:t>
            </a:r>
          </a:p>
        </p:txBody>
      </p:sp>
      <p:sp>
        <p:nvSpPr>
          <p:cNvPr id="3" name="">
            <a:extLst xmlns:a="http://schemas.openxmlformats.org/drawingml/2006/main">
              <a:ext uri="{FF2B5EF4-FFF2-40B4-BE49-F238E27FC236}">
                <a16:creationId xmlns:a16="http://schemas.microsoft.com/office/drawing/2014/main" id="{C7F3C68D-F05E-4A0D-947A-D8C3884D7D7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97FD7300-B2C8-4421-B269-53BCF3A7FF7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52</a:t>
            </a:r>
          </a:p>
        </p:txBody>
      </p:sp>
      <p:sp>
        <p:nvSpPr>
          <p:cNvPr id="5" name="">
            <a:extLst xmlns:a="http://schemas.openxmlformats.org/drawingml/2006/main">
              <a:ext uri="{FF2B5EF4-FFF2-40B4-BE49-F238E27FC236}">
                <a16:creationId xmlns:a16="http://schemas.microsoft.com/office/drawing/2014/main" id="{67B6527F-A262-40BB-A828-564D360E046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Fueling your body during this time is extremely important to your current sense of well being and to the success of the treatments.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agents may increase of decrease your appetite, change your tastes, or affect it in other ways.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your appetite decreases do things that help it, such as eat small frequent meals, make the meal a special event, reward yourself for eating, etc.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is only a sampling of the questions that will arise.</a:t>
            </a:r>
          </a:p>
        </p:txBody>
      </p:sp>
      <p:sp>
        <p:nvSpPr>
          <p:cNvPr id="6" name="">
            <a:extLst xmlns:a="http://schemas.openxmlformats.org/drawingml/2006/main">
              <a:ext uri="{FF2B5EF4-FFF2-40B4-BE49-F238E27FC236}">
                <a16:creationId xmlns:a16="http://schemas.microsoft.com/office/drawing/2014/main" id="{54EA0031-DDAA-447A-956D-54DF8894DA3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90A6273-B3B1-42D6-BE9D-009590C30CF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75</a:t>
            </a:r>
          </a:p>
        </p:txBody>
      </p:sp>
    </p:spTree>
    <p:extLst>
      <p:ext uri="{BB962C8B-B14F-4D97-AF65-F5344CB8AC3E}">
        <p14:creationId xmlns:p14="http://schemas.microsoft.com/office/powerpoint/2010/main" val="1888755047"/>
      </p:ext>
    </p:extLst>
  </p:cSld>
</p:sld>
</file>

<file path=ppt/slides/slide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84243C-3A6B-4651-B08E-036D01541EA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B1D87A9-A4B6-414F-82A1-8B91BC28A53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puts a great stress on the body and increases its nutritional needs. — continued</a:t>
            </a:r>
          </a:p>
        </p:txBody>
      </p:sp>
      <p:sp>
        <p:nvSpPr>
          <p:cNvPr id="3" name="">
            <a:extLst xmlns:a="http://schemas.openxmlformats.org/drawingml/2006/main">
              <a:ext uri="{FF2B5EF4-FFF2-40B4-BE49-F238E27FC236}">
                <a16:creationId xmlns:a16="http://schemas.microsoft.com/office/drawing/2014/main" id="{B143A57A-656A-485D-81C3-AC39B6F467E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BBF59C9C-C35E-4718-A0CB-CC0A1E5D46D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53</a:t>
            </a:r>
          </a:p>
        </p:txBody>
      </p:sp>
      <p:sp>
        <p:nvSpPr>
          <p:cNvPr id="5" name="">
            <a:extLst xmlns:a="http://schemas.openxmlformats.org/drawingml/2006/main">
              <a:ext uri="{FF2B5EF4-FFF2-40B4-BE49-F238E27FC236}">
                <a16:creationId xmlns:a16="http://schemas.microsoft.com/office/drawing/2014/main" id="{C9171D68-0B68-4E1C-B250-3BB69E7EDCD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Prepare yourself for this specialty area by making use of the number of written materials and educational opportunities that are available.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Alopecia is one of the more traumatic side effects of chemotherapy because of the damage it does to a person's body image.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problem alone may discourage people from initiating or continuing treatment.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Here is a list of considerations when this issue arises</a:t>
            </a:r>
          </a:p>
        </p:txBody>
      </p:sp>
      <p:sp>
        <p:nvSpPr>
          <p:cNvPr id="6" name="">
            <a:extLst xmlns:a="http://schemas.openxmlformats.org/drawingml/2006/main">
              <a:ext uri="{FF2B5EF4-FFF2-40B4-BE49-F238E27FC236}">
                <a16:creationId xmlns:a16="http://schemas.microsoft.com/office/drawing/2014/main" id="{0E75D7BF-24FA-4CA6-8863-0453AAE05C3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2154A68-0CDB-4F6F-AAF2-7F3C0C8AA87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75</a:t>
            </a:r>
          </a:p>
        </p:txBody>
      </p:sp>
    </p:spTree>
    <p:extLst>
      <p:ext uri="{BB962C8B-B14F-4D97-AF65-F5344CB8AC3E}">
        <p14:creationId xmlns:p14="http://schemas.microsoft.com/office/powerpoint/2010/main" val="1592747429"/>
      </p:ext>
    </p:extLst>
  </p:cSld>
</p:sld>
</file>

<file path=ppt/slides/slide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595491-D693-45F9-8D46-150DFC0A706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7F5C309-9D30-4023-A360-6E678468006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puts a great stress on the body and increases its nutritional needs. — continued</a:t>
            </a:r>
          </a:p>
        </p:txBody>
      </p:sp>
      <p:sp>
        <p:nvSpPr>
          <p:cNvPr id="3" name="">
            <a:extLst xmlns:a="http://schemas.openxmlformats.org/drawingml/2006/main">
              <a:ext uri="{FF2B5EF4-FFF2-40B4-BE49-F238E27FC236}">
                <a16:creationId xmlns:a16="http://schemas.microsoft.com/office/drawing/2014/main" id="{2C4B9254-CD25-47E1-85C2-E6EF0179174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50BE7C3-3D54-4FD2-8F17-6E8A336337F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54</a:t>
            </a:r>
          </a:p>
        </p:txBody>
      </p:sp>
      <p:sp>
        <p:nvSpPr>
          <p:cNvPr id="5" name="">
            <a:extLst xmlns:a="http://schemas.openxmlformats.org/drawingml/2006/main">
              <a:ext uri="{FF2B5EF4-FFF2-40B4-BE49-F238E27FC236}">
                <a16:creationId xmlns:a16="http://schemas.microsoft.com/office/drawing/2014/main" id="{412AAA57-2452-4B85-98D8-C38D929DABC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Patients may want to purchase a "hair prosthesis" before treatment to match their actual hair and wear it occasionally to get use to it.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Insurance may cover this cost.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They may want to shave their hair and get an earring to identify with an athletic person or other star and make that a positive change in their image.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 that hair loss is usually temporary and differs in degree and duration.</a:t>
            </a:r>
          </a:p>
        </p:txBody>
      </p:sp>
      <p:sp>
        <p:nvSpPr>
          <p:cNvPr id="6" name="">
            <a:extLst xmlns:a="http://schemas.openxmlformats.org/drawingml/2006/main">
              <a:ext uri="{FF2B5EF4-FFF2-40B4-BE49-F238E27FC236}">
                <a16:creationId xmlns:a16="http://schemas.microsoft.com/office/drawing/2014/main" id="{083FE72B-D12D-4B7A-991E-5C314C4A148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D5E7B42-66D4-48D9-A4CC-A977845C1AC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75</a:t>
            </a:r>
          </a:p>
        </p:txBody>
      </p:sp>
    </p:spTree>
    <p:extLst>
      <p:ext uri="{BB962C8B-B14F-4D97-AF65-F5344CB8AC3E}">
        <p14:creationId xmlns:p14="http://schemas.microsoft.com/office/powerpoint/2010/main" val="1691608212"/>
      </p:ext>
    </p:extLst>
  </p:cSld>
</p:sld>
</file>

<file path=ppt/slides/slide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81CD84C-62B8-42F4-A3C2-85115CA7A45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97413F3-2081-43C9-B2F0-7DCC1FF6BF6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puts a great stress on the body and increases its nutritional needs. — continued</a:t>
            </a:r>
          </a:p>
        </p:txBody>
      </p:sp>
      <p:sp>
        <p:nvSpPr>
          <p:cNvPr id="3" name="">
            <a:extLst xmlns:a="http://schemas.openxmlformats.org/drawingml/2006/main">
              <a:ext uri="{FF2B5EF4-FFF2-40B4-BE49-F238E27FC236}">
                <a16:creationId xmlns:a16="http://schemas.microsoft.com/office/drawing/2014/main" id="{6DDFF4A0-2BEA-412F-A66A-7E809E66812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6114D761-076B-4EBD-A9D6-457545F1373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55</a:t>
            </a:r>
          </a:p>
        </p:txBody>
      </p:sp>
      <p:sp>
        <p:nvSpPr>
          <p:cNvPr id="5" name="">
            <a:extLst xmlns:a="http://schemas.openxmlformats.org/drawingml/2006/main">
              <a:ext uri="{FF2B5EF4-FFF2-40B4-BE49-F238E27FC236}">
                <a16:creationId xmlns:a16="http://schemas.microsoft.com/office/drawing/2014/main" id="{CC399F7E-9B10-4655-8B6B-92560E42FA9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loss of other body hair is generally less severe, and hair often returns during or right after the completion of therapy though it may change slightly in color or texture.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Avoid the following which may add to hair damage: excessive brushing, hair dryers, hair sprays, coloring and bleaching, harsh shampoos.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mild protein based shampoos and conditioners.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Allow the person to talk about this important part of their self-image.</a:t>
            </a:r>
          </a:p>
        </p:txBody>
      </p:sp>
      <p:sp>
        <p:nvSpPr>
          <p:cNvPr id="6" name="">
            <a:extLst xmlns:a="http://schemas.openxmlformats.org/drawingml/2006/main">
              <a:ext uri="{FF2B5EF4-FFF2-40B4-BE49-F238E27FC236}">
                <a16:creationId xmlns:a16="http://schemas.microsoft.com/office/drawing/2014/main" id="{DCC15A6B-A935-43EF-887C-73BB135B196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B9AB33E-974E-4F46-B0F6-F108AFFD374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75</a:t>
            </a:r>
          </a:p>
        </p:txBody>
      </p:sp>
    </p:spTree>
    <p:extLst>
      <p:ext uri="{BB962C8B-B14F-4D97-AF65-F5344CB8AC3E}">
        <p14:creationId xmlns:p14="http://schemas.microsoft.com/office/powerpoint/2010/main" val="654744122"/>
      </p:ext>
    </p:extLst>
  </p:cSld>
</p:sld>
</file>

<file path=ppt/slides/slide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B46CCF-50F6-4F41-B877-FF90C952DEB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8947F0F-7FF3-41F3-97FE-C054F246974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puts a great stress on the body and increases its nutritional needs. — continued</a:t>
            </a:r>
          </a:p>
        </p:txBody>
      </p:sp>
      <p:sp>
        <p:nvSpPr>
          <p:cNvPr id="3" name="">
            <a:extLst xmlns:a="http://schemas.openxmlformats.org/drawingml/2006/main">
              <a:ext uri="{FF2B5EF4-FFF2-40B4-BE49-F238E27FC236}">
                <a16:creationId xmlns:a16="http://schemas.microsoft.com/office/drawing/2014/main" id="{544BF2B3-7527-4EF0-A862-15262A94BC4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D7684AB-5F0E-4747-A0FA-6E686E8BD33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56</a:t>
            </a:r>
          </a:p>
        </p:txBody>
      </p:sp>
      <p:sp>
        <p:nvSpPr>
          <p:cNvPr id="5" name="">
            <a:extLst xmlns:a="http://schemas.openxmlformats.org/drawingml/2006/main">
              <a:ext uri="{FF2B5EF4-FFF2-40B4-BE49-F238E27FC236}">
                <a16:creationId xmlns:a16="http://schemas.microsoft.com/office/drawing/2014/main" id="{30BCBDA5-5F0A-4746-9D32-D2A52CAAADA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Alternative Routes There are a number of potential routes of administration for the different chemotherapy agents.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Though you may not be responsible for actually giving the medication, you will need to know about the specific agent, its action, method of delivery, side effects, and accompanying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patient education factors.</a:t>
            </a:r>
          </a:p>
        </p:txBody>
      </p:sp>
      <p:sp>
        <p:nvSpPr>
          <p:cNvPr id="6" name="">
            <a:extLst xmlns:a="http://schemas.openxmlformats.org/drawingml/2006/main">
              <a:ext uri="{FF2B5EF4-FFF2-40B4-BE49-F238E27FC236}">
                <a16:creationId xmlns:a16="http://schemas.microsoft.com/office/drawing/2014/main" id="{83255F93-F87B-4FA3-A6A7-5489E381532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64E7ECF-B3D9-4347-8FEB-C84DF0FD5D8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75</a:t>
            </a:r>
          </a:p>
        </p:txBody>
      </p:sp>
    </p:spTree>
    <p:extLst>
      <p:ext uri="{BB962C8B-B14F-4D97-AF65-F5344CB8AC3E}">
        <p14:creationId xmlns:p14="http://schemas.microsoft.com/office/powerpoint/2010/main" val="1894421093"/>
      </p:ext>
    </p:extLst>
  </p:cSld>
</p:sld>
</file>

<file path=ppt/slides/slide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2272E8-63B1-461A-A719-BE569C078D9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D5094DC-DA8F-4DDA-9846-1558B7CBBE1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Oral Route</a:t>
            </a:r>
          </a:p>
        </p:txBody>
      </p:sp>
      <p:sp>
        <p:nvSpPr>
          <p:cNvPr id="3" name="">
            <a:extLst xmlns:a="http://schemas.openxmlformats.org/drawingml/2006/main">
              <a:ext uri="{FF2B5EF4-FFF2-40B4-BE49-F238E27FC236}">
                <a16:creationId xmlns:a16="http://schemas.microsoft.com/office/drawing/2014/main" id="{8D99F4E5-CD9C-433F-9674-CCEE7C3CBDF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8F12703-2C9B-4A5C-909D-20CDA16DE5C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57</a:t>
            </a:r>
          </a:p>
        </p:txBody>
      </p:sp>
      <p:sp>
        <p:nvSpPr>
          <p:cNvPr id="5" name="">
            <a:extLst xmlns:a="http://schemas.openxmlformats.org/drawingml/2006/main">
              <a:ext uri="{FF2B5EF4-FFF2-40B4-BE49-F238E27FC236}">
                <a16:creationId xmlns:a16="http://schemas.microsoft.com/office/drawing/2014/main" id="{C034E6FB-2968-49BC-9CFC-54E63194734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Commonly used for certain agents.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Intramuscular or Subcutaneous Route Used infrequently.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Irritants and especially vesicants are avoided by this route.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route is used for other agents, note swelling, pain, discoloration, and bleeding at the puncture site.</a:t>
            </a:r>
          </a:p>
        </p:txBody>
      </p:sp>
      <p:sp>
        <p:nvSpPr>
          <p:cNvPr id="6" name="">
            <a:extLst xmlns:a="http://schemas.openxmlformats.org/drawingml/2006/main">
              <a:ext uri="{FF2B5EF4-FFF2-40B4-BE49-F238E27FC236}">
                <a16:creationId xmlns:a16="http://schemas.microsoft.com/office/drawing/2014/main" id="{3E6FFC94-05F0-4F70-B246-208D6C4C56F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F046B6D-B7FB-4E35-8B16-EC3020E92B9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76</a:t>
            </a:r>
          </a:p>
        </p:txBody>
      </p:sp>
    </p:spTree>
    <p:extLst>
      <p:ext uri="{BB962C8B-B14F-4D97-AF65-F5344CB8AC3E}">
        <p14:creationId xmlns:p14="http://schemas.microsoft.com/office/powerpoint/2010/main" val="2095159125"/>
      </p:ext>
    </p:extLst>
  </p:cSld>
</p:sld>
</file>

<file path=ppt/slides/slide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08AC01-3BCE-488C-B2E6-D37497BD357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655C262-6CBA-4528-ACA3-05BEDE64660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Oral Route — continued</a:t>
            </a:r>
          </a:p>
        </p:txBody>
      </p:sp>
      <p:sp>
        <p:nvSpPr>
          <p:cNvPr id="3" name="">
            <a:extLst xmlns:a="http://schemas.openxmlformats.org/drawingml/2006/main">
              <a:ext uri="{FF2B5EF4-FFF2-40B4-BE49-F238E27FC236}">
                <a16:creationId xmlns:a16="http://schemas.microsoft.com/office/drawing/2014/main" id="{207DEDD2-9E3F-4193-85B1-ACFBA5BA9D4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573149C2-11F1-4A86-ABD5-BC7EA6AA033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58</a:t>
            </a:r>
          </a:p>
        </p:txBody>
      </p:sp>
      <p:sp>
        <p:nvSpPr>
          <p:cNvPr id="5" name="">
            <a:extLst xmlns:a="http://schemas.openxmlformats.org/drawingml/2006/main">
              <a:ext uri="{FF2B5EF4-FFF2-40B4-BE49-F238E27FC236}">
                <a16:creationId xmlns:a16="http://schemas.microsoft.com/office/drawing/2014/main" id="{B4E5720F-3CDA-4634-8ED2-4B8CB5CA37E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Intravenous Route This is the most common route used due to the superior absorption of the agent.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most common complications are local irritation and phlebitis.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Observing and maintaining the IV site are critical, especially with vesicants.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use of aseptic technique in changing solution</a:t>
            </a:r>
          </a:p>
        </p:txBody>
      </p:sp>
      <p:sp>
        <p:nvSpPr>
          <p:cNvPr id="6" name="">
            <a:extLst xmlns:a="http://schemas.openxmlformats.org/drawingml/2006/main">
              <a:ext uri="{FF2B5EF4-FFF2-40B4-BE49-F238E27FC236}">
                <a16:creationId xmlns:a16="http://schemas.microsoft.com/office/drawing/2014/main" id="{A552A77C-7AA7-40DA-A61A-0DF7E843FC4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347E1BD-0DF5-4F32-A5B0-D56EA9B780D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76</a:t>
            </a:r>
          </a:p>
        </p:txBody>
      </p:sp>
    </p:spTree>
    <p:extLst>
      <p:ext uri="{BB962C8B-B14F-4D97-AF65-F5344CB8AC3E}">
        <p14:creationId xmlns:p14="http://schemas.microsoft.com/office/powerpoint/2010/main" val="332867215"/>
      </p:ext>
    </p:extLst>
  </p:cSld>
</p:sld>
</file>

<file path=ppt/slides/slide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0E87EA-860C-47CD-A3F7-1CB68ADFEE1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9C9D14B-5897-4EF6-A79A-1D0DCF7C43D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Oral Route — continued</a:t>
            </a:r>
          </a:p>
        </p:txBody>
      </p:sp>
      <p:sp>
        <p:nvSpPr>
          <p:cNvPr id="3" name="">
            <a:extLst xmlns:a="http://schemas.openxmlformats.org/drawingml/2006/main">
              <a:ext uri="{FF2B5EF4-FFF2-40B4-BE49-F238E27FC236}">
                <a16:creationId xmlns:a16="http://schemas.microsoft.com/office/drawing/2014/main" id="{106D2F1C-BDEE-4A56-A754-E3A1834A22F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A87F636-9E23-463E-9C3F-1F8878E505C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59</a:t>
            </a:r>
          </a:p>
        </p:txBody>
      </p:sp>
      <p:sp>
        <p:nvSpPr>
          <p:cNvPr id="5" name="">
            <a:extLst xmlns:a="http://schemas.openxmlformats.org/drawingml/2006/main">
              <a:ext uri="{FF2B5EF4-FFF2-40B4-BE49-F238E27FC236}">
                <a16:creationId xmlns:a16="http://schemas.microsoft.com/office/drawing/2014/main" id="{8F21B1F9-3AE7-49DE-8739-B60BCF607D2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IV bags, adding medications, and changing tubing is essential as these persons may be immuno-compromised and extremely susceptible to the introduction of any bacteria.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Venous system access may be accomplished through a peripheral catheter, a central venous catheter (CVP or an Infusaport), or a peripherally inserted central venous catheter (PICC line).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Site care is even more critical with central lines.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Intra-Arterial Route An agent injected into an artery proximal to a tumor or affected organ travels directly to that area before spreading to the rest of the body.</a:t>
            </a:r>
          </a:p>
        </p:txBody>
      </p:sp>
      <p:sp>
        <p:nvSpPr>
          <p:cNvPr id="6" name="">
            <a:extLst xmlns:a="http://schemas.openxmlformats.org/drawingml/2006/main">
              <a:ext uri="{FF2B5EF4-FFF2-40B4-BE49-F238E27FC236}">
                <a16:creationId xmlns:a16="http://schemas.microsoft.com/office/drawing/2014/main" id="{7EC47325-4A2F-47AA-8121-721BBC9A3FD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607D25E-024A-4101-8349-38661143654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76</a:t>
            </a:r>
          </a:p>
        </p:txBody>
      </p:sp>
    </p:spTree>
    <p:extLst>
      <p:ext uri="{BB962C8B-B14F-4D97-AF65-F5344CB8AC3E}">
        <p14:creationId xmlns:p14="http://schemas.microsoft.com/office/powerpoint/2010/main" val="634379659"/>
      </p:ext>
    </p:extLst>
  </p:cSld>
</p:sld>
</file>

<file path=ppt/slides/slide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871E11-3F12-4883-82AF-BA87EBACA49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29D8EA4-199A-4210-9C01-DFCFF0EBA7D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Oral Route — continued</a:t>
            </a:r>
          </a:p>
        </p:txBody>
      </p:sp>
      <p:sp>
        <p:nvSpPr>
          <p:cNvPr id="3" name="">
            <a:extLst xmlns:a="http://schemas.openxmlformats.org/drawingml/2006/main">
              <a:ext uri="{FF2B5EF4-FFF2-40B4-BE49-F238E27FC236}">
                <a16:creationId xmlns:a16="http://schemas.microsoft.com/office/drawing/2014/main" id="{C956D2E9-A6C7-4E7D-BC42-785C0E0955A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4760891B-4037-46D9-B4F2-A7A95830C84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60</a:t>
            </a:r>
          </a:p>
        </p:txBody>
      </p:sp>
      <p:sp>
        <p:nvSpPr>
          <p:cNvPr id="5" name="">
            <a:extLst xmlns:a="http://schemas.openxmlformats.org/drawingml/2006/main">
              <a:ext uri="{FF2B5EF4-FFF2-40B4-BE49-F238E27FC236}">
                <a16:creationId xmlns:a16="http://schemas.microsoft.com/office/drawing/2014/main" id="{357005FB-E5D9-4989-9D0C-E05E3088007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Higher concentrations are then achieved at the target area, with fewer side effects to the rest of the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insertion is chosen careful and care includes maintaining catheter patency, bleeding, and infection.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Other Routes Intraperitoneal therapy is often used for ovarian and colon cancer.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small catheter is inserted into the intraperitoneal cavity through an incision just below the umbilicus, and the agent then instilled.</a:t>
            </a:r>
          </a:p>
        </p:txBody>
      </p:sp>
      <p:sp>
        <p:nvSpPr>
          <p:cNvPr id="6" name="">
            <a:extLst xmlns:a="http://schemas.openxmlformats.org/drawingml/2006/main">
              <a:ext uri="{FF2B5EF4-FFF2-40B4-BE49-F238E27FC236}">
                <a16:creationId xmlns:a16="http://schemas.microsoft.com/office/drawing/2014/main" id="{6D6F7F3B-8D4A-45AC-AC21-2B9281DE2C1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9771172-ECD4-476B-B8A2-B064FD0A308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76</a:t>
            </a:r>
          </a:p>
        </p:txBody>
      </p:sp>
    </p:spTree>
    <p:extLst>
      <p:ext uri="{BB962C8B-B14F-4D97-AF65-F5344CB8AC3E}">
        <p14:creationId xmlns:p14="http://schemas.microsoft.com/office/powerpoint/2010/main" val="1155465701"/>
      </p:ext>
    </p:extLst>
  </p:cSld>
</p:sld>
</file>

<file path=ppt/slides/slide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706C20-3B96-4D5F-81A8-DCE5D782275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27856DC-3751-4D92-8103-5FCF36A5A59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Oral Route — continued</a:t>
            </a:r>
          </a:p>
        </p:txBody>
      </p:sp>
      <p:sp>
        <p:nvSpPr>
          <p:cNvPr id="3" name="">
            <a:extLst xmlns:a="http://schemas.openxmlformats.org/drawingml/2006/main">
              <a:ext uri="{FF2B5EF4-FFF2-40B4-BE49-F238E27FC236}">
                <a16:creationId xmlns:a16="http://schemas.microsoft.com/office/drawing/2014/main" id="{32457301-3690-4056-8DD2-E76BF2A4FDA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8C0E6638-BCCC-4EE6-A287-6C9EA4D24E1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61</a:t>
            </a:r>
          </a:p>
        </p:txBody>
      </p:sp>
      <p:sp>
        <p:nvSpPr>
          <p:cNvPr id="5" name="">
            <a:extLst xmlns:a="http://schemas.openxmlformats.org/drawingml/2006/main">
              <a:ext uri="{FF2B5EF4-FFF2-40B4-BE49-F238E27FC236}">
                <a16:creationId xmlns:a16="http://schemas.microsoft.com/office/drawing/2014/main" id="{B16C3B58-A28D-43CE-9861-8B7FA6C04E8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intrapieural route is used for some forms of lung cancer.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small tube is inserted, in a manner not unlike a chest tube, into the intrapicural space where the chemotherapy is then injected.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Intrathecal chemotherapy is injected into cerebrospinal fluid through a lumbar puncture.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more directly focuses the agent to central nervous system cancers.</a:t>
            </a:r>
          </a:p>
        </p:txBody>
      </p:sp>
      <p:sp>
        <p:nvSpPr>
          <p:cNvPr id="6" name="">
            <a:extLst xmlns:a="http://schemas.openxmlformats.org/drawingml/2006/main">
              <a:ext uri="{FF2B5EF4-FFF2-40B4-BE49-F238E27FC236}">
                <a16:creationId xmlns:a16="http://schemas.microsoft.com/office/drawing/2014/main" id="{8E19B04E-BF1D-4428-9183-DC63EC7D0FD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6A25A5E-CAA4-474A-B2C9-D7760B0924C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76</a:t>
            </a:r>
          </a:p>
        </p:txBody>
      </p:sp>
    </p:spTree>
    <p:extLst>
      <p:ext uri="{BB962C8B-B14F-4D97-AF65-F5344CB8AC3E}">
        <p14:creationId xmlns:p14="http://schemas.microsoft.com/office/powerpoint/2010/main" val="1452359278"/>
      </p:ext>
    </p:extLst>
  </p:cSld>
</p:sld>
</file>

<file path=ppt/slides/slide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E198F2-2793-4778-B095-E291AB9E087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015686E-6A74-4317-A690-D3BCC80DEC6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Adjuvant Chemotherapy</a:t>
            </a:r>
          </a:p>
        </p:txBody>
      </p:sp>
      <p:sp>
        <p:nvSpPr>
          <p:cNvPr id="3" name="">
            <a:extLst xmlns:a="http://schemas.openxmlformats.org/drawingml/2006/main">
              <a:ext uri="{FF2B5EF4-FFF2-40B4-BE49-F238E27FC236}">
                <a16:creationId xmlns:a16="http://schemas.microsoft.com/office/drawing/2014/main" id="{FFBB4227-5BD7-43C0-A854-9C4B46038B7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9B1F425C-36B1-4043-995F-F7F85F9A199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62</a:t>
            </a:r>
          </a:p>
        </p:txBody>
      </p:sp>
      <p:sp>
        <p:nvSpPr>
          <p:cNvPr id="5" name="">
            <a:extLst xmlns:a="http://schemas.openxmlformats.org/drawingml/2006/main">
              <a:ext uri="{FF2B5EF4-FFF2-40B4-BE49-F238E27FC236}">
                <a16:creationId xmlns:a16="http://schemas.microsoft.com/office/drawing/2014/main" id="{4692507B-DFC3-4D29-8520-B6EEDEC8575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Each of these approaches carries its' own risks for complications.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Site maintenance is similar for each method, but the nurse needs to be knowledgeable of the problems and specific care associated with each.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GLOSSARY Adjuvant Chemotherapy Using drugs in combination with surgery and/or radiation to treat cancer.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Akylating Agent Agents that interfere with the DNA replication process Alopecia The loss of hair from the scalp and body.</a:t>
            </a:r>
          </a:p>
        </p:txBody>
      </p:sp>
      <p:sp>
        <p:nvSpPr>
          <p:cNvPr id="6" name="">
            <a:extLst xmlns:a="http://schemas.openxmlformats.org/drawingml/2006/main">
              <a:ext uri="{FF2B5EF4-FFF2-40B4-BE49-F238E27FC236}">
                <a16:creationId xmlns:a16="http://schemas.microsoft.com/office/drawing/2014/main" id="{CEC38F99-9BD5-4B1F-9EF3-35F4DA2DC65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2EBE841-2DE0-4AE8-970A-49097E2FE57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77</a:t>
            </a:r>
          </a:p>
        </p:txBody>
      </p:sp>
    </p:spTree>
    <p:extLst>
      <p:ext uri="{BB962C8B-B14F-4D97-AF65-F5344CB8AC3E}">
        <p14:creationId xmlns:p14="http://schemas.microsoft.com/office/powerpoint/2010/main" val="527084570"/>
      </p:ext>
    </p:extLst>
  </p:cSld>
</p:sld>
</file>

<file path=ppt/slides/slide6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A55E50-B4C2-4D30-A3A4-073C4794BB6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F968A65-2F0C-40C1-8B87-EB07AA0C99C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Adjuvant Chemotherapy — continued</a:t>
            </a:r>
          </a:p>
        </p:txBody>
      </p:sp>
      <p:sp>
        <p:nvSpPr>
          <p:cNvPr id="3" name="">
            <a:extLst xmlns:a="http://schemas.openxmlformats.org/drawingml/2006/main">
              <a:ext uri="{FF2B5EF4-FFF2-40B4-BE49-F238E27FC236}">
                <a16:creationId xmlns:a16="http://schemas.microsoft.com/office/drawing/2014/main" id="{31BF020B-84DF-4F1E-A9AF-DC088EA1680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192193D2-9D88-44DF-A798-D724D1099A4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63</a:t>
            </a:r>
          </a:p>
        </p:txBody>
      </p:sp>
      <p:sp>
        <p:nvSpPr>
          <p:cNvPr id="5" name="">
            <a:extLst xmlns:a="http://schemas.openxmlformats.org/drawingml/2006/main">
              <a:ext uri="{FF2B5EF4-FFF2-40B4-BE49-F238E27FC236}">
                <a16:creationId xmlns:a16="http://schemas.microsoft.com/office/drawing/2014/main" id="{18E345E7-AFFC-4A83-848A-0F06D4B1617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Anorexia The reduction or loss of appetite for food.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Anticipatory Nausea The nausea and/or vomiting that precedes the receiving of chemotherapy.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Antiemetic A drug that reduces or eliminates nausea and vomiting.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Antimetabolites Medications that act on the S Phase of the cell cycle by blocking the metabolic pathways or by replacing the essential metabolites.</a:t>
            </a:r>
          </a:p>
        </p:txBody>
      </p:sp>
      <p:sp>
        <p:nvSpPr>
          <p:cNvPr id="6" name="">
            <a:extLst xmlns:a="http://schemas.openxmlformats.org/drawingml/2006/main">
              <a:ext uri="{FF2B5EF4-FFF2-40B4-BE49-F238E27FC236}">
                <a16:creationId xmlns:a16="http://schemas.microsoft.com/office/drawing/2014/main" id="{D4CCA34F-E780-4A9A-B483-BEC4DCE843A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2F4BDBC-A191-472C-A99B-624BDC0E67F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77</a:t>
            </a:r>
          </a:p>
        </p:txBody>
      </p:sp>
    </p:spTree>
    <p:extLst>
      <p:ext uri="{BB962C8B-B14F-4D97-AF65-F5344CB8AC3E}">
        <p14:creationId xmlns:p14="http://schemas.microsoft.com/office/powerpoint/2010/main" val="998402276"/>
      </p:ext>
    </p:extLst>
  </p:cSld>
</p:sld>
</file>

<file path=ppt/slides/slide6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7C8035-6277-4E39-AEC0-4D9B237D8DE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8CDD738-ED01-42E0-9E92-F9271AF6BB1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Adjuvant Chemotherapy — continued</a:t>
            </a:r>
          </a:p>
        </p:txBody>
      </p:sp>
      <p:sp>
        <p:nvSpPr>
          <p:cNvPr id="3" name="">
            <a:extLst xmlns:a="http://schemas.openxmlformats.org/drawingml/2006/main">
              <a:ext uri="{FF2B5EF4-FFF2-40B4-BE49-F238E27FC236}">
                <a16:creationId xmlns:a16="http://schemas.microsoft.com/office/drawing/2014/main" id="{5536474C-A4BE-4D3A-9CF1-B167D45E1B8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E64CDF8C-11D2-4044-98FD-2BCA6F886E1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64</a:t>
            </a:r>
          </a:p>
        </p:txBody>
      </p:sp>
      <p:sp>
        <p:nvSpPr>
          <p:cNvPr id="5" name="">
            <a:extLst xmlns:a="http://schemas.openxmlformats.org/drawingml/2006/main">
              <a:ext uri="{FF2B5EF4-FFF2-40B4-BE49-F238E27FC236}">
                <a16:creationId xmlns:a16="http://schemas.microsoft.com/office/drawing/2014/main" id="{E089EECB-651F-44D6-B377-BD6DFE98EC7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Antitumor Antibiotics Agents that work by binding with DNA to inhibit the synthesis of both DNA and RNA.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Benign A tumor that is non-cancerous.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Cancer A broad term to indicate over 1 00 diseases in which abnormal cells reproduce at an uncontrollable rate.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malignant tumor.</a:t>
            </a:r>
          </a:p>
        </p:txBody>
      </p:sp>
      <p:sp>
        <p:nvSpPr>
          <p:cNvPr id="6" name="">
            <a:extLst xmlns:a="http://schemas.openxmlformats.org/drawingml/2006/main">
              <a:ext uri="{FF2B5EF4-FFF2-40B4-BE49-F238E27FC236}">
                <a16:creationId xmlns:a16="http://schemas.microsoft.com/office/drawing/2014/main" id="{1C12B42C-738B-41AD-B53C-1EB4C513865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6826BD9-9516-42DC-8A4A-E976E235803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77</a:t>
            </a:r>
          </a:p>
        </p:txBody>
      </p:sp>
    </p:spTree>
    <p:extLst>
      <p:ext uri="{BB962C8B-B14F-4D97-AF65-F5344CB8AC3E}">
        <p14:creationId xmlns:p14="http://schemas.microsoft.com/office/powerpoint/2010/main" val="175390301"/>
      </p:ext>
    </p:extLst>
  </p:cSld>
</p:sld>
</file>

<file path=ppt/slides/slide6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04FDD0-0024-4965-9BBC-3993757BF73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4CEC3E8-C9F2-4E6E-B30B-B65CD443C6D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Adjuvant Chemotherapy — continued</a:t>
            </a:r>
          </a:p>
        </p:txBody>
      </p:sp>
      <p:sp>
        <p:nvSpPr>
          <p:cNvPr id="3" name="">
            <a:extLst xmlns:a="http://schemas.openxmlformats.org/drawingml/2006/main">
              <a:ext uri="{FF2B5EF4-FFF2-40B4-BE49-F238E27FC236}">
                <a16:creationId xmlns:a16="http://schemas.microsoft.com/office/drawing/2014/main" id="{010D8AE8-8E4D-46A9-8C39-D0AC8EA4E88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9D30571-54D4-496D-A2F6-D09CA469F36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65</a:t>
            </a:r>
          </a:p>
        </p:txBody>
      </p:sp>
      <p:sp>
        <p:nvSpPr>
          <p:cNvPr id="5" name="">
            <a:extLst xmlns:a="http://schemas.openxmlformats.org/drawingml/2006/main">
              <a:ext uri="{FF2B5EF4-FFF2-40B4-BE49-F238E27FC236}">
                <a16:creationId xmlns:a16="http://schemas.microsoft.com/office/drawing/2014/main" id="{C58053B5-CF9F-4377-A6DD-EFEAEA01930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Cardiomyopathy An acute or chronic disease of the cardiac muscle.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Chemotherapy The use of chemicals or drugs to treat diseases.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Combination Therapy The use of more than one drug at the same time, or in a sequence to treat a specific type of cancer.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Extravasation An infiltration into the surrounding tissue due to the needle going through the vein site.</a:t>
            </a:r>
          </a:p>
        </p:txBody>
      </p:sp>
      <p:sp>
        <p:nvSpPr>
          <p:cNvPr id="6" name="">
            <a:extLst xmlns:a="http://schemas.openxmlformats.org/drawingml/2006/main">
              <a:ext uri="{FF2B5EF4-FFF2-40B4-BE49-F238E27FC236}">
                <a16:creationId xmlns:a16="http://schemas.microsoft.com/office/drawing/2014/main" id="{DF3EA4D9-80BD-4238-8395-61A97F5751D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1C1AFA4-3567-4F20-9A61-842114D909B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77</a:t>
            </a:r>
          </a:p>
        </p:txBody>
      </p:sp>
    </p:spTree>
    <p:extLst>
      <p:ext uri="{BB962C8B-B14F-4D97-AF65-F5344CB8AC3E}">
        <p14:creationId xmlns:p14="http://schemas.microsoft.com/office/powerpoint/2010/main" val="592285477"/>
      </p:ext>
    </p:extLst>
  </p:cSld>
</p:sld>
</file>

<file path=ppt/slides/slide6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454CEA-C4B5-49DA-9DAC-B84EAFD5395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19901FA-3412-40F5-94AC-17A06110CBA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Adjuvant Chemotherapy — continued</a:t>
            </a:r>
          </a:p>
        </p:txBody>
      </p:sp>
      <p:sp>
        <p:nvSpPr>
          <p:cNvPr id="3" name="">
            <a:extLst xmlns:a="http://schemas.openxmlformats.org/drawingml/2006/main">
              <a:ext uri="{FF2B5EF4-FFF2-40B4-BE49-F238E27FC236}">
                <a16:creationId xmlns:a16="http://schemas.microsoft.com/office/drawing/2014/main" id="{1414B471-640F-4398-8703-DCD2D827EB2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42A7896-6B90-4840-9961-FB8AB833E6F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66</a:t>
            </a:r>
          </a:p>
        </p:txBody>
      </p:sp>
      <p:sp>
        <p:nvSpPr>
          <p:cNvPr id="5" name="">
            <a:extLst xmlns:a="http://schemas.openxmlformats.org/drawingml/2006/main">
              <a:ext uri="{FF2B5EF4-FFF2-40B4-BE49-F238E27FC236}">
                <a16:creationId xmlns:a16="http://schemas.microsoft.com/office/drawing/2014/main" id="{21DD0848-5D88-4F68-A12B-D3C7DCBA501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(symptoms much like an infiltration)</a:t>
            </a:r>
          </a:p>
        </p:txBody>
      </p:sp>
      <p:sp>
        <p:nvSpPr>
          <p:cNvPr id="6" name="">
            <a:extLst xmlns:a="http://schemas.openxmlformats.org/drawingml/2006/main">
              <a:ext uri="{FF2B5EF4-FFF2-40B4-BE49-F238E27FC236}">
                <a16:creationId xmlns:a16="http://schemas.microsoft.com/office/drawing/2014/main" id="{F778189C-4728-44C5-86CA-48D33F9C4AD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A10062A-E890-42DA-86BC-F6476E1D504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77</a:t>
            </a:r>
          </a:p>
        </p:txBody>
      </p:sp>
    </p:spTree>
    <p:extLst>
      <p:ext uri="{BB962C8B-B14F-4D97-AF65-F5344CB8AC3E}">
        <p14:creationId xmlns:p14="http://schemas.microsoft.com/office/powerpoint/2010/main" val="2058765990"/>
      </p:ext>
    </p:extLst>
  </p:cSld>
</p:sld>
</file>

<file path=ppt/slides/slide6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C924E3-D84F-4314-A075-919B0CB0F30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E8CECD1-9AB5-413E-8EE5-0224C342A42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injection of chemotherapy into an artery through an</a:t>
            </a:r>
          </a:p>
        </p:txBody>
      </p:sp>
      <p:sp>
        <p:nvSpPr>
          <p:cNvPr id="3" name="">
            <a:extLst xmlns:a="http://schemas.openxmlformats.org/drawingml/2006/main">
              <a:ext uri="{FF2B5EF4-FFF2-40B4-BE49-F238E27FC236}">
                <a16:creationId xmlns:a16="http://schemas.microsoft.com/office/drawing/2014/main" id="{A7339309-4FF4-4CE8-81E3-58F9E07AD04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54FEEFA8-B45C-4991-A3B5-C8E41E01DAE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67</a:t>
            </a:r>
          </a:p>
        </p:txBody>
      </p:sp>
      <p:sp>
        <p:nvSpPr>
          <p:cNvPr id="5" name="">
            <a:extLst xmlns:a="http://schemas.openxmlformats.org/drawingml/2006/main">
              <a:ext uri="{FF2B5EF4-FFF2-40B4-BE49-F238E27FC236}">
                <a16:creationId xmlns:a16="http://schemas.microsoft.com/office/drawing/2014/main" id="{15FEFCF1-93C1-4600-8549-B7E7E7BC684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Intra-arterial Chemotherapy arterial line.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Intraperitoneal Placement of chemotherapy into the peritoneal space Chemotherapy Intrathecal Chemotherapy Injection of chemotherapy into the cerebrospinal fluid.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Irritant An agent that causes irritation in the vein during infusion.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Leukopenia A reduction in the bodies leukocyte count.</a:t>
            </a:r>
          </a:p>
        </p:txBody>
      </p:sp>
      <p:sp>
        <p:nvSpPr>
          <p:cNvPr id="6" name="">
            <a:extLst xmlns:a="http://schemas.openxmlformats.org/drawingml/2006/main">
              <a:ext uri="{FF2B5EF4-FFF2-40B4-BE49-F238E27FC236}">
                <a16:creationId xmlns:a16="http://schemas.microsoft.com/office/drawing/2014/main" id="{E42A2CDB-98D1-41A0-91E4-86D216C2927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20640F8-2A61-4B58-9693-83F41333DC6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78</a:t>
            </a:r>
          </a:p>
        </p:txBody>
      </p:sp>
    </p:spTree>
    <p:extLst>
      <p:ext uri="{BB962C8B-B14F-4D97-AF65-F5344CB8AC3E}">
        <p14:creationId xmlns:p14="http://schemas.microsoft.com/office/powerpoint/2010/main" val="852948949"/>
      </p:ext>
    </p:extLst>
  </p:cSld>
</p:sld>
</file>

<file path=ppt/slides/slide6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23B06E-9273-4639-8C78-13699229C23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2A80E23-DDB3-4ADE-A68A-F7BA9DA6ED3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injection of chemotherapy into an artery through an — continued</a:t>
            </a:r>
          </a:p>
        </p:txBody>
      </p:sp>
      <p:sp>
        <p:nvSpPr>
          <p:cNvPr id="3" name="">
            <a:extLst xmlns:a="http://schemas.openxmlformats.org/drawingml/2006/main">
              <a:ext uri="{FF2B5EF4-FFF2-40B4-BE49-F238E27FC236}">
                <a16:creationId xmlns:a16="http://schemas.microsoft.com/office/drawing/2014/main" id="{5D42CB9C-1239-41DA-A677-717BD4AC99C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E96E0E3E-EFF1-4B1F-9682-6A8CF91D16B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68</a:t>
            </a:r>
          </a:p>
        </p:txBody>
      </p:sp>
      <p:sp>
        <p:nvSpPr>
          <p:cNvPr id="5" name="">
            <a:extLst xmlns:a="http://schemas.openxmlformats.org/drawingml/2006/main">
              <a:ext uri="{FF2B5EF4-FFF2-40B4-BE49-F238E27FC236}">
                <a16:creationId xmlns:a16="http://schemas.microsoft.com/office/drawing/2014/main" id="{D0819B86-05B2-4E56-957E-EFDC2754139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Malignant A tumor that is made of cancerous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Metastasis The process of a tumor fragmenting, traveling through the lymphatic or vascular system, and then establishing itself in a different location of the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Mitosis The last stage of the cell cycle where the cell actually splits into two sibling cells, each having the same number and type of chromosomes as the parent.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Myelosuppression A decrease in the number of red blood cells.</a:t>
            </a:r>
          </a:p>
        </p:txBody>
      </p:sp>
      <p:sp>
        <p:nvSpPr>
          <p:cNvPr id="6" name="">
            <a:extLst xmlns:a="http://schemas.openxmlformats.org/drawingml/2006/main">
              <a:ext uri="{FF2B5EF4-FFF2-40B4-BE49-F238E27FC236}">
                <a16:creationId xmlns:a16="http://schemas.microsoft.com/office/drawing/2014/main" id="{621DBC07-16CE-419E-87B3-822BDB7BED9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AB69969-CE58-446B-AA6D-95CE86C672E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78</a:t>
            </a:r>
          </a:p>
        </p:txBody>
      </p:sp>
    </p:spTree>
    <p:extLst>
      <p:ext uri="{BB962C8B-B14F-4D97-AF65-F5344CB8AC3E}">
        <p14:creationId xmlns:p14="http://schemas.microsoft.com/office/powerpoint/2010/main" val="1520036133"/>
      </p:ext>
    </p:extLst>
  </p:cSld>
</p:sld>
</file>

<file path=ppt/slides/slide6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023F26-9166-4EDD-9835-E4575951D3A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E11EBEE-C7DA-4D00-A3D4-6355CE812CD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injection of chemotherapy into an artery through an — continued</a:t>
            </a:r>
          </a:p>
        </p:txBody>
      </p:sp>
      <p:sp>
        <p:nvSpPr>
          <p:cNvPr id="3" name="">
            <a:extLst xmlns:a="http://schemas.openxmlformats.org/drawingml/2006/main">
              <a:ext uri="{FF2B5EF4-FFF2-40B4-BE49-F238E27FC236}">
                <a16:creationId xmlns:a16="http://schemas.microsoft.com/office/drawing/2014/main" id="{AACBE00C-31B1-4C69-A6B8-F5618987B8D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013FBF0-DD5E-4B4D-B54C-113785D2CCB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69</a:t>
            </a:r>
          </a:p>
        </p:txBody>
      </p:sp>
      <p:sp>
        <p:nvSpPr>
          <p:cNvPr id="5" name="">
            <a:extLst xmlns:a="http://schemas.openxmlformats.org/drawingml/2006/main">
              <a:ext uri="{FF2B5EF4-FFF2-40B4-BE49-F238E27FC236}">
                <a16:creationId xmlns:a16="http://schemas.microsoft.com/office/drawing/2014/main" id="{6BDAD12D-EABD-470A-85D8-776656215D9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Nitrisureas Chemotherapeutic agents that attack cancer cells by inhibiting the formation of DNA.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Phlebitis The inflammation of a vein, often due to IV drug irritation.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Plant Alkaloid (Vinca) A chemotherapy agent that attacks cancerous cells by the inhibition of mitosis.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Radiation Therapy The treatment of cancer with radiation (high energy X-rays).</a:t>
            </a:r>
          </a:p>
        </p:txBody>
      </p:sp>
      <p:sp>
        <p:nvSpPr>
          <p:cNvPr id="6" name="">
            <a:extLst xmlns:a="http://schemas.openxmlformats.org/drawingml/2006/main">
              <a:ext uri="{FF2B5EF4-FFF2-40B4-BE49-F238E27FC236}">
                <a16:creationId xmlns:a16="http://schemas.microsoft.com/office/drawing/2014/main" id="{1C3F74EF-48CB-46B1-AAE2-5323CFFA872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CD403EA-E25F-42DD-9686-1F400BF78DD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78</a:t>
            </a:r>
          </a:p>
        </p:txBody>
      </p:sp>
    </p:spTree>
    <p:extLst>
      <p:ext uri="{BB962C8B-B14F-4D97-AF65-F5344CB8AC3E}">
        <p14:creationId xmlns:p14="http://schemas.microsoft.com/office/powerpoint/2010/main" val="666339743"/>
      </p:ext>
    </p:extLst>
  </p:cSld>
</p:sld>
</file>

<file path=ppt/slides/slide7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596384-0DE4-44E6-93B7-F4B6DB3C56B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61A6A8F-AA42-4944-8522-72A5A914F2C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injection of chemotherapy into an artery through an — continued</a:t>
            </a:r>
          </a:p>
        </p:txBody>
      </p:sp>
      <p:sp>
        <p:nvSpPr>
          <p:cNvPr id="3" name="">
            <a:extLst xmlns:a="http://schemas.openxmlformats.org/drawingml/2006/main">
              <a:ext uri="{FF2B5EF4-FFF2-40B4-BE49-F238E27FC236}">
                <a16:creationId xmlns:a16="http://schemas.microsoft.com/office/drawing/2014/main" id="{881571D0-1AAD-4356-A11F-3926E9A4201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B1CFC9D6-12B4-4FF9-8F8F-CE08605DB96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70</a:t>
            </a:r>
          </a:p>
        </p:txBody>
      </p:sp>
      <p:sp>
        <p:nvSpPr>
          <p:cNvPr id="5" name="">
            <a:extLst xmlns:a="http://schemas.openxmlformats.org/drawingml/2006/main">
              <a:ext uri="{FF2B5EF4-FFF2-40B4-BE49-F238E27FC236}">
                <a16:creationId xmlns:a16="http://schemas.microsoft.com/office/drawing/2014/main" id="{85602B98-1BAC-40DD-8E21-6274C186AF2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Stomatitis The inflammation of the mucous membrane of the oral cavity and upper GI tract.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Vesicant An agent that causes tissue damage and necrosis with infiltration into the tissues outside of the vein.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Tumor A physically distinct, abnormal growth of cells; may be benign or malignant.</a:t>
            </a:r>
          </a:p>
        </p:txBody>
      </p:sp>
      <p:sp>
        <p:nvSpPr>
          <p:cNvPr id="6" name="">
            <a:extLst xmlns:a="http://schemas.openxmlformats.org/drawingml/2006/main">
              <a:ext uri="{FF2B5EF4-FFF2-40B4-BE49-F238E27FC236}">
                <a16:creationId xmlns:a16="http://schemas.microsoft.com/office/drawing/2014/main" id="{864C34DA-3D9B-43A4-A4AD-F32799D2382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B0BD036-BE82-4091-A6C5-CB16799F4BE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78</a:t>
            </a:r>
          </a:p>
        </p:txBody>
      </p:sp>
    </p:spTree>
    <p:extLst>
      <p:ext uri="{BB962C8B-B14F-4D97-AF65-F5344CB8AC3E}">
        <p14:creationId xmlns:p14="http://schemas.microsoft.com/office/powerpoint/2010/main" val="1946777873"/>
      </p:ext>
    </p:extLst>
  </p:cSld>
</p:sld>
</file>

<file path=ppt/slides/slide7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A3D8C3-42BB-4426-B464-29DDCE590EF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6687D06-130F-41CA-B361-F24761189CD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69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Goodman, M.D.: (1 988) Chemotherapy and Care, Bristol-Meyers</a:t>
            </a:r>
          </a:p>
        </p:txBody>
      </p:sp>
      <p:sp>
        <p:nvSpPr>
          <p:cNvPr id="3" name="">
            <a:extLst xmlns:a="http://schemas.openxmlformats.org/drawingml/2006/main">
              <a:ext uri="{FF2B5EF4-FFF2-40B4-BE49-F238E27FC236}">
                <a16:creationId xmlns:a16="http://schemas.microsoft.com/office/drawing/2014/main" id="{94B66A44-0275-48A0-8727-5DA25ED8D68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F1C86340-B444-4439-8565-080781B23BE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71</a:t>
            </a:r>
          </a:p>
        </p:txBody>
      </p:sp>
      <p:sp>
        <p:nvSpPr>
          <p:cNvPr id="5" name="">
            <a:extLst xmlns:a="http://schemas.openxmlformats.org/drawingml/2006/main">
              <a:ext uri="{FF2B5EF4-FFF2-40B4-BE49-F238E27FC236}">
                <a16:creationId xmlns:a16="http://schemas.microsoft.com/office/drawing/2014/main" id="{59C5D3E1-025C-4C12-B709-D1955D03E38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BIBLIOGRAPHY Bready, B.</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 Anderson, 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(1 990) Guide for the Administration and Use of Cancer Chemotherapeutic Agents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Pharmacy Practice News Casciato</a:t>
            </a:r>
          </a:p>
        </p:txBody>
      </p:sp>
      <p:sp>
        <p:nvSpPr>
          <p:cNvPr id="6" name="">
            <a:extLst xmlns:a="http://schemas.openxmlformats.org/drawingml/2006/main">
              <a:ext uri="{FF2B5EF4-FFF2-40B4-BE49-F238E27FC236}">
                <a16:creationId xmlns:a16="http://schemas.microsoft.com/office/drawing/2014/main" id="{A7F1D5D3-DD5B-40ED-9C22-29700072710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AE6DC28-403B-4FD1-83BA-05F04BCD57C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79</a:t>
            </a:r>
          </a:p>
        </p:txBody>
      </p:sp>
    </p:spTree>
    <p:extLst>
      <p:ext uri="{BB962C8B-B14F-4D97-AF65-F5344CB8AC3E}">
        <p14:creationId xmlns:p14="http://schemas.microsoft.com/office/powerpoint/2010/main" val="717103601"/>
      </p:ext>
    </p:extLst>
  </p:cSld>
</p:sld>
</file>

<file path=ppt/slides/slide7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AF7C2D-8B44-4EF8-8650-375AB723069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42830F0-1F53-4ED1-B50B-5A4E474E35B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Goodman, M.D.: (1 988) Chemotherapy and Care, Bristol-Meyers — continued</a:t>
            </a:r>
          </a:p>
        </p:txBody>
      </p:sp>
      <p:sp>
        <p:nvSpPr>
          <p:cNvPr id="3" name="">
            <a:extLst xmlns:a="http://schemas.openxmlformats.org/drawingml/2006/main">
              <a:ext uri="{FF2B5EF4-FFF2-40B4-BE49-F238E27FC236}">
                <a16:creationId xmlns:a16="http://schemas.microsoft.com/office/drawing/2014/main" id="{68F90AE9-C36F-4345-9F34-83BBC6AD613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BDBB7281-6A6E-4710-AEF7-9FB011194A4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72</a:t>
            </a:r>
          </a:p>
        </p:txBody>
      </p:sp>
      <p:sp>
        <p:nvSpPr>
          <p:cNvPr id="5" name="">
            <a:extLst xmlns:a="http://schemas.openxmlformats.org/drawingml/2006/main">
              <a:ext uri="{FF2B5EF4-FFF2-40B4-BE49-F238E27FC236}">
                <a16:creationId xmlns:a16="http://schemas.microsoft.com/office/drawing/2014/main" id="{B14865C4-C9FE-4DA5-A197-95FB84248FF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Lawitz.</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B.B." (1988) Manual of Clinical Oncology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Little</a:t>
            </a:r>
          </a:p>
        </p:txBody>
      </p:sp>
      <p:sp>
        <p:nvSpPr>
          <p:cNvPr id="6" name="">
            <a:extLst xmlns:a="http://schemas.openxmlformats.org/drawingml/2006/main">
              <a:ext uri="{FF2B5EF4-FFF2-40B4-BE49-F238E27FC236}">
                <a16:creationId xmlns:a16="http://schemas.microsoft.com/office/drawing/2014/main" id="{A26A43D1-A79F-482C-8D5B-51B61BA8300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2C9E1E0-006B-4E2F-8F42-C5962EF9D0C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79</a:t>
            </a:r>
          </a:p>
        </p:txBody>
      </p:sp>
    </p:spTree>
    <p:extLst>
      <p:ext uri="{BB962C8B-B14F-4D97-AF65-F5344CB8AC3E}">
        <p14:creationId xmlns:p14="http://schemas.microsoft.com/office/powerpoint/2010/main" val="2011750481"/>
      </p:ext>
    </p:extLst>
  </p:cSld>
</p:sld>
</file>

<file path=ppt/slides/slide7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C4C7B66-F5C2-4F81-AED3-7DE39CD0C15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61FB65E-F5B7-4799-B004-35952418336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Goodman, M.D.: (1 988) Chemotherapy and Care, Bristol-Meyers — continued</a:t>
            </a:r>
          </a:p>
        </p:txBody>
      </p:sp>
      <p:sp>
        <p:nvSpPr>
          <p:cNvPr id="3" name="">
            <a:extLst xmlns:a="http://schemas.openxmlformats.org/drawingml/2006/main">
              <a:ext uri="{FF2B5EF4-FFF2-40B4-BE49-F238E27FC236}">
                <a16:creationId xmlns:a16="http://schemas.microsoft.com/office/drawing/2014/main" id="{2C021075-D832-4F4F-A52A-67707C72928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652833E-B5ED-4C0C-AC6D-719A222D441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73</a:t>
            </a:r>
          </a:p>
        </p:txBody>
      </p:sp>
      <p:sp>
        <p:nvSpPr>
          <p:cNvPr id="5" name="">
            <a:extLst xmlns:a="http://schemas.openxmlformats.org/drawingml/2006/main">
              <a:ext uri="{FF2B5EF4-FFF2-40B4-BE49-F238E27FC236}">
                <a16:creationId xmlns:a16="http://schemas.microsoft.com/office/drawing/2014/main" id="{1D20457D-842C-4B24-BB51-64259C3B066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Brown and Company.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Goodman, M.D.: (1 988) Chemotherapy and Care, Bristol-Meyers Miller, B.</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Keane, C.: (1 986) Encyclopedia and Dictionary of Medicine and Nursing, W.B.</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Saunders Nentwick</a:t>
            </a:r>
          </a:p>
        </p:txBody>
      </p:sp>
      <p:sp>
        <p:nvSpPr>
          <p:cNvPr id="6" name="">
            <a:extLst xmlns:a="http://schemas.openxmlformats.org/drawingml/2006/main">
              <a:ext uri="{FF2B5EF4-FFF2-40B4-BE49-F238E27FC236}">
                <a16:creationId xmlns:a16="http://schemas.microsoft.com/office/drawing/2014/main" id="{4E2ACF3E-E0BA-4582-8B82-43C3AB50558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BDC0688-E00C-461C-AA4B-36748C35572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79</a:t>
            </a:r>
          </a:p>
        </p:txBody>
      </p:sp>
    </p:spTree>
    <p:extLst>
      <p:ext uri="{BB962C8B-B14F-4D97-AF65-F5344CB8AC3E}">
        <p14:creationId xmlns:p14="http://schemas.microsoft.com/office/powerpoint/2010/main" val="974354894"/>
      </p:ext>
    </p:extLst>
  </p:cSld>
</p:sld>
</file>

<file path=ppt/slides/slide7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5BD262-7C42-4518-BB60-62901B945BE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BF37EED-0AA3-4813-81A8-D0CF96C7BAF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Goodman, M.D.: (1 988) Chemotherapy and Care, Bristol-Meyers — continued</a:t>
            </a:r>
          </a:p>
        </p:txBody>
      </p:sp>
      <p:sp>
        <p:nvSpPr>
          <p:cNvPr id="3" name="">
            <a:extLst xmlns:a="http://schemas.openxmlformats.org/drawingml/2006/main">
              <a:ext uri="{FF2B5EF4-FFF2-40B4-BE49-F238E27FC236}">
                <a16:creationId xmlns:a16="http://schemas.microsoft.com/office/drawing/2014/main" id="{03AEFF26-2931-44CD-80AB-E2FA43BBE4C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526F9594-8939-401C-9A31-09BC3209C0E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74</a:t>
            </a:r>
          </a:p>
        </p:txBody>
      </p:sp>
      <p:sp>
        <p:nvSpPr>
          <p:cNvPr id="5" name="">
            <a:extLst xmlns:a="http://schemas.openxmlformats.org/drawingml/2006/main">
              <a:ext uri="{FF2B5EF4-FFF2-40B4-BE49-F238E27FC236}">
                <a16:creationId xmlns:a16="http://schemas.microsoft.com/office/drawing/2014/main" id="{6B7C1AFC-88C6-4EBC-A218-9F2DA6B8F5C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(1 991) 1991-1992 Handbook of Intravenous Medications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Jones &amp; Bartlett Reyman 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(1989) The Cancer Chemotherapy Administration Program Manual Tenenbaum</a:t>
            </a:r>
          </a:p>
        </p:txBody>
      </p:sp>
      <p:sp>
        <p:nvSpPr>
          <p:cNvPr id="6" name="">
            <a:extLst xmlns:a="http://schemas.openxmlformats.org/drawingml/2006/main">
              <a:ext uri="{FF2B5EF4-FFF2-40B4-BE49-F238E27FC236}">
                <a16:creationId xmlns:a16="http://schemas.microsoft.com/office/drawing/2014/main" id="{67575CE6-CA86-4511-B521-7F14B472BD0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8D61126-5B68-4375-ABA9-05218AFAE1E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79</a:t>
            </a:r>
          </a:p>
        </p:txBody>
      </p:sp>
    </p:spTree>
    <p:extLst>
      <p:ext uri="{BB962C8B-B14F-4D97-AF65-F5344CB8AC3E}">
        <p14:creationId xmlns:p14="http://schemas.microsoft.com/office/powerpoint/2010/main" val="384273078"/>
      </p:ext>
    </p:extLst>
  </p:cSld>
</p:sld>
</file>

<file path=ppt/slides/slide7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8F320F-9C52-4FBC-A841-415554FEB3A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4C6E085-E2F9-4CC4-9DE9-9394CD1A3C5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Goodman, M.D.: (1 988) Chemotherapy and Care, Bristol-Meyers — continued</a:t>
            </a:r>
          </a:p>
        </p:txBody>
      </p:sp>
      <p:sp>
        <p:nvSpPr>
          <p:cNvPr id="3" name="">
            <a:extLst xmlns:a="http://schemas.openxmlformats.org/drawingml/2006/main">
              <a:ext uri="{FF2B5EF4-FFF2-40B4-BE49-F238E27FC236}">
                <a16:creationId xmlns:a16="http://schemas.microsoft.com/office/drawing/2014/main" id="{CA67D91A-1B46-47F1-AE50-9ED23063078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D898697F-C030-4EF6-9EC5-748400C3B9C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75</a:t>
            </a:r>
          </a:p>
        </p:txBody>
      </p:sp>
      <p:sp>
        <p:nvSpPr>
          <p:cNvPr id="5" name="">
            <a:extLst xmlns:a="http://schemas.openxmlformats.org/drawingml/2006/main">
              <a:ext uri="{FF2B5EF4-FFF2-40B4-BE49-F238E27FC236}">
                <a16:creationId xmlns:a16="http://schemas.microsoft.com/office/drawing/2014/main" id="{1B831374-5200-4D16-819E-AA6EA438EE6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(1 989) A Reference Guide - Cancer Chemotherapy.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Saunders, Philadelphia Yasko, J.M.: (1 986) Nursing Management of Symptoms Associated with Chemotherapy, Adria Laboratories</a:t>
            </a:r>
          </a:p>
        </p:txBody>
      </p:sp>
      <p:sp>
        <p:nvSpPr>
          <p:cNvPr id="6" name="">
            <a:extLst xmlns:a="http://schemas.openxmlformats.org/drawingml/2006/main">
              <a:ext uri="{FF2B5EF4-FFF2-40B4-BE49-F238E27FC236}">
                <a16:creationId xmlns:a16="http://schemas.microsoft.com/office/drawing/2014/main" id="{215F8BA4-EBC5-424A-847F-A423FDB8EB8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B79D645-6A38-4B64-B6B6-DE3B9FBAB7E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79</a:t>
            </a:r>
          </a:p>
        </p:txBody>
      </p:sp>
    </p:spTree>
    <p:extLst>
      <p:ext uri="{BB962C8B-B14F-4D97-AF65-F5344CB8AC3E}">
        <p14:creationId xmlns:p14="http://schemas.microsoft.com/office/powerpoint/2010/main" val="1809331853"/>
      </p:ext>
    </p:extLst>
  </p:cSld>
</p:sld>
</file>

<file path=ppt/slides/slide7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2AC316-FB87-4D1A-8AA9-B377FF425B2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B366CDA-A6C8-4EF0-A00C-D37CD5F7B3F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8E1A2AF0-9A6C-4D53-AE4C-76F00E9A4D6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93C4716-B4CE-4DE8-9B83-734E31F1DF6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76</a:t>
            </a:r>
          </a:p>
        </p:txBody>
      </p:sp>
      <p:sp>
        <p:nvSpPr>
          <p:cNvPr id="5" name="">
            <a:extLst xmlns:a="http://schemas.openxmlformats.org/drawingml/2006/main">
              <a:ext uri="{FF2B5EF4-FFF2-40B4-BE49-F238E27FC236}">
                <a16:creationId xmlns:a16="http://schemas.microsoft.com/office/drawing/2014/main" id="{543C3113-A022-4916-BEF7-343F14777D26}"/>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findings that require an immediate stop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PPE for preparation, administration, and spill response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Rehearse the facility extravasation algorithm</a:t>
            </a:r>
          </a:p>
        </p:txBody>
      </p:sp>
      <p:sp>
        <p:nvSpPr>
          <p:cNvPr id="6" name="">
            <a:extLst xmlns:a="http://schemas.openxmlformats.org/drawingml/2006/main">
              <a:ext uri="{FF2B5EF4-FFF2-40B4-BE49-F238E27FC236}">
                <a16:creationId xmlns:a16="http://schemas.microsoft.com/office/drawing/2014/main" id="{6D2C39E7-3EBA-457E-B073-C7FEA30655EE}"/>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234824552"/>
      </p:ext>
    </p:extLst>
  </p:cSld>
</p:sld>
</file>

<file path=ppt/slides/slide7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1486E8-7106-4EC1-935F-3B996F68834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CBA8B0F-D2B9-4F94-89D0-A6D53A6C646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FAD43809-BFC2-4FCF-A1E0-103B83131D5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00CEF094-FA47-4EBC-9118-14C7C2E98A8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77</a:t>
            </a:r>
          </a:p>
        </p:txBody>
      </p:sp>
      <p:sp>
        <p:nvSpPr>
          <p:cNvPr id="5" name="">
            <a:extLst xmlns:a="http://schemas.openxmlformats.org/drawingml/2006/main">
              <a:ext uri="{FF2B5EF4-FFF2-40B4-BE49-F238E27FC236}">
                <a16:creationId xmlns:a16="http://schemas.microsoft.com/office/drawing/2014/main" id="{CA48BAD8-8F63-4816-B992-65DF4E79F13E}"/>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Review the regimen, laboratory results, allergies, access device, premedications, hydration, current symptoms, and emergency plan. Verify the protocol and independent checks required for high-alert therapy.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Pain, burning, swelling, resistance, leakage, or loss of blood return can signal extravasation. Stop the drug, leave access in place when the agent-specific protocol requires aspiration or antidote, notify the qualified clinician, and follow the exact drug protocol.</a:t>
            </a:r>
          </a:p>
        </p:txBody>
      </p:sp>
      <p:sp>
        <p:nvSpPr>
          <p:cNvPr id="6" name="">
            <a:extLst xmlns:a="http://schemas.openxmlformats.org/drawingml/2006/main">
              <a:ext uri="{FF2B5EF4-FFF2-40B4-BE49-F238E27FC236}">
                <a16:creationId xmlns:a16="http://schemas.microsoft.com/office/drawing/2014/main" id="{FB3ED49D-3D79-4D8D-BC51-1E4071391801}"/>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387313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2026-10-21T01:42:23.1940000Z</dcterms:created>
  <dcterms:modified xsi:type="dcterms:W3CDTF">2026-10-21T01:42:23.1940000Z</dcterms:modified>
</coreProperties>
</file>