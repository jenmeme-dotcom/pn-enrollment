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d46590bcca4263" /><Relationship Type="http://schemas.openxmlformats.org/officeDocument/2006/relationships/extended-properties" Target="/docProps/app.xml" Id="Rec2d67b39a2b4dd8" /><Relationship Type="http://schemas.openxmlformats.org/officeDocument/2006/relationships/officeDocument" Target="/ppt/presentation.xml" Id="R15822be244654f72" /></Relationships>
</file>

<file path=ppt/presentation.xml><?xml version="1.0" encoding="utf-8"?>
<p:presentation xmlns:p="http://schemas.openxmlformats.org/presentationml/2006/main">
  <p:sldMasterIdLst>
    <p:sldMasterId xmlns:r="http://schemas.openxmlformats.org/officeDocument/2006/relationships" id="2147483648" r:id="Re91c643514864899"/>
  </p:sldMasterIdLst>
  <p:notesMasterIdLst>
    <p:notesMasterId xmlns:r="http://schemas.openxmlformats.org/officeDocument/2006/relationships" r:id="R717b480858904273"/>
  </p:notesMasterIdLst>
  <p:sldIdLst>
    <p:sldId xmlns:r="http://schemas.openxmlformats.org/officeDocument/2006/relationships" id="256" r:id="Rc7f961651da14bc7"/>
    <p:sldId xmlns:r="http://schemas.openxmlformats.org/officeDocument/2006/relationships" id="257" r:id="R19161e3c40b64aaa"/>
    <p:sldId xmlns:r="http://schemas.openxmlformats.org/officeDocument/2006/relationships" id="258" r:id="R7ed857682cb2430a"/>
    <p:sldId xmlns:r="http://schemas.openxmlformats.org/officeDocument/2006/relationships" id="259" r:id="R3527a68bf0644235"/>
    <p:sldId xmlns:r="http://schemas.openxmlformats.org/officeDocument/2006/relationships" id="260" r:id="R87595cc9da4b4cd8"/>
    <p:sldId xmlns:r="http://schemas.openxmlformats.org/officeDocument/2006/relationships" id="261" r:id="R33d0830754f6477c"/>
    <p:sldId xmlns:r="http://schemas.openxmlformats.org/officeDocument/2006/relationships" id="262" r:id="R544833f40c5249bb"/>
    <p:sldId xmlns:r="http://schemas.openxmlformats.org/officeDocument/2006/relationships" id="263" r:id="Re9deb759c3fc4021"/>
    <p:sldId xmlns:r="http://schemas.openxmlformats.org/officeDocument/2006/relationships" id="264" r:id="R8d7906b5e2284f49"/>
    <p:sldId xmlns:r="http://schemas.openxmlformats.org/officeDocument/2006/relationships" id="265" r:id="Rd4e75b02ce284519"/>
    <p:sldId xmlns:r="http://schemas.openxmlformats.org/officeDocument/2006/relationships" id="266" r:id="R314314a274c64326"/>
    <p:sldId xmlns:r="http://schemas.openxmlformats.org/officeDocument/2006/relationships" id="267" r:id="Ra6f54f3549b94ff6"/>
    <p:sldId xmlns:r="http://schemas.openxmlformats.org/officeDocument/2006/relationships" id="268" r:id="Rd18b2cb79d4a44a4"/>
    <p:sldId xmlns:r="http://schemas.openxmlformats.org/officeDocument/2006/relationships" id="269" r:id="R9124b6ff5b764532"/>
    <p:sldId xmlns:r="http://schemas.openxmlformats.org/officeDocument/2006/relationships" id="270" r:id="Rff5f5adff8fa43a4"/>
    <p:sldId xmlns:r="http://schemas.openxmlformats.org/officeDocument/2006/relationships" id="271" r:id="Rf79f483f58694157"/>
    <p:sldId xmlns:r="http://schemas.openxmlformats.org/officeDocument/2006/relationships" id="272" r:id="R1a28ae350128491d"/>
    <p:sldId xmlns:r="http://schemas.openxmlformats.org/officeDocument/2006/relationships" id="273" r:id="R2476671b44474652"/>
    <p:sldId xmlns:r="http://schemas.openxmlformats.org/officeDocument/2006/relationships" id="274" r:id="Rdcdc8d1a49db43fc"/>
    <p:sldId xmlns:r="http://schemas.openxmlformats.org/officeDocument/2006/relationships" id="275" r:id="R1533a0e8231e412a"/>
    <p:sldId xmlns:r="http://schemas.openxmlformats.org/officeDocument/2006/relationships" id="276" r:id="Rdc766bbe40964591"/>
    <p:sldId xmlns:r="http://schemas.openxmlformats.org/officeDocument/2006/relationships" id="277" r:id="R115e6296b2e84a13"/>
    <p:sldId xmlns:r="http://schemas.openxmlformats.org/officeDocument/2006/relationships" id="278" r:id="R74b07f941f8248b9"/>
    <p:sldId xmlns:r="http://schemas.openxmlformats.org/officeDocument/2006/relationships" id="279" r:id="R99ad4310ed3e44bc"/>
    <p:sldId xmlns:r="http://schemas.openxmlformats.org/officeDocument/2006/relationships" id="280" r:id="R4e29e2179d4f43c6"/>
    <p:sldId xmlns:r="http://schemas.openxmlformats.org/officeDocument/2006/relationships" id="281" r:id="R078f5590f3974bc3"/>
    <p:sldId xmlns:r="http://schemas.openxmlformats.org/officeDocument/2006/relationships" id="282" r:id="R0b262c9922094a58"/>
    <p:sldId xmlns:r="http://schemas.openxmlformats.org/officeDocument/2006/relationships" id="283" r:id="R5c3db597526a4be8"/>
    <p:sldId xmlns:r="http://schemas.openxmlformats.org/officeDocument/2006/relationships" id="284" r:id="Rd16706b5b33e4b98"/>
    <p:sldId xmlns:r="http://schemas.openxmlformats.org/officeDocument/2006/relationships" id="285" r:id="R2b7833bc2a7e4b92"/>
    <p:sldId xmlns:r="http://schemas.openxmlformats.org/officeDocument/2006/relationships" id="286" r:id="R7ced4efcd0b44f61"/>
    <p:sldId xmlns:r="http://schemas.openxmlformats.org/officeDocument/2006/relationships" id="287" r:id="R8cc8c9518f4a42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1003cf958344c4" /><Relationship Type="http://schemas.openxmlformats.org/officeDocument/2006/relationships/slideMaster" Target="/ppt/slideMasters/slideMaster1.xml" Id="Re91c643514864899" /><Relationship Type="http://schemas.openxmlformats.org/officeDocument/2006/relationships/notesMaster" Target="/ppt/notesMasters/notesMaster1.xml" Id="R717b480858904273" /><Relationship Type="http://schemas.openxmlformats.org/officeDocument/2006/relationships/presProps" Target="/ppt/presProps.xml" Id="R71e086ff79ef4f53" /><Relationship Type="http://schemas.openxmlformats.org/officeDocument/2006/relationships/tableStyles" Target="/ppt/tableStyles.xml" Id="R961f6f26b57d466e" /><Relationship Type="http://schemas.openxmlformats.org/officeDocument/2006/relationships/slide" Target="/ppt/slides/slide1.xml" Id="Rc7f961651da14bc7" /><Relationship Type="http://schemas.openxmlformats.org/officeDocument/2006/relationships/slide" Target="/ppt/slides/slide2.xml" Id="R19161e3c40b64aaa" /><Relationship Type="http://schemas.openxmlformats.org/officeDocument/2006/relationships/slide" Target="/ppt/slides/slide3.xml" Id="R7ed857682cb2430a" /><Relationship Type="http://schemas.openxmlformats.org/officeDocument/2006/relationships/slide" Target="/ppt/slides/slide4.xml" Id="R3527a68bf0644235" /><Relationship Type="http://schemas.openxmlformats.org/officeDocument/2006/relationships/slide" Target="/ppt/slides/slide5.xml" Id="R87595cc9da4b4cd8" /><Relationship Type="http://schemas.openxmlformats.org/officeDocument/2006/relationships/slide" Target="/ppt/slides/slide6.xml" Id="R33d0830754f6477c" /><Relationship Type="http://schemas.openxmlformats.org/officeDocument/2006/relationships/slide" Target="/ppt/slides/slide7.xml" Id="R544833f40c5249bb" /><Relationship Type="http://schemas.openxmlformats.org/officeDocument/2006/relationships/slide" Target="/ppt/slides/slide8.xml" Id="Re9deb759c3fc4021" /><Relationship Type="http://schemas.openxmlformats.org/officeDocument/2006/relationships/slide" Target="/ppt/slides/slide9.xml" Id="R8d7906b5e2284f49" /><Relationship Type="http://schemas.openxmlformats.org/officeDocument/2006/relationships/slide" Target="/ppt/slides/slide10.xml" Id="Rd4e75b02ce284519" /><Relationship Type="http://schemas.openxmlformats.org/officeDocument/2006/relationships/slide" Target="/ppt/slides/slide11.xml" Id="R314314a274c64326" /><Relationship Type="http://schemas.openxmlformats.org/officeDocument/2006/relationships/slide" Target="/ppt/slides/slide12.xml" Id="Ra6f54f3549b94ff6" /><Relationship Type="http://schemas.openxmlformats.org/officeDocument/2006/relationships/slide" Target="/ppt/slides/slide13.xml" Id="Rd18b2cb79d4a44a4" /><Relationship Type="http://schemas.openxmlformats.org/officeDocument/2006/relationships/slide" Target="/ppt/slides/slide14.xml" Id="R9124b6ff5b764532" /><Relationship Type="http://schemas.openxmlformats.org/officeDocument/2006/relationships/slide" Target="/ppt/slides/slide15.xml" Id="Rff5f5adff8fa43a4" /><Relationship Type="http://schemas.openxmlformats.org/officeDocument/2006/relationships/slide" Target="/ppt/slides/slide16.xml" Id="Rf79f483f58694157" /><Relationship Type="http://schemas.openxmlformats.org/officeDocument/2006/relationships/slide" Target="/ppt/slides/slide17.xml" Id="R1a28ae350128491d" /><Relationship Type="http://schemas.openxmlformats.org/officeDocument/2006/relationships/slide" Target="/ppt/slides/slide18.xml" Id="R2476671b44474652" /><Relationship Type="http://schemas.openxmlformats.org/officeDocument/2006/relationships/slide" Target="/ppt/slides/slide19.xml" Id="Rdcdc8d1a49db43fc" /><Relationship Type="http://schemas.openxmlformats.org/officeDocument/2006/relationships/slide" Target="/ppt/slides/slide20.xml" Id="R1533a0e8231e412a" /><Relationship Type="http://schemas.openxmlformats.org/officeDocument/2006/relationships/slide" Target="/ppt/slides/slide21.xml" Id="Rdc766bbe40964591" /><Relationship Type="http://schemas.openxmlformats.org/officeDocument/2006/relationships/slide" Target="/ppt/slides/slide22.xml" Id="R115e6296b2e84a13" /><Relationship Type="http://schemas.openxmlformats.org/officeDocument/2006/relationships/slide" Target="/ppt/slides/slide23.xml" Id="R74b07f941f8248b9" /><Relationship Type="http://schemas.openxmlformats.org/officeDocument/2006/relationships/slide" Target="/ppt/slides/slide24.xml" Id="R99ad4310ed3e44bc" /><Relationship Type="http://schemas.openxmlformats.org/officeDocument/2006/relationships/slide" Target="/ppt/slides/slide25.xml" Id="R4e29e2179d4f43c6" /><Relationship Type="http://schemas.openxmlformats.org/officeDocument/2006/relationships/slide" Target="/ppt/slides/slide26.xml" Id="R078f5590f3974bc3" /><Relationship Type="http://schemas.openxmlformats.org/officeDocument/2006/relationships/slide" Target="/ppt/slides/slide27.xml" Id="R0b262c9922094a58" /><Relationship Type="http://schemas.openxmlformats.org/officeDocument/2006/relationships/slide" Target="/ppt/slides/slide28.xml" Id="R5c3db597526a4be8" /><Relationship Type="http://schemas.openxmlformats.org/officeDocument/2006/relationships/slide" Target="/ppt/slides/slide29.xml" Id="Rd16706b5b33e4b98" /><Relationship Type="http://schemas.openxmlformats.org/officeDocument/2006/relationships/slide" Target="/ppt/slides/slide30.xml" Id="R2b7833bc2a7e4b92" /><Relationship Type="http://schemas.openxmlformats.org/officeDocument/2006/relationships/slide" Target="/ppt/slides/slide31.xml" Id="R7ced4efcd0b44f61" /><Relationship Type="http://schemas.openxmlformats.org/officeDocument/2006/relationships/slide" Target="/ppt/slides/slide32.xml" Id="R8cc8c9518f4a42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297a06c2d842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f30c4ecfa04601" /><Relationship Type="http://schemas.openxmlformats.org/officeDocument/2006/relationships/notesMaster" Target="/ppt/notesMasters/notesMaster1.xml" Id="R518529dd93e34c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318ba9e3534178" /><Relationship Type="http://schemas.openxmlformats.org/officeDocument/2006/relationships/notesMaster" Target="/ppt/notesMasters/notesMaster1.xml" Id="R19d66d827bfa47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4a43c034df4c16" /><Relationship Type="http://schemas.openxmlformats.org/officeDocument/2006/relationships/notesMaster" Target="/ppt/notesMasters/notesMaster1.xml" Id="R0a8a55810cba49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0279f52244e2d" /><Relationship Type="http://schemas.openxmlformats.org/officeDocument/2006/relationships/notesMaster" Target="/ppt/notesMasters/notesMaster1.xml" Id="R255941aa7e1744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d0a12bd55b414b" /><Relationship Type="http://schemas.openxmlformats.org/officeDocument/2006/relationships/notesMaster" Target="/ppt/notesMasters/notesMaster1.xml" Id="Rf2f55d9a56214f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e94fc9fff2440a" /><Relationship Type="http://schemas.openxmlformats.org/officeDocument/2006/relationships/notesMaster" Target="/ppt/notesMasters/notesMaster1.xml" Id="R26edcf9a33a841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cd2b74aad74a1d" /><Relationship Type="http://schemas.openxmlformats.org/officeDocument/2006/relationships/notesMaster" Target="/ppt/notesMasters/notesMaster1.xml" Id="R787de551588a4f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c54c4b65cc4876" /><Relationship Type="http://schemas.openxmlformats.org/officeDocument/2006/relationships/notesMaster" Target="/ppt/notesMasters/notesMaster1.xml" Id="R2f7f30c616b54a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edd97c074a416b" /><Relationship Type="http://schemas.openxmlformats.org/officeDocument/2006/relationships/notesMaster" Target="/ppt/notesMasters/notesMaster1.xml" Id="Rfc54c7bb44a14b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89c91a41a24a55" /><Relationship Type="http://schemas.openxmlformats.org/officeDocument/2006/relationships/notesMaster" Target="/ppt/notesMasters/notesMaster1.xml" Id="R7792e530e3dc45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2614071caf4b3c" /><Relationship Type="http://schemas.openxmlformats.org/officeDocument/2006/relationships/notesMaster" Target="/ppt/notesMasters/notesMaster1.xml" Id="Raa7a5986a68d44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c67206517a440d" /><Relationship Type="http://schemas.openxmlformats.org/officeDocument/2006/relationships/notesMaster" Target="/ppt/notesMasters/notesMaster1.xml" Id="Rde1f990faa6a40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2d0a4ac2c346d2" /><Relationship Type="http://schemas.openxmlformats.org/officeDocument/2006/relationships/notesMaster" Target="/ppt/notesMasters/notesMaster1.xml" Id="R1b89243b632940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718c642b67436c" /><Relationship Type="http://schemas.openxmlformats.org/officeDocument/2006/relationships/notesMaster" Target="/ppt/notesMasters/notesMaster1.xml" Id="R4722a2432bb340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7ec2acea4f4bf0" /><Relationship Type="http://schemas.openxmlformats.org/officeDocument/2006/relationships/notesMaster" Target="/ppt/notesMasters/notesMaster1.xml" Id="R1b380e0a7a6d4a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20bc994cda47d2" /><Relationship Type="http://schemas.openxmlformats.org/officeDocument/2006/relationships/notesMaster" Target="/ppt/notesMasters/notesMaster1.xml" Id="R94259afb1a9e4d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17bb899bf445c5" /><Relationship Type="http://schemas.openxmlformats.org/officeDocument/2006/relationships/notesMaster" Target="/ppt/notesMasters/notesMaster1.xml" Id="R06b746a2caa146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630976f5374a5b" /><Relationship Type="http://schemas.openxmlformats.org/officeDocument/2006/relationships/notesMaster" Target="/ppt/notesMasters/notesMaster1.xml" Id="R6ffd949f7f9c4f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b91a24294c41e8" /><Relationship Type="http://schemas.openxmlformats.org/officeDocument/2006/relationships/notesMaster" Target="/ppt/notesMasters/notesMaster1.xml" Id="R065ca205c3644d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215e79dcec45b0" /><Relationship Type="http://schemas.openxmlformats.org/officeDocument/2006/relationships/notesMaster" Target="/ppt/notesMasters/notesMaster1.xml" Id="R833baa31facb46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97d54b17cd4634" /><Relationship Type="http://schemas.openxmlformats.org/officeDocument/2006/relationships/notesMaster" Target="/ppt/notesMasters/notesMaster1.xml" Id="Rd98beed85b7348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7f2bf2acd814e05" /><Relationship Type="http://schemas.openxmlformats.org/officeDocument/2006/relationships/notesMaster" Target="/ppt/notesMasters/notesMaster1.xml" Id="R3a2ce2a46ee44b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15c8e1734764023" /><Relationship Type="http://schemas.openxmlformats.org/officeDocument/2006/relationships/notesMaster" Target="/ppt/notesMasters/notesMaster1.xml" Id="Rcf227730a46248b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41fcff73394f07" /><Relationship Type="http://schemas.openxmlformats.org/officeDocument/2006/relationships/notesMaster" Target="/ppt/notesMasters/notesMaster1.xml" Id="R8f0eca3763fc48b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c28b58bf7e24ad1" /><Relationship Type="http://schemas.openxmlformats.org/officeDocument/2006/relationships/notesMaster" Target="/ppt/notesMasters/notesMaster1.xml" Id="R08fb02a759364e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6fcd1ecbf0e4418" /><Relationship Type="http://schemas.openxmlformats.org/officeDocument/2006/relationships/notesMaster" Target="/ppt/notesMasters/notesMaster1.xml" Id="R9891c85148bd493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10c96d02c84ac9" /><Relationship Type="http://schemas.openxmlformats.org/officeDocument/2006/relationships/notesMaster" Target="/ppt/notesMasters/notesMaster1.xml" Id="R1e3b5d8a2e354d1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e439e20e04d409b" /><Relationship Type="http://schemas.openxmlformats.org/officeDocument/2006/relationships/notesMaster" Target="/ppt/notesMasters/notesMaster1.xml" Id="R23e7fecddb83463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3ec4d2ee53745f7" /><Relationship Type="http://schemas.openxmlformats.org/officeDocument/2006/relationships/notesMaster" Target="/ppt/notesMasters/notesMaster1.xml" Id="Rd0d0d53def724b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4094fcfc89c4257" /><Relationship Type="http://schemas.openxmlformats.org/officeDocument/2006/relationships/notesMaster" Target="/ppt/notesMasters/notesMaster1.xml" Id="R5de0565b87f2469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bd7452f988049e2" /><Relationship Type="http://schemas.openxmlformats.org/officeDocument/2006/relationships/notesMaster" Target="/ppt/notesMasters/notesMaster1.xml" Id="R274956f360924a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d3124d6c27640ec" /><Relationship Type="http://schemas.openxmlformats.org/officeDocument/2006/relationships/notesMaster" Target="/ppt/notesMasters/notesMaster1.xml" Id="Re131d4e349004a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1. First, Blood administration requires specific authorization, patient identification, consent verification, baseline assessment, product verification by qualified staff, dedicated compatible tubing/solution, close early monitoring, and prompt response to reactions. Next, If a reaction is suspected, stop the transfusion, maintain access as policy directs with compatible solution/new tubing, assess and support the patient, notify required personnel, recheck identification, and complete ordered specimens/documentation.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2. First, Parenteral nutrition contains concentrated nutrients and carries metabolic, infection, and line risks. Next, Verify the formulation and rate, use the required central or peripheral route, dedicated lumen and filter when ordered, strict asepsis, glucose/electrolyte monitoring, and never abruptly change therapy without direction.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3. First, High-alert and vesicant medications require current drug-specific guidance, appropriate access, blood return/patency checks when indicated, close monitoring, and immediate use of the facility extravasation or emergency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Midline, PICC, Central Line, and Port Overview 1. First, Peripheral IV catheters terminate in a peripheral vein and are used for therapies suitable for peripheral administration. Next, Midlines terminate in an upper-arm peripheral vein. Next, PICCs and other central venous access devices terminate centrally; implanted ports are accessed with a noncoring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Midline, PICC, Central Line, and Port Overview 2. First, Device selection depends on therapy characteristics, duration, vein health, complication risk, and current policy. Next, Students must know which tasks are restricted to the RN or specially authorized personnel.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Midline, PICC, Central Line, and Port Overview 3. First, Assess for dressing integrity, securement, external length when applicable, tenderness, erythema, swelling, drainage, patency, and systemic signs of infection. Next, Never force a flush against resistance. Next, Clamp and cap in the correct sequence for the device. Next, Follow current facility/manufacturer guidance for flushing, locking, dressing change, and blood sampling.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Total Parental Nutrition. First, Module Five Module Objectives At the conclusion of this self-study module, the learner will be able to: 1. Next, Define total parenteral nutrition. Next, Name diseases that may require total parenteral nutrition. Next, List tests helpful in assessing nutritional status. Next, Discuss the nutritional requirements of the human body.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Total Parental Nutrition — continued. First, Discuss normal metabolism and the effects of starvation. Next, Discuss nursing care and intervention of the patient receiving total parenteral nutrition. Next, Unit Outline Total Parenteral Nutrition Indications Metabolic Function Carbohydrates Lipids Protein Nutritional Assessment Starvation Body requirements Administration of TPN Constituents of the solution Infection Next, Monitoring Techniques for patient-care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Total Parenteral Nutrition (TPN). First, During the 1960's a feasible method of delivering total nutrition via the parenteral route was developed (the long term venous access catheter). Next, Further improvements, including many types of long term tunneled catheters; as well as implanted infusion ports, have paved the way for providing total nutrition for many patients. Next, Patients who require total parenteral nutrition include those who: Next, * Cannot eat * Will not eat * Have undergone extensive surgery * Have mal-absorption * Are burn victims Normal Metabolism The normal adult requires energy and uses it in the order of carbohydrates, proteins, and fats. Next, Vitamins, trace elements, fluids and electrolytes are also required for normal bodily functions.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Total Parenteral Nutrition (TPN) — continued. First, When a patient undergoes surgery, has a major illness, undergoes stress or trauma, additional nutrients and calories are required. Next, Metabolism of Carbohydrates The immediate energy needs of the body are met through the metabolism of carbohydrates. Next, Complex carbohydrates are broken down to simple sugars in the GI tract. Next, Glucose then circulates to the body cells. Next, The central nervous system is particularly dependent upon glucose and oxidizes glucose completely for energy.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Total Parenteral Nutrition (TPN) — continued. First, Some glucoses, fructose, and galactose are converted into glycogen, which is stored in the liver and muscle cells. Next, Insulin is secreted by the pancreas in response to high glucose levels in the blood. Next, Insulin halts glycolysis and speeds glycogenesis. Next, Insulin stimulates uptake of glucose for oxidation by many tissues. Next, Insulin promotes the conversion of carbohydrates to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Total Parenteral Nutrition (TPN) — continued. First, Lipid Metabolism The highest stored energy in the body is in the form of fat. Next, Metabolism of lipids begins in the intestinal tract where hydrolysis, absorption, and conversion to triglycerides occur. Next, Chylomicrons, glycerol, and fatty acids then circulate and enter the cells, (heart, muscle, etc.) where they are oxidized for energy. Next, Adipose tissue contains the long-term energy reserves of the body (triglycerides). Next, When fats are oxidized for energy, acids and Ketone bodies are released into the blood as by63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normal metabolic cycle, and Ketoacidosis results.. First, products of triglyceride metabolism. Next, Too much of these acids and Ketones interfere with Protein Metabolism Amino acids are not stored in the body and must be obtained from our daily food intake. Next, Protein is either used for protein synthesis or burned for energy in our body. Next, If the body needs more energy than is obtained from our carbohydrate or lipid intake, protein is used for fuel. Next, This latter process is called catabolism.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normal metabolic cycle, and Ketoacidosis results. — continued. First, Protein is broken down in the GI tract into amino acids and peptides. Next, Essential amino acids are utilized for protein synthesis, while non-essential amino acids are stripped of nitrogen by the liver (excreted as urea), or converted into fatty acids. Next, Ingested protein should maintain a constant level of body protein. Next, Nutritional Assessment Multiple parameters are utilized in determining an individual's nutritional state. Next, These include serum albumin, lymphocyte count, creatinine/height index, triceps skin fold, arm muscle circumference, weight, etc., as well as clinical indications of malnourishment: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normal metabolic cycle, and Ketoacidosis results. — continued. First, Condition of hair, skin, nervous system, body appearance, skin turgor, and general state of hydration. Next, In conditions, which cause starvation, hypoglycemia, ketosis, and wasting of lean body mass can occur. Next, These conditions must be reversed by the administration of parenteral or total parenteral nutrition. Next, Peripheral parenteral nutrition (PPN) is the provision of protein, calories, carbohydrates, lipids, vitamins, fluids, electrolytes, and trace elements. Next, The final dextrose concentration (diluted) should not exceed 12 to 15% and the final amino acid concentration should not exceed 5%.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normal metabolic cycle, and Ketoacidosis results. — continued. First, Solutions higher in dextrose or protein concentrations have proven to be too irritating to the peripheral vasculature. Next, Lipids are administered with the hyperalimentation solution in order to decrease vein irritation and to provide essential fatty acids. Next, Administration Techniques Parenteral solutions are generally filtered to remove particulate matter or bacteria from the solution. Next, Follow your institutional policies. Next, The IV line used for the administration of the hyperalimentation cannot be used for any other purpose.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normal metabolic cycle, and Ketoacidosis results. — continued. First, The high dextrose and protein concentration of the solution make it an excellent media for the growth of bacteria and invading the IV line for piggy backs, etc., could introduce bacteria into the system and the patient. Next, Additional IV lines may be needed if concomitant therapies are ordered, antibiotics, replacement solutions, and pain management.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Patients on Total Parenteral Nutrition should be monitored for the following:. First, *Blood sugar levels *Electrolytes *Serum protein *Nutritional status indicators (weight) *Intake and output *Infection The Licensed Practical Nurse may administer peripheral total parenteral nutrition solutions. Next, Procedures for starting and maintaining the peripheral IV line remain the same. Next, Central Total Parenteral Nutritional solutions have much higher concentrations of dextrose and protein, therefore, hypertonic in nature. Next, Insulin is either added to the bag or administered per blood sugar level on a sliding scale basis to help metabolize the high glucose load provided. Next, The majority of Total Parenteral Nutrition is administered via central access.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Patients on Total Parenteral Nutrition should be monitored for the following: — continued. First, Either long term or short term. Next, For the acute care setting a short-term multi-lumen central catheter, placed either in the Jugular or Subclavian vein, may be utilized. Next, For the patient in the home care setting a long-term central access such as a Hickman, Groshong, or implanted port, may be utilized. Next, The licensed practical nurse is responsible for caring for patients who have a central access catheter who are receiving total parenteral nutrition through that catheter. Next, The following should be observed and documented by the nurse: *External appearance of the central line catheter dressing and surrounding skin area.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Patients on Total Parenteral Nutrition should be monitored for the following: — continued. First, * Integrity of all connections (tubing, extension sets, pumps) *Volume remaining in bags *Patient response to fluid, solution and medication *Signs and symptoms of distress (complication of central catheter) * Any change Next, of patient condition *Notification of the 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First, Anabolism Buildup of tissue from nutrients Catabolism Breakdown of tissue for energy Parenteral Located outside alimentary canal Metabolism Complex of physical and chemical processes involved in the maintenance of life Next, Nutrient Something that nourishes Acidosis Condition of pathologically high acidity of blood and body tissues Ingested Taken in by swallowing Hypertonic More concentrated than body fluids Hypotonic Less concentrated than Next, body fluids Bibliography American Society for Parenteral and Enteral Nutrition Standards for Nutritional Support Next, Nutrition Clinical Practice 1999 14:151-162 Crudi Next, and Larkin, 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 continued. First, (1984). Next, Core Curriculum for Intravenous Nursing. Next, J.B. Next, Lippincott, Philadelphia Goldfarb, I. Next, and Yates 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 continued. First, (1978). Next, Total Parenteral Nutrition: Concepts and Methods. Next, Synapse Publications, Pittsburgh Silberman, H. Next, and Eisenberg, D. Next, (1982).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Glossary — continued. First, Parenteral and Enteral Nutrition for the Hospitalized Patient. Next, Appleton-Century-Crofts, Norwalk, 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1a7c6b11064e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2d55da692749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458ec6345a49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d93a4c2a824e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74815658024f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1fb95243d742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4006C6-2557-4A7D-A1D0-7ED04E03C17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CB936D-6959-4260-8E78-FD1AE4D682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D61740-B8C1-4033-B73A-42BE801FAE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08CBB9-A693-45A9-B726-4CCB21791C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002760-CE75-4619-B827-34614E8706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61F43F-549F-469B-A74C-090A42F989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9975D0-60F0-450A-B444-BCB3C9423C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19A46E-8AC8-4B96-BD38-8656F31812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7647BF-6B07-436F-B943-FC5269774C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8EC1D2-08DB-4F74-93B7-E13288E67F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cf14a4f70945f2" /><Relationship Type="http://schemas.openxmlformats.org/officeDocument/2006/relationships/slideLayout" Target="/ppt/slideLayouts/slideLayout1.xml" Id="R021d602279f4472f" /><Relationship Type="http://schemas.openxmlformats.org/officeDocument/2006/relationships/slideLayout" Target="/ppt/slideLayouts/slideLayout2.xml" Id="R71f5c84fc8d14835" /><Relationship Type="http://schemas.openxmlformats.org/officeDocument/2006/relationships/slideLayout" Target="/ppt/slideLayouts/slideLayout3.xml" Id="Ra9adcf55975c400d" /><Relationship Type="http://schemas.openxmlformats.org/officeDocument/2006/relationships/slideLayout" Target="/ppt/slideLayouts/slideLayout4.xml" Id="R739e4920cee54b55" /><Relationship Type="http://schemas.openxmlformats.org/officeDocument/2006/relationships/slideLayout" Target="/ppt/slideLayouts/slideLayout5.xml" Id="Rb8ad799d64784682" /><Relationship Type="http://schemas.openxmlformats.org/officeDocument/2006/relationships/slideLayout" Target="/ppt/slideLayouts/slideLayout6.xml" Id="Rf11c1ce0003641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1d602279f4472f"/>
    <p:sldLayoutId xmlns:r="http://schemas.openxmlformats.org/officeDocument/2006/relationships" id="2147483650" r:id="R71f5c84fc8d14835"/>
    <p:sldLayoutId xmlns:r="http://schemas.openxmlformats.org/officeDocument/2006/relationships" id="2147483651" r:id="Ra9adcf55975c400d"/>
    <p:sldLayoutId xmlns:r="http://schemas.openxmlformats.org/officeDocument/2006/relationships" id="2147483652" r:id="R739e4920cee54b55"/>
    <p:sldLayoutId xmlns:r="http://schemas.openxmlformats.org/officeDocument/2006/relationships" id="2147483653" r:id="Rb8ad799d64784682"/>
    <p:sldLayoutId xmlns:r="http://schemas.openxmlformats.org/officeDocument/2006/relationships" id="2147483654" r:id="Rf11c1ce0003641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255b852844d4e44" /><Relationship Type="http://schemas.openxmlformats.org/officeDocument/2006/relationships/notesSlide" Target="/ppt/notesSlides/notesSlide1.xml" Id="R4a59e196be4048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c66f3e2b1b4663" /><Relationship Type="http://schemas.openxmlformats.org/officeDocument/2006/relationships/notesSlide" Target="/ppt/notesSlides/notesSlide2.xml" Id="Rb5c3bda11f034a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41fab14ac1404b" /><Relationship Type="http://schemas.openxmlformats.org/officeDocument/2006/relationships/notesSlide" Target="/ppt/notesSlides/notesSlide3.xml" Id="Rfbbe51cb8e654f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27d42cef9f4049" /><Relationship Type="http://schemas.openxmlformats.org/officeDocument/2006/relationships/notesSlide" Target="/ppt/notesSlides/notesSlide4.xml" Id="R090414cc66ac45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5fff50085e4238" /><Relationship Type="http://schemas.openxmlformats.org/officeDocument/2006/relationships/notesSlide" Target="/ppt/notesSlides/notesSlide5.xml" Id="Re3e282e17fa84d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d29366a5cf486f" /><Relationship Type="http://schemas.openxmlformats.org/officeDocument/2006/relationships/notesSlide" Target="/ppt/notesSlides/notesSlide6.xml" Id="R81771dca3e9c48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e3da0b60ad44cd" /><Relationship Type="http://schemas.openxmlformats.org/officeDocument/2006/relationships/notesSlide" Target="/ppt/notesSlides/notesSlide7.xml" Id="Ra0a0e3ad9fb64e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b9f75685a34033" /><Relationship Type="http://schemas.openxmlformats.org/officeDocument/2006/relationships/notesSlide" Target="/ppt/notesSlides/notesSlide8.xml" Id="Rfcbfd9592b8549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ef769caa7248e0" /><Relationship Type="http://schemas.openxmlformats.org/officeDocument/2006/relationships/notesSlide" Target="/ppt/notesSlides/notesSlide9.xml" Id="R52c1062c969340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6abdb705364c4a" /><Relationship Type="http://schemas.openxmlformats.org/officeDocument/2006/relationships/notesSlide" Target="/ppt/notesSlides/notesSlide10.xml" Id="R72ec84b73ebb4f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4f7c1672624271" /><Relationship Type="http://schemas.openxmlformats.org/officeDocument/2006/relationships/notesSlide" Target="/ppt/notesSlides/notesSlide11.xml" Id="R17e2b1b7624a4d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fccbe738b05400d" /><Relationship Type="http://schemas.openxmlformats.org/officeDocument/2006/relationships/notesSlide" Target="/ppt/notesSlides/notesSlide12.xml" Id="R0cb503e434ce49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4dfac87bf3476d" /><Relationship Type="http://schemas.openxmlformats.org/officeDocument/2006/relationships/notesSlide" Target="/ppt/notesSlides/notesSlide13.xml" Id="R18db1ac2662843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b9b321920824ec7" /><Relationship Type="http://schemas.openxmlformats.org/officeDocument/2006/relationships/notesSlide" Target="/ppt/notesSlides/notesSlide14.xml" Id="Re8e6adb90c9b47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377973a8a44a67" /><Relationship Type="http://schemas.openxmlformats.org/officeDocument/2006/relationships/notesSlide" Target="/ppt/notesSlides/notesSlide15.xml" Id="Ra61d6721647349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08726232c36451a" /><Relationship Type="http://schemas.openxmlformats.org/officeDocument/2006/relationships/notesSlide" Target="/ppt/notesSlides/notesSlide16.xml" Id="R243921f6a9f742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556bbcb7794476b" /><Relationship Type="http://schemas.openxmlformats.org/officeDocument/2006/relationships/notesSlide" Target="/ppt/notesSlides/notesSlide17.xml" Id="R92b646129e5642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3e4ae7233eb478a" /><Relationship Type="http://schemas.openxmlformats.org/officeDocument/2006/relationships/notesSlide" Target="/ppt/notesSlides/notesSlide18.xml" Id="Ra9b0bed37a54486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a99932d836f40c8" /><Relationship Type="http://schemas.openxmlformats.org/officeDocument/2006/relationships/notesSlide" Target="/ppt/notesSlides/notesSlide19.xml" Id="R5d2080e75a2346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fa390ac3fdc4480" /><Relationship Type="http://schemas.openxmlformats.org/officeDocument/2006/relationships/notesSlide" Target="/ppt/notesSlides/notesSlide20.xml" Id="R56578fd0f3084c7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55c2a7e9b7a4051" /><Relationship Type="http://schemas.openxmlformats.org/officeDocument/2006/relationships/notesSlide" Target="/ppt/notesSlides/notesSlide21.xml" Id="Rc9f1c32621dd47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95b2348d8784f4e" /><Relationship Type="http://schemas.openxmlformats.org/officeDocument/2006/relationships/notesSlide" Target="/ppt/notesSlides/notesSlide22.xml" Id="R991af501e78641f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1d2538787c34ba8" /><Relationship Type="http://schemas.openxmlformats.org/officeDocument/2006/relationships/notesSlide" Target="/ppt/notesSlides/notesSlide23.xml" Id="Re81e4194da3f48c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43ce419aff74ec9" /><Relationship Type="http://schemas.openxmlformats.org/officeDocument/2006/relationships/notesSlide" Target="/ppt/notesSlides/notesSlide24.xml" Id="R4bd3f6e7d2e247b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d10ab6a62b94a39" /><Relationship Type="http://schemas.openxmlformats.org/officeDocument/2006/relationships/notesSlide" Target="/ppt/notesSlides/notesSlide25.xml" Id="R5a8702a104a84d2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dccbb759ac1427b" /><Relationship Type="http://schemas.openxmlformats.org/officeDocument/2006/relationships/notesSlide" Target="/ppt/notesSlides/notesSlide26.xml" Id="Reaf16a5229ca485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8d0eae9f6e14276" /><Relationship Type="http://schemas.openxmlformats.org/officeDocument/2006/relationships/notesSlide" Target="/ppt/notesSlides/notesSlide27.xml" Id="R9aa82e1357034e5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f84fd9fa7e34c61" /><Relationship Type="http://schemas.openxmlformats.org/officeDocument/2006/relationships/notesSlide" Target="/ppt/notesSlides/notesSlide28.xml" Id="Rd3fa756a5660478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782ead581544198" /><Relationship Type="http://schemas.openxmlformats.org/officeDocument/2006/relationships/notesSlide" Target="/ppt/notesSlides/notesSlide29.xml" Id="Re1e57dc23057433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1fce386714a47bf" /><Relationship Type="http://schemas.openxmlformats.org/officeDocument/2006/relationships/notesSlide" Target="/ppt/notesSlides/notesSlide30.xml" Id="R1319163812b0470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4655ea5fde34d5a" /><Relationship Type="http://schemas.openxmlformats.org/officeDocument/2006/relationships/notesSlide" Target="/ppt/notesSlides/notesSlide31.xml" Id="R63c81b8d87194ee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3bb6b35ba934c50" /><Relationship Type="http://schemas.openxmlformats.org/officeDocument/2006/relationships/notesSlide" Target="/ppt/notesSlides/notesSlide32.xml" Id="R16064d4acce54f83"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AFC6C5-DA87-4061-8BE8-CC5625CAE6EA}"/>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9F4FB1-E864-41C5-A367-D9C05848FB98}"/>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4BC61819-6ABD-4B2A-93EB-FD321A4E3B80}"/>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Parenteral Nutrition</a:t>
            </a:r>
          </a:p>
        </p:txBody>
      </p:sp>
      <p:sp>
        <p:nvSpPr>
          <p:cNvPr id="4" name="">
            <a:extLst xmlns:a="http://schemas.openxmlformats.org/drawingml/2006/main">
              <a:ext uri="{FF2B5EF4-FFF2-40B4-BE49-F238E27FC236}">
                <a16:creationId xmlns:a16="http://schemas.microsoft.com/office/drawing/2014/main" id="{86D225D5-C523-4CF1-9F08-2FFA54CFC4D6}"/>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5  |  30-Hour Basic Intravenous Therapy</a:t>
            </a:r>
          </a:p>
        </p:txBody>
      </p:sp>
      <p:sp>
        <p:nvSpPr>
          <p:cNvPr id="5" name="">
            <a:extLst xmlns:a="http://schemas.openxmlformats.org/drawingml/2006/main">
              <a:ext uri="{FF2B5EF4-FFF2-40B4-BE49-F238E27FC236}">
                <a16:creationId xmlns:a16="http://schemas.microsoft.com/office/drawing/2014/main" id="{6B94766F-6DF8-468B-83FF-7ADE2663E2F2}"/>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296625254"/>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8E0FEE-6AFF-4D2B-B65F-69E88EFBC6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5A5C04-A3EE-4EBB-B725-D19AA7F138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F3F2980B-F0A8-4EC9-BABB-21C8AFBA65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01731C14-E8EB-4162-A271-DAD211E5A2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9076207-9AC0-4234-B84C-AE90790C611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92884704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24F0BA-D055-4579-BE7D-68E26D5141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41F911-07BE-4FF7-BA27-C8778BA802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3" name="">
            <a:extLst xmlns:a="http://schemas.openxmlformats.org/drawingml/2006/main">
              <a:ext uri="{FF2B5EF4-FFF2-40B4-BE49-F238E27FC236}">
                <a16:creationId xmlns:a16="http://schemas.microsoft.com/office/drawing/2014/main" id="{01BB8501-677E-4A9A-847A-5D100EF94D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0D056218-253D-4A09-98B0-3524DEAD3F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A1A870C6-EF1F-445F-A8F0-17AB20C87D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6" name="">
            <a:extLst xmlns:a="http://schemas.openxmlformats.org/drawingml/2006/main">
              <a:ext uri="{FF2B5EF4-FFF2-40B4-BE49-F238E27FC236}">
                <a16:creationId xmlns:a16="http://schemas.microsoft.com/office/drawing/2014/main" id="{5B260D0B-4F13-499C-B2C6-3D13755727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27635155"/>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D171F3-8C74-4AE5-A55E-3CEDA8D76F0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7A294B-CCF9-4F1A-A92A-31A52BB847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3" name="">
            <a:extLst xmlns:a="http://schemas.openxmlformats.org/drawingml/2006/main">
              <a:ext uri="{FF2B5EF4-FFF2-40B4-BE49-F238E27FC236}">
                <a16:creationId xmlns:a16="http://schemas.microsoft.com/office/drawing/2014/main" id="{55E77A76-C5AC-4958-B3BF-FDECF591E8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ED2706AB-A456-498D-BE2B-0649274D56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42DB5D49-AD5C-45C2-84F6-4EED89655C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6" name="">
            <a:extLst xmlns:a="http://schemas.openxmlformats.org/drawingml/2006/main">
              <a:ext uri="{FF2B5EF4-FFF2-40B4-BE49-F238E27FC236}">
                <a16:creationId xmlns:a16="http://schemas.microsoft.com/office/drawing/2014/main" id="{4744E2AF-5A0F-4CD7-A097-CAF0A50F53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709734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91CF0F-894E-462F-A1CF-38CFE646D59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9151719-9414-4A0F-B4F4-971DD1E00C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567FB1E5-4C80-4336-AB83-7F1A44F212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F73F13F-D314-4F47-91D0-C0D22976D5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8DDE0D63-DDBF-42AD-B4B7-EC2ACE12ED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6" name="">
            <a:extLst xmlns:a="http://schemas.openxmlformats.org/drawingml/2006/main">
              <a:ext uri="{FF2B5EF4-FFF2-40B4-BE49-F238E27FC236}">
                <a16:creationId xmlns:a16="http://schemas.microsoft.com/office/drawing/2014/main" id="{20F4CADA-65A1-45B6-AF99-60C6F0B15C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3019656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07BAD7-DEAA-4956-BDFE-9D84B7B3E8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5378699-2E48-4C47-9540-A56440777D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3" name="">
            <a:extLst xmlns:a="http://schemas.openxmlformats.org/drawingml/2006/main">
              <a:ext uri="{FF2B5EF4-FFF2-40B4-BE49-F238E27FC236}">
                <a16:creationId xmlns:a16="http://schemas.microsoft.com/office/drawing/2014/main" id="{14FB6680-FCEA-480A-AFB9-C8F932416A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41E32B39-A795-4BAF-9CC4-554E156A96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40D03458-FFEF-4998-B681-ACB08FCDC8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E78E3A09-BF55-4820-A26D-67B3D9C46D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2081595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FA52CC-D88C-42A5-A297-AECAD65641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13B35C-50BD-44B4-A850-742B1073BA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1</a:t>
            </a:r>
          </a:p>
        </p:txBody>
      </p:sp>
      <p:sp>
        <p:nvSpPr>
          <p:cNvPr id="3" name="">
            <a:extLst xmlns:a="http://schemas.openxmlformats.org/drawingml/2006/main">
              <a:ext uri="{FF2B5EF4-FFF2-40B4-BE49-F238E27FC236}">
                <a16:creationId xmlns:a16="http://schemas.microsoft.com/office/drawing/2014/main" id="{E189BC88-E77B-4998-B771-0E682D9736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36BE884-40B0-48EC-A605-877CA36154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ABEDAD98-2234-42D5-B6B2-5CE7E9DF97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administration requires specific authorization, patient identification, consent verification, baseline assessment, product verification by qualified staff, dedicated compatible tubing/solution, close early monitoring, and prompt response to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a reaction is suspected, stop the transfusion, maintain access as policy directs with compatible solution/new tubing, assess and support the patient, notify required personnel, recheck identification, and complete ordered specimens/documentation.</a:t>
            </a:r>
          </a:p>
        </p:txBody>
      </p:sp>
      <p:sp>
        <p:nvSpPr>
          <p:cNvPr id="6" name="">
            <a:extLst xmlns:a="http://schemas.openxmlformats.org/drawingml/2006/main">
              <a:ext uri="{FF2B5EF4-FFF2-40B4-BE49-F238E27FC236}">
                <a16:creationId xmlns:a16="http://schemas.microsoft.com/office/drawing/2014/main" id="{7013A2AD-AB73-4573-9767-AEA87156AF4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9768648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FFCAB9-134C-47BA-ABE0-EFE574CC0F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40996D-DA49-4665-8395-65CFACE2AB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2</a:t>
            </a:r>
          </a:p>
        </p:txBody>
      </p:sp>
      <p:sp>
        <p:nvSpPr>
          <p:cNvPr id="3" name="">
            <a:extLst xmlns:a="http://schemas.openxmlformats.org/drawingml/2006/main">
              <a:ext uri="{FF2B5EF4-FFF2-40B4-BE49-F238E27FC236}">
                <a16:creationId xmlns:a16="http://schemas.microsoft.com/office/drawing/2014/main" id="{9EAF68C7-A624-4139-9639-29F58E4D2B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EA24CF3A-9CD5-4B21-86EF-9B765DE602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CE910062-0497-48E1-B2FC-94E5157040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contains concentrated nutrients and carries metabolic, infection, and line risks.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formulation and rate, use the required central or peripheral route, dedicated lumen and filter when ordered, strict asepsis, glucose/electrolyte monitoring, and never abruptly change therapy without direction.</a:t>
            </a:r>
          </a:p>
        </p:txBody>
      </p:sp>
      <p:sp>
        <p:nvSpPr>
          <p:cNvPr id="6" name="">
            <a:extLst xmlns:a="http://schemas.openxmlformats.org/drawingml/2006/main">
              <a:ext uri="{FF2B5EF4-FFF2-40B4-BE49-F238E27FC236}">
                <a16:creationId xmlns:a16="http://schemas.microsoft.com/office/drawing/2014/main" id="{4524119C-345C-4DFB-87E6-F16BDE3E9D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7498707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B718E4-82CB-4E19-967E-FC37EAE42E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804ACC-CC2C-44E6-9445-B4D750772CA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3</a:t>
            </a:r>
          </a:p>
        </p:txBody>
      </p:sp>
      <p:sp>
        <p:nvSpPr>
          <p:cNvPr id="3" name="">
            <a:extLst xmlns:a="http://schemas.openxmlformats.org/drawingml/2006/main">
              <a:ext uri="{FF2B5EF4-FFF2-40B4-BE49-F238E27FC236}">
                <a16:creationId xmlns:a16="http://schemas.microsoft.com/office/drawing/2014/main" id="{C57A9971-4724-457A-A838-2D9D9E6C21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3CE7DA1-8A77-4949-A5D6-840EC4BB50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70055535-F771-4A22-B260-F6B82CE837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High-alert and vesicant medications require current drug-specific guidance, appropriate access, blood return/patency checks when indicated, close monitoring, and immediate use of the facility extravasation or emergency protocol.</a:t>
            </a:r>
          </a:p>
        </p:txBody>
      </p:sp>
      <p:sp>
        <p:nvSpPr>
          <p:cNvPr id="6" name="">
            <a:extLst xmlns:a="http://schemas.openxmlformats.org/drawingml/2006/main">
              <a:ext uri="{FF2B5EF4-FFF2-40B4-BE49-F238E27FC236}">
                <a16:creationId xmlns:a16="http://schemas.microsoft.com/office/drawing/2014/main" id="{24747F53-9350-4505-84E7-FEE4A465C95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2955970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66F092-5ECE-4CB9-8031-EC4CB39993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53E781-5E76-4732-A57E-0BFC8F0730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Midline, PICC, Central Line, and Port Overview 1</a:t>
            </a:r>
          </a:p>
        </p:txBody>
      </p:sp>
      <p:sp>
        <p:nvSpPr>
          <p:cNvPr id="3" name="">
            <a:extLst xmlns:a="http://schemas.openxmlformats.org/drawingml/2006/main">
              <a:ext uri="{FF2B5EF4-FFF2-40B4-BE49-F238E27FC236}">
                <a16:creationId xmlns:a16="http://schemas.microsoft.com/office/drawing/2014/main" id="{FD6D965C-0E0D-46A1-A97F-56324C586C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D39C495-B52D-4A43-B404-622849A50C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CB002F03-E948-4FD0-BC46-FC8F27FE2C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IV catheters terminate in a peripheral vein and are used for therapies suitable for peripheral administration.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Midlines terminate in an upper-arm peripheral vein.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PICCs and other central venous access devices terminate centrally; implanted ports are accessed with a noncoring needle.</a:t>
            </a:r>
          </a:p>
        </p:txBody>
      </p:sp>
      <p:sp>
        <p:nvSpPr>
          <p:cNvPr id="6" name="">
            <a:extLst xmlns:a="http://schemas.openxmlformats.org/drawingml/2006/main">
              <a:ext uri="{FF2B5EF4-FFF2-40B4-BE49-F238E27FC236}">
                <a16:creationId xmlns:a16="http://schemas.microsoft.com/office/drawing/2014/main" id="{2A902C7D-EE06-43BE-8763-A2CF0AC7A4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0871311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7174E8-64CA-4898-AE23-53D261D527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2B03FB8-12CA-4AD8-8764-29003941B2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Midline, PICC, Central Line, and Port Overview 2</a:t>
            </a:r>
          </a:p>
        </p:txBody>
      </p:sp>
      <p:sp>
        <p:nvSpPr>
          <p:cNvPr id="3" name="">
            <a:extLst xmlns:a="http://schemas.openxmlformats.org/drawingml/2006/main">
              <a:ext uri="{FF2B5EF4-FFF2-40B4-BE49-F238E27FC236}">
                <a16:creationId xmlns:a16="http://schemas.microsoft.com/office/drawing/2014/main" id="{79E9ECF2-0FC6-44AB-9BFA-B5298448832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5DC168F-6350-4880-A18E-B7F621B10F9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8694D5FB-0EE7-4A2D-9393-4A0C7943F7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Device selection depends on therapy characteristics, duration, vein health, complication risk, and current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must know which tasks are restricted to the RN or specially authorized personnel.</a:t>
            </a:r>
          </a:p>
        </p:txBody>
      </p:sp>
      <p:sp>
        <p:nvSpPr>
          <p:cNvPr id="6" name="">
            <a:extLst xmlns:a="http://schemas.openxmlformats.org/drawingml/2006/main">
              <a:ext uri="{FF2B5EF4-FFF2-40B4-BE49-F238E27FC236}">
                <a16:creationId xmlns:a16="http://schemas.microsoft.com/office/drawing/2014/main" id="{836E4313-F786-442C-BAC8-C9AAB8A3D2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8194105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1132CD-9561-4E84-A70D-2A7E2D5E4B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136D65-8D1D-42D0-8D20-D73006DA2A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Midline, PICC, Central Line, and Port Overview 3</a:t>
            </a:r>
          </a:p>
        </p:txBody>
      </p:sp>
      <p:sp>
        <p:nvSpPr>
          <p:cNvPr id="3" name="">
            <a:extLst xmlns:a="http://schemas.openxmlformats.org/drawingml/2006/main">
              <a:ext uri="{FF2B5EF4-FFF2-40B4-BE49-F238E27FC236}">
                <a16:creationId xmlns:a16="http://schemas.microsoft.com/office/drawing/2014/main" id="{0BD0DFA7-73F2-455A-A500-2F042CB7E63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CC4B209D-18B8-45D4-A81A-043FD5DAA6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C50A8F5-BB7C-4C26-ADE3-8C6C362B85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for dressing integrity, securement, external length when applicable, tenderness, erythema, swelling, drainage, patency, and systemic signs of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force a flush against resistance.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Clamp and cap in the correct sequence for the device.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current facility/manufacturer guidance for flushing, locking, dressing change, and blood sampling.</a:t>
            </a:r>
          </a:p>
        </p:txBody>
      </p:sp>
      <p:sp>
        <p:nvSpPr>
          <p:cNvPr id="6" name="">
            <a:extLst xmlns:a="http://schemas.openxmlformats.org/drawingml/2006/main">
              <a:ext uri="{FF2B5EF4-FFF2-40B4-BE49-F238E27FC236}">
                <a16:creationId xmlns:a16="http://schemas.microsoft.com/office/drawing/2014/main" id="{10C04B58-7073-418A-9BDE-5644E4CEFB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4588189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264629-15DA-47F9-BF0A-3CD71420397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C8D576-DA8E-4F11-8BBA-E006315F49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Total Parental Nutrition</a:t>
            </a:r>
          </a:p>
        </p:txBody>
      </p:sp>
      <p:sp>
        <p:nvSpPr>
          <p:cNvPr id="3" name="">
            <a:extLst xmlns:a="http://schemas.openxmlformats.org/drawingml/2006/main">
              <a:ext uri="{FF2B5EF4-FFF2-40B4-BE49-F238E27FC236}">
                <a16:creationId xmlns:a16="http://schemas.microsoft.com/office/drawing/2014/main" id="{6D48D83A-BF76-4274-A1A4-3A4C8E12F8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C3373F73-2FF8-4D0C-BDB3-301B052BEF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EBE9BFE9-393D-4CE4-846A-9BC2A729F8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Module Five Module Objectives At the conclusion of this self-study module, the learner will be able to: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Define total parenteral nutrition.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Name diseases that may require total parenteral nutrition.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List tests helpful in assessing nutritional status.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the nutritional requirements of the human body.</a:t>
            </a:r>
          </a:p>
        </p:txBody>
      </p:sp>
      <p:sp>
        <p:nvSpPr>
          <p:cNvPr id="6" name="">
            <a:extLst xmlns:a="http://schemas.openxmlformats.org/drawingml/2006/main">
              <a:ext uri="{FF2B5EF4-FFF2-40B4-BE49-F238E27FC236}">
                <a16:creationId xmlns:a16="http://schemas.microsoft.com/office/drawing/2014/main" id="{AB7C8921-DB53-44B5-81BD-35E4E30BCD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7538FAB-A153-439E-B8DD-C8FF1EEA550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62</a:t>
            </a:r>
          </a:p>
        </p:txBody>
      </p:sp>
    </p:spTree>
    <p:extLst>
      <p:ext uri="{BB962C8B-B14F-4D97-AF65-F5344CB8AC3E}">
        <p14:creationId xmlns:p14="http://schemas.microsoft.com/office/powerpoint/2010/main" val="206526039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BE7802-D076-4B42-89A1-D736A75FC9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46A778-447F-40A9-9074-90A0809DC0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Total Parental Nutrition — continued</a:t>
            </a:r>
          </a:p>
        </p:txBody>
      </p:sp>
      <p:sp>
        <p:nvSpPr>
          <p:cNvPr id="3" name="">
            <a:extLst xmlns:a="http://schemas.openxmlformats.org/drawingml/2006/main">
              <a:ext uri="{FF2B5EF4-FFF2-40B4-BE49-F238E27FC236}">
                <a16:creationId xmlns:a16="http://schemas.microsoft.com/office/drawing/2014/main" id="{BE000B3F-C9D7-4A25-9232-2DB919BA42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8A8AAB71-0010-4BEC-8649-0CADF5D70E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0A057EC3-55A6-4218-9CA4-16DE0A4101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normal metabolism and the effects of starvation.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nursing care and intervention of the patient receiving total parenteral nutrition.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Unit Outline Total Parenteral Nutrition Indications Metabolic Function Carbohydrates Lipids Protein Nutritional Assessment Starvation Body requirements Administration of TPN Constituents of the solution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Monitoring Techniques for patient-care</a:t>
            </a:r>
          </a:p>
        </p:txBody>
      </p:sp>
      <p:sp>
        <p:nvSpPr>
          <p:cNvPr id="6" name="">
            <a:extLst xmlns:a="http://schemas.openxmlformats.org/drawingml/2006/main">
              <a:ext uri="{FF2B5EF4-FFF2-40B4-BE49-F238E27FC236}">
                <a16:creationId xmlns:a16="http://schemas.microsoft.com/office/drawing/2014/main" id="{49C4C5D1-D5AB-4DBF-8FAA-9F6539EC37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B8ADE7-C818-4569-B3BE-C3C87BB0EE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62</a:t>
            </a:r>
          </a:p>
        </p:txBody>
      </p:sp>
    </p:spTree>
    <p:extLst>
      <p:ext uri="{BB962C8B-B14F-4D97-AF65-F5344CB8AC3E}">
        <p14:creationId xmlns:p14="http://schemas.microsoft.com/office/powerpoint/2010/main" val="1327162176"/>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5B0BC1-7CE7-4569-9789-D3EE925165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1200D5-3745-4154-AB62-EF979C6183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Total Parenteral Nutrition (TPN)</a:t>
            </a:r>
          </a:p>
        </p:txBody>
      </p:sp>
      <p:sp>
        <p:nvSpPr>
          <p:cNvPr id="3" name="">
            <a:extLst xmlns:a="http://schemas.openxmlformats.org/drawingml/2006/main">
              <a:ext uri="{FF2B5EF4-FFF2-40B4-BE49-F238E27FC236}">
                <a16:creationId xmlns:a16="http://schemas.microsoft.com/office/drawing/2014/main" id="{39468A46-AF66-4BA4-B8CF-209657095B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FD481F3D-148D-431F-AA12-1BBD87CFE3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7B52B10A-6FE9-4AFE-ABE6-910F957B870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During the 1960's a feasible method of delivering total nutrition via the parenteral route was developed (the long term venous access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Further improvements, including many types of long term tunneled catheters; as well as implanted infusion ports, have paved the way for providing total nutrition for many patients.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Patients who require total parenteral nutrition include those who:</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Cannot eat * Will not eat * Have undergone extensive surgery * Have mal-absorption * Are burn victims Normal Metabolism The normal adult requires energy and uses it in the order of carbohydrates, proteins, and fats.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Vitamins, trace elements, fluids and electrolytes are also required for normal bodily functions.</a:t>
            </a:r>
          </a:p>
        </p:txBody>
      </p:sp>
      <p:sp>
        <p:nvSpPr>
          <p:cNvPr id="6" name="">
            <a:extLst xmlns:a="http://schemas.openxmlformats.org/drawingml/2006/main">
              <a:ext uri="{FF2B5EF4-FFF2-40B4-BE49-F238E27FC236}">
                <a16:creationId xmlns:a16="http://schemas.microsoft.com/office/drawing/2014/main" id="{D4296F14-3EE5-42ED-BB38-E0639C18BE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CB62BCF-0FCD-4431-869C-971B9763B57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63</a:t>
            </a:r>
          </a:p>
        </p:txBody>
      </p:sp>
    </p:spTree>
    <p:extLst>
      <p:ext uri="{BB962C8B-B14F-4D97-AF65-F5344CB8AC3E}">
        <p14:creationId xmlns:p14="http://schemas.microsoft.com/office/powerpoint/2010/main" val="1867007925"/>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914B64-3DFA-4D93-88CB-B2BB19237C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9FA1A0C-2F8F-40BD-B47A-CC618EB0D1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Total Parenteral Nutrition (TPN) — continued</a:t>
            </a:r>
          </a:p>
        </p:txBody>
      </p:sp>
      <p:sp>
        <p:nvSpPr>
          <p:cNvPr id="3" name="">
            <a:extLst xmlns:a="http://schemas.openxmlformats.org/drawingml/2006/main">
              <a:ext uri="{FF2B5EF4-FFF2-40B4-BE49-F238E27FC236}">
                <a16:creationId xmlns:a16="http://schemas.microsoft.com/office/drawing/2014/main" id="{45519F3B-45A0-4888-973B-C414BC74FE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5A28D710-B49C-407D-A23D-202CC87F7E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B11C415-9134-4248-926A-D67DE3C9E3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a patient undergoes surgery, has a major illness, undergoes stress or trauma, additional nutrients and calories are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Metabolism of Carbohydrates The immediate energy needs of the body are met through the metabolism of carbohydrates.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Complex carbohydrates are broken down to simple sugars in the GI tract.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Glucose then circulates to the body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central nervous system is particularly dependent upon glucose and oxidizes glucose completely for energy.</a:t>
            </a:r>
          </a:p>
        </p:txBody>
      </p:sp>
      <p:sp>
        <p:nvSpPr>
          <p:cNvPr id="6" name="">
            <a:extLst xmlns:a="http://schemas.openxmlformats.org/drawingml/2006/main">
              <a:ext uri="{FF2B5EF4-FFF2-40B4-BE49-F238E27FC236}">
                <a16:creationId xmlns:a16="http://schemas.microsoft.com/office/drawing/2014/main" id="{3B803F92-6A5D-4E20-86B3-7C5B180E6E2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32AEC3E-4A0E-4513-B933-D126794D58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63</a:t>
            </a:r>
          </a:p>
        </p:txBody>
      </p:sp>
    </p:spTree>
    <p:extLst>
      <p:ext uri="{BB962C8B-B14F-4D97-AF65-F5344CB8AC3E}">
        <p14:creationId xmlns:p14="http://schemas.microsoft.com/office/powerpoint/2010/main" val="887282216"/>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A7DB18-1ED3-4A3E-8568-374BD22721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48847B-3794-454A-8537-365D35D9AA9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Total Parenteral Nutrition (TPN) — continued</a:t>
            </a:r>
          </a:p>
        </p:txBody>
      </p:sp>
      <p:sp>
        <p:nvSpPr>
          <p:cNvPr id="3" name="">
            <a:extLst xmlns:a="http://schemas.openxmlformats.org/drawingml/2006/main">
              <a:ext uri="{FF2B5EF4-FFF2-40B4-BE49-F238E27FC236}">
                <a16:creationId xmlns:a16="http://schemas.microsoft.com/office/drawing/2014/main" id="{F1157F20-953E-4DE1-B714-6A8E12A115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69BE0DE0-40AC-4B44-ADA5-0B58E2ADC3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2E8AEC0B-3DA6-4B2D-9637-10F09971DE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 glucoses, fructose, and galactose are converted into glycogen, which is stored in the liver and muscle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Insulin is secreted by the pancreas in response to high glucose levels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Insulin halts glycolysis and speeds glycogenesis.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Insulin stimulates uptake of glucose for oxidation by many tissues.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Insulin promotes the conversion of carbohydrates to lipids.</a:t>
            </a:r>
          </a:p>
        </p:txBody>
      </p:sp>
      <p:sp>
        <p:nvSpPr>
          <p:cNvPr id="6" name="">
            <a:extLst xmlns:a="http://schemas.openxmlformats.org/drawingml/2006/main">
              <a:ext uri="{FF2B5EF4-FFF2-40B4-BE49-F238E27FC236}">
                <a16:creationId xmlns:a16="http://schemas.microsoft.com/office/drawing/2014/main" id="{3353D058-3959-4669-970D-8B2C44934D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B0036E-B485-409F-9C32-16A86A6EBAC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63</a:t>
            </a:r>
          </a:p>
        </p:txBody>
      </p:sp>
    </p:spTree>
    <p:extLst>
      <p:ext uri="{BB962C8B-B14F-4D97-AF65-F5344CB8AC3E}">
        <p14:creationId xmlns:p14="http://schemas.microsoft.com/office/powerpoint/2010/main" val="455669120"/>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1F8948-DB74-4C59-B5CE-D50037918F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BF75C1-77BD-4310-A58C-B4ACA147E1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Total Parenteral Nutrition (TPN) — continued</a:t>
            </a:r>
          </a:p>
        </p:txBody>
      </p:sp>
      <p:sp>
        <p:nvSpPr>
          <p:cNvPr id="3" name="">
            <a:extLst xmlns:a="http://schemas.openxmlformats.org/drawingml/2006/main">
              <a:ext uri="{FF2B5EF4-FFF2-40B4-BE49-F238E27FC236}">
                <a16:creationId xmlns:a16="http://schemas.microsoft.com/office/drawing/2014/main" id="{FD90C2A1-75D3-4369-8A82-216CA13103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B001438F-98E1-430C-8BEB-810AB419BF9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B743701E-A65F-4FA9-A84D-B83356865C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Lipid Metabolism The highest stored energy in the body is in the form of fat.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Metabolism of lipids begins in the intestinal tract where hydrolysis, absorption, and conversion to triglycerides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Chylomicrons, glycerol, and fatty acids then circulate and enter the cells, (heart, muscle, etc.) where they are oxidized for energy.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Adipose tissue contains the long-term energy reserves of the body (triglycerides).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fats are oxidized for energy, acids and Ketone bodies are released into the blood as by63</a:t>
            </a:r>
          </a:p>
        </p:txBody>
      </p:sp>
      <p:sp>
        <p:nvSpPr>
          <p:cNvPr id="6" name="">
            <a:extLst xmlns:a="http://schemas.openxmlformats.org/drawingml/2006/main">
              <a:ext uri="{FF2B5EF4-FFF2-40B4-BE49-F238E27FC236}">
                <a16:creationId xmlns:a16="http://schemas.microsoft.com/office/drawing/2014/main" id="{A6DE76B3-576F-4BF0-A654-F82535DD9D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1D1030-8769-4039-8EFA-20DE15E17A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63</a:t>
            </a:r>
          </a:p>
        </p:txBody>
      </p:sp>
    </p:spTree>
    <p:extLst>
      <p:ext uri="{BB962C8B-B14F-4D97-AF65-F5344CB8AC3E}">
        <p14:creationId xmlns:p14="http://schemas.microsoft.com/office/powerpoint/2010/main" val="824352573"/>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F30AE8-967A-48EC-BAE7-A8E5159337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35EC5D-19BA-47D5-912A-96B627A7C9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normal metabolic cycle, and Ketoacidosis results.</a:t>
            </a:r>
          </a:p>
        </p:txBody>
      </p:sp>
      <p:sp>
        <p:nvSpPr>
          <p:cNvPr id="3" name="">
            <a:extLst xmlns:a="http://schemas.openxmlformats.org/drawingml/2006/main">
              <a:ext uri="{FF2B5EF4-FFF2-40B4-BE49-F238E27FC236}">
                <a16:creationId xmlns:a16="http://schemas.microsoft.com/office/drawing/2014/main" id="{D4EE8879-6D18-4FC8-9FFF-A0308C4265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BC1B3FA0-AC8C-4710-B356-7E1A811E869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B9EEE947-FB90-49CF-8DD6-A3DFA0223B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products of triglyceride metabolism.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Too much of these acids and Ketones interfere with Protein Metabolism Amino acids are not stored in the body and must be obtained from our daily food intake.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Protein is either used for protein synthesis or burned for energy in our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body needs more energy than is obtained from our carbohydrate or lipid intake, protein is used for fuel.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latter process is called catabolism.</a:t>
            </a:r>
          </a:p>
        </p:txBody>
      </p:sp>
      <p:sp>
        <p:nvSpPr>
          <p:cNvPr id="6" name="">
            <a:extLst xmlns:a="http://schemas.openxmlformats.org/drawingml/2006/main">
              <a:ext uri="{FF2B5EF4-FFF2-40B4-BE49-F238E27FC236}">
                <a16:creationId xmlns:a16="http://schemas.microsoft.com/office/drawing/2014/main" id="{E2EE1DA9-E2CD-49BA-9F5A-B77864BAF6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3BAA03C-E9DD-4FB6-845B-1F81CA716D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64</a:t>
            </a:r>
          </a:p>
        </p:txBody>
      </p:sp>
    </p:spTree>
    <p:extLst>
      <p:ext uri="{BB962C8B-B14F-4D97-AF65-F5344CB8AC3E}">
        <p14:creationId xmlns:p14="http://schemas.microsoft.com/office/powerpoint/2010/main" val="186496704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C6F216-C18F-4E29-8DB3-DBBF25FE0E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AD6700-2637-483F-9AAD-502A5B016D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normal metabolic cycle, and Ketoacidosis results. — continued</a:t>
            </a:r>
          </a:p>
        </p:txBody>
      </p:sp>
      <p:sp>
        <p:nvSpPr>
          <p:cNvPr id="3" name="">
            <a:extLst xmlns:a="http://schemas.openxmlformats.org/drawingml/2006/main">
              <a:ext uri="{FF2B5EF4-FFF2-40B4-BE49-F238E27FC236}">
                <a16:creationId xmlns:a16="http://schemas.microsoft.com/office/drawing/2014/main" id="{E8CE34F3-C57C-4E20-BB6C-11E84912CC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A44A141-68FD-49A1-8584-5D41566EAA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32DEF082-5B36-498D-834C-1605E856A5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Protein is broken down in the GI tract into amino acids and peptides.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Essential amino acids are utilized for protein synthesis, while non-essential amino acids are stripped of nitrogen by the liver (excreted as urea), or converted into fatty acids.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Ingested protein should maintain a constant level of body protein.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Nutritional Assessment Multiple parameters are utilized in determining an individual's nutritional state.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include serum albumin, lymphocyte count, creatinine/height index, triceps skin fold, arm muscle circumference, weight, etc., as well as clinical indications of malnourishment:</a:t>
            </a:r>
          </a:p>
        </p:txBody>
      </p:sp>
      <p:sp>
        <p:nvSpPr>
          <p:cNvPr id="6" name="">
            <a:extLst xmlns:a="http://schemas.openxmlformats.org/drawingml/2006/main">
              <a:ext uri="{FF2B5EF4-FFF2-40B4-BE49-F238E27FC236}">
                <a16:creationId xmlns:a16="http://schemas.microsoft.com/office/drawing/2014/main" id="{3627F979-2961-42B9-9C6E-42AC67F2B7E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23346A7-38D0-4E23-AB94-AD8C8A7D282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64</a:t>
            </a:r>
          </a:p>
        </p:txBody>
      </p:sp>
    </p:spTree>
    <p:extLst>
      <p:ext uri="{BB962C8B-B14F-4D97-AF65-F5344CB8AC3E}">
        <p14:creationId xmlns:p14="http://schemas.microsoft.com/office/powerpoint/2010/main" val="60679960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31F363-7C75-4469-95C5-8BDC1DFB78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2545F1-43D8-49E7-9149-907EAB6319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normal metabolic cycle, and Ketoacidosis results. — continued</a:t>
            </a:r>
          </a:p>
        </p:txBody>
      </p:sp>
      <p:sp>
        <p:nvSpPr>
          <p:cNvPr id="3" name="">
            <a:extLst xmlns:a="http://schemas.openxmlformats.org/drawingml/2006/main">
              <a:ext uri="{FF2B5EF4-FFF2-40B4-BE49-F238E27FC236}">
                <a16:creationId xmlns:a16="http://schemas.microsoft.com/office/drawing/2014/main" id="{D35ACBDB-863D-42DF-A609-B6E18481D3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16CCF206-D6E3-40DD-B2F4-9F2049461E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45C624EF-7D39-4295-AE48-25312A9957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Condition of hair, skin, nervous system, body appearance, skin turgor, and general state of hydration.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conditions, which cause starvation, hypoglycemia, ketosis, and wasting of lean body mass can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conditions must be reversed by the administration of parenteral or total parenteral nutrition.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Peripheral parenteral nutrition (PPN) is the provision of protein, calories, carbohydrates, lipids, vitamins, fluids, electrolytes, and trace elements.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final dextrose concentration (diluted) should not exceed 12 to 15% and the final amino acid concentration should not exceed 5%.</a:t>
            </a:r>
          </a:p>
        </p:txBody>
      </p:sp>
      <p:sp>
        <p:nvSpPr>
          <p:cNvPr id="6" name="">
            <a:extLst xmlns:a="http://schemas.openxmlformats.org/drawingml/2006/main">
              <a:ext uri="{FF2B5EF4-FFF2-40B4-BE49-F238E27FC236}">
                <a16:creationId xmlns:a16="http://schemas.microsoft.com/office/drawing/2014/main" id="{7090FDC7-9033-4830-847D-5A8FB0352D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FC129C-2510-42C3-B3E9-F01FC2B666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64</a:t>
            </a:r>
          </a:p>
        </p:txBody>
      </p:sp>
    </p:spTree>
    <p:extLst>
      <p:ext uri="{BB962C8B-B14F-4D97-AF65-F5344CB8AC3E}">
        <p14:creationId xmlns:p14="http://schemas.microsoft.com/office/powerpoint/2010/main" val="805123273"/>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FC3055-6A02-448C-B6FE-85F8FBDEE3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D84EFE-C720-4568-AE0A-BE2EBFFF928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normal metabolic cycle, and Ketoacidosis results. — continued</a:t>
            </a:r>
          </a:p>
        </p:txBody>
      </p:sp>
      <p:sp>
        <p:nvSpPr>
          <p:cNvPr id="3" name="">
            <a:extLst xmlns:a="http://schemas.openxmlformats.org/drawingml/2006/main">
              <a:ext uri="{FF2B5EF4-FFF2-40B4-BE49-F238E27FC236}">
                <a16:creationId xmlns:a16="http://schemas.microsoft.com/office/drawing/2014/main" id="{753A2608-C038-4D6F-83DF-1A24AA41AF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03CF758-0941-4798-87BB-DAC6296F68A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8025F691-BAC5-4314-8DBA-DED2505882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Solutions higher in dextrose or protein concentrations have proven to be too irritating to the peripheral vasculature.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Lipids are administered with the hyperalimentation solution in order to decrease vein irritation and to provide essential fatty acids.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Administration Techniques Parenteral solutions are generally filtered to remove particulate matter or bacteria from the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your institutional policies.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IV line used for the administration of the hyperalimentation cannot be used for any other purpose.</a:t>
            </a:r>
          </a:p>
        </p:txBody>
      </p:sp>
      <p:sp>
        <p:nvSpPr>
          <p:cNvPr id="6" name="">
            <a:extLst xmlns:a="http://schemas.openxmlformats.org/drawingml/2006/main">
              <a:ext uri="{FF2B5EF4-FFF2-40B4-BE49-F238E27FC236}">
                <a16:creationId xmlns:a16="http://schemas.microsoft.com/office/drawing/2014/main" id="{36FF35F0-00FF-41AC-829D-03117E4B4C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759E424-3D7B-42EA-A975-850F00A007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64</a:t>
            </a:r>
          </a:p>
        </p:txBody>
      </p:sp>
    </p:spTree>
    <p:extLst>
      <p:ext uri="{BB962C8B-B14F-4D97-AF65-F5344CB8AC3E}">
        <p14:creationId xmlns:p14="http://schemas.microsoft.com/office/powerpoint/2010/main" val="864749424"/>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8B4D59-79A0-403D-939D-545E373501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19294E-91BB-4548-B726-4C69DE650D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normal metabolic cycle, and Ketoacidosis results. — continued</a:t>
            </a:r>
          </a:p>
        </p:txBody>
      </p:sp>
      <p:sp>
        <p:nvSpPr>
          <p:cNvPr id="3" name="">
            <a:extLst xmlns:a="http://schemas.openxmlformats.org/drawingml/2006/main">
              <a:ext uri="{FF2B5EF4-FFF2-40B4-BE49-F238E27FC236}">
                <a16:creationId xmlns:a16="http://schemas.microsoft.com/office/drawing/2014/main" id="{BD37066F-F486-456B-99BE-870791B383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9930430-B6F9-4D05-BA9C-78B7DF2102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76BA0137-9E2F-438D-A3D8-2814C16AA0D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high dextrose and protein concentration of the solution make it an excellent media for the growth of bacteria and invading the IV line for piggy backs, etc., could introduce bacteria into the system and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Additional IV lines may be needed if concomitant therapies are ordered, antibiotics, replacement solutions, and pain management.</a:t>
            </a:r>
          </a:p>
        </p:txBody>
      </p:sp>
      <p:sp>
        <p:nvSpPr>
          <p:cNvPr id="6" name="">
            <a:extLst xmlns:a="http://schemas.openxmlformats.org/drawingml/2006/main">
              <a:ext uri="{FF2B5EF4-FFF2-40B4-BE49-F238E27FC236}">
                <a16:creationId xmlns:a16="http://schemas.microsoft.com/office/drawing/2014/main" id="{A68A19FA-9B92-4E26-BD19-BC43363E73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6C82A3-862B-49D8-8EC6-B9CF06AEAD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64</a:t>
            </a:r>
          </a:p>
        </p:txBody>
      </p:sp>
    </p:spTree>
    <p:extLst>
      <p:ext uri="{BB962C8B-B14F-4D97-AF65-F5344CB8AC3E}">
        <p14:creationId xmlns:p14="http://schemas.microsoft.com/office/powerpoint/2010/main" val="841554524"/>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6719DA-793F-4046-B243-BF08A89141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23905B-7591-4487-AC7F-0FADDC33B0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Patients on Total Parenteral Nutrition should be monitored for the following:</a:t>
            </a:r>
          </a:p>
        </p:txBody>
      </p:sp>
      <p:sp>
        <p:nvSpPr>
          <p:cNvPr id="3" name="">
            <a:extLst xmlns:a="http://schemas.openxmlformats.org/drawingml/2006/main">
              <a:ext uri="{FF2B5EF4-FFF2-40B4-BE49-F238E27FC236}">
                <a16:creationId xmlns:a16="http://schemas.microsoft.com/office/drawing/2014/main" id="{547B0761-BD28-46AF-874F-4935E97F9E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45096CB5-9226-4D79-ACC1-F225D61A05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5A183ADD-E973-42B9-9CC1-4A09BD0D3F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sugar levels *Electrolytes *Serum protein *Nutritional status indicators (weight) *Intake and output *Infection The Licensed Practical Nurse may administer peripheral total parenteral nutrition solutions.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Procedures for starting and maintaining the peripheral IV line remain the same.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Central Total Parenteral Nutritional solutions have much higher concentrations of dextrose and protein, therefore, hypertonic in nature.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Insulin is either added to the bag or administered per blood sugar level on a sliding scale basis to help metabolize the high glucose load provided.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majority of Total Parenteral Nutrition is administered via central access.</a:t>
            </a:r>
          </a:p>
        </p:txBody>
      </p:sp>
      <p:sp>
        <p:nvSpPr>
          <p:cNvPr id="6" name="">
            <a:extLst xmlns:a="http://schemas.openxmlformats.org/drawingml/2006/main">
              <a:ext uri="{FF2B5EF4-FFF2-40B4-BE49-F238E27FC236}">
                <a16:creationId xmlns:a16="http://schemas.microsoft.com/office/drawing/2014/main" id="{0A883E2F-4D88-48A9-A713-FF6065A896F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A0AE256-D3E2-4DD0-8EAB-E6794A56479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65</a:t>
            </a:r>
          </a:p>
        </p:txBody>
      </p:sp>
    </p:spTree>
    <p:extLst>
      <p:ext uri="{BB962C8B-B14F-4D97-AF65-F5344CB8AC3E}">
        <p14:creationId xmlns:p14="http://schemas.microsoft.com/office/powerpoint/2010/main" val="1397249445"/>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540FE7-37D4-47D1-9107-88E3F2C746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45B659-A4BB-48E7-81BA-A7F3B4FBF3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Patients on Total Parenteral Nutrition should be monitored for the following: — continued</a:t>
            </a:r>
          </a:p>
        </p:txBody>
      </p:sp>
      <p:sp>
        <p:nvSpPr>
          <p:cNvPr id="3" name="">
            <a:extLst xmlns:a="http://schemas.openxmlformats.org/drawingml/2006/main">
              <a:ext uri="{FF2B5EF4-FFF2-40B4-BE49-F238E27FC236}">
                <a16:creationId xmlns:a16="http://schemas.microsoft.com/office/drawing/2014/main" id="{208CAC3B-DC85-4A08-918F-89360C6082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7102873-CEE3-4CF4-95E7-CC7DAC271E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6958EBE8-8E56-4066-A9AB-4DF8A4CAB2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Either long term or short term.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the acute care setting a short-term multi-lumen central catheter, placed either in the Jugular or Subclavian vein, may be utilized.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the patient in the home care setting a long-term central access such as a Hickman, Groshong, or implanted port, may be utilized.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licensed practical nurse is responsible for caring for patients who have a central access catheter who are receiving total parenteral nutrition through that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should be observed and documented by the nurse: *External appearance of the central line catheter dressing and surrounding skin area.</a:t>
            </a:r>
          </a:p>
        </p:txBody>
      </p:sp>
      <p:sp>
        <p:nvSpPr>
          <p:cNvPr id="6" name="">
            <a:extLst xmlns:a="http://schemas.openxmlformats.org/drawingml/2006/main">
              <a:ext uri="{FF2B5EF4-FFF2-40B4-BE49-F238E27FC236}">
                <a16:creationId xmlns:a16="http://schemas.microsoft.com/office/drawing/2014/main" id="{5FFF335A-3705-4968-ADF0-B08E25757F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C941A2-B5DC-45C6-8210-B244078FEE7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65</a:t>
            </a:r>
          </a:p>
        </p:txBody>
      </p:sp>
    </p:spTree>
    <p:extLst>
      <p:ext uri="{BB962C8B-B14F-4D97-AF65-F5344CB8AC3E}">
        <p14:creationId xmlns:p14="http://schemas.microsoft.com/office/powerpoint/2010/main" val="1987718445"/>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8860E7-F25B-42A7-A229-A7D48B7794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6A56B6-4256-41E5-8537-F97EAACA21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Patients on Total Parenteral Nutrition should be monitored for the following: — continued</a:t>
            </a:r>
          </a:p>
        </p:txBody>
      </p:sp>
      <p:sp>
        <p:nvSpPr>
          <p:cNvPr id="3" name="">
            <a:extLst xmlns:a="http://schemas.openxmlformats.org/drawingml/2006/main">
              <a:ext uri="{FF2B5EF4-FFF2-40B4-BE49-F238E27FC236}">
                <a16:creationId xmlns:a16="http://schemas.microsoft.com/office/drawing/2014/main" id="{D30BFADF-F0CB-4537-9503-BB4F14E899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8EA7FC7-9DB4-4D04-A77B-D4E854EDCD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AE7B117E-9F7B-4721-8B53-6F5F94084EA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 Integrity of all connections (tubing, extension sets, pumps) *Volume remaining in bags *Patient response to fluid, solution and medication *Signs and symptoms of distress (complication of central catheter) * Any change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of patient condition *Notification of the RN</a:t>
            </a:r>
          </a:p>
        </p:txBody>
      </p:sp>
      <p:sp>
        <p:nvSpPr>
          <p:cNvPr id="6" name="">
            <a:extLst xmlns:a="http://schemas.openxmlformats.org/drawingml/2006/main">
              <a:ext uri="{FF2B5EF4-FFF2-40B4-BE49-F238E27FC236}">
                <a16:creationId xmlns:a16="http://schemas.microsoft.com/office/drawing/2014/main" id="{DDED87FA-E2E0-4C2C-9B62-980174D31C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4B677B6-F33E-42BC-BD70-A49626444C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65</a:t>
            </a:r>
          </a:p>
        </p:txBody>
      </p:sp>
    </p:spTree>
    <p:extLst>
      <p:ext uri="{BB962C8B-B14F-4D97-AF65-F5344CB8AC3E}">
        <p14:creationId xmlns:p14="http://schemas.microsoft.com/office/powerpoint/2010/main" val="183514719"/>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32736D-C3E0-43C8-AA3B-DF4D1A7E2E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205AE7-CE5E-4066-A521-E47AE401F7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a:t>
            </a:r>
          </a:p>
        </p:txBody>
      </p:sp>
      <p:sp>
        <p:nvSpPr>
          <p:cNvPr id="3" name="">
            <a:extLst xmlns:a="http://schemas.openxmlformats.org/drawingml/2006/main">
              <a:ext uri="{FF2B5EF4-FFF2-40B4-BE49-F238E27FC236}">
                <a16:creationId xmlns:a16="http://schemas.microsoft.com/office/drawing/2014/main" id="{C01148D0-E1E4-46BD-91B6-F65D37CDE5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A9E06D20-5153-4DE4-9B84-47BFFD6630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4A52A582-B309-4E15-86E2-1C69CDFDB4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Anabolism Buildup of tissue from nutrients Catabolism Breakdown of tissue for energy Parenteral Located outside alimentary canal Metabolism Complex of physical and chemical processes involved in the maintenance of life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Nutrient Something that nourishes Acidosis Condition of pathologically high acidity of blood and body tissues Ingested Taken in by swallowing Hypertonic More concentrated than body fluids Hypotonic Less concentrated than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body fluids Bibliography American Society for Parenteral and Enteral Nutrition Standards for Nutritional Support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Nutrition Clinical Practice 1999 14:151-162 Crudi</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and Larkin, M.</a:t>
            </a:r>
          </a:p>
        </p:txBody>
      </p:sp>
      <p:sp>
        <p:nvSpPr>
          <p:cNvPr id="6" name="">
            <a:extLst xmlns:a="http://schemas.openxmlformats.org/drawingml/2006/main">
              <a:ext uri="{FF2B5EF4-FFF2-40B4-BE49-F238E27FC236}">
                <a16:creationId xmlns:a16="http://schemas.microsoft.com/office/drawing/2014/main" id="{C81A9292-D829-4B92-B2D4-24DC97FB55B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CCE8B23-2258-4FE9-B1AB-95A6E2CD6C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66</a:t>
            </a:r>
          </a:p>
        </p:txBody>
      </p:sp>
    </p:spTree>
    <p:extLst>
      <p:ext uri="{BB962C8B-B14F-4D97-AF65-F5344CB8AC3E}">
        <p14:creationId xmlns:p14="http://schemas.microsoft.com/office/powerpoint/2010/main" val="1343422552"/>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B654C8-17C8-49FC-A65F-FE9B3629381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6512A2E-47FE-4B89-B827-734B3F6DC9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 — continued</a:t>
            </a:r>
          </a:p>
        </p:txBody>
      </p:sp>
      <p:sp>
        <p:nvSpPr>
          <p:cNvPr id="3" name="">
            <a:extLst xmlns:a="http://schemas.openxmlformats.org/drawingml/2006/main">
              <a:ext uri="{FF2B5EF4-FFF2-40B4-BE49-F238E27FC236}">
                <a16:creationId xmlns:a16="http://schemas.microsoft.com/office/drawing/2014/main" id="{1BE6EE70-9F35-4567-917A-40067E34C7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4CEDF36D-1337-4D0B-A6FC-F28CD1BF3E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F9059B86-B244-4414-BEBB-FD46A915A5A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(1984).</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Core Curriculum for Intravenous Nursing.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J.B.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Lippincott, Philadelphia Goldfarb, I.</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and Yates A.</a:t>
            </a:r>
          </a:p>
        </p:txBody>
      </p:sp>
      <p:sp>
        <p:nvSpPr>
          <p:cNvPr id="6" name="">
            <a:extLst xmlns:a="http://schemas.openxmlformats.org/drawingml/2006/main">
              <a:ext uri="{FF2B5EF4-FFF2-40B4-BE49-F238E27FC236}">
                <a16:creationId xmlns:a16="http://schemas.microsoft.com/office/drawing/2014/main" id="{4BCF6B1B-A7A3-4856-A409-4C82EB8BAD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5EC6D1F-261D-456B-BC92-332E136B518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66</a:t>
            </a:r>
          </a:p>
        </p:txBody>
      </p:sp>
    </p:spTree>
    <p:extLst>
      <p:ext uri="{BB962C8B-B14F-4D97-AF65-F5344CB8AC3E}">
        <p14:creationId xmlns:p14="http://schemas.microsoft.com/office/powerpoint/2010/main" val="384727703"/>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5E883-FD11-4B98-ACBA-EE94784882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37B0315-D917-4F63-A479-9C223AEC64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 — continued</a:t>
            </a:r>
          </a:p>
        </p:txBody>
      </p:sp>
      <p:sp>
        <p:nvSpPr>
          <p:cNvPr id="3" name="">
            <a:extLst xmlns:a="http://schemas.openxmlformats.org/drawingml/2006/main">
              <a:ext uri="{FF2B5EF4-FFF2-40B4-BE49-F238E27FC236}">
                <a16:creationId xmlns:a16="http://schemas.microsoft.com/office/drawing/2014/main" id="{315834D9-C5BB-4A08-B09B-313E1C615D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86A242D-A82A-46DC-8C68-09DE255FB2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929CA7CC-CB85-41D8-B550-2ACF496B2E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(1978).</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Total Parenteral Nutrition: Concepts and Methods.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Synapse Publications, Pittsburgh Silberman, 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and Eisenberg, 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(1982).</a:t>
            </a:r>
          </a:p>
        </p:txBody>
      </p:sp>
      <p:sp>
        <p:nvSpPr>
          <p:cNvPr id="6" name="">
            <a:extLst xmlns:a="http://schemas.openxmlformats.org/drawingml/2006/main">
              <a:ext uri="{FF2B5EF4-FFF2-40B4-BE49-F238E27FC236}">
                <a16:creationId xmlns:a16="http://schemas.microsoft.com/office/drawing/2014/main" id="{42A20E92-97F3-4EA8-BBA6-C66BD49F7D6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A7369A-ED8E-4FC3-8FD3-6A6546011B2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66</a:t>
            </a:r>
          </a:p>
        </p:txBody>
      </p:sp>
    </p:spTree>
    <p:extLst>
      <p:ext uri="{BB962C8B-B14F-4D97-AF65-F5344CB8AC3E}">
        <p14:creationId xmlns:p14="http://schemas.microsoft.com/office/powerpoint/2010/main" val="1067425010"/>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3B7FAB-1D57-4903-B503-532BEC072A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D5CF12-A78F-400A-B4FD-B41062B16C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Glossary — continued</a:t>
            </a:r>
          </a:p>
        </p:txBody>
      </p:sp>
      <p:sp>
        <p:nvSpPr>
          <p:cNvPr id="3" name="">
            <a:extLst xmlns:a="http://schemas.openxmlformats.org/drawingml/2006/main">
              <a:ext uri="{FF2B5EF4-FFF2-40B4-BE49-F238E27FC236}">
                <a16:creationId xmlns:a16="http://schemas.microsoft.com/office/drawing/2014/main" id="{195C5CF6-F6A6-48EC-B868-085DC516A86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01B4227-72CE-4849-A14F-34D4F49D95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C10867E5-EA80-41B0-8D0B-79F9BCA6BF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and Enteral Nutrition for the Hospitalized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Appleton-Century-Crofts, Norwalk, CT.</a:t>
            </a:r>
          </a:p>
        </p:txBody>
      </p:sp>
      <p:sp>
        <p:nvSpPr>
          <p:cNvPr id="6" name="">
            <a:extLst xmlns:a="http://schemas.openxmlformats.org/drawingml/2006/main">
              <a:ext uri="{FF2B5EF4-FFF2-40B4-BE49-F238E27FC236}">
                <a16:creationId xmlns:a16="http://schemas.microsoft.com/office/drawing/2014/main" id="{E7F85AB6-A552-42D9-9CE9-6CE32CB46A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EE7FB2-E0C6-49BC-B741-836A62A6E0E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66</a:t>
            </a:r>
          </a:p>
        </p:txBody>
      </p:sp>
    </p:spTree>
    <p:extLst>
      <p:ext uri="{BB962C8B-B14F-4D97-AF65-F5344CB8AC3E}">
        <p14:creationId xmlns:p14="http://schemas.microsoft.com/office/powerpoint/2010/main" val="1768608383"/>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3B9E64-CF4B-44C6-A21D-EE27D3479C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A2C03B-0507-4487-ADD5-8991B84C46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35C58497-926C-4B9B-A4E5-8E560F465D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FF3A0ADE-5B26-4153-B683-BE3E468212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DFF9581B-D027-4DB2-ACA4-8997BDE7638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6" name="">
            <a:extLst xmlns:a="http://schemas.openxmlformats.org/drawingml/2006/main">
              <a:ext uri="{FF2B5EF4-FFF2-40B4-BE49-F238E27FC236}">
                <a16:creationId xmlns:a16="http://schemas.microsoft.com/office/drawing/2014/main" id="{1B5C67F4-FC4B-4C14-B6EF-CFA67259C29C}"/>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040449233"/>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0744E2-E8A2-4E6B-9319-AEC2AE997F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E41A7D0-13F9-4A88-857D-DF16D5CBDA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7767ECCB-9028-40A3-B67E-D1476C2435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4440C6C4-E7FF-4480-9A92-2D8775D96E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EB7C53EF-A7B2-48CF-A53D-6E02BE9502BD}"/>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9C25F87B-027D-4CEA-AD20-0A172E92CA32}"/>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28101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2026-10-23T07:16:02.7640000Z</dcterms:created>
  <dcterms:modified xsi:type="dcterms:W3CDTF">2026-10-23T07:16:02.7640000Z</dcterms:modified>
</coreProperties>
</file>