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7dd1a476a14b4f" /><Relationship Type="http://schemas.openxmlformats.org/officeDocument/2006/relationships/extended-properties" Target="/docProps/app.xml" Id="R47bc00b796294620" /><Relationship Type="http://schemas.openxmlformats.org/officeDocument/2006/relationships/officeDocument" Target="/ppt/presentation.xml" Id="R8ee35478630145f3" /></Relationships>
</file>

<file path=ppt/presentation.xml><?xml version="1.0" encoding="utf-8"?>
<p:presentation xmlns:p="http://schemas.openxmlformats.org/presentationml/2006/main">
  <p:sldMasterIdLst>
    <p:sldMasterId xmlns:r="http://schemas.openxmlformats.org/officeDocument/2006/relationships" id="2147483648" r:id="R14020ee89bab4d05"/>
  </p:sldMasterIdLst>
  <p:notesMasterIdLst>
    <p:notesMasterId xmlns:r="http://schemas.openxmlformats.org/officeDocument/2006/relationships" r:id="R072d21c44e804978"/>
  </p:notesMasterIdLst>
  <p:sldIdLst>
    <p:sldId xmlns:r="http://schemas.openxmlformats.org/officeDocument/2006/relationships" id="256" r:id="Rf78ad70a193e487c"/>
    <p:sldId xmlns:r="http://schemas.openxmlformats.org/officeDocument/2006/relationships" id="257" r:id="R4ca2fd5d3b474dd5"/>
    <p:sldId xmlns:r="http://schemas.openxmlformats.org/officeDocument/2006/relationships" id="258" r:id="Rcbbc146e97a14d21"/>
    <p:sldId xmlns:r="http://schemas.openxmlformats.org/officeDocument/2006/relationships" id="259" r:id="R0be01ce7389642d6"/>
    <p:sldId xmlns:r="http://schemas.openxmlformats.org/officeDocument/2006/relationships" id="260" r:id="R350b1e581d4e4ac3"/>
    <p:sldId xmlns:r="http://schemas.openxmlformats.org/officeDocument/2006/relationships" id="261" r:id="Rb4aa75dfb46c4af5"/>
    <p:sldId xmlns:r="http://schemas.openxmlformats.org/officeDocument/2006/relationships" id="262" r:id="R97d08aca41c14ab2"/>
    <p:sldId xmlns:r="http://schemas.openxmlformats.org/officeDocument/2006/relationships" id="263" r:id="R3762a1d0154e4c7b"/>
    <p:sldId xmlns:r="http://schemas.openxmlformats.org/officeDocument/2006/relationships" id="264" r:id="Rc51d02bb663849d3"/>
    <p:sldId xmlns:r="http://schemas.openxmlformats.org/officeDocument/2006/relationships" id="265" r:id="Ra60dee2042c94ce6"/>
    <p:sldId xmlns:r="http://schemas.openxmlformats.org/officeDocument/2006/relationships" id="266" r:id="Rf4e6cdf1db704700"/>
    <p:sldId xmlns:r="http://schemas.openxmlformats.org/officeDocument/2006/relationships" id="267" r:id="Rc0ed34f23f6447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2f11208e76461c" /><Relationship Type="http://schemas.openxmlformats.org/officeDocument/2006/relationships/slideMaster" Target="/ppt/slideMasters/slideMaster1.xml" Id="R14020ee89bab4d05" /><Relationship Type="http://schemas.openxmlformats.org/officeDocument/2006/relationships/notesMaster" Target="/ppt/notesMasters/notesMaster1.xml" Id="R072d21c44e804978" /><Relationship Type="http://schemas.openxmlformats.org/officeDocument/2006/relationships/presProps" Target="/ppt/presProps.xml" Id="Rb15809fc53fc43e4" /><Relationship Type="http://schemas.openxmlformats.org/officeDocument/2006/relationships/tableStyles" Target="/ppt/tableStyles.xml" Id="R8de5e1bcff364764" /><Relationship Type="http://schemas.openxmlformats.org/officeDocument/2006/relationships/slide" Target="/ppt/slides/slide1.xml" Id="Rf78ad70a193e487c" /><Relationship Type="http://schemas.openxmlformats.org/officeDocument/2006/relationships/slide" Target="/ppt/slides/slide2.xml" Id="R4ca2fd5d3b474dd5" /><Relationship Type="http://schemas.openxmlformats.org/officeDocument/2006/relationships/slide" Target="/ppt/slides/slide3.xml" Id="Rcbbc146e97a14d21" /><Relationship Type="http://schemas.openxmlformats.org/officeDocument/2006/relationships/slide" Target="/ppt/slides/slide4.xml" Id="R0be01ce7389642d6" /><Relationship Type="http://schemas.openxmlformats.org/officeDocument/2006/relationships/slide" Target="/ppt/slides/slide5.xml" Id="R350b1e581d4e4ac3" /><Relationship Type="http://schemas.openxmlformats.org/officeDocument/2006/relationships/slide" Target="/ppt/slides/slide6.xml" Id="Rb4aa75dfb46c4af5" /><Relationship Type="http://schemas.openxmlformats.org/officeDocument/2006/relationships/slide" Target="/ppt/slides/slide7.xml" Id="R97d08aca41c14ab2" /><Relationship Type="http://schemas.openxmlformats.org/officeDocument/2006/relationships/slide" Target="/ppt/slides/slide8.xml" Id="R3762a1d0154e4c7b" /><Relationship Type="http://schemas.openxmlformats.org/officeDocument/2006/relationships/slide" Target="/ppt/slides/slide9.xml" Id="Rc51d02bb663849d3" /><Relationship Type="http://schemas.openxmlformats.org/officeDocument/2006/relationships/slide" Target="/ppt/slides/slide10.xml" Id="Ra60dee2042c94ce6" /><Relationship Type="http://schemas.openxmlformats.org/officeDocument/2006/relationships/slide" Target="/ppt/slides/slide11.xml" Id="Rf4e6cdf1db704700" /><Relationship Type="http://schemas.openxmlformats.org/officeDocument/2006/relationships/slide" Target="/ppt/slides/slide12.xml" Id="Rc0ed34f23f6447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a2a0ff83a049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e13d89785444b2" /><Relationship Type="http://schemas.openxmlformats.org/officeDocument/2006/relationships/notesMaster" Target="/ppt/notesMasters/notesMaster1.xml" Id="R9c255689535149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aabc5c232f443a" /><Relationship Type="http://schemas.openxmlformats.org/officeDocument/2006/relationships/notesMaster" Target="/ppt/notesMasters/notesMaster1.xml" Id="Rdc0a710c474d4e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26e926e0604ccd" /><Relationship Type="http://schemas.openxmlformats.org/officeDocument/2006/relationships/notesMaster" Target="/ppt/notesMasters/notesMaster1.xml" Id="Ra19683573cf642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35d058afa54591" /><Relationship Type="http://schemas.openxmlformats.org/officeDocument/2006/relationships/notesMaster" Target="/ppt/notesMasters/notesMaster1.xml" Id="R987e58b52abd44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bcfb9b2f1c4fa6" /><Relationship Type="http://schemas.openxmlformats.org/officeDocument/2006/relationships/notesMaster" Target="/ppt/notesMasters/notesMaster1.xml" Id="R9fc9390b94ac4e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b7b6d3eba94fac" /><Relationship Type="http://schemas.openxmlformats.org/officeDocument/2006/relationships/notesMaster" Target="/ppt/notesMasters/notesMaster1.xml" Id="R3b888b9ad1e14c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940d5758514afb" /><Relationship Type="http://schemas.openxmlformats.org/officeDocument/2006/relationships/notesMaster" Target="/ppt/notesMasters/notesMaster1.xml" Id="R55f1eaa493da42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0d9a52adf449b2" /><Relationship Type="http://schemas.openxmlformats.org/officeDocument/2006/relationships/notesMaster" Target="/ppt/notesMasters/notesMaster1.xml" Id="R24580ec90e0447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8242b0873f4c80" /><Relationship Type="http://schemas.openxmlformats.org/officeDocument/2006/relationships/notesMaster" Target="/ppt/notesMasters/notesMaster1.xml" Id="R842076d420a344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f70cdb1c474f79" /><Relationship Type="http://schemas.openxmlformats.org/officeDocument/2006/relationships/notesMaster" Target="/ppt/notesMasters/notesMaster1.xml" Id="R137fe1d64dde47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65e97beaa54ab3" /><Relationship Type="http://schemas.openxmlformats.org/officeDocument/2006/relationships/notesMaster" Target="/ppt/notesMasters/notesMaster1.xml" Id="Reefc552d003b4d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b0836834c44220" /><Relationship Type="http://schemas.openxmlformats.org/officeDocument/2006/relationships/notesMaster" Target="/ppt/notesMasters/notesMaster1.xml" Id="R4d0ca7fe0f3f40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Authority, competency, and policy are three separate checks. First, Authority asks whether the law and license permit the activity. Next, Competency asks whether the nurse has current education, supervised practice, and validated skill. Next, Policy asks whether the employer permits the activity in this setting. Next, Safe practice requires all three—not just a course certificate.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starting any infusion. First, Confirm the patient with two approved identifiers. Next, Read the complete order: solution or medication, concentration, route, dose, rate, duration, and indication. Next, Check allergies, compatibility, access-device suitability, and required laboratory results. Next, Stop and clarify any missing, conflicting, or unsafe information before preparing the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medication-rights safety pause. First, Patient: Do both identifiers match the order and medication record? Next, Medication and dose: Is this the exact product, concentration, and calculated dose? Next, Route and access: Is the ordered route appropriate for this device and site? Next, Time and rate: Are timing, pump settings, and duration correct? Next, Response: What assessment and monitoring are required before, during, and after?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the correct action is to stop. First, Stop for a questionable order, unexpected patient change, loss of device patency, incompatibility, contamination, or pump setting that cannot be verified. Next, Protect the patient first, maintain access only as directed, notify the supervising RN or prescriber, and document objective findings and actions. Next, Never continue simply because a medication has already been prepared or a schedule is running 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d2819115d347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529cb0c66a4f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b10f7f2f6b42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31619c58c543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e099797f2e41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b0203703e546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3CCE2D-F89E-4DB4-A903-30BDAD6AEF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43BDF5-3133-4DC5-8E1C-51668E0E61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D29780-BBCB-4863-877E-CFE5E84378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89AD8D-EA92-4451-A82B-416870E79D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137826-C2A3-4C84-9DA3-598E3889E1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0A1193-32A2-4671-AD0E-206CC43304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875848-290B-4677-8383-DED5A398EC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1EB1982-EA96-4103-B5F9-8E7FF13A32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78DE43-B7B8-4A88-BCEF-FC2A5684ED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33497A-3E90-47F9-961F-10AAA15D3C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3cdd34a68c4964" /><Relationship Type="http://schemas.openxmlformats.org/officeDocument/2006/relationships/slideLayout" Target="/ppt/slideLayouts/slideLayout1.xml" Id="R2cfc6542bbb14229" /><Relationship Type="http://schemas.openxmlformats.org/officeDocument/2006/relationships/slideLayout" Target="/ppt/slideLayouts/slideLayout2.xml" Id="R85bb679f43e54268" /><Relationship Type="http://schemas.openxmlformats.org/officeDocument/2006/relationships/slideLayout" Target="/ppt/slideLayouts/slideLayout3.xml" Id="R1f3c72a7948a4a58" /><Relationship Type="http://schemas.openxmlformats.org/officeDocument/2006/relationships/slideLayout" Target="/ppt/slideLayouts/slideLayout4.xml" Id="Refecc1296db64f0b" /><Relationship Type="http://schemas.openxmlformats.org/officeDocument/2006/relationships/slideLayout" Target="/ppt/slideLayouts/slideLayout5.xml" Id="R9551aef1acc74de4" /><Relationship Type="http://schemas.openxmlformats.org/officeDocument/2006/relationships/slideLayout" Target="/ppt/slideLayouts/slideLayout6.xml" Id="Rebe3fc0f858d46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fc6542bbb14229"/>
    <p:sldLayoutId xmlns:r="http://schemas.openxmlformats.org/officeDocument/2006/relationships" id="2147483650" r:id="R85bb679f43e54268"/>
    <p:sldLayoutId xmlns:r="http://schemas.openxmlformats.org/officeDocument/2006/relationships" id="2147483651" r:id="R1f3c72a7948a4a58"/>
    <p:sldLayoutId xmlns:r="http://schemas.openxmlformats.org/officeDocument/2006/relationships" id="2147483652" r:id="Refecc1296db64f0b"/>
    <p:sldLayoutId xmlns:r="http://schemas.openxmlformats.org/officeDocument/2006/relationships" id="2147483653" r:id="R9551aef1acc74de4"/>
    <p:sldLayoutId xmlns:r="http://schemas.openxmlformats.org/officeDocument/2006/relationships" id="2147483654" r:id="Rebe3fc0f858d46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d726d63b97f42d4" /><Relationship Type="http://schemas.openxmlformats.org/officeDocument/2006/relationships/notesSlide" Target="/ppt/notesSlides/notesSlide1.xml" Id="R388dc09c9be04f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ea45387179423f" /><Relationship Type="http://schemas.openxmlformats.org/officeDocument/2006/relationships/notesSlide" Target="/ppt/notesSlides/notesSlide2.xml" Id="R0cc29bc3243045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5c1ddeb3db44a6" /><Relationship Type="http://schemas.openxmlformats.org/officeDocument/2006/relationships/notesSlide" Target="/ppt/notesSlides/notesSlide3.xml" Id="R9692c9cd1b294b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8705ce57d74df8" /><Relationship Type="http://schemas.openxmlformats.org/officeDocument/2006/relationships/notesSlide" Target="/ppt/notesSlides/notesSlide4.xml" Id="Rcb27de75924d4f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4edb5933de46e0" /><Relationship Type="http://schemas.openxmlformats.org/officeDocument/2006/relationships/notesSlide" Target="/ppt/notesSlides/notesSlide5.xml" Id="R1390cd915c8147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77061d8d8f4f88" /><Relationship Type="http://schemas.openxmlformats.org/officeDocument/2006/relationships/notesSlide" Target="/ppt/notesSlides/notesSlide6.xml" Id="R6ddbfb59689d41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bee781fe2e475b" /><Relationship Type="http://schemas.openxmlformats.org/officeDocument/2006/relationships/notesSlide" Target="/ppt/notesSlides/notesSlide7.xml" Id="R3890614124d74b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07ed4700b664cf8" /><Relationship Type="http://schemas.openxmlformats.org/officeDocument/2006/relationships/notesSlide" Target="/ppt/notesSlides/notesSlide8.xml" Id="R1146920803c64d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0b1f4850a0d427b" /><Relationship Type="http://schemas.openxmlformats.org/officeDocument/2006/relationships/notesSlide" Target="/ppt/notesSlides/notesSlide9.xml" Id="Racb02b2f0aa44f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b31828510cb4f70" /><Relationship Type="http://schemas.openxmlformats.org/officeDocument/2006/relationships/notesSlide" Target="/ppt/notesSlides/notesSlide10.xml" Id="R4504baae19cf49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d08cf9c3d3640ab" /><Relationship Type="http://schemas.openxmlformats.org/officeDocument/2006/relationships/notesSlide" Target="/ppt/notesSlides/notesSlide11.xml" Id="R86949237c5864d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09b7ba776844a9" /><Relationship Type="http://schemas.openxmlformats.org/officeDocument/2006/relationships/notesSlide" Target="/ppt/notesSlides/notesSlide12.xml" Id="Rdd9dd72f1fc544ab"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AFB884-4740-4CF5-941F-FC7950FEB7A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9A92C9-C934-4CB8-BC6A-7FC542BC3305}"/>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65BC3821-558A-4BA4-BE82-8354335FA7F2}"/>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Florida Scope and Safe IV Practice</a:t>
            </a:r>
          </a:p>
        </p:txBody>
      </p:sp>
      <p:sp>
        <p:nvSpPr>
          <p:cNvPr id="4" name="">
            <a:extLst xmlns:a="http://schemas.openxmlformats.org/drawingml/2006/main">
              <a:ext uri="{FF2B5EF4-FFF2-40B4-BE49-F238E27FC236}">
                <a16:creationId xmlns:a16="http://schemas.microsoft.com/office/drawing/2014/main" id="{E7C74476-454E-4F73-BDE8-EBE09587789B}"/>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1  |  30-Hour Basic Intravenous Therapy</a:t>
            </a:r>
          </a:p>
        </p:txBody>
      </p:sp>
      <p:sp>
        <p:nvSpPr>
          <p:cNvPr id="5" name="">
            <a:extLst xmlns:a="http://schemas.openxmlformats.org/drawingml/2006/main">
              <a:ext uri="{FF2B5EF4-FFF2-40B4-BE49-F238E27FC236}">
                <a16:creationId xmlns:a16="http://schemas.microsoft.com/office/drawing/2014/main" id="{8C1B0FFE-F9AC-4B4E-BCA3-8C1529E1C7CB}"/>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82222572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4324EC-4A51-42A1-A7B8-581D79C89B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2BAB68A-B054-4019-8EE3-1FA4EBE71F8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79162C5E-F493-469A-B824-C67BBAB6D3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DDFF554-5BF2-462D-9A5F-8392A95530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A69DDE1-B644-421E-83BE-0835E084122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109320160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AE5203-E668-4889-A3E0-4FDF590B1A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861E40-BA96-4B90-902B-ACC9617B2B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D0269A5D-2803-4497-8A1E-91F72C5CD9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A82E5B6-4322-4E69-B8C2-569BF178E4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9CFE3577-E0D2-42C3-BACB-BA30A3D540B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5E8CA0F3-3C46-4489-BC05-66123A3986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11214289"/>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EF49F2-743B-466F-BC12-6CF01736E9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5A5F7A-4F48-432B-A068-3CBBAA5C71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4D562C80-7AA0-4463-95D8-F2668940CA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D27083C-FD1F-4C49-8972-F4DE794CD8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FEE50011-A190-4848-8D4F-64B14470815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C1A25F5D-EB2F-4A76-AF1C-6ABC97E379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3088670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182C96-8CCF-4984-8DCD-9A0B8661AD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C34347-C004-45C7-B830-587F51EA39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E5E9BA9A-11E8-4BCD-9464-AD155F8962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CFCB9E2-3CBC-455D-BBC7-9D1F9EA026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2CE3F5CD-0BF3-438D-B786-1E7FCF70A45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3B8C5E83-F387-4E38-B1BC-AFBC3A284B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26572605"/>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BACF16-1CA3-4179-A215-D846204615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95CA6B-3561-493C-9FD0-70812754AC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880BCA68-F19E-4F15-9789-4A586A9140B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753DC5B-C5EC-4A5E-BEED-8EE9C65266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7293EEA9-43AA-45A4-A5F4-50D72255997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145720C2-31A1-4647-8FE8-69BFE3C479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0613809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8115E5-0751-4C74-B001-A66C716BAB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A74D7E-6DD4-4F50-B202-4AA72E23B4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Authority, competency, and policy are three separate checks</a:t>
            </a:r>
          </a:p>
        </p:txBody>
      </p:sp>
      <p:sp>
        <p:nvSpPr>
          <p:cNvPr id="3" name="">
            <a:extLst xmlns:a="http://schemas.openxmlformats.org/drawingml/2006/main">
              <a:ext uri="{FF2B5EF4-FFF2-40B4-BE49-F238E27FC236}">
                <a16:creationId xmlns:a16="http://schemas.microsoft.com/office/drawing/2014/main" id="{38964146-2536-4D05-97A9-26022F1C88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147D36E-3028-46E7-A653-4B1CFE4DA6A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26F141C8-997A-45D8-A6CE-30026F8C82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asks whether the law and license permit the 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Competency asks whether the nurse has current education, supervised practice, and validated skill.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Policy asks whether the employer permits the activity in this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 practice requires all three—not just a course certificate.</a:t>
            </a:r>
          </a:p>
        </p:txBody>
      </p:sp>
      <p:sp>
        <p:nvSpPr>
          <p:cNvPr id="6" name="">
            <a:extLst xmlns:a="http://schemas.openxmlformats.org/drawingml/2006/main">
              <a:ext uri="{FF2B5EF4-FFF2-40B4-BE49-F238E27FC236}">
                <a16:creationId xmlns:a16="http://schemas.microsoft.com/office/drawing/2014/main" id="{3FF56CF5-C24E-442B-B044-4A48C13038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1554374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BE0413-D009-48A4-B3F0-E0B793CD41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A96505-9537-48EB-A374-90A19775C8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starting any infusion</a:t>
            </a:r>
          </a:p>
        </p:txBody>
      </p:sp>
      <p:sp>
        <p:nvSpPr>
          <p:cNvPr id="3" name="">
            <a:extLst xmlns:a="http://schemas.openxmlformats.org/drawingml/2006/main">
              <a:ext uri="{FF2B5EF4-FFF2-40B4-BE49-F238E27FC236}">
                <a16:creationId xmlns:a16="http://schemas.microsoft.com/office/drawing/2014/main" id="{1F6FDC99-FE5F-425A-80DF-B127545D41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89BD416-44C4-4C3F-832F-E8667677319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2222D9BC-C98A-441D-BE00-892A2818F9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patient with two approved identifiers.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Read the complete order: solution or medication, concentration, route, dose, rate, duration, and indication.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allergies, compatibility, access-device suitability, and required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and clarify any missing, conflicting, or unsafe information before preparing the therapy.</a:t>
            </a:r>
          </a:p>
        </p:txBody>
      </p:sp>
      <p:sp>
        <p:nvSpPr>
          <p:cNvPr id="6" name="">
            <a:extLst xmlns:a="http://schemas.openxmlformats.org/drawingml/2006/main">
              <a:ext uri="{FF2B5EF4-FFF2-40B4-BE49-F238E27FC236}">
                <a16:creationId xmlns:a16="http://schemas.microsoft.com/office/drawing/2014/main" id="{62AE73A8-B9AB-4642-ACE2-A555C40215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1213591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1DDF3D0-1E59-4A0E-98EF-E5B8AF1900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09604D0-6EE3-4EB1-AEC7-D6C6C4F67B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medication-rights safety pause</a:t>
            </a:r>
          </a:p>
        </p:txBody>
      </p:sp>
      <p:sp>
        <p:nvSpPr>
          <p:cNvPr id="3" name="">
            <a:extLst xmlns:a="http://schemas.openxmlformats.org/drawingml/2006/main">
              <a:ext uri="{FF2B5EF4-FFF2-40B4-BE49-F238E27FC236}">
                <a16:creationId xmlns:a16="http://schemas.microsoft.com/office/drawing/2014/main" id="{57841C3D-EA60-490A-87DD-CFE20B03B0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DF111D2-A357-45F9-9C02-FDD3B118E8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7874D5D6-2B52-4B6A-9964-29A2CDDDED55}"/>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48F46E5-8E5C-45DF-BBA6-AFB5417D660E}"/>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7" name="">
            <a:extLst xmlns:a="http://schemas.openxmlformats.org/drawingml/2006/main">
              <a:ext uri="{FF2B5EF4-FFF2-40B4-BE49-F238E27FC236}">
                <a16:creationId xmlns:a16="http://schemas.microsoft.com/office/drawing/2014/main" id="{7D4A170E-E4F6-4549-8FC1-6A45AE350C6A}"/>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EB8AC7D-0EAD-405D-B14F-9E090FD511F3}"/>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to ask</a:t>
            </a:r>
          </a:p>
        </p:txBody>
      </p:sp>
      <p:sp>
        <p:nvSpPr>
          <p:cNvPr id="9" name="">
            <a:extLst xmlns:a="http://schemas.openxmlformats.org/drawingml/2006/main">
              <a:ext uri="{FF2B5EF4-FFF2-40B4-BE49-F238E27FC236}">
                <a16:creationId xmlns:a16="http://schemas.microsoft.com/office/drawing/2014/main" id="{52E40B2D-9D67-4280-90CC-A1410D2AD2B4}"/>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2B24A1A-0C23-47D7-B129-8A447B36BABD}"/>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1" name="">
            <a:extLst xmlns:a="http://schemas.openxmlformats.org/drawingml/2006/main">
              <a:ext uri="{FF2B5EF4-FFF2-40B4-BE49-F238E27FC236}">
                <a16:creationId xmlns:a16="http://schemas.microsoft.com/office/drawing/2014/main" id="{6595080D-3D98-4622-879A-BA4DC5317048}"/>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0FDEB71-24AA-411D-BF37-F409886411D9}"/>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both identifiers match the order and medication record?</a:t>
            </a:r>
          </a:p>
        </p:txBody>
      </p:sp>
      <p:sp>
        <p:nvSpPr>
          <p:cNvPr id="13" name="">
            <a:extLst xmlns:a="http://schemas.openxmlformats.org/drawingml/2006/main">
              <a:ext uri="{FF2B5EF4-FFF2-40B4-BE49-F238E27FC236}">
                <a16:creationId xmlns:a16="http://schemas.microsoft.com/office/drawing/2014/main" id="{D0C47C89-D90F-4786-9C6F-279724A97D10}"/>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6C725D6-8F6A-438E-90E0-416C8B232CC2}"/>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and dose</a:t>
            </a:r>
          </a:p>
        </p:txBody>
      </p:sp>
      <p:sp>
        <p:nvSpPr>
          <p:cNvPr id="15" name="">
            <a:extLst xmlns:a="http://schemas.openxmlformats.org/drawingml/2006/main">
              <a:ext uri="{FF2B5EF4-FFF2-40B4-BE49-F238E27FC236}">
                <a16:creationId xmlns:a16="http://schemas.microsoft.com/office/drawing/2014/main" id="{D163549E-1495-4F06-8814-1A51B1594E80}"/>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1E42BB0-4271-4416-BA44-3D7428EEEB39}"/>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concentration, and calculated dose?</a:t>
            </a:r>
          </a:p>
        </p:txBody>
      </p:sp>
      <p:sp>
        <p:nvSpPr>
          <p:cNvPr id="17" name="">
            <a:extLst xmlns:a="http://schemas.openxmlformats.org/drawingml/2006/main">
              <a:ext uri="{FF2B5EF4-FFF2-40B4-BE49-F238E27FC236}">
                <a16:creationId xmlns:a16="http://schemas.microsoft.com/office/drawing/2014/main" id="{2CB9B92B-2578-4C61-87D3-0ACC823A09F2}"/>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03DA7BC-F87D-4E68-A02B-DBCE000158B5}"/>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 and access</a:t>
            </a:r>
          </a:p>
        </p:txBody>
      </p:sp>
      <p:sp>
        <p:nvSpPr>
          <p:cNvPr id="19" name="">
            <a:extLst xmlns:a="http://schemas.openxmlformats.org/drawingml/2006/main">
              <a:ext uri="{FF2B5EF4-FFF2-40B4-BE49-F238E27FC236}">
                <a16:creationId xmlns:a16="http://schemas.microsoft.com/office/drawing/2014/main" id="{670FB3A5-1841-4220-9C97-42EF2EEEAFDA}"/>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93F6112-CEE7-430E-8147-1465A347F120}"/>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ordered route appropriate for this device and site?</a:t>
            </a:r>
          </a:p>
        </p:txBody>
      </p:sp>
      <p:sp>
        <p:nvSpPr>
          <p:cNvPr id="21" name="">
            <a:extLst xmlns:a="http://schemas.openxmlformats.org/drawingml/2006/main">
              <a:ext uri="{FF2B5EF4-FFF2-40B4-BE49-F238E27FC236}">
                <a16:creationId xmlns:a16="http://schemas.microsoft.com/office/drawing/2014/main" id="{805E0984-383B-49B1-8167-049D0D59251E}"/>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7A7A30B-7D3A-4F6E-A865-3DD8CA596C74}"/>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 and rate</a:t>
            </a:r>
          </a:p>
        </p:txBody>
      </p:sp>
      <p:sp>
        <p:nvSpPr>
          <p:cNvPr id="23" name="">
            <a:extLst xmlns:a="http://schemas.openxmlformats.org/drawingml/2006/main">
              <a:ext uri="{FF2B5EF4-FFF2-40B4-BE49-F238E27FC236}">
                <a16:creationId xmlns:a16="http://schemas.microsoft.com/office/drawing/2014/main" id="{02BAF7C2-2BA1-4F5D-B6E2-C336552EF5A6}"/>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1A37F5D-D09B-4962-8BE2-BC4A6E4721FD}"/>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timing, pump settings, and duration correct?</a:t>
            </a:r>
          </a:p>
        </p:txBody>
      </p:sp>
      <p:sp>
        <p:nvSpPr>
          <p:cNvPr id="25" name="">
            <a:extLst xmlns:a="http://schemas.openxmlformats.org/drawingml/2006/main">
              <a:ext uri="{FF2B5EF4-FFF2-40B4-BE49-F238E27FC236}">
                <a16:creationId xmlns:a16="http://schemas.microsoft.com/office/drawing/2014/main" id="{80B52D1E-6B17-4F97-9C43-81BD9DCA811C}"/>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174F13A-EC86-4722-B537-DC03EB94FF8E}"/>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Response</a:t>
            </a:r>
          </a:p>
        </p:txBody>
      </p:sp>
      <p:sp>
        <p:nvSpPr>
          <p:cNvPr id="27" name="">
            <a:extLst xmlns:a="http://schemas.openxmlformats.org/drawingml/2006/main">
              <a:ext uri="{FF2B5EF4-FFF2-40B4-BE49-F238E27FC236}">
                <a16:creationId xmlns:a16="http://schemas.microsoft.com/office/drawing/2014/main" id="{DB76ED36-E5A0-4489-A6FC-259EA40BA002}"/>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3BE25EE-C3CB-4D16-9706-CAD96E8D32DA}"/>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assessment and monitoring are required before, during, and after?</a:t>
            </a:r>
          </a:p>
        </p:txBody>
      </p:sp>
    </p:spTree>
    <p:extLst>
      <p:ext uri="{BB962C8B-B14F-4D97-AF65-F5344CB8AC3E}">
        <p14:creationId xmlns:p14="http://schemas.microsoft.com/office/powerpoint/2010/main" val="196112970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8E101B-4761-4AE9-9924-D09055A562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6673398-C75B-4BF4-B7A1-8D40C2FDE6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the correct action is to stop</a:t>
            </a:r>
          </a:p>
        </p:txBody>
      </p:sp>
      <p:sp>
        <p:nvSpPr>
          <p:cNvPr id="3" name="">
            <a:extLst xmlns:a="http://schemas.openxmlformats.org/drawingml/2006/main">
              <a:ext uri="{FF2B5EF4-FFF2-40B4-BE49-F238E27FC236}">
                <a16:creationId xmlns:a16="http://schemas.microsoft.com/office/drawing/2014/main" id="{65121C2E-E8EF-406B-888A-0DE7705B16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AD47800-110A-461D-A536-F2DD4AA9D3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147C5D2E-D199-4EF7-937D-BA67559857B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for a questionable order, unexpected patient change, loss of device patency, incompatibility, contamination, or pump setting that cannot be verified.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Protect the patient first, maintain access only as directed, notify the supervising RN or prescriber, and document objective findings and 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continue simply because a medication has already been prepared or a schedule is running late.</a:t>
            </a:r>
          </a:p>
        </p:txBody>
      </p:sp>
      <p:sp>
        <p:nvSpPr>
          <p:cNvPr id="6" name="">
            <a:extLst xmlns:a="http://schemas.openxmlformats.org/drawingml/2006/main">
              <a:ext uri="{FF2B5EF4-FFF2-40B4-BE49-F238E27FC236}">
                <a16:creationId xmlns:a16="http://schemas.microsoft.com/office/drawing/2014/main" id="{C4F4790D-9C50-4883-B2CC-21CB5DD6C1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42541285"/>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5477EE-9262-4B66-A815-3A1156F09E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6A7BD4-3A96-468D-ACAF-31C2AAEFDC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8B3F810D-2F95-4AFD-A5E9-5E178950BE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AD6BEC7-8E52-4E77-8EE1-B0B184703D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2B07D923-2BE4-46E6-8DDB-2138E32E9A15}"/>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ED4452FD-B61D-4ED1-861D-B5BA486D9E3F}"/>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2228484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5F9E93-A8B1-44CA-ACEB-EEA113B735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2203B5-D065-467C-9999-94C336B1A1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B0AB06C1-1403-4F18-BED3-62D0DAD1E5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99ECB5D-FB09-4C28-A4F6-789EFB158C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09030B73-3352-44BA-B56E-F1567F9A467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B19A05E5-5862-436F-8FBD-C04BEAF030A9}"/>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5805761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2026-10-23T08:07:00.1190000Z</dcterms:created>
  <dcterms:modified xsi:type="dcterms:W3CDTF">2026-10-23T08:07:00.1200000Z</dcterms:modified>
</coreProperties>
</file>