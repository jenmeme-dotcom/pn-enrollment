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790e8a4be64a19" /><Relationship Type="http://schemas.openxmlformats.org/officeDocument/2006/relationships/extended-properties" Target="/docProps/app.xml" Id="Raa4dcf1edad34da3" /><Relationship Type="http://schemas.openxmlformats.org/officeDocument/2006/relationships/officeDocument" Target="/ppt/presentation.xml" Id="R9ab71b96e3bf48eb" /></Relationships>
</file>

<file path=ppt/presentation.xml><?xml version="1.0" encoding="utf-8"?>
<p:presentation xmlns:p="http://schemas.openxmlformats.org/presentationml/2006/main">
  <p:sldMasterIdLst>
    <p:sldMasterId xmlns:r="http://schemas.openxmlformats.org/officeDocument/2006/relationships" id="2147483648" r:id="Rb29562eede344d6d"/>
  </p:sldMasterIdLst>
  <p:notesMasterIdLst>
    <p:notesMasterId xmlns:r="http://schemas.openxmlformats.org/officeDocument/2006/relationships" r:id="R51713dc70e424dee"/>
  </p:notesMasterIdLst>
  <p:sldIdLst>
    <p:sldId xmlns:r="http://schemas.openxmlformats.org/officeDocument/2006/relationships" id="256" r:id="R3be0df9f8c9a466a"/>
    <p:sldId xmlns:r="http://schemas.openxmlformats.org/officeDocument/2006/relationships" id="257" r:id="R9166e6c2458d4521"/>
    <p:sldId xmlns:r="http://schemas.openxmlformats.org/officeDocument/2006/relationships" id="258" r:id="R6c361be15fa247fa"/>
    <p:sldId xmlns:r="http://schemas.openxmlformats.org/officeDocument/2006/relationships" id="259" r:id="R6d478d1377d84294"/>
    <p:sldId xmlns:r="http://schemas.openxmlformats.org/officeDocument/2006/relationships" id="260" r:id="Rb9709339ce0f4641"/>
    <p:sldId xmlns:r="http://schemas.openxmlformats.org/officeDocument/2006/relationships" id="261" r:id="Rcc3fbbaf2e0f4162"/>
    <p:sldId xmlns:r="http://schemas.openxmlformats.org/officeDocument/2006/relationships" id="262" r:id="R13ce02c7b7224512"/>
    <p:sldId xmlns:r="http://schemas.openxmlformats.org/officeDocument/2006/relationships" id="263" r:id="R3afb8d57e9754be6"/>
    <p:sldId xmlns:r="http://schemas.openxmlformats.org/officeDocument/2006/relationships" id="264" r:id="Re54c94fbc9eb445e"/>
    <p:sldId xmlns:r="http://schemas.openxmlformats.org/officeDocument/2006/relationships" id="265" r:id="R0c1ba8f999a84817"/>
    <p:sldId xmlns:r="http://schemas.openxmlformats.org/officeDocument/2006/relationships" id="266" r:id="Rf5f43711d6564a68"/>
    <p:sldId xmlns:r="http://schemas.openxmlformats.org/officeDocument/2006/relationships" id="267" r:id="Ra8cd1552ee2443f0"/>
    <p:sldId xmlns:r="http://schemas.openxmlformats.org/officeDocument/2006/relationships" id="268" r:id="Rc905af464cc64535"/>
    <p:sldId xmlns:r="http://schemas.openxmlformats.org/officeDocument/2006/relationships" id="269" r:id="Rd4f2e47378014fd1"/>
    <p:sldId xmlns:r="http://schemas.openxmlformats.org/officeDocument/2006/relationships" id="270" r:id="R4f97a8c23f7d4d01"/>
    <p:sldId xmlns:r="http://schemas.openxmlformats.org/officeDocument/2006/relationships" id="271" r:id="R8e1d8e2ccc0d42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ed0e5997884dd9" /><Relationship Type="http://schemas.openxmlformats.org/officeDocument/2006/relationships/slideMaster" Target="/ppt/slideMasters/slideMaster1.xml" Id="Rb29562eede344d6d" /><Relationship Type="http://schemas.openxmlformats.org/officeDocument/2006/relationships/notesMaster" Target="/ppt/notesMasters/notesMaster1.xml" Id="R51713dc70e424dee" /><Relationship Type="http://schemas.openxmlformats.org/officeDocument/2006/relationships/presProps" Target="/ppt/presProps.xml" Id="R79dcdd52e687489e" /><Relationship Type="http://schemas.openxmlformats.org/officeDocument/2006/relationships/tableStyles" Target="/ppt/tableStyles.xml" Id="R8c70927a94884791" /><Relationship Type="http://schemas.openxmlformats.org/officeDocument/2006/relationships/slide" Target="/ppt/slides/slide1.xml" Id="R3be0df9f8c9a466a" /><Relationship Type="http://schemas.openxmlformats.org/officeDocument/2006/relationships/slide" Target="/ppt/slides/slide2.xml" Id="R9166e6c2458d4521" /><Relationship Type="http://schemas.openxmlformats.org/officeDocument/2006/relationships/slide" Target="/ppt/slides/slide3.xml" Id="R6c361be15fa247fa" /><Relationship Type="http://schemas.openxmlformats.org/officeDocument/2006/relationships/slide" Target="/ppt/slides/slide4.xml" Id="R6d478d1377d84294" /><Relationship Type="http://schemas.openxmlformats.org/officeDocument/2006/relationships/slide" Target="/ppt/slides/slide5.xml" Id="Rb9709339ce0f4641" /><Relationship Type="http://schemas.openxmlformats.org/officeDocument/2006/relationships/slide" Target="/ppt/slides/slide6.xml" Id="Rcc3fbbaf2e0f4162" /><Relationship Type="http://schemas.openxmlformats.org/officeDocument/2006/relationships/slide" Target="/ppt/slides/slide7.xml" Id="R13ce02c7b7224512" /><Relationship Type="http://schemas.openxmlformats.org/officeDocument/2006/relationships/slide" Target="/ppt/slides/slide8.xml" Id="R3afb8d57e9754be6" /><Relationship Type="http://schemas.openxmlformats.org/officeDocument/2006/relationships/slide" Target="/ppt/slides/slide9.xml" Id="Re54c94fbc9eb445e" /><Relationship Type="http://schemas.openxmlformats.org/officeDocument/2006/relationships/slide" Target="/ppt/slides/slide10.xml" Id="R0c1ba8f999a84817" /><Relationship Type="http://schemas.openxmlformats.org/officeDocument/2006/relationships/slide" Target="/ppt/slides/slide11.xml" Id="Rf5f43711d6564a68" /><Relationship Type="http://schemas.openxmlformats.org/officeDocument/2006/relationships/slide" Target="/ppt/slides/slide12.xml" Id="Ra8cd1552ee2443f0" /><Relationship Type="http://schemas.openxmlformats.org/officeDocument/2006/relationships/slide" Target="/ppt/slides/slide13.xml" Id="Rc905af464cc64535" /><Relationship Type="http://schemas.openxmlformats.org/officeDocument/2006/relationships/slide" Target="/ppt/slides/slide14.xml" Id="Rd4f2e47378014fd1" /><Relationship Type="http://schemas.openxmlformats.org/officeDocument/2006/relationships/slide" Target="/ppt/slides/slide15.xml" Id="R4f97a8c23f7d4d01" /><Relationship Type="http://schemas.openxmlformats.org/officeDocument/2006/relationships/slide" Target="/ppt/slides/slide16.xml" Id="R8e1d8e2ccc0d42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32eec349624f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87f6f77c3640e6" /><Relationship Type="http://schemas.openxmlformats.org/officeDocument/2006/relationships/notesMaster" Target="/ppt/notesMasters/notesMaster1.xml" Id="Rcab2b7ec2cc445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90daea116440bc" /><Relationship Type="http://schemas.openxmlformats.org/officeDocument/2006/relationships/notesMaster" Target="/ppt/notesMasters/notesMaster1.xml" Id="R0c2a3729103442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44493475c54dde" /><Relationship Type="http://schemas.openxmlformats.org/officeDocument/2006/relationships/notesMaster" Target="/ppt/notesMasters/notesMaster1.xml" Id="R399163dffd5e42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11837c78024222" /><Relationship Type="http://schemas.openxmlformats.org/officeDocument/2006/relationships/notesMaster" Target="/ppt/notesMasters/notesMaster1.xml" Id="R83cac4a103d544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b65d5a2b2c49fd" /><Relationship Type="http://schemas.openxmlformats.org/officeDocument/2006/relationships/notesMaster" Target="/ppt/notesMasters/notesMaster1.xml" Id="Rf0ef178f518f43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32e55167ae4d34" /><Relationship Type="http://schemas.openxmlformats.org/officeDocument/2006/relationships/notesMaster" Target="/ppt/notesMasters/notesMaster1.xml" Id="R0e4b8588de9b45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f5f5ff0c2949b2" /><Relationship Type="http://schemas.openxmlformats.org/officeDocument/2006/relationships/notesMaster" Target="/ppt/notesMasters/notesMaster1.xml" Id="R91a18f82d5bf43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8e3ffdd6a54199" /><Relationship Type="http://schemas.openxmlformats.org/officeDocument/2006/relationships/notesMaster" Target="/ppt/notesMasters/notesMaster1.xml" Id="Rc66f96dc39274a6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32d0a350a74445" /><Relationship Type="http://schemas.openxmlformats.org/officeDocument/2006/relationships/notesMaster" Target="/ppt/notesMasters/notesMaster1.xml" Id="R4622471b814e4ce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4b7852ff5ba4df6" /><Relationship Type="http://schemas.openxmlformats.org/officeDocument/2006/relationships/notesMaster" Target="/ppt/notesMasters/notesMaster1.xml" Id="Rac039c013df2442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9759923127417c" /><Relationship Type="http://schemas.openxmlformats.org/officeDocument/2006/relationships/notesMaster" Target="/ppt/notesMasters/notesMaster1.xml" Id="R2ba505fb70b04b9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189f2c2885d4c8f" /><Relationship Type="http://schemas.openxmlformats.org/officeDocument/2006/relationships/notesMaster" Target="/ppt/notesMasters/notesMaster1.xml" Id="R160ee20fe51648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a69212b5fb405f" /><Relationship Type="http://schemas.openxmlformats.org/officeDocument/2006/relationships/notesMaster" Target="/ppt/notesMasters/notesMaster1.xml" Id="Rf7b84ea4603744f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ba1ef6de8644798" /><Relationship Type="http://schemas.openxmlformats.org/officeDocument/2006/relationships/notesMaster" Target="/ppt/notesMasters/notesMaster1.xml" Id="R83d71431817f40e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ce7e74f140c4f94" /><Relationship Type="http://schemas.openxmlformats.org/officeDocument/2006/relationships/notesMaster" Target="/ppt/notesMasters/notesMaster1.xml" Id="R23037a6a992b4ed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46187f3c0ee4e60" /><Relationship Type="http://schemas.openxmlformats.org/officeDocument/2006/relationships/notesMaster" Target="/ppt/notesMasters/notesMaster1.xml" Id="Rd3926be02ae249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Patient Education and Support, Module 2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Cover media: Pexels photo by Cedric Fauntleroy, https://www.pexels.com/photo/nurses-having-a-conversation-4269202/,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Assess physical condition, prior experience, and anxiety Next, Explain IV therapy in clear patient-centered language Next, Document teaching and the patient's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Assessment before teaching. First, Ask what the patient understands, what happened during previous IV therapy, and what worries them now. Next, Consider cognition, language, culture, pain, vision, hearing, and readiness to learn.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Information patients need. First, Explain the purpose, expected duration, likely sensations, activity limits, equipment, monitoring, and symptoms that require immediate reporting. Next, Use qualified language assistance when needed.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Reducing anxiety. First, Prepare supplies before approaching the patient. Next, Use a calm explanation, preserve privacy, position the patient comfortably, and invite questions. Next, Do not minimize fear or promise a painless procedure.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Teach-back and documentation. First, Ask the patient to explain how they will protect the site and which symptoms they will report. Next, Record topics taught, learning barriers, teaching method, demonstrated understanding, and follow-up needs.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factors that change the plan. First, Age and skin condition: Changes vein visibility, fragility, securement, and teaching needs Next, Mobility and dominant side: Affects site protection, comfort, and dislodgement risk Next, Past surgery, vascular access, or lymphatic compromise: May restrict extremity selection Next, Cognition, language, hearing, or vision: Changes the teaching method and need for assistance Next, Prior difficult access or anxiety: Calls for early planning, support, and timely escalation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Source: 30 Hour IV Certification Study Guide, revised March 2013, PDF pages 22-24.</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Informed participation and refusal. First, Explain the purpose, expected benefit, common risks, alternatives, and what the patient will experience within the nurse's role. Next, Allow questions and verify understanding using teach-back. Next, Respect a capable patient's refusal. Do not coerce or conceal information. Next, Protect the patient, notify the appropriate clinician, document the discussion and refusal, and follow policy for alternatives.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Source themes: 30 Hour IV Certification Study Guide, revised March 2013, PDF pages 24-27.</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protection during daily activity. First, Walking or transferring: Keep the pump, pole, tubing, and catheter supported and visible Next, Bathing or hygiene: Keep the dressing and connections dry according to policy Next, Sleeping or repositioning: Avoid pulling, kinking, compression, or lying on the catheter Next, New symptom: Report pain, burning, wetness, swelling, redness, coolness, itching, chills, or shortness of breath immediately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Source themes: 30 Hour IV Certification Study Guide, revised March 2013, PDF pages 24-28.</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Start with the patient's question. First, Ask what the patient believes the IV is for and what concerns them most. Next, Correct misunderstandings before giving more information. Next, Use short explanations, one idea at a time, and avoid unexplained abbreviations.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 plain-language IV explanation. First, Purpose: explain what the infusion is expected to do. Next, Process: describe site preparation, catheter placement, connection, and monitoring. Next, Sensation: describe expected pressure or brief discomfort without promising a painless procedure. Next, Safety: tell the patient which symptoms must be reported immediately.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Comfort and positioning before insertion. First, Assess pain and provide ordered comfort measures before beginning when possible. Next, Position the patient and limb so the selected site remains supported and visible. Next, Invite the patient to participate in site selection when clinically appropriate. Next, Explain that a soft plastic catheter remains after the introducer needle is removed.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Additional source: Peripheral Intravenous Initiation Self Learning Module, pages 17-18. The language has been adapted for current Florida practice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Symptoms the patient should report now. First, Burning, stinging, pain, or tightness: May signal infiltration, phlebitis, or extravasation Next, Wetness, leaking, or loose dressing: May indicate disconnection, leakage, or loss of securement Next, Swelling, redness, warmth, or coolness: May signal a local complication Next, Shortness of breath, itching, chills, or dizziness: May signal a systemic reaction requiring immediate assessment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Teach-back checks understanding. First, Do not ask only, “Do you understand?” Next, Ask: “Show me how you will protect this tubing when you move.” Next, Ask: “Which changes at the IV site will you report right away?” Next, If the answer is incomplete, reteach in a different way and check again.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Use teach-back for site protection and reportable symptoms Next, Adapt teaching for an older adult with hearing loss Next, Respond therapeutically to a patient who refuses insertion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Assess physical condition, prior experience, and anxiety Next, Explain the purpose, expected duration, likely sensations, activity limits, equipment, monitoring, and symptoms that require immediate reporting. Use qualified language assistance when needed. Next, Ask the patient to explain how they will protect the site and which symptoms they will report. Record topics taught, learning barriers, teaching method, demonstrated understanding, and follow-up needs.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f40e057a64436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f42563635a84cd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d12d4fbada24ac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ed587395777428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05cf81d82ae431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a76f9f148db47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C0A9FF-25BC-4E80-89BE-A8CEC03B6C4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9F25D8D-63E8-431C-A4D4-8F102FE426F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BDA70E5-A7CB-4A5B-993E-0F4EBCE572A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3B8D53-CAC9-40E0-89EB-0481EE3C44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75B6D92-E001-4BBA-8069-69F0B40163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9F52CB2-4F35-43D2-9E59-1E3C5B5F44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034AEE-0AEA-480E-917E-22B3FCDC144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03A966B-D308-418D-A0F4-6ECE414B898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737057-6157-4C95-A8C0-53EC0540D4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10456CA-1A14-4B45-AE4D-4F75B891BAB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a97408797745e1" /><Relationship Type="http://schemas.openxmlformats.org/officeDocument/2006/relationships/slideLayout" Target="/ppt/slideLayouts/slideLayout1.xml" Id="R9c0d288e0af74552" /><Relationship Type="http://schemas.openxmlformats.org/officeDocument/2006/relationships/slideLayout" Target="/ppt/slideLayouts/slideLayout2.xml" Id="R77ab6d0777b74f9d" /><Relationship Type="http://schemas.openxmlformats.org/officeDocument/2006/relationships/slideLayout" Target="/ppt/slideLayouts/slideLayout3.xml" Id="R2bb655995474406c" /><Relationship Type="http://schemas.openxmlformats.org/officeDocument/2006/relationships/slideLayout" Target="/ppt/slideLayouts/slideLayout4.xml" Id="R067070b72a7a402c" /><Relationship Type="http://schemas.openxmlformats.org/officeDocument/2006/relationships/slideLayout" Target="/ppt/slideLayouts/slideLayout5.xml" Id="Rce756c02765a4b71" /><Relationship Type="http://schemas.openxmlformats.org/officeDocument/2006/relationships/slideLayout" Target="/ppt/slideLayouts/slideLayout6.xml" Id="Rc1da48a5b25a41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0d288e0af74552"/>
    <p:sldLayoutId xmlns:r="http://schemas.openxmlformats.org/officeDocument/2006/relationships" id="2147483650" r:id="R77ab6d0777b74f9d"/>
    <p:sldLayoutId xmlns:r="http://schemas.openxmlformats.org/officeDocument/2006/relationships" id="2147483651" r:id="R2bb655995474406c"/>
    <p:sldLayoutId xmlns:r="http://schemas.openxmlformats.org/officeDocument/2006/relationships" id="2147483652" r:id="R067070b72a7a402c"/>
    <p:sldLayoutId xmlns:r="http://schemas.openxmlformats.org/officeDocument/2006/relationships" id="2147483653" r:id="Rce756c02765a4b71"/>
    <p:sldLayoutId xmlns:r="http://schemas.openxmlformats.org/officeDocument/2006/relationships" id="2147483654" r:id="Rc1da48a5b25a41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98baf5a57fa4926" /><Relationship Type="http://schemas.openxmlformats.org/officeDocument/2006/relationships/image" Target="/ppt/media/image.jpeg" Id="R4cf10bf1a6ed48f8" /><Relationship Type="http://schemas.openxmlformats.org/officeDocument/2006/relationships/notesSlide" Target="/ppt/notesSlides/notesSlide1.xml" Id="R3b405cd9f73e48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e0b294af4e0484a" /><Relationship Type="http://schemas.openxmlformats.org/officeDocument/2006/relationships/notesSlide" Target="/ppt/notesSlides/notesSlide2.xml" Id="Rca84df2da2a344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7624b95febe4892" /><Relationship Type="http://schemas.openxmlformats.org/officeDocument/2006/relationships/notesSlide" Target="/ppt/notesSlides/notesSlide3.xml" Id="Rdc03aa66011e4b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12d28f8bd6a40bc" /><Relationship Type="http://schemas.openxmlformats.org/officeDocument/2006/relationships/notesSlide" Target="/ppt/notesSlides/notesSlide4.xml" Id="Rfe8f7512c0ce420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cc2d04ae630414e" /><Relationship Type="http://schemas.openxmlformats.org/officeDocument/2006/relationships/notesSlide" Target="/ppt/notesSlides/notesSlide5.xml" Id="Re2eea129a0df48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1875feff2ac46ed" /><Relationship Type="http://schemas.openxmlformats.org/officeDocument/2006/relationships/notesSlide" Target="/ppt/notesSlides/notesSlide6.xml" Id="R7d889efb520e4d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3c187d76d4446ed" /><Relationship Type="http://schemas.openxmlformats.org/officeDocument/2006/relationships/notesSlide" Target="/ppt/notesSlides/notesSlide7.xml" Id="R5b7b4f893ed84dd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223a736a7ed4d2b" /><Relationship Type="http://schemas.openxmlformats.org/officeDocument/2006/relationships/notesSlide" Target="/ppt/notesSlides/notesSlide8.xml" Id="Radcecd8c31894bc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64907f667534d58" /><Relationship Type="http://schemas.openxmlformats.org/officeDocument/2006/relationships/notesSlide" Target="/ppt/notesSlides/notesSlide9.xml" Id="Rf5570b506804437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cd8ecddca734559" /><Relationship Type="http://schemas.openxmlformats.org/officeDocument/2006/relationships/notesSlide" Target="/ppt/notesSlides/notesSlide10.xml" Id="R275a9898b56a4e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885711adf664657" /><Relationship Type="http://schemas.openxmlformats.org/officeDocument/2006/relationships/notesSlide" Target="/ppt/notesSlides/notesSlide11.xml" Id="Rc4ddd1f0e2fa40f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b80764cf0d34057" /><Relationship Type="http://schemas.openxmlformats.org/officeDocument/2006/relationships/notesSlide" Target="/ppt/notesSlides/notesSlide12.xml" Id="R3f8f9553f1784c2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7775302525e4056" /><Relationship Type="http://schemas.openxmlformats.org/officeDocument/2006/relationships/notesSlide" Target="/ppt/notesSlides/notesSlide13.xml" Id="Rfca6d5418c71402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6a96e37e73348d6" /><Relationship Type="http://schemas.openxmlformats.org/officeDocument/2006/relationships/notesSlide" Target="/ppt/notesSlides/notesSlide14.xml" Id="R57408407cfa5486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857f8e468ac4998" /><Relationship Type="http://schemas.openxmlformats.org/officeDocument/2006/relationships/notesSlide" Target="/ppt/notesSlides/notesSlide15.xml" Id="Rab222f7c8667402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096b1662f7643e2" /><Relationship Type="http://schemas.openxmlformats.org/officeDocument/2006/relationships/notesSlide" Target="/ppt/notesSlides/notesSlide16.xml" Id="Ra15f8c5bc9cd4f57"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D387C91-FAC2-454A-9CF2-1C1A0D21C9E7}"/>
              </a:ext>
            </a:extLst>
          </p:cNvPr>
          <p:cNvPicPr>
            <a:picLocks xmlns:a="http://schemas.openxmlformats.org/drawingml/2006/main" noChangeAspect="1"/>
          </p:cNvPicPr>
          <p:nvPr/>
        </p:nvPicPr>
        <p:blipFill>
          <a:blip xmlns:r="http://schemas.openxmlformats.org/officeDocument/2006/relationships" xmlns:a="http://schemas.openxmlformats.org/drawingml/2006/main" r:embed="R4cf10bf1a6ed48f8"/>
          <a:srcRect xmlns:a="http://schemas.openxmlformats.org/drawingml/2006/main" l="2604" t="0" r="2604"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DAA4633-DF6F-4A5E-9C20-BE552B47E58E}"/>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4A51111-E445-4C44-8FD1-BD032376D3AD}"/>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8A056A18-A264-4A28-98C0-F9E443476CD9}"/>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595A6343-1C6E-4B47-A2C9-6197BBF83641}"/>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Patient Education and Support</a:t>
            </a:r>
          </a:p>
        </p:txBody>
      </p:sp>
      <p:sp>
        <p:nvSpPr>
          <p:cNvPr id="6" name="">
            <a:extLst xmlns:a="http://schemas.openxmlformats.org/drawingml/2006/main">
              <a:ext uri="{FF2B5EF4-FFF2-40B4-BE49-F238E27FC236}">
                <a16:creationId xmlns:a16="http://schemas.microsoft.com/office/drawing/2014/main" id="{9932A29A-EB08-4ABD-B2E8-C725E4F44A83}"/>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2  |  30-Hour Basic Intravenous Therapy</a:t>
            </a:r>
          </a:p>
        </p:txBody>
      </p:sp>
      <p:sp>
        <p:nvSpPr>
          <p:cNvPr id="7" name="">
            <a:extLst xmlns:a="http://schemas.openxmlformats.org/drawingml/2006/main">
              <a:ext uri="{FF2B5EF4-FFF2-40B4-BE49-F238E27FC236}">
                <a16:creationId xmlns:a16="http://schemas.microsoft.com/office/drawing/2014/main" id="{2F463F91-635F-42E9-B344-8B14E09138D8}"/>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522374479"/>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9EABF1E-20A3-4839-A781-D99AA640B70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48C79CA-6407-46C7-8996-D811E0446A6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AAD2ABF9-B076-42A9-9E1F-BDAE75BAEBD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FEE7F196-95B4-4EBD-872C-394AB7302A5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363B25A6-2841-4ACB-9CCE-860958E883CE}"/>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Assess physical condition, prior experience, and anxiety</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IV therapy in clear patient-centered language</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Document teaching and the patient's response</a:t>
            </a:r>
          </a:p>
        </p:txBody>
      </p:sp>
    </p:spTree>
    <p:extLst>
      <p:ext uri="{BB962C8B-B14F-4D97-AF65-F5344CB8AC3E}">
        <p14:creationId xmlns:p14="http://schemas.microsoft.com/office/powerpoint/2010/main" val="1217594847"/>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3C3407-4520-419D-9C0C-A7D1EF97F09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2132F34-7811-4E23-B3E5-5E4522B60BB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Assessment before teaching</a:t>
            </a:r>
          </a:p>
        </p:txBody>
      </p:sp>
      <p:sp>
        <p:nvSpPr>
          <p:cNvPr id="3" name="">
            <a:extLst xmlns:a="http://schemas.openxmlformats.org/drawingml/2006/main">
              <a:ext uri="{FF2B5EF4-FFF2-40B4-BE49-F238E27FC236}">
                <a16:creationId xmlns:a16="http://schemas.microsoft.com/office/drawing/2014/main" id="{E7ACEE21-D0A2-45C3-A34D-CC05550CCDA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C078886A-10AA-4B90-860A-38D968D74F6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D7582632-CA26-46F7-95CE-847556161F0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what the patient understands, what happened during previous IV therapy, and what worries them now.</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Consider cognition, language, culture, pain, vision, hearing, and readiness to learn.</a:t>
            </a:r>
          </a:p>
        </p:txBody>
      </p:sp>
      <p:sp>
        <p:nvSpPr>
          <p:cNvPr id="6" name="">
            <a:extLst xmlns:a="http://schemas.openxmlformats.org/drawingml/2006/main">
              <a:ext uri="{FF2B5EF4-FFF2-40B4-BE49-F238E27FC236}">
                <a16:creationId xmlns:a16="http://schemas.microsoft.com/office/drawing/2014/main" id="{BDD75926-E09B-42DF-9302-E0068EC8C8E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30207923"/>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D48D13-410C-43A9-BEBD-9B30B04EB4B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8E0E84F-D755-4ECD-ACB1-DDF9B9B2EEC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Information patients need</a:t>
            </a:r>
          </a:p>
        </p:txBody>
      </p:sp>
      <p:sp>
        <p:nvSpPr>
          <p:cNvPr id="3" name="">
            <a:extLst xmlns:a="http://schemas.openxmlformats.org/drawingml/2006/main">
              <a:ext uri="{FF2B5EF4-FFF2-40B4-BE49-F238E27FC236}">
                <a16:creationId xmlns:a16="http://schemas.microsoft.com/office/drawing/2014/main" id="{7056477D-A058-40E3-9147-1EAA29C7C68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C8335B65-1B72-4DC1-B73E-738962253EC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49ED9C1C-384D-42BD-93F0-FD0D9D2D2E4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Explain the purpose, expected duration, likely sensations, activity limits, equipment, monitoring, and symptoms that require immediate reporting.</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qualified language assistance when needed.</a:t>
            </a:r>
          </a:p>
        </p:txBody>
      </p:sp>
      <p:sp>
        <p:nvSpPr>
          <p:cNvPr id="6" name="">
            <a:extLst xmlns:a="http://schemas.openxmlformats.org/drawingml/2006/main">
              <a:ext uri="{FF2B5EF4-FFF2-40B4-BE49-F238E27FC236}">
                <a16:creationId xmlns:a16="http://schemas.microsoft.com/office/drawing/2014/main" id="{6CCC13E5-BF20-4BC3-BEDA-F2D53EB9391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63116477"/>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6DE3C99-E087-416E-AC68-B549CC8526C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4982D37-CFEE-4FA5-BB89-E13F7F7B822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Reducing anxiety</a:t>
            </a:r>
          </a:p>
        </p:txBody>
      </p:sp>
      <p:sp>
        <p:nvSpPr>
          <p:cNvPr id="3" name="">
            <a:extLst xmlns:a="http://schemas.openxmlformats.org/drawingml/2006/main">
              <a:ext uri="{FF2B5EF4-FFF2-40B4-BE49-F238E27FC236}">
                <a16:creationId xmlns:a16="http://schemas.microsoft.com/office/drawing/2014/main" id="{8145DA92-B9D4-4510-9203-FB765B8EF6D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840AE3D2-102B-4681-8503-BE22BB68247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E088E011-3D00-477F-972B-04938A9FDE8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Prepare supplies before approaching the patient.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a calm explanation, preserve privacy, position the patient comfortably, and invite questions.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minimize fear or promise a painless procedure.</a:t>
            </a:r>
          </a:p>
        </p:txBody>
      </p:sp>
      <p:sp>
        <p:nvSpPr>
          <p:cNvPr id="6" name="">
            <a:extLst xmlns:a="http://schemas.openxmlformats.org/drawingml/2006/main">
              <a:ext uri="{FF2B5EF4-FFF2-40B4-BE49-F238E27FC236}">
                <a16:creationId xmlns:a16="http://schemas.microsoft.com/office/drawing/2014/main" id="{C722ADE7-812B-4479-94A8-E176DD40688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59123462"/>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7237AB5-1B84-4DE8-B4C2-2536D29C1B7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7096795-65A4-4B7B-A26F-42D2F683E2F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Teach-back and documentation</a:t>
            </a:r>
          </a:p>
        </p:txBody>
      </p:sp>
      <p:sp>
        <p:nvSpPr>
          <p:cNvPr id="3" name="">
            <a:extLst xmlns:a="http://schemas.openxmlformats.org/drawingml/2006/main">
              <a:ext uri="{FF2B5EF4-FFF2-40B4-BE49-F238E27FC236}">
                <a16:creationId xmlns:a16="http://schemas.microsoft.com/office/drawing/2014/main" id="{16AE0EF3-9AB0-4BF8-86C1-DF95D887DFC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E850E4D8-115B-4110-8A6A-5A54F182C85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110E4B9A-A4B1-4DDE-9CA1-7C3CF8BD820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the patient to explain how they will protect the site and which symptoms they will report.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topics taught, learning barriers, teaching method, demonstrated understanding, and follow-up needs.</a:t>
            </a:r>
          </a:p>
        </p:txBody>
      </p:sp>
      <p:sp>
        <p:nvSpPr>
          <p:cNvPr id="6" name="">
            <a:extLst xmlns:a="http://schemas.openxmlformats.org/drawingml/2006/main">
              <a:ext uri="{FF2B5EF4-FFF2-40B4-BE49-F238E27FC236}">
                <a16:creationId xmlns:a16="http://schemas.microsoft.com/office/drawing/2014/main" id="{0FF2D62B-14E9-4D85-B9D5-361F4E7A16B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43420381"/>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EC997BD-463E-4396-8F2E-2F7E28468DA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FE8F7E5-7923-4C44-9E0F-81D1A7EDC1C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factors that change the plan</a:t>
            </a:r>
          </a:p>
        </p:txBody>
      </p:sp>
      <p:sp>
        <p:nvSpPr>
          <p:cNvPr id="3" name="">
            <a:extLst xmlns:a="http://schemas.openxmlformats.org/drawingml/2006/main">
              <a:ext uri="{FF2B5EF4-FFF2-40B4-BE49-F238E27FC236}">
                <a16:creationId xmlns:a16="http://schemas.microsoft.com/office/drawing/2014/main" id="{BF6128ED-D89B-4CEF-9E91-FEACF669009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30FB804C-2DAE-48B5-A3E7-FD717032211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C460773B-C662-40ED-BB75-AA06AD72C945}"/>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2C678542-5216-49BE-850C-9ECBA6A8C0C4}"/>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Factor</a:t>
            </a:r>
          </a:p>
        </p:txBody>
      </p:sp>
      <p:sp>
        <p:nvSpPr>
          <p:cNvPr id="7" name="">
            <a:extLst xmlns:a="http://schemas.openxmlformats.org/drawingml/2006/main">
              <a:ext uri="{FF2B5EF4-FFF2-40B4-BE49-F238E27FC236}">
                <a16:creationId xmlns:a16="http://schemas.microsoft.com/office/drawing/2014/main" id="{91D1C8F8-04E2-446E-A731-5CE84E297CAA}"/>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C1649E65-2F46-48DF-8166-AC2EAB502C4C}"/>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How it affects IV care</a:t>
            </a:r>
          </a:p>
        </p:txBody>
      </p:sp>
      <p:sp>
        <p:nvSpPr>
          <p:cNvPr id="9" name="">
            <a:extLst xmlns:a="http://schemas.openxmlformats.org/drawingml/2006/main">
              <a:ext uri="{FF2B5EF4-FFF2-40B4-BE49-F238E27FC236}">
                <a16:creationId xmlns:a16="http://schemas.microsoft.com/office/drawing/2014/main" id="{3BB6AEFC-0E7F-418C-8BA0-F6E867438EDB}"/>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6D0303A8-3988-42D6-A8E1-BDBF060659C7}"/>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Age and skin condition</a:t>
            </a:r>
          </a:p>
        </p:txBody>
      </p:sp>
      <p:sp>
        <p:nvSpPr>
          <p:cNvPr id="11" name="">
            <a:extLst xmlns:a="http://schemas.openxmlformats.org/drawingml/2006/main">
              <a:ext uri="{FF2B5EF4-FFF2-40B4-BE49-F238E27FC236}">
                <a16:creationId xmlns:a16="http://schemas.microsoft.com/office/drawing/2014/main" id="{6B4BED96-54FB-41BF-A858-738E671F7427}"/>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8EA97C10-9FD8-4A0D-83DE-FBF04A9C4AB6}"/>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Changes vein visibility, fragility, securement, and teaching needs</a:t>
            </a:r>
          </a:p>
        </p:txBody>
      </p:sp>
      <p:sp>
        <p:nvSpPr>
          <p:cNvPr id="13" name="">
            <a:extLst xmlns:a="http://schemas.openxmlformats.org/drawingml/2006/main">
              <a:ext uri="{FF2B5EF4-FFF2-40B4-BE49-F238E27FC236}">
                <a16:creationId xmlns:a16="http://schemas.microsoft.com/office/drawing/2014/main" id="{38AE8589-9E68-4D96-954E-2D06F2A47E43}"/>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0D37610-5A90-4746-B16B-CF9721C831DA}"/>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Mobility and dominant side</a:t>
            </a:r>
          </a:p>
        </p:txBody>
      </p:sp>
      <p:sp>
        <p:nvSpPr>
          <p:cNvPr id="15" name="">
            <a:extLst xmlns:a="http://schemas.openxmlformats.org/drawingml/2006/main">
              <a:ext uri="{FF2B5EF4-FFF2-40B4-BE49-F238E27FC236}">
                <a16:creationId xmlns:a16="http://schemas.microsoft.com/office/drawing/2014/main" id="{6D41EADB-6335-4A05-AF05-7E370F2122A0}"/>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18608ED5-17A1-46CA-A0C7-199D1B82C968}"/>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Affects site protection, comfort, and dislodgement risk</a:t>
            </a:r>
          </a:p>
        </p:txBody>
      </p:sp>
      <p:sp>
        <p:nvSpPr>
          <p:cNvPr id="17" name="">
            <a:extLst xmlns:a="http://schemas.openxmlformats.org/drawingml/2006/main">
              <a:ext uri="{FF2B5EF4-FFF2-40B4-BE49-F238E27FC236}">
                <a16:creationId xmlns:a16="http://schemas.microsoft.com/office/drawing/2014/main" id="{6C87128C-6E77-4B8E-A0A2-F7D146FBBF98}"/>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4C91650E-9CFF-4231-BC3B-85F17137BB93}"/>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Past surgery, vascular access, or lymphatic compromise</a:t>
            </a:r>
          </a:p>
        </p:txBody>
      </p:sp>
      <p:sp>
        <p:nvSpPr>
          <p:cNvPr id="19" name="">
            <a:extLst xmlns:a="http://schemas.openxmlformats.org/drawingml/2006/main">
              <a:ext uri="{FF2B5EF4-FFF2-40B4-BE49-F238E27FC236}">
                <a16:creationId xmlns:a16="http://schemas.microsoft.com/office/drawing/2014/main" id="{3575E7A6-31EA-4074-AC12-B40D7ABDAB83}"/>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2535B888-A26B-498A-8DD0-BBC7DCC0BA4A}"/>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restrict extremity selection</a:t>
            </a:r>
          </a:p>
        </p:txBody>
      </p:sp>
      <p:sp>
        <p:nvSpPr>
          <p:cNvPr id="21" name="">
            <a:extLst xmlns:a="http://schemas.openxmlformats.org/drawingml/2006/main">
              <a:ext uri="{FF2B5EF4-FFF2-40B4-BE49-F238E27FC236}">
                <a16:creationId xmlns:a16="http://schemas.microsoft.com/office/drawing/2014/main" id="{93D369C5-CD6F-48CA-B45A-0B9CCB8B2D0A}"/>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FD7E0E6-A5CF-4ECD-8834-84ECD77B4985}"/>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Cognition, language, hearing, or vision</a:t>
            </a:r>
          </a:p>
        </p:txBody>
      </p:sp>
      <p:sp>
        <p:nvSpPr>
          <p:cNvPr id="23" name="">
            <a:extLst xmlns:a="http://schemas.openxmlformats.org/drawingml/2006/main">
              <a:ext uri="{FF2B5EF4-FFF2-40B4-BE49-F238E27FC236}">
                <a16:creationId xmlns:a16="http://schemas.microsoft.com/office/drawing/2014/main" id="{2FB7FDA8-BAF4-4A73-880A-95C2AE89AB41}"/>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5E496508-D316-4BAD-8AE2-16FB9BE82DF5}"/>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Changes the teaching method and need for assistance</a:t>
            </a:r>
          </a:p>
        </p:txBody>
      </p:sp>
      <p:sp>
        <p:nvSpPr>
          <p:cNvPr id="25" name="">
            <a:extLst xmlns:a="http://schemas.openxmlformats.org/drawingml/2006/main">
              <a:ext uri="{FF2B5EF4-FFF2-40B4-BE49-F238E27FC236}">
                <a16:creationId xmlns:a16="http://schemas.microsoft.com/office/drawing/2014/main" id="{F683848F-F87C-41BE-8E7D-342187B4FFDF}"/>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6DA82FB6-C9F5-4A56-8F0B-827E08B9C31D}"/>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Prior difficult access or anxiety</a:t>
            </a:r>
          </a:p>
        </p:txBody>
      </p:sp>
      <p:sp>
        <p:nvSpPr>
          <p:cNvPr id="27" name="">
            <a:extLst xmlns:a="http://schemas.openxmlformats.org/drawingml/2006/main">
              <a:ext uri="{FF2B5EF4-FFF2-40B4-BE49-F238E27FC236}">
                <a16:creationId xmlns:a16="http://schemas.microsoft.com/office/drawing/2014/main" id="{98FAE7B7-3628-4264-A5F7-3F275DC85D24}"/>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A6FAB0EB-CE00-4488-A139-C435BEA1646B}"/>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Calls for early planning, support, and timely escalation</a:t>
            </a:r>
          </a:p>
        </p:txBody>
      </p:sp>
    </p:spTree>
    <p:extLst>
      <p:ext uri="{BB962C8B-B14F-4D97-AF65-F5344CB8AC3E}">
        <p14:creationId xmlns:p14="http://schemas.microsoft.com/office/powerpoint/2010/main" val="886905984"/>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DF3FB7-523D-44DB-9EE5-0B77F6E8D12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85FA9EC-B1E1-47B0-8433-A3546381991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Informed participation and refusal</a:t>
            </a:r>
          </a:p>
        </p:txBody>
      </p:sp>
      <p:sp>
        <p:nvSpPr>
          <p:cNvPr id="3" name="">
            <a:extLst xmlns:a="http://schemas.openxmlformats.org/drawingml/2006/main">
              <a:ext uri="{FF2B5EF4-FFF2-40B4-BE49-F238E27FC236}">
                <a16:creationId xmlns:a16="http://schemas.microsoft.com/office/drawing/2014/main" id="{F00503C8-FC8A-424C-AB1E-6D8226FEEB3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72ADFF20-2AC7-4B00-A786-1D9030A42E1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601ED964-2F46-45EA-93EE-2EB35E34706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Explain the purpose, expected benefit, common risks, alternatives, and what the patient will experience within the nurse's role.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Allow questions and verify understanding using teach-back.</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Respect a capable patient's refusal. Do not coerce or conceal information.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Protect the patient, notify the appropriate clinician, document the discussion and refusal, and follow policy for alternatives.</a:t>
            </a:r>
          </a:p>
        </p:txBody>
      </p:sp>
      <p:sp>
        <p:nvSpPr>
          <p:cNvPr id="6" name="">
            <a:extLst xmlns:a="http://schemas.openxmlformats.org/drawingml/2006/main">
              <a:ext uri="{FF2B5EF4-FFF2-40B4-BE49-F238E27FC236}">
                <a16:creationId xmlns:a16="http://schemas.microsoft.com/office/drawing/2014/main" id="{49EED34B-E930-4616-96F8-4AF9755D0D0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15188890"/>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3B6B2B2-A45F-4DA2-93B5-BD5739BEC6F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24659AD-F0A7-412F-9F18-8F1E35CFC57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protection during daily activity</a:t>
            </a:r>
          </a:p>
        </p:txBody>
      </p:sp>
      <p:sp>
        <p:nvSpPr>
          <p:cNvPr id="3" name="">
            <a:extLst xmlns:a="http://schemas.openxmlformats.org/drawingml/2006/main">
              <a:ext uri="{FF2B5EF4-FFF2-40B4-BE49-F238E27FC236}">
                <a16:creationId xmlns:a16="http://schemas.microsoft.com/office/drawing/2014/main" id="{292A55C3-07EA-4FF4-A08F-A8767542D22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39932B8B-5548-448C-96CE-99AF9FE076E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6789B62D-3ADE-4ED5-957F-E0ECB138226B}"/>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2ED9311C-1B57-4608-B52C-7303E3E362B7}"/>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Activity</a:t>
            </a:r>
          </a:p>
        </p:txBody>
      </p:sp>
      <p:sp>
        <p:nvSpPr>
          <p:cNvPr id="7" name="">
            <a:extLst xmlns:a="http://schemas.openxmlformats.org/drawingml/2006/main">
              <a:ext uri="{FF2B5EF4-FFF2-40B4-BE49-F238E27FC236}">
                <a16:creationId xmlns:a16="http://schemas.microsoft.com/office/drawing/2014/main" id="{7197DBCC-58D5-4641-8B52-3EA53AC1D4C5}"/>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E023DD9-A090-4D16-A8C9-71A1C4A21828}"/>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Teaching point</a:t>
            </a:r>
          </a:p>
        </p:txBody>
      </p:sp>
      <p:sp>
        <p:nvSpPr>
          <p:cNvPr id="9" name="">
            <a:extLst xmlns:a="http://schemas.openxmlformats.org/drawingml/2006/main">
              <a:ext uri="{FF2B5EF4-FFF2-40B4-BE49-F238E27FC236}">
                <a16:creationId xmlns:a16="http://schemas.microsoft.com/office/drawing/2014/main" id="{BD009D2C-789D-4EC3-A5B7-A658ED2DD2CA}"/>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65D03361-C763-4C77-B77F-100158AC350E}"/>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Walking or transferring</a:t>
            </a:r>
          </a:p>
        </p:txBody>
      </p:sp>
      <p:sp>
        <p:nvSpPr>
          <p:cNvPr id="11" name="">
            <a:extLst xmlns:a="http://schemas.openxmlformats.org/drawingml/2006/main">
              <a:ext uri="{FF2B5EF4-FFF2-40B4-BE49-F238E27FC236}">
                <a16:creationId xmlns:a16="http://schemas.microsoft.com/office/drawing/2014/main" id="{E6E25475-11CB-4241-9B13-31578DE9E070}"/>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9C8BC680-FE9A-4128-BD04-6CE9E5678B2E}"/>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Keep the pump, pole, tubing, and catheter supported and visible</a:t>
            </a:r>
          </a:p>
        </p:txBody>
      </p:sp>
      <p:sp>
        <p:nvSpPr>
          <p:cNvPr id="13" name="">
            <a:extLst xmlns:a="http://schemas.openxmlformats.org/drawingml/2006/main">
              <a:ext uri="{FF2B5EF4-FFF2-40B4-BE49-F238E27FC236}">
                <a16:creationId xmlns:a16="http://schemas.microsoft.com/office/drawing/2014/main" id="{79C9205F-E88C-45C2-B9BD-F6F3B0B4004F}"/>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2E7AEC2E-0BBE-448F-825A-268EF667A849}"/>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Bathing or hygiene</a:t>
            </a:r>
          </a:p>
        </p:txBody>
      </p:sp>
      <p:sp>
        <p:nvSpPr>
          <p:cNvPr id="15" name="">
            <a:extLst xmlns:a="http://schemas.openxmlformats.org/drawingml/2006/main">
              <a:ext uri="{FF2B5EF4-FFF2-40B4-BE49-F238E27FC236}">
                <a16:creationId xmlns:a16="http://schemas.microsoft.com/office/drawing/2014/main" id="{1C13AD7C-08E0-4D03-8794-EE965017F60B}"/>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99E8D4AB-854A-452D-9BCC-EDEA16E62EB5}"/>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Keep the dressing and connections dry according to policy</a:t>
            </a:r>
          </a:p>
        </p:txBody>
      </p:sp>
      <p:sp>
        <p:nvSpPr>
          <p:cNvPr id="17" name="">
            <a:extLst xmlns:a="http://schemas.openxmlformats.org/drawingml/2006/main">
              <a:ext uri="{FF2B5EF4-FFF2-40B4-BE49-F238E27FC236}">
                <a16:creationId xmlns:a16="http://schemas.microsoft.com/office/drawing/2014/main" id="{F40445B7-62F3-4C15-AC9F-991E7C39F382}"/>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451BA28F-E8D9-4386-88A8-696DB7364667}"/>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Sleeping or repositioning</a:t>
            </a:r>
          </a:p>
        </p:txBody>
      </p:sp>
      <p:sp>
        <p:nvSpPr>
          <p:cNvPr id="19" name="">
            <a:extLst xmlns:a="http://schemas.openxmlformats.org/drawingml/2006/main">
              <a:ext uri="{FF2B5EF4-FFF2-40B4-BE49-F238E27FC236}">
                <a16:creationId xmlns:a16="http://schemas.microsoft.com/office/drawing/2014/main" id="{118C3E7C-A415-4177-B1DC-3B6600F0EE99}"/>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CA50102A-6F11-4160-B7ED-14669ADEF8B5}"/>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Avoid pulling, kinking, compression, or lying on the catheter</a:t>
            </a:r>
          </a:p>
        </p:txBody>
      </p:sp>
      <p:sp>
        <p:nvSpPr>
          <p:cNvPr id="21" name="">
            <a:extLst xmlns:a="http://schemas.openxmlformats.org/drawingml/2006/main">
              <a:ext uri="{FF2B5EF4-FFF2-40B4-BE49-F238E27FC236}">
                <a16:creationId xmlns:a16="http://schemas.microsoft.com/office/drawing/2014/main" id="{D357918C-3BF4-48A8-BD10-ED290A252D66}"/>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9C163203-D050-4BE2-A55F-F58375A4825F}"/>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New symptom</a:t>
            </a:r>
          </a:p>
        </p:txBody>
      </p:sp>
      <p:sp>
        <p:nvSpPr>
          <p:cNvPr id="23" name="">
            <a:extLst xmlns:a="http://schemas.openxmlformats.org/drawingml/2006/main">
              <a:ext uri="{FF2B5EF4-FFF2-40B4-BE49-F238E27FC236}">
                <a16:creationId xmlns:a16="http://schemas.microsoft.com/office/drawing/2014/main" id="{1534A3E4-3D67-4EE3-8A3B-AF9FAF09D280}"/>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5291A22F-100A-4F89-B09B-5A55D56D3E80}"/>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Report pain, burning, wetness, swelling, redness, coolness, itching, chills, or shortness of breath immediately</a:t>
            </a:r>
          </a:p>
        </p:txBody>
      </p:sp>
    </p:spTree>
    <p:extLst>
      <p:ext uri="{BB962C8B-B14F-4D97-AF65-F5344CB8AC3E}">
        <p14:creationId xmlns:p14="http://schemas.microsoft.com/office/powerpoint/2010/main" val="2118431651"/>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3CE968-172D-49B5-A0DE-0F8DAB53C48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F530EE1-1B0B-497C-94DD-5BFB15258EA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Start with the patient's question</a:t>
            </a:r>
          </a:p>
        </p:txBody>
      </p:sp>
      <p:sp>
        <p:nvSpPr>
          <p:cNvPr id="3" name="">
            <a:extLst xmlns:a="http://schemas.openxmlformats.org/drawingml/2006/main">
              <a:ext uri="{FF2B5EF4-FFF2-40B4-BE49-F238E27FC236}">
                <a16:creationId xmlns:a16="http://schemas.microsoft.com/office/drawing/2014/main" id="{63F2A2C1-0BAA-4F57-B52D-EE591CB7B04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84C1938B-A84D-40C8-875B-419312DE84A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E1691D27-5431-46AB-8B60-4CB38F46EAD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what the patient believes the IV is for and what concerns them most.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Correct misunderstandings before giving more information.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short explanations, one idea at a time, and avoid unexplained abbreviations.</a:t>
            </a:r>
          </a:p>
        </p:txBody>
      </p:sp>
      <p:sp>
        <p:nvSpPr>
          <p:cNvPr id="6" name="">
            <a:extLst xmlns:a="http://schemas.openxmlformats.org/drawingml/2006/main">
              <a:ext uri="{FF2B5EF4-FFF2-40B4-BE49-F238E27FC236}">
                <a16:creationId xmlns:a16="http://schemas.microsoft.com/office/drawing/2014/main" id="{8A405B1C-11E7-4927-A0FB-0F7FD754745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76778169"/>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29FC76-4390-45C8-A4F7-A6153AFFB42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D11DD93-6016-4F14-99BD-DD1F72E11DF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 plain-language IV explanation</a:t>
            </a:r>
          </a:p>
        </p:txBody>
      </p:sp>
      <p:sp>
        <p:nvSpPr>
          <p:cNvPr id="3" name="">
            <a:extLst xmlns:a="http://schemas.openxmlformats.org/drawingml/2006/main">
              <a:ext uri="{FF2B5EF4-FFF2-40B4-BE49-F238E27FC236}">
                <a16:creationId xmlns:a16="http://schemas.microsoft.com/office/drawing/2014/main" id="{8EAAF526-8E1A-4061-8C6F-ED53A646943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E658A204-43BF-4885-A49C-1B2147F4C76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68F7CE07-EF5D-4249-A612-2A0E9B040BF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Purpose: explain what the infusion is expected to do.</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Process: describe site preparation, catheter placement, connection, and monitoring.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Sensation: describe expected pressure or brief discomfort without promising a painless procedure.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Safety: tell the patient which symptoms must be reported immediately.</a:t>
            </a:r>
          </a:p>
        </p:txBody>
      </p:sp>
      <p:sp>
        <p:nvSpPr>
          <p:cNvPr id="6" name="">
            <a:extLst xmlns:a="http://schemas.openxmlformats.org/drawingml/2006/main">
              <a:ext uri="{FF2B5EF4-FFF2-40B4-BE49-F238E27FC236}">
                <a16:creationId xmlns:a16="http://schemas.microsoft.com/office/drawing/2014/main" id="{DCF9EAA1-2712-473A-AA1D-F92C0F1DB31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46668154"/>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CA90802-0D98-4A09-9832-F8141088772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24D3B67-8FBA-47C5-9DED-D1665FABA4F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Comfort and positioning before insertion</a:t>
            </a:r>
          </a:p>
        </p:txBody>
      </p:sp>
      <p:sp>
        <p:nvSpPr>
          <p:cNvPr id="3" name="">
            <a:extLst xmlns:a="http://schemas.openxmlformats.org/drawingml/2006/main">
              <a:ext uri="{FF2B5EF4-FFF2-40B4-BE49-F238E27FC236}">
                <a16:creationId xmlns:a16="http://schemas.microsoft.com/office/drawing/2014/main" id="{39765646-887E-4A8F-838F-5DD9719AFF3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EFFC2633-9118-477E-AA23-A76251F7D3C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E64A5BBD-6CD3-4A6B-A3F7-5D6FE984ACC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pain and provide ordered comfort measures before beginning when possible.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Position the patient and limb so the selected site remains supported and visible.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Invite the patient to participate in site selection when clinically appropriate.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Explain that a soft plastic catheter remains after the introducer needle is removed.</a:t>
            </a:r>
          </a:p>
        </p:txBody>
      </p:sp>
      <p:sp>
        <p:nvSpPr>
          <p:cNvPr id="6" name="">
            <a:extLst xmlns:a="http://schemas.openxmlformats.org/drawingml/2006/main">
              <a:ext uri="{FF2B5EF4-FFF2-40B4-BE49-F238E27FC236}">
                <a16:creationId xmlns:a16="http://schemas.microsoft.com/office/drawing/2014/main" id="{3E14145E-D3BD-4A38-9E3A-433C4900F74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10795938"/>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0F1837F-D770-46B7-B9F9-284E42D4788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43E8D6F-D763-4FE8-B5FA-879F90986B5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Symptoms the patient should report now</a:t>
            </a:r>
          </a:p>
        </p:txBody>
      </p:sp>
      <p:sp>
        <p:nvSpPr>
          <p:cNvPr id="3" name="">
            <a:extLst xmlns:a="http://schemas.openxmlformats.org/drawingml/2006/main">
              <a:ext uri="{FF2B5EF4-FFF2-40B4-BE49-F238E27FC236}">
                <a16:creationId xmlns:a16="http://schemas.microsoft.com/office/drawing/2014/main" id="{4412B4D0-59B0-40A6-96B0-42FFD9A5559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788754CD-962F-46AF-AC5A-4A790E6C1EC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EC95AD33-0120-4291-964C-D3C468D16049}"/>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85FCC9E2-AC5B-4BA8-BBB3-7A85D03A8D32}"/>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Patient report</a:t>
            </a:r>
          </a:p>
        </p:txBody>
      </p:sp>
      <p:sp>
        <p:nvSpPr>
          <p:cNvPr id="7" name="">
            <a:extLst xmlns:a="http://schemas.openxmlformats.org/drawingml/2006/main">
              <a:ext uri="{FF2B5EF4-FFF2-40B4-BE49-F238E27FC236}">
                <a16:creationId xmlns:a16="http://schemas.microsoft.com/office/drawing/2014/main" id="{982849C0-2991-4B0C-B43D-53A6797F5352}"/>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24381B0-E725-4479-B5B6-EAFFE2483777}"/>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Why it matters</a:t>
            </a:r>
          </a:p>
        </p:txBody>
      </p:sp>
      <p:sp>
        <p:nvSpPr>
          <p:cNvPr id="9" name="">
            <a:extLst xmlns:a="http://schemas.openxmlformats.org/drawingml/2006/main">
              <a:ext uri="{FF2B5EF4-FFF2-40B4-BE49-F238E27FC236}">
                <a16:creationId xmlns:a16="http://schemas.microsoft.com/office/drawing/2014/main" id="{BE0ECA97-CF1F-4AB5-A5CC-4EFE7CE30E83}"/>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CF5DCECB-4978-4B9C-AE45-965B7416A92A}"/>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Burning, stinging, pain, or tightness</a:t>
            </a:r>
          </a:p>
        </p:txBody>
      </p:sp>
      <p:sp>
        <p:nvSpPr>
          <p:cNvPr id="11" name="">
            <a:extLst xmlns:a="http://schemas.openxmlformats.org/drawingml/2006/main">
              <a:ext uri="{FF2B5EF4-FFF2-40B4-BE49-F238E27FC236}">
                <a16:creationId xmlns:a16="http://schemas.microsoft.com/office/drawing/2014/main" id="{5762D4B1-B80C-4EAA-B62E-4BC02D703D45}"/>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E3475E03-DA67-4275-A5BA-CE2A06D1930C}"/>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signal infiltration, phlebitis, or extravasation</a:t>
            </a:r>
          </a:p>
        </p:txBody>
      </p:sp>
      <p:sp>
        <p:nvSpPr>
          <p:cNvPr id="13" name="">
            <a:extLst xmlns:a="http://schemas.openxmlformats.org/drawingml/2006/main">
              <a:ext uri="{FF2B5EF4-FFF2-40B4-BE49-F238E27FC236}">
                <a16:creationId xmlns:a16="http://schemas.microsoft.com/office/drawing/2014/main" id="{BA3CFD10-D492-4EC9-81F9-2348071B4321}"/>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BC8B810D-71B7-453E-85C3-EB3E84A812D5}"/>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Wetness, leaking, or loose dressing</a:t>
            </a:r>
          </a:p>
        </p:txBody>
      </p:sp>
      <p:sp>
        <p:nvSpPr>
          <p:cNvPr id="15" name="">
            <a:extLst xmlns:a="http://schemas.openxmlformats.org/drawingml/2006/main">
              <a:ext uri="{FF2B5EF4-FFF2-40B4-BE49-F238E27FC236}">
                <a16:creationId xmlns:a16="http://schemas.microsoft.com/office/drawing/2014/main" id="{36670D55-D49D-441A-8D61-53519B30650D}"/>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A904CCA-1D54-4F3A-A14E-12FF82E0A07F}"/>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indicate disconnection, leakage, or loss of securement</a:t>
            </a:r>
          </a:p>
        </p:txBody>
      </p:sp>
      <p:sp>
        <p:nvSpPr>
          <p:cNvPr id="17" name="">
            <a:extLst xmlns:a="http://schemas.openxmlformats.org/drawingml/2006/main">
              <a:ext uri="{FF2B5EF4-FFF2-40B4-BE49-F238E27FC236}">
                <a16:creationId xmlns:a16="http://schemas.microsoft.com/office/drawing/2014/main" id="{54B93CB5-C17E-44CF-9C5D-865178250B2B}"/>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546B452C-9997-437D-9208-2B7A75AB5DDB}"/>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Swelling, redness, warmth, or coolness</a:t>
            </a:r>
          </a:p>
        </p:txBody>
      </p:sp>
      <p:sp>
        <p:nvSpPr>
          <p:cNvPr id="19" name="">
            <a:extLst xmlns:a="http://schemas.openxmlformats.org/drawingml/2006/main">
              <a:ext uri="{FF2B5EF4-FFF2-40B4-BE49-F238E27FC236}">
                <a16:creationId xmlns:a16="http://schemas.microsoft.com/office/drawing/2014/main" id="{826AF583-1CE5-4202-A458-3BC0AB9D3AD6}"/>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6A21679A-0D16-4D08-9FB4-F220C1CAFC1F}"/>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signal a local complication</a:t>
            </a:r>
          </a:p>
        </p:txBody>
      </p:sp>
      <p:sp>
        <p:nvSpPr>
          <p:cNvPr id="21" name="">
            <a:extLst xmlns:a="http://schemas.openxmlformats.org/drawingml/2006/main">
              <a:ext uri="{FF2B5EF4-FFF2-40B4-BE49-F238E27FC236}">
                <a16:creationId xmlns:a16="http://schemas.microsoft.com/office/drawing/2014/main" id="{375C7698-F9FE-43BC-9256-C1C673EF13F6}"/>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A67B5905-7BD4-427D-8706-3837AC7E8321}"/>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Shortness of breath, itching, chills, or dizziness</a:t>
            </a:r>
          </a:p>
        </p:txBody>
      </p:sp>
      <p:sp>
        <p:nvSpPr>
          <p:cNvPr id="23" name="">
            <a:extLst xmlns:a="http://schemas.openxmlformats.org/drawingml/2006/main">
              <a:ext uri="{FF2B5EF4-FFF2-40B4-BE49-F238E27FC236}">
                <a16:creationId xmlns:a16="http://schemas.microsoft.com/office/drawing/2014/main" id="{139B1959-5A45-4302-B591-2F8A13BD14E8}"/>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21FA409-FBC6-41A2-859D-66D3EA500ECE}"/>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signal a systemic reaction requiring immediate assessment</a:t>
            </a:r>
          </a:p>
        </p:txBody>
      </p:sp>
    </p:spTree>
    <p:extLst>
      <p:ext uri="{BB962C8B-B14F-4D97-AF65-F5344CB8AC3E}">
        <p14:creationId xmlns:p14="http://schemas.microsoft.com/office/powerpoint/2010/main" val="1283849039"/>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CF5BFC-7E43-4721-B836-212B269761E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3D059F3-6D1D-4CD3-8CF7-15BCE39AED8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Teach-back checks understanding</a:t>
            </a:r>
          </a:p>
        </p:txBody>
      </p:sp>
      <p:sp>
        <p:nvSpPr>
          <p:cNvPr id="3" name="">
            <a:extLst xmlns:a="http://schemas.openxmlformats.org/drawingml/2006/main">
              <a:ext uri="{FF2B5EF4-FFF2-40B4-BE49-F238E27FC236}">
                <a16:creationId xmlns:a16="http://schemas.microsoft.com/office/drawing/2014/main" id="{FC50ADAD-74C8-4DAE-8084-404474FBAD0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7A5B1492-FB72-47BA-8F5E-86C5D126CD0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08770B51-FE31-446C-B09C-69AA6AE8AB3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ask only, “Do you understand?”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Ask: “Show me how you will protect this tubing when you move.”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Ask: “Which changes at the IV site will you report right away?”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answer is incomplete, reteach in a different way and check again.</a:t>
            </a:r>
          </a:p>
        </p:txBody>
      </p:sp>
      <p:sp>
        <p:nvSpPr>
          <p:cNvPr id="6" name="">
            <a:extLst xmlns:a="http://schemas.openxmlformats.org/drawingml/2006/main">
              <a:ext uri="{FF2B5EF4-FFF2-40B4-BE49-F238E27FC236}">
                <a16:creationId xmlns:a16="http://schemas.microsoft.com/office/drawing/2014/main" id="{E828C052-9FDF-40D7-9B7B-14E749D8465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57519297"/>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AC2F5D-D1B5-4BC8-ADBC-97B8D6B1EE4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FE6F1C4-59A3-46B3-9FF2-CA4E05373AC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863B742F-6223-4BB1-B9F2-E457D41FE66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E5B77DFE-CE8D-4143-A533-02C5044DBFA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4F518E25-A854-49DC-A737-4E9904108DBD}"/>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Use teach-back for site protection and reportable symptoms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Adapt teaching for an older adult with hearing loss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therapeutically to a patient who refuses insertion</a:t>
            </a:r>
          </a:p>
        </p:txBody>
      </p:sp>
      <p:sp>
        <p:nvSpPr>
          <p:cNvPr id="6" name="">
            <a:extLst xmlns:a="http://schemas.openxmlformats.org/drawingml/2006/main">
              <a:ext uri="{FF2B5EF4-FFF2-40B4-BE49-F238E27FC236}">
                <a16:creationId xmlns:a16="http://schemas.microsoft.com/office/drawing/2014/main" id="{1A200254-BBCB-4479-9EEC-DF4BFF6ECCDE}"/>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721111730"/>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8AC1339-2F7B-4A09-8BB1-386838B30E5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A4CFCB8-81DA-4E13-95C7-BC048026B9B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C32B0F2D-9D7E-4252-825B-3E64C98EA4C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6FDF110D-A909-4ABF-8CFD-7DEF453CAEE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ABD843BC-5F50-47CA-B279-7D6853B3EBD5}"/>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Assess physical condition, prior experience, and anxiety</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the purpose, expected duration, likely sensations, activity limits, equipment, monitoring, and symptoms that require immediate reporting. Use qualified language assistance when needed.</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Ask the patient to explain how they will protect the site and which symptoms they will report. Record topics taught, learning barriers, teaching method, demonstrated understanding, and follow-up needs.</a:t>
            </a:r>
          </a:p>
        </p:txBody>
      </p:sp>
      <p:sp>
        <p:nvSpPr>
          <p:cNvPr id="6" name="">
            <a:extLst xmlns:a="http://schemas.openxmlformats.org/drawingml/2006/main">
              <a:ext uri="{FF2B5EF4-FFF2-40B4-BE49-F238E27FC236}">
                <a16:creationId xmlns:a16="http://schemas.microsoft.com/office/drawing/2014/main" id="{51D59532-C86F-4508-90B2-568EC4BAA176}"/>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6281594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2026-10-23T09:51:01.3310000Z</dcterms:created>
  <dcterms:modified xsi:type="dcterms:W3CDTF">2026-10-23T09:51:01.3310000Z</dcterms:modified>
</coreProperties>
</file>