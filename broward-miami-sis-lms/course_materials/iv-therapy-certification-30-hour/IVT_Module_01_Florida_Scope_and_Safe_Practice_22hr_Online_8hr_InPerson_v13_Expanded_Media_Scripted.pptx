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ea730f9a79411d" /><Relationship Type="http://schemas.openxmlformats.org/officeDocument/2006/relationships/extended-properties" Target="/docProps/app.xml" Id="Ra4fded0ee25e41b4" /><Relationship Type="http://schemas.openxmlformats.org/officeDocument/2006/relationships/officeDocument" Target="/ppt/presentation.xml" Id="Rc7512a498576474b" /></Relationships>
</file>

<file path=ppt/presentation.xml><?xml version="1.0" encoding="utf-8"?>
<p:presentation xmlns:p="http://schemas.openxmlformats.org/presentationml/2006/main">
  <p:sldMasterIdLst>
    <p:sldMasterId xmlns:r="http://schemas.openxmlformats.org/officeDocument/2006/relationships" id="2147483648" r:id="Rdab2defff6e64f04"/>
  </p:sldMasterIdLst>
  <p:notesMasterIdLst>
    <p:notesMasterId xmlns:r="http://schemas.openxmlformats.org/officeDocument/2006/relationships" r:id="R74776968e4fa456a"/>
  </p:notesMasterIdLst>
  <p:sldIdLst>
    <p:sldId xmlns:r="http://schemas.openxmlformats.org/officeDocument/2006/relationships" id="256" r:id="R57c9278d2c664145"/>
    <p:sldId xmlns:r="http://schemas.openxmlformats.org/officeDocument/2006/relationships" id="257" r:id="R7b80013e07324bf5"/>
    <p:sldId xmlns:r="http://schemas.openxmlformats.org/officeDocument/2006/relationships" id="258" r:id="R8523e9321bf84c78"/>
    <p:sldId xmlns:r="http://schemas.openxmlformats.org/officeDocument/2006/relationships" id="259" r:id="R6a957239093947d6"/>
    <p:sldId xmlns:r="http://schemas.openxmlformats.org/officeDocument/2006/relationships" id="260" r:id="R076e7b856878458a"/>
    <p:sldId xmlns:r="http://schemas.openxmlformats.org/officeDocument/2006/relationships" id="261" r:id="Rc8c8b1abd50343de"/>
    <p:sldId xmlns:r="http://schemas.openxmlformats.org/officeDocument/2006/relationships" id="262" r:id="R2d7af75f1b4d418d"/>
    <p:sldId xmlns:r="http://schemas.openxmlformats.org/officeDocument/2006/relationships" id="263" r:id="R57ee46339cbb4b96"/>
    <p:sldId xmlns:r="http://schemas.openxmlformats.org/officeDocument/2006/relationships" id="264" r:id="Re2cc5993be8b4ea2"/>
    <p:sldId xmlns:r="http://schemas.openxmlformats.org/officeDocument/2006/relationships" id="265" r:id="Rac0c2ad4d2904891"/>
    <p:sldId xmlns:r="http://schemas.openxmlformats.org/officeDocument/2006/relationships" id="266" r:id="Rc7d23a193bea4cde"/>
    <p:sldId xmlns:r="http://schemas.openxmlformats.org/officeDocument/2006/relationships" id="267" r:id="R344f6ee115bb4a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78631a90614ebe" /><Relationship Type="http://schemas.openxmlformats.org/officeDocument/2006/relationships/slideMaster" Target="/ppt/slideMasters/slideMaster1.xml" Id="Rdab2defff6e64f04" /><Relationship Type="http://schemas.openxmlformats.org/officeDocument/2006/relationships/notesMaster" Target="/ppt/notesMasters/notesMaster1.xml" Id="R74776968e4fa456a" /><Relationship Type="http://schemas.openxmlformats.org/officeDocument/2006/relationships/presProps" Target="/ppt/presProps.xml" Id="R8944f5cc4d4c4be4" /><Relationship Type="http://schemas.openxmlformats.org/officeDocument/2006/relationships/tableStyles" Target="/ppt/tableStyles.xml" Id="Rb7643f89ee8f41c4" /><Relationship Type="http://schemas.openxmlformats.org/officeDocument/2006/relationships/slide" Target="/ppt/slides/slide1.xml" Id="R57c9278d2c664145" /><Relationship Type="http://schemas.openxmlformats.org/officeDocument/2006/relationships/slide" Target="/ppt/slides/slide2.xml" Id="R7b80013e07324bf5" /><Relationship Type="http://schemas.openxmlformats.org/officeDocument/2006/relationships/slide" Target="/ppt/slides/slide3.xml" Id="R8523e9321bf84c78" /><Relationship Type="http://schemas.openxmlformats.org/officeDocument/2006/relationships/slide" Target="/ppt/slides/slide4.xml" Id="R6a957239093947d6" /><Relationship Type="http://schemas.openxmlformats.org/officeDocument/2006/relationships/slide" Target="/ppt/slides/slide5.xml" Id="R076e7b856878458a" /><Relationship Type="http://schemas.openxmlformats.org/officeDocument/2006/relationships/slide" Target="/ppt/slides/slide6.xml" Id="Rc8c8b1abd50343de" /><Relationship Type="http://schemas.openxmlformats.org/officeDocument/2006/relationships/slide" Target="/ppt/slides/slide7.xml" Id="R2d7af75f1b4d418d" /><Relationship Type="http://schemas.openxmlformats.org/officeDocument/2006/relationships/slide" Target="/ppt/slides/slide8.xml" Id="R57ee46339cbb4b96" /><Relationship Type="http://schemas.openxmlformats.org/officeDocument/2006/relationships/slide" Target="/ppt/slides/slide9.xml" Id="Re2cc5993be8b4ea2" /><Relationship Type="http://schemas.openxmlformats.org/officeDocument/2006/relationships/slide" Target="/ppt/slides/slide10.xml" Id="Rac0c2ad4d2904891" /><Relationship Type="http://schemas.openxmlformats.org/officeDocument/2006/relationships/slide" Target="/ppt/slides/slide11.xml" Id="Rc7d23a193bea4cde" /><Relationship Type="http://schemas.openxmlformats.org/officeDocument/2006/relationships/slide" Target="/ppt/slides/slide12.xml" Id="R344f6ee115bb4a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371d67c92d4d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f0a7cab6c04060" /><Relationship Type="http://schemas.openxmlformats.org/officeDocument/2006/relationships/notesMaster" Target="/ppt/notesMasters/notesMaster1.xml" Id="R43c6cf3a0fd341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a329b8f9b2461e" /><Relationship Type="http://schemas.openxmlformats.org/officeDocument/2006/relationships/notesMaster" Target="/ppt/notesMasters/notesMaster1.xml" Id="R6728b8af863244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aa75a71ab44fa3" /><Relationship Type="http://schemas.openxmlformats.org/officeDocument/2006/relationships/notesMaster" Target="/ppt/notesMasters/notesMaster1.xml" Id="R763542fe822641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536722bbb442b3" /><Relationship Type="http://schemas.openxmlformats.org/officeDocument/2006/relationships/notesMaster" Target="/ppt/notesMasters/notesMaster1.xml" Id="R7a16802e166a49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6334fde2204934" /><Relationship Type="http://schemas.openxmlformats.org/officeDocument/2006/relationships/notesMaster" Target="/ppt/notesMasters/notesMaster1.xml" Id="R815f801960b54e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68907fa6f94701" /><Relationship Type="http://schemas.openxmlformats.org/officeDocument/2006/relationships/notesMaster" Target="/ppt/notesMasters/notesMaster1.xml" Id="Rc717de20de854a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e32eebf01d439b" /><Relationship Type="http://schemas.openxmlformats.org/officeDocument/2006/relationships/notesMaster" Target="/ppt/notesMasters/notesMaster1.xml" Id="R4bfdf9f9b6f342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83f7d97caf468b" /><Relationship Type="http://schemas.openxmlformats.org/officeDocument/2006/relationships/notesMaster" Target="/ppt/notesMasters/notesMaster1.xml" Id="R1f32401f7f2445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3173ba79b94f2d" /><Relationship Type="http://schemas.openxmlformats.org/officeDocument/2006/relationships/notesMaster" Target="/ppt/notesMasters/notesMaster1.xml" Id="R7f46a3980b8049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60e914654f4e9e" /><Relationship Type="http://schemas.openxmlformats.org/officeDocument/2006/relationships/notesMaster" Target="/ppt/notesMasters/notesMaster1.xml" Id="R99447c5c95e44a7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88a482f59a4141" /><Relationship Type="http://schemas.openxmlformats.org/officeDocument/2006/relationships/notesMaster" Target="/ppt/notesMasters/notesMaster1.xml" Id="R8083e2c3608e4a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4f920af1714983" /><Relationship Type="http://schemas.openxmlformats.org/officeDocument/2006/relationships/notesMaster" Target="/ppt/notesMasters/notesMaster1.xml" Id="Rdaf4047a72934e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Florida Scope and Safe IV Practice, Module 1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Cover media: Pexels photo by RDNE Stock project, https://www.pexels.com/photo/doctor-reading-a-medical-chart-held-by-a-nurse-6129154/,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how Florida law and Board rules govern practical nursing Next, Identify IV activities that require direction or direct supervision Next, Describe education, competency verification, and documentation duties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Scope begins with current authority. First, Florida Statutes define practical nursing as selected nursing acts performed under authorized direction. Next, Education and experience set personal limits. Next, Employer policy may narrow the permitted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30-hour qualification. First, Florida Administrative Code Rule 64B9-12.005 requires at least 30 hours of post-graduate IV education for an LPN or graduate practical nurse who needs this qualification. Next, Course content must cover the required cognitive and clinical areas.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preparation. First, Central-line practice requires at least four hours of instruction that may count within the 30 hours. Next, Training includes anatomy, site assessment, dressing and cap changes, flushing, administration, blood collection, and complication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Clinical competence and records. First, A Florida-licensed RN witnesses clinical practice and files a proficiency statement. Next, The employing institution verifies competence under its protocol. Next, Documentation identifies the device, site, solution, delivery method, assessment, response, and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Authority, competency, and policy are three separate checks. First, Authority asks whether the law and license permit the activity. Next, Competency asks whether the nurse has current education, supervised practice, and validated skill. Next, Policy asks whether the employer permits the activity in this setting. Next, Safe practice requires all three—not just a course certificate.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Before starting any infusion. First, Confirm the patient with two approved identifiers. Next, Read the complete order: solution or medication, concentration, route, dose, rate, duration, and indication. Next, Check allergies, compatibility, access-device suitability, and required laboratory results. Next, Stop and clarify any missing, conflicting, or unsafe information before preparing the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medication-rights safety pause. First, Patient: Do both identifiers match the order and medication record? Next, Medication and dose: Is this the exact product, concentration, and calculated dose? Next, Route and access: Is the ordered route appropriate for this device and site? Next, Time and rate: Are timing, pump settings, and duration correct? Next, Response: What assessment and monitoring are required before, during, and after?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When the correct action is to stop. First, Stop for a questionable order, unexpected patient change, loss of device patency, incompatibility, contamination, or pump setting that cannot be verified. Next, Protect the patient first, maintain access only as directed, notify the supervising RN or prescriber, and document objective findings and actions. Next, Never continue simply because a medication has already been prepared or a schedule is running late.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Classify five IV tasks as permitted, restricted, or requiring direct supervision Next, Review an incomplete order and identify the clarification needed Next, Write a complete peripheral IV documentation entry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how Florida law and Board rules govern practical nursing Next, Florida Administrative Code Rule 64B9-12.005 requires at least 30 hours of post-graduate IV education for an LPN or graduate practical nurse who needs this qualification. Course content must cover the required cognitive and clinical areas. Next, A Florida-licensed RN witnesses clinical practice and files a proficiency statement. The employing institution verifies competence under its protocol. Documentation identifies the device, site, solution, delivery method, assessment, response, and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948eb8c17541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fdc7bd478b4f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556ecbd5744e2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45c4c89ecb45c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27ba00e2e2f4a9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0e7bba4ab704b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C3EC1B-841B-4DF4-9F59-E33AB17EAC2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6219F4-48F7-4526-96AB-FAA5007B7F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E7A5722-CB07-487C-A256-ADD017B1C69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C1509E-AE9A-4313-9140-D56E0993E6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38B601-2575-46C5-B0D9-3C5E67B0A90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9CDB7B9-E11E-4C39-BBF0-942CC43CFC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28854CE-1B8D-4DAD-962E-D4E7AD5EC2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F4C01D-2F64-4DD5-97DC-50561DCED0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F9CFF9-586D-4E3B-B3C8-8E415CDDFA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EF20DA-EE7D-4804-BD44-4DA9B81FE5D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710a5ce51c450b" /><Relationship Type="http://schemas.openxmlformats.org/officeDocument/2006/relationships/slideLayout" Target="/ppt/slideLayouts/slideLayout1.xml" Id="Raccf250d4e974a3a" /><Relationship Type="http://schemas.openxmlformats.org/officeDocument/2006/relationships/slideLayout" Target="/ppt/slideLayouts/slideLayout2.xml" Id="R31978e8c949c4934" /><Relationship Type="http://schemas.openxmlformats.org/officeDocument/2006/relationships/slideLayout" Target="/ppt/slideLayouts/slideLayout3.xml" Id="R575ae246d09d4d3c" /><Relationship Type="http://schemas.openxmlformats.org/officeDocument/2006/relationships/slideLayout" Target="/ppt/slideLayouts/slideLayout4.xml" Id="R7f24e610c5f2418d" /><Relationship Type="http://schemas.openxmlformats.org/officeDocument/2006/relationships/slideLayout" Target="/ppt/slideLayouts/slideLayout5.xml" Id="R452e173aa12f4b64" /><Relationship Type="http://schemas.openxmlformats.org/officeDocument/2006/relationships/slideLayout" Target="/ppt/slideLayouts/slideLayout6.xml" Id="R07a993f9eba348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cf250d4e974a3a"/>
    <p:sldLayoutId xmlns:r="http://schemas.openxmlformats.org/officeDocument/2006/relationships" id="2147483650" r:id="R31978e8c949c4934"/>
    <p:sldLayoutId xmlns:r="http://schemas.openxmlformats.org/officeDocument/2006/relationships" id="2147483651" r:id="R575ae246d09d4d3c"/>
    <p:sldLayoutId xmlns:r="http://schemas.openxmlformats.org/officeDocument/2006/relationships" id="2147483652" r:id="R7f24e610c5f2418d"/>
    <p:sldLayoutId xmlns:r="http://schemas.openxmlformats.org/officeDocument/2006/relationships" id="2147483653" r:id="R452e173aa12f4b64"/>
    <p:sldLayoutId xmlns:r="http://schemas.openxmlformats.org/officeDocument/2006/relationships" id="2147483654" r:id="R07a993f9eba348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d6826d9d6a04820" /><Relationship Type="http://schemas.openxmlformats.org/officeDocument/2006/relationships/image" Target="/ppt/media/image.jpeg" Id="R3d31d7f46cfc4d4b" /><Relationship Type="http://schemas.openxmlformats.org/officeDocument/2006/relationships/notesSlide" Target="/ppt/notesSlides/notesSlide1.xml" Id="Rf6f9c4f827c14c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3491aeb1cc74042" /><Relationship Type="http://schemas.openxmlformats.org/officeDocument/2006/relationships/notesSlide" Target="/ppt/notesSlides/notesSlide2.xml" Id="Rb5c6c3d1107b49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568a3dbdf7045a7" /><Relationship Type="http://schemas.openxmlformats.org/officeDocument/2006/relationships/notesSlide" Target="/ppt/notesSlides/notesSlide3.xml" Id="R5aa9b708014a4a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1fe9a7e38e3434a" /><Relationship Type="http://schemas.openxmlformats.org/officeDocument/2006/relationships/notesSlide" Target="/ppt/notesSlides/notesSlide4.xml" Id="R1287e0a9a95b48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a85249276904cf2" /><Relationship Type="http://schemas.openxmlformats.org/officeDocument/2006/relationships/notesSlide" Target="/ppt/notesSlides/notesSlide5.xml" Id="R578b2a70313f45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2161002c80f4890" /><Relationship Type="http://schemas.openxmlformats.org/officeDocument/2006/relationships/notesSlide" Target="/ppt/notesSlides/notesSlide6.xml" Id="R4a585823673e44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fc2c6822a114ec6" /><Relationship Type="http://schemas.openxmlformats.org/officeDocument/2006/relationships/notesSlide" Target="/ppt/notesSlides/notesSlide7.xml" Id="R0bfc860cdac64b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9b1c4e2392b4b95" /><Relationship Type="http://schemas.openxmlformats.org/officeDocument/2006/relationships/notesSlide" Target="/ppt/notesSlides/notesSlide8.xml" Id="Rd371be01a3f148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98e8fbc82864d3c" /><Relationship Type="http://schemas.openxmlformats.org/officeDocument/2006/relationships/notesSlide" Target="/ppt/notesSlides/notesSlide9.xml" Id="Ra57d0d15a1bb4b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c4dd77255e84bfd" /><Relationship Type="http://schemas.openxmlformats.org/officeDocument/2006/relationships/notesSlide" Target="/ppt/notesSlides/notesSlide10.xml" Id="R6c60a302fb8d4a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dab1e0954ba4105" /><Relationship Type="http://schemas.openxmlformats.org/officeDocument/2006/relationships/notesSlide" Target="/ppt/notesSlides/notesSlide11.xml" Id="Rb2c19a1409614ce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05ceb24d5834031" /><Relationship Type="http://schemas.openxmlformats.org/officeDocument/2006/relationships/notesSlide" Target="/ppt/notesSlides/notesSlide12.xml" Id="R956ca4e5eaaf4397"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3782381-E590-4F3D-A9D4-767937769BA6}"/>
              </a:ext>
            </a:extLst>
          </p:cNvPr>
          <p:cNvPicPr>
            <a:picLocks xmlns:a="http://schemas.openxmlformats.org/drawingml/2006/main" noChangeAspect="1"/>
          </p:cNvPicPr>
          <p:nvPr/>
        </p:nvPicPr>
        <p:blipFill>
          <a:blip xmlns:r="http://schemas.openxmlformats.org/officeDocument/2006/relationships" xmlns:a="http://schemas.openxmlformats.org/drawingml/2006/main" r:embed="R3d31d7f46cfc4d4b"/>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0775B89-3CA8-4581-A75B-B82921CB107F}"/>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D867B0AD-091D-4F88-A994-7D098D4B579F}"/>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565E1DAD-58A9-441E-BEFF-D177BE2ABBC4}"/>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5C818FEA-A3D8-498D-A542-C4D3311E796A}"/>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Florida Scope and Safe IV Practice</a:t>
            </a:r>
          </a:p>
        </p:txBody>
      </p:sp>
      <p:sp>
        <p:nvSpPr>
          <p:cNvPr id="6" name="">
            <a:extLst xmlns:a="http://schemas.openxmlformats.org/drawingml/2006/main">
              <a:ext uri="{FF2B5EF4-FFF2-40B4-BE49-F238E27FC236}">
                <a16:creationId xmlns:a16="http://schemas.microsoft.com/office/drawing/2014/main" id="{2C1AB47F-58E4-4E78-ACCA-D7FF25F8F427}"/>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1  |  30-Hour Basic Intravenous Therapy</a:t>
            </a:r>
          </a:p>
        </p:txBody>
      </p:sp>
      <p:sp>
        <p:nvSpPr>
          <p:cNvPr id="7" name="">
            <a:extLst xmlns:a="http://schemas.openxmlformats.org/drawingml/2006/main">
              <a:ext uri="{FF2B5EF4-FFF2-40B4-BE49-F238E27FC236}">
                <a16:creationId xmlns:a16="http://schemas.microsoft.com/office/drawing/2014/main" id="{CBE2BF24-F414-414E-B263-7775029F7119}"/>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363624877"/>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36E5F2-AF28-48B3-A38D-0738E3D57C7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5D9BE6A-3DD9-4704-ABB0-CEA24FACDEA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2011847C-8CBF-4C27-AABD-20C2DC8EB19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664D13E9-8938-4F0F-BB6A-683F440116E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89298EE7-3E94-4D56-B951-3AAD8AD5CFD9}"/>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IV activities that require direction or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education, competency verification, and documentation duties</a:t>
            </a:r>
          </a:p>
        </p:txBody>
      </p:sp>
    </p:spTree>
    <p:extLst>
      <p:ext uri="{BB962C8B-B14F-4D97-AF65-F5344CB8AC3E}">
        <p14:creationId xmlns:p14="http://schemas.microsoft.com/office/powerpoint/2010/main" val="1112070009"/>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89AC028-53E0-4A6B-9ECD-EE490E89F97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FD74CC0-1973-4388-93BD-6F83B1DB843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Scope begins with current authority</a:t>
            </a:r>
          </a:p>
        </p:txBody>
      </p:sp>
      <p:sp>
        <p:nvSpPr>
          <p:cNvPr id="3" name="">
            <a:extLst xmlns:a="http://schemas.openxmlformats.org/drawingml/2006/main">
              <a:ext uri="{FF2B5EF4-FFF2-40B4-BE49-F238E27FC236}">
                <a16:creationId xmlns:a16="http://schemas.microsoft.com/office/drawing/2014/main" id="{B4920D6E-0046-4F67-B5C6-35EAB708504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7569950B-75A6-4A0F-ADEF-D8F67146EDE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C751BBAE-C6F0-4A21-9019-3921707110B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Statutes define practical nursing as selected nursing acts performed under authorized direction.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Education and experience set personal limits.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Employer policy may narrow the permitted role.</a:t>
            </a:r>
          </a:p>
        </p:txBody>
      </p:sp>
      <p:sp>
        <p:nvSpPr>
          <p:cNvPr id="6" name="">
            <a:extLst xmlns:a="http://schemas.openxmlformats.org/drawingml/2006/main">
              <a:ext uri="{FF2B5EF4-FFF2-40B4-BE49-F238E27FC236}">
                <a16:creationId xmlns:a16="http://schemas.microsoft.com/office/drawing/2014/main" id="{C995E04F-1F22-46BE-B94D-3A992A39131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2655661"/>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4060A1-BEAC-4B6A-A811-11BFFD68D31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C3FDCE0-B9F9-4199-A97A-366D7D5BBF0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30-hour qualification</a:t>
            </a:r>
          </a:p>
        </p:txBody>
      </p:sp>
      <p:sp>
        <p:nvSpPr>
          <p:cNvPr id="3" name="">
            <a:extLst xmlns:a="http://schemas.openxmlformats.org/drawingml/2006/main">
              <a:ext uri="{FF2B5EF4-FFF2-40B4-BE49-F238E27FC236}">
                <a16:creationId xmlns:a16="http://schemas.microsoft.com/office/drawing/2014/main" id="{5B3E847C-1FA6-4F3E-A1E7-587C2C9D21C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2E84EB8-AD8D-4822-9674-FDB08EC643F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DD6C8D9E-674F-4AC4-9B84-FD5C2412B10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Course content must cover the required cognitive and clinical areas.</a:t>
            </a:r>
          </a:p>
        </p:txBody>
      </p:sp>
      <p:sp>
        <p:nvSpPr>
          <p:cNvPr id="6" name="">
            <a:extLst xmlns:a="http://schemas.openxmlformats.org/drawingml/2006/main">
              <a:ext uri="{FF2B5EF4-FFF2-40B4-BE49-F238E27FC236}">
                <a16:creationId xmlns:a16="http://schemas.microsoft.com/office/drawing/2014/main" id="{E7B0F62D-F506-47A9-B98F-7F812FEEBB9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45932148"/>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E52676-C781-41B9-9BF3-18BDB0B6CD3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17216FC-D17F-4648-A7BE-D28DB6D11A2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preparation</a:t>
            </a:r>
          </a:p>
        </p:txBody>
      </p:sp>
      <p:sp>
        <p:nvSpPr>
          <p:cNvPr id="3" name="">
            <a:extLst xmlns:a="http://schemas.openxmlformats.org/drawingml/2006/main">
              <a:ext uri="{FF2B5EF4-FFF2-40B4-BE49-F238E27FC236}">
                <a16:creationId xmlns:a16="http://schemas.microsoft.com/office/drawing/2014/main" id="{A12E1830-DBA8-4840-92D7-04E6119594A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0CF17FBC-0ADD-4B7D-B765-1746155AFA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D6C92418-E3EA-49A7-97E0-722B2499705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Central-line practice requires at least four hours of instruction that may count within the 30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Training includes anatomy, site assessment, dressing and cap changes, flushing, administration, blood collection, and complication response.</a:t>
            </a:r>
          </a:p>
        </p:txBody>
      </p:sp>
      <p:sp>
        <p:nvSpPr>
          <p:cNvPr id="6" name="">
            <a:extLst xmlns:a="http://schemas.openxmlformats.org/drawingml/2006/main">
              <a:ext uri="{FF2B5EF4-FFF2-40B4-BE49-F238E27FC236}">
                <a16:creationId xmlns:a16="http://schemas.microsoft.com/office/drawing/2014/main" id="{D076B006-74CF-49B7-9152-D7A92535AC6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92271011"/>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12E1A6-8DFE-4848-983F-ECB91259B3C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4F97059-4B05-4E37-8EB8-4C6114C8821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Clinical competence and records</a:t>
            </a:r>
          </a:p>
        </p:txBody>
      </p:sp>
      <p:sp>
        <p:nvSpPr>
          <p:cNvPr id="3" name="">
            <a:extLst xmlns:a="http://schemas.openxmlformats.org/drawingml/2006/main">
              <a:ext uri="{FF2B5EF4-FFF2-40B4-BE49-F238E27FC236}">
                <a16:creationId xmlns:a16="http://schemas.microsoft.com/office/drawing/2014/main" id="{3F05A538-69C7-435F-80FC-E9529E5937D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02F4E934-BDFD-4BF8-B0AB-92EB102C30D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5D72E293-C3BB-49C6-AC3E-7BAC0C29E61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Florida-licensed RN witnesses clinical practice and files a proficiency statement.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employing institution verifies competence under its protocol.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Documentation identifies the device, site, solution, delivery method, assessment, response, and complications.</a:t>
            </a:r>
          </a:p>
        </p:txBody>
      </p:sp>
      <p:sp>
        <p:nvSpPr>
          <p:cNvPr id="6" name="">
            <a:extLst xmlns:a="http://schemas.openxmlformats.org/drawingml/2006/main">
              <a:ext uri="{FF2B5EF4-FFF2-40B4-BE49-F238E27FC236}">
                <a16:creationId xmlns:a16="http://schemas.microsoft.com/office/drawing/2014/main" id="{2B057FC6-0A51-40B2-BD1C-962923D03F7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53732180"/>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BA20A3E-A624-41EA-8D0A-B666BA3568D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B83DCB2-2F18-43FB-945B-EAE008BBAF7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51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Authority, competency, and policy are three separate checks</a:t>
            </a:r>
          </a:p>
        </p:txBody>
      </p:sp>
      <p:sp>
        <p:nvSpPr>
          <p:cNvPr id="3" name="">
            <a:extLst xmlns:a="http://schemas.openxmlformats.org/drawingml/2006/main">
              <a:ext uri="{FF2B5EF4-FFF2-40B4-BE49-F238E27FC236}">
                <a16:creationId xmlns:a16="http://schemas.microsoft.com/office/drawing/2014/main" id="{48D4E499-71A0-4F98-B069-06612F316E1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3E7650BF-86A1-42AB-88FF-A54B66AB473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732E460C-F313-4E80-ADB2-949E652956C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Authority asks whether the law and license permit the activity.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Competency asks whether the nurse has current education, supervised practice, and validated skill.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Policy asks whether the employer permits the activity in this setting.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 practice requires all three—not just a course certificate.</a:t>
            </a:r>
          </a:p>
        </p:txBody>
      </p:sp>
      <p:sp>
        <p:nvSpPr>
          <p:cNvPr id="6" name="">
            <a:extLst xmlns:a="http://schemas.openxmlformats.org/drawingml/2006/main">
              <a:ext uri="{FF2B5EF4-FFF2-40B4-BE49-F238E27FC236}">
                <a16:creationId xmlns:a16="http://schemas.microsoft.com/office/drawing/2014/main" id="{1B5ED0A1-D1BA-454F-9E7C-A6D3A647835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70065156"/>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380E34-DCA8-4CB9-B6AB-738D9D24407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E8D8C9F-E691-4894-A8A5-B5317E824EF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Before starting any infusion</a:t>
            </a:r>
          </a:p>
        </p:txBody>
      </p:sp>
      <p:sp>
        <p:nvSpPr>
          <p:cNvPr id="3" name="">
            <a:extLst xmlns:a="http://schemas.openxmlformats.org/drawingml/2006/main">
              <a:ext uri="{FF2B5EF4-FFF2-40B4-BE49-F238E27FC236}">
                <a16:creationId xmlns:a16="http://schemas.microsoft.com/office/drawing/2014/main" id="{3BA0C0FC-6EBE-431A-A3A9-F5776C2512B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99899315-3078-48E2-BC23-1DA7AF3F22B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843959C1-F7B3-46E9-B78F-618023CD57D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patient with two approved identifiers.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Read the complete order: solution or medication, concentration, route, dose, rate, duration, and indication.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Check allergies, compatibility, access-device suitability, and required laboratory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and clarify any missing, conflicting, or unsafe information before preparing the therapy.</a:t>
            </a:r>
          </a:p>
        </p:txBody>
      </p:sp>
      <p:sp>
        <p:nvSpPr>
          <p:cNvPr id="6" name="">
            <a:extLst xmlns:a="http://schemas.openxmlformats.org/drawingml/2006/main">
              <a:ext uri="{FF2B5EF4-FFF2-40B4-BE49-F238E27FC236}">
                <a16:creationId xmlns:a16="http://schemas.microsoft.com/office/drawing/2014/main" id="{57CCB196-FADA-4780-9596-B3E3F325A82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7165619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22E3609-ED11-40C6-9994-30B5AFD8BA8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22EFC13-A8CF-47F1-B283-3B28A938D95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medication-rights safety pause</a:t>
            </a:r>
          </a:p>
        </p:txBody>
      </p:sp>
      <p:sp>
        <p:nvSpPr>
          <p:cNvPr id="3" name="">
            <a:extLst xmlns:a="http://schemas.openxmlformats.org/drawingml/2006/main">
              <a:ext uri="{FF2B5EF4-FFF2-40B4-BE49-F238E27FC236}">
                <a16:creationId xmlns:a16="http://schemas.microsoft.com/office/drawing/2014/main" id="{773C64B5-0AE4-4F6D-A79B-B86FFFE3A21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BBA504E5-A230-4472-B44B-20B5AEFAA10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EF2D4557-635D-4DF6-856E-6DF74E4B6AC1}"/>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23175928-EDE6-4DEC-8C7C-9FB61BDCF6C5}"/>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Check</a:t>
            </a:r>
          </a:p>
        </p:txBody>
      </p:sp>
      <p:sp>
        <p:nvSpPr>
          <p:cNvPr id="7" name="">
            <a:extLst xmlns:a="http://schemas.openxmlformats.org/drawingml/2006/main">
              <a:ext uri="{FF2B5EF4-FFF2-40B4-BE49-F238E27FC236}">
                <a16:creationId xmlns:a16="http://schemas.microsoft.com/office/drawing/2014/main" id="{87E0320B-66F3-4AE3-904F-069F5F4771E6}"/>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628CD53-ACA9-4A73-9948-B044BA982238}"/>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Question to ask</a:t>
            </a:r>
          </a:p>
        </p:txBody>
      </p:sp>
      <p:sp>
        <p:nvSpPr>
          <p:cNvPr id="9" name="">
            <a:extLst xmlns:a="http://schemas.openxmlformats.org/drawingml/2006/main">
              <a:ext uri="{FF2B5EF4-FFF2-40B4-BE49-F238E27FC236}">
                <a16:creationId xmlns:a16="http://schemas.microsoft.com/office/drawing/2014/main" id="{08E46A19-C2D9-42DE-8D5B-4990E4DC637A}"/>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2086C56-8FE8-49CC-B8D1-2418C362ED8F}"/>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a:t>
            </a:r>
          </a:p>
        </p:txBody>
      </p:sp>
      <p:sp>
        <p:nvSpPr>
          <p:cNvPr id="11" name="">
            <a:extLst xmlns:a="http://schemas.openxmlformats.org/drawingml/2006/main">
              <a:ext uri="{FF2B5EF4-FFF2-40B4-BE49-F238E27FC236}">
                <a16:creationId xmlns:a16="http://schemas.microsoft.com/office/drawing/2014/main" id="{63A01D41-E482-4789-BC6F-9197249D3D07}"/>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13AEBB1-EA22-4D32-B8FF-7BDC71DEDA64}"/>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both identifiers match the order and medication record?</a:t>
            </a:r>
          </a:p>
        </p:txBody>
      </p:sp>
      <p:sp>
        <p:nvSpPr>
          <p:cNvPr id="13" name="">
            <a:extLst xmlns:a="http://schemas.openxmlformats.org/drawingml/2006/main">
              <a:ext uri="{FF2B5EF4-FFF2-40B4-BE49-F238E27FC236}">
                <a16:creationId xmlns:a16="http://schemas.microsoft.com/office/drawing/2014/main" id="{9A5C2227-4926-447D-B027-2465D81340A9}"/>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C7B5E8C-CCCB-4494-A1B0-226DE78DF5D9}"/>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 and dose</a:t>
            </a:r>
          </a:p>
        </p:txBody>
      </p:sp>
      <p:sp>
        <p:nvSpPr>
          <p:cNvPr id="15" name="">
            <a:extLst xmlns:a="http://schemas.openxmlformats.org/drawingml/2006/main">
              <a:ext uri="{FF2B5EF4-FFF2-40B4-BE49-F238E27FC236}">
                <a16:creationId xmlns:a16="http://schemas.microsoft.com/office/drawing/2014/main" id="{3CDFADDB-678A-47BD-85EB-6FC1CC300E3E}"/>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888AAB9-5205-4A87-A1FC-E016BA784241}"/>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this the exact product, concentration, and calculated dose?</a:t>
            </a:r>
          </a:p>
        </p:txBody>
      </p:sp>
      <p:sp>
        <p:nvSpPr>
          <p:cNvPr id="17" name="">
            <a:extLst xmlns:a="http://schemas.openxmlformats.org/drawingml/2006/main">
              <a:ext uri="{FF2B5EF4-FFF2-40B4-BE49-F238E27FC236}">
                <a16:creationId xmlns:a16="http://schemas.microsoft.com/office/drawing/2014/main" id="{0F4717C3-BC15-4B34-9625-E5646BB76813}"/>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C140CD7-ECAF-4945-BC53-17B4C66F197D}"/>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Route and access</a:t>
            </a:r>
          </a:p>
        </p:txBody>
      </p:sp>
      <p:sp>
        <p:nvSpPr>
          <p:cNvPr id="19" name="">
            <a:extLst xmlns:a="http://schemas.openxmlformats.org/drawingml/2006/main">
              <a:ext uri="{FF2B5EF4-FFF2-40B4-BE49-F238E27FC236}">
                <a16:creationId xmlns:a16="http://schemas.microsoft.com/office/drawing/2014/main" id="{FD14241C-BDDB-4592-B071-981B999DDE5B}"/>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380B05A1-E446-4F3A-A39D-71F36C2C655C}"/>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the ordered route appropriate for this device and site?</a:t>
            </a:r>
          </a:p>
        </p:txBody>
      </p:sp>
      <p:sp>
        <p:nvSpPr>
          <p:cNvPr id="21" name="">
            <a:extLst xmlns:a="http://schemas.openxmlformats.org/drawingml/2006/main">
              <a:ext uri="{FF2B5EF4-FFF2-40B4-BE49-F238E27FC236}">
                <a16:creationId xmlns:a16="http://schemas.microsoft.com/office/drawing/2014/main" id="{4BFED7F4-4B20-4833-BB05-CAB94204DF83}"/>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EBEA245F-01EC-4B23-A69C-6FA323A4C746}"/>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Time and rate</a:t>
            </a:r>
          </a:p>
        </p:txBody>
      </p:sp>
      <p:sp>
        <p:nvSpPr>
          <p:cNvPr id="23" name="">
            <a:extLst xmlns:a="http://schemas.openxmlformats.org/drawingml/2006/main">
              <a:ext uri="{FF2B5EF4-FFF2-40B4-BE49-F238E27FC236}">
                <a16:creationId xmlns:a16="http://schemas.microsoft.com/office/drawing/2014/main" id="{A3C6D835-94DC-480B-A1DF-B302FA4A924A}"/>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3A50B413-26F8-4C0C-ACCF-1B379B81855B}"/>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Are timing, pump settings, and duration correct?</a:t>
            </a:r>
          </a:p>
        </p:txBody>
      </p:sp>
      <p:sp>
        <p:nvSpPr>
          <p:cNvPr id="25" name="">
            <a:extLst xmlns:a="http://schemas.openxmlformats.org/drawingml/2006/main">
              <a:ext uri="{FF2B5EF4-FFF2-40B4-BE49-F238E27FC236}">
                <a16:creationId xmlns:a16="http://schemas.microsoft.com/office/drawing/2014/main" id="{3C000D53-BFD1-4E2F-ABBF-B8C7AC1CD7FE}"/>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7C9DF60B-6C34-45F8-85D8-EF952D41C3BF}"/>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Response</a:t>
            </a:r>
          </a:p>
        </p:txBody>
      </p:sp>
      <p:sp>
        <p:nvSpPr>
          <p:cNvPr id="27" name="">
            <a:extLst xmlns:a="http://schemas.openxmlformats.org/drawingml/2006/main">
              <a:ext uri="{FF2B5EF4-FFF2-40B4-BE49-F238E27FC236}">
                <a16:creationId xmlns:a16="http://schemas.microsoft.com/office/drawing/2014/main" id="{344EF276-CCDC-4ACC-9780-7C91B297F80B}"/>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F418C44A-D710-46FE-9E66-7B7C34889BDC}"/>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What assessment and monitoring are required before, during, and after?</a:t>
            </a:r>
          </a:p>
        </p:txBody>
      </p:sp>
    </p:spTree>
    <p:extLst>
      <p:ext uri="{BB962C8B-B14F-4D97-AF65-F5344CB8AC3E}">
        <p14:creationId xmlns:p14="http://schemas.microsoft.com/office/powerpoint/2010/main" val="1800264997"/>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FD9B5E-B3B7-48DB-8C98-16A9AE1B4EB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E314AA4-1323-47C1-A371-C713B80B701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When the correct action is to stop</a:t>
            </a:r>
          </a:p>
        </p:txBody>
      </p:sp>
      <p:sp>
        <p:nvSpPr>
          <p:cNvPr id="3" name="">
            <a:extLst xmlns:a="http://schemas.openxmlformats.org/drawingml/2006/main">
              <a:ext uri="{FF2B5EF4-FFF2-40B4-BE49-F238E27FC236}">
                <a16:creationId xmlns:a16="http://schemas.microsoft.com/office/drawing/2014/main" id="{3A4522E2-C76F-4157-A6A0-48075696E7C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29F6A234-A7FC-4C63-B969-5EC789949C2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3F25BCCC-D32C-4DD6-B38A-6FABA411600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for a questionable order, unexpected patient change, loss of device patency, incompatibility, contamination, or pump setting that cannot be verified.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Protect the patient first, maintain access only as directed, notify the supervising RN or prescriber, and document objective findings and actions.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continue simply because a medication has already been prepared or a schedule is running late.</a:t>
            </a:r>
          </a:p>
        </p:txBody>
      </p:sp>
      <p:sp>
        <p:nvSpPr>
          <p:cNvPr id="6" name="">
            <a:extLst xmlns:a="http://schemas.openxmlformats.org/drawingml/2006/main">
              <a:ext uri="{FF2B5EF4-FFF2-40B4-BE49-F238E27FC236}">
                <a16:creationId xmlns:a16="http://schemas.microsoft.com/office/drawing/2014/main" id="{8756D069-24ED-433C-8D72-B798129E7BD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96150507"/>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D317CB-7A98-4A3E-B768-7D78E7CAF2B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D7A10AB-531C-4B72-870F-35923A1CEAB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A5151EC0-429D-423A-9FAA-409B74BD534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00696557-0E37-4B1B-A5D2-598CD91226C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6FFDCC50-5975-4051-91C3-688A2BE49461}"/>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Classify five IV tasks as permitted, restricted, or requiring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Review an incomplete order and identify the clarification needed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Write a complete peripheral IV documentation entry</a:t>
            </a:r>
          </a:p>
        </p:txBody>
      </p:sp>
      <p:sp>
        <p:nvSpPr>
          <p:cNvPr id="6" name="">
            <a:extLst xmlns:a="http://schemas.openxmlformats.org/drawingml/2006/main">
              <a:ext uri="{FF2B5EF4-FFF2-40B4-BE49-F238E27FC236}">
                <a16:creationId xmlns:a16="http://schemas.microsoft.com/office/drawing/2014/main" id="{1D2D143C-5A85-4034-A66B-26696663F102}"/>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680466157"/>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8ADE67-E0F8-40C8-9878-74630877105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321730A-2437-4453-BFF0-7E392E71E3A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B4DB42D7-3A23-45B4-BC1D-229620130F1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E1DEAA89-9B27-4A30-802A-1C8D25A0093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B8CB679F-CB03-4778-B16C-76069E08F47C}"/>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 Course content must cover the required cognitive and clinical areas.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 Florida-licensed RN witnesses clinical practice and files a proficiency statement. The employing institution verifies competence under its protocol. Documentation identifies the device, site, solution, delivery method, assessment, response, and complications.</a:t>
            </a:r>
          </a:p>
        </p:txBody>
      </p:sp>
      <p:sp>
        <p:nvSpPr>
          <p:cNvPr id="6" name="">
            <a:extLst xmlns:a="http://schemas.openxmlformats.org/drawingml/2006/main">
              <a:ext uri="{FF2B5EF4-FFF2-40B4-BE49-F238E27FC236}">
                <a16:creationId xmlns:a16="http://schemas.microsoft.com/office/drawing/2014/main" id="{36E78FD7-C6C1-422D-A6AF-AA94BA21B5ED}"/>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5247216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2026-10-23T09:35:30.2520000Z</dcterms:created>
  <dcterms:modified xsi:type="dcterms:W3CDTF">2026-10-23T09:35:30.2520000Z</dcterms:modified>
</coreProperties>
</file>