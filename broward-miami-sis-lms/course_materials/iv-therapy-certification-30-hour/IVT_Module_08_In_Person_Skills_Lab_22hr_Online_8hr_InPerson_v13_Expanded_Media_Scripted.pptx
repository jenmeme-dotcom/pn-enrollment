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f0be9fb103e414f" /><Relationship Type="http://schemas.openxmlformats.org/officeDocument/2006/relationships/extended-properties" Target="/docProps/app.xml" Id="R252e628117734281" /><Relationship Type="http://schemas.openxmlformats.org/officeDocument/2006/relationships/officeDocument" Target="/ppt/presentation.xml" Id="Rcaace75f3f3243e6" /></Relationships>
</file>

<file path=ppt/presentation.xml><?xml version="1.0" encoding="utf-8"?>
<p:presentation xmlns:p="http://schemas.openxmlformats.org/presentationml/2006/main">
  <p:sldMasterIdLst>
    <p:sldMasterId xmlns:r="http://schemas.openxmlformats.org/officeDocument/2006/relationships" id="2147483648" r:id="Rd62aa7ccce194f10"/>
  </p:sldMasterIdLst>
  <p:notesMasterIdLst>
    <p:notesMasterId xmlns:r="http://schemas.openxmlformats.org/officeDocument/2006/relationships" r:id="Rf2b197538fbd4f1e"/>
  </p:notesMasterIdLst>
  <p:sldIdLst>
    <p:sldId xmlns:r="http://schemas.openxmlformats.org/officeDocument/2006/relationships" id="256" r:id="R413e177f88f54934"/>
    <p:sldId xmlns:r="http://schemas.openxmlformats.org/officeDocument/2006/relationships" id="257" r:id="Re57398f639d04550"/>
    <p:sldId xmlns:r="http://schemas.openxmlformats.org/officeDocument/2006/relationships" id="258" r:id="R84d1a4a61e874a29"/>
    <p:sldId xmlns:r="http://schemas.openxmlformats.org/officeDocument/2006/relationships" id="259" r:id="R3514e938ca9742c9"/>
    <p:sldId xmlns:r="http://schemas.openxmlformats.org/officeDocument/2006/relationships" id="260" r:id="Radd2ee3c8c034e00"/>
    <p:sldId xmlns:r="http://schemas.openxmlformats.org/officeDocument/2006/relationships" id="261" r:id="R89febad80ddd4ec8"/>
    <p:sldId xmlns:r="http://schemas.openxmlformats.org/officeDocument/2006/relationships" id="262" r:id="Rfc4f07494e7a4bdb"/>
    <p:sldId xmlns:r="http://schemas.openxmlformats.org/officeDocument/2006/relationships" id="263" r:id="R22a6ed4004fc4a4d"/>
    <p:sldId xmlns:r="http://schemas.openxmlformats.org/officeDocument/2006/relationships" id="264" r:id="Rd292f3de950c44ec"/>
    <p:sldId xmlns:r="http://schemas.openxmlformats.org/officeDocument/2006/relationships" id="265" r:id="R716a197ba5884bde"/>
    <p:sldId xmlns:r="http://schemas.openxmlformats.org/officeDocument/2006/relationships" id="266" r:id="R0a8a829a5d5a4d0b"/>
    <p:sldId xmlns:r="http://schemas.openxmlformats.org/officeDocument/2006/relationships" id="267" r:id="R5ee319dbde8246c3"/>
    <p:sldId xmlns:r="http://schemas.openxmlformats.org/officeDocument/2006/relationships" id="268" r:id="R0fd46c555a564a1d"/>
    <p:sldId xmlns:r="http://schemas.openxmlformats.org/officeDocument/2006/relationships" id="269" r:id="R2f30f01a080b45b3"/>
    <p:sldId xmlns:r="http://schemas.openxmlformats.org/officeDocument/2006/relationships" id="270" r:id="R95826ee83b51401a"/>
    <p:sldId xmlns:r="http://schemas.openxmlformats.org/officeDocument/2006/relationships" id="271" r:id="Rbb26ec791d5b4c8f"/>
    <p:sldId xmlns:r="http://schemas.openxmlformats.org/officeDocument/2006/relationships" id="272" r:id="R1b61774b709348c1"/>
    <p:sldId xmlns:r="http://schemas.openxmlformats.org/officeDocument/2006/relationships" id="273" r:id="Rb5d56bd0e2224f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d59e72c579e4658" /><Relationship Type="http://schemas.openxmlformats.org/officeDocument/2006/relationships/slideMaster" Target="/ppt/slideMasters/slideMaster1.xml" Id="Rd62aa7ccce194f10" /><Relationship Type="http://schemas.openxmlformats.org/officeDocument/2006/relationships/notesMaster" Target="/ppt/notesMasters/notesMaster1.xml" Id="Rf2b197538fbd4f1e" /><Relationship Type="http://schemas.openxmlformats.org/officeDocument/2006/relationships/presProps" Target="/ppt/presProps.xml" Id="R37d4b6d6c85f4bf3" /><Relationship Type="http://schemas.openxmlformats.org/officeDocument/2006/relationships/tableStyles" Target="/ppt/tableStyles.xml" Id="R559a0dfec2ae47b3" /><Relationship Type="http://schemas.openxmlformats.org/officeDocument/2006/relationships/slide" Target="/ppt/slides/slide1.xml" Id="R413e177f88f54934" /><Relationship Type="http://schemas.openxmlformats.org/officeDocument/2006/relationships/slide" Target="/ppt/slides/slide2.xml" Id="Re57398f639d04550" /><Relationship Type="http://schemas.openxmlformats.org/officeDocument/2006/relationships/slide" Target="/ppt/slides/slide3.xml" Id="R84d1a4a61e874a29" /><Relationship Type="http://schemas.openxmlformats.org/officeDocument/2006/relationships/slide" Target="/ppt/slides/slide4.xml" Id="R3514e938ca9742c9" /><Relationship Type="http://schemas.openxmlformats.org/officeDocument/2006/relationships/slide" Target="/ppt/slides/slide5.xml" Id="Radd2ee3c8c034e00" /><Relationship Type="http://schemas.openxmlformats.org/officeDocument/2006/relationships/slide" Target="/ppt/slides/slide6.xml" Id="R89febad80ddd4ec8" /><Relationship Type="http://schemas.openxmlformats.org/officeDocument/2006/relationships/slide" Target="/ppt/slides/slide7.xml" Id="Rfc4f07494e7a4bdb" /><Relationship Type="http://schemas.openxmlformats.org/officeDocument/2006/relationships/slide" Target="/ppt/slides/slide8.xml" Id="R22a6ed4004fc4a4d" /><Relationship Type="http://schemas.openxmlformats.org/officeDocument/2006/relationships/slide" Target="/ppt/slides/slide9.xml" Id="Rd292f3de950c44ec" /><Relationship Type="http://schemas.openxmlformats.org/officeDocument/2006/relationships/slide" Target="/ppt/slides/slide10.xml" Id="R716a197ba5884bde" /><Relationship Type="http://schemas.openxmlformats.org/officeDocument/2006/relationships/slide" Target="/ppt/slides/slide11.xml" Id="R0a8a829a5d5a4d0b" /><Relationship Type="http://schemas.openxmlformats.org/officeDocument/2006/relationships/slide" Target="/ppt/slides/slide12.xml" Id="R5ee319dbde8246c3" /><Relationship Type="http://schemas.openxmlformats.org/officeDocument/2006/relationships/slide" Target="/ppt/slides/slide13.xml" Id="R0fd46c555a564a1d" /><Relationship Type="http://schemas.openxmlformats.org/officeDocument/2006/relationships/slide" Target="/ppt/slides/slide14.xml" Id="R2f30f01a080b45b3" /><Relationship Type="http://schemas.openxmlformats.org/officeDocument/2006/relationships/slide" Target="/ppt/slides/slide15.xml" Id="R95826ee83b51401a" /><Relationship Type="http://schemas.openxmlformats.org/officeDocument/2006/relationships/slide" Target="/ppt/slides/slide16.xml" Id="Rbb26ec791d5b4c8f" /><Relationship Type="http://schemas.openxmlformats.org/officeDocument/2006/relationships/slide" Target="/ppt/slides/slide17.xml" Id="R1b61774b709348c1" /><Relationship Type="http://schemas.openxmlformats.org/officeDocument/2006/relationships/slide" Target="/ppt/slides/slide18.xml" Id="Rb5d56bd0e2224f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0cdda9d7214b1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5f05065cd334c58" /><Relationship Type="http://schemas.openxmlformats.org/officeDocument/2006/relationships/notesMaster" Target="/ppt/notesMasters/notesMaster1.xml" Id="Rbf2618f119f94f7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c72002c15a34f37" /><Relationship Type="http://schemas.openxmlformats.org/officeDocument/2006/relationships/notesMaster" Target="/ppt/notesMasters/notesMaster1.xml" Id="R4ce0f3f1da514ee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a1a46c4c1b947e9" /><Relationship Type="http://schemas.openxmlformats.org/officeDocument/2006/relationships/notesMaster" Target="/ppt/notesMasters/notesMaster1.xml" Id="Re87533e62a0245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c5a6aebd04bd4911" /><Relationship Type="http://schemas.openxmlformats.org/officeDocument/2006/relationships/notesMaster" Target="/ppt/notesMasters/notesMaster1.xml" Id="R30fef21639364f01" /></Relationships>
</file>

<file path=ppt/notesSlides/_rels/notesSlide5.xml.rels>&#65279;<?xml version="1.0" encoding="utf-8"?><Relationships xmlns="http://schemas.openxmlformats.org/package/2006/relationships"><Relationship Type="http://schemas.openxmlformats.org/officeDocument/2006/relationships/slide" Target="/ppt/slides/slide5.xml" Id="R4862d2809b9d43b6" /><Relationship Type="http://schemas.openxmlformats.org/officeDocument/2006/relationships/notesMaster" Target="/ppt/notesMasters/notesMaster1.xml" Id="Rfb02ec4b76a342bb"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ad0ce538fd40f5" /><Relationship Type="http://schemas.openxmlformats.org/officeDocument/2006/relationships/notesMaster" Target="/ppt/notesMasters/notesMaster1.xml" Id="R7c5214837d9d4f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377c4bbdabfe4f37" /><Relationship Type="http://schemas.openxmlformats.org/officeDocument/2006/relationships/notesMaster" Target="/ppt/notesMasters/notesMaster1.xml" Id="R42d0cf14d3da41b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19841944964a3e" /><Relationship Type="http://schemas.openxmlformats.org/officeDocument/2006/relationships/notesMaster" Target="/ppt/notesMasters/notesMaster1.xml" Id="R503c684ca35c4549" /></Relationships>
</file>

<file path=ppt/notesSlides/_rels/notesSlide9.xml.rels>&#65279;<?xml version="1.0" encoding="utf-8"?><Relationships xmlns="http://schemas.openxmlformats.org/package/2006/relationships"><Relationship Type="http://schemas.openxmlformats.org/officeDocument/2006/relationships/slide" Target="/ppt/slides/slide9.xml" Id="Rfd87c7dcd9fc4f4d" /><Relationship Type="http://schemas.openxmlformats.org/officeDocument/2006/relationships/notesMaster" Target="/ppt/notesMasters/notesMaster1.xml" Id="R4d1b19380d824e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3eeeb6d0fce4b7a" /><Relationship Type="http://schemas.openxmlformats.org/officeDocument/2006/relationships/notesMaster" Target="/ppt/notesMasters/notesMaster1.xml" Id="Rced92d22d16047d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895c392a1046e9" /><Relationship Type="http://schemas.openxmlformats.org/officeDocument/2006/relationships/notesMaster" Target="/ppt/notesMasters/notesMaster1.xml" Id="R9bfa42dddf96407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36a12354b74003" /><Relationship Type="http://schemas.openxmlformats.org/officeDocument/2006/relationships/notesMaster" Target="/ppt/notesMasters/notesMaster1.xml" Id="R007269d7198b46c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93edb884434fb2" /><Relationship Type="http://schemas.openxmlformats.org/officeDocument/2006/relationships/notesMaster" Target="/ppt/notesMasters/notesMaster1.xml" Id="R303b23351a2c415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4fe9b36eec642d8" /><Relationship Type="http://schemas.openxmlformats.org/officeDocument/2006/relationships/notesMaster" Target="/ppt/notesMasters/notesMaster1.xml" Id="R8be67f3c1fb649c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b18587d6c8d4eac" /><Relationship Type="http://schemas.openxmlformats.org/officeDocument/2006/relationships/notesMaster" Target="/ppt/notesMasters/notesMaster1.xml" Id="R43f0e5c0581f42f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ad1a90a9ee345dc" /><Relationship Type="http://schemas.openxmlformats.org/officeDocument/2006/relationships/notesMaster" Target="/ppt/notesMasters/notesMaster1.xml" Id="Rb8c95afeec6a471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f597296711c4e4f" /><Relationship Type="http://schemas.openxmlformats.org/officeDocument/2006/relationships/notesMaster" Target="/ppt/notesMasters/notesMaster1.xml" Id="R6cfe0b17d4c7466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eca962195594ef2" /><Relationship Type="http://schemas.openxmlformats.org/officeDocument/2006/relationships/notesMaster" Target="/ppt/notesMasters/notesMaster1.xml" Id="R8d4046dc7e9944f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In-Person IV Skills Lab, Module 8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Cover media: Pexels photo by Yusuf Çelik, https://www.pexels.com/photo/aspiring-nurse-students-in-laboratory-setting-32213307/,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Demonstrate required psychomotor skills under direct observation Next, Respond to infusion problems and complications Next, Complete RN-verified competency records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One-day in-person schedule. First, The required in-person component is one 8-hour day: 30 minutes of focused review, 2.5 hours of equipment and peripheral-start practice, 1.5 hours of IVPB and access-device work, 1 hour of complication simulation, and 2.5 hours for the examination and RN competency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1: equipment and calculations. First, Verify orders, select fluids and tubing, inspect supplies, prime without air, calculate pump and gravity rates, trace lines, and correct common pump alarms.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2: peripheral insertion. First, Prepare the patient and site, select a vein and catheter, insert on a task trainer, connect and assess patency, secure and dress the site, initiate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3: secondary infusion and access care. First,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Station 4: complications. First, Respond to infiltration, extravasation, phlebitis, fluid overload, allergic reaction, transfusion reaction, air risk, occlusion, and suspected catheter damage. Next, State the immediate action and escalation path.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Eight-hour in-person skills day. First, 8:00–8:30: Safety briefing, objectives, and calculation check Next, 8:30–11:00: Equipment, priming, pump, vein selection, and peripheral starts Next, 11:00–12:00: IVPB and saline-lock practice Next, 12:00–12:30: Meal break Next, 12:30–1:30: Access-device assessment and dressing simulation Next, 1:30–2:30: Complication scenarios and documentation Next, 2:30–4:30: RN competency checkoffs, remediation, and final evaluation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 reference chart. First, Pump rate: mL/hr = volume (mL) ÷ time (hr) Next, Gravity rate: gtt/min = volume × drop factor ÷ time (min) Next, Volume: 1 L = 1,000 mL Next, Mass: 1 g = 1,000 mg; 1 mg = 1,000 mcg Next, Weight: kg = lb ÷ 2.2 Next, Legacy apothecary values are not used from the OCR source. Clarify any order written with an unfamiliar or ambiguous unit.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Legacy apothecary values are not used from the OCR source. Clarify any order written with an unfamiliar or ambiguous unit.</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peripheral IV start. First, Verify the order and patient; assess therapy and site; explain the procedure. Next, Maintain asepsis and allow antiseptic to dry. Next, Insert safely, activate sharps protection, connect without contamination, and assess patency. Next, Secure, dress, label, start therapy, reassess, teach, and document. Next, Any missed critical safety step requires remediation and repeat demonstration.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Competency begins with clinical decisions. First, Purpose: The intended outcome of the prescribed therapy Next, Patient assessment: Physical condition, allergies, previous infusion experience, education, and consent Next, Site: How age, condition, therapy, vein quality, activity, and expected dwell affect selection Next, Equipment: Why the catheter, extension, tubing, dressing, and pump fit this patient and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Appendix B, pages 53-54. BMHI checkoff criteria remain subject to current Florida scope and site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Know the central-access device before using it. First, Midline: Peripheral vasculature below the axilla; Not a central line; confirm that the prescribed therapy is peripherally appropriate Next, PICC: Central circulation after peripheral insertion; Verify tip-use clearance, lumen purpose, patency, and dressing condition Next, Nontunneled or tunneled CVC: Central circulation; Use strict asepsis and inspect the exit site, connections, and lumens Next, Implanted port: Central circulation through a subcutaneous reservoir; Access only with the correct noncoring needle and validated competency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30 Hour IV Certification Study Guide, revised March 2013, pages 35-42. Device definitions were retained; historical dwell-time, flush-volume, and dressing-frequency claims were excluded in favor of current orders, manufacturer instructions,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Central-line findings that require immediate escalation. First, Sudden dyspnea, chest pain, cyanosis, or altered consciousness: Air embolism or thoracic complication; Stop unsafe use, clamp or protect the system as trained, call emergency response, and support ABCs Next, Neck, chest, shoulder, or arm swelling: Malposition, infiltration, or thrombosis; Stop use and obtain urgent qualified assessment Next, Redness, tenderness, drainage, fever, or chills: Local or bloodstream infection; Assess, notify, and follow culture and device-management orders Next, Resistance, absent blood return, leaking, or damaged catheter: Occlusion, malposition, or device failure; Never force a flush; stop use and escalate Next, Do not remove, reposition, repair, instill a declotting agent, or access a central device unless the action is authorized and competency-validated.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Do not remove, reposition, repair, instill a declotting agent, or access a central device unless the action is authorized and competency-validated. Additional source: 30 Hour IV Certification Study Guide, revised March 2013, pages 37-43. Emergency actions must follow the current device-specific protocol and facility policy.</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Removal checkoff includes catheter integrity. First, Stop all infusates and remove the dressing while supporting the skin and catheter. Next, Assess the site before removal, withdraw the catheter slowly and steadily, and achieve hemostasis. Next, Inspect the removed catheter and compare its condition and length with the expected intact device. Next, If the catheter is not intact, do not discard it; immobilize the extremity as directed and notify the supervising clinician immediately. Next, Document the site, catheter condition, hemostasis, dressing, patient teaching,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Additional source: Peripheral Intravenous Initiation Self Learning Module, page 30.</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Checkoff: IVPB and pump. First, Verify the primary and secondary orders and compatibility. Next, Prepare and label the secondary medication using aseptic technique. Next, Trace the line from patient to source, connect to the correct port, and position bags correctly. Next, Program the correct channel, volume, and rate; independently verify high-alert settings when required. Next, Confirm flow, monitor the patient and site, and document the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Scenario response pattern. First, Recognize: Name the abnormal cue and likely complication Next, Stop or protect: Stop unsafe therapy and protect the patient Next, Assess: Check site, airway, breathing, circulation, vital signs, and symptoms Next, Escalate: Notify the RN/prescriber or activate emergency response Next, Document: Record findings, actions, notifications, orders,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109-123;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Pass every critical element on the skills checklist Next, Repeat any missed critical step after remediation Next, Obtain the Florida RN evaluator's dated proficiency statement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Skills evaluation requires direct observation and written RN verification.</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Demonstrate required psychomotor skills under direct observation Next, Verify orders, select fluids and tubing, inspect supplies, prime without air, calculate pump and gravity rates, trace lines, and correct common pump alarms. Next, Verify compatibility, prepare an IV piggyback, program the pump, use the required flushing sequence, evaluate peripheral and central-device dressings, and identify actions outside the learner's authorized role.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109;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034a8ed1b454b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67d0ce438b426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54432260274456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dd4703eef8b462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21e938ab2c045c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82e179085764bb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B01EA71-613A-4D59-AD33-B66EAC8C005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3B8405D-EF26-4630-954E-1008FBBE76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51B986-D3B8-4750-8210-D4C69B14CC4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19B9182-10BC-4D22-B896-2276753347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3AEB4FD-8C3E-4648-98C2-1884673BC55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218CF1-1BDD-4167-A342-0E042F6A44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A483B62-1273-436C-ABBD-C835B818F3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C8223E7-CE9F-488F-B6F1-E6AD95BFAB56}"/>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EF336A6-70FA-4AA5-85AF-37968C0EC84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2845CD-8E53-4146-8705-CD0DBEB9BE4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24cdb374e1e4b84" /><Relationship Type="http://schemas.openxmlformats.org/officeDocument/2006/relationships/slideLayout" Target="/ppt/slideLayouts/slideLayout1.xml" Id="R6774de67166d4036" /><Relationship Type="http://schemas.openxmlformats.org/officeDocument/2006/relationships/slideLayout" Target="/ppt/slideLayouts/slideLayout2.xml" Id="R72631720d3f74ab7" /><Relationship Type="http://schemas.openxmlformats.org/officeDocument/2006/relationships/slideLayout" Target="/ppt/slideLayouts/slideLayout3.xml" Id="R71c57885791c4714" /><Relationship Type="http://schemas.openxmlformats.org/officeDocument/2006/relationships/slideLayout" Target="/ppt/slideLayouts/slideLayout4.xml" Id="R8e1b539387f044f1" /><Relationship Type="http://schemas.openxmlformats.org/officeDocument/2006/relationships/slideLayout" Target="/ppt/slideLayouts/slideLayout5.xml" Id="R0d4ff2822ded4d86" /><Relationship Type="http://schemas.openxmlformats.org/officeDocument/2006/relationships/slideLayout" Target="/ppt/slideLayouts/slideLayout6.xml" Id="Re79753a721ae410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74de67166d4036"/>
    <p:sldLayoutId xmlns:r="http://schemas.openxmlformats.org/officeDocument/2006/relationships" id="2147483650" r:id="R72631720d3f74ab7"/>
    <p:sldLayoutId xmlns:r="http://schemas.openxmlformats.org/officeDocument/2006/relationships" id="2147483651" r:id="R71c57885791c4714"/>
    <p:sldLayoutId xmlns:r="http://schemas.openxmlformats.org/officeDocument/2006/relationships" id="2147483652" r:id="R8e1b539387f044f1"/>
    <p:sldLayoutId xmlns:r="http://schemas.openxmlformats.org/officeDocument/2006/relationships" id="2147483653" r:id="R0d4ff2822ded4d86"/>
    <p:sldLayoutId xmlns:r="http://schemas.openxmlformats.org/officeDocument/2006/relationships" id="2147483654" r:id="Re79753a721ae410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e8db5216cfe46e1" /><Relationship Type="http://schemas.openxmlformats.org/officeDocument/2006/relationships/image" Target="/ppt/media/image.jpeg" Id="Rd228b196415d4026" /><Relationship Type="http://schemas.openxmlformats.org/officeDocument/2006/relationships/notesSlide" Target="/ppt/notesSlides/notesSlide1.xml" Id="R3141855440e444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c8a50277c1f4460" /><Relationship Type="http://schemas.openxmlformats.org/officeDocument/2006/relationships/notesSlide" Target="/ppt/notesSlides/notesSlide2.xml" Id="R2a30446ab76b4cd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9c6a50feb764e89" /><Relationship Type="http://schemas.openxmlformats.org/officeDocument/2006/relationships/notesSlide" Target="/ppt/notesSlides/notesSlide3.xml" Id="R0cf1c422002442c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82d6a72e614a7d" /><Relationship Type="http://schemas.openxmlformats.org/officeDocument/2006/relationships/notesSlide" Target="/ppt/notesSlides/notesSlide4.xml" Id="R983a99714d95417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0155a34b64e4526" /><Relationship Type="http://schemas.openxmlformats.org/officeDocument/2006/relationships/notesSlide" Target="/ppt/notesSlides/notesSlide5.xml" Id="R23fa5b638319484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36551d5ff434e0a" /><Relationship Type="http://schemas.openxmlformats.org/officeDocument/2006/relationships/notesSlide" Target="/ppt/notesSlides/notesSlide6.xml" Id="R689a06b335d6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156c3e4b6f42ec" /><Relationship Type="http://schemas.openxmlformats.org/officeDocument/2006/relationships/notesSlide" Target="/ppt/notesSlides/notesSlide7.xml" Id="R79c132c5fd104451"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cbf7f7fa4d414c" /><Relationship Type="http://schemas.openxmlformats.org/officeDocument/2006/relationships/notesSlide" Target="/ppt/notesSlides/notesSlide8.xml" Id="R6718425beef6457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58cc8887b7479e" /><Relationship Type="http://schemas.openxmlformats.org/officeDocument/2006/relationships/notesSlide" Target="/ppt/notesSlides/notesSlide9.xml" Id="Ra03daba8372c4af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b29e246ffbc403a" /><Relationship Type="http://schemas.openxmlformats.org/officeDocument/2006/relationships/notesSlide" Target="/ppt/notesSlides/notesSlide10.xml" Id="R86fabbd0d9ca403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50a5424e36054258" /><Relationship Type="http://schemas.openxmlformats.org/officeDocument/2006/relationships/notesSlide" Target="/ppt/notesSlides/notesSlide11.xml" Id="Rdc6257e28f2d4f3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6635014933c40b6" /><Relationship Type="http://schemas.openxmlformats.org/officeDocument/2006/relationships/notesSlide" Target="/ppt/notesSlides/notesSlide12.xml" Id="R46db1d12caed47e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271a418285b1465c" /><Relationship Type="http://schemas.openxmlformats.org/officeDocument/2006/relationships/notesSlide" Target="/ppt/notesSlides/notesSlide13.xml" Id="R0a4c40b0c22045b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0d4de44cbb447e0" /><Relationship Type="http://schemas.openxmlformats.org/officeDocument/2006/relationships/notesSlide" Target="/ppt/notesSlides/notesSlide14.xml" Id="R4227b809772443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9167348a72a4d7d" /><Relationship Type="http://schemas.openxmlformats.org/officeDocument/2006/relationships/notesSlide" Target="/ppt/notesSlides/notesSlide15.xml" Id="R909fe4c12d834ff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9de48c99380f40e6" /><Relationship Type="http://schemas.openxmlformats.org/officeDocument/2006/relationships/notesSlide" Target="/ppt/notesSlides/notesSlide16.xml" Id="R6859f921279a452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a9ca1a39e3a64ebe" /><Relationship Type="http://schemas.openxmlformats.org/officeDocument/2006/relationships/notesSlide" Target="/ppt/notesSlides/notesSlide17.xml" Id="Rfe9b452469e842a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aea1d0dafcb441b0" /><Relationship Type="http://schemas.openxmlformats.org/officeDocument/2006/relationships/notesSlide" Target="/ppt/notesSlides/notesSlide18.xml" Id="Reb2250a5cdc647bb"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F52C80D-DC21-43C0-AA26-BA9302086E75}"/>
              </a:ext>
            </a:extLst>
          </p:cNvPr>
          <p:cNvPicPr>
            <a:picLocks xmlns:a="http://schemas.openxmlformats.org/drawingml/2006/main" noChangeAspect="1"/>
          </p:cNvPicPr>
          <p:nvPr/>
        </p:nvPicPr>
        <p:blipFill>
          <a:blip xmlns:r="http://schemas.openxmlformats.org/officeDocument/2006/relationships" xmlns:a="http://schemas.openxmlformats.org/drawingml/2006/main" r:embed="Rd228b196415d4026"/>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6B7CA8E-5320-40B3-A619-5CA92E6F3607}"/>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4C08643E-F895-4A24-BAB3-BF811A4BFBE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A771EDDB-0BB8-4B87-86C0-7B512E722F36}"/>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BCE09F7B-14EF-4C7D-AB68-C8CB98DDED68}"/>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In-Person IV Skills Lab</a:t>
            </a:r>
          </a:p>
        </p:txBody>
      </p:sp>
      <p:sp>
        <p:nvSpPr>
          <p:cNvPr id="6" name="">
            <a:extLst xmlns:a="http://schemas.openxmlformats.org/drawingml/2006/main">
              <a:ext uri="{FF2B5EF4-FFF2-40B4-BE49-F238E27FC236}">
                <a16:creationId xmlns:a16="http://schemas.microsoft.com/office/drawing/2014/main" id="{4290E994-6978-4925-90B3-89ACF888454D}"/>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8  |  30-Hour Basic Intravenous Therapy</a:t>
            </a:r>
          </a:p>
        </p:txBody>
      </p:sp>
      <p:sp>
        <p:nvSpPr>
          <p:cNvPr id="7" name="">
            <a:extLst xmlns:a="http://schemas.openxmlformats.org/drawingml/2006/main">
              <a:ext uri="{FF2B5EF4-FFF2-40B4-BE49-F238E27FC236}">
                <a16:creationId xmlns:a16="http://schemas.microsoft.com/office/drawing/2014/main" id="{00BF44D5-C2D5-4B87-90AC-B47E1D4EE84E}"/>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77127916"/>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ACE80DB-38B1-4D8A-A22F-29D7686EC66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7B29D60-632E-4F9E-8A76-FBCC1C98C1A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6D4B9A5E-58CB-41E8-9152-36AB6BC81A8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576ABECC-352A-430E-9F69-89F8D36F0E2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69015FAE-FEAE-44F5-AEFF-1032972ACDFB}"/>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Respond to infusion problems and complications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RN-verified competency records</a:t>
            </a:r>
          </a:p>
        </p:txBody>
      </p:sp>
    </p:spTree>
    <p:extLst>
      <p:ext uri="{BB962C8B-B14F-4D97-AF65-F5344CB8AC3E}">
        <p14:creationId xmlns:p14="http://schemas.microsoft.com/office/powerpoint/2010/main" val="200136765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226A3C5-BC4A-46C4-876C-AAC1BAF861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4D2EFF5-5EB1-4AD6-9031-6B23B35C3FA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One-day in-person schedule</a:t>
            </a:r>
          </a:p>
        </p:txBody>
      </p:sp>
      <p:sp>
        <p:nvSpPr>
          <p:cNvPr id="3" name="">
            <a:extLst xmlns:a="http://schemas.openxmlformats.org/drawingml/2006/main">
              <a:ext uri="{FF2B5EF4-FFF2-40B4-BE49-F238E27FC236}">
                <a16:creationId xmlns:a16="http://schemas.microsoft.com/office/drawing/2014/main" id="{5E3513FE-3E25-4DE3-AB69-A86008BF2B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093C2D03-724D-4183-94DF-C676612CDAD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5A1CC55-DE0E-43E7-82A2-67D14158D9D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The required in-person component is one 8-hour day: 30 minutes of focused review, 2.5 hours of equipment and peripheral-start practice, 1.5 hours of IVPB and access-device work, 1 hour of complication simulation, and 2.5 hours for the examination and RN competency evaluation.</a:t>
            </a:r>
          </a:p>
        </p:txBody>
      </p:sp>
      <p:sp>
        <p:nvSpPr>
          <p:cNvPr id="6" name="">
            <a:extLst xmlns:a="http://schemas.openxmlformats.org/drawingml/2006/main">
              <a:ext uri="{FF2B5EF4-FFF2-40B4-BE49-F238E27FC236}">
                <a16:creationId xmlns:a16="http://schemas.microsoft.com/office/drawing/2014/main" id="{8F7A4EDD-DCCB-419B-9DAE-7E5F1BFBD2C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0001693"/>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9616DC-0EE5-4759-AC1A-B03533EE9C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AE59B02-8549-4854-9E69-C11FCC5B730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1: equipment and calculations</a:t>
            </a:r>
          </a:p>
        </p:txBody>
      </p:sp>
      <p:sp>
        <p:nvSpPr>
          <p:cNvPr id="3" name="">
            <a:extLst xmlns:a="http://schemas.openxmlformats.org/drawingml/2006/main">
              <a:ext uri="{FF2B5EF4-FFF2-40B4-BE49-F238E27FC236}">
                <a16:creationId xmlns:a16="http://schemas.microsoft.com/office/drawing/2014/main" id="{4F478714-7837-4FD6-9A42-73FF7B7C94B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4C2E891-5427-46D2-9DB7-02F7F04F9AC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F5503EE8-31EA-49EC-9CDF-137A3937D3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p:txBody>
      </p:sp>
      <p:sp>
        <p:nvSpPr>
          <p:cNvPr id="6" name="">
            <a:extLst xmlns:a="http://schemas.openxmlformats.org/drawingml/2006/main">
              <a:ext uri="{FF2B5EF4-FFF2-40B4-BE49-F238E27FC236}">
                <a16:creationId xmlns:a16="http://schemas.microsoft.com/office/drawing/2014/main" id="{611AAE77-7686-4C85-86E6-CBE7FA0C60E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1482233"/>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4708732-E99B-4978-99D6-4BAEC641B5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AF48D16-E78D-45AB-A13F-45FE796B11A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2: peripheral insertion</a:t>
            </a:r>
          </a:p>
        </p:txBody>
      </p:sp>
      <p:sp>
        <p:nvSpPr>
          <p:cNvPr id="3" name="">
            <a:extLst xmlns:a="http://schemas.openxmlformats.org/drawingml/2006/main">
              <a:ext uri="{FF2B5EF4-FFF2-40B4-BE49-F238E27FC236}">
                <a16:creationId xmlns:a16="http://schemas.microsoft.com/office/drawing/2014/main" id="{CA1D8F16-6A05-4641-AC6F-D3BC6ADDE67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33C1F983-8CD7-4797-9E50-F1C61F404EE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0C9F28B-1ADB-458C-96F7-ADC5278EC5C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Prepare the patient and site, select a vein and catheter, insert on a task trainer, connect and assess patency, secure and dress the site, initiate therapy, teach the patient, and document.</a:t>
            </a:r>
          </a:p>
        </p:txBody>
      </p:sp>
      <p:sp>
        <p:nvSpPr>
          <p:cNvPr id="6" name="">
            <a:extLst xmlns:a="http://schemas.openxmlformats.org/drawingml/2006/main">
              <a:ext uri="{FF2B5EF4-FFF2-40B4-BE49-F238E27FC236}">
                <a16:creationId xmlns:a16="http://schemas.microsoft.com/office/drawing/2014/main" id="{FD2F800E-D09A-4512-BFC5-C62C126CD02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20814429"/>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EC39BD-ACDC-4192-9904-EF71C60437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063D68B-3306-4271-A972-062A5B3AB3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3: secondary infusion and access care</a:t>
            </a:r>
          </a:p>
        </p:txBody>
      </p:sp>
      <p:sp>
        <p:nvSpPr>
          <p:cNvPr id="3" name="">
            <a:extLst xmlns:a="http://schemas.openxmlformats.org/drawingml/2006/main">
              <a:ext uri="{FF2B5EF4-FFF2-40B4-BE49-F238E27FC236}">
                <a16:creationId xmlns:a16="http://schemas.microsoft.com/office/drawing/2014/main" id="{D7DDAF94-AEAF-48B9-BAEB-6B945886A8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A1E7293-B2C9-447C-9DD6-E49095687FF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6F6B454-184C-4EA1-A2F7-2BA19140B7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CB8D284E-02D9-43AF-A115-FBB9E6A191F6}"/>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7200410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A0B3F2-A4B9-4594-8A23-AA506919CE7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64C32F4-934C-411A-B9BD-078E8B9B33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Station 4: complications</a:t>
            </a:r>
          </a:p>
        </p:txBody>
      </p:sp>
      <p:sp>
        <p:nvSpPr>
          <p:cNvPr id="3" name="">
            <a:extLst xmlns:a="http://schemas.openxmlformats.org/drawingml/2006/main">
              <a:ext uri="{FF2B5EF4-FFF2-40B4-BE49-F238E27FC236}">
                <a16:creationId xmlns:a16="http://schemas.microsoft.com/office/drawing/2014/main" id="{7001F83F-B80F-498F-9F9F-5E2E8B0D9E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855F15E5-1214-417E-915A-311D9116EBD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A2100E18-454B-4F70-9CA4-44280B2553A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Respond to infiltration, extravasation, phlebitis, fluid overload, allergic reaction, transfusion reaction, air risk, occlusion, and suspected catheter damage.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State the immediate action and escalation path.</a:t>
            </a:r>
          </a:p>
        </p:txBody>
      </p:sp>
      <p:sp>
        <p:nvSpPr>
          <p:cNvPr id="6" name="">
            <a:extLst xmlns:a="http://schemas.openxmlformats.org/drawingml/2006/main">
              <a:ext uri="{FF2B5EF4-FFF2-40B4-BE49-F238E27FC236}">
                <a16:creationId xmlns:a16="http://schemas.microsoft.com/office/drawing/2014/main" id="{93B034FB-AC9A-448F-8528-4842769F8B7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52644711"/>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B01E2DD3-43BC-44C8-8899-FE11834E0BB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153B23E-D0AF-4CC8-90AC-791EB7F1BEF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Eight-hour in-person skills day</a:t>
            </a:r>
          </a:p>
        </p:txBody>
      </p:sp>
      <p:sp>
        <p:nvSpPr>
          <p:cNvPr id="3" name="">
            <a:extLst xmlns:a="http://schemas.openxmlformats.org/drawingml/2006/main">
              <a:ext uri="{FF2B5EF4-FFF2-40B4-BE49-F238E27FC236}">
                <a16:creationId xmlns:a16="http://schemas.microsoft.com/office/drawing/2014/main" id="{6C1DCC16-7BB0-4109-93D9-9BBA4B9434D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A3D3CDA-9C8F-48C7-A154-D1A34D88E5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F6BFCA91-13B1-4EDF-AED3-A257B8417AF2}"/>
              </a:ext>
            </a:extLst>
          </p:cNvPr>
          <p:cNvSpPr>
            <a:spLocks xmlns:a="http://schemas.openxmlformats.org/drawingml/2006/main" noGrp="1"/>
          </p:cNvSpPr>
          <p:nvPr/>
        </p:nvSpPr>
        <p:spPr>
          <a:xfrm xmlns:a="http://schemas.openxmlformats.org/drawingml/2006/main">
            <a:off x="781050"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1B765E6-41E6-4E12-861F-F6054018597C}"/>
              </a:ext>
            </a:extLst>
          </p:cNvPr>
          <p:cNvSpPr>
            <a:spLocks xmlns:a="http://schemas.openxmlformats.org/drawingml/2006/main" noGrp="1"/>
          </p:cNvSpPr>
          <p:nvPr/>
        </p:nvSpPr>
        <p:spPr>
          <a:xfrm xmlns:a="http://schemas.openxmlformats.org/drawingml/2006/main">
            <a:off x="876300"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Time</a:t>
            </a:r>
          </a:p>
        </p:txBody>
      </p:sp>
      <p:sp>
        <p:nvSpPr>
          <p:cNvPr id="7" name="">
            <a:extLst xmlns:a="http://schemas.openxmlformats.org/drawingml/2006/main">
              <a:ext uri="{FF2B5EF4-FFF2-40B4-BE49-F238E27FC236}">
                <a16:creationId xmlns:a16="http://schemas.microsoft.com/office/drawing/2014/main" id="{45E5BE78-32F4-4C07-B3B7-EF5CACF610F3}"/>
              </a:ext>
            </a:extLst>
          </p:cNvPr>
          <p:cNvSpPr>
            <a:spLocks xmlns:a="http://schemas.openxmlformats.org/drawingml/2006/main" noGrp="1"/>
          </p:cNvSpPr>
          <p:nvPr/>
        </p:nvSpPr>
        <p:spPr>
          <a:xfrm xmlns:a="http://schemas.openxmlformats.org/drawingml/2006/main">
            <a:off x="6067425" y="1695450"/>
            <a:ext cx="5286375" cy="535781"/>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323DC5EE-7339-4F29-84C0-71125AB64804}"/>
              </a:ext>
            </a:extLst>
          </p:cNvPr>
          <p:cNvSpPr>
            <a:spLocks xmlns:a="http://schemas.openxmlformats.org/drawingml/2006/main" noGrp="1"/>
          </p:cNvSpPr>
          <p:nvPr/>
        </p:nvSpPr>
        <p:spPr>
          <a:xfrm xmlns:a="http://schemas.openxmlformats.org/drawingml/2006/main">
            <a:off x="6162675" y="1762125"/>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Activity</a:t>
            </a:r>
          </a:p>
        </p:txBody>
      </p:sp>
      <p:sp>
        <p:nvSpPr>
          <p:cNvPr id="9" name="">
            <a:extLst xmlns:a="http://schemas.openxmlformats.org/drawingml/2006/main">
              <a:ext uri="{FF2B5EF4-FFF2-40B4-BE49-F238E27FC236}">
                <a16:creationId xmlns:a16="http://schemas.microsoft.com/office/drawing/2014/main" id="{3A11F697-74A1-4C34-AE9D-D9546DB40F0B}"/>
              </a:ext>
            </a:extLst>
          </p:cNvPr>
          <p:cNvSpPr>
            <a:spLocks xmlns:a="http://schemas.openxmlformats.org/drawingml/2006/main" noGrp="1"/>
          </p:cNvSpPr>
          <p:nvPr/>
        </p:nvSpPr>
        <p:spPr>
          <a:xfrm xmlns:a="http://schemas.openxmlformats.org/drawingml/2006/main">
            <a:off x="781050"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BBC8107-C644-4E49-A797-07A5A1D27D76}"/>
              </a:ext>
            </a:extLst>
          </p:cNvPr>
          <p:cNvSpPr>
            <a:spLocks xmlns:a="http://schemas.openxmlformats.org/drawingml/2006/main" noGrp="1"/>
          </p:cNvSpPr>
          <p:nvPr/>
        </p:nvSpPr>
        <p:spPr>
          <a:xfrm xmlns:a="http://schemas.openxmlformats.org/drawingml/2006/main">
            <a:off x="876300"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8:00–8:30</a:t>
            </a:r>
          </a:p>
        </p:txBody>
      </p:sp>
      <p:sp>
        <p:nvSpPr>
          <p:cNvPr id="11" name="">
            <a:extLst xmlns:a="http://schemas.openxmlformats.org/drawingml/2006/main">
              <a:ext uri="{FF2B5EF4-FFF2-40B4-BE49-F238E27FC236}">
                <a16:creationId xmlns:a16="http://schemas.microsoft.com/office/drawing/2014/main" id="{C75CFB8B-B84E-47DA-B88E-A4242FB47358}"/>
              </a:ext>
            </a:extLst>
          </p:cNvPr>
          <p:cNvSpPr>
            <a:spLocks xmlns:a="http://schemas.openxmlformats.org/drawingml/2006/main" noGrp="1"/>
          </p:cNvSpPr>
          <p:nvPr/>
        </p:nvSpPr>
        <p:spPr>
          <a:xfrm xmlns:a="http://schemas.openxmlformats.org/drawingml/2006/main">
            <a:off x="6067425" y="2231231"/>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FB16576-E9FD-4EFA-B204-B1D813D41392}"/>
              </a:ext>
            </a:extLst>
          </p:cNvPr>
          <p:cNvSpPr>
            <a:spLocks xmlns:a="http://schemas.openxmlformats.org/drawingml/2006/main" noGrp="1"/>
          </p:cNvSpPr>
          <p:nvPr/>
        </p:nvSpPr>
        <p:spPr>
          <a:xfrm xmlns:a="http://schemas.openxmlformats.org/drawingml/2006/main">
            <a:off x="6162675" y="2297906"/>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Safety briefing, objectives, and calculation check</a:t>
            </a:r>
          </a:p>
        </p:txBody>
      </p:sp>
      <p:sp>
        <p:nvSpPr>
          <p:cNvPr id="13" name="">
            <a:extLst xmlns:a="http://schemas.openxmlformats.org/drawingml/2006/main">
              <a:ext uri="{FF2B5EF4-FFF2-40B4-BE49-F238E27FC236}">
                <a16:creationId xmlns:a16="http://schemas.microsoft.com/office/drawing/2014/main" id="{AB198869-F1E7-46E5-9B27-135CC95E18A4}"/>
              </a:ext>
            </a:extLst>
          </p:cNvPr>
          <p:cNvSpPr>
            <a:spLocks xmlns:a="http://schemas.openxmlformats.org/drawingml/2006/main" noGrp="1"/>
          </p:cNvSpPr>
          <p:nvPr/>
        </p:nvSpPr>
        <p:spPr>
          <a:xfrm xmlns:a="http://schemas.openxmlformats.org/drawingml/2006/main">
            <a:off x="781050"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3F8F983-9902-4F7A-9D2D-D8F853AC97B4}"/>
              </a:ext>
            </a:extLst>
          </p:cNvPr>
          <p:cNvSpPr>
            <a:spLocks xmlns:a="http://schemas.openxmlformats.org/drawingml/2006/main" noGrp="1"/>
          </p:cNvSpPr>
          <p:nvPr/>
        </p:nvSpPr>
        <p:spPr>
          <a:xfrm xmlns:a="http://schemas.openxmlformats.org/drawingml/2006/main">
            <a:off x="876300"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8:30–11:00</a:t>
            </a:r>
          </a:p>
        </p:txBody>
      </p:sp>
      <p:sp>
        <p:nvSpPr>
          <p:cNvPr id="15" name="">
            <a:extLst xmlns:a="http://schemas.openxmlformats.org/drawingml/2006/main">
              <a:ext uri="{FF2B5EF4-FFF2-40B4-BE49-F238E27FC236}">
                <a16:creationId xmlns:a16="http://schemas.microsoft.com/office/drawing/2014/main" id="{9739A23B-E2B3-4549-8402-411899C58DE9}"/>
              </a:ext>
            </a:extLst>
          </p:cNvPr>
          <p:cNvSpPr>
            <a:spLocks xmlns:a="http://schemas.openxmlformats.org/drawingml/2006/main" noGrp="1"/>
          </p:cNvSpPr>
          <p:nvPr/>
        </p:nvSpPr>
        <p:spPr>
          <a:xfrm xmlns:a="http://schemas.openxmlformats.org/drawingml/2006/main">
            <a:off x="6067425" y="2767013"/>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E53D1BE3-0FCB-4244-AE6A-BE271E9C483F}"/>
              </a:ext>
            </a:extLst>
          </p:cNvPr>
          <p:cNvSpPr>
            <a:spLocks xmlns:a="http://schemas.openxmlformats.org/drawingml/2006/main" noGrp="1"/>
          </p:cNvSpPr>
          <p:nvPr/>
        </p:nvSpPr>
        <p:spPr>
          <a:xfrm xmlns:a="http://schemas.openxmlformats.org/drawingml/2006/main">
            <a:off x="6162675" y="2833688"/>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 priming, pump, vein selection, and peripheral starts</a:t>
            </a:r>
          </a:p>
        </p:txBody>
      </p:sp>
      <p:sp>
        <p:nvSpPr>
          <p:cNvPr id="17" name="">
            <a:extLst xmlns:a="http://schemas.openxmlformats.org/drawingml/2006/main">
              <a:ext uri="{FF2B5EF4-FFF2-40B4-BE49-F238E27FC236}">
                <a16:creationId xmlns:a16="http://schemas.microsoft.com/office/drawing/2014/main" id="{DE3A5129-CCE2-4D0A-B3F1-71BDCC2B30B8}"/>
              </a:ext>
            </a:extLst>
          </p:cNvPr>
          <p:cNvSpPr>
            <a:spLocks xmlns:a="http://schemas.openxmlformats.org/drawingml/2006/main" noGrp="1"/>
          </p:cNvSpPr>
          <p:nvPr/>
        </p:nvSpPr>
        <p:spPr>
          <a:xfrm xmlns:a="http://schemas.openxmlformats.org/drawingml/2006/main">
            <a:off x="781050"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8371D3E2-DD24-4F45-8C3C-1702E3E25CD4}"/>
              </a:ext>
            </a:extLst>
          </p:cNvPr>
          <p:cNvSpPr>
            <a:spLocks xmlns:a="http://schemas.openxmlformats.org/drawingml/2006/main" noGrp="1"/>
          </p:cNvSpPr>
          <p:nvPr/>
        </p:nvSpPr>
        <p:spPr>
          <a:xfrm xmlns:a="http://schemas.openxmlformats.org/drawingml/2006/main">
            <a:off x="876300"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11:00–12:00</a:t>
            </a:r>
          </a:p>
        </p:txBody>
      </p:sp>
      <p:sp>
        <p:nvSpPr>
          <p:cNvPr id="19" name="">
            <a:extLst xmlns:a="http://schemas.openxmlformats.org/drawingml/2006/main">
              <a:ext uri="{FF2B5EF4-FFF2-40B4-BE49-F238E27FC236}">
                <a16:creationId xmlns:a16="http://schemas.microsoft.com/office/drawing/2014/main" id="{203D436C-89AB-4B1B-AEA0-88DAE86E9A4E}"/>
              </a:ext>
            </a:extLst>
          </p:cNvPr>
          <p:cNvSpPr>
            <a:spLocks xmlns:a="http://schemas.openxmlformats.org/drawingml/2006/main" noGrp="1"/>
          </p:cNvSpPr>
          <p:nvPr/>
        </p:nvSpPr>
        <p:spPr>
          <a:xfrm xmlns:a="http://schemas.openxmlformats.org/drawingml/2006/main">
            <a:off x="6067425" y="3302794"/>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5A0A05D0-5D75-4D30-AEFF-066834F8742C}"/>
              </a:ext>
            </a:extLst>
          </p:cNvPr>
          <p:cNvSpPr>
            <a:spLocks xmlns:a="http://schemas.openxmlformats.org/drawingml/2006/main" noGrp="1"/>
          </p:cNvSpPr>
          <p:nvPr/>
        </p:nvSpPr>
        <p:spPr>
          <a:xfrm xmlns:a="http://schemas.openxmlformats.org/drawingml/2006/main">
            <a:off x="6162675" y="3369469"/>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IVPB and saline-lock practice</a:t>
            </a:r>
          </a:p>
        </p:txBody>
      </p:sp>
      <p:sp>
        <p:nvSpPr>
          <p:cNvPr id="21" name="">
            <a:extLst xmlns:a="http://schemas.openxmlformats.org/drawingml/2006/main">
              <a:ext uri="{FF2B5EF4-FFF2-40B4-BE49-F238E27FC236}">
                <a16:creationId xmlns:a16="http://schemas.microsoft.com/office/drawing/2014/main" id="{EEB6113F-AF6F-456F-BF09-2A4BC7E7B499}"/>
              </a:ext>
            </a:extLst>
          </p:cNvPr>
          <p:cNvSpPr>
            <a:spLocks xmlns:a="http://schemas.openxmlformats.org/drawingml/2006/main" noGrp="1"/>
          </p:cNvSpPr>
          <p:nvPr/>
        </p:nvSpPr>
        <p:spPr>
          <a:xfrm xmlns:a="http://schemas.openxmlformats.org/drawingml/2006/main">
            <a:off x="781050"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47C61FA-48CF-4D99-A1C6-F756FE6200DF}"/>
              </a:ext>
            </a:extLst>
          </p:cNvPr>
          <p:cNvSpPr>
            <a:spLocks xmlns:a="http://schemas.openxmlformats.org/drawingml/2006/main" noGrp="1"/>
          </p:cNvSpPr>
          <p:nvPr/>
        </p:nvSpPr>
        <p:spPr>
          <a:xfrm xmlns:a="http://schemas.openxmlformats.org/drawingml/2006/main">
            <a:off x="876300"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12:00–12:30</a:t>
            </a:r>
          </a:p>
        </p:txBody>
      </p:sp>
      <p:sp>
        <p:nvSpPr>
          <p:cNvPr id="23" name="">
            <a:extLst xmlns:a="http://schemas.openxmlformats.org/drawingml/2006/main">
              <a:ext uri="{FF2B5EF4-FFF2-40B4-BE49-F238E27FC236}">
                <a16:creationId xmlns:a16="http://schemas.microsoft.com/office/drawing/2014/main" id="{03D66BC8-5E36-44B0-8214-94F54772B761}"/>
              </a:ext>
            </a:extLst>
          </p:cNvPr>
          <p:cNvSpPr>
            <a:spLocks xmlns:a="http://schemas.openxmlformats.org/drawingml/2006/main" noGrp="1"/>
          </p:cNvSpPr>
          <p:nvPr/>
        </p:nvSpPr>
        <p:spPr>
          <a:xfrm xmlns:a="http://schemas.openxmlformats.org/drawingml/2006/main">
            <a:off x="6067425" y="3838575"/>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1479EE1-0F24-412C-99F4-3E5C4089D4AD}"/>
              </a:ext>
            </a:extLst>
          </p:cNvPr>
          <p:cNvSpPr>
            <a:spLocks xmlns:a="http://schemas.openxmlformats.org/drawingml/2006/main" noGrp="1"/>
          </p:cNvSpPr>
          <p:nvPr/>
        </p:nvSpPr>
        <p:spPr>
          <a:xfrm xmlns:a="http://schemas.openxmlformats.org/drawingml/2006/main">
            <a:off x="6162675" y="3905250"/>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Meal break</a:t>
            </a:r>
          </a:p>
        </p:txBody>
      </p:sp>
      <p:sp>
        <p:nvSpPr>
          <p:cNvPr id="25" name="">
            <a:extLst xmlns:a="http://schemas.openxmlformats.org/drawingml/2006/main">
              <a:ext uri="{FF2B5EF4-FFF2-40B4-BE49-F238E27FC236}">
                <a16:creationId xmlns:a16="http://schemas.microsoft.com/office/drawing/2014/main" id="{563E15A7-F393-4FD3-BF20-108AAE234279}"/>
              </a:ext>
            </a:extLst>
          </p:cNvPr>
          <p:cNvSpPr>
            <a:spLocks xmlns:a="http://schemas.openxmlformats.org/drawingml/2006/main" noGrp="1"/>
          </p:cNvSpPr>
          <p:nvPr/>
        </p:nvSpPr>
        <p:spPr>
          <a:xfrm xmlns:a="http://schemas.openxmlformats.org/drawingml/2006/main">
            <a:off x="781050"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4FF9779-5FE5-4581-AC19-15833D185571}"/>
              </a:ext>
            </a:extLst>
          </p:cNvPr>
          <p:cNvSpPr>
            <a:spLocks xmlns:a="http://schemas.openxmlformats.org/drawingml/2006/main" noGrp="1"/>
          </p:cNvSpPr>
          <p:nvPr/>
        </p:nvSpPr>
        <p:spPr>
          <a:xfrm xmlns:a="http://schemas.openxmlformats.org/drawingml/2006/main">
            <a:off x="876300"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12:30–1:30</a:t>
            </a:r>
          </a:p>
        </p:txBody>
      </p:sp>
      <p:sp>
        <p:nvSpPr>
          <p:cNvPr id="27" name="">
            <a:extLst xmlns:a="http://schemas.openxmlformats.org/drawingml/2006/main">
              <a:ext uri="{FF2B5EF4-FFF2-40B4-BE49-F238E27FC236}">
                <a16:creationId xmlns:a16="http://schemas.microsoft.com/office/drawing/2014/main" id="{9DE91394-8124-4901-A773-4C47C96E3DCA}"/>
              </a:ext>
            </a:extLst>
          </p:cNvPr>
          <p:cNvSpPr>
            <a:spLocks xmlns:a="http://schemas.openxmlformats.org/drawingml/2006/main" noGrp="1"/>
          </p:cNvSpPr>
          <p:nvPr/>
        </p:nvSpPr>
        <p:spPr>
          <a:xfrm xmlns:a="http://schemas.openxmlformats.org/drawingml/2006/main">
            <a:off x="6067425" y="4374356"/>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BE15F4E-A438-42DB-97C2-E11F14C0227F}"/>
              </a:ext>
            </a:extLst>
          </p:cNvPr>
          <p:cNvSpPr>
            <a:spLocks xmlns:a="http://schemas.openxmlformats.org/drawingml/2006/main" noGrp="1"/>
          </p:cNvSpPr>
          <p:nvPr/>
        </p:nvSpPr>
        <p:spPr>
          <a:xfrm xmlns:a="http://schemas.openxmlformats.org/drawingml/2006/main">
            <a:off x="6162675" y="4441031"/>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Access-device assessment and dressing simulation</a:t>
            </a:r>
          </a:p>
        </p:txBody>
      </p:sp>
      <p:sp>
        <p:nvSpPr>
          <p:cNvPr id="29" name="">
            <a:extLst xmlns:a="http://schemas.openxmlformats.org/drawingml/2006/main">
              <a:ext uri="{FF2B5EF4-FFF2-40B4-BE49-F238E27FC236}">
                <a16:creationId xmlns:a16="http://schemas.microsoft.com/office/drawing/2014/main" id="{D253F9FA-62AC-4BAF-80AB-149657827C72}"/>
              </a:ext>
            </a:extLst>
          </p:cNvPr>
          <p:cNvSpPr>
            <a:spLocks xmlns:a="http://schemas.openxmlformats.org/drawingml/2006/main" noGrp="1"/>
          </p:cNvSpPr>
          <p:nvPr/>
        </p:nvSpPr>
        <p:spPr>
          <a:xfrm xmlns:a="http://schemas.openxmlformats.org/drawingml/2006/main">
            <a:off x="781050"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D6A23988-0037-49E8-B092-38AF0ABE6492}"/>
              </a:ext>
            </a:extLst>
          </p:cNvPr>
          <p:cNvSpPr>
            <a:spLocks xmlns:a="http://schemas.openxmlformats.org/drawingml/2006/main" noGrp="1"/>
          </p:cNvSpPr>
          <p:nvPr/>
        </p:nvSpPr>
        <p:spPr>
          <a:xfrm xmlns:a="http://schemas.openxmlformats.org/drawingml/2006/main">
            <a:off x="876300"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1:30–2:30</a:t>
            </a:r>
          </a:p>
        </p:txBody>
      </p:sp>
      <p:sp>
        <p:nvSpPr>
          <p:cNvPr id="31" name="">
            <a:extLst xmlns:a="http://schemas.openxmlformats.org/drawingml/2006/main">
              <a:ext uri="{FF2B5EF4-FFF2-40B4-BE49-F238E27FC236}">
                <a16:creationId xmlns:a16="http://schemas.microsoft.com/office/drawing/2014/main" id="{4D2A3BDE-B55C-4D01-AAE0-E2D1BB71C067}"/>
              </a:ext>
            </a:extLst>
          </p:cNvPr>
          <p:cNvSpPr>
            <a:spLocks xmlns:a="http://schemas.openxmlformats.org/drawingml/2006/main" noGrp="1"/>
          </p:cNvSpPr>
          <p:nvPr/>
        </p:nvSpPr>
        <p:spPr>
          <a:xfrm xmlns:a="http://schemas.openxmlformats.org/drawingml/2006/main">
            <a:off x="6067425" y="4910138"/>
            <a:ext cx="5286375" cy="535781"/>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8284A202-2958-4FC5-8E71-3874F1177E11}"/>
              </a:ext>
            </a:extLst>
          </p:cNvPr>
          <p:cNvSpPr>
            <a:spLocks xmlns:a="http://schemas.openxmlformats.org/drawingml/2006/main" noGrp="1"/>
          </p:cNvSpPr>
          <p:nvPr/>
        </p:nvSpPr>
        <p:spPr>
          <a:xfrm xmlns:a="http://schemas.openxmlformats.org/drawingml/2006/main">
            <a:off x="6162675" y="4976813"/>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Complication scenarios and documentation</a:t>
            </a:r>
          </a:p>
        </p:txBody>
      </p:sp>
      <p:sp>
        <p:nvSpPr>
          <p:cNvPr id="33" name="">
            <a:extLst xmlns:a="http://schemas.openxmlformats.org/drawingml/2006/main">
              <a:ext uri="{FF2B5EF4-FFF2-40B4-BE49-F238E27FC236}">
                <a16:creationId xmlns:a16="http://schemas.microsoft.com/office/drawing/2014/main" id="{24C8C272-07F6-48DC-B651-E0BE7882628E}"/>
              </a:ext>
            </a:extLst>
          </p:cNvPr>
          <p:cNvSpPr>
            <a:spLocks xmlns:a="http://schemas.openxmlformats.org/drawingml/2006/main" noGrp="1"/>
          </p:cNvSpPr>
          <p:nvPr/>
        </p:nvSpPr>
        <p:spPr>
          <a:xfrm xmlns:a="http://schemas.openxmlformats.org/drawingml/2006/main">
            <a:off x="781050"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C91D66D-5059-4974-9F80-F84D702C95DD}"/>
              </a:ext>
            </a:extLst>
          </p:cNvPr>
          <p:cNvSpPr>
            <a:spLocks xmlns:a="http://schemas.openxmlformats.org/drawingml/2006/main" noGrp="1"/>
          </p:cNvSpPr>
          <p:nvPr/>
        </p:nvSpPr>
        <p:spPr>
          <a:xfrm xmlns:a="http://schemas.openxmlformats.org/drawingml/2006/main">
            <a:off x="876300"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2:30–4:30</a:t>
            </a:r>
          </a:p>
        </p:txBody>
      </p:sp>
      <p:sp>
        <p:nvSpPr>
          <p:cNvPr id="35" name="">
            <a:extLst xmlns:a="http://schemas.openxmlformats.org/drawingml/2006/main">
              <a:ext uri="{FF2B5EF4-FFF2-40B4-BE49-F238E27FC236}">
                <a16:creationId xmlns:a16="http://schemas.microsoft.com/office/drawing/2014/main" id="{555C9839-47AC-41D4-8873-656514662CEC}"/>
              </a:ext>
            </a:extLst>
          </p:cNvPr>
          <p:cNvSpPr>
            <a:spLocks xmlns:a="http://schemas.openxmlformats.org/drawingml/2006/main" noGrp="1"/>
          </p:cNvSpPr>
          <p:nvPr/>
        </p:nvSpPr>
        <p:spPr>
          <a:xfrm xmlns:a="http://schemas.openxmlformats.org/drawingml/2006/main">
            <a:off x="6067425" y="5445919"/>
            <a:ext cx="5286375" cy="535781"/>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94F5837A-BB27-4C6B-AF2C-6F03698E1A76}"/>
              </a:ext>
            </a:extLst>
          </p:cNvPr>
          <p:cNvSpPr>
            <a:spLocks xmlns:a="http://schemas.openxmlformats.org/drawingml/2006/main" noGrp="1"/>
          </p:cNvSpPr>
          <p:nvPr/>
        </p:nvSpPr>
        <p:spPr>
          <a:xfrm xmlns:a="http://schemas.openxmlformats.org/drawingml/2006/main">
            <a:off x="6162675" y="5512594"/>
            <a:ext cx="5095875" cy="40243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RN competency checkoffs, remediation, and final evaluation</a:t>
            </a:r>
          </a:p>
        </p:txBody>
      </p:sp>
    </p:spTree>
    <p:extLst>
      <p:ext uri="{BB962C8B-B14F-4D97-AF65-F5344CB8AC3E}">
        <p14:creationId xmlns:p14="http://schemas.microsoft.com/office/powerpoint/2010/main" val="1362288015"/>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C31077A9-A935-43A6-902F-111BE92085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164A4F0-2520-4EFA-928C-13A1172CD01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 reference chart</a:t>
            </a:r>
          </a:p>
        </p:txBody>
      </p:sp>
      <p:sp>
        <p:nvSpPr>
          <p:cNvPr id="3" name="">
            <a:extLst xmlns:a="http://schemas.openxmlformats.org/drawingml/2006/main">
              <a:ext uri="{FF2B5EF4-FFF2-40B4-BE49-F238E27FC236}">
                <a16:creationId xmlns:a16="http://schemas.microsoft.com/office/drawing/2014/main" id="{6B9F7943-EF88-4762-826B-3911EEB9096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E2E5C612-57F0-4BE3-939E-703C90693AC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0BD8FBF9-F35F-4D50-8A0E-4D292358D76F}"/>
              </a:ext>
            </a:extLst>
          </p:cNvPr>
          <p:cNvSpPr>
            <a:spLocks xmlns:a="http://schemas.openxmlformats.org/drawingml/2006/main" noGrp="1"/>
          </p:cNvSpPr>
          <p:nvPr/>
        </p:nvSpPr>
        <p:spPr>
          <a:xfrm xmlns:a="http://schemas.openxmlformats.org/drawingml/2006/main">
            <a:off x="781050"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E402D62-E35C-4E92-AE31-50FA918D311E}"/>
              </a:ext>
            </a:extLst>
          </p:cNvPr>
          <p:cNvSpPr>
            <a:spLocks xmlns:a="http://schemas.openxmlformats.org/drawingml/2006/main" noGrp="1"/>
          </p:cNvSpPr>
          <p:nvPr/>
        </p:nvSpPr>
        <p:spPr>
          <a:xfrm xmlns:a="http://schemas.openxmlformats.org/drawingml/2006/main">
            <a:off x="876300"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Task</a:t>
            </a:r>
          </a:p>
        </p:txBody>
      </p:sp>
      <p:sp>
        <p:nvSpPr>
          <p:cNvPr id="7" name="">
            <a:extLst xmlns:a="http://schemas.openxmlformats.org/drawingml/2006/main">
              <a:ext uri="{FF2B5EF4-FFF2-40B4-BE49-F238E27FC236}">
                <a16:creationId xmlns:a16="http://schemas.microsoft.com/office/drawing/2014/main" id="{5AEBDFEB-B655-477F-8EFB-EFA85B3C2C86}"/>
              </a:ext>
            </a:extLst>
          </p:cNvPr>
          <p:cNvSpPr>
            <a:spLocks xmlns:a="http://schemas.openxmlformats.org/drawingml/2006/main" noGrp="1"/>
          </p:cNvSpPr>
          <p:nvPr/>
        </p:nvSpPr>
        <p:spPr>
          <a:xfrm xmlns:a="http://schemas.openxmlformats.org/drawingml/2006/main">
            <a:off x="6067425" y="1695450"/>
            <a:ext cx="5286375"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1A7F6AA-D274-4124-8943-2312762C15D1}"/>
              </a:ext>
            </a:extLst>
          </p:cNvPr>
          <p:cNvSpPr>
            <a:spLocks xmlns:a="http://schemas.openxmlformats.org/drawingml/2006/main" noGrp="1"/>
          </p:cNvSpPr>
          <p:nvPr/>
        </p:nvSpPr>
        <p:spPr>
          <a:xfrm xmlns:a="http://schemas.openxmlformats.org/drawingml/2006/main">
            <a:off x="6162675" y="17621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Formula or relationship</a:t>
            </a:r>
          </a:p>
        </p:txBody>
      </p:sp>
      <p:sp>
        <p:nvSpPr>
          <p:cNvPr id="9" name="">
            <a:extLst xmlns:a="http://schemas.openxmlformats.org/drawingml/2006/main">
              <a:ext uri="{FF2B5EF4-FFF2-40B4-BE49-F238E27FC236}">
                <a16:creationId xmlns:a16="http://schemas.microsoft.com/office/drawing/2014/main" id="{34462537-501B-4E0E-A83F-1047EF044426}"/>
              </a:ext>
            </a:extLst>
          </p:cNvPr>
          <p:cNvSpPr>
            <a:spLocks xmlns:a="http://schemas.openxmlformats.org/drawingml/2006/main" noGrp="1"/>
          </p:cNvSpPr>
          <p:nvPr/>
        </p:nvSpPr>
        <p:spPr>
          <a:xfrm xmlns:a="http://schemas.openxmlformats.org/drawingml/2006/main">
            <a:off x="781050"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FD9FECBE-B969-4D5B-9833-DB0735B6D7C2}"/>
              </a:ext>
            </a:extLst>
          </p:cNvPr>
          <p:cNvSpPr>
            <a:spLocks xmlns:a="http://schemas.openxmlformats.org/drawingml/2006/main" noGrp="1"/>
          </p:cNvSpPr>
          <p:nvPr/>
        </p:nvSpPr>
        <p:spPr>
          <a:xfrm xmlns:a="http://schemas.openxmlformats.org/drawingml/2006/main">
            <a:off x="876300"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Pump rate</a:t>
            </a:r>
          </a:p>
        </p:txBody>
      </p:sp>
      <p:sp>
        <p:nvSpPr>
          <p:cNvPr id="11" name="">
            <a:extLst xmlns:a="http://schemas.openxmlformats.org/drawingml/2006/main">
              <a:ext uri="{FF2B5EF4-FFF2-40B4-BE49-F238E27FC236}">
                <a16:creationId xmlns:a16="http://schemas.microsoft.com/office/drawing/2014/main" id="{04F3F045-8941-447B-9E4B-5F6530EAE964}"/>
              </a:ext>
            </a:extLst>
          </p:cNvPr>
          <p:cNvSpPr>
            <a:spLocks xmlns:a="http://schemas.openxmlformats.org/drawingml/2006/main" noGrp="1"/>
          </p:cNvSpPr>
          <p:nvPr/>
        </p:nvSpPr>
        <p:spPr>
          <a:xfrm xmlns:a="http://schemas.openxmlformats.org/drawingml/2006/main">
            <a:off x="6067425" y="23145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04ED3D36-2F0B-4A03-8F8A-072C23DAD916}"/>
              </a:ext>
            </a:extLst>
          </p:cNvPr>
          <p:cNvSpPr>
            <a:spLocks xmlns:a="http://schemas.openxmlformats.org/drawingml/2006/main" noGrp="1"/>
          </p:cNvSpPr>
          <p:nvPr/>
        </p:nvSpPr>
        <p:spPr>
          <a:xfrm xmlns:a="http://schemas.openxmlformats.org/drawingml/2006/main">
            <a:off x="6162675" y="23812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mL/hr = volume (mL) ÷ time (hr)</a:t>
            </a:r>
          </a:p>
        </p:txBody>
      </p:sp>
      <p:sp>
        <p:nvSpPr>
          <p:cNvPr id="13" name="">
            <a:extLst xmlns:a="http://schemas.openxmlformats.org/drawingml/2006/main">
              <a:ext uri="{FF2B5EF4-FFF2-40B4-BE49-F238E27FC236}">
                <a16:creationId xmlns:a16="http://schemas.microsoft.com/office/drawing/2014/main" id="{77F5EC72-8A7E-4A68-A338-E05EC1D768D5}"/>
              </a:ext>
            </a:extLst>
          </p:cNvPr>
          <p:cNvSpPr>
            <a:spLocks xmlns:a="http://schemas.openxmlformats.org/drawingml/2006/main" noGrp="1"/>
          </p:cNvSpPr>
          <p:nvPr/>
        </p:nvSpPr>
        <p:spPr>
          <a:xfrm xmlns:a="http://schemas.openxmlformats.org/drawingml/2006/main">
            <a:off x="781050"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4D29A26-50C3-44BF-BEAB-5DC29EE50610}"/>
              </a:ext>
            </a:extLst>
          </p:cNvPr>
          <p:cNvSpPr>
            <a:spLocks xmlns:a="http://schemas.openxmlformats.org/drawingml/2006/main" noGrp="1"/>
          </p:cNvSpPr>
          <p:nvPr/>
        </p:nvSpPr>
        <p:spPr>
          <a:xfrm xmlns:a="http://schemas.openxmlformats.org/drawingml/2006/main">
            <a:off x="876300"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Gravity rate</a:t>
            </a:r>
          </a:p>
        </p:txBody>
      </p:sp>
      <p:sp>
        <p:nvSpPr>
          <p:cNvPr id="15" name="">
            <a:extLst xmlns:a="http://schemas.openxmlformats.org/drawingml/2006/main">
              <a:ext uri="{FF2B5EF4-FFF2-40B4-BE49-F238E27FC236}">
                <a16:creationId xmlns:a16="http://schemas.microsoft.com/office/drawing/2014/main" id="{4195D651-FE49-4BC2-A1D3-F7BDA3AE9A06}"/>
              </a:ext>
            </a:extLst>
          </p:cNvPr>
          <p:cNvSpPr>
            <a:spLocks xmlns:a="http://schemas.openxmlformats.org/drawingml/2006/main" noGrp="1"/>
          </p:cNvSpPr>
          <p:nvPr/>
        </p:nvSpPr>
        <p:spPr>
          <a:xfrm xmlns:a="http://schemas.openxmlformats.org/drawingml/2006/main">
            <a:off x="6067425" y="293370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A5A05528-A880-46EA-9271-CB45D8FF4A61}"/>
              </a:ext>
            </a:extLst>
          </p:cNvPr>
          <p:cNvSpPr>
            <a:spLocks xmlns:a="http://schemas.openxmlformats.org/drawingml/2006/main" noGrp="1"/>
          </p:cNvSpPr>
          <p:nvPr/>
        </p:nvSpPr>
        <p:spPr>
          <a:xfrm xmlns:a="http://schemas.openxmlformats.org/drawingml/2006/main">
            <a:off x="6162675" y="300037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gtt/min = volume × drop factor ÷ time (min)</a:t>
            </a:r>
          </a:p>
        </p:txBody>
      </p:sp>
      <p:sp>
        <p:nvSpPr>
          <p:cNvPr id="17" name="">
            <a:extLst xmlns:a="http://schemas.openxmlformats.org/drawingml/2006/main">
              <a:ext uri="{FF2B5EF4-FFF2-40B4-BE49-F238E27FC236}">
                <a16:creationId xmlns:a16="http://schemas.microsoft.com/office/drawing/2014/main" id="{756B1077-4658-4D12-A42F-BFF3273C6746}"/>
              </a:ext>
            </a:extLst>
          </p:cNvPr>
          <p:cNvSpPr>
            <a:spLocks xmlns:a="http://schemas.openxmlformats.org/drawingml/2006/main" noGrp="1"/>
          </p:cNvSpPr>
          <p:nvPr/>
        </p:nvSpPr>
        <p:spPr>
          <a:xfrm xmlns:a="http://schemas.openxmlformats.org/drawingml/2006/main">
            <a:off x="781050"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0C6CAC2-44F2-4659-9661-464C1BDBAB5D}"/>
              </a:ext>
            </a:extLst>
          </p:cNvPr>
          <p:cNvSpPr>
            <a:spLocks xmlns:a="http://schemas.openxmlformats.org/drawingml/2006/main" noGrp="1"/>
          </p:cNvSpPr>
          <p:nvPr/>
        </p:nvSpPr>
        <p:spPr>
          <a:xfrm xmlns:a="http://schemas.openxmlformats.org/drawingml/2006/main">
            <a:off x="876300"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9" name="">
            <a:extLst xmlns:a="http://schemas.openxmlformats.org/drawingml/2006/main">
              <a:ext uri="{FF2B5EF4-FFF2-40B4-BE49-F238E27FC236}">
                <a16:creationId xmlns:a16="http://schemas.microsoft.com/office/drawing/2014/main" id="{BA36ACF0-D5AD-4611-B7C6-CB4AF19C2B7D}"/>
              </a:ext>
            </a:extLst>
          </p:cNvPr>
          <p:cNvSpPr>
            <a:spLocks xmlns:a="http://schemas.openxmlformats.org/drawingml/2006/main" noGrp="1"/>
          </p:cNvSpPr>
          <p:nvPr/>
        </p:nvSpPr>
        <p:spPr>
          <a:xfrm xmlns:a="http://schemas.openxmlformats.org/drawingml/2006/main">
            <a:off x="6067425" y="355282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6CEF5BC-E5B4-4427-A1E8-F4B4D6BFB081}"/>
              </a:ext>
            </a:extLst>
          </p:cNvPr>
          <p:cNvSpPr>
            <a:spLocks xmlns:a="http://schemas.openxmlformats.org/drawingml/2006/main" noGrp="1"/>
          </p:cNvSpPr>
          <p:nvPr/>
        </p:nvSpPr>
        <p:spPr>
          <a:xfrm xmlns:a="http://schemas.openxmlformats.org/drawingml/2006/main">
            <a:off x="6162675" y="361950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21" name="">
            <a:extLst xmlns:a="http://schemas.openxmlformats.org/drawingml/2006/main">
              <a:ext uri="{FF2B5EF4-FFF2-40B4-BE49-F238E27FC236}">
                <a16:creationId xmlns:a16="http://schemas.microsoft.com/office/drawing/2014/main" id="{CDDC49EB-936F-4EF2-B840-AA0F5301796F}"/>
              </a:ext>
            </a:extLst>
          </p:cNvPr>
          <p:cNvSpPr>
            <a:spLocks xmlns:a="http://schemas.openxmlformats.org/drawingml/2006/main" noGrp="1"/>
          </p:cNvSpPr>
          <p:nvPr/>
        </p:nvSpPr>
        <p:spPr>
          <a:xfrm xmlns:a="http://schemas.openxmlformats.org/drawingml/2006/main">
            <a:off x="781050"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4CEA724-A757-4A20-BE73-7737D8BC5AB0}"/>
              </a:ext>
            </a:extLst>
          </p:cNvPr>
          <p:cNvSpPr>
            <a:spLocks xmlns:a="http://schemas.openxmlformats.org/drawingml/2006/main" noGrp="1"/>
          </p:cNvSpPr>
          <p:nvPr/>
        </p:nvSpPr>
        <p:spPr>
          <a:xfrm xmlns:a="http://schemas.openxmlformats.org/drawingml/2006/main">
            <a:off x="876300"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23" name="">
            <a:extLst xmlns:a="http://schemas.openxmlformats.org/drawingml/2006/main">
              <a:ext uri="{FF2B5EF4-FFF2-40B4-BE49-F238E27FC236}">
                <a16:creationId xmlns:a16="http://schemas.microsoft.com/office/drawing/2014/main" id="{115D6864-772B-4FD7-A50D-31E862D5D0CE}"/>
              </a:ext>
            </a:extLst>
          </p:cNvPr>
          <p:cNvSpPr>
            <a:spLocks xmlns:a="http://schemas.openxmlformats.org/drawingml/2006/main" noGrp="1"/>
          </p:cNvSpPr>
          <p:nvPr/>
        </p:nvSpPr>
        <p:spPr>
          <a:xfrm xmlns:a="http://schemas.openxmlformats.org/drawingml/2006/main">
            <a:off x="6067425" y="4171950"/>
            <a:ext cx="5286375"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7748C5D0-B718-42D2-BDFD-27E97AA1AA07}"/>
              </a:ext>
            </a:extLst>
          </p:cNvPr>
          <p:cNvSpPr>
            <a:spLocks xmlns:a="http://schemas.openxmlformats.org/drawingml/2006/main" noGrp="1"/>
          </p:cNvSpPr>
          <p:nvPr/>
        </p:nvSpPr>
        <p:spPr>
          <a:xfrm xmlns:a="http://schemas.openxmlformats.org/drawingml/2006/main">
            <a:off x="6162675" y="4238625"/>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 1 mg = 1,000 mcg</a:t>
            </a:r>
          </a:p>
        </p:txBody>
      </p:sp>
      <p:sp>
        <p:nvSpPr>
          <p:cNvPr id="25" name="">
            <a:extLst xmlns:a="http://schemas.openxmlformats.org/drawingml/2006/main">
              <a:ext uri="{FF2B5EF4-FFF2-40B4-BE49-F238E27FC236}">
                <a16:creationId xmlns:a16="http://schemas.microsoft.com/office/drawing/2014/main" id="{37E0AE68-C12F-4337-84DC-88155141C2E6}"/>
              </a:ext>
            </a:extLst>
          </p:cNvPr>
          <p:cNvSpPr>
            <a:spLocks xmlns:a="http://schemas.openxmlformats.org/drawingml/2006/main" noGrp="1"/>
          </p:cNvSpPr>
          <p:nvPr/>
        </p:nvSpPr>
        <p:spPr>
          <a:xfrm xmlns:a="http://schemas.openxmlformats.org/drawingml/2006/main">
            <a:off x="781050"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74CA28A-4FE4-4175-832B-5180A3E7E382}"/>
              </a:ext>
            </a:extLst>
          </p:cNvPr>
          <p:cNvSpPr>
            <a:spLocks xmlns:a="http://schemas.openxmlformats.org/drawingml/2006/main" noGrp="1"/>
          </p:cNvSpPr>
          <p:nvPr/>
        </p:nvSpPr>
        <p:spPr>
          <a:xfrm xmlns:a="http://schemas.openxmlformats.org/drawingml/2006/main">
            <a:off x="876300"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27" name="">
            <a:extLst xmlns:a="http://schemas.openxmlformats.org/drawingml/2006/main">
              <a:ext uri="{FF2B5EF4-FFF2-40B4-BE49-F238E27FC236}">
                <a16:creationId xmlns:a16="http://schemas.microsoft.com/office/drawing/2014/main" id="{A22913AD-E7CC-4F21-B15B-6A42B798280A}"/>
              </a:ext>
            </a:extLst>
          </p:cNvPr>
          <p:cNvSpPr>
            <a:spLocks xmlns:a="http://schemas.openxmlformats.org/drawingml/2006/main" noGrp="1"/>
          </p:cNvSpPr>
          <p:nvPr/>
        </p:nvSpPr>
        <p:spPr>
          <a:xfrm xmlns:a="http://schemas.openxmlformats.org/drawingml/2006/main">
            <a:off x="6067425" y="4791075"/>
            <a:ext cx="5286375"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A33D1AC7-98FB-42A8-B159-2DC9E5D5C74A}"/>
              </a:ext>
            </a:extLst>
          </p:cNvPr>
          <p:cNvSpPr>
            <a:spLocks xmlns:a="http://schemas.openxmlformats.org/drawingml/2006/main" noGrp="1"/>
          </p:cNvSpPr>
          <p:nvPr/>
        </p:nvSpPr>
        <p:spPr>
          <a:xfrm xmlns:a="http://schemas.openxmlformats.org/drawingml/2006/main">
            <a:off x="6162675" y="4857750"/>
            <a:ext cx="50958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kg = lb ÷ 2.2</a:t>
            </a:r>
          </a:p>
        </p:txBody>
      </p:sp>
      <p:sp>
        <p:nvSpPr>
          <p:cNvPr id="29" name="">
            <a:extLst xmlns:a="http://schemas.openxmlformats.org/drawingml/2006/main">
              <a:ext uri="{FF2B5EF4-FFF2-40B4-BE49-F238E27FC236}">
                <a16:creationId xmlns:a16="http://schemas.microsoft.com/office/drawing/2014/main" id="{06581579-F95C-446D-B03E-0E54AD488A1D}"/>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Legacy apothecary values are not used from the OCR source. Clarify any order written with an unfamiliar or ambiguous unit.</a:t>
            </a:r>
          </a:p>
        </p:txBody>
      </p:sp>
    </p:spTree>
    <p:extLst>
      <p:ext uri="{BB962C8B-B14F-4D97-AF65-F5344CB8AC3E}">
        <p14:creationId xmlns:p14="http://schemas.microsoft.com/office/powerpoint/2010/main" val="889390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AA6681A-154E-423B-8F5D-7299A59D46E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161BB33-42D8-4F53-92AF-B5027257C74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peripheral IV start</a:t>
            </a:r>
          </a:p>
        </p:txBody>
      </p:sp>
      <p:sp>
        <p:nvSpPr>
          <p:cNvPr id="3" name="">
            <a:extLst xmlns:a="http://schemas.openxmlformats.org/drawingml/2006/main">
              <a:ext uri="{FF2B5EF4-FFF2-40B4-BE49-F238E27FC236}">
                <a16:creationId xmlns:a16="http://schemas.microsoft.com/office/drawing/2014/main" id="{1F8E41B6-E434-4FBF-B157-8028F5D9067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785E1A8B-F2A4-49F4-90BC-A6A218EE76C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84DD13D9-2333-42C0-852C-5F91E0F75C6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order and patient; assess therapy and site; explain the procedure.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Maintain asepsis and allow antiseptic to dry.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Insert safely, activate sharps protection, connect without contamination, and assess patency.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Secure, dress, label, start therapy, reassess, teach, and document.</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Any missed critical safety step requires remediation and repeat demonstration.</a:t>
            </a:r>
          </a:p>
        </p:txBody>
      </p:sp>
      <p:sp>
        <p:nvSpPr>
          <p:cNvPr id="6" name="">
            <a:extLst xmlns:a="http://schemas.openxmlformats.org/drawingml/2006/main">
              <a:ext uri="{FF2B5EF4-FFF2-40B4-BE49-F238E27FC236}">
                <a16:creationId xmlns:a16="http://schemas.microsoft.com/office/drawing/2014/main" id="{CC00DA69-4476-4732-BA16-11E41D1850C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54313353"/>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60A1917-4AE5-437E-8965-F17D3891A7B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4118D0-4D75-4DCF-9F66-A721FB7854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Competency begins with clinical decisions</a:t>
            </a:r>
          </a:p>
        </p:txBody>
      </p:sp>
      <p:sp>
        <p:nvSpPr>
          <p:cNvPr id="3" name="">
            <a:extLst xmlns:a="http://schemas.openxmlformats.org/drawingml/2006/main">
              <a:ext uri="{FF2B5EF4-FFF2-40B4-BE49-F238E27FC236}">
                <a16:creationId xmlns:a16="http://schemas.microsoft.com/office/drawing/2014/main" id="{8E7E58A5-E178-4F81-9A9B-72F531AD0F7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BFB4E16-8ABB-470C-AC0A-CD0F3DBEDDB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66CED2CB-75ED-4CAB-9D16-F762E20B4382}"/>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57B8AF0F-AE6A-456C-9D95-F52B297DFE29}"/>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Decision</a:t>
            </a:r>
          </a:p>
        </p:txBody>
      </p:sp>
      <p:sp>
        <p:nvSpPr>
          <p:cNvPr id="7" name="">
            <a:extLst xmlns:a="http://schemas.openxmlformats.org/drawingml/2006/main">
              <a:ext uri="{FF2B5EF4-FFF2-40B4-BE49-F238E27FC236}">
                <a16:creationId xmlns:a16="http://schemas.microsoft.com/office/drawing/2014/main" id="{A7AB0D03-AB75-4E07-AC49-05A746CD7921}"/>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3F80020-4EC8-4735-8248-B5A6C4CF633D}"/>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must explain</a:t>
            </a:r>
          </a:p>
        </p:txBody>
      </p:sp>
      <p:sp>
        <p:nvSpPr>
          <p:cNvPr id="9" name="">
            <a:extLst xmlns:a="http://schemas.openxmlformats.org/drawingml/2006/main">
              <a:ext uri="{FF2B5EF4-FFF2-40B4-BE49-F238E27FC236}">
                <a16:creationId xmlns:a16="http://schemas.microsoft.com/office/drawing/2014/main" id="{A082A4F4-122D-490C-99D9-DA49D052D1FA}"/>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5026112-038A-4588-B6DA-19C145B45FA8}"/>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Purpose</a:t>
            </a:r>
          </a:p>
        </p:txBody>
      </p:sp>
      <p:sp>
        <p:nvSpPr>
          <p:cNvPr id="11" name="">
            <a:extLst xmlns:a="http://schemas.openxmlformats.org/drawingml/2006/main">
              <a:ext uri="{FF2B5EF4-FFF2-40B4-BE49-F238E27FC236}">
                <a16:creationId xmlns:a16="http://schemas.microsoft.com/office/drawing/2014/main" id="{80EB6B09-8E10-4997-A877-48E21ED6A25A}"/>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A92B7674-5329-4978-AB67-3F51187C5B06}"/>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The intended outcome of the prescribed therapy</a:t>
            </a:r>
          </a:p>
        </p:txBody>
      </p:sp>
      <p:sp>
        <p:nvSpPr>
          <p:cNvPr id="13" name="">
            <a:extLst xmlns:a="http://schemas.openxmlformats.org/drawingml/2006/main">
              <a:ext uri="{FF2B5EF4-FFF2-40B4-BE49-F238E27FC236}">
                <a16:creationId xmlns:a16="http://schemas.microsoft.com/office/drawing/2014/main" id="{E48AC8AA-F96B-442E-8246-13DD45BB3A8C}"/>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6F62D18-CD6E-42C7-9370-0F87DBE5D038}"/>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Patient assessment</a:t>
            </a:r>
          </a:p>
        </p:txBody>
      </p:sp>
      <p:sp>
        <p:nvSpPr>
          <p:cNvPr id="15" name="">
            <a:extLst xmlns:a="http://schemas.openxmlformats.org/drawingml/2006/main">
              <a:ext uri="{FF2B5EF4-FFF2-40B4-BE49-F238E27FC236}">
                <a16:creationId xmlns:a16="http://schemas.microsoft.com/office/drawing/2014/main" id="{DE441B3A-1CBF-48C4-B5F6-89792BB0C844}"/>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8331C2CF-82C2-49D9-A7C3-5EBF2C0FD57A}"/>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Physical condition, allergies, previous infusion experience, education, and consent</a:t>
            </a:r>
          </a:p>
        </p:txBody>
      </p:sp>
      <p:sp>
        <p:nvSpPr>
          <p:cNvPr id="17" name="">
            <a:extLst xmlns:a="http://schemas.openxmlformats.org/drawingml/2006/main">
              <a:ext uri="{FF2B5EF4-FFF2-40B4-BE49-F238E27FC236}">
                <a16:creationId xmlns:a16="http://schemas.microsoft.com/office/drawing/2014/main" id="{34CBBAD1-1175-4544-9656-1C00F051B8D3}"/>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AA89CF9-BA0C-4869-B269-2A7D7DFAFD0D}"/>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Site</a:t>
            </a:r>
          </a:p>
        </p:txBody>
      </p:sp>
      <p:sp>
        <p:nvSpPr>
          <p:cNvPr id="19" name="">
            <a:extLst xmlns:a="http://schemas.openxmlformats.org/drawingml/2006/main">
              <a:ext uri="{FF2B5EF4-FFF2-40B4-BE49-F238E27FC236}">
                <a16:creationId xmlns:a16="http://schemas.microsoft.com/office/drawing/2014/main" id="{2BF29C1D-A4A7-4AC6-8DBE-4862CF95D0A5}"/>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79F6255-94D4-4C41-A174-A0B89F05E5A9}"/>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How age, condition, therapy, vein quality, activity, and expected dwell affect selection</a:t>
            </a:r>
          </a:p>
        </p:txBody>
      </p:sp>
      <p:sp>
        <p:nvSpPr>
          <p:cNvPr id="21" name="">
            <a:extLst xmlns:a="http://schemas.openxmlformats.org/drawingml/2006/main">
              <a:ext uri="{FF2B5EF4-FFF2-40B4-BE49-F238E27FC236}">
                <a16:creationId xmlns:a16="http://schemas.microsoft.com/office/drawing/2014/main" id="{B62AA4C9-9B2C-4270-8B3B-9C715F84DD34}"/>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691D518-B151-4994-BAB4-17550F24A120}"/>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Equipment</a:t>
            </a:r>
          </a:p>
        </p:txBody>
      </p:sp>
      <p:sp>
        <p:nvSpPr>
          <p:cNvPr id="23" name="">
            <a:extLst xmlns:a="http://schemas.openxmlformats.org/drawingml/2006/main">
              <a:ext uri="{FF2B5EF4-FFF2-40B4-BE49-F238E27FC236}">
                <a16:creationId xmlns:a16="http://schemas.microsoft.com/office/drawing/2014/main" id="{0328AF87-448C-47FE-80C6-0F453143A353}"/>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6A64606E-9144-481B-8C16-9950BF4413D2}"/>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Why the catheter, extension, tubing, dressing, and pump fit this patient and therapy</a:t>
            </a:r>
          </a:p>
        </p:txBody>
      </p:sp>
    </p:spTree>
    <p:extLst>
      <p:ext uri="{BB962C8B-B14F-4D97-AF65-F5344CB8AC3E}">
        <p14:creationId xmlns:p14="http://schemas.microsoft.com/office/powerpoint/2010/main" val="979836767"/>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8EDEB496-1535-4771-AC81-BD97E849947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BEC5A29-158C-45E6-8AC8-C619185E311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Know the central-access device before using it</a:t>
            </a:r>
          </a:p>
        </p:txBody>
      </p:sp>
      <p:sp>
        <p:nvSpPr>
          <p:cNvPr id="3" name="">
            <a:extLst xmlns:a="http://schemas.openxmlformats.org/drawingml/2006/main">
              <a:ext uri="{FF2B5EF4-FFF2-40B4-BE49-F238E27FC236}">
                <a16:creationId xmlns:a16="http://schemas.microsoft.com/office/drawing/2014/main" id="{DB09B400-12BC-4BA2-81AD-94CAEAC2269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FF434029-1A00-4A3B-82B3-D3126E63846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0CCA2315-82E2-4C80-9512-E0449935D8ED}"/>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FA8136A-F4F1-4E2A-A3EF-EE9394F93DDF}"/>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Device</a:t>
            </a:r>
          </a:p>
        </p:txBody>
      </p:sp>
      <p:sp>
        <p:nvSpPr>
          <p:cNvPr id="7" name="">
            <a:extLst xmlns:a="http://schemas.openxmlformats.org/drawingml/2006/main">
              <a:ext uri="{FF2B5EF4-FFF2-40B4-BE49-F238E27FC236}">
                <a16:creationId xmlns:a16="http://schemas.microsoft.com/office/drawing/2014/main" id="{B0C579EF-38A8-4C67-9014-84B017ED5A52}"/>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BC58CCC-9D57-4C8D-99AA-C936D38B5409}"/>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Where the tip terminates</a:t>
            </a:r>
          </a:p>
        </p:txBody>
      </p:sp>
      <p:sp>
        <p:nvSpPr>
          <p:cNvPr id="9" name="">
            <a:extLst xmlns:a="http://schemas.openxmlformats.org/drawingml/2006/main">
              <a:ext uri="{FF2B5EF4-FFF2-40B4-BE49-F238E27FC236}">
                <a16:creationId xmlns:a16="http://schemas.microsoft.com/office/drawing/2014/main" id="{1DCF984D-C57B-4D46-81B1-ABFE04BE3AF9}"/>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535EC8D-01E2-4F40-8F86-AC5DD5A164E9}"/>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learning point</a:t>
            </a:r>
          </a:p>
        </p:txBody>
      </p:sp>
      <p:sp>
        <p:nvSpPr>
          <p:cNvPr id="11" name="">
            <a:extLst xmlns:a="http://schemas.openxmlformats.org/drawingml/2006/main">
              <a:ext uri="{FF2B5EF4-FFF2-40B4-BE49-F238E27FC236}">
                <a16:creationId xmlns:a16="http://schemas.microsoft.com/office/drawing/2014/main" id="{299DE492-B42F-4449-B4F4-B9343D7385C6}"/>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2C7D0F3F-7E7D-4E3E-9E30-47E349C1DB06}"/>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Midline</a:t>
            </a:r>
          </a:p>
        </p:txBody>
      </p:sp>
      <p:sp>
        <p:nvSpPr>
          <p:cNvPr id="13" name="">
            <a:extLst xmlns:a="http://schemas.openxmlformats.org/drawingml/2006/main">
              <a:ext uri="{FF2B5EF4-FFF2-40B4-BE49-F238E27FC236}">
                <a16:creationId xmlns:a16="http://schemas.microsoft.com/office/drawing/2014/main" id="{830E9582-6F82-49EF-91B6-4481430135E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EA43AD6-1AA5-4E93-B306-3D7805FC306F}"/>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Peripheral vasculature below the axilla</a:t>
            </a:r>
          </a:p>
        </p:txBody>
      </p:sp>
      <p:sp>
        <p:nvSpPr>
          <p:cNvPr id="15" name="">
            <a:extLst xmlns:a="http://schemas.openxmlformats.org/drawingml/2006/main">
              <a:ext uri="{FF2B5EF4-FFF2-40B4-BE49-F238E27FC236}">
                <a16:creationId xmlns:a16="http://schemas.microsoft.com/office/drawing/2014/main" id="{1C10E0C3-F310-4AAF-9F23-548A65949035}"/>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71CD971-0ACA-4C57-A376-A18A2814A324}"/>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 a central line; confirm that the prescribed therapy is peripherally appropriate</a:t>
            </a:r>
          </a:p>
        </p:txBody>
      </p:sp>
      <p:sp>
        <p:nvSpPr>
          <p:cNvPr id="17" name="">
            <a:extLst xmlns:a="http://schemas.openxmlformats.org/drawingml/2006/main">
              <a:ext uri="{FF2B5EF4-FFF2-40B4-BE49-F238E27FC236}">
                <a16:creationId xmlns:a16="http://schemas.microsoft.com/office/drawing/2014/main" id="{33FB8BCA-699C-4727-97F6-8A29D1D85EA7}"/>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5366E39-D17D-4E56-8AB1-F16EEC20755F}"/>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PICC</a:t>
            </a:r>
          </a:p>
        </p:txBody>
      </p:sp>
      <p:sp>
        <p:nvSpPr>
          <p:cNvPr id="19" name="">
            <a:extLst xmlns:a="http://schemas.openxmlformats.org/drawingml/2006/main">
              <a:ext uri="{FF2B5EF4-FFF2-40B4-BE49-F238E27FC236}">
                <a16:creationId xmlns:a16="http://schemas.microsoft.com/office/drawing/2014/main" id="{7997D71F-00C9-4D73-AB42-2756B9A8F26D}"/>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7F129466-9191-4D27-9742-46B99E60219A}"/>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after peripheral insertion</a:t>
            </a:r>
          </a:p>
        </p:txBody>
      </p:sp>
      <p:sp>
        <p:nvSpPr>
          <p:cNvPr id="21" name="">
            <a:extLst xmlns:a="http://schemas.openxmlformats.org/drawingml/2006/main">
              <a:ext uri="{FF2B5EF4-FFF2-40B4-BE49-F238E27FC236}">
                <a16:creationId xmlns:a16="http://schemas.microsoft.com/office/drawing/2014/main" id="{0E0B6D11-1355-4339-A4E0-50CF760141EE}"/>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BC2EE53D-02C2-4BC2-8853-AD65FB794564}"/>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Verify tip-use clearance, lumen purpose, patency, and dressing condition</a:t>
            </a:r>
          </a:p>
        </p:txBody>
      </p:sp>
      <p:sp>
        <p:nvSpPr>
          <p:cNvPr id="23" name="">
            <a:extLst xmlns:a="http://schemas.openxmlformats.org/drawingml/2006/main">
              <a:ext uri="{FF2B5EF4-FFF2-40B4-BE49-F238E27FC236}">
                <a16:creationId xmlns:a16="http://schemas.microsoft.com/office/drawing/2014/main" id="{298E010B-E120-49F9-8A2C-0E40F6EFDA8B}"/>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C8A394AF-B541-4A3A-9F07-10AA2CE3DE11}"/>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Nontunneled or tunneled CVC</a:t>
            </a:r>
          </a:p>
        </p:txBody>
      </p:sp>
      <p:sp>
        <p:nvSpPr>
          <p:cNvPr id="25" name="">
            <a:extLst xmlns:a="http://schemas.openxmlformats.org/drawingml/2006/main">
              <a:ext uri="{FF2B5EF4-FFF2-40B4-BE49-F238E27FC236}">
                <a16:creationId xmlns:a16="http://schemas.microsoft.com/office/drawing/2014/main" id="{7BA8ABA7-E2A5-4813-887D-D09B2E8BD627}"/>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233ED0CF-E722-46C8-B753-C9E7B078D03B}"/>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a:t>
            </a:r>
          </a:p>
        </p:txBody>
      </p:sp>
      <p:sp>
        <p:nvSpPr>
          <p:cNvPr id="27" name="">
            <a:extLst xmlns:a="http://schemas.openxmlformats.org/drawingml/2006/main">
              <a:ext uri="{FF2B5EF4-FFF2-40B4-BE49-F238E27FC236}">
                <a16:creationId xmlns:a16="http://schemas.microsoft.com/office/drawing/2014/main" id="{F2CA7311-B1F9-4998-B23F-DD7CB6161AC2}"/>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0DD93F05-E1D8-428B-BED6-91F40B52AA7A}"/>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strict asepsis and inspect the exit site, connections, and lumens</a:t>
            </a:r>
          </a:p>
        </p:txBody>
      </p:sp>
      <p:sp>
        <p:nvSpPr>
          <p:cNvPr id="29" name="">
            <a:extLst xmlns:a="http://schemas.openxmlformats.org/drawingml/2006/main">
              <a:ext uri="{FF2B5EF4-FFF2-40B4-BE49-F238E27FC236}">
                <a16:creationId xmlns:a16="http://schemas.microsoft.com/office/drawing/2014/main" id="{B82499B0-6B61-4205-922B-B6099C9EDF85}"/>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1D67323-5054-4626-B65D-5676CD328414}"/>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Implanted port</a:t>
            </a:r>
          </a:p>
        </p:txBody>
      </p:sp>
      <p:sp>
        <p:nvSpPr>
          <p:cNvPr id="31" name="">
            <a:extLst xmlns:a="http://schemas.openxmlformats.org/drawingml/2006/main">
              <a:ext uri="{FF2B5EF4-FFF2-40B4-BE49-F238E27FC236}">
                <a16:creationId xmlns:a16="http://schemas.microsoft.com/office/drawing/2014/main" id="{B515C036-E576-45F7-A79C-CF834C0C3C8E}"/>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3F551DFC-FC84-4C64-8516-E30B05075055}"/>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Central circulation through a subcutaneous reservoir</a:t>
            </a:r>
          </a:p>
        </p:txBody>
      </p:sp>
      <p:sp>
        <p:nvSpPr>
          <p:cNvPr id="33" name="">
            <a:extLst xmlns:a="http://schemas.openxmlformats.org/drawingml/2006/main">
              <a:ext uri="{FF2B5EF4-FFF2-40B4-BE49-F238E27FC236}">
                <a16:creationId xmlns:a16="http://schemas.microsoft.com/office/drawing/2014/main" id="{FBF2A45E-688D-4703-A024-7503CA63B3F2}"/>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44803150-AC04-45E0-8AA8-F2884440BD36}"/>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Access only with the correct noncoring needle and validated competency</a:t>
            </a:r>
          </a:p>
        </p:txBody>
      </p:sp>
    </p:spTree>
    <p:extLst>
      <p:ext uri="{BB962C8B-B14F-4D97-AF65-F5344CB8AC3E}">
        <p14:creationId xmlns:p14="http://schemas.microsoft.com/office/powerpoint/2010/main" val="433075821"/>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AF122A76-22E9-42F1-97E6-7683619F08A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C18E02F-C191-4474-BBEB-64F77DEDA1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Central-line findings that require immediate escalation</a:t>
            </a:r>
          </a:p>
        </p:txBody>
      </p:sp>
      <p:sp>
        <p:nvSpPr>
          <p:cNvPr id="3" name="">
            <a:extLst xmlns:a="http://schemas.openxmlformats.org/drawingml/2006/main">
              <a:ext uri="{FF2B5EF4-FFF2-40B4-BE49-F238E27FC236}">
                <a16:creationId xmlns:a16="http://schemas.microsoft.com/office/drawing/2014/main" id="{823F48BD-72FE-4103-8F98-285ADAFFC0F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596A723-92CF-4F1F-ADC1-4C15A2B4213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3CC5E3A-3299-4E4D-AB9C-2B335870C4B2}"/>
              </a:ext>
            </a:extLst>
          </p:cNvPr>
          <p:cNvSpPr>
            <a:spLocks xmlns:a="http://schemas.openxmlformats.org/drawingml/2006/main" noGrp="1"/>
          </p:cNvSpPr>
          <p:nvPr/>
        </p:nvSpPr>
        <p:spPr>
          <a:xfrm xmlns:a="http://schemas.openxmlformats.org/drawingml/2006/main">
            <a:off x="7810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0AE6EA9D-2CF6-4967-8B80-68C51A16CD7B}"/>
              </a:ext>
            </a:extLst>
          </p:cNvPr>
          <p:cNvSpPr>
            <a:spLocks xmlns:a="http://schemas.openxmlformats.org/drawingml/2006/main" noGrp="1"/>
          </p:cNvSpPr>
          <p:nvPr/>
        </p:nvSpPr>
        <p:spPr>
          <a:xfrm xmlns:a="http://schemas.openxmlformats.org/drawingml/2006/main">
            <a:off x="8763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0F81B46B-AF58-4F16-BF61-54C7FE2E116E}"/>
              </a:ext>
            </a:extLst>
          </p:cNvPr>
          <p:cNvSpPr>
            <a:spLocks xmlns:a="http://schemas.openxmlformats.org/drawingml/2006/main" noGrp="1"/>
          </p:cNvSpPr>
          <p:nvPr/>
        </p:nvSpPr>
        <p:spPr>
          <a:xfrm xmlns:a="http://schemas.openxmlformats.org/drawingml/2006/main">
            <a:off x="430530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298E3C66-C370-4D85-91D2-7DC5BD0A4B38}"/>
              </a:ext>
            </a:extLst>
          </p:cNvPr>
          <p:cNvSpPr>
            <a:spLocks xmlns:a="http://schemas.openxmlformats.org/drawingml/2006/main" noGrp="1"/>
          </p:cNvSpPr>
          <p:nvPr/>
        </p:nvSpPr>
        <p:spPr>
          <a:xfrm xmlns:a="http://schemas.openxmlformats.org/drawingml/2006/main">
            <a:off x="440055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concern</a:t>
            </a:r>
          </a:p>
        </p:txBody>
      </p:sp>
      <p:sp>
        <p:nvSpPr>
          <p:cNvPr id="9" name="">
            <a:extLst xmlns:a="http://schemas.openxmlformats.org/drawingml/2006/main">
              <a:ext uri="{FF2B5EF4-FFF2-40B4-BE49-F238E27FC236}">
                <a16:creationId xmlns:a16="http://schemas.microsoft.com/office/drawing/2014/main" id="{E773CBC9-5BC8-41BF-B5E6-438A83FFB072}"/>
              </a:ext>
            </a:extLst>
          </p:cNvPr>
          <p:cNvSpPr>
            <a:spLocks xmlns:a="http://schemas.openxmlformats.org/drawingml/2006/main" noGrp="1"/>
          </p:cNvSpPr>
          <p:nvPr/>
        </p:nvSpPr>
        <p:spPr>
          <a:xfrm xmlns:a="http://schemas.openxmlformats.org/drawingml/2006/main">
            <a:off x="7829550" y="1695450"/>
            <a:ext cx="3524250" cy="7429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9AAA88B-9025-4C2D-9F97-E6AC74D82146}"/>
              </a:ext>
            </a:extLst>
          </p:cNvPr>
          <p:cNvSpPr>
            <a:spLocks xmlns:a="http://schemas.openxmlformats.org/drawingml/2006/main" noGrp="1"/>
          </p:cNvSpPr>
          <p:nvPr/>
        </p:nvSpPr>
        <p:spPr>
          <a:xfrm xmlns:a="http://schemas.openxmlformats.org/drawingml/2006/main">
            <a:off x="7924800" y="17621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Priority response</a:t>
            </a:r>
          </a:p>
        </p:txBody>
      </p:sp>
      <p:sp>
        <p:nvSpPr>
          <p:cNvPr id="11" name="">
            <a:extLst xmlns:a="http://schemas.openxmlformats.org/drawingml/2006/main">
              <a:ext uri="{FF2B5EF4-FFF2-40B4-BE49-F238E27FC236}">
                <a16:creationId xmlns:a16="http://schemas.microsoft.com/office/drawing/2014/main" id="{744EBA6C-1D56-46FB-B260-F9506DC61B6C}"/>
              </a:ext>
            </a:extLst>
          </p:cNvPr>
          <p:cNvSpPr>
            <a:spLocks xmlns:a="http://schemas.openxmlformats.org/drawingml/2006/main" noGrp="1"/>
          </p:cNvSpPr>
          <p:nvPr/>
        </p:nvSpPr>
        <p:spPr>
          <a:xfrm xmlns:a="http://schemas.openxmlformats.org/drawingml/2006/main">
            <a:off x="7810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8743A68-BA0C-4261-8585-72A67066F0F7}"/>
              </a:ext>
            </a:extLst>
          </p:cNvPr>
          <p:cNvSpPr>
            <a:spLocks xmlns:a="http://schemas.openxmlformats.org/drawingml/2006/main" noGrp="1"/>
          </p:cNvSpPr>
          <p:nvPr/>
        </p:nvSpPr>
        <p:spPr>
          <a:xfrm xmlns:a="http://schemas.openxmlformats.org/drawingml/2006/main">
            <a:off x="8763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Sudden dyspnea, chest pain, cyanosis, or altered consciousness</a:t>
            </a:r>
          </a:p>
        </p:txBody>
      </p:sp>
      <p:sp>
        <p:nvSpPr>
          <p:cNvPr id="13" name="">
            <a:extLst xmlns:a="http://schemas.openxmlformats.org/drawingml/2006/main">
              <a:ext uri="{FF2B5EF4-FFF2-40B4-BE49-F238E27FC236}">
                <a16:creationId xmlns:a16="http://schemas.microsoft.com/office/drawing/2014/main" id="{23427A84-5DA0-4B50-9796-757A83939DBE}"/>
              </a:ext>
            </a:extLst>
          </p:cNvPr>
          <p:cNvSpPr>
            <a:spLocks xmlns:a="http://schemas.openxmlformats.org/drawingml/2006/main" noGrp="1"/>
          </p:cNvSpPr>
          <p:nvPr/>
        </p:nvSpPr>
        <p:spPr>
          <a:xfrm xmlns:a="http://schemas.openxmlformats.org/drawingml/2006/main">
            <a:off x="430530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1CFB76F4-F837-49EC-A14B-6876203BBDD4}"/>
              </a:ext>
            </a:extLst>
          </p:cNvPr>
          <p:cNvSpPr>
            <a:spLocks xmlns:a="http://schemas.openxmlformats.org/drawingml/2006/main" noGrp="1"/>
          </p:cNvSpPr>
          <p:nvPr/>
        </p:nvSpPr>
        <p:spPr>
          <a:xfrm xmlns:a="http://schemas.openxmlformats.org/drawingml/2006/main">
            <a:off x="440055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Air embolism or thoracic complication</a:t>
            </a:r>
          </a:p>
        </p:txBody>
      </p:sp>
      <p:sp>
        <p:nvSpPr>
          <p:cNvPr id="15" name="">
            <a:extLst xmlns:a="http://schemas.openxmlformats.org/drawingml/2006/main">
              <a:ext uri="{FF2B5EF4-FFF2-40B4-BE49-F238E27FC236}">
                <a16:creationId xmlns:a16="http://schemas.microsoft.com/office/drawing/2014/main" id="{3E2315EC-AC20-4BE1-AD79-EB70B4C50BE1}"/>
              </a:ext>
            </a:extLst>
          </p:cNvPr>
          <p:cNvSpPr>
            <a:spLocks xmlns:a="http://schemas.openxmlformats.org/drawingml/2006/main" noGrp="1"/>
          </p:cNvSpPr>
          <p:nvPr/>
        </p:nvSpPr>
        <p:spPr>
          <a:xfrm xmlns:a="http://schemas.openxmlformats.org/drawingml/2006/main">
            <a:off x="7829550" y="24384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1FDDE0B0-9228-4DA2-B9BC-CA81563168E5}"/>
              </a:ext>
            </a:extLst>
          </p:cNvPr>
          <p:cNvSpPr>
            <a:spLocks xmlns:a="http://schemas.openxmlformats.org/drawingml/2006/main" noGrp="1"/>
          </p:cNvSpPr>
          <p:nvPr/>
        </p:nvSpPr>
        <p:spPr>
          <a:xfrm xmlns:a="http://schemas.openxmlformats.org/drawingml/2006/main">
            <a:off x="7924800" y="25050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clamp or protect the system as trained, call emergency response, and support ABCs</a:t>
            </a:r>
          </a:p>
        </p:txBody>
      </p:sp>
      <p:sp>
        <p:nvSpPr>
          <p:cNvPr id="17" name="">
            <a:extLst xmlns:a="http://schemas.openxmlformats.org/drawingml/2006/main">
              <a:ext uri="{FF2B5EF4-FFF2-40B4-BE49-F238E27FC236}">
                <a16:creationId xmlns:a16="http://schemas.microsoft.com/office/drawing/2014/main" id="{DFD58FA8-9251-49FE-A6E3-DB7ADF7AC4EF}"/>
              </a:ext>
            </a:extLst>
          </p:cNvPr>
          <p:cNvSpPr>
            <a:spLocks xmlns:a="http://schemas.openxmlformats.org/drawingml/2006/main" noGrp="1"/>
          </p:cNvSpPr>
          <p:nvPr/>
        </p:nvSpPr>
        <p:spPr>
          <a:xfrm xmlns:a="http://schemas.openxmlformats.org/drawingml/2006/main">
            <a:off x="7810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CC07A2E-A512-449F-9589-A900B2A96DD9}"/>
              </a:ext>
            </a:extLst>
          </p:cNvPr>
          <p:cNvSpPr>
            <a:spLocks xmlns:a="http://schemas.openxmlformats.org/drawingml/2006/main" noGrp="1"/>
          </p:cNvSpPr>
          <p:nvPr/>
        </p:nvSpPr>
        <p:spPr>
          <a:xfrm xmlns:a="http://schemas.openxmlformats.org/drawingml/2006/main">
            <a:off x="8763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Neck, chest, shoulder, or arm swelling</a:t>
            </a:r>
          </a:p>
        </p:txBody>
      </p:sp>
      <p:sp>
        <p:nvSpPr>
          <p:cNvPr id="19" name="">
            <a:extLst xmlns:a="http://schemas.openxmlformats.org/drawingml/2006/main">
              <a:ext uri="{FF2B5EF4-FFF2-40B4-BE49-F238E27FC236}">
                <a16:creationId xmlns:a16="http://schemas.microsoft.com/office/drawing/2014/main" id="{E275CF6F-B5EC-4ED9-820C-23ADF8836358}"/>
              </a:ext>
            </a:extLst>
          </p:cNvPr>
          <p:cNvSpPr>
            <a:spLocks xmlns:a="http://schemas.openxmlformats.org/drawingml/2006/main" noGrp="1"/>
          </p:cNvSpPr>
          <p:nvPr/>
        </p:nvSpPr>
        <p:spPr>
          <a:xfrm xmlns:a="http://schemas.openxmlformats.org/drawingml/2006/main">
            <a:off x="430530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4C90F315-05F9-43FE-89AC-110A2BE675B7}"/>
              </a:ext>
            </a:extLst>
          </p:cNvPr>
          <p:cNvSpPr>
            <a:spLocks xmlns:a="http://schemas.openxmlformats.org/drawingml/2006/main" noGrp="1"/>
          </p:cNvSpPr>
          <p:nvPr/>
        </p:nvSpPr>
        <p:spPr>
          <a:xfrm xmlns:a="http://schemas.openxmlformats.org/drawingml/2006/main">
            <a:off x="440055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Malposition, infiltration, or thrombosis</a:t>
            </a:r>
          </a:p>
        </p:txBody>
      </p:sp>
      <p:sp>
        <p:nvSpPr>
          <p:cNvPr id="21" name="">
            <a:extLst xmlns:a="http://schemas.openxmlformats.org/drawingml/2006/main">
              <a:ext uri="{FF2B5EF4-FFF2-40B4-BE49-F238E27FC236}">
                <a16:creationId xmlns:a16="http://schemas.microsoft.com/office/drawing/2014/main" id="{61774323-33FE-4EF7-80D6-4705AB6F66F0}"/>
              </a:ext>
            </a:extLst>
          </p:cNvPr>
          <p:cNvSpPr>
            <a:spLocks xmlns:a="http://schemas.openxmlformats.org/drawingml/2006/main" noGrp="1"/>
          </p:cNvSpPr>
          <p:nvPr/>
        </p:nvSpPr>
        <p:spPr>
          <a:xfrm xmlns:a="http://schemas.openxmlformats.org/drawingml/2006/main">
            <a:off x="7829550" y="31813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E6F85EC-7AC0-430B-8AFD-73AAC09DD8CA}"/>
              </a:ext>
            </a:extLst>
          </p:cNvPr>
          <p:cNvSpPr>
            <a:spLocks xmlns:a="http://schemas.openxmlformats.org/drawingml/2006/main" noGrp="1"/>
          </p:cNvSpPr>
          <p:nvPr/>
        </p:nvSpPr>
        <p:spPr>
          <a:xfrm xmlns:a="http://schemas.openxmlformats.org/drawingml/2006/main">
            <a:off x="7924800" y="32480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use and obtain urgent qualified assessment</a:t>
            </a:r>
          </a:p>
        </p:txBody>
      </p:sp>
      <p:sp>
        <p:nvSpPr>
          <p:cNvPr id="23" name="">
            <a:extLst xmlns:a="http://schemas.openxmlformats.org/drawingml/2006/main">
              <a:ext uri="{FF2B5EF4-FFF2-40B4-BE49-F238E27FC236}">
                <a16:creationId xmlns:a16="http://schemas.microsoft.com/office/drawing/2014/main" id="{F81FBA57-2B02-4047-AB37-5225AF1CC0FB}"/>
              </a:ext>
            </a:extLst>
          </p:cNvPr>
          <p:cNvSpPr>
            <a:spLocks xmlns:a="http://schemas.openxmlformats.org/drawingml/2006/main" noGrp="1"/>
          </p:cNvSpPr>
          <p:nvPr/>
        </p:nvSpPr>
        <p:spPr>
          <a:xfrm xmlns:a="http://schemas.openxmlformats.org/drawingml/2006/main">
            <a:off x="7810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91133347-C186-4273-AFF1-BFD63A34BDE9}"/>
              </a:ext>
            </a:extLst>
          </p:cNvPr>
          <p:cNvSpPr>
            <a:spLocks xmlns:a="http://schemas.openxmlformats.org/drawingml/2006/main" noGrp="1"/>
          </p:cNvSpPr>
          <p:nvPr/>
        </p:nvSpPr>
        <p:spPr>
          <a:xfrm xmlns:a="http://schemas.openxmlformats.org/drawingml/2006/main">
            <a:off x="8763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Redness, tenderness, drainage, fever, or chills</a:t>
            </a:r>
          </a:p>
        </p:txBody>
      </p:sp>
      <p:sp>
        <p:nvSpPr>
          <p:cNvPr id="25" name="">
            <a:extLst xmlns:a="http://schemas.openxmlformats.org/drawingml/2006/main">
              <a:ext uri="{FF2B5EF4-FFF2-40B4-BE49-F238E27FC236}">
                <a16:creationId xmlns:a16="http://schemas.microsoft.com/office/drawing/2014/main" id="{1080B6AC-1460-4D45-988D-C01CE15FE37F}"/>
              </a:ext>
            </a:extLst>
          </p:cNvPr>
          <p:cNvSpPr>
            <a:spLocks xmlns:a="http://schemas.openxmlformats.org/drawingml/2006/main" noGrp="1"/>
          </p:cNvSpPr>
          <p:nvPr/>
        </p:nvSpPr>
        <p:spPr>
          <a:xfrm xmlns:a="http://schemas.openxmlformats.org/drawingml/2006/main">
            <a:off x="430530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D4C1F2B-9773-4488-AEEC-31C2864C18E4}"/>
              </a:ext>
            </a:extLst>
          </p:cNvPr>
          <p:cNvSpPr>
            <a:spLocks xmlns:a="http://schemas.openxmlformats.org/drawingml/2006/main" noGrp="1"/>
          </p:cNvSpPr>
          <p:nvPr/>
        </p:nvSpPr>
        <p:spPr>
          <a:xfrm xmlns:a="http://schemas.openxmlformats.org/drawingml/2006/main">
            <a:off x="440055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27" name="">
            <a:extLst xmlns:a="http://schemas.openxmlformats.org/drawingml/2006/main">
              <a:ext uri="{FF2B5EF4-FFF2-40B4-BE49-F238E27FC236}">
                <a16:creationId xmlns:a16="http://schemas.microsoft.com/office/drawing/2014/main" id="{532E02E6-00FA-4DBF-ABB4-D81F7CE39F2C}"/>
              </a:ext>
            </a:extLst>
          </p:cNvPr>
          <p:cNvSpPr>
            <a:spLocks xmlns:a="http://schemas.openxmlformats.org/drawingml/2006/main" noGrp="1"/>
          </p:cNvSpPr>
          <p:nvPr/>
        </p:nvSpPr>
        <p:spPr>
          <a:xfrm xmlns:a="http://schemas.openxmlformats.org/drawingml/2006/main">
            <a:off x="7829550" y="3924300"/>
            <a:ext cx="3524250" cy="7429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C3BE8EA-AD63-4BCF-96F7-47D36DEDB419}"/>
              </a:ext>
            </a:extLst>
          </p:cNvPr>
          <p:cNvSpPr>
            <a:spLocks xmlns:a="http://schemas.openxmlformats.org/drawingml/2006/main" noGrp="1"/>
          </p:cNvSpPr>
          <p:nvPr/>
        </p:nvSpPr>
        <p:spPr>
          <a:xfrm xmlns:a="http://schemas.openxmlformats.org/drawingml/2006/main">
            <a:off x="7924800" y="399097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 notify, and follow culture and device-management orders</a:t>
            </a:r>
          </a:p>
        </p:txBody>
      </p:sp>
      <p:sp>
        <p:nvSpPr>
          <p:cNvPr id="29" name="">
            <a:extLst xmlns:a="http://schemas.openxmlformats.org/drawingml/2006/main">
              <a:ext uri="{FF2B5EF4-FFF2-40B4-BE49-F238E27FC236}">
                <a16:creationId xmlns:a16="http://schemas.microsoft.com/office/drawing/2014/main" id="{7353CE13-65A4-4D9D-B3DC-91FBBB8E64F4}"/>
              </a:ext>
            </a:extLst>
          </p:cNvPr>
          <p:cNvSpPr>
            <a:spLocks xmlns:a="http://schemas.openxmlformats.org/drawingml/2006/main" noGrp="1"/>
          </p:cNvSpPr>
          <p:nvPr/>
        </p:nvSpPr>
        <p:spPr>
          <a:xfrm xmlns:a="http://schemas.openxmlformats.org/drawingml/2006/main">
            <a:off x="7810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E4E3B431-9CEA-4ABE-BA10-822F2BE163FD}"/>
              </a:ext>
            </a:extLst>
          </p:cNvPr>
          <p:cNvSpPr>
            <a:spLocks xmlns:a="http://schemas.openxmlformats.org/drawingml/2006/main" noGrp="1"/>
          </p:cNvSpPr>
          <p:nvPr/>
        </p:nvSpPr>
        <p:spPr>
          <a:xfrm xmlns:a="http://schemas.openxmlformats.org/drawingml/2006/main">
            <a:off x="8763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Resistance, absent blood return, leaking, or damaged catheter</a:t>
            </a:r>
          </a:p>
        </p:txBody>
      </p:sp>
      <p:sp>
        <p:nvSpPr>
          <p:cNvPr id="31" name="">
            <a:extLst xmlns:a="http://schemas.openxmlformats.org/drawingml/2006/main">
              <a:ext uri="{FF2B5EF4-FFF2-40B4-BE49-F238E27FC236}">
                <a16:creationId xmlns:a16="http://schemas.microsoft.com/office/drawing/2014/main" id="{BA3E82D9-F4A2-48A4-9AA2-B0BD6AAECA52}"/>
              </a:ext>
            </a:extLst>
          </p:cNvPr>
          <p:cNvSpPr>
            <a:spLocks xmlns:a="http://schemas.openxmlformats.org/drawingml/2006/main" noGrp="1"/>
          </p:cNvSpPr>
          <p:nvPr/>
        </p:nvSpPr>
        <p:spPr>
          <a:xfrm xmlns:a="http://schemas.openxmlformats.org/drawingml/2006/main">
            <a:off x="430530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F04F6D90-E43E-4673-A6D9-FE3CB8C273AE}"/>
              </a:ext>
            </a:extLst>
          </p:cNvPr>
          <p:cNvSpPr>
            <a:spLocks xmlns:a="http://schemas.openxmlformats.org/drawingml/2006/main" noGrp="1"/>
          </p:cNvSpPr>
          <p:nvPr/>
        </p:nvSpPr>
        <p:spPr>
          <a:xfrm xmlns:a="http://schemas.openxmlformats.org/drawingml/2006/main">
            <a:off x="440055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Occlusion, malposition, or device failure</a:t>
            </a:r>
          </a:p>
        </p:txBody>
      </p:sp>
      <p:sp>
        <p:nvSpPr>
          <p:cNvPr id="33" name="">
            <a:extLst xmlns:a="http://schemas.openxmlformats.org/drawingml/2006/main">
              <a:ext uri="{FF2B5EF4-FFF2-40B4-BE49-F238E27FC236}">
                <a16:creationId xmlns:a16="http://schemas.microsoft.com/office/drawing/2014/main" id="{578E6EF1-031C-479A-BBA9-A66AE8DEFAE3}"/>
              </a:ext>
            </a:extLst>
          </p:cNvPr>
          <p:cNvSpPr>
            <a:spLocks xmlns:a="http://schemas.openxmlformats.org/drawingml/2006/main" noGrp="1"/>
          </p:cNvSpPr>
          <p:nvPr/>
        </p:nvSpPr>
        <p:spPr>
          <a:xfrm xmlns:a="http://schemas.openxmlformats.org/drawingml/2006/main">
            <a:off x="7829550" y="4667250"/>
            <a:ext cx="3524250" cy="7429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D1756643-0779-4402-A1FE-9CECE2EA446A}"/>
              </a:ext>
            </a:extLst>
          </p:cNvPr>
          <p:cNvSpPr>
            <a:spLocks xmlns:a="http://schemas.openxmlformats.org/drawingml/2006/main" noGrp="1"/>
          </p:cNvSpPr>
          <p:nvPr/>
        </p:nvSpPr>
        <p:spPr>
          <a:xfrm xmlns:a="http://schemas.openxmlformats.org/drawingml/2006/main">
            <a:off x="7924800" y="4733925"/>
            <a:ext cx="333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Never force a flush; stop use and escalate</a:t>
            </a:r>
          </a:p>
        </p:txBody>
      </p:sp>
      <p:sp>
        <p:nvSpPr>
          <p:cNvPr id="35" name="">
            <a:extLst xmlns:a="http://schemas.openxmlformats.org/drawingml/2006/main">
              <a:ext uri="{FF2B5EF4-FFF2-40B4-BE49-F238E27FC236}">
                <a16:creationId xmlns:a16="http://schemas.microsoft.com/office/drawing/2014/main" id="{5422E432-F5F0-4611-B6EE-43E24389A29C}"/>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Do not remove, reposition, repair, instill a declotting agent, or access a central device unless the action is authorized and competency-validated.</a:t>
            </a:r>
          </a:p>
        </p:txBody>
      </p:sp>
    </p:spTree>
    <p:extLst>
      <p:ext uri="{BB962C8B-B14F-4D97-AF65-F5344CB8AC3E}">
        <p14:creationId xmlns:p14="http://schemas.microsoft.com/office/powerpoint/2010/main" val="943700790"/>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55E8100-FD08-4FDA-A0DE-A88CD25111F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9A12B2F-7C1E-4FB8-8AB6-28730A708E1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Removal checkoff includes catheter integrity</a:t>
            </a:r>
          </a:p>
        </p:txBody>
      </p:sp>
      <p:sp>
        <p:nvSpPr>
          <p:cNvPr id="3" name="">
            <a:extLst xmlns:a="http://schemas.openxmlformats.org/drawingml/2006/main">
              <a:ext uri="{FF2B5EF4-FFF2-40B4-BE49-F238E27FC236}">
                <a16:creationId xmlns:a16="http://schemas.microsoft.com/office/drawing/2014/main" id="{213DAF3F-8354-42DD-9262-2B8621CB5BC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21C15718-0D65-47A5-A617-13FA49B29F9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4ED0A829-C76A-4063-B433-629B8BFEC89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Stop all infusates and remove the dressing while supporting the skin and catheter.</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Assess the site before removal, withdraw the catheter slowly and steadily, and achieve hemostasis.</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Inspect the removed catheter and compare its condition and length with the expected intact device.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If the catheter is not intact, do not discard it; immobilize the extremity as directed and notify the supervising clinician immediately.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Document the site, catheter condition, hemostasis, dressing, patient teaching, and response.</a:t>
            </a:r>
          </a:p>
        </p:txBody>
      </p:sp>
      <p:sp>
        <p:nvSpPr>
          <p:cNvPr id="6" name="">
            <a:extLst xmlns:a="http://schemas.openxmlformats.org/drawingml/2006/main">
              <a:ext uri="{FF2B5EF4-FFF2-40B4-BE49-F238E27FC236}">
                <a16:creationId xmlns:a16="http://schemas.microsoft.com/office/drawing/2014/main" id="{8E16E5F3-4D44-4804-922A-28AEC5C99001}"/>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40242419"/>
      </p:ext>
    </p:extLst>
  </p:cSld>
</p:sld>
</file>

<file path=ppt/slides/slide1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199ED39-BA05-46F7-9DE2-2B8FAE058A5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BB4F84-C622-4EAC-808E-742996198E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Checkoff: IVPB and pump</a:t>
            </a:r>
          </a:p>
        </p:txBody>
      </p:sp>
      <p:sp>
        <p:nvSpPr>
          <p:cNvPr id="3" name="">
            <a:extLst xmlns:a="http://schemas.openxmlformats.org/drawingml/2006/main">
              <a:ext uri="{FF2B5EF4-FFF2-40B4-BE49-F238E27FC236}">
                <a16:creationId xmlns:a16="http://schemas.microsoft.com/office/drawing/2014/main" id="{861538B8-DB66-4F60-A562-72FB6727495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4824BB67-3E85-4128-B739-274967363B9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30190F04-77C3-4113-ACB2-3D3AB3DE5A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13212D"/>
                </a:solidFill>
                <a:latin typeface="Helvetica Neue"/>
                <a:ea typeface="Helvetica Neue"/>
                <a:cs typeface="Helvetica Neue"/>
              </a:defRPr>
            </a:defPPr>
            <a:lvl1pPr>
              <a:defRPr sz="1725">
                <a:solidFill>
                  <a:srgbClr val="13212D"/>
                </a:solidFill>
                <a:latin typeface="Helvetica Neue"/>
                <a:ea typeface="Helvetica Neue"/>
                <a:cs typeface="Helvetica Neue"/>
              </a:defRPr>
            </a:lvl1pPr>
            <a:lvl2pPr>
              <a:defRPr sz="1725">
                <a:solidFill>
                  <a:srgbClr val="13212D"/>
                </a:solidFill>
                <a:latin typeface="Helvetica Neue"/>
                <a:ea typeface="Helvetica Neue"/>
                <a:cs typeface="Helvetica Neue"/>
              </a:defRPr>
            </a:lvl2pPr>
            <a:lvl3pPr>
              <a:defRPr sz="1725">
                <a:solidFill>
                  <a:srgbClr val="13212D"/>
                </a:solidFill>
                <a:latin typeface="Helvetica Neue"/>
                <a:ea typeface="Helvetica Neue"/>
                <a:cs typeface="Helvetica Neue"/>
              </a:defRPr>
            </a:lvl3pPr>
            <a:lvl4pPr>
              <a:defRPr sz="1725">
                <a:solidFill>
                  <a:srgbClr val="13212D"/>
                </a:solidFill>
                <a:latin typeface="Helvetica Neue"/>
                <a:ea typeface="Helvetica Neue"/>
                <a:cs typeface="Helvetica Neue"/>
              </a:defRPr>
            </a:lvl4pPr>
            <a:lvl5pPr>
              <a:defRPr sz="1725">
                <a:solidFill>
                  <a:srgbClr val="13212D"/>
                </a:solidFill>
                <a:latin typeface="Helvetica Neue"/>
                <a:ea typeface="Helvetica Neue"/>
                <a:cs typeface="Helvetica Neue"/>
              </a:defRPr>
            </a:lvl5pPr>
            <a:lvl6pPr>
              <a:defRPr sz="1725">
                <a:solidFill>
                  <a:srgbClr val="13212D"/>
                </a:solidFill>
                <a:latin typeface="Helvetica Neue"/>
                <a:ea typeface="Helvetica Neue"/>
                <a:cs typeface="Helvetica Neue"/>
              </a:defRPr>
            </a:lvl6pPr>
            <a:lvl7pPr>
              <a:defRPr sz="1725">
                <a:solidFill>
                  <a:srgbClr val="13212D"/>
                </a:solidFill>
                <a:latin typeface="Helvetica Neue"/>
                <a:ea typeface="Helvetica Neue"/>
                <a:cs typeface="Helvetica Neue"/>
              </a:defRPr>
            </a:lvl7pPr>
            <a:lvl8pPr>
              <a:defRPr sz="1725">
                <a:solidFill>
                  <a:srgbClr val="13212D"/>
                </a:solidFill>
                <a:latin typeface="Helvetica Neue"/>
                <a:ea typeface="Helvetica Neue"/>
                <a:cs typeface="Helvetica Neue"/>
              </a:defRPr>
            </a:lvl8pPr>
            <a:lvl9pPr>
              <a:defRPr sz="17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Verify the primary and secondary orders and compatibility.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Prepare and label the secondary medication using aseptic technique.</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Trace the line from patient to source, connect to the correct port, and position bags correctly.</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Program the correct channel, volume, and rate; independently verify high-alert settings when required.</a:t>
            </a:r>
          </a:p>
          <a:p xmlns:a="http://schemas.openxmlformats.org/drawingml/2006/main">
            <a:pPr marL="279400" indent="-127000">
              <a:spcAft>
                <a:spcPts val="1300"/>
              </a:spcAft>
              <a:buChar char="•"/>
              <a:defRPr sz="1725">
                <a:solidFill>
                  <a:srgbClr val="13212D"/>
                </a:solidFill>
                <a:latin typeface="Helvetica Neue"/>
                <a:ea typeface="Helvetica Neue"/>
                <a:cs typeface="Helvetica Neue"/>
              </a:defRPr>
            </a:pPr>
            <a:r>
              <a:rPr sz="1725">
                <a:solidFill>
                  <a:srgbClr val="13212D"/>
                </a:solidFill>
                <a:latin typeface="Helvetica Neue"/>
                <a:ea typeface="Helvetica Neue"/>
                <a:cs typeface="Helvetica Neue"/>
              </a:rPr>
              <a:t>Confirm flow, monitor the patient and site, and document the response.</a:t>
            </a:r>
          </a:p>
        </p:txBody>
      </p:sp>
      <p:sp>
        <p:nvSpPr>
          <p:cNvPr id="6" name="">
            <a:extLst xmlns:a="http://schemas.openxmlformats.org/drawingml/2006/main">
              <a:ext uri="{FF2B5EF4-FFF2-40B4-BE49-F238E27FC236}">
                <a16:creationId xmlns:a16="http://schemas.microsoft.com/office/drawing/2014/main" id="{AF2CC39C-6980-4279-A7B6-0DD43B232047}"/>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85668737"/>
      </p:ext>
    </p:extLst>
  </p:cSld>
</p:sld>
</file>

<file path=ppt/slides/slide1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6E01F72-B0FA-4ED0-ACFC-11F5AA4D268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3A75018-D435-484D-BBEB-53D3DF72F95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Scenario response pattern</a:t>
            </a:r>
          </a:p>
        </p:txBody>
      </p:sp>
      <p:sp>
        <p:nvSpPr>
          <p:cNvPr id="3" name="">
            <a:extLst xmlns:a="http://schemas.openxmlformats.org/drawingml/2006/main">
              <a:ext uri="{FF2B5EF4-FFF2-40B4-BE49-F238E27FC236}">
                <a16:creationId xmlns:a16="http://schemas.microsoft.com/office/drawing/2014/main" id="{2FC9D69F-B699-4776-9048-36A8A33354E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CBE89224-B015-4352-95CF-67D64CB6604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5AB0677D-39BA-4AD4-92F1-95284B151CDF}"/>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6B3D023C-E7E1-4682-9C88-D5C76FD59D20}"/>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05109368-117E-4263-A127-85F3B77570E0}"/>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DC7D1C1-FBC1-4DD0-BE62-96B9E6DEABDC}"/>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Learner behavior</a:t>
            </a:r>
          </a:p>
        </p:txBody>
      </p:sp>
      <p:sp>
        <p:nvSpPr>
          <p:cNvPr id="9" name="">
            <a:extLst xmlns:a="http://schemas.openxmlformats.org/drawingml/2006/main">
              <a:ext uri="{FF2B5EF4-FFF2-40B4-BE49-F238E27FC236}">
                <a16:creationId xmlns:a16="http://schemas.microsoft.com/office/drawing/2014/main" id="{2A97FAEF-E69C-4950-80D4-B6809762316B}"/>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05126902-A0AF-44FE-B768-E1D263E69A80}"/>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Recognize</a:t>
            </a:r>
          </a:p>
        </p:txBody>
      </p:sp>
      <p:sp>
        <p:nvSpPr>
          <p:cNvPr id="11" name="">
            <a:extLst xmlns:a="http://schemas.openxmlformats.org/drawingml/2006/main">
              <a:ext uri="{FF2B5EF4-FFF2-40B4-BE49-F238E27FC236}">
                <a16:creationId xmlns:a16="http://schemas.microsoft.com/office/drawing/2014/main" id="{5718DB3B-9670-4DB8-9E11-708E4889AFE5}"/>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7CFBA08-C073-4FAF-B78F-55F9C4D45F19}"/>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Name the abnormal cue and likely complication</a:t>
            </a:r>
          </a:p>
        </p:txBody>
      </p:sp>
      <p:sp>
        <p:nvSpPr>
          <p:cNvPr id="13" name="">
            <a:extLst xmlns:a="http://schemas.openxmlformats.org/drawingml/2006/main">
              <a:ext uri="{FF2B5EF4-FFF2-40B4-BE49-F238E27FC236}">
                <a16:creationId xmlns:a16="http://schemas.microsoft.com/office/drawing/2014/main" id="{AEFEE4A2-2636-48C7-A7B1-1FFB1ECAD98C}"/>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9A6FF53-D445-45AF-8B58-F31EE942862C}"/>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or protect</a:t>
            </a:r>
          </a:p>
        </p:txBody>
      </p:sp>
      <p:sp>
        <p:nvSpPr>
          <p:cNvPr id="15" name="">
            <a:extLst xmlns:a="http://schemas.openxmlformats.org/drawingml/2006/main">
              <a:ext uri="{FF2B5EF4-FFF2-40B4-BE49-F238E27FC236}">
                <a16:creationId xmlns:a16="http://schemas.microsoft.com/office/drawing/2014/main" id="{FB3FCDCF-0E50-4BF5-920D-F88F3551F0C9}"/>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6033B160-6899-490F-9882-ED138AE3429F}"/>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therapy and protect the patient</a:t>
            </a:r>
          </a:p>
        </p:txBody>
      </p:sp>
      <p:sp>
        <p:nvSpPr>
          <p:cNvPr id="17" name="">
            <a:extLst xmlns:a="http://schemas.openxmlformats.org/drawingml/2006/main">
              <a:ext uri="{FF2B5EF4-FFF2-40B4-BE49-F238E27FC236}">
                <a16:creationId xmlns:a16="http://schemas.microsoft.com/office/drawing/2014/main" id="{758F9F1D-ADC7-4AEE-BBD4-8EB9C3BAA7AE}"/>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B5920CD8-C071-487C-98C0-E211D0E03AF9}"/>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Assess</a:t>
            </a:r>
          </a:p>
        </p:txBody>
      </p:sp>
      <p:sp>
        <p:nvSpPr>
          <p:cNvPr id="19" name="">
            <a:extLst xmlns:a="http://schemas.openxmlformats.org/drawingml/2006/main">
              <a:ext uri="{FF2B5EF4-FFF2-40B4-BE49-F238E27FC236}">
                <a16:creationId xmlns:a16="http://schemas.microsoft.com/office/drawing/2014/main" id="{66FC9C68-5643-45B2-BFD5-499FD50FACE3}"/>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877F8AEA-790C-4710-97F0-C0DBA63DC172}"/>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Check site, airway, breathing, circulation, vital signs, and symptoms</a:t>
            </a:r>
          </a:p>
        </p:txBody>
      </p:sp>
      <p:sp>
        <p:nvSpPr>
          <p:cNvPr id="21" name="">
            <a:extLst xmlns:a="http://schemas.openxmlformats.org/drawingml/2006/main">
              <a:ext uri="{FF2B5EF4-FFF2-40B4-BE49-F238E27FC236}">
                <a16:creationId xmlns:a16="http://schemas.microsoft.com/office/drawing/2014/main" id="{7893390D-B917-493B-99D4-86361C52F222}"/>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4799D77B-5854-4BDA-BED5-241CEE81F1AE}"/>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Escalate</a:t>
            </a:r>
          </a:p>
        </p:txBody>
      </p:sp>
      <p:sp>
        <p:nvSpPr>
          <p:cNvPr id="23" name="">
            <a:extLst xmlns:a="http://schemas.openxmlformats.org/drawingml/2006/main">
              <a:ext uri="{FF2B5EF4-FFF2-40B4-BE49-F238E27FC236}">
                <a16:creationId xmlns:a16="http://schemas.microsoft.com/office/drawing/2014/main" id="{399C7B50-A501-406F-B385-B92586F68613}"/>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CFE95C7-9FBA-4251-ABAE-DE62478CCB36}"/>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Notify the RN/prescriber or activate emergency response</a:t>
            </a:r>
          </a:p>
        </p:txBody>
      </p:sp>
      <p:sp>
        <p:nvSpPr>
          <p:cNvPr id="25" name="">
            <a:extLst xmlns:a="http://schemas.openxmlformats.org/drawingml/2006/main">
              <a:ext uri="{FF2B5EF4-FFF2-40B4-BE49-F238E27FC236}">
                <a16:creationId xmlns:a16="http://schemas.microsoft.com/office/drawing/2014/main" id="{84F381FC-DA73-4E17-8C1D-2BB883FA39A2}"/>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3CCCA4A-600C-4604-942B-EE97EA1CBA51}"/>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Document</a:t>
            </a:r>
          </a:p>
        </p:txBody>
      </p:sp>
      <p:sp>
        <p:nvSpPr>
          <p:cNvPr id="27" name="">
            <a:extLst xmlns:a="http://schemas.openxmlformats.org/drawingml/2006/main">
              <a:ext uri="{FF2B5EF4-FFF2-40B4-BE49-F238E27FC236}">
                <a16:creationId xmlns:a16="http://schemas.microsoft.com/office/drawing/2014/main" id="{536F0CC6-FD9F-4FB1-9F0C-A328CAB466CD}"/>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F9BC3A97-E9E8-4FA3-A947-94C9FCB5198B}"/>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Record findings, actions, notifications, orders, and response</a:t>
            </a:r>
          </a:p>
        </p:txBody>
      </p:sp>
    </p:spTree>
    <p:extLst>
      <p:ext uri="{BB962C8B-B14F-4D97-AF65-F5344CB8AC3E}">
        <p14:creationId xmlns:p14="http://schemas.microsoft.com/office/powerpoint/2010/main" val="1260083299"/>
      </p:ext>
    </p:extLst>
  </p:cSld>
</p:sld>
</file>

<file path=ppt/slides/slide1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21EC76C-F00F-4590-B775-9BC83B5A1E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17F3513-228F-4C54-BE32-81D38EA5793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184EEC0D-D518-4542-8CE5-76450E04076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97BA4B71-BFA7-4726-B057-354D0181473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390BBD90-36D8-4B20-80BC-DC3652DA9F6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Pass every critical element on the skills checklist</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Repeat any missed critical step after remediation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Obtain the Florida RN evaluator's dated proficiency statement</a:t>
            </a:r>
          </a:p>
        </p:txBody>
      </p:sp>
      <p:sp>
        <p:nvSpPr>
          <p:cNvPr id="6" name="">
            <a:extLst xmlns:a="http://schemas.openxmlformats.org/drawingml/2006/main">
              <a:ext uri="{FF2B5EF4-FFF2-40B4-BE49-F238E27FC236}">
                <a16:creationId xmlns:a16="http://schemas.microsoft.com/office/drawing/2014/main" id="{0DECB0B0-E400-4EFE-AC0F-A58666C742C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Every critical element requires direct observation and a passing evaluation.</a:t>
            </a:r>
          </a:p>
        </p:txBody>
      </p:sp>
    </p:spTree>
    <p:extLst>
      <p:ext uri="{BB962C8B-B14F-4D97-AF65-F5344CB8AC3E}">
        <p14:creationId xmlns:p14="http://schemas.microsoft.com/office/powerpoint/2010/main" val="1425371769"/>
      </p:ext>
    </p:extLst>
  </p:cSld>
</p:sld>
</file>

<file path=ppt/slides/slide1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0853B2F-C859-4E98-BDD9-FC000867E36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BD73BE-F654-48A1-9067-C64561087D1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A3468639-0C74-4B21-89EB-2E5E200A887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8</a:t>
            </a:r>
          </a:p>
        </p:txBody>
      </p:sp>
      <p:sp>
        <p:nvSpPr>
          <p:cNvPr id="4" name="">
            <a:extLst xmlns:a="http://schemas.openxmlformats.org/drawingml/2006/main">
              <a:ext uri="{FF2B5EF4-FFF2-40B4-BE49-F238E27FC236}">
                <a16:creationId xmlns:a16="http://schemas.microsoft.com/office/drawing/2014/main" id="{A6D4A48D-0AE4-420C-836E-C62A53EFB0A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A028AFAA-3BE6-4009-9B17-8E9DDBB7F26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Demonstrate required psychomotor skills under direct observation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orders, select fluids and tubing, inspect supplies, prime without air, calculate pump and gravity rates, trace lines, and correct common pump alarms.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Verify compatibility, prepare an IV piggyback, program the pump, use the required flushing sequence, evaluate peripheral and central-device dressings, and identify actions outside the learner's authorized role.</a:t>
            </a:r>
          </a:p>
        </p:txBody>
      </p:sp>
      <p:sp>
        <p:nvSpPr>
          <p:cNvPr id="6" name="">
            <a:extLst xmlns:a="http://schemas.openxmlformats.org/drawingml/2006/main">
              <a:ext uri="{FF2B5EF4-FFF2-40B4-BE49-F238E27FC236}">
                <a16:creationId xmlns:a16="http://schemas.microsoft.com/office/drawing/2014/main" id="{9EA7031D-A59A-40E5-87E3-2C989D8683C1}"/>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8392512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2026-10-23T09:35:40.5840000Z</dcterms:created>
  <dcterms:modified xsi:type="dcterms:W3CDTF">2026-10-23T09:35:40.5840000Z</dcterms:modified>
</coreProperties>
</file>