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34a50ec04648c9" /><Relationship Type="http://schemas.openxmlformats.org/officeDocument/2006/relationships/extended-properties" Target="/docProps/app.xml" Id="R6fa51bb1fc8e409f" /><Relationship Type="http://schemas.openxmlformats.org/officeDocument/2006/relationships/officeDocument" Target="/ppt/presentation.xml" Id="Ra0cdfef8bbf849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d050dfd9924dc8"/>
  </p:sldMasterIdLst>
  <p:notesMasterIdLst>
    <p:notesMasterId xmlns:r="http://schemas.openxmlformats.org/officeDocument/2006/relationships" r:id="Rc26b8bfa92da457a"/>
  </p:notesMasterIdLst>
  <p:sldIdLst>
    <p:sldId xmlns:r="http://schemas.openxmlformats.org/officeDocument/2006/relationships" id="256" r:id="Reb46fb92e7054502"/>
    <p:sldId xmlns:r="http://schemas.openxmlformats.org/officeDocument/2006/relationships" id="257" r:id="Rc1093e1bde564f4d"/>
    <p:sldId xmlns:r="http://schemas.openxmlformats.org/officeDocument/2006/relationships" id="258" r:id="R43a353d60c1f4aeb"/>
    <p:sldId xmlns:r="http://schemas.openxmlformats.org/officeDocument/2006/relationships" id="259" r:id="R12ddc6fdc5c1467c"/>
    <p:sldId xmlns:r="http://schemas.openxmlformats.org/officeDocument/2006/relationships" id="260" r:id="R7cb4c17d61bc4b91"/>
    <p:sldId xmlns:r="http://schemas.openxmlformats.org/officeDocument/2006/relationships" id="261" r:id="Rbab231c5d43a47f6"/>
    <p:sldId xmlns:r="http://schemas.openxmlformats.org/officeDocument/2006/relationships" id="262" r:id="Rebb26de3466142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7401681c414080" /><Relationship Type="http://schemas.openxmlformats.org/officeDocument/2006/relationships/slideMaster" Target="/ppt/slideMasters/slideMaster1.xml" Id="R17d050dfd9924dc8" /><Relationship Type="http://schemas.openxmlformats.org/officeDocument/2006/relationships/notesMaster" Target="/ppt/notesMasters/notesMaster1.xml" Id="Rc26b8bfa92da457a" /><Relationship Type="http://schemas.openxmlformats.org/officeDocument/2006/relationships/presProps" Target="/ppt/presProps.xml" Id="Rfafa7d6951b54d3a" /><Relationship Type="http://schemas.openxmlformats.org/officeDocument/2006/relationships/tableStyles" Target="/ppt/tableStyles.xml" Id="R43cf2a61666e4d07" /><Relationship Type="http://schemas.openxmlformats.org/officeDocument/2006/relationships/slide" Target="/ppt/slides/slide1.xml" Id="Reb46fb92e7054502" /><Relationship Type="http://schemas.openxmlformats.org/officeDocument/2006/relationships/slide" Target="/ppt/slides/slide2.xml" Id="Rc1093e1bde564f4d" /><Relationship Type="http://schemas.openxmlformats.org/officeDocument/2006/relationships/slide" Target="/ppt/slides/slide3.xml" Id="R43a353d60c1f4aeb" /><Relationship Type="http://schemas.openxmlformats.org/officeDocument/2006/relationships/slide" Target="/ppt/slides/slide4.xml" Id="R12ddc6fdc5c1467c" /><Relationship Type="http://schemas.openxmlformats.org/officeDocument/2006/relationships/slide" Target="/ppt/slides/slide5.xml" Id="R7cb4c17d61bc4b91" /><Relationship Type="http://schemas.openxmlformats.org/officeDocument/2006/relationships/slide" Target="/ppt/slides/slide6.xml" Id="Rbab231c5d43a47f6" /><Relationship Type="http://schemas.openxmlformats.org/officeDocument/2006/relationships/slide" Target="/ppt/slides/slide7.xml" Id="Rebb26de3466142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c566bfe8164a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f6dcb194c74636" /><Relationship Type="http://schemas.openxmlformats.org/officeDocument/2006/relationships/notesMaster" Target="/ppt/notesMasters/notesMaster1.xml" Id="R4598f69088dd4b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a203c11aec4708" /><Relationship Type="http://schemas.openxmlformats.org/officeDocument/2006/relationships/notesMaster" Target="/ppt/notesMasters/notesMaster1.xml" Id="Rc4a685abb2324a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71d0cd4a2d4f0f" /><Relationship Type="http://schemas.openxmlformats.org/officeDocument/2006/relationships/notesMaster" Target="/ppt/notesMasters/notesMaster1.xml" Id="R54cee1d7837b49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ee5966db01492c" /><Relationship Type="http://schemas.openxmlformats.org/officeDocument/2006/relationships/notesMaster" Target="/ppt/notesMasters/notesMaster1.xml" Id="Ra8900bad1dff41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722f33fe4d4dff" /><Relationship Type="http://schemas.openxmlformats.org/officeDocument/2006/relationships/notesMaster" Target="/ppt/notesMasters/notesMaster1.xml" Id="R4ad6248cf7d242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ca7955c0534bed" /><Relationship Type="http://schemas.openxmlformats.org/officeDocument/2006/relationships/notesMaster" Target="/ppt/notesMasters/notesMaster1.xml" Id="R84498f969fab45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ad08f810b64295" /><Relationship Type="http://schemas.openxmlformats.org/officeDocument/2006/relationships/notesMaster" Target="/ppt/notesMasters/notesMaster1.xml" Id="R92862d6af5e646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13-14.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13-15.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13-16.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13-17. 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Basic Intravenous Therapy Certification manual, pages 13. Online preparation precedes live practice.</a:t>
            </a:r>
          </a:p>
          <a:p xmlns:a="http://schemas.openxmlformats.org/drawingml/2006/main">
            <a:r>
              <a:t>Current legal reference: Florida Administrative Code Rule 64B9-12.005, effective July 20, 2023; Florida Statutes section 464.003 (2026). Instructor must verify current institutional policy and drug/device guidance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6344e8c54746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286dbe8fb343a8" /><Relationship Type="http://schemas.openxmlformats.org/officeDocument/2006/relationships/slideLayout" Target="/ppt/slideLayouts/slideLayout1.xml" Id="R494ef0fef3a048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4ef0fef3a048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faeb293c249fc" /><Relationship Type="http://schemas.openxmlformats.org/officeDocument/2006/relationships/image" Target="/ppt/media/image.jpeg" Id="Rcfd1c3367bb14c0d" /><Relationship Type="http://schemas.openxmlformats.org/officeDocument/2006/relationships/notesSlide" Target="/ppt/notesSlides/notesSlide1.xml" Id="R45973f740bbd46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3ae21b770463c" /><Relationship Type="http://schemas.openxmlformats.org/officeDocument/2006/relationships/notesSlide" Target="/ppt/notesSlides/notesSlide2.xml" Id="R7ca0ad0bb8e343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a056258e047d4" /><Relationship Type="http://schemas.openxmlformats.org/officeDocument/2006/relationships/image" Target="/ppt/media/image2.jpeg" Id="R6943a10afcac4792" /><Relationship Type="http://schemas.openxmlformats.org/officeDocument/2006/relationships/notesSlide" Target="/ppt/notesSlides/notesSlide3.xml" Id="R8f13ae8299ae43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cc63406a8444c" /><Relationship Type="http://schemas.openxmlformats.org/officeDocument/2006/relationships/image" Target="/ppt/media/image3.jpeg" Id="R7174ac9cf4bb45ac" /><Relationship Type="http://schemas.openxmlformats.org/officeDocument/2006/relationships/notesSlide" Target="/ppt/notesSlides/notesSlide4.xml" Id="R9eb10700fbb346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670b996ba402e" /><Relationship Type="http://schemas.openxmlformats.org/officeDocument/2006/relationships/image" Target="/ppt/media/image4.jpeg" Id="R4e065327ad0240c8" /><Relationship Type="http://schemas.openxmlformats.org/officeDocument/2006/relationships/notesSlide" Target="/ppt/notesSlides/notesSlide5.xml" Id="R6c39f0e19de042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000d9dfbc45ab" /><Relationship Type="http://schemas.openxmlformats.org/officeDocument/2006/relationships/image" Target="/ppt/media/image5.jpeg" Id="Rcdb3d6c85ef64607" /><Relationship Type="http://schemas.openxmlformats.org/officeDocument/2006/relationships/notesSlide" Target="/ppt/notesSlides/notesSlide6.xml" Id="R68a0a244817442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12aa4f963436e" /><Relationship Type="http://schemas.openxmlformats.org/officeDocument/2006/relationships/notesSlide" Target="/ppt/notesSlides/notesSlide7.xml" Id="R5853b2290fef47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8A85A-B507-4485-A061-C405B4C1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FEDEF"/>
                </a:solidFill>
                <a:latin typeface="Helvetica Neue"/>
                <a:ea typeface="Helvetica Neue"/>
                <a:cs typeface="Helvetica Neue"/>
              </a:rPr>
              <a:t>BROWARD-MIAMI HEALTH INSTITUTE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8C0E0-6D5D-4B86-BD10-6991EC59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Patient Education and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B02DE-BB32-42C7-AB49-B797825D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Module 2</a:t>
            </a:r>
          </a:p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30-Hour Basic Intravenous Therapy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1c3367bb14c0d"/>
          <a:stretch xmlns:a="http://schemas.openxmlformats.org/drawingml/2006/main"/>
        </p:blipFill>
        <p:spPr>
          <a:xfrm xmlns:a="http://schemas.openxmlformats.org/drawingml/2006/main">
            <a:off x="8286750" y="1461080"/>
            <a:ext cx="3000375" cy="38786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2428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20540-6927-48BE-9DC6-F86B5A28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Learning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8AC79-A47D-4BC3-A39E-949A09EB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E66E6-5E98-4167-8178-8613F9E1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02870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1. Assess physical condition, prior experience, and anxiety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2. Explain IV therapy in clear patient-centered language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3. Document teaching and the patient's response</a:t>
            </a:r>
          </a:p>
        </p:txBody>
      </p:sp>
    </p:spTree>
    <p:extLst>
      <p:ext uri="{BB962C8B-B14F-4D97-AF65-F5344CB8AC3E}">
        <p14:creationId xmlns:p14="http://schemas.microsoft.com/office/powerpoint/2010/main" val="436937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49ACF-38A9-454E-8779-00061CDA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Assessment before teaching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CF19D-3ADF-4E18-9EBD-213D15FE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0209A-367F-4A7B-A51C-BC5C6DC1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Ask what the patient understands, what happened during previous IV therapy, and what worries them now. Consider cognition, language, culture, pain, vision, hearing, and readiness to learn.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3a10afcac4792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970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9028C-BF8A-40EE-9881-DF5F59D7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Information patients need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7DB17-5ED3-4111-A421-F16672AD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FE826-EC38-4B37-BD47-8C76A417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Explain the purpose, expected duration, likely sensations, activity limits, equipment, monitoring, and symptoms that require immediate reporting. Use qualified language assistance when needed.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74ac9cf4bb45ac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944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5863C-1AC6-433A-8C0B-88733AA7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Reducing anxiety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9D883-1281-4990-A967-2241FD00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6668B-FFA4-47F8-BD77-2D75BB1D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Prepare supplies before approaching the patient. Use a calm explanation, preserve privacy, position the patient comfortably, and invite questions. Do not minimize fear or promise a painless procedure.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65327ad0240c8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30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5B091-F965-4192-A01B-CCCC9D68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Teach-back and documentation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AF817-D095-4DE2-BB04-7E7DA57D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4D9E9-C028-450A-9FDD-65FA80CF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6858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Ask the patient to explain how they will protect the site and which symptoms they will report. Record topics taught, learning barriers, teaching method, demonstrated understanding, and follow-up needs.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3d6c85ef64607"/>
          <a:stretch xmlns:a="http://schemas.openxmlformats.org/drawingml/2006/main"/>
        </p:blipFill>
        <p:spPr>
          <a:xfrm xmlns:a="http://schemas.openxmlformats.org/drawingml/2006/main">
            <a:off x="8286750" y="1724880"/>
            <a:ext cx="2857500" cy="369399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6260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A999F-A2FA-4A74-ACB2-B4436F9E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5324A"/>
                </a:solidFill>
                <a:latin typeface="Helvetica Neue"/>
                <a:ea typeface="Helvetica Neue"/>
                <a:cs typeface="Helvetica Neue"/>
              </a:rPr>
              <a:t>Practice and 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32C54-B196-4D06-AB0D-F2D546D6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7B8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A6FD8-B550-4C4A-9D2E-96B5C6ED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81125"/>
            <a:ext cx="1028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1. Use teach-back for site protection and reportable symptoms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2. Adapt teaching for an older adult with hearing 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>
                <a:solidFill>
                  <a:srgbClr val="13212D"/>
                </a:solidFill>
                <a:latin typeface="Helvetica Neue"/>
                <a:ea typeface="Helvetica Neue"/>
                <a:cs typeface="Helvetica Neue"/>
              </a:rPr>
              <a:t>3. Respond therapeutically to a patient who refuses insertion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14F47-ADDA-4F36-8CFF-FD4B265C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B94F3D"/>
                </a:solidFill>
                <a:latin typeface="Helvetica Neue"/>
                <a:ea typeface="Helvetica Neue"/>
                <a:cs typeface="Helvetica Neue"/>
              </a:rPr>
              <a:t>Complete the matching online lesson and quiz before attending the skills lab.</a:t>
            </a:r>
          </a:p>
        </p:txBody>
      </p:sp>
    </p:spTree>
    <p:extLst>
      <p:ext uri="{BB962C8B-B14F-4D97-AF65-F5344CB8AC3E}">
        <p14:creationId xmlns:p14="http://schemas.microsoft.com/office/powerpoint/2010/main" val="95247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2026-09-11T14:11:27.8830000Z</dcterms:created>
  <dcterms:modified xsi:type="dcterms:W3CDTF">2026-09-11T14:11:27.8830000Z</dcterms:modified>
</coreProperties>
</file>