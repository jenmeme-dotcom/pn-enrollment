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98a3ae967145fd" /><Relationship Type="http://schemas.openxmlformats.org/officeDocument/2006/relationships/extended-properties" Target="/docProps/app.xml" Id="R4b0201fa89db46dc" /><Relationship Type="http://schemas.openxmlformats.org/officeDocument/2006/relationships/officeDocument" Target="/ppt/presentation.xml" Id="R6cd9baad99e847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0ffd3752584aa8"/>
  </p:sldMasterIdLst>
  <p:notesMasterIdLst>
    <p:notesMasterId xmlns:r="http://schemas.openxmlformats.org/officeDocument/2006/relationships" r:id="R96f18e01b2ed4047"/>
  </p:notesMasterIdLst>
  <p:sldIdLst>
    <p:sldId xmlns:r="http://schemas.openxmlformats.org/officeDocument/2006/relationships" id="256" r:id="R482c58e89bc84205"/>
    <p:sldId xmlns:r="http://schemas.openxmlformats.org/officeDocument/2006/relationships" id="257" r:id="R6ec0c9812ef041bb"/>
    <p:sldId xmlns:r="http://schemas.openxmlformats.org/officeDocument/2006/relationships" id="258" r:id="R27956bcfb2f543d2"/>
    <p:sldId xmlns:r="http://schemas.openxmlformats.org/officeDocument/2006/relationships" id="259" r:id="R2a893930cabd4d2a"/>
    <p:sldId xmlns:r="http://schemas.openxmlformats.org/officeDocument/2006/relationships" id="260" r:id="Rab05d3480d4f49f6"/>
    <p:sldId xmlns:r="http://schemas.openxmlformats.org/officeDocument/2006/relationships" id="261" r:id="R003ce646243e4f4b"/>
    <p:sldId xmlns:r="http://schemas.openxmlformats.org/officeDocument/2006/relationships" id="262" r:id="R647dc5c507554b17"/>
    <p:sldId xmlns:r="http://schemas.openxmlformats.org/officeDocument/2006/relationships" id="263" r:id="Ra788b674e6684698"/>
    <p:sldId xmlns:r="http://schemas.openxmlformats.org/officeDocument/2006/relationships" id="264" r:id="R7389cb863f434c28"/>
    <p:sldId xmlns:r="http://schemas.openxmlformats.org/officeDocument/2006/relationships" id="265" r:id="R18f78ad69a0d4182"/>
    <p:sldId xmlns:r="http://schemas.openxmlformats.org/officeDocument/2006/relationships" id="266" r:id="Re64c9cb4547a49d4"/>
    <p:sldId xmlns:r="http://schemas.openxmlformats.org/officeDocument/2006/relationships" id="267" r:id="R2022eb23123f4ff5"/>
    <p:sldId xmlns:r="http://schemas.openxmlformats.org/officeDocument/2006/relationships" id="268" r:id="R1ad209c78c8f4306"/>
    <p:sldId xmlns:r="http://schemas.openxmlformats.org/officeDocument/2006/relationships" id="269" r:id="R1cfd0d3ea4524689"/>
    <p:sldId xmlns:r="http://schemas.openxmlformats.org/officeDocument/2006/relationships" id="270" r:id="R23f64e90870746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99938976504bc6" /><Relationship Type="http://schemas.openxmlformats.org/officeDocument/2006/relationships/slideMaster" Target="/ppt/slideMasters/slideMaster1.xml" Id="R790ffd3752584aa8" /><Relationship Type="http://schemas.openxmlformats.org/officeDocument/2006/relationships/notesMaster" Target="/ppt/notesMasters/notesMaster1.xml" Id="R96f18e01b2ed4047" /><Relationship Type="http://schemas.openxmlformats.org/officeDocument/2006/relationships/presProps" Target="/ppt/presProps.xml" Id="Rcf1e49989a26496d" /><Relationship Type="http://schemas.openxmlformats.org/officeDocument/2006/relationships/tableStyles" Target="/ppt/tableStyles.xml" Id="R231203a23c1b435f" /><Relationship Type="http://schemas.openxmlformats.org/officeDocument/2006/relationships/slide" Target="/ppt/slides/slide1.xml" Id="R482c58e89bc84205" /><Relationship Type="http://schemas.openxmlformats.org/officeDocument/2006/relationships/slide" Target="/ppt/slides/slide2.xml" Id="R6ec0c9812ef041bb" /><Relationship Type="http://schemas.openxmlformats.org/officeDocument/2006/relationships/slide" Target="/ppt/slides/slide3.xml" Id="R27956bcfb2f543d2" /><Relationship Type="http://schemas.openxmlformats.org/officeDocument/2006/relationships/slide" Target="/ppt/slides/slide4.xml" Id="R2a893930cabd4d2a" /><Relationship Type="http://schemas.openxmlformats.org/officeDocument/2006/relationships/slide" Target="/ppt/slides/slide5.xml" Id="Rab05d3480d4f49f6" /><Relationship Type="http://schemas.openxmlformats.org/officeDocument/2006/relationships/slide" Target="/ppt/slides/slide6.xml" Id="R003ce646243e4f4b" /><Relationship Type="http://schemas.openxmlformats.org/officeDocument/2006/relationships/slide" Target="/ppt/slides/slide7.xml" Id="R647dc5c507554b17" /><Relationship Type="http://schemas.openxmlformats.org/officeDocument/2006/relationships/slide" Target="/ppt/slides/slide8.xml" Id="Ra788b674e6684698" /><Relationship Type="http://schemas.openxmlformats.org/officeDocument/2006/relationships/slide" Target="/ppt/slides/slide9.xml" Id="R7389cb863f434c28" /><Relationship Type="http://schemas.openxmlformats.org/officeDocument/2006/relationships/slide" Target="/ppt/slides/slide10.xml" Id="R18f78ad69a0d4182" /><Relationship Type="http://schemas.openxmlformats.org/officeDocument/2006/relationships/slide" Target="/ppt/slides/slide11.xml" Id="Re64c9cb4547a49d4" /><Relationship Type="http://schemas.openxmlformats.org/officeDocument/2006/relationships/slide" Target="/ppt/slides/slide12.xml" Id="R2022eb23123f4ff5" /><Relationship Type="http://schemas.openxmlformats.org/officeDocument/2006/relationships/slide" Target="/ppt/slides/slide13.xml" Id="R1ad209c78c8f4306" /><Relationship Type="http://schemas.openxmlformats.org/officeDocument/2006/relationships/slide" Target="/ppt/slides/slide14.xml" Id="R1cfd0d3ea4524689" /><Relationship Type="http://schemas.openxmlformats.org/officeDocument/2006/relationships/slide" Target="/ppt/slides/slide15.xml" Id="R23f64e90870746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ee5601289343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1ae08822844784" /><Relationship Type="http://schemas.openxmlformats.org/officeDocument/2006/relationships/notesMaster" Target="/ppt/notesMasters/notesMaster1.xml" Id="R348fe95b1d7d4e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0f110890414a42" /><Relationship Type="http://schemas.openxmlformats.org/officeDocument/2006/relationships/notesMaster" Target="/ppt/notesMasters/notesMaster1.xml" Id="R19e8ac83dd6e4e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b1867021cf4c0a" /><Relationship Type="http://schemas.openxmlformats.org/officeDocument/2006/relationships/notesMaster" Target="/ppt/notesMasters/notesMaster1.xml" Id="R4de65e3a850944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d691dabecd45e8" /><Relationship Type="http://schemas.openxmlformats.org/officeDocument/2006/relationships/notesMaster" Target="/ppt/notesMasters/notesMaster1.xml" Id="Rc6c2f1c421b549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bc4c51dc724f68" /><Relationship Type="http://schemas.openxmlformats.org/officeDocument/2006/relationships/notesMaster" Target="/ppt/notesMasters/notesMaster1.xml" Id="R2184ffa689f142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a375307ac0418e" /><Relationship Type="http://schemas.openxmlformats.org/officeDocument/2006/relationships/notesMaster" Target="/ppt/notesMasters/notesMaster1.xml" Id="R66dd0838085a4b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9fe48bb2e148cd" /><Relationship Type="http://schemas.openxmlformats.org/officeDocument/2006/relationships/notesMaster" Target="/ppt/notesMasters/notesMaster1.xml" Id="R7ad798346b0343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abd1867e094b05" /><Relationship Type="http://schemas.openxmlformats.org/officeDocument/2006/relationships/notesMaster" Target="/ppt/notesMasters/notesMaster1.xml" Id="Rfa7ec4a5415545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8057065d3542e9" /><Relationship Type="http://schemas.openxmlformats.org/officeDocument/2006/relationships/notesMaster" Target="/ppt/notesMasters/notesMaster1.xml" Id="Re6b02415b6634d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7b2cab87a3426b" /><Relationship Type="http://schemas.openxmlformats.org/officeDocument/2006/relationships/notesMaster" Target="/ppt/notesMasters/notesMaster1.xml" Id="R6d335d15686245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4a44953c22484d" /><Relationship Type="http://schemas.openxmlformats.org/officeDocument/2006/relationships/notesMaster" Target="/ppt/notesMasters/notesMaster1.xml" Id="Rab6da57abac849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fe6e4e71de4b32" /><Relationship Type="http://schemas.openxmlformats.org/officeDocument/2006/relationships/notesMaster" Target="/ppt/notesMasters/notesMaster1.xml" Id="R3c5860aa25804a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12d3d865d224c1e" /><Relationship Type="http://schemas.openxmlformats.org/officeDocument/2006/relationships/notesMaster" Target="/ppt/notesMasters/notesMaster1.xml" Id="R178216f80ba34e4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70ea68edab04f2c" /><Relationship Type="http://schemas.openxmlformats.org/officeDocument/2006/relationships/notesMaster" Target="/ppt/notesMasters/notesMaster1.xml" Id="R65639f9c64ee47d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5a1ffebc4124b4d" /><Relationship Type="http://schemas.openxmlformats.org/officeDocument/2006/relationships/notesMaster" Target="/ppt/notesMasters/notesMaster1.xml" Id="Re277b3654b084d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17;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17;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17-29;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17-29;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17-29;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17-29;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17-29;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17-29;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17-29;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17-29;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17-29;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17-29;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17-29;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17; BMHI IVT 030 course content. Online preparation precedes live practice.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17;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1973525bf343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052ab43b534c0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519103cf6b496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86702b048d49e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024183623a49e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20122681404e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929213-8B3E-4593-B526-A39AE8E790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7F3C023-9C89-4171-9EBC-17C366CEE2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4D2DF1B-B8C1-4F20-BBE5-79A0A106CD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011378-5E22-4A2C-9F2A-C8886FB138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854AA3D-D513-4BFB-8C86-B0EB39D301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112C8FB-1D33-4E79-B836-014732096F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9891C3-39D7-448A-ADB2-238B6E38F3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938D8DC-FBE2-4754-93F0-F44177D234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0583AF-B19B-4A18-B11B-F02D6283E0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2AEDF3-0465-4B02-A814-BE7673530E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2d255424b84e63" /><Relationship Type="http://schemas.openxmlformats.org/officeDocument/2006/relationships/slideLayout" Target="/ppt/slideLayouts/slideLayout1.xml" Id="R3cfaa095dffa4545" /><Relationship Type="http://schemas.openxmlformats.org/officeDocument/2006/relationships/slideLayout" Target="/ppt/slideLayouts/slideLayout2.xml" Id="Rdf3a72e815fa49a7" /><Relationship Type="http://schemas.openxmlformats.org/officeDocument/2006/relationships/slideLayout" Target="/ppt/slideLayouts/slideLayout3.xml" Id="R5bafc738a2524513" /><Relationship Type="http://schemas.openxmlformats.org/officeDocument/2006/relationships/slideLayout" Target="/ppt/slideLayouts/slideLayout4.xml" Id="R9605815dba174c0a" /><Relationship Type="http://schemas.openxmlformats.org/officeDocument/2006/relationships/slideLayout" Target="/ppt/slideLayouts/slideLayout5.xml" Id="R0af483bcad0b47d4" /><Relationship Type="http://schemas.openxmlformats.org/officeDocument/2006/relationships/slideLayout" Target="/ppt/slideLayouts/slideLayout6.xml" Id="R501815c22ea049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faa095dffa4545"/>
    <p:sldLayoutId xmlns:r="http://schemas.openxmlformats.org/officeDocument/2006/relationships" id="2147483650" r:id="Rdf3a72e815fa49a7"/>
    <p:sldLayoutId xmlns:r="http://schemas.openxmlformats.org/officeDocument/2006/relationships" id="2147483651" r:id="R5bafc738a2524513"/>
    <p:sldLayoutId xmlns:r="http://schemas.openxmlformats.org/officeDocument/2006/relationships" id="2147483652" r:id="R9605815dba174c0a"/>
    <p:sldLayoutId xmlns:r="http://schemas.openxmlformats.org/officeDocument/2006/relationships" id="2147483653" r:id="R0af483bcad0b47d4"/>
    <p:sldLayoutId xmlns:r="http://schemas.openxmlformats.org/officeDocument/2006/relationships" id="2147483654" r:id="R501815c22ea049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aaf1d1a2904faf" /><Relationship Type="http://schemas.openxmlformats.org/officeDocument/2006/relationships/notesSlide" Target="/ppt/notesSlides/notesSlide1.xml" Id="Rf68d4c52c8dc45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6975330e9a4d78" /><Relationship Type="http://schemas.openxmlformats.org/officeDocument/2006/relationships/notesSlide" Target="/ppt/notesSlides/notesSlide2.xml" Id="R633b8a7f5d534a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954d07c61c4517" /><Relationship Type="http://schemas.openxmlformats.org/officeDocument/2006/relationships/notesSlide" Target="/ppt/notesSlides/notesSlide3.xml" Id="R842760c493064e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04657493ff4bfb" /><Relationship Type="http://schemas.openxmlformats.org/officeDocument/2006/relationships/notesSlide" Target="/ppt/notesSlides/notesSlide4.xml" Id="R26494a9cae5c49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d248bb1aa64d76" /><Relationship Type="http://schemas.openxmlformats.org/officeDocument/2006/relationships/notesSlide" Target="/ppt/notesSlides/notesSlide5.xml" Id="R67f8afce915e47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d525ae30cf4509" /><Relationship Type="http://schemas.openxmlformats.org/officeDocument/2006/relationships/notesSlide" Target="/ppt/notesSlides/notesSlide6.xml" Id="R9739dcfd0bdf45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6b3c82663e4365" /><Relationship Type="http://schemas.openxmlformats.org/officeDocument/2006/relationships/notesSlide" Target="/ppt/notesSlides/notesSlide7.xml" Id="R8d837c95418747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33e7527a424678" /><Relationship Type="http://schemas.openxmlformats.org/officeDocument/2006/relationships/notesSlide" Target="/ppt/notesSlides/notesSlide8.xml" Id="Raabcfd3ceb0a44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caf99861914a9c" /><Relationship Type="http://schemas.openxmlformats.org/officeDocument/2006/relationships/notesSlide" Target="/ppt/notesSlides/notesSlide9.xml" Id="R3694413544b64d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5d6e2519374eca" /><Relationship Type="http://schemas.openxmlformats.org/officeDocument/2006/relationships/notesSlide" Target="/ppt/notesSlides/notesSlide10.xml" Id="R46434c59decb44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ccb1bb397f4d82" /><Relationship Type="http://schemas.openxmlformats.org/officeDocument/2006/relationships/notesSlide" Target="/ppt/notesSlides/notesSlide11.xml" Id="Rb3636ab3244745a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82da824eb84ef7" /><Relationship Type="http://schemas.openxmlformats.org/officeDocument/2006/relationships/notesSlide" Target="/ppt/notesSlides/notesSlide12.xml" Id="R3d75a0a1952d48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a559409cd747a6" /><Relationship Type="http://schemas.openxmlformats.org/officeDocument/2006/relationships/notesSlide" Target="/ppt/notesSlides/notesSlide13.xml" Id="R83d0a3795fa0410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3bafee9d384980" /><Relationship Type="http://schemas.openxmlformats.org/officeDocument/2006/relationships/notesSlide" Target="/ppt/notesSlides/notesSlide14.xml" Id="R390a072ab2494d3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877341702041e6" /><Relationship Type="http://schemas.openxmlformats.org/officeDocument/2006/relationships/notesSlide" Target="/ppt/notesSlides/notesSlide15.xml" Id="R80f433fd57f543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497E3-61AF-4D25-A5AD-3D00FE73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81651-BE39-4075-A02A-C7ACDEF7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BROWARD-MIAMI HEALTH INSTITUTE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8CD75-C819-4A71-A77B-70965287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990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Fluids, Electrolytes, and Calculations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7B64D-7031-4647-97EA-BEEC3454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  |  30-Hour Basic Intravenous Therapy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AB350-20CE-46D1-B506-B5869D49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Expanded instructor presentation</a:t>
            </a:r>
          </a:p>
        </p:txBody>
      </p:sp>
    </p:spTree>
    <p:extLst>
      <p:ext uri="{BB962C8B-B14F-4D97-AF65-F5344CB8AC3E}">
        <p14:creationId xmlns:p14="http://schemas.microsoft.com/office/powerpoint/2010/main" val="3484865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19C6E-FC9B-4EDB-B434-F451994D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A086A-3C95-4B96-91AA-97700060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Learning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B3DCF-8F96-47D1-8F6E-E587D47C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CB1DA-C602-4822-A6B8-0FFC7D35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98391-8B49-435D-B539-4753222D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Relate fluid compartments to IV solution effects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Recognize common volume and electrolyte disturbances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Calculate pump and gravity infusion rates safely</a:t>
            </a:r>
          </a:p>
        </p:txBody>
      </p:sp>
    </p:spTree>
    <p:extLst>
      <p:ext uri="{BB962C8B-B14F-4D97-AF65-F5344CB8AC3E}">
        <p14:creationId xmlns:p14="http://schemas.microsoft.com/office/powerpoint/2010/main" val="17930507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6B0BF-6D47-42E3-9211-2AE67678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1593E-867B-42B0-B436-5A1B6C2B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Fluid compartments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8B77E-35BE-4408-AB21-2B366448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20E43-97C1-4AAE-8783-895A4ED4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E4D5F-96DA-4713-B590-F2A74A0E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Intracellular fluid lies within cells.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Extracellular fluid includes intravascular and interstitial spaces.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Osmosis moves water across a semipermeable membrane, while diffusion moves solutes down a concentration gradient.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01166-4A81-4F35-A2AD-217F3BF7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4545101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54A4A-804E-483B-B397-BC32325A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23441-DE29-416C-BFE8-A4ECA8A1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Tonicity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D92B3-0F75-4E12-A2E6-D5A588F1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DF4DE-56CB-40B5-BC39-52DF526F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790CB-36ED-4D04-91BB-011342F7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Isotonic solutions have an effective concentration similar to plasma.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Hypotonic solutions promote movement of water into cells.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Hypertonic solutions draw water out of cells and require close monitoring.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EBCDE-5887-4D3F-9CF1-9D6F3F7A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4169069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4F764-D9C2-40D7-A6D2-1D1CAA5E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B2C77-A0A2-4A52-82F1-2BF2470D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743B4-E0FF-4133-AAEC-BE4BF409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B5203-7A5D-465C-8459-501BEC29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3C441-54E1-44E9-97EE-D492E9B8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Track intake and output, daily weight, vital signs, lung sounds, edema, mucous membranes, cognition, urine output, and relevant laboratory values.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Escalate rapid changes or critical results.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1ACBB-BC4A-4726-B0B7-E66C2B89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8641411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64715-9EFC-4A5B-B53B-138268EF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F261A-5DEE-4D54-8D7A-EAB60DED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Calculations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2E85C-0D86-4FAA-838D-331DB0A8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0766A-62F3-4E47-8BF7-E73F569E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0A9B1-4C63-42F4-B834-35CD62E8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mL/hour equals volume divided by hours.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gtt/min equals volume times tubing drop factor divided by minutes.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Label units, round only at the final step, and check whether the result is clinically reasonable.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3FC65-F3AA-4C6B-865D-E2528913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9779937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DB7C9-F618-49AB-8C58-4B742350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85F80-50F4-48A1-A8FE-ECA951B5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Fluid Compartments, Tonicity, and Electrolyte Balance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485F7-AEA0-4F10-B94A-7785115A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CFDDD-CA32-417D-81DE-8264199D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71127-DCE4-4852-8380-E54891EB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Body fluid is distributed between intracellular and extracellular compartments; extracellular fluid includes interstitial and intravascular spaces.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Osmosis moves water across a semipermeable membrane, diffusion moves particles down a concentration gradient, filtration responds to pressure, and active transport uses energy.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2DFBC-F142-4513-9252-B7CBB114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3656411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B667E-DC7C-416C-BB89-4DF90108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DFE0E-AEE9-4CE3-BD6D-A407AC62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Tonicity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F7D29-4111-4610-B205-3AF20CAF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04D64-9ACD-46CD-864F-01ED3EA3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2CF9A-04BE-4516-83F7-82DDE317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Isotonic solutions have an effective concentration similar to plasma.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Hypotonic solutions promote water movement into cells.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Hypertonic solutions draw water from cells and require close monitoring.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Solution selection depends on the order, indication, comorbidities, laboratory findings, and current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66E632-BEC1-4E03-92AD-115BF6F4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349800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186F1-3283-47AC-9860-641AAFBC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40129-B6BD-4EE1-9976-4EC067C0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5C94D-5973-4DC1-A240-FAD1568A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DD167-8339-4A49-B1D1-91DDB2F1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7AEA4-5E8E-4B92-945F-E25A8E1D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Fluid deficit may produce thirst, dry mucosa, tachycardia, orthostatic changes, low urine output, weight loss, or poor skin turgor.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Excess may produce rapid weight gain, edema, jugular venous distention, hypertension, crackles, or dyspnea.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Monitor intake/output, daily weight, cardiopulmonary status, cognition, and relevant labs.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BD253-0DD5-461F-AA15-3EB9CA9F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6438211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D065D-323A-48F7-AB50-FA0CEDEF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46D9C-0288-4D9E-BA7A-14EC9305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Electrolytes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C9EB6-3C8C-49DD-A877-325257BF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E5D72-B6EC-4B96-B43B-7F46CBCB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0E565-6491-470A-A2C2-EDCA2571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Sodium, potassium, calcium, magnesium, chloride, phosphate, and bicarbonate support neurologic, cardiac, muscular, and acid-base function.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Abnormalities may become life-threatening; report critical results and symptoms immediately.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B6A60-439B-4475-B500-2882FAA2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1253757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9685A-2713-40FB-A652-493E3654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29499-AC70-49CD-83D2-84300F18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Core formulas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69C4B-8D2A-493D-B09B-605EB60D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1DE06-4154-41D5-B089-2D7538FF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30C29-7D74-4A4B-9540-E02491D3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mL/hour = total volume (mL) / time (hours).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gtt/min = volume (mL) x drop factor (gtt/mL) / time (minutes).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Volume to administer = desired dose / dose on hand x volume on hand.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Dose rate problems require units to cancel correctly before programming.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0C6CB-20E9-4188-859C-D5DA3276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9028171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4B0AEB-0C5B-4D6B-BD6B-B3657D47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BE7CE-540F-4210-82F7-4D1B4DCE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96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Flow Rates, Dosage Calculations, Pumps, and IV Piggyback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10ADF-C8BE-4DD3-887B-088541B2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6A266-36BB-4AA8-8DFB-33471653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F4076-91A6-4BA5-85F0-F69D9FBE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Always convert units, label each step, retain clinically appropriate precision, round only at the final step according to device/policy, and check whether the answer is reasonable.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Obtain an independent double check when required.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486A9-51B2-4F5E-92BD-19BF8C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3053858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AC3F0-D160-4D38-9B4D-D1ED53E5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160DF-EBEF-4568-B660-81C563BE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Secondary infusion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3BD41-DB08-4864-B071-CDD818A5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C7C29-BDC6-4D48-87F7-939457E9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43929-A560-46EA-802C-FD275DF0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Verify the order and compatibility, inspect the medication, assess the patient/site, prime and connect aseptically to the correct port, position bags for the device/setup, program primary and secondary settings, open clamps, observe startup, reassess during infusion, restore/verify the primary infusion, flush as ordered, and document.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6AB9B-DD85-453E-ABF3-89F572ED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4980455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8C891-F47C-4C78-8851-C920A34E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842BA-1DAE-47EE-B948-2495829F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Practice and competency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24CE7-E328-40A1-BFE5-13BC36E5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30C2C-F42D-4600-A109-0E8FC4A5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5F601-106E-4C5D-9857-60117422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Calculate 1,000 mL over 8 hours on a pump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Calculate 250 mL over 90 minutes using 15 gtt/mL tubing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Choose monitoring priorities for fluid deficit and fluid excess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2940E-6F55-4FBF-9847-13AE7915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Complete the matching online lesson and assessment before the in-person laboratory.</a:t>
            </a:r>
          </a:p>
        </p:txBody>
      </p:sp>
    </p:spTree>
    <p:extLst>
      <p:ext uri="{BB962C8B-B14F-4D97-AF65-F5344CB8AC3E}">
        <p14:creationId xmlns:p14="http://schemas.microsoft.com/office/powerpoint/2010/main" val="728584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01A89-0133-4186-910A-DA19D5B7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5B766-F01B-40CF-8180-CD6DF7DB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Key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0BC83-DFA8-40B0-A6A3-40AEA7D4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CD5B1-82E3-4790-A8F0-6796CD6B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B017B-9139-4E88-B2DB-6035D375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Relate fluid compartments to IV solution effects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Isotonic solutions have an effective concentration similar to plasma. Hypotonic solutions promote movement of water into cells. Hypertonic solutions draw water out of cells and require close monitoring.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mL/hour equals volume divided by hours. gtt/min equals volume times tubing drop factor divided by minutes. Label units, round only at the final step, and check whether the result is clinically reasonable.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1E3FAC-3968-4C37-958B-2699FC7F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Review the course lesson, complete the assessment, and bring questions to the live session.</a:t>
            </a:r>
          </a:p>
        </p:txBody>
      </p:sp>
    </p:spTree>
    <p:extLst>
      <p:ext uri="{BB962C8B-B14F-4D97-AF65-F5344CB8AC3E}">
        <p14:creationId xmlns:p14="http://schemas.microsoft.com/office/powerpoint/2010/main" val="16607839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2026-10-20T23:43:13.5260000Z</dcterms:created>
  <dcterms:modified xsi:type="dcterms:W3CDTF">2026-10-20T23:43:13.5260000Z</dcterms:modified>
</coreProperties>
</file>