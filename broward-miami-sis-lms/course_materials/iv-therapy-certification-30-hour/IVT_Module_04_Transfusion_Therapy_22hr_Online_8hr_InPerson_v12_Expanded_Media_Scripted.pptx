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7da1264abb424d" /><Relationship Type="http://schemas.openxmlformats.org/officeDocument/2006/relationships/extended-properties" Target="/docProps/app.xml" Id="R20bb9ae7bb214ce3" /><Relationship Type="http://schemas.openxmlformats.org/officeDocument/2006/relationships/officeDocument" Target="/ppt/presentation.xml" Id="Rf774729023a84a14" /></Relationships>
</file>

<file path=ppt/presentation.xml><?xml version="1.0" encoding="utf-8"?>
<p:presentation xmlns:p="http://schemas.openxmlformats.org/presentationml/2006/main">
  <p:sldMasterIdLst>
    <p:sldMasterId xmlns:r="http://schemas.openxmlformats.org/officeDocument/2006/relationships" id="2147483648" r:id="R6149cb8403274391"/>
  </p:sldMasterIdLst>
  <p:notesMasterIdLst>
    <p:notesMasterId xmlns:r="http://schemas.openxmlformats.org/officeDocument/2006/relationships" r:id="R7a58079fcadd4faa"/>
  </p:notesMasterIdLst>
  <p:sldIdLst>
    <p:sldId xmlns:r="http://schemas.openxmlformats.org/officeDocument/2006/relationships" id="256" r:id="R4b5aafeddd64420d"/>
    <p:sldId xmlns:r="http://schemas.openxmlformats.org/officeDocument/2006/relationships" id="257" r:id="R40aa1e0bca954c05"/>
    <p:sldId xmlns:r="http://schemas.openxmlformats.org/officeDocument/2006/relationships" id="258" r:id="R1a0117f51c844566"/>
    <p:sldId xmlns:r="http://schemas.openxmlformats.org/officeDocument/2006/relationships" id="259" r:id="R023d01d7ca10430b"/>
    <p:sldId xmlns:r="http://schemas.openxmlformats.org/officeDocument/2006/relationships" id="260" r:id="R2ff2379cbd364571"/>
    <p:sldId xmlns:r="http://schemas.openxmlformats.org/officeDocument/2006/relationships" id="261" r:id="R1bcab25b715b472c"/>
    <p:sldId xmlns:r="http://schemas.openxmlformats.org/officeDocument/2006/relationships" id="262" r:id="R11610641c22841da"/>
    <p:sldId xmlns:r="http://schemas.openxmlformats.org/officeDocument/2006/relationships" id="263" r:id="Rb4830229240f40c8"/>
    <p:sldId xmlns:r="http://schemas.openxmlformats.org/officeDocument/2006/relationships" id="264" r:id="R114bdb04ca09427c"/>
    <p:sldId xmlns:r="http://schemas.openxmlformats.org/officeDocument/2006/relationships" id="265" r:id="R74686f8c31d9463c"/>
    <p:sldId xmlns:r="http://schemas.openxmlformats.org/officeDocument/2006/relationships" id="266" r:id="Rf365be0808934941"/>
    <p:sldId xmlns:r="http://schemas.openxmlformats.org/officeDocument/2006/relationships" id="267" r:id="R6d4a7697720849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41d132b4db4fc7" /><Relationship Type="http://schemas.openxmlformats.org/officeDocument/2006/relationships/slideMaster" Target="/ppt/slideMasters/slideMaster1.xml" Id="R6149cb8403274391" /><Relationship Type="http://schemas.openxmlformats.org/officeDocument/2006/relationships/notesMaster" Target="/ppt/notesMasters/notesMaster1.xml" Id="R7a58079fcadd4faa" /><Relationship Type="http://schemas.openxmlformats.org/officeDocument/2006/relationships/presProps" Target="/ppt/presProps.xml" Id="R5ca8b56404044d9b" /><Relationship Type="http://schemas.openxmlformats.org/officeDocument/2006/relationships/tableStyles" Target="/ppt/tableStyles.xml" Id="R01c4b96662444933" /><Relationship Type="http://schemas.openxmlformats.org/officeDocument/2006/relationships/slide" Target="/ppt/slides/slide1.xml" Id="R4b5aafeddd64420d" /><Relationship Type="http://schemas.openxmlformats.org/officeDocument/2006/relationships/slide" Target="/ppt/slides/slide2.xml" Id="R40aa1e0bca954c05" /><Relationship Type="http://schemas.openxmlformats.org/officeDocument/2006/relationships/slide" Target="/ppt/slides/slide3.xml" Id="R1a0117f51c844566" /><Relationship Type="http://schemas.openxmlformats.org/officeDocument/2006/relationships/slide" Target="/ppt/slides/slide4.xml" Id="R023d01d7ca10430b" /><Relationship Type="http://schemas.openxmlformats.org/officeDocument/2006/relationships/slide" Target="/ppt/slides/slide5.xml" Id="R2ff2379cbd364571" /><Relationship Type="http://schemas.openxmlformats.org/officeDocument/2006/relationships/slide" Target="/ppt/slides/slide6.xml" Id="R1bcab25b715b472c" /><Relationship Type="http://schemas.openxmlformats.org/officeDocument/2006/relationships/slide" Target="/ppt/slides/slide7.xml" Id="R11610641c22841da" /><Relationship Type="http://schemas.openxmlformats.org/officeDocument/2006/relationships/slide" Target="/ppt/slides/slide8.xml" Id="Rb4830229240f40c8" /><Relationship Type="http://schemas.openxmlformats.org/officeDocument/2006/relationships/slide" Target="/ppt/slides/slide9.xml" Id="R114bdb04ca09427c" /><Relationship Type="http://schemas.openxmlformats.org/officeDocument/2006/relationships/slide" Target="/ppt/slides/slide10.xml" Id="R74686f8c31d9463c" /><Relationship Type="http://schemas.openxmlformats.org/officeDocument/2006/relationships/slide" Target="/ppt/slides/slide11.xml" Id="Rf365be0808934941" /><Relationship Type="http://schemas.openxmlformats.org/officeDocument/2006/relationships/slide" Target="/ppt/slides/slide12.xml" Id="R6d4a7697720849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50f23d76ae49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c84c09422145d9" /><Relationship Type="http://schemas.openxmlformats.org/officeDocument/2006/relationships/notesMaster" Target="/ppt/notesMasters/notesMaster1.xml" Id="R9142ec5c5b9b4c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3c0b1efb6c4f73" /><Relationship Type="http://schemas.openxmlformats.org/officeDocument/2006/relationships/notesMaster" Target="/ppt/notesMasters/notesMaster1.xml" Id="R5f7fc24dc45a49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96957efcef40ad" /><Relationship Type="http://schemas.openxmlformats.org/officeDocument/2006/relationships/notesMaster" Target="/ppt/notesMasters/notesMaster1.xml" Id="R71dd8574abb44f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bd14da3ddd445d" /><Relationship Type="http://schemas.openxmlformats.org/officeDocument/2006/relationships/notesMaster" Target="/ppt/notesMasters/notesMaster1.xml" Id="R32352d7fc76e4f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dc8da358544541" /><Relationship Type="http://schemas.openxmlformats.org/officeDocument/2006/relationships/notesMaster" Target="/ppt/notesMasters/notesMaster1.xml" Id="R0d9c24f0c5f642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9b61d19efc4cee" /><Relationship Type="http://schemas.openxmlformats.org/officeDocument/2006/relationships/notesMaster" Target="/ppt/notesMasters/notesMaster1.xml" Id="R43ff44d2b7bd43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00d3f7e2894717" /><Relationship Type="http://schemas.openxmlformats.org/officeDocument/2006/relationships/notesMaster" Target="/ppt/notesMasters/notesMaster1.xml" Id="Red2582148a114f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2cc1c4a08f401a" /><Relationship Type="http://schemas.openxmlformats.org/officeDocument/2006/relationships/notesMaster" Target="/ppt/notesMasters/notesMaster1.xml" Id="R889e5834097e4b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d27ebf318b4c12" /><Relationship Type="http://schemas.openxmlformats.org/officeDocument/2006/relationships/notesMaster" Target="/ppt/notesMasters/notesMaster1.xml" Id="R109ffa4d7e9d47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7833c75db843a3" /><Relationship Type="http://schemas.openxmlformats.org/officeDocument/2006/relationships/notesMaster" Target="/ppt/notesMasters/notesMaster1.xml" Id="R6c179f0aa88948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7f51f4c10941cb" /><Relationship Type="http://schemas.openxmlformats.org/officeDocument/2006/relationships/notesMaster" Target="/ppt/notesMasters/notesMaster1.xml" Id="R6947b9254d9c41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6885c08c994d83" /><Relationship Type="http://schemas.openxmlformats.org/officeDocument/2006/relationships/notesMaster" Target="/ppt/notesMasters/notesMaster1.xml" Id="Radbb2da77b8f44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Cover media: Pexels photo by Anna Shvets, https://www.pexels.com/photo/patient-with-iv-line-3845115/,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Match the component to the therapeutic goal. First, Red blood cells: Improve oxygen-carrying capacity Next, Platelets: Support platelet-related hemostasis Next, Plasma: Replace multiple coagulation factors when indicated Next, Cryoprecipitate: Replace fibrinogen and selected factors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bedside verification pause. First, Perform the facility-approved independent or electronic verification at the bedside. Next, Match patient identifiers, order, component, blood type and compatibility, unit number, expiration, and product appearance. Next, Do not bypass a mismatch, unreadable label, damaged unit, or abnormal appearance.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Recognize patterns of transfusion reaction. First, Allergic: Itching, hives, flushing; severe cases may involve airway symptoms Next, Febrile: Temperature rise, chills, discomfort Next, Hemolytic: Fever, chills, pain, hypotension, hemoglobinuria Next, Circulatory overload: Dyspnea, crackles, hypertension, edema Next, Septic: High fever, rigors, hypotension, rapid deterioration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actions. First, Stop the transfusion immediately. Next, Keep the IV access available with compatible fluid and new tubing as policy directs. Next, Assess airway, breathing, circulation, vital signs, and the patient’s symptoms. Next, Notify the supervising RN and prescriber; recheck identification; complete ordered specimens, product return,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6c59b43ce445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3e0efe11264e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36ce7d556243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dd7187d177494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990ba6ed064e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30459edd054f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362E02-53FF-4EC9-8C91-F46EEEFBAB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1B59AA-6666-4A85-A576-9990D410FAC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17810BC-E91C-405E-9D46-B55D665377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CC84C9-BBA5-403D-96ED-6336AA55D1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4FDA6D-341A-4901-8068-D867B734D6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0A3215-2AA7-4F5D-812A-8181482A36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C55E12-EEE0-4987-89A4-7151FAAF11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F07868A-4BED-4FF6-A002-71B27CABB7C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E492D6-630A-4A1B-A672-CF50ED1D87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C81CE6-13EC-468D-914B-BB31AE9C1E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1fb40e910649b2" /><Relationship Type="http://schemas.openxmlformats.org/officeDocument/2006/relationships/slideLayout" Target="/ppt/slideLayouts/slideLayout1.xml" Id="R4abdfc2271a7466f" /><Relationship Type="http://schemas.openxmlformats.org/officeDocument/2006/relationships/slideLayout" Target="/ppt/slideLayouts/slideLayout2.xml" Id="Rb32aed050139451c" /><Relationship Type="http://schemas.openxmlformats.org/officeDocument/2006/relationships/slideLayout" Target="/ppt/slideLayouts/slideLayout3.xml" Id="R60b25e4772cf4a67" /><Relationship Type="http://schemas.openxmlformats.org/officeDocument/2006/relationships/slideLayout" Target="/ppt/slideLayouts/slideLayout4.xml" Id="R333a1e74799b4bb6" /><Relationship Type="http://schemas.openxmlformats.org/officeDocument/2006/relationships/slideLayout" Target="/ppt/slideLayouts/slideLayout5.xml" Id="Re93d1a03aeab4eb3" /><Relationship Type="http://schemas.openxmlformats.org/officeDocument/2006/relationships/slideLayout" Target="/ppt/slideLayouts/slideLayout6.xml" Id="R0af2416f465d4a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bdfc2271a7466f"/>
    <p:sldLayoutId xmlns:r="http://schemas.openxmlformats.org/officeDocument/2006/relationships" id="2147483650" r:id="Rb32aed050139451c"/>
    <p:sldLayoutId xmlns:r="http://schemas.openxmlformats.org/officeDocument/2006/relationships" id="2147483651" r:id="R60b25e4772cf4a67"/>
    <p:sldLayoutId xmlns:r="http://schemas.openxmlformats.org/officeDocument/2006/relationships" id="2147483652" r:id="R333a1e74799b4bb6"/>
    <p:sldLayoutId xmlns:r="http://schemas.openxmlformats.org/officeDocument/2006/relationships" id="2147483653" r:id="Re93d1a03aeab4eb3"/>
    <p:sldLayoutId xmlns:r="http://schemas.openxmlformats.org/officeDocument/2006/relationships" id="2147483654" r:id="R0af2416f465d4a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d862260be64a58" /><Relationship Type="http://schemas.openxmlformats.org/officeDocument/2006/relationships/image" Target="/ppt/media/image.jpeg" Id="R6777d54265274e32" /><Relationship Type="http://schemas.openxmlformats.org/officeDocument/2006/relationships/notesSlide" Target="/ppt/notesSlides/notesSlide1.xml" Id="Rd814adf4763b48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8f36eed903241f6" /><Relationship Type="http://schemas.openxmlformats.org/officeDocument/2006/relationships/notesSlide" Target="/ppt/notesSlides/notesSlide2.xml" Id="R32a8fbd7db3d4b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e2a729d3c74e37" /><Relationship Type="http://schemas.openxmlformats.org/officeDocument/2006/relationships/notesSlide" Target="/ppt/notesSlides/notesSlide3.xml" Id="Rc7322a85a4ec49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156e6842754f63" /><Relationship Type="http://schemas.openxmlformats.org/officeDocument/2006/relationships/notesSlide" Target="/ppt/notesSlides/notesSlide4.xml" Id="R6d71c4740c9145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73a5ac75404e30" /><Relationship Type="http://schemas.openxmlformats.org/officeDocument/2006/relationships/notesSlide" Target="/ppt/notesSlides/notesSlide5.xml" Id="Rda0b817331244c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e8fe382e3b4cf6" /><Relationship Type="http://schemas.openxmlformats.org/officeDocument/2006/relationships/notesSlide" Target="/ppt/notesSlides/notesSlide6.xml" Id="R22eb7d9196d64c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7fd3871dac4ea6" /><Relationship Type="http://schemas.openxmlformats.org/officeDocument/2006/relationships/notesSlide" Target="/ppt/notesSlides/notesSlide7.xml" Id="R7a37619f7f3f4b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09ec36b89cc4454" /><Relationship Type="http://schemas.openxmlformats.org/officeDocument/2006/relationships/notesSlide" Target="/ppt/notesSlides/notesSlide8.xml" Id="Rfca250d490214b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f0e4905ae944aa8" /><Relationship Type="http://schemas.openxmlformats.org/officeDocument/2006/relationships/notesSlide" Target="/ppt/notesSlides/notesSlide9.xml" Id="R157e95c8a9b843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007b39a8f4d4a23" /><Relationship Type="http://schemas.openxmlformats.org/officeDocument/2006/relationships/notesSlide" Target="/ppt/notesSlides/notesSlide10.xml" Id="R1b1221d089ce43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30394932a840bc" /><Relationship Type="http://schemas.openxmlformats.org/officeDocument/2006/relationships/notesSlide" Target="/ppt/notesSlides/notesSlide11.xml" Id="R1819813d19714d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2b94731fc74c2e" /><Relationship Type="http://schemas.openxmlformats.org/officeDocument/2006/relationships/notesSlide" Target="/ppt/notesSlides/notesSlide12.xml" Id="R39dea1112afd49e7"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C445C6D-2B5E-470C-8E5F-FC53F4F21CB4}"/>
              </a:ext>
            </a:extLst>
          </p:cNvPr>
          <p:cNvPicPr>
            <a:picLocks xmlns:a="http://schemas.openxmlformats.org/drawingml/2006/main" noChangeAspect="1"/>
          </p:cNvPicPr>
          <p:nvPr/>
        </p:nvPicPr>
        <p:blipFill>
          <a:blip xmlns:r="http://schemas.openxmlformats.org/officeDocument/2006/relationships" xmlns:a="http://schemas.openxmlformats.org/drawingml/2006/main" r:embed="R6777d54265274e32"/>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3DE73C-4EA9-4BC9-8444-B12168F135DF}"/>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99C68FCA-5195-4CFD-BD2C-B30EDD50D39F}"/>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89E49FF8-1B68-47F7-8483-C9CDF5E84230}"/>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DD41923F-576D-4547-99AA-3C0C72451123}"/>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Transfusion Therapy</a:t>
            </a:r>
          </a:p>
        </p:txBody>
      </p:sp>
      <p:sp>
        <p:nvSpPr>
          <p:cNvPr id="6" name="">
            <a:extLst xmlns:a="http://schemas.openxmlformats.org/drawingml/2006/main">
              <a:ext uri="{FF2B5EF4-FFF2-40B4-BE49-F238E27FC236}">
                <a16:creationId xmlns:a16="http://schemas.microsoft.com/office/drawing/2014/main" id="{6013AE1F-43E5-4CCC-90B4-BBE0F59C4978}"/>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4  |  30-Hour Basic Intravenous Therapy</a:t>
            </a:r>
          </a:p>
        </p:txBody>
      </p:sp>
      <p:sp>
        <p:nvSpPr>
          <p:cNvPr id="7" name="">
            <a:extLst xmlns:a="http://schemas.openxmlformats.org/drawingml/2006/main">
              <a:ext uri="{FF2B5EF4-FFF2-40B4-BE49-F238E27FC236}">
                <a16:creationId xmlns:a16="http://schemas.microsoft.com/office/drawing/2014/main" id="{840A5B75-739D-4712-A8CE-9BB521E8F042}"/>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58955811"/>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68B492-9DB8-4933-AA8D-591405668D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AB72EF-00D4-4DC2-9E1D-FBB1300CB6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D9E1CB60-BFDA-4E14-929E-5373B1B83E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560DEC8-DF1F-4322-BB3E-A3AE370547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8DDC565-8324-4DBA-BC63-3622CAE6A63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53528849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48FF42-16CE-4F47-BE00-2141240AA3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41D837-26C0-46A1-B0CA-27624DD71C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3" name="">
            <a:extLst xmlns:a="http://schemas.openxmlformats.org/drawingml/2006/main">
              <a:ext uri="{FF2B5EF4-FFF2-40B4-BE49-F238E27FC236}">
                <a16:creationId xmlns:a16="http://schemas.microsoft.com/office/drawing/2014/main" id="{CC1AF325-7E4D-44B1-BDEE-C01E5E461A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90B2FA7-2F1F-4A18-ACD7-EE12C6AC352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90BB427A-2A4B-45FE-B835-677E2185F0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6" name="">
            <a:extLst xmlns:a="http://schemas.openxmlformats.org/drawingml/2006/main">
              <a:ext uri="{FF2B5EF4-FFF2-40B4-BE49-F238E27FC236}">
                <a16:creationId xmlns:a16="http://schemas.microsoft.com/office/drawing/2014/main" id="{758B6195-2A26-4A5D-B757-10EAC2CE0B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11163749"/>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3A769C-50F4-40A9-A1B5-D21061C3E5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8D20A14-433D-4B13-8031-17FB3ACFA5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3" name="">
            <a:extLst xmlns:a="http://schemas.openxmlformats.org/drawingml/2006/main">
              <a:ext uri="{FF2B5EF4-FFF2-40B4-BE49-F238E27FC236}">
                <a16:creationId xmlns:a16="http://schemas.microsoft.com/office/drawing/2014/main" id="{96D64087-FC6E-487E-89D3-7431141AE3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CC54E22-F4C5-4E45-AFD5-0228751FDD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2CCEA995-50B6-4A04-A582-07B93038E7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6" name="">
            <a:extLst xmlns:a="http://schemas.openxmlformats.org/drawingml/2006/main">
              <a:ext uri="{FF2B5EF4-FFF2-40B4-BE49-F238E27FC236}">
                <a16:creationId xmlns:a16="http://schemas.microsoft.com/office/drawing/2014/main" id="{2BFAFF78-16D0-475C-B773-F500B04AF9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8117143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70367F-7777-4036-832C-24DE91E303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806242D-76DB-4D85-9AEF-34D3F23121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3" name="">
            <a:extLst xmlns:a="http://schemas.openxmlformats.org/drawingml/2006/main">
              <a:ext uri="{FF2B5EF4-FFF2-40B4-BE49-F238E27FC236}">
                <a16:creationId xmlns:a16="http://schemas.microsoft.com/office/drawing/2014/main" id="{BC27C530-D9F0-4B66-A323-6DE464BDA3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B492CD2-AD87-4762-B985-532A3215A8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77E53148-978E-49ED-9881-7CD10E610E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6" name="">
            <a:extLst xmlns:a="http://schemas.openxmlformats.org/drawingml/2006/main">
              <a:ext uri="{FF2B5EF4-FFF2-40B4-BE49-F238E27FC236}">
                <a16:creationId xmlns:a16="http://schemas.microsoft.com/office/drawing/2014/main" id="{5CEF3BD6-5D4A-4173-86D6-4204276BAA7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84842868"/>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029A45-3F39-49B7-ACCE-77EFB027720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79E92E-7561-4411-8F42-4F7570CD4E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3" name="">
            <a:extLst xmlns:a="http://schemas.openxmlformats.org/drawingml/2006/main">
              <a:ext uri="{FF2B5EF4-FFF2-40B4-BE49-F238E27FC236}">
                <a16:creationId xmlns:a16="http://schemas.microsoft.com/office/drawing/2014/main" id="{5A23C769-4E3B-4DB1-A62B-F654B6C9DD4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56CB975B-DF7E-4FE8-8097-3399A873A1F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D610755-71E0-4BB7-BDBB-50661BEEBEB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283EB59B-44FC-4660-B0C7-F479F5E31E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1081840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04BBF27-9502-49AF-A045-8E307568EA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5C89BD-81E0-4D9A-91AF-D57680D07A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Match the component to the therapeutic goal</a:t>
            </a:r>
          </a:p>
        </p:txBody>
      </p:sp>
      <p:sp>
        <p:nvSpPr>
          <p:cNvPr id="3" name="">
            <a:extLst xmlns:a="http://schemas.openxmlformats.org/drawingml/2006/main">
              <a:ext uri="{FF2B5EF4-FFF2-40B4-BE49-F238E27FC236}">
                <a16:creationId xmlns:a16="http://schemas.microsoft.com/office/drawing/2014/main" id="{F6184738-41F4-47D1-880C-F9A65A4CE9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A649B718-D7C9-4D4D-96F3-25AC55001F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7D84DFEC-8FA2-4735-B78B-E67036BBB219}"/>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3D89008E-F373-49F8-A19E-7F0C5CB00B4A}"/>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7" name="">
            <a:extLst xmlns:a="http://schemas.openxmlformats.org/drawingml/2006/main">
              <a:ext uri="{FF2B5EF4-FFF2-40B4-BE49-F238E27FC236}">
                <a16:creationId xmlns:a16="http://schemas.microsoft.com/office/drawing/2014/main" id="{71C2EC81-C717-4E3E-B8A7-E6AEFB87304E}"/>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1DB4BD2A-8D3A-4B42-8B46-6B3E4F530CBF}"/>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therapeutic goal</a:t>
            </a:r>
          </a:p>
        </p:txBody>
      </p:sp>
      <p:sp>
        <p:nvSpPr>
          <p:cNvPr id="9" name="">
            <a:extLst xmlns:a="http://schemas.openxmlformats.org/drawingml/2006/main">
              <a:ext uri="{FF2B5EF4-FFF2-40B4-BE49-F238E27FC236}">
                <a16:creationId xmlns:a16="http://schemas.microsoft.com/office/drawing/2014/main" id="{FB7E8443-176C-45CC-9795-665C4CF5E610}"/>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DC93F979-1A51-4720-B6FF-4A7C42896B14}"/>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1" name="">
            <a:extLst xmlns:a="http://schemas.openxmlformats.org/drawingml/2006/main">
              <a:ext uri="{FF2B5EF4-FFF2-40B4-BE49-F238E27FC236}">
                <a16:creationId xmlns:a16="http://schemas.microsoft.com/office/drawing/2014/main" id="{66FE39CD-C5D7-4A95-9AAC-B8168ED88395}"/>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C05D3090-A998-4BAD-9EA6-55C4A71CF5F2}"/>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Improve oxygen-carrying capacity</a:t>
            </a:r>
          </a:p>
        </p:txBody>
      </p:sp>
      <p:sp>
        <p:nvSpPr>
          <p:cNvPr id="13" name="">
            <a:extLst xmlns:a="http://schemas.openxmlformats.org/drawingml/2006/main">
              <a:ext uri="{FF2B5EF4-FFF2-40B4-BE49-F238E27FC236}">
                <a16:creationId xmlns:a16="http://schemas.microsoft.com/office/drawing/2014/main" id="{77C335A4-75F9-4EFE-BFDE-7F7F09D8D2F4}"/>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B924DDE9-99D9-4FE0-9831-008C61802E7B}"/>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5" name="">
            <a:extLst xmlns:a="http://schemas.openxmlformats.org/drawingml/2006/main">
              <a:ext uri="{FF2B5EF4-FFF2-40B4-BE49-F238E27FC236}">
                <a16:creationId xmlns:a16="http://schemas.microsoft.com/office/drawing/2014/main" id="{9159950F-FA64-4748-8916-E5B5F0C24AA6}"/>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87AD438-2203-4ED4-BC4C-B74F2EFFF772}"/>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 platelet-related hemostasis</a:t>
            </a:r>
          </a:p>
        </p:txBody>
      </p:sp>
      <p:sp>
        <p:nvSpPr>
          <p:cNvPr id="17" name="">
            <a:extLst xmlns:a="http://schemas.openxmlformats.org/drawingml/2006/main">
              <a:ext uri="{FF2B5EF4-FFF2-40B4-BE49-F238E27FC236}">
                <a16:creationId xmlns:a16="http://schemas.microsoft.com/office/drawing/2014/main" id="{25F8FCC4-95F1-40F1-B82C-B5135E114D1E}"/>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4444E68-2592-4272-9D56-A057B94880E2}"/>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19" name="">
            <a:extLst xmlns:a="http://schemas.openxmlformats.org/drawingml/2006/main">
              <a:ext uri="{FF2B5EF4-FFF2-40B4-BE49-F238E27FC236}">
                <a16:creationId xmlns:a16="http://schemas.microsoft.com/office/drawing/2014/main" id="{5318E81E-C89D-4538-B7A6-B755C10FA580}"/>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2F158ED-FEEB-43D8-BBF2-294EA47477BA}"/>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multiple coagulation factors when indicated</a:t>
            </a:r>
          </a:p>
        </p:txBody>
      </p:sp>
      <p:sp>
        <p:nvSpPr>
          <p:cNvPr id="21" name="">
            <a:extLst xmlns:a="http://schemas.openxmlformats.org/drawingml/2006/main">
              <a:ext uri="{FF2B5EF4-FFF2-40B4-BE49-F238E27FC236}">
                <a16:creationId xmlns:a16="http://schemas.microsoft.com/office/drawing/2014/main" id="{67EB85B9-0773-4B22-B9AD-22DE63117717}"/>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5ACEDFB-B0F9-4BE9-81AE-4443C3ED18DB}"/>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23" name="">
            <a:extLst xmlns:a="http://schemas.openxmlformats.org/drawingml/2006/main">
              <a:ext uri="{FF2B5EF4-FFF2-40B4-BE49-F238E27FC236}">
                <a16:creationId xmlns:a16="http://schemas.microsoft.com/office/drawing/2014/main" id="{CB398336-B0C9-4266-915A-AEBDC83D85E3}"/>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DAB07CE-BF1D-43CB-853E-2F6CCA483B25}"/>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fibrinogen and selected factors when indicated</a:t>
            </a:r>
          </a:p>
        </p:txBody>
      </p:sp>
    </p:spTree>
    <p:extLst>
      <p:ext uri="{BB962C8B-B14F-4D97-AF65-F5344CB8AC3E}">
        <p14:creationId xmlns:p14="http://schemas.microsoft.com/office/powerpoint/2010/main" val="138231995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D9DC02-4C7E-4C0C-AD37-26CAA2F7C6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A3CF5D-F491-4926-98AC-A2B5FBA5F1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bedside verification pause</a:t>
            </a:r>
          </a:p>
        </p:txBody>
      </p:sp>
      <p:sp>
        <p:nvSpPr>
          <p:cNvPr id="3" name="">
            <a:extLst xmlns:a="http://schemas.openxmlformats.org/drawingml/2006/main">
              <a:ext uri="{FF2B5EF4-FFF2-40B4-BE49-F238E27FC236}">
                <a16:creationId xmlns:a16="http://schemas.microsoft.com/office/drawing/2014/main" id="{1FA9BFF2-0DCC-4B32-8E27-E3B0251D3D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35E2AE3-6A0D-43CE-B7D0-E286341D050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60CEB85F-BF6F-46D6-8CA1-AB16F65A5A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the facility-approved independent or electronic verification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patient identifiers, order, component, blood type and compatibility, unit number, expiration, and product appearance.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bypass a mismatch, unreadable label, damaged unit, or abnormal appearance.</a:t>
            </a:r>
          </a:p>
        </p:txBody>
      </p:sp>
      <p:sp>
        <p:nvSpPr>
          <p:cNvPr id="6" name="">
            <a:extLst xmlns:a="http://schemas.openxmlformats.org/drawingml/2006/main">
              <a:ext uri="{FF2B5EF4-FFF2-40B4-BE49-F238E27FC236}">
                <a16:creationId xmlns:a16="http://schemas.microsoft.com/office/drawing/2014/main" id="{993ABF6A-6A0D-4E03-A786-533C0CFFD68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85181711"/>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0326CA7-CD75-4276-AF58-EDF4DE711D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000DAA0-EB50-4D95-A530-3E6F9608C8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Recognize patterns of transfusion reaction</a:t>
            </a:r>
          </a:p>
        </p:txBody>
      </p:sp>
      <p:sp>
        <p:nvSpPr>
          <p:cNvPr id="3" name="">
            <a:extLst xmlns:a="http://schemas.openxmlformats.org/drawingml/2006/main">
              <a:ext uri="{FF2B5EF4-FFF2-40B4-BE49-F238E27FC236}">
                <a16:creationId xmlns:a16="http://schemas.microsoft.com/office/drawing/2014/main" id="{0FCAC848-35D7-44A5-A394-E4EFE6147BB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DA16D13-D16F-42A5-813C-89358AB4EC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95382E2A-61AF-46AB-9230-000C30695FE8}"/>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48BC97AE-5802-49B8-9191-31B18F30B3BD}"/>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002ED000-A7ED-4D71-A4DA-ED6BC4B2C5C6}"/>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A5B1F39-19C1-426A-89A0-B35F7CD708AF}"/>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9" name="">
            <a:extLst xmlns:a="http://schemas.openxmlformats.org/drawingml/2006/main">
              <a:ext uri="{FF2B5EF4-FFF2-40B4-BE49-F238E27FC236}">
                <a16:creationId xmlns:a16="http://schemas.microsoft.com/office/drawing/2014/main" id="{6373E411-30DE-4BAE-8E17-D46E57A219C6}"/>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84C675E2-A2F4-43EA-9329-1CCE1CFF7564}"/>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a:t>
            </a:r>
          </a:p>
        </p:txBody>
      </p:sp>
      <p:sp>
        <p:nvSpPr>
          <p:cNvPr id="11" name="">
            <a:extLst xmlns:a="http://schemas.openxmlformats.org/drawingml/2006/main">
              <a:ext uri="{FF2B5EF4-FFF2-40B4-BE49-F238E27FC236}">
                <a16:creationId xmlns:a16="http://schemas.microsoft.com/office/drawing/2014/main" id="{B630262E-C8F2-4148-B7A5-BCE9E47267F9}"/>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EA92BBD-11A5-4EFB-91C3-EBF90477BE35}"/>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Itching, hives, flushing; severe cases may involve airway symptoms</a:t>
            </a:r>
          </a:p>
        </p:txBody>
      </p:sp>
      <p:sp>
        <p:nvSpPr>
          <p:cNvPr id="13" name="">
            <a:extLst xmlns:a="http://schemas.openxmlformats.org/drawingml/2006/main">
              <a:ext uri="{FF2B5EF4-FFF2-40B4-BE49-F238E27FC236}">
                <a16:creationId xmlns:a16="http://schemas.microsoft.com/office/drawing/2014/main" id="{1F710161-A208-456D-9594-A5DE933EF15A}"/>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33FA8AE-21DC-4243-9B10-7CAF13966F00}"/>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a:t>
            </a:r>
          </a:p>
        </p:txBody>
      </p:sp>
      <p:sp>
        <p:nvSpPr>
          <p:cNvPr id="15" name="">
            <a:extLst xmlns:a="http://schemas.openxmlformats.org/drawingml/2006/main">
              <a:ext uri="{FF2B5EF4-FFF2-40B4-BE49-F238E27FC236}">
                <a16:creationId xmlns:a16="http://schemas.microsoft.com/office/drawing/2014/main" id="{18678C05-FE7B-49CF-9888-868E45C07B81}"/>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B784551-BFF5-4F80-9171-F9D87AA022BB}"/>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rise, chills, discomfort</a:t>
            </a:r>
          </a:p>
        </p:txBody>
      </p:sp>
      <p:sp>
        <p:nvSpPr>
          <p:cNvPr id="17" name="">
            <a:extLst xmlns:a="http://schemas.openxmlformats.org/drawingml/2006/main">
              <a:ext uri="{FF2B5EF4-FFF2-40B4-BE49-F238E27FC236}">
                <a16:creationId xmlns:a16="http://schemas.microsoft.com/office/drawing/2014/main" id="{183DE3E6-5B0E-4B5E-B574-15BBDC12D695}"/>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9805180-1DBE-45B4-9C0C-061A855F6A7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9" name="">
            <a:extLst xmlns:a="http://schemas.openxmlformats.org/drawingml/2006/main">
              <a:ext uri="{FF2B5EF4-FFF2-40B4-BE49-F238E27FC236}">
                <a16:creationId xmlns:a16="http://schemas.microsoft.com/office/drawing/2014/main" id="{17EE644F-0369-4397-9550-E37DD0067309}"/>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EFEEEC1-B376-4D3D-A3BC-5FCA1C1F4CB6}"/>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hemoglobinuria</a:t>
            </a:r>
          </a:p>
        </p:txBody>
      </p:sp>
      <p:sp>
        <p:nvSpPr>
          <p:cNvPr id="21" name="">
            <a:extLst xmlns:a="http://schemas.openxmlformats.org/drawingml/2006/main">
              <a:ext uri="{FF2B5EF4-FFF2-40B4-BE49-F238E27FC236}">
                <a16:creationId xmlns:a16="http://schemas.microsoft.com/office/drawing/2014/main" id="{13A751BF-E204-40C8-955D-1D2F17A6D0C4}"/>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EE007A1-BBBD-41DE-81D2-44E77B2E9C5F}"/>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3" name="">
            <a:extLst xmlns:a="http://schemas.openxmlformats.org/drawingml/2006/main">
              <a:ext uri="{FF2B5EF4-FFF2-40B4-BE49-F238E27FC236}">
                <a16:creationId xmlns:a16="http://schemas.microsoft.com/office/drawing/2014/main" id="{BCE96E45-D8A6-4AE3-8AE7-011B3E418E62}"/>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1DF3DF4-F482-4BC0-BFBF-96516E876574}"/>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a:t>
            </a:r>
          </a:p>
        </p:txBody>
      </p:sp>
      <p:sp>
        <p:nvSpPr>
          <p:cNvPr id="25" name="">
            <a:extLst xmlns:a="http://schemas.openxmlformats.org/drawingml/2006/main">
              <a:ext uri="{FF2B5EF4-FFF2-40B4-BE49-F238E27FC236}">
                <a16:creationId xmlns:a16="http://schemas.microsoft.com/office/drawing/2014/main" id="{5368AD0A-18A0-4B93-A9F9-A76CB2025976}"/>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EED32A2-C729-40A1-8154-F505A2764CEC}"/>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Septic</a:t>
            </a:r>
          </a:p>
        </p:txBody>
      </p:sp>
      <p:sp>
        <p:nvSpPr>
          <p:cNvPr id="27" name="">
            <a:extLst xmlns:a="http://schemas.openxmlformats.org/drawingml/2006/main">
              <a:ext uri="{FF2B5EF4-FFF2-40B4-BE49-F238E27FC236}">
                <a16:creationId xmlns:a16="http://schemas.microsoft.com/office/drawing/2014/main" id="{5DBF5CE9-2B70-47BC-B6F9-83A037E17F64}"/>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0418774-8025-44F1-BFAC-366D59ADC80B}"/>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rapid deterioration</a:t>
            </a:r>
          </a:p>
        </p:txBody>
      </p:sp>
    </p:spTree>
    <p:extLst>
      <p:ext uri="{BB962C8B-B14F-4D97-AF65-F5344CB8AC3E}">
        <p14:creationId xmlns:p14="http://schemas.microsoft.com/office/powerpoint/2010/main" val="135578109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C42212-CF1B-4094-995E-D356908452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B2AD96-2C6D-48AC-864A-463A9A8CDC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 first actions</a:t>
            </a:r>
          </a:p>
        </p:txBody>
      </p:sp>
      <p:sp>
        <p:nvSpPr>
          <p:cNvPr id="3" name="">
            <a:extLst xmlns:a="http://schemas.openxmlformats.org/drawingml/2006/main">
              <a:ext uri="{FF2B5EF4-FFF2-40B4-BE49-F238E27FC236}">
                <a16:creationId xmlns:a16="http://schemas.microsoft.com/office/drawing/2014/main" id="{21FCA529-1B5F-4392-ABFD-0F789AB079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083A316-92D7-474D-B8B5-3456282517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A3A2698E-EE1A-49FB-A66E-4D5A70ED32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Keep the IV access available with compatible fluid and new tubing as policy directs.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airway, breathing, circulation, vital signs, and the patient’s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RN and prescriber; recheck identification; complete ordered specimens, product return, and documentation.</a:t>
            </a:r>
          </a:p>
        </p:txBody>
      </p:sp>
      <p:sp>
        <p:nvSpPr>
          <p:cNvPr id="6" name="">
            <a:extLst xmlns:a="http://schemas.openxmlformats.org/drawingml/2006/main">
              <a:ext uri="{FF2B5EF4-FFF2-40B4-BE49-F238E27FC236}">
                <a16:creationId xmlns:a16="http://schemas.microsoft.com/office/drawing/2014/main" id="{B2AE6602-86A5-4378-8C98-028F90C5BE0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973704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C206B3-4A86-4069-98CC-DBA2D43493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9599CC-08D5-4AE3-8CD9-CDF9DBFC6C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FF8182D3-B3D1-4CA3-8801-133EA2438D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47181187-12F8-4BF8-A562-7662C25EBC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6DFEB80-1AB7-43D9-A9C7-67CC23AA327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6" name="">
            <a:extLst xmlns:a="http://schemas.openxmlformats.org/drawingml/2006/main">
              <a:ext uri="{FF2B5EF4-FFF2-40B4-BE49-F238E27FC236}">
                <a16:creationId xmlns:a16="http://schemas.microsoft.com/office/drawing/2014/main" id="{54F3543B-15A2-4AC2-B13A-6A9388D5F73C}"/>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355981078"/>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8E9B20-F5FF-4CDA-80D6-B3815D81E1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641589-0A07-4910-AA5A-3EF8F8267A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F09EF76F-D883-41A1-8F02-B8ED7CED5F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2CDF9D7-11E0-437A-A04D-65FA5DF1C3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F31725B1-32F9-4FA5-8AD2-B2575EACF460}"/>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81B8C003-AC26-4C54-BA0D-1F3F830C33E7}"/>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8881679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2026-10-23T09:24:25.4130000Z</dcterms:created>
  <dcterms:modified xsi:type="dcterms:W3CDTF">2026-10-23T09:24:25.4130000Z</dcterms:modified>
</coreProperties>
</file>