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743267aac44c3e" /><Relationship Type="http://schemas.openxmlformats.org/officeDocument/2006/relationships/extended-properties" Target="/docProps/app.xml" Id="R8d1b291531a94522" /><Relationship Type="http://schemas.openxmlformats.org/officeDocument/2006/relationships/officeDocument" Target="/ppt/presentation.xml" Id="R4385225c2f7f48d5" /></Relationships>
</file>

<file path=ppt/presentation.xml><?xml version="1.0" encoding="utf-8"?>
<p:presentation xmlns:p="http://schemas.openxmlformats.org/presentationml/2006/main">
  <p:sldMasterIdLst>
    <p:sldMasterId xmlns:r="http://schemas.openxmlformats.org/officeDocument/2006/relationships" id="2147483648" r:id="R28c8808a69be4519"/>
  </p:sldMasterIdLst>
  <p:notesMasterIdLst>
    <p:notesMasterId xmlns:r="http://schemas.openxmlformats.org/officeDocument/2006/relationships" r:id="Rcd0c612eb2104a73"/>
  </p:notesMasterIdLst>
  <p:sldIdLst>
    <p:sldId xmlns:r="http://schemas.openxmlformats.org/officeDocument/2006/relationships" id="256" r:id="Rad7e9785c14e4ba6"/>
    <p:sldId xmlns:r="http://schemas.openxmlformats.org/officeDocument/2006/relationships" id="257" r:id="R8be8614b6d914610"/>
    <p:sldId xmlns:r="http://schemas.openxmlformats.org/officeDocument/2006/relationships" id="258" r:id="R7ee0c37375e84d36"/>
    <p:sldId xmlns:r="http://schemas.openxmlformats.org/officeDocument/2006/relationships" id="259" r:id="R11ac1f21b6444439"/>
    <p:sldId xmlns:r="http://schemas.openxmlformats.org/officeDocument/2006/relationships" id="260" r:id="R4779ab9c5f904537"/>
    <p:sldId xmlns:r="http://schemas.openxmlformats.org/officeDocument/2006/relationships" id="261" r:id="R2be5a15feb5048f9"/>
    <p:sldId xmlns:r="http://schemas.openxmlformats.org/officeDocument/2006/relationships" id="262" r:id="R19d032f8b68a4390"/>
    <p:sldId xmlns:r="http://schemas.openxmlformats.org/officeDocument/2006/relationships" id="263" r:id="R9fea467c992642f0"/>
    <p:sldId xmlns:r="http://schemas.openxmlformats.org/officeDocument/2006/relationships" id="264" r:id="R86560e57cbcd443e"/>
    <p:sldId xmlns:r="http://schemas.openxmlformats.org/officeDocument/2006/relationships" id="265" r:id="Rcd5f8a6874414764"/>
    <p:sldId xmlns:r="http://schemas.openxmlformats.org/officeDocument/2006/relationships" id="266" r:id="Rf5e90c3d7c1e40e2"/>
    <p:sldId xmlns:r="http://schemas.openxmlformats.org/officeDocument/2006/relationships" id="267" r:id="R918b6d0bd6a049ae"/>
    <p:sldId xmlns:r="http://schemas.openxmlformats.org/officeDocument/2006/relationships" id="268" r:id="Ra278f0ba16c743f3"/>
    <p:sldId xmlns:r="http://schemas.openxmlformats.org/officeDocument/2006/relationships" id="269" r:id="Re55e95b2cc444b00"/>
    <p:sldId xmlns:r="http://schemas.openxmlformats.org/officeDocument/2006/relationships" id="270" r:id="R1f785abe25f142cf"/>
    <p:sldId xmlns:r="http://schemas.openxmlformats.org/officeDocument/2006/relationships" id="271" r:id="R5b4d1758a74e42d5"/>
    <p:sldId xmlns:r="http://schemas.openxmlformats.org/officeDocument/2006/relationships" id="272" r:id="Rb7c0c3bcae014294"/>
    <p:sldId xmlns:r="http://schemas.openxmlformats.org/officeDocument/2006/relationships" id="273" r:id="Ra22e10504d0f45e7"/>
    <p:sldId xmlns:r="http://schemas.openxmlformats.org/officeDocument/2006/relationships" id="274" r:id="R5f5421f79b0c4fd4"/>
    <p:sldId xmlns:r="http://schemas.openxmlformats.org/officeDocument/2006/relationships" id="275" r:id="R780ac6149f4645ba"/>
    <p:sldId xmlns:r="http://schemas.openxmlformats.org/officeDocument/2006/relationships" id="276" r:id="R668ce3036f294d50"/>
    <p:sldId xmlns:r="http://schemas.openxmlformats.org/officeDocument/2006/relationships" id="277" r:id="R94f5f13cff0e446f"/>
    <p:sldId xmlns:r="http://schemas.openxmlformats.org/officeDocument/2006/relationships" id="278" r:id="R4507ea50911c4dd5"/>
    <p:sldId xmlns:r="http://schemas.openxmlformats.org/officeDocument/2006/relationships" id="279" r:id="R5413ff7611854287"/>
    <p:sldId xmlns:r="http://schemas.openxmlformats.org/officeDocument/2006/relationships" id="280" r:id="R3323bc44893b42b1"/>
    <p:sldId xmlns:r="http://schemas.openxmlformats.org/officeDocument/2006/relationships" id="281" r:id="Rb5d27e88fdbf493e"/>
    <p:sldId xmlns:r="http://schemas.openxmlformats.org/officeDocument/2006/relationships" id="282" r:id="R9584f408e7a24442"/>
    <p:sldId xmlns:r="http://schemas.openxmlformats.org/officeDocument/2006/relationships" id="283" r:id="R56c52a9d74be42cb"/>
    <p:sldId xmlns:r="http://schemas.openxmlformats.org/officeDocument/2006/relationships" id="284" r:id="R0059f9dfdc5545eb"/>
    <p:sldId xmlns:r="http://schemas.openxmlformats.org/officeDocument/2006/relationships" id="285" r:id="R6b67e4224b354492"/>
    <p:sldId xmlns:r="http://schemas.openxmlformats.org/officeDocument/2006/relationships" id="286" r:id="R0bd696b562f448d9"/>
    <p:sldId xmlns:r="http://schemas.openxmlformats.org/officeDocument/2006/relationships" id="287" r:id="R010b8150c29a4085"/>
    <p:sldId xmlns:r="http://schemas.openxmlformats.org/officeDocument/2006/relationships" id="288" r:id="Rc4c2964abbe54279"/>
    <p:sldId xmlns:r="http://schemas.openxmlformats.org/officeDocument/2006/relationships" id="289" r:id="Rb00b6a6a20134d85"/>
    <p:sldId xmlns:r="http://schemas.openxmlformats.org/officeDocument/2006/relationships" id="290" r:id="Rc47afea2bdcf4376"/>
    <p:sldId xmlns:r="http://schemas.openxmlformats.org/officeDocument/2006/relationships" id="291" r:id="R9084bcadbe7047f1"/>
    <p:sldId xmlns:r="http://schemas.openxmlformats.org/officeDocument/2006/relationships" id="292" r:id="R3691ab71e7244df4"/>
    <p:sldId xmlns:r="http://schemas.openxmlformats.org/officeDocument/2006/relationships" id="293" r:id="R9b6a04ca64a44778"/>
    <p:sldId xmlns:r="http://schemas.openxmlformats.org/officeDocument/2006/relationships" id="294" r:id="R1a83ab10194347c1"/>
    <p:sldId xmlns:r="http://schemas.openxmlformats.org/officeDocument/2006/relationships" id="295" r:id="R76a3a075d9524401"/>
    <p:sldId xmlns:r="http://schemas.openxmlformats.org/officeDocument/2006/relationships" id="296" r:id="Rfad6179528fd4301"/>
    <p:sldId xmlns:r="http://schemas.openxmlformats.org/officeDocument/2006/relationships" id="297" r:id="R2a8aae7d4d20446b"/>
    <p:sldId xmlns:r="http://schemas.openxmlformats.org/officeDocument/2006/relationships" id="298" r:id="R2e10ccf7be534a4f"/>
    <p:sldId xmlns:r="http://schemas.openxmlformats.org/officeDocument/2006/relationships" id="299" r:id="R5add5a916c324dd1"/>
    <p:sldId xmlns:r="http://schemas.openxmlformats.org/officeDocument/2006/relationships" id="300" r:id="R58ec8128849a443e"/>
    <p:sldId xmlns:r="http://schemas.openxmlformats.org/officeDocument/2006/relationships" id="301" r:id="R0172ebd487604a62"/>
    <p:sldId xmlns:r="http://schemas.openxmlformats.org/officeDocument/2006/relationships" id="302" r:id="R1173f8fca9484dbc"/>
    <p:sldId xmlns:r="http://schemas.openxmlformats.org/officeDocument/2006/relationships" id="303" r:id="R3f4da076f2fa4bd6"/>
    <p:sldId xmlns:r="http://schemas.openxmlformats.org/officeDocument/2006/relationships" id="304" r:id="Rf6a9884631794c75"/>
    <p:sldId xmlns:r="http://schemas.openxmlformats.org/officeDocument/2006/relationships" id="305" r:id="R6f9cb0f3d303492d"/>
    <p:sldId xmlns:r="http://schemas.openxmlformats.org/officeDocument/2006/relationships" id="306" r:id="R7802595aa29e4200"/>
    <p:sldId xmlns:r="http://schemas.openxmlformats.org/officeDocument/2006/relationships" id="307" r:id="Raedf51cff9e042b0"/>
    <p:sldId xmlns:r="http://schemas.openxmlformats.org/officeDocument/2006/relationships" id="308" r:id="R1f3749160056492c"/>
    <p:sldId xmlns:r="http://schemas.openxmlformats.org/officeDocument/2006/relationships" id="309" r:id="R67267bd214fd4111"/>
    <p:sldId xmlns:r="http://schemas.openxmlformats.org/officeDocument/2006/relationships" id="310" r:id="R691fd4a98b024b6a"/>
    <p:sldId xmlns:r="http://schemas.openxmlformats.org/officeDocument/2006/relationships" id="311" r:id="R1d266cd8a7154c32"/>
    <p:sldId xmlns:r="http://schemas.openxmlformats.org/officeDocument/2006/relationships" id="312" r:id="Rb24e6e90e53e4a69"/>
    <p:sldId xmlns:r="http://schemas.openxmlformats.org/officeDocument/2006/relationships" id="313" r:id="R0925d60ee6d1435b"/>
    <p:sldId xmlns:r="http://schemas.openxmlformats.org/officeDocument/2006/relationships" id="314" r:id="R076b90b684774172"/>
    <p:sldId xmlns:r="http://schemas.openxmlformats.org/officeDocument/2006/relationships" id="315" r:id="R2f58069005cf4f18"/>
    <p:sldId xmlns:r="http://schemas.openxmlformats.org/officeDocument/2006/relationships" id="316" r:id="R65d32d638e1c4a9f"/>
    <p:sldId xmlns:r="http://schemas.openxmlformats.org/officeDocument/2006/relationships" id="317" r:id="R736d9d3c06714f21"/>
    <p:sldId xmlns:r="http://schemas.openxmlformats.org/officeDocument/2006/relationships" id="318" r:id="Rb2db6128651b444a"/>
    <p:sldId xmlns:r="http://schemas.openxmlformats.org/officeDocument/2006/relationships" id="319" r:id="R20e54c72a0854ee3"/>
    <p:sldId xmlns:r="http://schemas.openxmlformats.org/officeDocument/2006/relationships" id="320" r:id="R00a2c1fe222b413c"/>
    <p:sldId xmlns:r="http://schemas.openxmlformats.org/officeDocument/2006/relationships" id="321" r:id="R6d38f954f9814bba"/>
    <p:sldId xmlns:r="http://schemas.openxmlformats.org/officeDocument/2006/relationships" id="322" r:id="R649ce9749e374345"/>
    <p:sldId xmlns:r="http://schemas.openxmlformats.org/officeDocument/2006/relationships" id="323" r:id="R0fcab2e01ca34218"/>
    <p:sldId xmlns:r="http://schemas.openxmlformats.org/officeDocument/2006/relationships" id="324" r:id="Rb99212cb35e94405"/>
    <p:sldId xmlns:r="http://schemas.openxmlformats.org/officeDocument/2006/relationships" id="325" r:id="Re53cad025b164bcf"/>
    <p:sldId xmlns:r="http://schemas.openxmlformats.org/officeDocument/2006/relationships" id="326" r:id="R9ac1a9e2538a4c29"/>
    <p:sldId xmlns:r="http://schemas.openxmlformats.org/officeDocument/2006/relationships" id="327" r:id="Re898478bf700424d"/>
    <p:sldId xmlns:r="http://schemas.openxmlformats.org/officeDocument/2006/relationships" id="328" r:id="Rdea3d84e2e954c43"/>
    <p:sldId xmlns:r="http://schemas.openxmlformats.org/officeDocument/2006/relationships" id="329" r:id="R14a325c217534a61"/>
    <p:sldId xmlns:r="http://schemas.openxmlformats.org/officeDocument/2006/relationships" id="330" r:id="R0ff1ad6c791a4a1f"/>
    <p:sldId xmlns:r="http://schemas.openxmlformats.org/officeDocument/2006/relationships" id="331" r:id="Rf8d4c51141244849"/>
    <p:sldId xmlns:r="http://schemas.openxmlformats.org/officeDocument/2006/relationships" id="332" r:id="Rccddc3d1bfb34004"/>
    <p:sldId xmlns:r="http://schemas.openxmlformats.org/officeDocument/2006/relationships" id="333" r:id="R006292c356194f48"/>
    <p:sldId xmlns:r="http://schemas.openxmlformats.org/officeDocument/2006/relationships" id="334" r:id="Rf6acf37d93854df4"/>
    <p:sldId xmlns:r="http://schemas.openxmlformats.org/officeDocument/2006/relationships" id="335" r:id="R98e637d291804e89"/>
    <p:sldId xmlns:r="http://schemas.openxmlformats.org/officeDocument/2006/relationships" id="336" r:id="Rbd0d98b44ac64548"/>
    <p:sldId xmlns:r="http://schemas.openxmlformats.org/officeDocument/2006/relationships" id="337" r:id="Rc10dc0d8f41749b0"/>
    <p:sldId xmlns:r="http://schemas.openxmlformats.org/officeDocument/2006/relationships" id="338" r:id="Rd43e2f9231c3464e"/>
    <p:sldId xmlns:r="http://schemas.openxmlformats.org/officeDocument/2006/relationships" id="339" r:id="Refd5689011fb4d5f"/>
    <p:sldId xmlns:r="http://schemas.openxmlformats.org/officeDocument/2006/relationships" id="340" r:id="R32d1e0b53d5e45f1"/>
    <p:sldId xmlns:r="http://schemas.openxmlformats.org/officeDocument/2006/relationships" id="341" r:id="R76c2c0f4a5814130"/>
    <p:sldId xmlns:r="http://schemas.openxmlformats.org/officeDocument/2006/relationships" id="342" r:id="R22f37c903bbf4d7c"/>
    <p:sldId xmlns:r="http://schemas.openxmlformats.org/officeDocument/2006/relationships" id="343" r:id="Rba293e2e6da34fd7"/>
    <p:sldId xmlns:r="http://schemas.openxmlformats.org/officeDocument/2006/relationships" id="344" r:id="R1c434f93736a4172"/>
    <p:sldId xmlns:r="http://schemas.openxmlformats.org/officeDocument/2006/relationships" id="345" r:id="Re9cee58f989f4c8b"/>
    <p:sldId xmlns:r="http://schemas.openxmlformats.org/officeDocument/2006/relationships" id="346" r:id="R63b965e1b6fe493a"/>
    <p:sldId xmlns:r="http://schemas.openxmlformats.org/officeDocument/2006/relationships" id="347" r:id="Re84669ef6d564c85"/>
    <p:sldId xmlns:r="http://schemas.openxmlformats.org/officeDocument/2006/relationships" id="348" r:id="R8b3456ea2fc646a6"/>
    <p:sldId xmlns:r="http://schemas.openxmlformats.org/officeDocument/2006/relationships" id="349" r:id="R24df8e0a7d89420f"/>
    <p:sldId xmlns:r="http://schemas.openxmlformats.org/officeDocument/2006/relationships" id="350" r:id="R16868f87c10f4314"/>
    <p:sldId xmlns:r="http://schemas.openxmlformats.org/officeDocument/2006/relationships" id="351" r:id="Rf1eecc39e9e34578"/>
    <p:sldId xmlns:r="http://schemas.openxmlformats.org/officeDocument/2006/relationships" id="352" r:id="R27abe3183ce941a4"/>
    <p:sldId xmlns:r="http://schemas.openxmlformats.org/officeDocument/2006/relationships" id="353" r:id="Rdae2ae2f39954c52"/>
    <p:sldId xmlns:r="http://schemas.openxmlformats.org/officeDocument/2006/relationships" id="354" r:id="R4d9396a87384450e"/>
    <p:sldId xmlns:r="http://schemas.openxmlformats.org/officeDocument/2006/relationships" id="355" r:id="R4414aef4ef8f4464"/>
    <p:sldId xmlns:r="http://schemas.openxmlformats.org/officeDocument/2006/relationships" id="356" r:id="R016efeabfe8a49e8"/>
    <p:sldId xmlns:r="http://schemas.openxmlformats.org/officeDocument/2006/relationships" id="357" r:id="R6caa1043d44541c5"/>
    <p:sldId xmlns:r="http://schemas.openxmlformats.org/officeDocument/2006/relationships" id="358" r:id="R49c18fc3f09d4567"/>
    <p:sldId xmlns:r="http://schemas.openxmlformats.org/officeDocument/2006/relationships" id="359" r:id="R074497f461424e99"/>
    <p:sldId xmlns:r="http://schemas.openxmlformats.org/officeDocument/2006/relationships" id="360" r:id="R8c6fdaeda6c0422e"/>
    <p:sldId xmlns:r="http://schemas.openxmlformats.org/officeDocument/2006/relationships" id="361" r:id="R2b1e5b41d46c48cd"/>
    <p:sldId xmlns:r="http://schemas.openxmlformats.org/officeDocument/2006/relationships" id="362" r:id="R0eace0d6c88c436d"/>
    <p:sldId xmlns:r="http://schemas.openxmlformats.org/officeDocument/2006/relationships" id="363" r:id="Rdb987339c1684bd9"/>
    <p:sldId xmlns:r="http://schemas.openxmlformats.org/officeDocument/2006/relationships" id="364" r:id="Rd6e5ccc7c9b94b5e"/>
    <p:sldId xmlns:r="http://schemas.openxmlformats.org/officeDocument/2006/relationships" id="365" r:id="Rec671fde9c404129"/>
    <p:sldId xmlns:r="http://schemas.openxmlformats.org/officeDocument/2006/relationships" id="366" r:id="R05d001266c424ab0"/>
    <p:sldId xmlns:r="http://schemas.openxmlformats.org/officeDocument/2006/relationships" id="367" r:id="R5be748b9cd9f4cb7"/>
    <p:sldId xmlns:r="http://schemas.openxmlformats.org/officeDocument/2006/relationships" id="368" r:id="Rfbf0e327e64b4fad"/>
    <p:sldId xmlns:r="http://schemas.openxmlformats.org/officeDocument/2006/relationships" id="369" r:id="R0da1a7b2ac6041fa"/>
    <p:sldId xmlns:r="http://schemas.openxmlformats.org/officeDocument/2006/relationships" id="370" r:id="R57f3345c42ba4976"/>
    <p:sldId xmlns:r="http://schemas.openxmlformats.org/officeDocument/2006/relationships" id="371" r:id="R7dfed50f6f674606"/>
    <p:sldId xmlns:r="http://schemas.openxmlformats.org/officeDocument/2006/relationships" id="372" r:id="R26e1e245fb09498c"/>
    <p:sldId xmlns:r="http://schemas.openxmlformats.org/officeDocument/2006/relationships" id="373" r:id="R062c305769d64061"/>
    <p:sldId xmlns:r="http://schemas.openxmlformats.org/officeDocument/2006/relationships" id="374" r:id="R35726ad58a6d45b6"/>
    <p:sldId xmlns:r="http://schemas.openxmlformats.org/officeDocument/2006/relationships" id="375" r:id="Rc6dfa954f7f94180"/>
    <p:sldId xmlns:r="http://schemas.openxmlformats.org/officeDocument/2006/relationships" id="376" r:id="Rcb213594f7dd498b"/>
    <p:sldId xmlns:r="http://schemas.openxmlformats.org/officeDocument/2006/relationships" id="377" r:id="Rb7b7a55dba00450b"/>
    <p:sldId xmlns:r="http://schemas.openxmlformats.org/officeDocument/2006/relationships" id="378" r:id="R6f3782449adb4040"/>
    <p:sldId xmlns:r="http://schemas.openxmlformats.org/officeDocument/2006/relationships" id="379" r:id="Rd3846e028a3d4624"/>
    <p:sldId xmlns:r="http://schemas.openxmlformats.org/officeDocument/2006/relationships" id="380" r:id="R841b757d80384130"/>
    <p:sldId xmlns:r="http://schemas.openxmlformats.org/officeDocument/2006/relationships" id="381" r:id="R1df83bfffa34485c"/>
    <p:sldId xmlns:r="http://schemas.openxmlformats.org/officeDocument/2006/relationships" id="382" r:id="Ra1ee94c86ebe4ecf"/>
    <p:sldId xmlns:r="http://schemas.openxmlformats.org/officeDocument/2006/relationships" id="383" r:id="Rdf458323319244ea"/>
    <p:sldId xmlns:r="http://schemas.openxmlformats.org/officeDocument/2006/relationships" id="384" r:id="R52dca61fe5134d2c"/>
    <p:sldId xmlns:r="http://schemas.openxmlformats.org/officeDocument/2006/relationships" id="385" r:id="R452afd2a32784108"/>
    <p:sldId xmlns:r="http://schemas.openxmlformats.org/officeDocument/2006/relationships" id="386" r:id="R123b3ed987b74bbb"/>
    <p:sldId xmlns:r="http://schemas.openxmlformats.org/officeDocument/2006/relationships" id="387" r:id="R0cb19089d5484fb9"/>
    <p:sldId xmlns:r="http://schemas.openxmlformats.org/officeDocument/2006/relationships" id="388" r:id="R5edce3e3c4b744dd"/>
    <p:sldId xmlns:r="http://schemas.openxmlformats.org/officeDocument/2006/relationships" id="389" r:id="R6956c9f316074851"/>
    <p:sldId xmlns:r="http://schemas.openxmlformats.org/officeDocument/2006/relationships" id="390" r:id="R1677a319fce84f00"/>
    <p:sldId xmlns:r="http://schemas.openxmlformats.org/officeDocument/2006/relationships" id="391" r:id="R9cb90a9de9a84a9d"/>
    <p:sldId xmlns:r="http://schemas.openxmlformats.org/officeDocument/2006/relationships" id="392" r:id="R66166d3f627841e7"/>
    <p:sldId xmlns:r="http://schemas.openxmlformats.org/officeDocument/2006/relationships" id="393" r:id="R08f7b9760d8b4997"/>
    <p:sldId xmlns:r="http://schemas.openxmlformats.org/officeDocument/2006/relationships" id="394" r:id="Rf8a7080acd714dce"/>
    <p:sldId xmlns:r="http://schemas.openxmlformats.org/officeDocument/2006/relationships" id="395" r:id="R3d57ee6cff1a4408"/>
    <p:sldId xmlns:r="http://schemas.openxmlformats.org/officeDocument/2006/relationships" id="396" r:id="Rd0c49d7027644a8c"/>
    <p:sldId xmlns:r="http://schemas.openxmlformats.org/officeDocument/2006/relationships" id="397" r:id="R5293992e6e4b4057"/>
    <p:sldId xmlns:r="http://schemas.openxmlformats.org/officeDocument/2006/relationships" id="398" r:id="R07d2760664e14f8b"/>
    <p:sldId xmlns:r="http://schemas.openxmlformats.org/officeDocument/2006/relationships" id="399" r:id="Rec4d5537cfc04c38"/>
    <p:sldId xmlns:r="http://schemas.openxmlformats.org/officeDocument/2006/relationships" id="400" r:id="R38c3a261a51e4659"/>
    <p:sldId xmlns:r="http://schemas.openxmlformats.org/officeDocument/2006/relationships" id="401" r:id="R297a7312aaec4dac"/>
    <p:sldId xmlns:r="http://schemas.openxmlformats.org/officeDocument/2006/relationships" id="402" r:id="R16275a9ac7b9476d"/>
    <p:sldId xmlns:r="http://schemas.openxmlformats.org/officeDocument/2006/relationships" id="403" r:id="R06723aef6e854df4"/>
    <p:sldId xmlns:r="http://schemas.openxmlformats.org/officeDocument/2006/relationships" id="404" r:id="Rcff7b3c50f9547ba"/>
    <p:sldId xmlns:r="http://schemas.openxmlformats.org/officeDocument/2006/relationships" id="405" r:id="Rf7c24ee4da914b4a"/>
    <p:sldId xmlns:r="http://schemas.openxmlformats.org/officeDocument/2006/relationships" id="406" r:id="Rebbe03d59fda4613"/>
    <p:sldId xmlns:r="http://schemas.openxmlformats.org/officeDocument/2006/relationships" id="407" r:id="R5c85b59c4b9849ab"/>
    <p:sldId xmlns:r="http://schemas.openxmlformats.org/officeDocument/2006/relationships" id="408" r:id="Re838287fbb5d449d"/>
    <p:sldId xmlns:r="http://schemas.openxmlformats.org/officeDocument/2006/relationships" id="409" r:id="Re5ada11611254cbe"/>
    <p:sldId xmlns:r="http://schemas.openxmlformats.org/officeDocument/2006/relationships" id="410" r:id="Rbb372f71d541484e"/>
    <p:sldId xmlns:r="http://schemas.openxmlformats.org/officeDocument/2006/relationships" id="411" r:id="R5c02586ec7464403"/>
    <p:sldId xmlns:r="http://schemas.openxmlformats.org/officeDocument/2006/relationships" id="412" r:id="Rbea9a40c35e04b75"/>
    <p:sldId xmlns:r="http://schemas.openxmlformats.org/officeDocument/2006/relationships" id="413" r:id="Rfdc41a3f91a14d0c"/>
    <p:sldId xmlns:r="http://schemas.openxmlformats.org/officeDocument/2006/relationships" id="414" r:id="R6358c7db321b403d"/>
    <p:sldId xmlns:r="http://schemas.openxmlformats.org/officeDocument/2006/relationships" id="415" r:id="Rd03744881d75419b"/>
    <p:sldId xmlns:r="http://schemas.openxmlformats.org/officeDocument/2006/relationships" id="416" r:id="Re8597006c3504e22"/>
    <p:sldId xmlns:r="http://schemas.openxmlformats.org/officeDocument/2006/relationships" id="417" r:id="R5c693a633a934836"/>
    <p:sldId xmlns:r="http://schemas.openxmlformats.org/officeDocument/2006/relationships" id="418" r:id="Rffef7130d32b498c"/>
    <p:sldId xmlns:r="http://schemas.openxmlformats.org/officeDocument/2006/relationships" id="419" r:id="Radab39a362e94dc0"/>
    <p:sldId xmlns:r="http://schemas.openxmlformats.org/officeDocument/2006/relationships" id="420" r:id="R251e2c41f48c4f7c"/>
    <p:sldId xmlns:r="http://schemas.openxmlformats.org/officeDocument/2006/relationships" id="421" r:id="Rd9a8d22cafbb4e28"/>
    <p:sldId xmlns:r="http://schemas.openxmlformats.org/officeDocument/2006/relationships" id="422" r:id="R08025d713e51424c"/>
    <p:sldId xmlns:r="http://schemas.openxmlformats.org/officeDocument/2006/relationships" id="423" r:id="R08d9586c94834a37"/>
    <p:sldId xmlns:r="http://schemas.openxmlformats.org/officeDocument/2006/relationships" id="424" r:id="R1210d7996d7946de"/>
    <p:sldId xmlns:r="http://schemas.openxmlformats.org/officeDocument/2006/relationships" id="425" r:id="Rb0a7cdbe99244780"/>
    <p:sldId xmlns:r="http://schemas.openxmlformats.org/officeDocument/2006/relationships" id="426" r:id="R9ae55b943f404060"/>
    <p:sldId xmlns:r="http://schemas.openxmlformats.org/officeDocument/2006/relationships" id="427" r:id="R687c36632b3146c2"/>
    <p:sldId xmlns:r="http://schemas.openxmlformats.org/officeDocument/2006/relationships" id="428" r:id="R928f6d69304347b6"/>
    <p:sldId xmlns:r="http://schemas.openxmlformats.org/officeDocument/2006/relationships" id="429" r:id="R95f5cc2377544ac1"/>
    <p:sldId xmlns:r="http://schemas.openxmlformats.org/officeDocument/2006/relationships" id="430" r:id="Rd77bf1d03f164fa2"/>
    <p:sldId xmlns:r="http://schemas.openxmlformats.org/officeDocument/2006/relationships" id="431" r:id="R94bc3df4b7cf47ad"/>
    <p:sldId xmlns:r="http://schemas.openxmlformats.org/officeDocument/2006/relationships" id="432" r:id="R72a708f8da6b40a5"/>
    <p:sldId xmlns:r="http://schemas.openxmlformats.org/officeDocument/2006/relationships" id="433" r:id="Rc2d1137dff4f4107"/>
    <p:sldId xmlns:r="http://schemas.openxmlformats.org/officeDocument/2006/relationships" id="434" r:id="Rab4c8cf849ee427f"/>
    <p:sldId xmlns:r="http://schemas.openxmlformats.org/officeDocument/2006/relationships" id="435" r:id="R161631f27750435d"/>
    <p:sldId xmlns:r="http://schemas.openxmlformats.org/officeDocument/2006/relationships" id="436" r:id="R878e941d0b9f43ea"/>
    <p:sldId xmlns:r="http://schemas.openxmlformats.org/officeDocument/2006/relationships" id="437" r:id="R00e5f6dde41a4f80"/>
    <p:sldId xmlns:r="http://schemas.openxmlformats.org/officeDocument/2006/relationships" id="438" r:id="R973d0f4e357b43f7"/>
    <p:sldId xmlns:r="http://schemas.openxmlformats.org/officeDocument/2006/relationships" id="439" r:id="R1ff9d773c0ec4cab"/>
    <p:sldId xmlns:r="http://schemas.openxmlformats.org/officeDocument/2006/relationships" id="440" r:id="R2ce281e35e1e44b8"/>
    <p:sldId xmlns:r="http://schemas.openxmlformats.org/officeDocument/2006/relationships" id="441" r:id="R8215230b2cf04dd8"/>
    <p:sldId xmlns:r="http://schemas.openxmlformats.org/officeDocument/2006/relationships" id="442" r:id="Rd1ec002d714849fb"/>
    <p:sldId xmlns:r="http://schemas.openxmlformats.org/officeDocument/2006/relationships" id="443" r:id="R0c1db8728c90400e"/>
    <p:sldId xmlns:r="http://schemas.openxmlformats.org/officeDocument/2006/relationships" id="444" r:id="Rec5a9972d6ca47a2"/>
    <p:sldId xmlns:r="http://schemas.openxmlformats.org/officeDocument/2006/relationships" id="445" r:id="R5f0c8bef83d04e4f"/>
    <p:sldId xmlns:r="http://schemas.openxmlformats.org/officeDocument/2006/relationships" id="446" r:id="Rb36461dc477e45e6"/>
    <p:sldId xmlns:r="http://schemas.openxmlformats.org/officeDocument/2006/relationships" id="447" r:id="R7f52c0fa048047c0"/>
    <p:sldId xmlns:r="http://schemas.openxmlformats.org/officeDocument/2006/relationships" id="448" r:id="R9c19b772bf2b4daa"/>
    <p:sldId xmlns:r="http://schemas.openxmlformats.org/officeDocument/2006/relationships" id="449" r:id="Rd977ef8f7ee844cb"/>
    <p:sldId xmlns:r="http://schemas.openxmlformats.org/officeDocument/2006/relationships" id="450" r:id="Rbcdaa178bfd646e9"/>
    <p:sldId xmlns:r="http://schemas.openxmlformats.org/officeDocument/2006/relationships" id="451" r:id="Rfaa3e609ee0342ef"/>
    <p:sldId xmlns:r="http://schemas.openxmlformats.org/officeDocument/2006/relationships" id="452" r:id="R438d391e88a244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a8a199e34b402b" /><Relationship Type="http://schemas.openxmlformats.org/officeDocument/2006/relationships/slideMaster" Target="/ppt/slideMasters/slideMaster1.xml" Id="R28c8808a69be4519" /><Relationship Type="http://schemas.openxmlformats.org/officeDocument/2006/relationships/notesMaster" Target="/ppt/notesMasters/notesMaster1.xml" Id="Rcd0c612eb2104a73" /><Relationship Type="http://schemas.openxmlformats.org/officeDocument/2006/relationships/presProps" Target="/ppt/presProps.xml" Id="Rb62a4310bf514ee3" /><Relationship Type="http://schemas.openxmlformats.org/officeDocument/2006/relationships/tableStyles" Target="/ppt/tableStyles.xml" Id="Rf770332adb624564" /><Relationship Type="http://schemas.openxmlformats.org/officeDocument/2006/relationships/slide" Target="/ppt/slides/slide1.xml" Id="Rad7e9785c14e4ba6" /><Relationship Type="http://schemas.openxmlformats.org/officeDocument/2006/relationships/slide" Target="/ppt/slides/slide2.xml" Id="R8be8614b6d914610" /><Relationship Type="http://schemas.openxmlformats.org/officeDocument/2006/relationships/slide" Target="/ppt/slides/slide3.xml" Id="R7ee0c37375e84d36" /><Relationship Type="http://schemas.openxmlformats.org/officeDocument/2006/relationships/slide" Target="/ppt/slides/slide4.xml" Id="R11ac1f21b6444439" /><Relationship Type="http://schemas.openxmlformats.org/officeDocument/2006/relationships/slide" Target="/ppt/slides/slide5.xml" Id="R4779ab9c5f904537" /><Relationship Type="http://schemas.openxmlformats.org/officeDocument/2006/relationships/slide" Target="/ppt/slides/slide6.xml" Id="R2be5a15feb5048f9" /><Relationship Type="http://schemas.openxmlformats.org/officeDocument/2006/relationships/slide" Target="/ppt/slides/slide7.xml" Id="R19d032f8b68a4390" /><Relationship Type="http://schemas.openxmlformats.org/officeDocument/2006/relationships/slide" Target="/ppt/slides/slide8.xml" Id="R9fea467c992642f0" /><Relationship Type="http://schemas.openxmlformats.org/officeDocument/2006/relationships/slide" Target="/ppt/slides/slide9.xml" Id="R86560e57cbcd443e" /><Relationship Type="http://schemas.openxmlformats.org/officeDocument/2006/relationships/slide" Target="/ppt/slides/slide10.xml" Id="Rcd5f8a6874414764" /><Relationship Type="http://schemas.openxmlformats.org/officeDocument/2006/relationships/slide" Target="/ppt/slides/slide11.xml" Id="Rf5e90c3d7c1e40e2" /><Relationship Type="http://schemas.openxmlformats.org/officeDocument/2006/relationships/slide" Target="/ppt/slides/slide12.xml" Id="R918b6d0bd6a049ae" /><Relationship Type="http://schemas.openxmlformats.org/officeDocument/2006/relationships/slide" Target="/ppt/slides/slide13.xml" Id="Ra278f0ba16c743f3" /><Relationship Type="http://schemas.openxmlformats.org/officeDocument/2006/relationships/slide" Target="/ppt/slides/slide14.xml" Id="Re55e95b2cc444b00" /><Relationship Type="http://schemas.openxmlformats.org/officeDocument/2006/relationships/slide" Target="/ppt/slides/slide15.xml" Id="R1f785abe25f142cf" /><Relationship Type="http://schemas.openxmlformats.org/officeDocument/2006/relationships/slide" Target="/ppt/slides/slide16.xml" Id="R5b4d1758a74e42d5" /><Relationship Type="http://schemas.openxmlformats.org/officeDocument/2006/relationships/slide" Target="/ppt/slides/slide17.xml" Id="Rb7c0c3bcae014294" /><Relationship Type="http://schemas.openxmlformats.org/officeDocument/2006/relationships/slide" Target="/ppt/slides/slide18.xml" Id="Ra22e10504d0f45e7" /><Relationship Type="http://schemas.openxmlformats.org/officeDocument/2006/relationships/slide" Target="/ppt/slides/slide19.xml" Id="R5f5421f79b0c4fd4" /><Relationship Type="http://schemas.openxmlformats.org/officeDocument/2006/relationships/slide" Target="/ppt/slides/slide20.xml" Id="R780ac6149f4645ba" /><Relationship Type="http://schemas.openxmlformats.org/officeDocument/2006/relationships/slide" Target="/ppt/slides/slide21.xml" Id="R668ce3036f294d50" /><Relationship Type="http://schemas.openxmlformats.org/officeDocument/2006/relationships/slide" Target="/ppt/slides/slide22.xml" Id="R94f5f13cff0e446f" /><Relationship Type="http://schemas.openxmlformats.org/officeDocument/2006/relationships/slide" Target="/ppt/slides/slide23.xml" Id="R4507ea50911c4dd5" /><Relationship Type="http://schemas.openxmlformats.org/officeDocument/2006/relationships/slide" Target="/ppt/slides/slide24.xml" Id="R5413ff7611854287" /><Relationship Type="http://schemas.openxmlformats.org/officeDocument/2006/relationships/slide" Target="/ppt/slides/slide25.xml" Id="R3323bc44893b42b1" /><Relationship Type="http://schemas.openxmlformats.org/officeDocument/2006/relationships/slide" Target="/ppt/slides/slide26.xml" Id="Rb5d27e88fdbf493e" /><Relationship Type="http://schemas.openxmlformats.org/officeDocument/2006/relationships/slide" Target="/ppt/slides/slide27.xml" Id="R9584f408e7a24442" /><Relationship Type="http://schemas.openxmlformats.org/officeDocument/2006/relationships/slide" Target="/ppt/slides/slide28.xml" Id="R56c52a9d74be42cb" /><Relationship Type="http://schemas.openxmlformats.org/officeDocument/2006/relationships/slide" Target="/ppt/slides/slide29.xml" Id="R0059f9dfdc5545eb" /><Relationship Type="http://schemas.openxmlformats.org/officeDocument/2006/relationships/slide" Target="/ppt/slides/slide30.xml" Id="R6b67e4224b354492" /><Relationship Type="http://schemas.openxmlformats.org/officeDocument/2006/relationships/slide" Target="/ppt/slides/slide31.xml" Id="R0bd696b562f448d9" /><Relationship Type="http://schemas.openxmlformats.org/officeDocument/2006/relationships/slide" Target="/ppt/slides/slide32.xml" Id="R010b8150c29a4085" /><Relationship Type="http://schemas.openxmlformats.org/officeDocument/2006/relationships/slide" Target="/ppt/slides/slide33.xml" Id="Rc4c2964abbe54279" /><Relationship Type="http://schemas.openxmlformats.org/officeDocument/2006/relationships/slide" Target="/ppt/slides/slide34.xml" Id="Rb00b6a6a20134d85" /><Relationship Type="http://schemas.openxmlformats.org/officeDocument/2006/relationships/slide" Target="/ppt/slides/slide35.xml" Id="Rc47afea2bdcf4376" /><Relationship Type="http://schemas.openxmlformats.org/officeDocument/2006/relationships/slide" Target="/ppt/slides/slide36.xml" Id="R9084bcadbe7047f1" /><Relationship Type="http://schemas.openxmlformats.org/officeDocument/2006/relationships/slide" Target="/ppt/slides/slide37.xml" Id="R3691ab71e7244df4" /><Relationship Type="http://schemas.openxmlformats.org/officeDocument/2006/relationships/slide" Target="/ppt/slides/slide38.xml" Id="R9b6a04ca64a44778" /><Relationship Type="http://schemas.openxmlformats.org/officeDocument/2006/relationships/slide" Target="/ppt/slides/slide39.xml" Id="R1a83ab10194347c1" /><Relationship Type="http://schemas.openxmlformats.org/officeDocument/2006/relationships/slide" Target="/ppt/slides/slide40.xml" Id="R76a3a075d9524401" /><Relationship Type="http://schemas.openxmlformats.org/officeDocument/2006/relationships/slide" Target="/ppt/slides/slide41.xml" Id="Rfad6179528fd4301" /><Relationship Type="http://schemas.openxmlformats.org/officeDocument/2006/relationships/slide" Target="/ppt/slides/slide42.xml" Id="R2a8aae7d4d20446b" /><Relationship Type="http://schemas.openxmlformats.org/officeDocument/2006/relationships/slide" Target="/ppt/slides/slide43.xml" Id="R2e10ccf7be534a4f" /><Relationship Type="http://schemas.openxmlformats.org/officeDocument/2006/relationships/slide" Target="/ppt/slides/slide44.xml" Id="R5add5a916c324dd1" /><Relationship Type="http://schemas.openxmlformats.org/officeDocument/2006/relationships/slide" Target="/ppt/slides/slide45.xml" Id="R58ec8128849a443e" /><Relationship Type="http://schemas.openxmlformats.org/officeDocument/2006/relationships/slide" Target="/ppt/slides/slide46.xml" Id="R0172ebd487604a62" /><Relationship Type="http://schemas.openxmlformats.org/officeDocument/2006/relationships/slide" Target="/ppt/slides/slide47.xml" Id="R1173f8fca9484dbc" /><Relationship Type="http://schemas.openxmlformats.org/officeDocument/2006/relationships/slide" Target="/ppt/slides/slide48.xml" Id="R3f4da076f2fa4bd6" /><Relationship Type="http://schemas.openxmlformats.org/officeDocument/2006/relationships/slide" Target="/ppt/slides/slide49.xml" Id="Rf6a9884631794c75" /><Relationship Type="http://schemas.openxmlformats.org/officeDocument/2006/relationships/slide" Target="/ppt/slides/slide50.xml" Id="R6f9cb0f3d303492d" /><Relationship Type="http://schemas.openxmlformats.org/officeDocument/2006/relationships/slide" Target="/ppt/slides/slide51.xml" Id="R7802595aa29e4200" /><Relationship Type="http://schemas.openxmlformats.org/officeDocument/2006/relationships/slide" Target="/ppt/slides/slide52.xml" Id="Raedf51cff9e042b0" /><Relationship Type="http://schemas.openxmlformats.org/officeDocument/2006/relationships/slide" Target="/ppt/slides/slide53.xml" Id="R1f3749160056492c" /><Relationship Type="http://schemas.openxmlformats.org/officeDocument/2006/relationships/slide" Target="/ppt/slides/slide54.xml" Id="R67267bd214fd4111" /><Relationship Type="http://schemas.openxmlformats.org/officeDocument/2006/relationships/slide" Target="/ppt/slides/slide55.xml" Id="R691fd4a98b024b6a" /><Relationship Type="http://schemas.openxmlformats.org/officeDocument/2006/relationships/slide" Target="/ppt/slides/slide56.xml" Id="R1d266cd8a7154c32" /><Relationship Type="http://schemas.openxmlformats.org/officeDocument/2006/relationships/slide" Target="/ppt/slides/slide57.xml" Id="Rb24e6e90e53e4a69" /><Relationship Type="http://schemas.openxmlformats.org/officeDocument/2006/relationships/slide" Target="/ppt/slides/slide58.xml" Id="R0925d60ee6d1435b" /><Relationship Type="http://schemas.openxmlformats.org/officeDocument/2006/relationships/slide" Target="/ppt/slides/slide59.xml" Id="R076b90b684774172" /><Relationship Type="http://schemas.openxmlformats.org/officeDocument/2006/relationships/slide" Target="/ppt/slides/slide60.xml" Id="R2f58069005cf4f18" /><Relationship Type="http://schemas.openxmlformats.org/officeDocument/2006/relationships/slide" Target="/ppt/slides/slide61.xml" Id="R65d32d638e1c4a9f" /><Relationship Type="http://schemas.openxmlformats.org/officeDocument/2006/relationships/slide" Target="/ppt/slides/slide62.xml" Id="R736d9d3c06714f21" /><Relationship Type="http://schemas.openxmlformats.org/officeDocument/2006/relationships/slide" Target="/ppt/slides/slide63.xml" Id="Rb2db6128651b444a" /><Relationship Type="http://schemas.openxmlformats.org/officeDocument/2006/relationships/slide" Target="/ppt/slides/slide64.xml" Id="R20e54c72a0854ee3" /><Relationship Type="http://schemas.openxmlformats.org/officeDocument/2006/relationships/slide" Target="/ppt/slides/slide65.xml" Id="R00a2c1fe222b413c" /><Relationship Type="http://schemas.openxmlformats.org/officeDocument/2006/relationships/slide" Target="/ppt/slides/slide66.xml" Id="R6d38f954f9814bba" /><Relationship Type="http://schemas.openxmlformats.org/officeDocument/2006/relationships/slide" Target="/ppt/slides/slide67.xml" Id="R649ce9749e374345" /><Relationship Type="http://schemas.openxmlformats.org/officeDocument/2006/relationships/slide" Target="/ppt/slides/slide68.xml" Id="R0fcab2e01ca34218" /><Relationship Type="http://schemas.openxmlformats.org/officeDocument/2006/relationships/slide" Target="/ppt/slides/slide69.xml" Id="Rb99212cb35e94405" /><Relationship Type="http://schemas.openxmlformats.org/officeDocument/2006/relationships/slide" Target="/ppt/slides/slide70.xml" Id="Re53cad025b164bcf" /><Relationship Type="http://schemas.openxmlformats.org/officeDocument/2006/relationships/slide" Target="/ppt/slides/slide71.xml" Id="R9ac1a9e2538a4c29" /><Relationship Type="http://schemas.openxmlformats.org/officeDocument/2006/relationships/slide" Target="/ppt/slides/slide72.xml" Id="Re898478bf700424d" /><Relationship Type="http://schemas.openxmlformats.org/officeDocument/2006/relationships/slide" Target="/ppt/slides/slide73.xml" Id="Rdea3d84e2e954c43" /><Relationship Type="http://schemas.openxmlformats.org/officeDocument/2006/relationships/slide" Target="/ppt/slides/slide74.xml" Id="R14a325c217534a61" /><Relationship Type="http://schemas.openxmlformats.org/officeDocument/2006/relationships/slide" Target="/ppt/slides/slide75.xml" Id="R0ff1ad6c791a4a1f" /><Relationship Type="http://schemas.openxmlformats.org/officeDocument/2006/relationships/slide" Target="/ppt/slides/slide76.xml" Id="Rf8d4c51141244849" /><Relationship Type="http://schemas.openxmlformats.org/officeDocument/2006/relationships/slide" Target="/ppt/slides/slide77.xml" Id="Rccddc3d1bfb34004" /><Relationship Type="http://schemas.openxmlformats.org/officeDocument/2006/relationships/slide" Target="/ppt/slides/slide78.xml" Id="R006292c356194f48" /><Relationship Type="http://schemas.openxmlformats.org/officeDocument/2006/relationships/slide" Target="/ppt/slides/slide79.xml" Id="Rf6acf37d93854df4" /><Relationship Type="http://schemas.openxmlformats.org/officeDocument/2006/relationships/slide" Target="/ppt/slides/slide80.xml" Id="R98e637d291804e89" /><Relationship Type="http://schemas.openxmlformats.org/officeDocument/2006/relationships/slide" Target="/ppt/slides/slide81.xml" Id="Rbd0d98b44ac64548" /><Relationship Type="http://schemas.openxmlformats.org/officeDocument/2006/relationships/slide" Target="/ppt/slides/slide82.xml" Id="Rc10dc0d8f41749b0" /><Relationship Type="http://schemas.openxmlformats.org/officeDocument/2006/relationships/slide" Target="/ppt/slides/slide83.xml" Id="Rd43e2f9231c3464e" /><Relationship Type="http://schemas.openxmlformats.org/officeDocument/2006/relationships/slide" Target="/ppt/slides/slide84.xml" Id="Refd5689011fb4d5f" /><Relationship Type="http://schemas.openxmlformats.org/officeDocument/2006/relationships/slide" Target="/ppt/slides/slide85.xml" Id="R32d1e0b53d5e45f1" /><Relationship Type="http://schemas.openxmlformats.org/officeDocument/2006/relationships/slide" Target="/ppt/slides/slide86.xml" Id="R76c2c0f4a5814130" /><Relationship Type="http://schemas.openxmlformats.org/officeDocument/2006/relationships/slide" Target="/ppt/slides/slide87.xml" Id="R22f37c903bbf4d7c" /><Relationship Type="http://schemas.openxmlformats.org/officeDocument/2006/relationships/slide" Target="/ppt/slides/slide88.xml" Id="Rba293e2e6da34fd7" /><Relationship Type="http://schemas.openxmlformats.org/officeDocument/2006/relationships/slide" Target="/ppt/slides/slide89.xml" Id="R1c434f93736a4172" /><Relationship Type="http://schemas.openxmlformats.org/officeDocument/2006/relationships/slide" Target="/ppt/slides/slide90.xml" Id="Re9cee58f989f4c8b" /><Relationship Type="http://schemas.openxmlformats.org/officeDocument/2006/relationships/slide" Target="/ppt/slides/slide91.xml" Id="R63b965e1b6fe493a" /><Relationship Type="http://schemas.openxmlformats.org/officeDocument/2006/relationships/slide" Target="/ppt/slides/slide92.xml" Id="Re84669ef6d564c85" /><Relationship Type="http://schemas.openxmlformats.org/officeDocument/2006/relationships/slide" Target="/ppt/slides/slide93.xml" Id="R8b3456ea2fc646a6" /><Relationship Type="http://schemas.openxmlformats.org/officeDocument/2006/relationships/slide" Target="/ppt/slides/slide94.xml" Id="R24df8e0a7d89420f" /><Relationship Type="http://schemas.openxmlformats.org/officeDocument/2006/relationships/slide" Target="/ppt/slides/slide95.xml" Id="R16868f87c10f4314" /><Relationship Type="http://schemas.openxmlformats.org/officeDocument/2006/relationships/slide" Target="/ppt/slides/slide96.xml" Id="Rf1eecc39e9e34578" /><Relationship Type="http://schemas.openxmlformats.org/officeDocument/2006/relationships/slide" Target="/ppt/slides/slide97.xml" Id="R27abe3183ce941a4" /><Relationship Type="http://schemas.openxmlformats.org/officeDocument/2006/relationships/slide" Target="/ppt/slides/slide98.xml" Id="Rdae2ae2f39954c52" /><Relationship Type="http://schemas.openxmlformats.org/officeDocument/2006/relationships/slide" Target="/ppt/slides/slide99.xml" Id="R4d9396a87384450e" /><Relationship Type="http://schemas.openxmlformats.org/officeDocument/2006/relationships/slide" Target="/ppt/slides/slide100.xml" Id="R4414aef4ef8f4464" /><Relationship Type="http://schemas.openxmlformats.org/officeDocument/2006/relationships/slide" Target="/ppt/slides/slide101.xml" Id="R016efeabfe8a49e8" /><Relationship Type="http://schemas.openxmlformats.org/officeDocument/2006/relationships/slide" Target="/ppt/slides/slide102.xml" Id="R6caa1043d44541c5" /><Relationship Type="http://schemas.openxmlformats.org/officeDocument/2006/relationships/slide" Target="/ppt/slides/slide103.xml" Id="R49c18fc3f09d4567" /><Relationship Type="http://schemas.openxmlformats.org/officeDocument/2006/relationships/slide" Target="/ppt/slides/slide104.xml" Id="R074497f461424e99" /><Relationship Type="http://schemas.openxmlformats.org/officeDocument/2006/relationships/slide" Target="/ppt/slides/slide105.xml" Id="R8c6fdaeda6c0422e" /><Relationship Type="http://schemas.openxmlformats.org/officeDocument/2006/relationships/slide" Target="/ppt/slides/slide106.xml" Id="R2b1e5b41d46c48cd" /><Relationship Type="http://schemas.openxmlformats.org/officeDocument/2006/relationships/slide" Target="/ppt/slides/slide107.xml" Id="R0eace0d6c88c436d" /><Relationship Type="http://schemas.openxmlformats.org/officeDocument/2006/relationships/slide" Target="/ppt/slides/slide108.xml" Id="Rdb987339c1684bd9" /><Relationship Type="http://schemas.openxmlformats.org/officeDocument/2006/relationships/slide" Target="/ppt/slides/slide109.xml" Id="Rd6e5ccc7c9b94b5e" /><Relationship Type="http://schemas.openxmlformats.org/officeDocument/2006/relationships/slide" Target="/ppt/slides/slide110.xml" Id="Rec671fde9c404129" /><Relationship Type="http://schemas.openxmlformats.org/officeDocument/2006/relationships/slide" Target="/ppt/slides/slide111.xml" Id="R05d001266c424ab0" /><Relationship Type="http://schemas.openxmlformats.org/officeDocument/2006/relationships/slide" Target="/ppt/slides/slide112.xml" Id="R5be748b9cd9f4cb7" /><Relationship Type="http://schemas.openxmlformats.org/officeDocument/2006/relationships/slide" Target="/ppt/slides/slide113.xml" Id="Rfbf0e327e64b4fad" /><Relationship Type="http://schemas.openxmlformats.org/officeDocument/2006/relationships/slide" Target="/ppt/slides/slide114.xml" Id="R0da1a7b2ac6041fa" /><Relationship Type="http://schemas.openxmlformats.org/officeDocument/2006/relationships/slide" Target="/ppt/slides/slide115.xml" Id="R57f3345c42ba4976" /><Relationship Type="http://schemas.openxmlformats.org/officeDocument/2006/relationships/slide" Target="/ppt/slides/slide116.xml" Id="R7dfed50f6f674606" /><Relationship Type="http://schemas.openxmlformats.org/officeDocument/2006/relationships/slide" Target="/ppt/slides/slide117.xml" Id="R26e1e245fb09498c" /><Relationship Type="http://schemas.openxmlformats.org/officeDocument/2006/relationships/slide" Target="/ppt/slides/slide118.xml" Id="R062c305769d64061" /><Relationship Type="http://schemas.openxmlformats.org/officeDocument/2006/relationships/slide" Target="/ppt/slides/slide119.xml" Id="R35726ad58a6d45b6" /><Relationship Type="http://schemas.openxmlformats.org/officeDocument/2006/relationships/slide" Target="/ppt/slides/slide120.xml" Id="Rc6dfa954f7f94180" /><Relationship Type="http://schemas.openxmlformats.org/officeDocument/2006/relationships/slide" Target="/ppt/slides/slide121.xml" Id="Rcb213594f7dd498b" /><Relationship Type="http://schemas.openxmlformats.org/officeDocument/2006/relationships/slide" Target="/ppt/slides/slide122.xml" Id="Rb7b7a55dba00450b" /><Relationship Type="http://schemas.openxmlformats.org/officeDocument/2006/relationships/slide" Target="/ppt/slides/slide123.xml" Id="R6f3782449adb4040" /><Relationship Type="http://schemas.openxmlformats.org/officeDocument/2006/relationships/slide" Target="/ppt/slides/slide124.xml" Id="Rd3846e028a3d4624" /><Relationship Type="http://schemas.openxmlformats.org/officeDocument/2006/relationships/slide" Target="/ppt/slides/slide125.xml" Id="R841b757d80384130" /><Relationship Type="http://schemas.openxmlformats.org/officeDocument/2006/relationships/slide" Target="/ppt/slides/slide126.xml" Id="R1df83bfffa34485c" /><Relationship Type="http://schemas.openxmlformats.org/officeDocument/2006/relationships/slide" Target="/ppt/slides/slide127.xml" Id="Ra1ee94c86ebe4ecf" /><Relationship Type="http://schemas.openxmlformats.org/officeDocument/2006/relationships/slide" Target="/ppt/slides/slide128.xml" Id="Rdf458323319244ea" /><Relationship Type="http://schemas.openxmlformats.org/officeDocument/2006/relationships/slide" Target="/ppt/slides/slide129.xml" Id="R52dca61fe5134d2c" /><Relationship Type="http://schemas.openxmlformats.org/officeDocument/2006/relationships/slide" Target="/ppt/slides/slide130.xml" Id="R452afd2a32784108" /><Relationship Type="http://schemas.openxmlformats.org/officeDocument/2006/relationships/slide" Target="/ppt/slides/slide131.xml" Id="R123b3ed987b74bbb" /><Relationship Type="http://schemas.openxmlformats.org/officeDocument/2006/relationships/slide" Target="/ppt/slides/slide132.xml" Id="R0cb19089d5484fb9" /><Relationship Type="http://schemas.openxmlformats.org/officeDocument/2006/relationships/slide" Target="/ppt/slides/slide133.xml" Id="R5edce3e3c4b744dd" /><Relationship Type="http://schemas.openxmlformats.org/officeDocument/2006/relationships/slide" Target="/ppt/slides/slide134.xml" Id="R6956c9f316074851" /><Relationship Type="http://schemas.openxmlformats.org/officeDocument/2006/relationships/slide" Target="/ppt/slides/slide135.xml" Id="R1677a319fce84f00" /><Relationship Type="http://schemas.openxmlformats.org/officeDocument/2006/relationships/slide" Target="/ppt/slides/slide136.xml" Id="R9cb90a9de9a84a9d" /><Relationship Type="http://schemas.openxmlformats.org/officeDocument/2006/relationships/slide" Target="/ppt/slides/slide137.xml" Id="R66166d3f627841e7" /><Relationship Type="http://schemas.openxmlformats.org/officeDocument/2006/relationships/slide" Target="/ppt/slides/slide138.xml" Id="R08f7b9760d8b4997" /><Relationship Type="http://schemas.openxmlformats.org/officeDocument/2006/relationships/slide" Target="/ppt/slides/slide139.xml" Id="Rf8a7080acd714dce" /><Relationship Type="http://schemas.openxmlformats.org/officeDocument/2006/relationships/slide" Target="/ppt/slides/slide140.xml" Id="R3d57ee6cff1a4408" /><Relationship Type="http://schemas.openxmlformats.org/officeDocument/2006/relationships/slide" Target="/ppt/slides/slide141.xml" Id="Rd0c49d7027644a8c" /><Relationship Type="http://schemas.openxmlformats.org/officeDocument/2006/relationships/slide" Target="/ppt/slides/slide142.xml" Id="R5293992e6e4b4057" /><Relationship Type="http://schemas.openxmlformats.org/officeDocument/2006/relationships/slide" Target="/ppt/slides/slide143.xml" Id="R07d2760664e14f8b" /><Relationship Type="http://schemas.openxmlformats.org/officeDocument/2006/relationships/slide" Target="/ppt/slides/slide144.xml" Id="Rec4d5537cfc04c38" /><Relationship Type="http://schemas.openxmlformats.org/officeDocument/2006/relationships/slide" Target="/ppt/slides/slide145.xml" Id="R38c3a261a51e4659" /><Relationship Type="http://schemas.openxmlformats.org/officeDocument/2006/relationships/slide" Target="/ppt/slides/slide146.xml" Id="R297a7312aaec4dac" /><Relationship Type="http://schemas.openxmlformats.org/officeDocument/2006/relationships/slide" Target="/ppt/slides/slide147.xml" Id="R16275a9ac7b9476d" /><Relationship Type="http://schemas.openxmlformats.org/officeDocument/2006/relationships/slide" Target="/ppt/slides/slide148.xml" Id="R06723aef6e854df4" /><Relationship Type="http://schemas.openxmlformats.org/officeDocument/2006/relationships/slide" Target="/ppt/slides/slide149.xml" Id="Rcff7b3c50f9547ba" /><Relationship Type="http://schemas.openxmlformats.org/officeDocument/2006/relationships/slide" Target="/ppt/slides/slide150.xml" Id="Rf7c24ee4da914b4a" /><Relationship Type="http://schemas.openxmlformats.org/officeDocument/2006/relationships/slide" Target="/ppt/slides/slide151.xml" Id="Rebbe03d59fda4613" /><Relationship Type="http://schemas.openxmlformats.org/officeDocument/2006/relationships/slide" Target="/ppt/slides/slide152.xml" Id="R5c85b59c4b9849ab" /><Relationship Type="http://schemas.openxmlformats.org/officeDocument/2006/relationships/slide" Target="/ppt/slides/slide153.xml" Id="Re838287fbb5d449d" /><Relationship Type="http://schemas.openxmlformats.org/officeDocument/2006/relationships/slide" Target="/ppt/slides/slide154.xml" Id="Re5ada11611254cbe" /><Relationship Type="http://schemas.openxmlformats.org/officeDocument/2006/relationships/slide" Target="/ppt/slides/slide155.xml" Id="Rbb372f71d541484e" /><Relationship Type="http://schemas.openxmlformats.org/officeDocument/2006/relationships/slide" Target="/ppt/slides/slide156.xml" Id="R5c02586ec7464403" /><Relationship Type="http://schemas.openxmlformats.org/officeDocument/2006/relationships/slide" Target="/ppt/slides/slide157.xml" Id="Rbea9a40c35e04b75" /><Relationship Type="http://schemas.openxmlformats.org/officeDocument/2006/relationships/slide" Target="/ppt/slides/slide158.xml" Id="Rfdc41a3f91a14d0c" /><Relationship Type="http://schemas.openxmlformats.org/officeDocument/2006/relationships/slide" Target="/ppt/slides/slide159.xml" Id="R6358c7db321b403d" /><Relationship Type="http://schemas.openxmlformats.org/officeDocument/2006/relationships/slide" Target="/ppt/slides/slide160.xml" Id="Rd03744881d75419b" /><Relationship Type="http://schemas.openxmlformats.org/officeDocument/2006/relationships/slide" Target="/ppt/slides/slide161.xml" Id="Re8597006c3504e22" /><Relationship Type="http://schemas.openxmlformats.org/officeDocument/2006/relationships/slide" Target="/ppt/slides/slide162.xml" Id="R5c693a633a934836" /><Relationship Type="http://schemas.openxmlformats.org/officeDocument/2006/relationships/slide" Target="/ppt/slides/slide163.xml" Id="Rffef7130d32b498c" /><Relationship Type="http://schemas.openxmlformats.org/officeDocument/2006/relationships/slide" Target="/ppt/slides/slide164.xml" Id="Radab39a362e94dc0" /><Relationship Type="http://schemas.openxmlformats.org/officeDocument/2006/relationships/slide" Target="/ppt/slides/slide165.xml" Id="R251e2c41f48c4f7c" /><Relationship Type="http://schemas.openxmlformats.org/officeDocument/2006/relationships/slide" Target="/ppt/slides/slide166.xml" Id="Rd9a8d22cafbb4e28" /><Relationship Type="http://schemas.openxmlformats.org/officeDocument/2006/relationships/slide" Target="/ppt/slides/slide167.xml" Id="R08025d713e51424c" /><Relationship Type="http://schemas.openxmlformats.org/officeDocument/2006/relationships/slide" Target="/ppt/slides/slide168.xml" Id="R08d9586c94834a37" /><Relationship Type="http://schemas.openxmlformats.org/officeDocument/2006/relationships/slide" Target="/ppt/slides/slide169.xml" Id="R1210d7996d7946de" /><Relationship Type="http://schemas.openxmlformats.org/officeDocument/2006/relationships/slide" Target="/ppt/slides/slide170.xml" Id="Rb0a7cdbe99244780" /><Relationship Type="http://schemas.openxmlformats.org/officeDocument/2006/relationships/slide" Target="/ppt/slides/slide171.xml" Id="R9ae55b943f404060" /><Relationship Type="http://schemas.openxmlformats.org/officeDocument/2006/relationships/slide" Target="/ppt/slides/slide172.xml" Id="R687c36632b3146c2" /><Relationship Type="http://schemas.openxmlformats.org/officeDocument/2006/relationships/slide" Target="/ppt/slides/slide173.xml" Id="R928f6d69304347b6" /><Relationship Type="http://schemas.openxmlformats.org/officeDocument/2006/relationships/slide" Target="/ppt/slides/slide174.xml" Id="R95f5cc2377544ac1" /><Relationship Type="http://schemas.openxmlformats.org/officeDocument/2006/relationships/slide" Target="/ppt/slides/slide175.xml" Id="Rd77bf1d03f164fa2" /><Relationship Type="http://schemas.openxmlformats.org/officeDocument/2006/relationships/slide" Target="/ppt/slides/slide176.xml" Id="R94bc3df4b7cf47ad" /><Relationship Type="http://schemas.openxmlformats.org/officeDocument/2006/relationships/slide" Target="/ppt/slides/slide177.xml" Id="R72a708f8da6b40a5" /><Relationship Type="http://schemas.openxmlformats.org/officeDocument/2006/relationships/slide" Target="/ppt/slides/slide178.xml" Id="Rc2d1137dff4f4107" /><Relationship Type="http://schemas.openxmlformats.org/officeDocument/2006/relationships/slide" Target="/ppt/slides/slide179.xml" Id="Rab4c8cf849ee427f" /><Relationship Type="http://schemas.openxmlformats.org/officeDocument/2006/relationships/slide" Target="/ppt/slides/slide180.xml" Id="R161631f27750435d" /><Relationship Type="http://schemas.openxmlformats.org/officeDocument/2006/relationships/slide" Target="/ppt/slides/slide181.xml" Id="R878e941d0b9f43ea" /><Relationship Type="http://schemas.openxmlformats.org/officeDocument/2006/relationships/slide" Target="/ppt/slides/slide182.xml" Id="R00e5f6dde41a4f80" /><Relationship Type="http://schemas.openxmlformats.org/officeDocument/2006/relationships/slide" Target="/ppt/slides/slide183.xml" Id="R973d0f4e357b43f7" /><Relationship Type="http://schemas.openxmlformats.org/officeDocument/2006/relationships/slide" Target="/ppt/slides/slide184.xml" Id="R1ff9d773c0ec4cab" /><Relationship Type="http://schemas.openxmlformats.org/officeDocument/2006/relationships/slide" Target="/ppt/slides/slide185.xml" Id="R2ce281e35e1e44b8" /><Relationship Type="http://schemas.openxmlformats.org/officeDocument/2006/relationships/slide" Target="/ppt/slides/slide186.xml" Id="R8215230b2cf04dd8" /><Relationship Type="http://schemas.openxmlformats.org/officeDocument/2006/relationships/slide" Target="/ppt/slides/slide187.xml" Id="Rd1ec002d714849fb" /><Relationship Type="http://schemas.openxmlformats.org/officeDocument/2006/relationships/slide" Target="/ppt/slides/slide188.xml" Id="R0c1db8728c90400e" /><Relationship Type="http://schemas.openxmlformats.org/officeDocument/2006/relationships/slide" Target="/ppt/slides/slide189.xml" Id="Rec5a9972d6ca47a2" /><Relationship Type="http://schemas.openxmlformats.org/officeDocument/2006/relationships/slide" Target="/ppt/slides/slide190.xml" Id="R5f0c8bef83d04e4f" /><Relationship Type="http://schemas.openxmlformats.org/officeDocument/2006/relationships/slide" Target="/ppt/slides/slide191.xml" Id="Rb36461dc477e45e6" /><Relationship Type="http://schemas.openxmlformats.org/officeDocument/2006/relationships/slide" Target="/ppt/slides/slide192.xml" Id="R7f52c0fa048047c0" /><Relationship Type="http://schemas.openxmlformats.org/officeDocument/2006/relationships/slide" Target="/ppt/slides/slide193.xml" Id="R9c19b772bf2b4daa" /><Relationship Type="http://schemas.openxmlformats.org/officeDocument/2006/relationships/slide" Target="/ppt/slides/slide194.xml" Id="Rd977ef8f7ee844cb" /><Relationship Type="http://schemas.openxmlformats.org/officeDocument/2006/relationships/slide" Target="/ppt/slides/slide195.xml" Id="Rbcdaa178bfd646e9" /><Relationship Type="http://schemas.openxmlformats.org/officeDocument/2006/relationships/slide" Target="/ppt/slides/slide196.xml" Id="Rfaa3e609ee0342ef" /><Relationship Type="http://schemas.openxmlformats.org/officeDocument/2006/relationships/slide" Target="/ppt/slides/slide197.xml" Id="R438d391e88a244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45a591e69344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289d372194c81" /><Relationship Type="http://schemas.openxmlformats.org/officeDocument/2006/relationships/notesMaster" Target="/ppt/notesMasters/notesMaster1.xml" Id="R2cf10e030c4445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ba8ebaadc4c16" /><Relationship Type="http://schemas.openxmlformats.org/officeDocument/2006/relationships/notesMaster" Target="/ppt/notesMasters/notesMaster1.xml" Id="R710d4229601747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0c21e0364e4196" /><Relationship Type="http://schemas.openxmlformats.org/officeDocument/2006/relationships/notesMaster" Target="/ppt/notesMasters/notesMaster1.xml" Id="R803f17e7a28641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b5faf02d8d469d" /><Relationship Type="http://schemas.openxmlformats.org/officeDocument/2006/relationships/notesMaster" Target="/ppt/notesMasters/notesMaster1.xml" Id="Rcb625f3b075b46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3b7893f9f94b86" /><Relationship Type="http://schemas.openxmlformats.org/officeDocument/2006/relationships/notesMaster" Target="/ppt/notesMasters/notesMaster1.xml" Id="R867a90bfc49a4f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68aca8a10e4544" /><Relationship Type="http://schemas.openxmlformats.org/officeDocument/2006/relationships/notesMaster" Target="/ppt/notesMasters/notesMaster1.xml" Id="R690c4cd6651443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9781eeaebe45d2" /><Relationship Type="http://schemas.openxmlformats.org/officeDocument/2006/relationships/notesMaster" Target="/ppt/notesMasters/notesMaster1.xml" Id="R358c734d066148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c42fd7311841cd" /><Relationship Type="http://schemas.openxmlformats.org/officeDocument/2006/relationships/notesMaster" Target="/ppt/notesMasters/notesMaster1.xml" Id="R9c73872a9d0149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aaaa808ebf4213" /><Relationship Type="http://schemas.openxmlformats.org/officeDocument/2006/relationships/notesMaster" Target="/ppt/notesMasters/notesMaster1.xml" Id="R42963a27feda4a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766adb17d144e6" /><Relationship Type="http://schemas.openxmlformats.org/officeDocument/2006/relationships/notesMaster" Target="/ppt/notesMasters/notesMaster1.xml" Id="R6e5d4228d93842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0e9ee869d042ec" /><Relationship Type="http://schemas.openxmlformats.org/officeDocument/2006/relationships/notesMaster" Target="/ppt/notesMasters/notesMaster1.xml" Id="Rba5ab4e1c6f946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20d6997bfe46bc" /><Relationship Type="http://schemas.openxmlformats.org/officeDocument/2006/relationships/notesMaster" Target="/ppt/notesMasters/notesMaster1.xml" Id="R9baecc34e21941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aaee99aae74c5e" /><Relationship Type="http://schemas.openxmlformats.org/officeDocument/2006/relationships/notesMaster" Target="/ppt/notesMasters/notesMaster1.xml" Id="Rf99e8dc83c7546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9ccf68b59d4c0a" /><Relationship Type="http://schemas.openxmlformats.org/officeDocument/2006/relationships/notesMaster" Target="/ppt/notesMasters/notesMaster1.xml" Id="Re408a913ab3f4a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34d80c693d4cf4" /><Relationship Type="http://schemas.openxmlformats.org/officeDocument/2006/relationships/notesMaster" Target="/ppt/notesMasters/notesMaster1.xml" Id="Rf54ba20efe5444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80932b6a354433" /><Relationship Type="http://schemas.openxmlformats.org/officeDocument/2006/relationships/notesMaster" Target="/ppt/notesMasters/notesMaster1.xml" Id="R56e9e0042c4641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fdb6a721b7410c" /><Relationship Type="http://schemas.openxmlformats.org/officeDocument/2006/relationships/notesMaster" Target="/ppt/notesMasters/notesMaster1.xml" Id="R6d6ff01fab5649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60d1451bc04aaf" /><Relationship Type="http://schemas.openxmlformats.org/officeDocument/2006/relationships/notesMaster" Target="/ppt/notesMasters/notesMaster1.xml" Id="R709a862d83e74d7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a2ad83375f406a" /><Relationship Type="http://schemas.openxmlformats.org/officeDocument/2006/relationships/notesMaster" Target="/ppt/notesMasters/notesMaster1.xml" Id="Rccc7c0327a454b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d88c60d4ec4f42" /><Relationship Type="http://schemas.openxmlformats.org/officeDocument/2006/relationships/notesMaster" Target="/ppt/notesMasters/notesMaster1.xml" Id="Rdf42067aa7464d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be34959483453a" /><Relationship Type="http://schemas.openxmlformats.org/officeDocument/2006/relationships/notesMaster" Target="/ppt/notesMasters/notesMaster1.xml" Id="Rff2dc5144af747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76ab3dbd9d44a6" /><Relationship Type="http://schemas.openxmlformats.org/officeDocument/2006/relationships/notesMaster" Target="/ppt/notesMasters/notesMaster1.xml" Id="Rbab41614b9624bf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221181ee6b4c8e" /><Relationship Type="http://schemas.openxmlformats.org/officeDocument/2006/relationships/notesMaster" Target="/ppt/notesMasters/notesMaster1.xml" Id="Rcaf1849aebe14b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83f2eba5ce4cf7" /><Relationship Type="http://schemas.openxmlformats.org/officeDocument/2006/relationships/notesMaster" Target="/ppt/notesMasters/notesMaster1.xml" Id="Rb5bb3591d78f47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900ded6d63d49ee" /><Relationship Type="http://schemas.openxmlformats.org/officeDocument/2006/relationships/notesMaster" Target="/ppt/notesMasters/notesMaster1.xml" Id="Rcd475fa0ca91480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762c399e38743d4" /><Relationship Type="http://schemas.openxmlformats.org/officeDocument/2006/relationships/notesMaster" Target="/ppt/notesMasters/notesMaster1.xml" Id="R23508498196947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4ccd596b4944282" /><Relationship Type="http://schemas.openxmlformats.org/officeDocument/2006/relationships/notesMaster" Target="/ppt/notesMasters/notesMaster1.xml" Id="R1d661b2a93d240f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d62ad8315c43cf" /><Relationship Type="http://schemas.openxmlformats.org/officeDocument/2006/relationships/notesMaster" Target="/ppt/notesMasters/notesMaster1.xml" Id="R4322d0f9c4f446b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cbebd9e5ad4127" /><Relationship Type="http://schemas.openxmlformats.org/officeDocument/2006/relationships/notesMaster" Target="/ppt/notesMasters/notesMaster1.xml" Id="R79353561107d429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2afa2cad6eb4d7b" /><Relationship Type="http://schemas.openxmlformats.org/officeDocument/2006/relationships/notesMaster" Target="/ppt/notesMasters/notesMaster1.xml" Id="R9974b62b49e4441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c1020e5e4e4447" /><Relationship Type="http://schemas.openxmlformats.org/officeDocument/2006/relationships/notesMaster" Target="/ppt/notesMasters/notesMaster1.xml" Id="R21b71e3896104c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deea35f5fd14986" /><Relationship Type="http://schemas.openxmlformats.org/officeDocument/2006/relationships/notesMaster" Target="/ppt/notesMasters/notesMaster1.xml" Id="R65adc18c6706479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e4fa8a91d474af1" /><Relationship Type="http://schemas.openxmlformats.org/officeDocument/2006/relationships/notesMaster" Target="/ppt/notesMasters/notesMaster1.xml" Id="R8a5ee2a1e5a246a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257163a4b5640bf" /><Relationship Type="http://schemas.openxmlformats.org/officeDocument/2006/relationships/notesMaster" Target="/ppt/notesMasters/notesMaster1.xml" Id="R73be14cc4fec4b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5960a7314b44ba" /><Relationship Type="http://schemas.openxmlformats.org/officeDocument/2006/relationships/notesMaster" Target="/ppt/notesMasters/notesMaster1.xml" Id="R81706d87e0664ce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a62d25a138b4e1b" /><Relationship Type="http://schemas.openxmlformats.org/officeDocument/2006/relationships/notesMaster" Target="/ppt/notesMasters/notesMaster1.xml" Id="R8ec9d542ab3b407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66e6c57f29945bd" /><Relationship Type="http://schemas.openxmlformats.org/officeDocument/2006/relationships/notesMaster" Target="/ppt/notesMasters/notesMaster1.xml" Id="R2fd047a0ce34496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754a749279e44c9" /><Relationship Type="http://schemas.openxmlformats.org/officeDocument/2006/relationships/notesMaster" Target="/ppt/notesMasters/notesMaster1.xml" Id="Rcbb5d6caa48b454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97aeca271384515" /><Relationship Type="http://schemas.openxmlformats.org/officeDocument/2006/relationships/notesMaster" Target="/ppt/notesMasters/notesMaster1.xml" Id="R2db57c7053a044d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aca65aa4d8b4594" /><Relationship Type="http://schemas.openxmlformats.org/officeDocument/2006/relationships/notesMaster" Target="/ppt/notesMasters/notesMaster1.xml" Id="R79d474ac9372493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d1192b776464bf6" /><Relationship Type="http://schemas.openxmlformats.org/officeDocument/2006/relationships/notesMaster" Target="/ppt/notesMasters/notesMaster1.xml" Id="Rde98766166dc4e2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e32174245714ac9" /><Relationship Type="http://schemas.openxmlformats.org/officeDocument/2006/relationships/notesMaster" Target="/ppt/notesMasters/notesMaster1.xml" Id="R2162dc5abc124a7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032a95022a5435a" /><Relationship Type="http://schemas.openxmlformats.org/officeDocument/2006/relationships/notesMaster" Target="/ppt/notesMasters/notesMaster1.xml" Id="R9a48d4a31b054b0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390b51135cd4b71" /><Relationship Type="http://schemas.openxmlformats.org/officeDocument/2006/relationships/notesMaster" Target="/ppt/notesMasters/notesMaster1.xml" Id="R41f3d4e38c6944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3f506224df3473d" /><Relationship Type="http://schemas.openxmlformats.org/officeDocument/2006/relationships/notesMaster" Target="/ppt/notesMasters/notesMaster1.xml" Id="Rf9bf6b34c87b486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dda895f51644de8" /><Relationship Type="http://schemas.openxmlformats.org/officeDocument/2006/relationships/notesMaster" Target="/ppt/notesMasters/notesMaster1.xml" Id="R003c285b76f44c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f181919a568429c" /><Relationship Type="http://schemas.openxmlformats.org/officeDocument/2006/relationships/notesMaster" Target="/ppt/notesMasters/notesMaster1.xml" Id="R3055a57a71ae442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7bf0f2c81cd429c" /><Relationship Type="http://schemas.openxmlformats.org/officeDocument/2006/relationships/notesMaster" Target="/ppt/notesMasters/notesMaster1.xml" Id="R07b50dee7c754a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41f26cd64614061" /><Relationship Type="http://schemas.openxmlformats.org/officeDocument/2006/relationships/notesMaster" Target="/ppt/notesMasters/notesMaster1.xml" Id="R8cfa183d717b44f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337e3ccd88d4eb4" /><Relationship Type="http://schemas.openxmlformats.org/officeDocument/2006/relationships/notesMaster" Target="/ppt/notesMasters/notesMaster1.xml" Id="R3ae3e54212ac4fa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950acb6f9c74489" /><Relationship Type="http://schemas.openxmlformats.org/officeDocument/2006/relationships/notesMaster" Target="/ppt/notesMasters/notesMaster1.xml" Id="R78e21379590f4cc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7f1c02841a64890" /><Relationship Type="http://schemas.openxmlformats.org/officeDocument/2006/relationships/notesMaster" Target="/ppt/notesMasters/notesMaster1.xml" Id="Rf64ee5113fef44f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12b35a625d4d15" /><Relationship Type="http://schemas.openxmlformats.org/officeDocument/2006/relationships/notesMaster" Target="/ppt/notesMasters/notesMaster1.xml" Id="R1d119e33765c41d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333e22ca7db476a" /><Relationship Type="http://schemas.openxmlformats.org/officeDocument/2006/relationships/notesMaster" Target="/ppt/notesMasters/notesMaster1.xml" Id="Rb54ff9e0e7474b8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04ae79d851a4c07" /><Relationship Type="http://schemas.openxmlformats.org/officeDocument/2006/relationships/notesMaster" Target="/ppt/notesMasters/notesMaster1.xml" Id="R147d56f09c4a44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30ae8334d9541b5" /><Relationship Type="http://schemas.openxmlformats.org/officeDocument/2006/relationships/notesMaster" Target="/ppt/notesMasters/notesMaster1.xml" Id="R365d291684a049c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cc4f7dc02344c55" /><Relationship Type="http://schemas.openxmlformats.org/officeDocument/2006/relationships/notesMaster" Target="/ppt/notesMasters/notesMaster1.xml" Id="R6695fd9f10274a2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4795e5360eb489e" /><Relationship Type="http://schemas.openxmlformats.org/officeDocument/2006/relationships/notesMaster" Target="/ppt/notesMasters/notesMaster1.xml" Id="R6a5ba0338a6643c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6357803558d426d" /><Relationship Type="http://schemas.openxmlformats.org/officeDocument/2006/relationships/notesMaster" Target="/ppt/notesMasters/notesMaster1.xml" Id="R2865af1fedb84e2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992b35274da4855" /><Relationship Type="http://schemas.openxmlformats.org/officeDocument/2006/relationships/notesMaster" Target="/ppt/notesMasters/notesMaster1.xml" Id="Rcddf1fbd85c2454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8023f5a98064249" /><Relationship Type="http://schemas.openxmlformats.org/officeDocument/2006/relationships/notesMaster" Target="/ppt/notesMasters/notesMaster1.xml" Id="Rb5a7025bcbb9485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9cb45d9f130462f" /><Relationship Type="http://schemas.openxmlformats.org/officeDocument/2006/relationships/notesMaster" Target="/ppt/notesMasters/notesMaster1.xml" Id="R508c710682864cf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59dd86597c949e9" /><Relationship Type="http://schemas.openxmlformats.org/officeDocument/2006/relationships/notesMaster" Target="/ppt/notesMasters/notesMaster1.xml" Id="R7b253deda48c423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f7613c8243c453a" /><Relationship Type="http://schemas.openxmlformats.org/officeDocument/2006/relationships/notesMaster" Target="/ppt/notesMasters/notesMaster1.xml" Id="Rac13c8a6b3c74f3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8d2b3a437dd4e11" /><Relationship Type="http://schemas.openxmlformats.org/officeDocument/2006/relationships/notesMaster" Target="/ppt/notesMasters/notesMaster1.xml" Id="R31227dba7138426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00f06edd5294b1b" /><Relationship Type="http://schemas.openxmlformats.org/officeDocument/2006/relationships/notesMaster" Target="/ppt/notesMasters/notesMaster1.xml" Id="R06cea568b2454d2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d5499fa7ad44188" /><Relationship Type="http://schemas.openxmlformats.org/officeDocument/2006/relationships/notesMaster" Target="/ppt/notesMasters/notesMaster1.xml" Id="R19e3b7a3d3bb427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df94692bf734a03" /><Relationship Type="http://schemas.openxmlformats.org/officeDocument/2006/relationships/notesMaster" Target="/ppt/notesMasters/notesMaster1.xml" Id="R5311971783f348d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eafe6ee44b04d5a" /><Relationship Type="http://schemas.openxmlformats.org/officeDocument/2006/relationships/notesMaster" Target="/ppt/notesMasters/notesMaster1.xml" Id="R68ec61e0cb7e499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f532fd9e8d54908" /><Relationship Type="http://schemas.openxmlformats.org/officeDocument/2006/relationships/notesMaster" Target="/ppt/notesMasters/notesMaster1.xml" Id="R603adbf8eee74c6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eb7cb9195c141bc" /><Relationship Type="http://schemas.openxmlformats.org/officeDocument/2006/relationships/notesMaster" Target="/ppt/notesMasters/notesMaster1.xml" Id="Ra9fe694bbdf64aa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59c95a9e66746e8" /><Relationship Type="http://schemas.openxmlformats.org/officeDocument/2006/relationships/notesMaster" Target="/ppt/notesMasters/notesMaster1.xml" Id="Rdf01fb143fc44b9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3b85c39ea2946e1" /><Relationship Type="http://schemas.openxmlformats.org/officeDocument/2006/relationships/notesMaster" Target="/ppt/notesMasters/notesMaster1.xml" Id="R75d628daf1e348c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d7afde0a57764c99" /><Relationship Type="http://schemas.openxmlformats.org/officeDocument/2006/relationships/notesMaster" Target="/ppt/notesMasters/notesMaster1.xml" Id="R6df5d0c34731441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457fafa0dc0409e" /><Relationship Type="http://schemas.openxmlformats.org/officeDocument/2006/relationships/notesMaster" Target="/ppt/notesMasters/notesMaster1.xml" Id="R25e067e70a7d431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62cd882ae2b44a5" /><Relationship Type="http://schemas.openxmlformats.org/officeDocument/2006/relationships/notesMaster" Target="/ppt/notesMasters/notesMaster1.xml" Id="R3dae9d04ba6848e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e8724f688db04885" /><Relationship Type="http://schemas.openxmlformats.org/officeDocument/2006/relationships/notesMaster" Target="/ppt/notesMasters/notesMaster1.xml" Id="R47d6a7c1ca494db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012ce060ce5e4dc6" /><Relationship Type="http://schemas.openxmlformats.org/officeDocument/2006/relationships/notesMaster" Target="/ppt/notesMasters/notesMaster1.xml" Id="Rbe343eaf0086496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9e8b7eb401e4b9c" /><Relationship Type="http://schemas.openxmlformats.org/officeDocument/2006/relationships/notesMaster" Target="/ppt/notesMasters/notesMaster1.xml" Id="R83686266e3f644c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219ed10d54f45f3" /><Relationship Type="http://schemas.openxmlformats.org/officeDocument/2006/relationships/notesMaster" Target="/ppt/notesMasters/notesMaster1.xml" Id="R6ae132acd4514da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da938ba402f484a" /><Relationship Type="http://schemas.openxmlformats.org/officeDocument/2006/relationships/notesMaster" Target="/ppt/notesMasters/notesMaster1.xml" Id="R720e2c3fa287421b"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6ea929a3faf4ae8" /><Relationship Type="http://schemas.openxmlformats.org/officeDocument/2006/relationships/notesMaster" Target="/ppt/notesMasters/notesMaster1.xml" Id="R4204e988c213496e"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6f7ed68b9ef4b7f" /><Relationship Type="http://schemas.openxmlformats.org/officeDocument/2006/relationships/notesMaster" Target="/ppt/notesMasters/notesMaster1.xml" Id="R00fc7700c20649e3"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fd24624b0914005" /><Relationship Type="http://schemas.openxmlformats.org/officeDocument/2006/relationships/notesMaster" Target="/ppt/notesMasters/notesMaster1.xml" Id="Rcf2326946c384ce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7cba11a9e9549d8" /><Relationship Type="http://schemas.openxmlformats.org/officeDocument/2006/relationships/notesMaster" Target="/ppt/notesMasters/notesMaster1.xml" Id="R9061d9ea383c4b3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bebb355fb5944b0" /><Relationship Type="http://schemas.openxmlformats.org/officeDocument/2006/relationships/notesMaster" Target="/ppt/notesMasters/notesMaster1.xml" Id="R441a0c458a9c427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329bf068f0947f4" /><Relationship Type="http://schemas.openxmlformats.org/officeDocument/2006/relationships/notesMaster" Target="/ppt/notesMasters/notesMaster1.xml" Id="Rc34d582d6e4b4df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d77ed580874d4069" /><Relationship Type="http://schemas.openxmlformats.org/officeDocument/2006/relationships/notesMaster" Target="/ppt/notesMasters/notesMaster1.xml" Id="R7f16ee4720a04e56"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5e785a9dbd84e3c" /><Relationship Type="http://schemas.openxmlformats.org/officeDocument/2006/relationships/notesMaster" Target="/ppt/notesMasters/notesMaster1.xml" Id="R8951d51060e449f8"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3857aa9b28724a98" /><Relationship Type="http://schemas.openxmlformats.org/officeDocument/2006/relationships/notesMaster" Target="/ppt/notesMasters/notesMaster1.xml" Id="R449da32845cb4fbc"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02752d582cc4b70" /><Relationship Type="http://schemas.openxmlformats.org/officeDocument/2006/relationships/notesMaster" Target="/ppt/notesMasters/notesMaster1.xml" Id="Rc9e05728fc02422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05346d2683db4f1b" /><Relationship Type="http://schemas.openxmlformats.org/officeDocument/2006/relationships/notesMaster" Target="/ppt/notesMasters/notesMaster1.xml" Id="R6784e300c1a7471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f6e3e9f63ec4fe4" /><Relationship Type="http://schemas.openxmlformats.org/officeDocument/2006/relationships/notesMaster" Target="/ppt/notesMasters/notesMaster1.xml" Id="Rf3049d1951924d0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d99b9fbc35d432f" /><Relationship Type="http://schemas.openxmlformats.org/officeDocument/2006/relationships/notesMaster" Target="/ppt/notesMasters/notesMaster1.xml" Id="R72bdeb7c15074ed3"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ec412fb85c04027" /><Relationship Type="http://schemas.openxmlformats.org/officeDocument/2006/relationships/notesMaster" Target="/ppt/notesMasters/notesMaster1.xml" Id="Rc888cdadd10745f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5acc6b8c915493d" /><Relationship Type="http://schemas.openxmlformats.org/officeDocument/2006/relationships/notesMaster" Target="/ppt/notesMasters/notesMaster1.xml" Id="R1cd4e9e8e88f4fbc"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a51d5225ad1f41b3" /><Relationship Type="http://schemas.openxmlformats.org/officeDocument/2006/relationships/notesMaster" Target="/ppt/notesMasters/notesMaster1.xml" Id="R5678905dd9b943da"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5249c26b8c840f8" /><Relationship Type="http://schemas.openxmlformats.org/officeDocument/2006/relationships/notesMaster" Target="/ppt/notesMasters/notesMaster1.xml" Id="Race353fc1e424a08"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3e6ed6fbefa14c96" /><Relationship Type="http://schemas.openxmlformats.org/officeDocument/2006/relationships/notesMaster" Target="/ppt/notesMasters/notesMaster1.xml" Id="R65bf1dd058704456"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1672589a3112409c" /><Relationship Type="http://schemas.openxmlformats.org/officeDocument/2006/relationships/notesMaster" Target="/ppt/notesMasters/notesMaster1.xml" Id="R15b5fef0fc684ed7"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bb3223fa830645a5" /><Relationship Type="http://schemas.openxmlformats.org/officeDocument/2006/relationships/notesMaster" Target="/ppt/notesMasters/notesMaster1.xml" Id="Rfba8ccd09bc1433c"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6583f53bf1c414c" /><Relationship Type="http://schemas.openxmlformats.org/officeDocument/2006/relationships/notesMaster" Target="/ppt/notesMasters/notesMaster1.xml" Id="R6d50ffc1b51d4da2"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9bc9dd59bff74ce7" /><Relationship Type="http://schemas.openxmlformats.org/officeDocument/2006/relationships/notesMaster" Target="/ppt/notesMasters/notesMaster1.xml" Id="Rbc2caf5c6ed24e22"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6fed3b79ac27451e" /><Relationship Type="http://schemas.openxmlformats.org/officeDocument/2006/relationships/notesMaster" Target="/ppt/notesMasters/notesMaster1.xml" Id="R9407665a4d8640ae"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98c6d04d3f37476a" /><Relationship Type="http://schemas.openxmlformats.org/officeDocument/2006/relationships/notesMaster" Target="/ppt/notesMasters/notesMaster1.xml" Id="Rd508f22886224bee"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5483af54f3d74322" /><Relationship Type="http://schemas.openxmlformats.org/officeDocument/2006/relationships/notesMaster" Target="/ppt/notesMasters/notesMaster1.xml" Id="Rf4e9ed169e2f4cce"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e91599f71494480" /><Relationship Type="http://schemas.openxmlformats.org/officeDocument/2006/relationships/notesMaster" Target="/ppt/notesMasters/notesMaster1.xml" Id="R29069e64175a4c50"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662a6e4e32464025" /><Relationship Type="http://schemas.openxmlformats.org/officeDocument/2006/relationships/notesMaster" Target="/ppt/notesMasters/notesMaster1.xml" Id="Rc6a5052fa3304ad9"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0647eb44e0ea45e2" /><Relationship Type="http://schemas.openxmlformats.org/officeDocument/2006/relationships/notesMaster" Target="/ppt/notesMasters/notesMaster1.xml" Id="R08f13a1234194ff8"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708c0825d37f4dd3" /><Relationship Type="http://schemas.openxmlformats.org/officeDocument/2006/relationships/notesMaster" Target="/ppt/notesMasters/notesMaster1.xml" Id="Rfdfd87c87a084f2f"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9e0a8cc718164af6" /><Relationship Type="http://schemas.openxmlformats.org/officeDocument/2006/relationships/notesMaster" Target="/ppt/notesMasters/notesMaster1.xml" Id="Rf4ad6aa9a423414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d5e42a129a845d3" /><Relationship Type="http://schemas.openxmlformats.org/officeDocument/2006/relationships/notesMaster" Target="/ppt/notesMasters/notesMaster1.xml" Id="Re1f9e2e27de04022"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45b1c8446cf1489d" /><Relationship Type="http://schemas.openxmlformats.org/officeDocument/2006/relationships/notesMaster" Target="/ppt/notesMasters/notesMaster1.xml" Id="R39a7475c90644cdf"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b090941180354975" /><Relationship Type="http://schemas.openxmlformats.org/officeDocument/2006/relationships/notesMaster" Target="/ppt/notesMasters/notesMaster1.xml" Id="Rc034efcc8936456a"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8545f817e5814088" /><Relationship Type="http://schemas.openxmlformats.org/officeDocument/2006/relationships/notesMaster" Target="/ppt/notesMasters/notesMaster1.xml" Id="R79ad1e304e944544"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2eb5a61627a94c9b" /><Relationship Type="http://schemas.openxmlformats.org/officeDocument/2006/relationships/notesMaster" Target="/ppt/notesMasters/notesMaster1.xml" Id="R2ee031e4a7e14471"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b54317959d654f37" /><Relationship Type="http://schemas.openxmlformats.org/officeDocument/2006/relationships/notesMaster" Target="/ppt/notesMasters/notesMaster1.xml" Id="R4d5ffc70ad7e4ef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3a09e000c1024389" /><Relationship Type="http://schemas.openxmlformats.org/officeDocument/2006/relationships/notesMaster" Target="/ppt/notesMasters/notesMaster1.xml" Id="Rca14063d5486495e"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9dbffa5a51448c3" /><Relationship Type="http://schemas.openxmlformats.org/officeDocument/2006/relationships/notesMaster" Target="/ppt/notesMasters/notesMaster1.xml" Id="Rcf689fb367ca48e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374556d7876c4b6a" /><Relationship Type="http://schemas.openxmlformats.org/officeDocument/2006/relationships/notesMaster" Target="/ppt/notesMasters/notesMaster1.xml" Id="R937063c4e4334807"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07c81b8c4ff04245" /><Relationship Type="http://schemas.openxmlformats.org/officeDocument/2006/relationships/notesMaster" Target="/ppt/notesMasters/notesMaster1.xml" Id="R8a8a23c8996c4b16"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56f25deb32c248cb" /><Relationship Type="http://schemas.openxmlformats.org/officeDocument/2006/relationships/notesMaster" Target="/ppt/notesMasters/notesMaster1.xml" Id="R310b487db41e43f6"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b4e190adedec43cd" /><Relationship Type="http://schemas.openxmlformats.org/officeDocument/2006/relationships/notesMaster" Target="/ppt/notesMasters/notesMaster1.xml" Id="Rb190e987210a4257"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66c6692b12f34567" /><Relationship Type="http://schemas.openxmlformats.org/officeDocument/2006/relationships/notesMaster" Target="/ppt/notesMasters/notesMaster1.xml" Id="Rb46be629e32140dc"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dbce08cc41214c32" /><Relationship Type="http://schemas.openxmlformats.org/officeDocument/2006/relationships/notesMaster" Target="/ppt/notesMasters/notesMaster1.xml" Id="R40bf15facd9b403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e00ab8d37d584dc6" /><Relationship Type="http://schemas.openxmlformats.org/officeDocument/2006/relationships/notesMaster" Target="/ppt/notesMasters/notesMaster1.xml" Id="R112b7f2b6bd0411b"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f1fe5638314448e6" /><Relationship Type="http://schemas.openxmlformats.org/officeDocument/2006/relationships/notesMaster" Target="/ppt/notesMasters/notesMaster1.xml" Id="Re7ad7fed40204f08"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66054beb6c6b4b98" /><Relationship Type="http://schemas.openxmlformats.org/officeDocument/2006/relationships/notesMaster" Target="/ppt/notesMasters/notesMaster1.xml" Id="Rad7dbf6a074e4f41"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dd97152fb0a9440e" /><Relationship Type="http://schemas.openxmlformats.org/officeDocument/2006/relationships/notesMaster" Target="/ppt/notesMasters/notesMaster1.xml" Id="Re3c1ec545ed44a66"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f401d12940444e16" /><Relationship Type="http://schemas.openxmlformats.org/officeDocument/2006/relationships/notesMaster" Target="/ppt/notesMasters/notesMaster1.xml" Id="Rb7cd5cb3a0d049d8"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60b634fee289458b" /><Relationship Type="http://schemas.openxmlformats.org/officeDocument/2006/relationships/notesMaster" Target="/ppt/notesMasters/notesMaster1.xml" Id="Rb0d3715423984044"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b52b2794953547b3" /><Relationship Type="http://schemas.openxmlformats.org/officeDocument/2006/relationships/notesMaster" Target="/ppt/notesMasters/notesMaster1.xml" Id="R6ee279f52f2547a7"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f289b9b372784803" /><Relationship Type="http://schemas.openxmlformats.org/officeDocument/2006/relationships/notesMaster" Target="/ppt/notesMasters/notesMaster1.xml" Id="R6c5c0458844f450a"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ad23232b439a4374" /><Relationship Type="http://schemas.openxmlformats.org/officeDocument/2006/relationships/notesMaster" Target="/ppt/notesMasters/notesMaster1.xml" Id="Rd5d3cd5c258b4197"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6634509dc22b4fb0" /><Relationship Type="http://schemas.openxmlformats.org/officeDocument/2006/relationships/notesMaster" Target="/ppt/notesMasters/notesMaster1.xml" Id="R992bccde0b214fb5"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92e991d6aa934fc5" /><Relationship Type="http://schemas.openxmlformats.org/officeDocument/2006/relationships/notesMaster" Target="/ppt/notesMasters/notesMaster1.xml" Id="Rbb55826684a94a8e"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e60af4ea10f34b3b" /><Relationship Type="http://schemas.openxmlformats.org/officeDocument/2006/relationships/notesMaster" Target="/ppt/notesMasters/notesMaster1.xml" Id="R9dfbf7163b4d425a"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10b02dd242ab4229" /><Relationship Type="http://schemas.openxmlformats.org/officeDocument/2006/relationships/notesMaster" Target="/ppt/notesMasters/notesMaster1.xml" Id="R7f03766f5a00414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60abd304ddcf4f7b" /><Relationship Type="http://schemas.openxmlformats.org/officeDocument/2006/relationships/notesMaster" Target="/ppt/notesMasters/notesMaster1.xml" Id="Rb4af1358f4384f24"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5ef3a2c2f19c4892" /><Relationship Type="http://schemas.openxmlformats.org/officeDocument/2006/relationships/notesMaster" Target="/ppt/notesMasters/notesMaster1.xml" Id="Rbcfbf97eeadc4b6e"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909fb8f701c140c7" /><Relationship Type="http://schemas.openxmlformats.org/officeDocument/2006/relationships/notesMaster" Target="/ppt/notesMasters/notesMaster1.xml" Id="R2b6e560bd07b4405"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5d359108042e413c" /><Relationship Type="http://schemas.openxmlformats.org/officeDocument/2006/relationships/notesMaster" Target="/ppt/notesMasters/notesMaster1.xml" Id="Rddcd9c93e02c4aa0"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8beffdef7b90486e" /><Relationship Type="http://schemas.openxmlformats.org/officeDocument/2006/relationships/notesMaster" Target="/ppt/notesMasters/notesMaster1.xml" Id="R3ffdfc983fd24a82"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f72c3e3bb4d842b2" /><Relationship Type="http://schemas.openxmlformats.org/officeDocument/2006/relationships/notesMaster" Target="/ppt/notesMasters/notesMaster1.xml" Id="R594505792bd64baa"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09fd7fc859114c2f" /><Relationship Type="http://schemas.openxmlformats.org/officeDocument/2006/relationships/notesMaster" Target="/ppt/notesMasters/notesMaster1.xml" Id="R3dacbbf64757441f"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123a7bd01f164161" /><Relationship Type="http://schemas.openxmlformats.org/officeDocument/2006/relationships/notesMaster" Target="/ppt/notesMasters/notesMaster1.xml" Id="R431c4ddca2414581"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b1c48f72a2cf45a9" /><Relationship Type="http://schemas.openxmlformats.org/officeDocument/2006/relationships/notesMaster" Target="/ppt/notesMasters/notesMaster1.xml" Id="R88ec0cd424c7463b"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3bae516f7b7f412b" /><Relationship Type="http://schemas.openxmlformats.org/officeDocument/2006/relationships/notesMaster" Target="/ppt/notesMasters/notesMaster1.xml" Id="R3e0f8983a4a5467e"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aee5ecb1190e4579" /><Relationship Type="http://schemas.openxmlformats.org/officeDocument/2006/relationships/notesMaster" Target="/ppt/notesMasters/notesMaster1.xml" Id="R0b46d04e68d441b5"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f19114b2bdba4ad8" /><Relationship Type="http://schemas.openxmlformats.org/officeDocument/2006/relationships/notesMaster" Target="/ppt/notesMasters/notesMaster1.xml" Id="Ra1958346d50f451c"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9fab6396a60c4924" /><Relationship Type="http://schemas.openxmlformats.org/officeDocument/2006/relationships/notesMaster" Target="/ppt/notesMasters/notesMaster1.xml" Id="Ra5795274e2f04ed8"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c0d7551db6534bb0" /><Relationship Type="http://schemas.openxmlformats.org/officeDocument/2006/relationships/notesMaster" Target="/ppt/notesMasters/notesMaster1.xml" Id="R16150e7b444a4b48"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76c1fe1a58c648b4" /><Relationship Type="http://schemas.openxmlformats.org/officeDocument/2006/relationships/notesMaster" Target="/ppt/notesMasters/notesMaster1.xml" Id="R51cb1af0cd624eb1"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418913e8a3594996" /><Relationship Type="http://schemas.openxmlformats.org/officeDocument/2006/relationships/notesMaster" Target="/ppt/notesMasters/notesMaster1.xml" Id="R84dc5b67f2b34297"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fdb49947d7244753" /><Relationship Type="http://schemas.openxmlformats.org/officeDocument/2006/relationships/notesMaster" Target="/ppt/notesMasters/notesMaster1.xml" Id="Reaa057710e41444c"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4d3c2a47022a4c76" /><Relationship Type="http://schemas.openxmlformats.org/officeDocument/2006/relationships/notesMaster" Target="/ppt/notesMasters/notesMaster1.xml" Id="R577b494750f548e3"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07ebbdee38c84997" /><Relationship Type="http://schemas.openxmlformats.org/officeDocument/2006/relationships/notesMaster" Target="/ppt/notesMasters/notesMaster1.xml" Id="R5d919c60c4c24a81"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f919d64d05624ec1" /><Relationship Type="http://schemas.openxmlformats.org/officeDocument/2006/relationships/notesMaster" Target="/ppt/notesMasters/notesMaster1.xml" Id="R8a67f34136174ac5"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0eb95321abc74e11" /><Relationship Type="http://schemas.openxmlformats.org/officeDocument/2006/relationships/notesMaster" Target="/ppt/notesMasters/notesMaster1.xml" Id="R6be0a402c688439c"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29a366e1a8c44e33" /><Relationship Type="http://schemas.openxmlformats.org/officeDocument/2006/relationships/notesMaster" Target="/ppt/notesMasters/notesMaster1.xml" Id="R3dad249404464f7a"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1421b2782dd142ba" /><Relationship Type="http://schemas.openxmlformats.org/officeDocument/2006/relationships/notesMaster" Target="/ppt/notesMasters/notesMaster1.xml" Id="R8e15e78808eb4710"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3858c25d6fb04872" /><Relationship Type="http://schemas.openxmlformats.org/officeDocument/2006/relationships/notesMaster" Target="/ppt/notesMasters/notesMaster1.xml" Id="Rc5dd8e94c3c0439c"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6c1f98604da2415f" /><Relationship Type="http://schemas.openxmlformats.org/officeDocument/2006/relationships/notesMaster" Target="/ppt/notesMasters/notesMaster1.xml" Id="Rba0c6f80e0e34475"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81182e25f61945d7" /><Relationship Type="http://schemas.openxmlformats.org/officeDocument/2006/relationships/notesMaster" Target="/ppt/notesMasters/notesMaster1.xml" Id="R4d84481f315e45b7"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f9450d2b5d7a4378" /><Relationship Type="http://schemas.openxmlformats.org/officeDocument/2006/relationships/notesMaster" Target="/ppt/notesMasters/notesMaster1.xml" Id="Ra6f651098319478c"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697fb508b0f54147" /><Relationship Type="http://schemas.openxmlformats.org/officeDocument/2006/relationships/notesMaster" Target="/ppt/notesMasters/notesMaster1.xml" Id="R3d2a94346e6d42b1"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832f2cfd978b4ed1" /><Relationship Type="http://schemas.openxmlformats.org/officeDocument/2006/relationships/notesMaster" Target="/ppt/notesMasters/notesMaster1.xml" Id="Rb245d69dc5ad4350"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ce92daae9a04439c" /><Relationship Type="http://schemas.openxmlformats.org/officeDocument/2006/relationships/notesMaster" Target="/ppt/notesMasters/notesMaster1.xml" Id="R2611ba0fa7d6480b"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8cb48353e1e14958" /><Relationship Type="http://schemas.openxmlformats.org/officeDocument/2006/relationships/notesMaster" Target="/ppt/notesMasters/notesMaster1.xml" Id="R4a4e99a6be614ccc"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1b05ec5c286b4ecd" /><Relationship Type="http://schemas.openxmlformats.org/officeDocument/2006/relationships/notesMaster" Target="/ppt/notesMasters/notesMaster1.xml" Id="R5d20ea63bcb148f3"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a56cca9cdedc47d6" /><Relationship Type="http://schemas.openxmlformats.org/officeDocument/2006/relationships/notesMaster" Target="/ppt/notesMasters/notesMaster1.xml" Id="R37815399866648dc"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e7c4ca740a0e48e3" /><Relationship Type="http://schemas.openxmlformats.org/officeDocument/2006/relationships/notesMaster" Target="/ppt/notesMasters/notesMaster1.xml" Id="Ref8587bd9c414ba3"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26c326cd1e7d4ec9" /><Relationship Type="http://schemas.openxmlformats.org/officeDocument/2006/relationships/notesMaster" Target="/ppt/notesMasters/notesMaster1.xml" Id="R74e5a4c9f0eb4c9f"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8096e48569e24b33" /><Relationship Type="http://schemas.openxmlformats.org/officeDocument/2006/relationships/notesMaster" Target="/ppt/notesMasters/notesMaster1.xml" Id="R77d45267553d42e2"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2b66d2d68cfb4680" /><Relationship Type="http://schemas.openxmlformats.org/officeDocument/2006/relationships/notesMaster" Target="/ppt/notesMasters/notesMaster1.xml" Id="Rdeaaf933745144e3"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ec10d59821034f2e" /><Relationship Type="http://schemas.openxmlformats.org/officeDocument/2006/relationships/notesMaster" Target="/ppt/notesMasters/notesMaster1.xml" Id="R3d8bb4b8f2044f6e"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e85069fe47cf4204" /><Relationship Type="http://schemas.openxmlformats.org/officeDocument/2006/relationships/notesMaster" Target="/ppt/notesMasters/notesMaster1.xml" Id="R6892c9fe78914b45"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6f62fd151a9449cf" /><Relationship Type="http://schemas.openxmlformats.org/officeDocument/2006/relationships/notesMaster" Target="/ppt/notesMasters/notesMaster1.xml" Id="Ra76f25a9a69b4e83"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5d5897bd1756490e" /><Relationship Type="http://schemas.openxmlformats.org/officeDocument/2006/relationships/notesMaster" Target="/ppt/notesMasters/notesMaster1.xml" Id="Rf068d58550914d38"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4b40a60c18144271" /><Relationship Type="http://schemas.openxmlformats.org/officeDocument/2006/relationships/notesMaster" Target="/ppt/notesMasters/notesMaster1.xml" Id="Reb9d44f1b0294b5b"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6217553dca1e444e" /><Relationship Type="http://schemas.openxmlformats.org/officeDocument/2006/relationships/notesMaster" Target="/ppt/notesMasters/notesMaster1.xml" Id="R1cb8b47f7ad043bb"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8efc90d0361f4c9a" /><Relationship Type="http://schemas.openxmlformats.org/officeDocument/2006/relationships/notesMaster" Target="/ppt/notesMasters/notesMaster1.xml" Id="R06b5cda298e34c5f"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8f03ba92f9954a8b" /><Relationship Type="http://schemas.openxmlformats.org/officeDocument/2006/relationships/notesMaster" Target="/ppt/notesMasters/notesMaster1.xml" Id="R2fce67f7c2e94211"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42805914fa75420f" /><Relationship Type="http://schemas.openxmlformats.org/officeDocument/2006/relationships/notesMaster" Target="/ppt/notesMasters/notesMaster1.xml" Id="R7e0e3ab4ebe84f35"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e98abe32be1c41b9" /><Relationship Type="http://schemas.openxmlformats.org/officeDocument/2006/relationships/notesMaster" Target="/ppt/notesMasters/notesMaster1.xml" Id="R6dc794079d4a4df0"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d821bdb3e6af4ee3" /><Relationship Type="http://schemas.openxmlformats.org/officeDocument/2006/relationships/notesMaster" Target="/ppt/notesMasters/notesMaster1.xml" Id="R04d393ac37534491"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f0973dfc411746c6" /><Relationship Type="http://schemas.openxmlformats.org/officeDocument/2006/relationships/notesMaster" Target="/ppt/notesMasters/notesMaster1.xml" Id="R46e4d277e7f44515"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c81b07d2bdb046df" /><Relationship Type="http://schemas.openxmlformats.org/officeDocument/2006/relationships/notesMaster" Target="/ppt/notesMasters/notesMaster1.xml" Id="Re3758903f10d42a9"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dbaef35a870a4195" /><Relationship Type="http://schemas.openxmlformats.org/officeDocument/2006/relationships/notesMaster" Target="/ppt/notesMasters/notesMaster1.xml" Id="Rc9c0e1b0a50a4df3"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0e3f8fa1da344cda" /><Relationship Type="http://schemas.openxmlformats.org/officeDocument/2006/relationships/notesMaster" Target="/ppt/notesMasters/notesMaster1.xml" Id="R5698e5b143d84a08"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0e19adb8390f4dde" /><Relationship Type="http://schemas.openxmlformats.org/officeDocument/2006/relationships/notesMaster" Target="/ppt/notesMasters/notesMaster1.xml" Id="Re2e17e02ab074885"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2e8201ba395d4a66" /><Relationship Type="http://schemas.openxmlformats.org/officeDocument/2006/relationships/notesMaster" Target="/ppt/notesMasters/notesMaster1.xml" Id="Rf1dc6f37cbcd46b2"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b74759ec23864908" /><Relationship Type="http://schemas.openxmlformats.org/officeDocument/2006/relationships/notesMaster" Target="/ppt/notesMasters/notesMaster1.xml" Id="Rab0c4e3a0ac3440a"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896e8f49ced540e3" /><Relationship Type="http://schemas.openxmlformats.org/officeDocument/2006/relationships/notesMaster" Target="/ppt/notesMasters/notesMaster1.xml" Id="R80a0c7b1801a46e8"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7b8ed2b15ae04bbf" /><Relationship Type="http://schemas.openxmlformats.org/officeDocument/2006/relationships/notesMaster" Target="/ppt/notesMasters/notesMaster1.xml" Id="R57bd9648b5484209"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6be1096a20864347" /><Relationship Type="http://schemas.openxmlformats.org/officeDocument/2006/relationships/notesMaster" Target="/ppt/notesMasters/notesMaster1.xml" Id="R67c443276e0b4f41"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4cbcabe98bd54040" /><Relationship Type="http://schemas.openxmlformats.org/officeDocument/2006/relationships/notesMaster" Target="/ppt/notesMasters/notesMaster1.xml" Id="R28ec6adab2a04f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66ffe742dd43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532ef5bcff4c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2ee01c2e524c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40548bbccf44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7ba968fba44c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8803a0435745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1776D0-FCCC-4655-B558-3AF82686C9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C13C47-E069-480F-8E41-C488912D40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04BB64-7949-4F42-8A24-0D586A2FCD9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3E838F-55E6-4B76-8D12-4C434B895E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9BE6ED-5817-4C39-A66B-6B62F94174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00E891-5335-4480-88C5-F67557180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BED619-D247-44CE-8BA9-1E92A2CD8D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42DF6D-BC0B-4B84-B4BB-FA8DA0C293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4F6E77-B9E3-4428-8555-8145F65B2E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BE232E-A01E-4A00-A0BC-D161F70337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d51f5942bf49fe" /><Relationship Type="http://schemas.openxmlformats.org/officeDocument/2006/relationships/slideLayout" Target="/ppt/slideLayouts/slideLayout1.xml" Id="R2901abc0ca564d03" /><Relationship Type="http://schemas.openxmlformats.org/officeDocument/2006/relationships/slideLayout" Target="/ppt/slideLayouts/slideLayout2.xml" Id="R23e571122a074745" /><Relationship Type="http://schemas.openxmlformats.org/officeDocument/2006/relationships/slideLayout" Target="/ppt/slideLayouts/slideLayout3.xml" Id="R0a38733115cb47d8" /><Relationship Type="http://schemas.openxmlformats.org/officeDocument/2006/relationships/slideLayout" Target="/ppt/slideLayouts/slideLayout4.xml" Id="R8e6eb26d5a864cc6" /><Relationship Type="http://schemas.openxmlformats.org/officeDocument/2006/relationships/slideLayout" Target="/ppt/slideLayouts/slideLayout5.xml" Id="R072e6ad07b72486a" /><Relationship Type="http://schemas.openxmlformats.org/officeDocument/2006/relationships/slideLayout" Target="/ppt/slideLayouts/slideLayout6.xml" Id="Raf12e17598fc41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01abc0ca564d03"/>
    <p:sldLayoutId xmlns:r="http://schemas.openxmlformats.org/officeDocument/2006/relationships" id="2147483650" r:id="R23e571122a074745"/>
    <p:sldLayoutId xmlns:r="http://schemas.openxmlformats.org/officeDocument/2006/relationships" id="2147483651" r:id="R0a38733115cb47d8"/>
    <p:sldLayoutId xmlns:r="http://schemas.openxmlformats.org/officeDocument/2006/relationships" id="2147483652" r:id="R8e6eb26d5a864cc6"/>
    <p:sldLayoutId xmlns:r="http://schemas.openxmlformats.org/officeDocument/2006/relationships" id="2147483653" r:id="R072e6ad07b72486a"/>
    <p:sldLayoutId xmlns:r="http://schemas.openxmlformats.org/officeDocument/2006/relationships" id="2147483654" r:id="Raf12e17598fc41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ac5d4de9d64c6a" /><Relationship Type="http://schemas.openxmlformats.org/officeDocument/2006/relationships/notesSlide" Target="/ppt/notesSlides/notesSlide1.xml" Id="Rf666b8fcb0bf43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6eaf257545407a" /><Relationship Type="http://schemas.openxmlformats.org/officeDocument/2006/relationships/notesSlide" Target="/ppt/notesSlides/notesSlide2.xml" Id="R1353418ff74a41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d7674011834cb7" /><Relationship Type="http://schemas.openxmlformats.org/officeDocument/2006/relationships/notesSlide" Target="/ppt/notesSlides/notesSlide3.xml" Id="Rc29867d39bea4b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a394317f2f47a8" /><Relationship Type="http://schemas.openxmlformats.org/officeDocument/2006/relationships/notesSlide" Target="/ppt/notesSlides/notesSlide4.xml" Id="R1ec77fed76b54d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89d55dee0b41c6" /><Relationship Type="http://schemas.openxmlformats.org/officeDocument/2006/relationships/notesSlide" Target="/ppt/notesSlides/notesSlide5.xml" Id="R54bbab915be045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67bf8f214b479d" /><Relationship Type="http://schemas.openxmlformats.org/officeDocument/2006/relationships/notesSlide" Target="/ppt/notesSlides/notesSlide6.xml" Id="R8935b1493efd40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d395f4e9db4369" /><Relationship Type="http://schemas.openxmlformats.org/officeDocument/2006/relationships/notesSlide" Target="/ppt/notesSlides/notesSlide7.xml" Id="Rca671848f19543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0db44eaa5c4461" /><Relationship Type="http://schemas.openxmlformats.org/officeDocument/2006/relationships/notesSlide" Target="/ppt/notesSlides/notesSlide8.xml" Id="R2ea452735ff041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2639778d01450d" /><Relationship Type="http://schemas.openxmlformats.org/officeDocument/2006/relationships/notesSlide" Target="/ppt/notesSlides/notesSlide9.xml" Id="R9d8633e7bb0b40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5514807fbe4e41" /><Relationship Type="http://schemas.openxmlformats.org/officeDocument/2006/relationships/notesSlide" Target="/ppt/notesSlides/notesSlide10.xml" Id="Rafb1e402ef9947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2059460eee4b4b" /><Relationship Type="http://schemas.openxmlformats.org/officeDocument/2006/relationships/notesSlide" Target="/ppt/notesSlides/notesSlide11.xml" Id="R7523f9efc3b348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669c965dd974267" /><Relationship Type="http://schemas.openxmlformats.org/officeDocument/2006/relationships/notesSlide" Target="/ppt/notesSlides/notesSlide12.xml" Id="R155bfe97bc8e48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d666aaf5f44930" /><Relationship Type="http://schemas.openxmlformats.org/officeDocument/2006/relationships/notesSlide" Target="/ppt/notesSlides/notesSlide13.xml" Id="Ra5e47ddf1fad45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2b8b3107274c24" /><Relationship Type="http://schemas.openxmlformats.org/officeDocument/2006/relationships/notesSlide" Target="/ppt/notesSlides/notesSlide14.xml" Id="R3d99e2048e6248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68b0cbb0974511" /><Relationship Type="http://schemas.openxmlformats.org/officeDocument/2006/relationships/notesSlide" Target="/ppt/notesSlides/notesSlide15.xml" Id="R5fbce31a617644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61406712314815" /><Relationship Type="http://schemas.openxmlformats.org/officeDocument/2006/relationships/notesSlide" Target="/ppt/notesSlides/notesSlide16.xml" Id="Rab50c40e5abc44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6ec5e5dc2f4ba2" /><Relationship Type="http://schemas.openxmlformats.org/officeDocument/2006/relationships/notesSlide" Target="/ppt/notesSlides/notesSlide17.xml" Id="Rf964e90d84484e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823ddef3e7048ca" /><Relationship Type="http://schemas.openxmlformats.org/officeDocument/2006/relationships/notesSlide" Target="/ppt/notesSlides/notesSlide18.xml" Id="R3c9551797ea346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cf5ba230df4327" /><Relationship Type="http://schemas.openxmlformats.org/officeDocument/2006/relationships/notesSlide" Target="/ppt/notesSlides/notesSlide19.xml" Id="R78b33f7415424a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f37f923a3c045ec" /><Relationship Type="http://schemas.openxmlformats.org/officeDocument/2006/relationships/notesSlide" Target="/ppt/notesSlides/notesSlide20.xml" Id="R33cd613d489c44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64becc7e5404ca8" /><Relationship Type="http://schemas.openxmlformats.org/officeDocument/2006/relationships/notesSlide" Target="/ppt/notesSlides/notesSlide21.xml" Id="R423c714184ab44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61ca867008c440e" /><Relationship Type="http://schemas.openxmlformats.org/officeDocument/2006/relationships/notesSlide" Target="/ppt/notesSlides/notesSlide22.xml" Id="R5c4fd0afaa4349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b7732b8af00442f" /><Relationship Type="http://schemas.openxmlformats.org/officeDocument/2006/relationships/notesSlide" Target="/ppt/notesSlides/notesSlide23.xml" Id="R6c35c660d4494d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c3cd51c2c4446d5" /><Relationship Type="http://schemas.openxmlformats.org/officeDocument/2006/relationships/notesSlide" Target="/ppt/notesSlides/notesSlide24.xml" Id="R82ea830f908e461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dc81c6caf0d49dc" /><Relationship Type="http://schemas.openxmlformats.org/officeDocument/2006/relationships/notesSlide" Target="/ppt/notesSlides/notesSlide25.xml" Id="Rfb7daf889d9046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496a2cb80384198" /><Relationship Type="http://schemas.openxmlformats.org/officeDocument/2006/relationships/notesSlide" Target="/ppt/notesSlides/notesSlide26.xml" Id="Raa34baf3eb0d459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0636167891d442d" /><Relationship Type="http://schemas.openxmlformats.org/officeDocument/2006/relationships/notesSlide" Target="/ppt/notesSlides/notesSlide27.xml" Id="Rab08308111d7454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c8b146b2dfb4475" /><Relationship Type="http://schemas.openxmlformats.org/officeDocument/2006/relationships/notesSlide" Target="/ppt/notesSlides/notesSlide28.xml" Id="Rabf650bbec5a4f4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87529990eb3409e" /><Relationship Type="http://schemas.openxmlformats.org/officeDocument/2006/relationships/notesSlide" Target="/ppt/notesSlides/notesSlide29.xml" Id="Redbeb0b586874f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e82ad05069f4d61" /><Relationship Type="http://schemas.openxmlformats.org/officeDocument/2006/relationships/notesSlide" Target="/ppt/notesSlides/notesSlide30.xml" Id="R5785c783439f4bc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00ef73bb87745bd" /><Relationship Type="http://schemas.openxmlformats.org/officeDocument/2006/relationships/notesSlide" Target="/ppt/notesSlides/notesSlide31.xml" Id="R7e4523d4657d4c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cbd7a0d1d8349c8" /><Relationship Type="http://schemas.openxmlformats.org/officeDocument/2006/relationships/notesSlide" Target="/ppt/notesSlides/notesSlide32.xml" Id="R0f877160ed3e430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45c60d7555b4c57" /><Relationship Type="http://schemas.openxmlformats.org/officeDocument/2006/relationships/notesSlide" Target="/ppt/notesSlides/notesSlide33.xml" Id="R7a7974a3b3cc4ae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028c21af25140bc" /><Relationship Type="http://schemas.openxmlformats.org/officeDocument/2006/relationships/notesSlide" Target="/ppt/notesSlides/notesSlide34.xml" Id="Rd54ddee8efd942c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338d809fcd7440d" /><Relationship Type="http://schemas.openxmlformats.org/officeDocument/2006/relationships/notesSlide" Target="/ppt/notesSlides/notesSlide35.xml" Id="Rc564cc4a03cb44d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ddff64849f645e8" /><Relationship Type="http://schemas.openxmlformats.org/officeDocument/2006/relationships/notesSlide" Target="/ppt/notesSlides/notesSlide36.xml" Id="R4af99602bf074a6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bc8425c1a6c4f11" /><Relationship Type="http://schemas.openxmlformats.org/officeDocument/2006/relationships/notesSlide" Target="/ppt/notesSlides/notesSlide37.xml" Id="Rbe9ca4ea014e4db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b110d4c42ff4e5d" /><Relationship Type="http://schemas.openxmlformats.org/officeDocument/2006/relationships/notesSlide" Target="/ppt/notesSlides/notesSlide38.xml" Id="Ra9080f474b5b49f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45f15be4cc54297" /><Relationship Type="http://schemas.openxmlformats.org/officeDocument/2006/relationships/notesSlide" Target="/ppt/notesSlides/notesSlide39.xml" Id="R355d4e27a8b148e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5df5f31e0ce45b2" /><Relationship Type="http://schemas.openxmlformats.org/officeDocument/2006/relationships/notesSlide" Target="/ppt/notesSlides/notesSlide40.xml" Id="Ra19dc8e6fecb483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efaacdfb3554c5b" /><Relationship Type="http://schemas.openxmlformats.org/officeDocument/2006/relationships/notesSlide" Target="/ppt/notesSlides/notesSlide41.xml" Id="Rb6a5d3f2bfc646f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14d4a3256b64208" /><Relationship Type="http://schemas.openxmlformats.org/officeDocument/2006/relationships/notesSlide" Target="/ppt/notesSlides/notesSlide42.xml" Id="R2b011352016045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19327a2469f457c" /><Relationship Type="http://schemas.openxmlformats.org/officeDocument/2006/relationships/notesSlide" Target="/ppt/notesSlides/notesSlide43.xml" Id="R696dbfff936d496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ba02e8d0fee471c" /><Relationship Type="http://schemas.openxmlformats.org/officeDocument/2006/relationships/notesSlide" Target="/ppt/notesSlides/notesSlide44.xml" Id="R05772aee44424aa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fa444ed4f934635" /><Relationship Type="http://schemas.openxmlformats.org/officeDocument/2006/relationships/notesSlide" Target="/ppt/notesSlides/notesSlide45.xml" Id="Rfea610043ec84c8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4aeff3757fc45a2" /><Relationship Type="http://schemas.openxmlformats.org/officeDocument/2006/relationships/notesSlide" Target="/ppt/notesSlides/notesSlide46.xml" Id="R269d736c0c5b4b9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8600c59a050415e" /><Relationship Type="http://schemas.openxmlformats.org/officeDocument/2006/relationships/notesSlide" Target="/ppt/notesSlides/notesSlide47.xml" Id="Rad79734b493f45c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ab4d92b438e406d" /><Relationship Type="http://schemas.openxmlformats.org/officeDocument/2006/relationships/notesSlide" Target="/ppt/notesSlides/notesSlide48.xml" Id="Rcd08fc2dc82f4de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74a7f667bc64c60" /><Relationship Type="http://schemas.openxmlformats.org/officeDocument/2006/relationships/notesSlide" Target="/ppt/notesSlides/notesSlide49.xml" Id="R9c3c38e176f8409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dd610c34320483a" /><Relationship Type="http://schemas.openxmlformats.org/officeDocument/2006/relationships/notesSlide" Target="/ppt/notesSlides/notesSlide50.xml" Id="R629e36582c6440b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68fbe19cb104a08" /><Relationship Type="http://schemas.openxmlformats.org/officeDocument/2006/relationships/notesSlide" Target="/ppt/notesSlides/notesSlide51.xml" Id="Rf358f7c33494468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6b0d9d6c8f5b4fa7" /><Relationship Type="http://schemas.openxmlformats.org/officeDocument/2006/relationships/notesSlide" Target="/ppt/notesSlides/notesSlide52.xml" Id="Rff9f1c11cb1e478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e9b5e197ee74ca9" /><Relationship Type="http://schemas.openxmlformats.org/officeDocument/2006/relationships/notesSlide" Target="/ppt/notesSlides/notesSlide53.xml" Id="R23493a09f60240e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85232f920f9a4168" /><Relationship Type="http://schemas.openxmlformats.org/officeDocument/2006/relationships/notesSlide" Target="/ppt/notesSlides/notesSlide54.xml" Id="Rb5e532ead84442f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cabce4919a14041" /><Relationship Type="http://schemas.openxmlformats.org/officeDocument/2006/relationships/notesSlide" Target="/ppt/notesSlides/notesSlide55.xml" Id="R5efabe842ae641b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1359c5e0b934a88" /><Relationship Type="http://schemas.openxmlformats.org/officeDocument/2006/relationships/notesSlide" Target="/ppt/notesSlides/notesSlide56.xml" Id="R8c840104c20c4da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09be66d8aee54d36" /><Relationship Type="http://schemas.openxmlformats.org/officeDocument/2006/relationships/notesSlide" Target="/ppt/notesSlides/notesSlide57.xml" Id="Rce7397f505de499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f86a9b450d1a487f" /><Relationship Type="http://schemas.openxmlformats.org/officeDocument/2006/relationships/notesSlide" Target="/ppt/notesSlides/notesSlide58.xml" Id="Re241bb89beb3421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e264336dd8304d2c" /><Relationship Type="http://schemas.openxmlformats.org/officeDocument/2006/relationships/notesSlide" Target="/ppt/notesSlides/notesSlide59.xml" Id="R8a8abb0be4e34e2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c487f5aecfd94756" /><Relationship Type="http://schemas.openxmlformats.org/officeDocument/2006/relationships/notesSlide" Target="/ppt/notesSlides/notesSlide60.xml" Id="R38cc3d6cd32b4ea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b7548d6fbc140d8" /><Relationship Type="http://schemas.openxmlformats.org/officeDocument/2006/relationships/notesSlide" Target="/ppt/notesSlides/notesSlide61.xml" Id="Rb0682d75eb08419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a11594e3a7d48e5" /><Relationship Type="http://schemas.openxmlformats.org/officeDocument/2006/relationships/notesSlide" Target="/ppt/notesSlides/notesSlide62.xml" Id="Rd541d8537ca647c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6967e372c8374143" /><Relationship Type="http://schemas.openxmlformats.org/officeDocument/2006/relationships/notesSlide" Target="/ppt/notesSlides/notesSlide63.xml" Id="Rbfc837eb35d14e4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8780bbb996e44fb0" /><Relationship Type="http://schemas.openxmlformats.org/officeDocument/2006/relationships/notesSlide" Target="/ppt/notesSlides/notesSlide64.xml" Id="R63e5700dfca54bd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c9c8242ea3d44b92" /><Relationship Type="http://schemas.openxmlformats.org/officeDocument/2006/relationships/notesSlide" Target="/ppt/notesSlides/notesSlide65.xml" Id="Re7bfc9b88f554a3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299a0a1d0b704eae" /><Relationship Type="http://schemas.openxmlformats.org/officeDocument/2006/relationships/notesSlide" Target="/ppt/notesSlides/notesSlide66.xml" Id="R07cb25cd8d7d478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3f76220fa314639" /><Relationship Type="http://schemas.openxmlformats.org/officeDocument/2006/relationships/notesSlide" Target="/ppt/notesSlides/notesSlide67.xml" Id="Rae91b9f897044e8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98dd15325ba842a8" /><Relationship Type="http://schemas.openxmlformats.org/officeDocument/2006/relationships/notesSlide" Target="/ppt/notesSlides/notesSlide68.xml" Id="Rc697d11e09c149d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2cd17b6611d40c4" /><Relationship Type="http://schemas.openxmlformats.org/officeDocument/2006/relationships/notesSlide" Target="/ppt/notesSlides/notesSlide69.xml" Id="R204aa21594b24db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78971ac2136c4bf0" /><Relationship Type="http://schemas.openxmlformats.org/officeDocument/2006/relationships/notesSlide" Target="/ppt/notesSlides/notesSlide70.xml" Id="R838ef6a4973b4f5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9d8ea3ca9eba4f95" /><Relationship Type="http://schemas.openxmlformats.org/officeDocument/2006/relationships/notesSlide" Target="/ppt/notesSlides/notesSlide71.xml" Id="R1e19a27199a8471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60ab6a6de38a483b" /><Relationship Type="http://schemas.openxmlformats.org/officeDocument/2006/relationships/notesSlide" Target="/ppt/notesSlides/notesSlide72.xml" Id="Rcc7e960fe14b410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b034c97a16e64554" /><Relationship Type="http://schemas.openxmlformats.org/officeDocument/2006/relationships/notesSlide" Target="/ppt/notesSlides/notesSlide73.xml" Id="R4bddb39d2cc44d1c"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7704abaf807e45f1" /><Relationship Type="http://schemas.openxmlformats.org/officeDocument/2006/relationships/notesSlide" Target="/ppt/notesSlides/notesSlide74.xml" Id="R768f6d0e415f405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5a34e7e6212346b6" /><Relationship Type="http://schemas.openxmlformats.org/officeDocument/2006/relationships/notesSlide" Target="/ppt/notesSlides/notesSlide75.xml" Id="R747a5de626aa4d9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98a84c1c26314ae2" /><Relationship Type="http://schemas.openxmlformats.org/officeDocument/2006/relationships/notesSlide" Target="/ppt/notesSlides/notesSlide76.xml" Id="Re790e07e3d26403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790bab5ecb414671" /><Relationship Type="http://schemas.openxmlformats.org/officeDocument/2006/relationships/notesSlide" Target="/ppt/notesSlides/notesSlide77.xml" Id="R66d2708c68644a2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1c4d982b928e4be2" /><Relationship Type="http://schemas.openxmlformats.org/officeDocument/2006/relationships/notesSlide" Target="/ppt/notesSlides/notesSlide78.xml" Id="R67910de8bb6b4dc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963c8b68b315434b" /><Relationship Type="http://schemas.openxmlformats.org/officeDocument/2006/relationships/notesSlide" Target="/ppt/notesSlides/notesSlide79.xml" Id="R9e52a7603d2a424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edab815370e44d67" /><Relationship Type="http://schemas.openxmlformats.org/officeDocument/2006/relationships/notesSlide" Target="/ppt/notesSlides/notesSlide80.xml" Id="Rb9001b8f619947e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4d5c110e71e347d8" /><Relationship Type="http://schemas.openxmlformats.org/officeDocument/2006/relationships/notesSlide" Target="/ppt/notesSlides/notesSlide81.xml" Id="Ra6ee0cbaadbb4b2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ef3cb928d2304084" /><Relationship Type="http://schemas.openxmlformats.org/officeDocument/2006/relationships/notesSlide" Target="/ppt/notesSlides/notesSlide82.xml" Id="Rb0497285163a48d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612191df64354ea4" /><Relationship Type="http://schemas.openxmlformats.org/officeDocument/2006/relationships/notesSlide" Target="/ppt/notesSlides/notesSlide83.xml" Id="R13952e87f1fc412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b4f3aa5169d4ecf" /><Relationship Type="http://schemas.openxmlformats.org/officeDocument/2006/relationships/notesSlide" Target="/ppt/notesSlides/notesSlide84.xml" Id="R31217a725b3f4f5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84184615e1b04faf" /><Relationship Type="http://schemas.openxmlformats.org/officeDocument/2006/relationships/notesSlide" Target="/ppt/notesSlides/notesSlide85.xml" Id="R8f5f57b1529042b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21bee6c2233947de" /><Relationship Type="http://schemas.openxmlformats.org/officeDocument/2006/relationships/notesSlide" Target="/ppt/notesSlides/notesSlide86.xml" Id="Rbe494d134c3f41b4"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adffedf8e35b4f5b" /><Relationship Type="http://schemas.openxmlformats.org/officeDocument/2006/relationships/notesSlide" Target="/ppt/notesSlides/notesSlide87.xml" Id="Rd77b9680f256411f"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8a308ce4284d4827" /><Relationship Type="http://schemas.openxmlformats.org/officeDocument/2006/relationships/notesSlide" Target="/ppt/notesSlides/notesSlide88.xml" Id="R8fd51fc2843c4f1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5d005138f2e84da4" /><Relationship Type="http://schemas.openxmlformats.org/officeDocument/2006/relationships/notesSlide" Target="/ppt/notesSlides/notesSlide89.xml" Id="R8167c4ee3ba0485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8b9b8dbfb1174cec" /><Relationship Type="http://schemas.openxmlformats.org/officeDocument/2006/relationships/notesSlide" Target="/ppt/notesSlides/notesSlide90.xml" Id="Rcb9971ebffe9413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fe25d4157a97440f" /><Relationship Type="http://schemas.openxmlformats.org/officeDocument/2006/relationships/notesSlide" Target="/ppt/notesSlides/notesSlide91.xml" Id="R87bc17339d8f4fda"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15079be7283a40d4" /><Relationship Type="http://schemas.openxmlformats.org/officeDocument/2006/relationships/notesSlide" Target="/ppt/notesSlides/notesSlide92.xml" Id="R91bb227b659949a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8d9c903ade0d45e5" /><Relationship Type="http://schemas.openxmlformats.org/officeDocument/2006/relationships/notesSlide" Target="/ppt/notesSlides/notesSlide93.xml" Id="Rad57143fb9f24a9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0b7334e8b5104719" /><Relationship Type="http://schemas.openxmlformats.org/officeDocument/2006/relationships/notesSlide" Target="/ppt/notesSlides/notesSlide94.xml" Id="Reb0468f14337415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42521a87bd4e4599" /><Relationship Type="http://schemas.openxmlformats.org/officeDocument/2006/relationships/notesSlide" Target="/ppt/notesSlides/notesSlide95.xml" Id="R47ccf4c7d09a4d3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0837b4b9478e4023" /><Relationship Type="http://schemas.openxmlformats.org/officeDocument/2006/relationships/notesSlide" Target="/ppt/notesSlides/notesSlide96.xml" Id="R29587b497a3747e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35d34a15e82d42d7" /><Relationship Type="http://schemas.openxmlformats.org/officeDocument/2006/relationships/notesSlide" Target="/ppt/notesSlides/notesSlide97.xml" Id="Rf46e933cdc2b4836"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ce2d864e6b1d4d96" /><Relationship Type="http://schemas.openxmlformats.org/officeDocument/2006/relationships/notesSlide" Target="/ppt/notesSlides/notesSlide98.xml" Id="R43988ae3b044464f"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24908db3af74451f" /><Relationship Type="http://schemas.openxmlformats.org/officeDocument/2006/relationships/notesSlide" Target="/ppt/notesSlides/notesSlide99.xml" Id="R2a7b399959d74091"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0f6529829424424b" /><Relationship Type="http://schemas.openxmlformats.org/officeDocument/2006/relationships/notesSlide" Target="/ppt/notesSlides/notesSlide100.xml" Id="Ra4ab26bbe0b04d60"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c66f4b56caf54aae" /><Relationship Type="http://schemas.openxmlformats.org/officeDocument/2006/relationships/notesSlide" Target="/ppt/notesSlides/notesSlide101.xml" Id="R9dea0a699f3d48de"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77b5123c798542d1" /><Relationship Type="http://schemas.openxmlformats.org/officeDocument/2006/relationships/notesSlide" Target="/ppt/notesSlides/notesSlide102.xml" Id="Rdbb5137a889d48bb"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90dea3511909494e" /><Relationship Type="http://schemas.openxmlformats.org/officeDocument/2006/relationships/notesSlide" Target="/ppt/notesSlides/notesSlide103.xml" Id="R79ba4e6e1fb741d0"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495b76aadd6e401a" /><Relationship Type="http://schemas.openxmlformats.org/officeDocument/2006/relationships/notesSlide" Target="/ppt/notesSlides/notesSlide104.xml" Id="Rbfbfd5b2bfea451c"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b0e09a374b544cae" /><Relationship Type="http://schemas.openxmlformats.org/officeDocument/2006/relationships/notesSlide" Target="/ppt/notesSlides/notesSlide105.xml" Id="R26be5691b0024c87"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4b28fae2f87447dc" /><Relationship Type="http://schemas.openxmlformats.org/officeDocument/2006/relationships/notesSlide" Target="/ppt/notesSlides/notesSlide106.xml" Id="Redac3984bd71471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336e41bb281e40b5" /><Relationship Type="http://schemas.openxmlformats.org/officeDocument/2006/relationships/notesSlide" Target="/ppt/notesSlides/notesSlide107.xml" Id="Ra426d31c8c21472f"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7b04ecce5bdd453c" /><Relationship Type="http://schemas.openxmlformats.org/officeDocument/2006/relationships/notesSlide" Target="/ppt/notesSlides/notesSlide108.xml" Id="R2b1c67fcf8f54a4b"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b520697e841c4c2a" /><Relationship Type="http://schemas.openxmlformats.org/officeDocument/2006/relationships/notesSlide" Target="/ppt/notesSlides/notesSlide109.xml" Id="R334de6f863974fe3"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b622fb0592e94e55" /><Relationship Type="http://schemas.openxmlformats.org/officeDocument/2006/relationships/notesSlide" Target="/ppt/notesSlides/notesSlide110.xml" Id="R18254747b531411e"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14e9e2085cbe4e36" /><Relationship Type="http://schemas.openxmlformats.org/officeDocument/2006/relationships/notesSlide" Target="/ppt/notesSlides/notesSlide111.xml" Id="R9a65ffc1d09f4690"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0fd15318d5c14916" /><Relationship Type="http://schemas.openxmlformats.org/officeDocument/2006/relationships/notesSlide" Target="/ppt/notesSlides/notesSlide112.xml" Id="Re0797ee68c0746e2"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0ca9a402297f47ec" /><Relationship Type="http://schemas.openxmlformats.org/officeDocument/2006/relationships/notesSlide" Target="/ppt/notesSlides/notesSlide113.xml" Id="Ra1ac599b6da048bb"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08f6665741a7439d" /><Relationship Type="http://schemas.openxmlformats.org/officeDocument/2006/relationships/notesSlide" Target="/ppt/notesSlides/notesSlide114.xml" Id="R1a10aacef52a4627"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0d0c7455a82241fb" /><Relationship Type="http://schemas.openxmlformats.org/officeDocument/2006/relationships/notesSlide" Target="/ppt/notesSlides/notesSlide115.xml" Id="R09ed778d98894e1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3eb9b233e0bb46e1" /><Relationship Type="http://schemas.openxmlformats.org/officeDocument/2006/relationships/notesSlide" Target="/ppt/notesSlides/notesSlide116.xml" Id="R53a87518a6c24186"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67efa878070b413a" /><Relationship Type="http://schemas.openxmlformats.org/officeDocument/2006/relationships/notesSlide" Target="/ppt/notesSlides/notesSlide117.xml" Id="R92546ba74b694da1"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b47940d6b4dd45e7" /><Relationship Type="http://schemas.openxmlformats.org/officeDocument/2006/relationships/notesSlide" Target="/ppt/notesSlides/notesSlide118.xml" Id="Re716d05cdcd442c9"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2b8b621ddfe44cb5" /><Relationship Type="http://schemas.openxmlformats.org/officeDocument/2006/relationships/notesSlide" Target="/ppt/notesSlides/notesSlide119.xml" Id="Rcbfb9643d31741a8"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43fed8355f7f4aed" /><Relationship Type="http://schemas.openxmlformats.org/officeDocument/2006/relationships/notesSlide" Target="/ppt/notesSlides/notesSlide120.xml" Id="R4d0fa95dae874241"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a56d4934caa042c0" /><Relationship Type="http://schemas.openxmlformats.org/officeDocument/2006/relationships/notesSlide" Target="/ppt/notesSlides/notesSlide121.xml" Id="R6934222a96ba42e6"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edab4d50009d4229" /><Relationship Type="http://schemas.openxmlformats.org/officeDocument/2006/relationships/notesSlide" Target="/ppt/notesSlides/notesSlide122.xml" Id="R55b341a79ea643b0"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4454982e01af444d" /><Relationship Type="http://schemas.openxmlformats.org/officeDocument/2006/relationships/notesSlide" Target="/ppt/notesSlides/notesSlide123.xml" Id="R2ce847cb83cc4f63"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8b45d849c6854366" /><Relationship Type="http://schemas.openxmlformats.org/officeDocument/2006/relationships/notesSlide" Target="/ppt/notesSlides/notesSlide124.xml" Id="R509b7301d0224aaa"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6c37620f2c3748b6" /><Relationship Type="http://schemas.openxmlformats.org/officeDocument/2006/relationships/notesSlide" Target="/ppt/notesSlides/notesSlide125.xml" Id="R39d072ce498f41bb"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07e49211b6db4a50" /><Relationship Type="http://schemas.openxmlformats.org/officeDocument/2006/relationships/notesSlide" Target="/ppt/notesSlides/notesSlide126.xml" Id="R2c73e87b006f49e4"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725e2ff1e3334306" /><Relationship Type="http://schemas.openxmlformats.org/officeDocument/2006/relationships/notesSlide" Target="/ppt/notesSlides/notesSlide127.xml" Id="Rcd592906bc654820"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37a73e6d84014739" /><Relationship Type="http://schemas.openxmlformats.org/officeDocument/2006/relationships/notesSlide" Target="/ppt/notesSlides/notesSlide128.xml" Id="R494b303de11c41be"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3c02f34b4bcb494f" /><Relationship Type="http://schemas.openxmlformats.org/officeDocument/2006/relationships/notesSlide" Target="/ppt/notesSlides/notesSlide129.xml" Id="Ra7630c154a5944dd"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9498e973d6484e40" /><Relationship Type="http://schemas.openxmlformats.org/officeDocument/2006/relationships/notesSlide" Target="/ppt/notesSlides/notesSlide130.xml" Id="Rf0e7f95037464d4e"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2f1c0e31eec44c91" /><Relationship Type="http://schemas.openxmlformats.org/officeDocument/2006/relationships/notesSlide" Target="/ppt/notesSlides/notesSlide131.xml" Id="R09c443ffe8b34347"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e95d4b7ff81c465a" /><Relationship Type="http://schemas.openxmlformats.org/officeDocument/2006/relationships/notesSlide" Target="/ppt/notesSlides/notesSlide132.xml" Id="Rbce7f15408cd4cf7"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795c3042b7e549ca" /><Relationship Type="http://schemas.openxmlformats.org/officeDocument/2006/relationships/notesSlide" Target="/ppt/notesSlides/notesSlide133.xml" Id="R8302813f91624f4f"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4e74babbb91a4f82" /><Relationship Type="http://schemas.openxmlformats.org/officeDocument/2006/relationships/notesSlide" Target="/ppt/notesSlides/notesSlide134.xml" Id="Rd7bbb790c9984b50"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809ac413892d4faf" /><Relationship Type="http://schemas.openxmlformats.org/officeDocument/2006/relationships/notesSlide" Target="/ppt/notesSlides/notesSlide135.xml" Id="Rc46ee51ec236468a"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11b8a7fa51514c7a" /><Relationship Type="http://schemas.openxmlformats.org/officeDocument/2006/relationships/notesSlide" Target="/ppt/notesSlides/notesSlide136.xml" Id="Rdcf6fa7d238c4d37"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f6452d8e1a9f4d45" /><Relationship Type="http://schemas.openxmlformats.org/officeDocument/2006/relationships/notesSlide" Target="/ppt/notesSlides/notesSlide137.xml" Id="R8705cd9353f34dbf"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397d07fc6d3d40ef" /><Relationship Type="http://schemas.openxmlformats.org/officeDocument/2006/relationships/notesSlide" Target="/ppt/notesSlides/notesSlide138.xml" Id="Rf4a7d38746864aed"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c335a7064c9d4377" /><Relationship Type="http://schemas.openxmlformats.org/officeDocument/2006/relationships/notesSlide" Target="/ppt/notesSlides/notesSlide139.xml" Id="R4bbc96bc04d240ad"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586346be3858448f" /><Relationship Type="http://schemas.openxmlformats.org/officeDocument/2006/relationships/notesSlide" Target="/ppt/notesSlides/notesSlide140.xml" Id="R0f0f35e7945f4a51"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11b2510389474ed5" /><Relationship Type="http://schemas.openxmlformats.org/officeDocument/2006/relationships/notesSlide" Target="/ppt/notesSlides/notesSlide141.xml" Id="Refc2ac84fb0e45f1"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3b12a7c9ae884e87" /><Relationship Type="http://schemas.openxmlformats.org/officeDocument/2006/relationships/notesSlide" Target="/ppt/notesSlides/notesSlide142.xml" Id="R2f8f13d6ca364132"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bf07b90e89be4e51" /><Relationship Type="http://schemas.openxmlformats.org/officeDocument/2006/relationships/notesSlide" Target="/ppt/notesSlides/notesSlide143.xml" Id="R6a2a53f64bfc425b"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4770192c0bf74f21" /><Relationship Type="http://schemas.openxmlformats.org/officeDocument/2006/relationships/notesSlide" Target="/ppt/notesSlides/notesSlide144.xml" Id="R150a4123009e4a70"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b3a4e91637974ac8" /><Relationship Type="http://schemas.openxmlformats.org/officeDocument/2006/relationships/notesSlide" Target="/ppt/notesSlides/notesSlide145.xml" Id="R4f9b44db4b514c17"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c21b3968ba52492d" /><Relationship Type="http://schemas.openxmlformats.org/officeDocument/2006/relationships/notesSlide" Target="/ppt/notesSlides/notesSlide146.xml" Id="Rea3627e0f0814ffd"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16d12ed62d86497e" /><Relationship Type="http://schemas.openxmlformats.org/officeDocument/2006/relationships/notesSlide" Target="/ppt/notesSlides/notesSlide147.xml" Id="R17d3e2648da1429d"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ab17b5f84d1c4f38" /><Relationship Type="http://schemas.openxmlformats.org/officeDocument/2006/relationships/notesSlide" Target="/ppt/notesSlides/notesSlide148.xml" Id="R2c703241280b493a"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bc0afeccb14346a7" /><Relationship Type="http://schemas.openxmlformats.org/officeDocument/2006/relationships/notesSlide" Target="/ppt/notesSlides/notesSlide149.xml" Id="Rdfc9a6d6b8a24177"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d32ea07aa5634899" /><Relationship Type="http://schemas.openxmlformats.org/officeDocument/2006/relationships/notesSlide" Target="/ppt/notesSlides/notesSlide150.xml" Id="R34e159fc45c14dca"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40d5ae5d12d349ee" /><Relationship Type="http://schemas.openxmlformats.org/officeDocument/2006/relationships/notesSlide" Target="/ppt/notesSlides/notesSlide151.xml" Id="R5945335fcddb42b3"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09802985eb1b40db" /><Relationship Type="http://schemas.openxmlformats.org/officeDocument/2006/relationships/notesSlide" Target="/ppt/notesSlides/notesSlide152.xml" Id="R75c8b75877294260"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df7a505d2913453e" /><Relationship Type="http://schemas.openxmlformats.org/officeDocument/2006/relationships/notesSlide" Target="/ppt/notesSlides/notesSlide153.xml" Id="Rda2060560d754c1b"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447c139ef7aa42d3" /><Relationship Type="http://schemas.openxmlformats.org/officeDocument/2006/relationships/notesSlide" Target="/ppt/notesSlides/notesSlide154.xml" Id="R52d780b0eee1497d"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6e7260dbd6fb4a53" /><Relationship Type="http://schemas.openxmlformats.org/officeDocument/2006/relationships/notesSlide" Target="/ppt/notesSlides/notesSlide155.xml" Id="R8244b798d1b24d8c"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5c0163741cc7429d" /><Relationship Type="http://schemas.openxmlformats.org/officeDocument/2006/relationships/notesSlide" Target="/ppt/notesSlides/notesSlide156.xml" Id="R598f5cd2d2d44574"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dd3aca833723458f" /><Relationship Type="http://schemas.openxmlformats.org/officeDocument/2006/relationships/notesSlide" Target="/ppt/notesSlides/notesSlide157.xml" Id="Rc28d1135727f4f14"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ee0d1dd9e5624df8" /><Relationship Type="http://schemas.openxmlformats.org/officeDocument/2006/relationships/notesSlide" Target="/ppt/notesSlides/notesSlide158.xml" Id="R539cc84430e04b61"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8c95765acbb24a9f" /><Relationship Type="http://schemas.openxmlformats.org/officeDocument/2006/relationships/notesSlide" Target="/ppt/notesSlides/notesSlide159.xml" Id="R1ecd38c0fdca44de"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6b996392e5e74abd" /><Relationship Type="http://schemas.openxmlformats.org/officeDocument/2006/relationships/notesSlide" Target="/ppt/notesSlides/notesSlide160.xml" Id="Rc22ad773443b415d"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18254bd701884090" /><Relationship Type="http://schemas.openxmlformats.org/officeDocument/2006/relationships/notesSlide" Target="/ppt/notesSlides/notesSlide161.xml" Id="Rac7f174eaacb4f35"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d80178acbf1d40f8" /><Relationship Type="http://schemas.openxmlformats.org/officeDocument/2006/relationships/notesSlide" Target="/ppt/notesSlides/notesSlide162.xml" Id="Rffc9c8439b234705"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0a349e2547ac4192" /><Relationship Type="http://schemas.openxmlformats.org/officeDocument/2006/relationships/notesSlide" Target="/ppt/notesSlides/notesSlide163.xml" Id="R60c69113650e4b26"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c1e20c425f0a4afe" /><Relationship Type="http://schemas.openxmlformats.org/officeDocument/2006/relationships/notesSlide" Target="/ppt/notesSlides/notesSlide164.xml" Id="R934931f9e0544ccd"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3af5ff38c0f7429a" /><Relationship Type="http://schemas.openxmlformats.org/officeDocument/2006/relationships/notesSlide" Target="/ppt/notesSlides/notesSlide165.xml" Id="R11c41b2beab44d8e"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4a2d7ff3d52e47ff" /><Relationship Type="http://schemas.openxmlformats.org/officeDocument/2006/relationships/notesSlide" Target="/ppt/notesSlides/notesSlide166.xml" Id="Rb148f77e503e4f4b"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f1125749ee2945cf" /><Relationship Type="http://schemas.openxmlformats.org/officeDocument/2006/relationships/notesSlide" Target="/ppt/notesSlides/notesSlide167.xml" Id="R18edde045f4841e2"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5e7061f9a90e4309" /><Relationship Type="http://schemas.openxmlformats.org/officeDocument/2006/relationships/notesSlide" Target="/ppt/notesSlides/notesSlide168.xml" Id="R54d960657c0247a6"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68b48e0728aa4d52" /><Relationship Type="http://schemas.openxmlformats.org/officeDocument/2006/relationships/notesSlide" Target="/ppt/notesSlides/notesSlide169.xml" Id="Re449bd835fd24119"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259bc040d80749e7" /><Relationship Type="http://schemas.openxmlformats.org/officeDocument/2006/relationships/notesSlide" Target="/ppt/notesSlides/notesSlide170.xml" Id="Ra8c89de52a274803"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a85d436cd3ac4525" /><Relationship Type="http://schemas.openxmlformats.org/officeDocument/2006/relationships/notesSlide" Target="/ppt/notesSlides/notesSlide171.xml" Id="R5ed0703913c54813"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ed52ac4729374feb" /><Relationship Type="http://schemas.openxmlformats.org/officeDocument/2006/relationships/notesSlide" Target="/ppt/notesSlides/notesSlide172.xml" Id="R192fc18306f34634"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9577eae09b0e409b" /><Relationship Type="http://schemas.openxmlformats.org/officeDocument/2006/relationships/notesSlide" Target="/ppt/notesSlides/notesSlide173.xml" Id="Red567ab98d054fb0"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d2f0c23066a84813" /><Relationship Type="http://schemas.openxmlformats.org/officeDocument/2006/relationships/notesSlide" Target="/ppt/notesSlides/notesSlide174.xml" Id="R23085739b99b4fd0"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9bf1af690e1b4946" /><Relationship Type="http://schemas.openxmlformats.org/officeDocument/2006/relationships/notesSlide" Target="/ppt/notesSlides/notesSlide175.xml" Id="R212f08ad884146eb"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a5bb4082a9a547d2" /><Relationship Type="http://schemas.openxmlformats.org/officeDocument/2006/relationships/notesSlide" Target="/ppt/notesSlides/notesSlide176.xml" Id="R69643adc7b794cf6"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0a60f963654a4a05" /><Relationship Type="http://schemas.openxmlformats.org/officeDocument/2006/relationships/notesSlide" Target="/ppt/notesSlides/notesSlide177.xml" Id="R537885b6a30643a4"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dd124d5d3afe41d7" /><Relationship Type="http://schemas.openxmlformats.org/officeDocument/2006/relationships/notesSlide" Target="/ppt/notesSlides/notesSlide178.xml" Id="R6bb2e09cd7eb4667"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0c55a761f3054d89" /><Relationship Type="http://schemas.openxmlformats.org/officeDocument/2006/relationships/notesSlide" Target="/ppt/notesSlides/notesSlide179.xml" Id="Rbd2946eb33e04af2"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ec1bcd1a9a2e42d8" /><Relationship Type="http://schemas.openxmlformats.org/officeDocument/2006/relationships/notesSlide" Target="/ppt/notesSlides/notesSlide180.xml" Id="R29e4d63d7e634d07"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40b4c9ec47cb4da0" /><Relationship Type="http://schemas.openxmlformats.org/officeDocument/2006/relationships/notesSlide" Target="/ppt/notesSlides/notesSlide181.xml" Id="R786b0636060745c2"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f7bf53d1939c427e" /><Relationship Type="http://schemas.openxmlformats.org/officeDocument/2006/relationships/notesSlide" Target="/ppt/notesSlides/notesSlide182.xml" Id="R3069314ffa8c4b4a"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3fd0d6b31c5d4706" /><Relationship Type="http://schemas.openxmlformats.org/officeDocument/2006/relationships/notesSlide" Target="/ppt/notesSlides/notesSlide183.xml" Id="R61f96032ab5e444e"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9e55b5524c3d4c6b" /><Relationship Type="http://schemas.openxmlformats.org/officeDocument/2006/relationships/notesSlide" Target="/ppt/notesSlides/notesSlide184.xml" Id="R10ab64c2b1fc45a8"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88bb9424921f46c1" /><Relationship Type="http://schemas.openxmlformats.org/officeDocument/2006/relationships/notesSlide" Target="/ppt/notesSlides/notesSlide185.xml" Id="R1414e8f373c142c3"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b79ebfa86d724216" /><Relationship Type="http://schemas.openxmlformats.org/officeDocument/2006/relationships/notesSlide" Target="/ppt/notesSlides/notesSlide186.xml" Id="R2859b9f4cfcf42b2"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396eb887e51d42c4" /><Relationship Type="http://schemas.openxmlformats.org/officeDocument/2006/relationships/notesSlide" Target="/ppt/notesSlides/notesSlide187.xml" Id="Rb7b234e0b6094907"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92e31ad6b26c48ad" /><Relationship Type="http://schemas.openxmlformats.org/officeDocument/2006/relationships/notesSlide" Target="/ppt/notesSlides/notesSlide188.xml" Id="R0a96aa55bc534e98"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e82ab962f8df4e5f" /><Relationship Type="http://schemas.openxmlformats.org/officeDocument/2006/relationships/notesSlide" Target="/ppt/notesSlides/notesSlide189.xml" Id="R0a92b21e53b5412b"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fd4ad4e50619410d" /><Relationship Type="http://schemas.openxmlformats.org/officeDocument/2006/relationships/notesSlide" Target="/ppt/notesSlides/notesSlide190.xml" Id="R50bcf81ffa634239"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13d820466ff14095" /><Relationship Type="http://schemas.openxmlformats.org/officeDocument/2006/relationships/notesSlide" Target="/ppt/notesSlides/notesSlide191.xml" Id="R5c7cd5ef6f4546e8"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278c95bff72f46d6" /><Relationship Type="http://schemas.openxmlformats.org/officeDocument/2006/relationships/notesSlide" Target="/ppt/notesSlides/notesSlide192.xml" Id="R342fe70c746c4561"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a8717174b3ab48dc" /><Relationship Type="http://schemas.openxmlformats.org/officeDocument/2006/relationships/notesSlide" Target="/ppt/notesSlides/notesSlide193.xml" Id="R950f00f771054b3b"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e8e4447896fb4de4" /><Relationship Type="http://schemas.openxmlformats.org/officeDocument/2006/relationships/notesSlide" Target="/ppt/notesSlides/notesSlide194.xml" Id="R7b236c4c308a4401"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c3729ef6b67042b9" /><Relationship Type="http://schemas.openxmlformats.org/officeDocument/2006/relationships/notesSlide" Target="/ppt/notesSlides/notesSlide195.xml" Id="R6cfe9fde84054071"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db660f4b7c45458d" /><Relationship Type="http://schemas.openxmlformats.org/officeDocument/2006/relationships/notesSlide" Target="/ppt/notesSlides/notesSlide196.xml" Id="Rd1caf9c780914f67"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3d1d09cbee644d25" /><Relationship Type="http://schemas.openxmlformats.org/officeDocument/2006/relationships/notesSlide" Target="/ppt/notesSlides/notesSlide197.xml" Id="Rfbe9b9368e6346d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AA710F-F986-402F-83A4-D44AB3810B7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801658-D34F-43FB-8329-FF12280EA35F}"/>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EC81C433-3432-407A-8AF9-E210B6947B77}"/>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Fluids, Electrolytes, and Calculations</a:t>
            </a:r>
          </a:p>
        </p:txBody>
      </p:sp>
      <p:sp>
        <p:nvSpPr>
          <p:cNvPr id="4" name="">
            <a:extLst xmlns:a="http://schemas.openxmlformats.org/drawingml/2006/main">
              <a:ext uri="{FF2B5EF4-FFF2-40B4-BE49-F238E27FC236}">
                <a16:creationId xmlns:a16="http://schemas.microsoft.com/office/drawing/2014/main" id="{9D7211FE-BD16-4B7E-8058-0BB1A9207612}"/>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3  |  30-Hour Basic Intravenous Therapy</a:t>
            </a:r>
          </a:p>
        </p:txBody>
      </p:sp>
      <p:sp>
        <p:nvSpPr>
          <p:cNvPr id="5" name="">
            <a:extLst xmlns:a="http://schemas.openxmlformats.org/drawingml/2006/main">
              <a:ext uri="{FF2B5EF4-FFF2-40B4-BE49-F238E27FC236}">
                <a16:creationId xmlns:a16="http://schemas.microsoft.com/office/drawing/2014/main" id="{7735DC90-F9D3-4442-AB4B-6A1D278AF81F}"/>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23097809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BBE678-9432-4724-B64E-2C67074E5B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9337BC-FACF-4CFE-987A-0F83D6872F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F8935167-2673-4DB5-9FD4-6D6AE25890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D8F3E7A-293F-419C-950B-D3168DA160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465D0A9-0DCB-4E79-844B-0E5C840B5580}"/>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52751556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55BEB5-07E3-4EA8-9FFF-3C289F06E4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D4D513-7282-4320-9DAC-96327108E1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9890478C-9902-4749-9D79-EE7CC87013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EA00B24-D0E6-45FB-A3DA-D85499C429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73230C25-EF81-4DD6-91EA-C21F2437C7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0A5A3D66-D4D5-4454-B02F-A9E80FD27F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998461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7B1E8A-F774-444F-AD0C-1CAF521CD6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DE5B89-B376-48FA-ABE0-8D21E2379B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60AF4CB1-164E-433F-A5F5-EAA25B2F26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65AFFEF-E23C-47F4-9F34-7D135C593D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3FEB8C3-29D0-45B9-8E48-FABBF96390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53623CB2-5FD5-4B51-BE04-22FA1D0B5F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365897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5F08F0-BA79-4D5D-9937-83D599E159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1A01B4-660F-4EEF-A3BB-50DDFD8C5E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24FB3518-2E18-4392-9A27-BE8677C274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9FA4C88-D4CE-4083-A13D-24FE6DFBBC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66108F3-EDFF-4FAD-AE0B-E62F3F9D73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65E5065C-9A0A-4441-8421-4A3ED4CD60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7099284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2AD39A-778C-498C-8489-7AB7B43791C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83B734-69BD-4F81-A598-C9B938D403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74C77990-4257-441F-9700-3D267D7360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016FA7A-9FA2-4F40-B245-3CBF390434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4CBACC41-7440-42CC-B661-E4D9D19D5F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1D39FAEA-6227-404E-A32B-B72A04C9B4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6169677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DA2A22-DA79-46C7-B13D-9B32DA663F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AA1877-4C5C-4B20-A36D-96F2C851D8C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 Tonicity, and Electrolyte Balance 1</a:t>
            </a:r>
          </a:p>
        </p:txBody>
      </p:sp>
      <p:sp>
        <p:nvSpPr>
          <p:cNvPr id="3" name="">
            <a:extLst xmlns:a="http://schemas.openxmlformats.org/drawingml/2006/main">
              <a:ext uri="{FF2B5EF4-FFF2-40B4-BE49-F238E27FC236}">
                <a16:creationId xmlns:a16="http://schemas.microsoft.com/office/drawing/2014/main" id="{104DED8B-3322-4859-BCBC-5ED8397415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65FCCAB-A73D-4201-AC6A-490499F800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CE2F729-3089-4874-A3D7-0F2F488A2A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Body fluid is distributed between intracellular and extracellular compartments; extracellular fluid includes interstitial and intravascular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diffusion moves particles down a concentration gradient, filtration responds to pressure, and active transport uses energy.</a:t>
            </a:r>
          </a:p>
        </p:txBody>
      </p:sp>
      <p:sp>
        <p:nvSpPr>
          <p:cNvPr id="6" name="">
            <a:extLst xmlns:a="http://schemas.openxmlformats.org/drawingml/2006/main">
              <a:ext uri="{FF2B5EF4-FFF2-40B4-BE49-F238E27FC236}">
                <a16:creationId xmlns:a16="http://schemas.microsoft.com/office/drawing/2014/main" id="{B0141295-91AF-46E4-AC25-0A9B58419D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867414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DFE33E-3F21-4CFE-B01F-8058A135C5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AA35FA-55BF-48BE-8DF9-18C6AA8C2B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C239F989-3082-4B23-9324-91A629C9C3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064A97-8F8C-4F68-9A2F-DAAE368523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4EE141F-D148-4E85-8490-A321C4BBDC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Hypotonic solutions promote water movement into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Hypertonic solutions draw water from cells and require close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Solution selection depends on the order, indication, comorbidities, laboratory findings, and current evidence.</a:t>
            </a:r>
          </a:p>
        </p:txBody>
      </p:sp>
      <p:sp>
        <p:nvSpPr>
          <p:cNvPr id="6" name="">
            <a:extLst xmlns:a="http://schemas.openxmlformats.org/drawingml/2006/main">
              <a:ext uri="{FF2B5EF4-FFF2-40B4-BE49-F238E27FC236}">
                <a16:creationId xmlns:a16="http://schemas.microsoft.com/office/drawing/2014/main" id="{A35608ED-0BBF-4AC7-98A4-AF377D0B5F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155650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7FFAAC-0D99-46BB-82F2-00E7BB771E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65F2FC-EA5C-4BE8-8E9E-0899D22E88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E590CF32-6FD5-468C-8243-F2A898F42E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D6C4ECE-7349-439E-AA28-222D5D2718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B39DCCBF-A9EB-4E6D-9589-1A2DE0C2C9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deficit may produce thirst, dry mucosa, tachycardia, orthostatic changes, low urine output, weight loss, or poor skin turgor.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 may produce rapid weight gain, edema, jugular venous distention, hypertension, crackles, or dyspnea.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intake/output, daily weight, cardiopulmonary status, cognition, and relevant labs.</a:t>
            </a:r>
          </a:p>
        </p:txBody>
      </p:sp>
      <p:sp>
        <p:nvSpPr>
          <p:cNvPr id="6" name="">
            <a:extLst xmlns:a="http://schemas.openxmlformats.org/drawingml/2006/main">
              <a:ext uri="{FF2B5EF4-FFF2-40B4-BE49-F238E27FC236}">
                <a16:creationId xmlns:a16="http://schemas.microsoft.com/office/drawing/2014/main" id="{D71B4E2B-767B-4BFA-8D6A-CFA534B8AA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457385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0D4579-6F6D-4F0C-A98D-E3E70A5F40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AB6CDC-726D-444B-9FE9-6CEA95BBDE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Electrolytes</a:t>
            </a:r>
          </a:p>
        </p:txBody>
      </p:sp>
      <p:sp>
        <p:nvSpPr>
          <p:cNvPr id="3" name="">
            <a:extLst xmlns:a="http://schemas.openxmlformats.org/drawingml/2006/main">
              <a:ext uri="{FF2B5EF4-FFF2-40B4-BE49-F238E27FC236}">
                <a16:creationId xmlns:a16="http://schemas.microsoft.com/office/drawing/2014/main" id="{D7274D42-A800-42BA-AC76-99C8AAFC66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D81041A-7D6C-48C8-AAB4-BB5214C0D9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6B5D742-3392-4DEF-BCB7-BEF5B0D93E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Sodium, potassium, calcium, magnesium, chloride, phosphate, and bicarbonate support neurologic, cardiac, muscular, and acid-base function.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Abnormalities may become life-threatening; report critical results and symptoms immediately.</a:t>
            </a:r>
          </a:p>
        </p:txBody>
      </p:sp>
      <p:sp>
        <p:nvSpPr>
          <p:cNvPr id="6" name="">
            <a:extLst xmlns:a="http://schemas.openxmlformats.org/drawingml/2006/main">
              <a:ext uri="{FF2B5EF4-FFF2-40B4-BE49-F238E27FC236}">
                <a16:creationId xmlns:a16="http://schemas.microsoft.com/office/drawing/2014/main" id="{0D6BCB63-14C4-478C-ADEF-5F11AB01D1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7726119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E94950-C007-4469-B6B8-F19A574444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436708-C399-4397-AF32-BA242AE840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Core formulas</a:t>
            </a:r>
          </a:p>
        </p:txBody>
      </p:sp>
      <p:sp>
        <p:nvSpPr>
          <p:cNvPr id="3" name="">
            <a:extLst xmlns:a="http://schemas.openxmlformats.org/drawingml/2006/main">
              <a:ext uri="{FF2B5EF4-FFF2-40B4-BE49-F238E27FC236}">
                <a16:creationId xmlns:a16="http://schemas.microsoft.com/office/drawing/2014/main" id="{DA7D70F3-30EC-4CDA-B99D-813F3ACB90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D91C650-9CAC-4E4A-90A4-480540AE2F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CF158DF-649E-4B4C-A49A-5060C281A0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mL/hour = total volume (mL) / time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gtt/min = volume (mL) x drop factor (gtt/mL) / time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Volume to administer = desired dose / dose on hand x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Dose rate problems require units to cancel correctly before programming.</a:t>
            </a:r>
          </a:p>
        </p:txBody>
      </p:sp>
      <p:sp>
        <p:nvSpPr>
          <p:cNvPr id="6" name="">
            <a:extLst xmlns:a="http://schemas.openxmlformats.org/drawingml/2006/main">
              <a:ext uri="{FF2B5EF4-FFF2-40B4-BE49-F238E27FC236}">
                <a16:creationId xmlns:a16="http://schemas.microsoft.com/office/drawing/2014/main" id="{460B18E6-2DB7-42A2-87CD-193726543E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0514126"/>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678499-1861-43C9-9FDB-FEA126F9E2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96D4B7-D6D3-41E7-8280-34AC0F8B90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6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Flow Rates, Dosage Calculations, Pumps, and IV Piggyback 1</a:t>
            </a:r>
          </a:p>
        </p:txBody>
      </p:sp>
      <p:sp>
        <p:nvSpPr>
          <p:cNvPr id="3" name="">
            <a:extLst xmlns:a="http://schemas.openxmlformats.org/drawingml/2006/main">
              <a:ext uri="{FF2B5EF4-FFF2-40B4-BE49-F238E27FC236}">
                <a16:creationId xmlns:a16="http://schemas.microsoft.com/office/drawing/2014/main" id="{B8251BEB-6CB0-47CC-961D-9C4EC79BB2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478EDE7-9C19-4885-8D69-5D498A0702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E3A4767D-74A5-4738-81B7-F5DF53C63A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Always convert units, label each step, retain clinically appropriate precision, round only at the final step according to device/policy, and check whether the answer is reasonable.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an independent double check when required.</a:t>
            </a:r>
          </a:p>
        </p:txBody>
      </p:sp>
      <p:sp>
        <p:nvSpPr>
          <p:cNvPr id="6" name="">
            <a:extLst xmlns:a="http://schemas.openxmlformats.org/drawingml/2006/main">
              <a:ext uri="{FF2B5EF4-FFF2-40B4-BE49-F238E27FC236}">
                <a16:creationId xmlns:a16="http://schemas.microsoft.com/office/drawing/2014/main" id="{D09D8723-C642-4251-867D-FDFF419526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8544154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5D3FDF-1820-42F9-9EEB-94CE8B76B9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C03249-649A-4C60-A8FF-116E9C674E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Secondary infusion</a:t>
            </a:r>
          </a:p>
        </p:txBody>
      </p:sp>
      <p:sp>
        <p:nvSpPr>
          <p:cNvPr id="3" name="">
            <a:extLst xmlns:a="http://schemas.openxmlformats.org/drawingml/2006/main">
              <a:ext uri="{FF2B5EF4-FFF2-40B4-BE49-F238E27FC236}">
                <a16:creationId xmlns:a16="http://schemas.microsoft.com/office/drawing/2014/main" id="{79E21AEB-1B75-48B5-9420-B6AF682307F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16E16B-1A31-459E-B964-F480EAD1CE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8923A7E-6F1C-47DA-BF8B-969E2F157D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order and compatibility, inspect the medication, assess the patient/site, prime and connect aseptically to the correct port, position bags for the device/setup, program primary and secondary settings, open clamps, observe startup, reassess during infusion, restore/verify the primary infusion, flush as ordered, and document.</a:t>
            </a:r>
          </a:p>
        </p:txBody>
      </p:sp>
      <p:sp>
        <p:nvSpPr>
          <p:cNvPr id="6" name="">
            <a:extLst xmlns:a="http://schemas.openxmlformats.org/drawingml/2006/main">
              <a:ext uri="{FF2B5EF4-FFF2-40B4-BE49-F238E27FC236}">
                <a16:creationId xmlns:a16="http://schemas.microsoft.com/office/drawing/2014/main" id="{D807CD43-1D40-4C02-A89E-65C7F3B208A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23098662"/>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22AAF8-5AE2-4E1B-BC5F-C2CF526A1F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FE82F1-5F32-467E-A225-30FF2FD0BC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a:t>
            </a:r>
          </a:p>
        </p:txBody>
      </p:sp>
      <p:sp>
        <p:nvSpPr>
          <p:cNvPr id="3" name="">
            <a:extLst xmlns:a="http://schemas.openxmlformats.org/drawingml/2006/main">
              <a:ext uri="{FF2B5EF4-FFF2-40B4-BE49-F238E27FC236}">
                <a16:creationId xmlns:a16="http://schemas.microsoft.com/office/drawing/2014/main" id="{3B2A3819-3271-491B-848D-083095971D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7CD0853-FAD0-4DD0-ADD6-19640B96EA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C660BD0E-A01B-467D-A193-F19113B37C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3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chemical composition of blood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fluid compartments in the body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Differentiate between isotonic, hypotonic, and hypertonic solutions 4.</a:t>
            </a:r>
          </a:p>
        </p:txBody>
      </p:sp>
      <p:sp>
        <p:nvSpPr>
          <p:cNvPr id="6" name="">
            <a:extLst xmlns:a="http://schemas.openxmlformats.org/drawingml/2006/main">
              <a:ext uri="{FF2B5EF4-FFF2-40B4-BE49-F238E27FC236}">
                <a16:creationId xmlns:a16="http://schemas.microsoft.com/office/drawing/2014/main" id="{E983B3EB-D4AA-4497-BE21-A8DC7EFBF8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92F77A7-A3EE-469E-83AA-C4836D9BEE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70974288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B47A80-4B05-4918-81A8-EBFB8512A1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236B87-4C85-4EA2-A3C1-4AA79C4C5F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5A58A65C-BC16-48EC-9ADE-0BFDCC2F86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0C9B384-7647-4E96-87A6-DB001CC1AF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06599F32-2291-4B95-882E-8A172B9944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functions of water in our body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Define the role of the hydrogen ion 6.</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Define pH and list factors that cause metabolic acidosis or alkalosis 7.</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the common electrolytes and their functions 8.</a:t>
            </a:r>
          </a:p>
        </p:txBody>
      </p:sp>
      <p:sp>
        <p:nvSpPr>
          <p:cNvPr id="6" name="">
            <a:extLst xmlns:a="http://schemas.openxmlformats.org/drawingml/2006/main">
              <a:ext uri="{FF2B5EF4-FFF2-40B4-BE49-F238E27FC236}">
                <a16:creationId xmlns:a16="http://schemas.microsoft.com/office/drawing/2014/main" id="{F9BFE177-8B1A-4D66-A943-28504F1421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17213D-4C92-4DA9-B040-0AB278E25AD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311702516"/>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527062-C8C5-4B70-97D3-BCE97627A4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4604DA-1B4B-4BB8-9587-53B7A11F85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DAF67F97-3E57-49D5-B704-62D6B37EF1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B58029C-3274-4CBE-B965-B86C4B16BF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720AF791-B972-4FE2-8F55-7AF6A2EFBF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common electrolyte disturbances, and their effect on the body 9.</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common complications of fluid imbalances 10.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List methods to assess and determine fluid imbalances 11.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signs, symptoms, and treatments for electrolyte disturbances</a:t>
            </a:r>
          </a:p>
        </p:txBody>
      </p:sp>
      <p:sp>
        <p:nvSpPr>
          <p:cNvPr id="6" name="">
            <a:extLst xmlns:a="http://schemas.openxmlformats.org/drawingml/2006/main">
              <a:ext uri="{FF2B5EF4-FFF2-40B4-BE49-F238E27FC236}">
                <a16:creationId xmlns:a16="http://schemas.microsoft.com/office/drawing/2014/main" id="{7EB90526-838F-49EF-958F-208D43073A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D6A661-8118-44BF-B96D-76D8C37DF1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349355351"/>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F02932-C823-4BCF-9DA8-A86F383A11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2BE77C-0552-4C6E-B5D4-FA5072FE51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Outline</a:t>
            </a:r>
          </a:p>
        </p:txBody>
      </p:sp>
      <p:sp>
        <p:nvSpPr>
          <p:cNvPr id="3" name="">
            <a:extLst xmlns:a="http://schemas.openxmlformats.org/drawingml/2006/main">
              <a:ext uri="{FF2B5EF4-FFF2-40B4-BE49-F238E27FC236}">
                <a16:creationId xmlns:a16="http://schemas.microsoft.com/office/drawing/2014/main" id="{62E0399A-5AB7-4B29-9601-2DF8A43BCF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827539-4289-484D-977A-EBDD88B9DB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68C82176-2715-4EE9-92DC-FEA74999EB2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Components and Regulation of Homeostasis Intracellular Extracellular Vascular Interstitial Fluid and Electrolyte Regulation Osmosis Isotonic Hypotonic Hypertonic Osmolality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Diffusion Active Transport Filtration Functions of Water Cellular Metabolism Thirst Respiratory Gastrointestinal Urinary Skin Hormones Disturbances of Osmolality Hyperosmolar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Hypo-osmolar Isotonic Serum Electrolytes Sodium Potassium Chloride Magnesium Calcium</a:t>
            </a:r>
          </a:p>
        </p:txBody>
      </p:sp>
      <p:sp>
        <p:nvSpPr>
          <p:cNvPr id="6" name="">
            <a:extLst xmlns:a="http://schemas.openxmlformats.org/drawingml/2006/main">
              <a:ext uri="{FF2B5EF4-FFF2-40B4-BE49-F238E27FC236}">
                <a16:creationId xmlns:a16="http://schemas.microsoft.com/office/drawing/2014/main" id="{E204263E-815A-4EBF-B502-CC68B3754E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B744E5-177A-459B-AE16-4738EC6405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18</a:t>
            </a:r>
          </a:p>
        </p:txBody>
      </p:sp>
    </p:spTree>
    <p:extLst>
      <p:ext uri="{BB962C8B-B14F-4D97-AF65-F5344CB8AC3E}">
        <p14:creationId xmlns:p14="http://schemas.microsoft.com/office/powerpoint/2010/main" val="1903341037"/>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C80C0B-D49E-4A35-92A7-19229059D0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F7F6BE-D57E-4FC4-A21F-CFBF17729B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Disturbances</a:t>
            </a:r>
          </a:p>
        </p:txBody>
      </p:sp>
      <p:sp>
        <p:nvSpPr>
          <p:cNvPr id="3" name="">
            <a:extLst xmlns:a="http://schemas.openxmlformats.org/drawingml/2006/main">
              <a:ext uri="{FF2B5EF4-FFF2-40B4-BE49-F238E27FC236}">
                <a16:creationId xmlns:a16="http://schemas.microsoft.com/office/drawing/2014/main" id="{20F9BC30-66C2-40FE-ACE4-6538016D16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406969A-BCFA-452E-A5AE-1E3339CF96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1B1CD7C8-260D-4E2E-91B0-299C1FA219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Circulatory Muscle Gastrointestinal Kidney Respiratory Skin Hydrogen Ion Concentration pH Acid Base Balance and Imbalance Buffers Clinical Identification of Fluid and Electrolyte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Imbalances Edema Urinalysis and Output Dehydration Serological Values CBC SMA-7 Serum Osmolality Vital Signs Third Spacing Circulatory Overload Special Considerations Pediatrics Elderly</a:t>
            </a:r>
          </a:p>
        </p:txBody>
      </p:sp>
      <p:sp>
        <p:nvSpPr>
          <p:cNvPr id="6" name="">
            <a:extLst xmlns:a="http://schemas.openxmlformats.org/drawingml/2006/main">
              <a:ext uri="{FF2B5EF4-FFF2-40B4-BE49-F238E27FC236}">
                <a16:creationId xmlns:a16="http://schemas.microsoft.com/office/drawing/2014/main" id="{07A99DEC-04EF-47A4-8FB5-CECBA75F54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C6B54F-B39C-4C36-A6E2-9F475F5F0B5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19</a:t>
            </a:r>
          </a:p>
        </p:txBody>
      </p:sp>
    </p:spTree>
    <p:extLst>
      <p:ext uri="{BB962C8B-B14F-4D97-AF65-F5344CB8AC3E}">
        <p14:creationId xmlns:p14="http://schemas.microsoft.com/office/powerpoint/2010/main" val="8209478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E248B1-1367-4E29-BA18-0D6C9E29C5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1E0645-0FCD-43DC-BB74-26E9CDD191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a:t>
            </a:r>
          </a:p>
        </p:txBody>
      </p:sp>
      <p:sp>
        <p:nvSpPr>
          <p:cNvPr id="3" name="">
            <a:extLst xmlns:a="http://schemas.openxmlformats.org/drawingml/2006/main">
              <a:ext uri="{FF2B5EF4-FFF2-40B4-BE49-F238E27FC236}">
                <a16:creationId xmlns:a16="http://schemas.microsoft.com/office/drawing/2014/main" id="{BAE1CE3F-1411-4075-BA99-C90BEA27E9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C736DD0-E382-4BCE-B7A5-04FA3E29DE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5DCD3302-FA4B-4F4F-AAF2-1A78223314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functions in a constant state of flux, changing and adjusting to levels of acidity, fluid volume, and electrolytes to attain a "Homeostasis"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during illness that imbalances in the chemical and fluid content of the body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must be alert to, and aware of the signs, symptoms, and clinical values of these imbalances and be able to intervene effectively.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 normal adult, water makes us approximately 60% of the total body weight of a man, and approximately 50% of a woman.</a:t>
            </a:r>
          </a:p>
        </p:txBody>
      </p:sp>
      <p:sp>
        <p:nvSpPr>
          <p:cNvPr id="6" name="">
            <a:extLst xmlns:a="http://schemas.openxmlformats.org/drawingml/2006/main">
              <a:ext uri="{FF2B5EF4-FFF2-40B4-BE49-F238E27FC236}">
                <a16:creationId xmlns:a16="http://schemas.microsoft.com/office/drawing/2014/main" id="{6C71B51C-FB56-46AE-8AF7-EE45329DC1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B4F710-6A92-4C87-8197-D7044FDC51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478116307"/>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2D3673-6FDA-44B5-960C-8583D342BF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FA1CD07-11DF-4D72-87D2-5C0C9F85FD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B351C3A4-B6FE-4F46-AFDD-ED11B6493B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0EDE1E1-3483-406A-B428-C6E10B6C62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C62F9209-C950-4C1D-A9AA-81CA0BA1F3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body build can have much to do with the amounts of water concentration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Generally water concentration varies inversely with the amount of fat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obese people and females, who usually have a greater percentage of adipose tissue, have a lower percentage of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regardless of body size, water concentration in the body will always attempt to stay in an optimal conditional state, or a "homeostatic" condition.</a:t>
            </a:r>
          </a:p>
        </p:txBody>
      </p:sp>
      <p:sp>
        <p:nvSpPr>
          <p:cNvPr id="6" name="">
            <a:extLst xmlns:a="http://schemas.openxmlformats.org/drawingml/2006/main">
              <a:ext uri="{FF2B5EF4-FFF2-40B4-BE49-F238E27FC236}">
                <a16:creationId xmlns:a16="http://schemas.microsoft.com/office/drawing/2014/main" id="{CB8B6538-F7CB-4640-8F79-561EB9E591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88BF3F-28E5-4219-AFB8-5F9AACB257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467233286"/>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DAB605-F79D-4842-957B-45813530C1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963DD4-0DF0-42D9-BD7A-2EDFA41F9E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B315A050-41B7-48EF-B3B1-701EED42F0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ED820C5-8D93-4F6D-9A56-66ED36C641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50D2158F-91DD-4DFC-B233-316403AE27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changes in this "homeostatic" state cause disturbances in the normal functioning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Along with water, many other components are carried within those areas of fluid content and circulatory circulation.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Oxygen and Carbon Dioxide are gases that are carried on the red blood cell (Erythrocyte), specifically the Hemoglobin that float within the many miles of vessels within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plasma portion or fluid portion of blood carries electrolytes such as Sodium and Potassium along with minerals such as Calcium and Magnesium.</a:t>
            </a:r>
          </a:p>
        </p:txBody>
      </p:sp>
      <p:sp>
        <p:nvSpPr>
          <p:cNvPr id="6" name="">
            <a:extLst xmlns:a="http://schemas.openxmlformats.org/drawingml/2006/main">
              <a:ext uri="{FF2B5EF4-FFF2-40B4-BE49-F238E27FC236}">
                <a16:creationId xmlns:a16="http://schemas.microsoft.com/office/drawing/2014/main" id="{AA0912D6-6223-401B-AE06-523BB95A6E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CABEA5-D2E1-40D8-B0E5-C06E655400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12249858"/>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43419-24E4-41ED-8A92-F9EB9BA4A1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86C67E2-602B-40C3-A2EA-CF30973B90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A62197DD-F3E5-4F9D-976B-48D733D25C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41CEF18-28AA-4D9B-B7FE-41C85C467C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57535929-0B0D-4516-B687-9A548C15403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Fats, amino acids, glucose, hormones, platelets, catecholamines, etc, along with many differentiated types of cells within the body all make up the content of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contained within the cells of the body is referred to as intracellular and outside the cellular membrane, extracellular.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two compartments are separated by a semi permeable membrane that allows constant changes to occur from one compartment to another.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intracellular (ICF) compartment holds approximately 25 liters of the body's fluid and the extracellular compartment 15 liters.</a:t>
            </a:r>
          </a:p>
        </p:txBody>
      </p:sp>
      <p:sp>
        <p:nvSpPr>
          <p:cNvPr id="6" name="">
            <a:extLst xmlns:a="http://schemas.openxmlformats.org/drawingml/2006/main">
              <a:ext uri="{FF2B5EF4-FFF2-40B4-BE49-F238E27FC236}">
                <a16:creationId xmlns:a16="http://schemas.microsoft.com/office/drawing/2014/main" id="{A976FF09-1F5B-4997-B91F-92C6EC1763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F05BE8-9D53-46D1-8E7D-1C50BA01A1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274813977"/>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B1D90-2C3C-4952-B0FA-3A20D5295D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DB5C4F-4DEC-46D0-8869-A98AB9FEB8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D16AB3A4-B26A-4EF3-A6AC-C190E91AC0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94AA1A1-1FA9-4DFE-9D85-8231E8F728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015FA41C-90C9-46BC-B569-23E782FA3BA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Changes in the volume or components of the fluids can lead to serious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loss of 4 liters, for example, is serious, 8 liters can be fatal.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Normally we add to our extracellular fluid compartment by drinking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intravenous fluid administration is a fast, effective means of adding to our extracellular compartment.</a:t>
            </a:r>
          </a:p>
        </p:txBody>
      </p:sp>
      <p:sp>
        <p:nvSpPr>
          <p:cNvPr id="6" name="">
            <a:extLst xmlns:a="http://schemas.openxmlformats.org/drawingml/2006/main">
              <a:ext uri="{FF2B5EF4-FFF2-40B4-BE49-F238E27FC236}">
                <a16:creationId xmlns:a16="http://schemas.microsoft.com/office/drawing/2014/main" id="{D2FAABA4-B817-4D33-AEEA-1211137D11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C01FE3-E0D1-452A-8B45-96FCA89A28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605103205"/>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6E9ABC-D747-418F-B859-02FC9AFD1A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9FA4E9-8972-47F9-8059-F88ED413FA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617BCF6B-F233-4AB6-B1E6-7E7B816260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C6E7369-919D-4CDC-83CE-3955E82CCD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20AEE1D3-44C0-4690-B218-3FFA2D6353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losses occur through the extracellular fluid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losses occur through the lungs, intestines, and sweat.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 the most important physiological route is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gains or losses of fluid from the intracellular fluid compartment occur through the extracellular fluid compartment.</a:t>
            </a:r>
          </a:p>
        </p:txBody>
      </p:sp>
      <p:sp>
        <p:nvSpPr>
          <p:cNvPr id="6" name="">
            <a:extLst xmlns:a="http://schemas.openxmlformats.org/drawingml/2006/main">
              <a:ext uri="{FF2B5EF4-FFF2-40B4-BE49-F238E27FC236}">
                <a16:creationId xmlns:a16="http://schemas.microsoft.com/office/drawing/2014/main" id="{EE504B36-F2A8-4C68-8612-A3AD889B28E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B5D987-BE0C-464B-9BEE-08ECB58166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544648400"/>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C49E6D-B9A8-40F2-B211-B340C67A72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929891-7936-4DA5-B54F-44B69DB166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a:t>
            </a:r>
          </a:p>
        </p:txBody>
      </p:sp>
      <p:sp>
        <p:nvSpPr>
          <p:cNvPr id="3" name="">
            <a:extLst xmlns:a="http://schemas.openxmlformats.org/drawingml/2006/main">
              <a:ext uri="{FF2B5EF4-FFF2-40B4-BE49-F238E27FC236}">
                <a16:creationId xmlns:a16="http://schemas.microsoft.com/office/drawing/2014/main" id="{3AC8D6B1-1436-4077-9552-2F1715D406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606AC50-C717-457D-A2FB-1C627DB9C3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92ACA086-A97A-46CC-BFCD-130871A433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space comprises 1/4 of the compartment (plasma volume), and the remaining 3/4 is outside the blood vessels bathing the tissues (interstitial).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water, therefore, comprises 15% of body weight, and plasma 5% of body weight.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ratio between interstitial and plasma volume in an adult is 3:1, and in an infant 5:1.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infant weighing 5 kilograms with total body water content of 3.5 liters who suffers a loss of even one (1) liter of fluid may deplete the entire ECF fluid volume.</a:t>
            </a:r>
          </a:p>
        </p:txBody>
      </p:sp>
      <p:sp>
        <p:nvSpPr>
          <p:cNvPr id="6" name="">
            <a:extLst xmlns:a="http://schemas.openxmlformats.org/drawingml/2006/main">
              <a:ext uri="{FF2B5EF4-FFF2-40B4-BE49-F238E27FC236}">
                <a16:creationId xmlns:a16="http://schemas.microsoft.com/office/drawing/2014/main" id="{E9199D93-C361-4F08-AE03-90AD0F47A4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CB8102-67ED-4891-ABF9-15C8BD52984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303937898"/>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88E8EA-7BDD-4EDB-BA8C-93049B7550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59787B-49AD-4B46-9504-BBCE7D691DC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D5B11AE5-2F6B-4659-B1DB-7F5A593C2A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DC26FCA-6578-44A6-8E10-25D876D0D1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44D26FAD-A605-49FE-B721-51BDC59BD4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Process of Fluid Regulation The two types of dissolved substances in body fluids are those that break down in solution (electrolytes), and those that do not (glucose).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chloride, for example, breaks down in solution to sodium cations (+) and chloride ions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called electrolytes because they carry a mild electrical charge.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components of fluid within the body's compartments that concern us are those substances that are present in large enough amounts to influence either the electromechanical or osmotic</a:t>
            </a:r>
          </a:p>
        </p:txBody>
      </p:sp>
      <p:sp>
        <p:nvSpPr>
          <p:cNvPr id="6" name="">
            <a:extLst xmlns:a="http://schemas.openxmlformats.org/drawingml/2006/main">
              <a:ext uri="{FF2B5EF4-FFF2-40B4-BE49-F238E27FC236}">
                <a16:creationId xmlns:a16="http://schemas.microsoft.com/office/drawing/2014/main" id="{08729749-C6FD-41C6-90E3-96455480D3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981A40-9C16-4A0F-B0EF-969D39226E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919724878"/>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9FDC26-D1B0-4CD5-B03F-9D234F2485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790E90-15AF-4980-8130-FBEA293134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46B8E846-CE77-4F3E-AC6F-6D132E0A69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B1C8928-E387-4E09-8C9E-61A4947560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560C06DB-BCB4-458E-BBA3-BD2C28ED1E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activity within each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 rule, the positive (cation) and negative (anion) charged components of the fluid compartments will be present in equal amounts.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extracellular electrolytes are: Sodium, Chloride, Calcium, and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intracellular electrolytes are: Potassium, Magnesium, and Phosphate.</a:t>
            </a:r>
          </a:p>
        </p:txBody>
      </p:sp>
      <p:sp>
        <p:nvSpPr>
          <p:cNvPr id="6" name="">
            <a:extLst xmlns:a="http://schemas.openxmlformats.org/drawingml/2006/main">
              <a:ext uri="{FF2B5EF4-FFF2-40B4-BE49-F238E27FC236}">
                <a16:creationId xmlns:a16="http://schemas.microsoft.com/office/drawing/2014/main" id="{7429F826-EB60-4453-8A07-4146AA40DE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74D4DC-CDF5-4223-B4B2-251C65BBE9C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867035943"/>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99A159-1F4D-42BA-B448-FD2AE2679C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0E3494-F671-4C19-AED9-F8F8D79FDD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58B77584-2E30-47C7-9E5A-64CBEF46A8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3819D13-CB52-4329-AB17-4DAD10F087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01C3C155-9C9B-4B0B-8F63-01AA225EA3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is the dominant cation in the extracellular space, and potassium is the dominant cation in the intracellular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Within the cells, the important anions are generally large organic molecules, proteins, and phosphates.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size of the protein molecule prevents diffusion through the cell membrane into the extracellular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extracellular anion is chloride and the principle intracellular anion phosphate.</a:t>
            </a:r>
          </a:p>
        </p:txBody>
      </p:sp>
      <p:sp>
        <p:nvSpPr>
          <p:cNvPr id="6" name="">
            <a:extLst xmlns:a="http://schemas.openxmlformats.org/drawingml/2006/main">
              <a:ext uri="{FF2B5EF4-FFF2-40B4-BE49-F238E27FC236}">
                <a16:creationId xmlns:a16="http://schemas.microsoft.com/office/drawing/2014/main" id="{575D94DB-1057-4FDA-A642-A854764DED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217D34-3740-4F46-8707-B365AF9DA64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728102629"/>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A5F4EB-FC56-4198-B2EE-8D92A7DAD6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9F8614-AFDC-4165-A747-A794274D02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B8B58518-003A-4892-80F3-E2423180D6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6ED524D-AB79-4FDB-AA96-EF0E29B415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77361E61-FC5A-4A32-9918-78291C59F5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chloride anion slips freely between the compartments under the control of electrical forces.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found outside the cells for the most part, it is not considered exclusively extracellular.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fluid compartment has its own composition of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constantly strives thorough active metabolic processes to attain this stability.</a:t>
            </a:r>
          </a:p>
        </p:txBody>
      </p:sp>
      <p:sp>
        <p:nvSpPr>
          <p:cNvPr id="6" name="">
            <a:extLst xmlns:a="http://schemas.openxmlformats.org/drawingml/2006/main">
              <a:ext uri="{FF2B5EF4-FFF2-40B4-BE49-F238E27FC236}">
                <a16:creationId xmlns:a16="http://schemas.microsoft.com/office/drawing/2014/main" id="{6A75C245-4E88-49EF-AF20-EB73135FB3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E19ACC-1AD3-490E-8313-411FF08E9C8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43544217"/>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6201B5-BB81-4747-88B2-7974E72A63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D5F51AE-18EF-454B-ABBB-BCD1CB6EC7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a:t>
            </a:r>
          </a:p>
        </p:txBody>
      </p:sp>
      <p:sp>
        <p:nvSpPr>
          <p:cNvPr id="3" name="">
            <a:extLst xmlns:a="http://schemas.openxmlformats.org/drawingml/2006/main">
              <a:ext uri="{FF2B5EF4-FFF2-40B4-BE49-F238E27FC236}">
                <a16:creationId xmlns:a16="http://schemas.microsoft.com/office/drawing/2014/main" id="{D6D0D96D-7C6A-4E63-AACB-01CF868BC7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0713C8-928C-4B23-92C0-5CF9003E9C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18F02457-BD92-4965-8EB9-D12EEB6C8C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Osmosis is the exchange of water that balances molecular concentration of a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molecules move, as on a gradient, from an area of low molecular concentration to that of a greater molecular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Isotonic solution is a solution with the same molecular concentration (tonicity) as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Normal Saline (0.9%) is an isotonic solution.</a:t>
            </a:r>
          </a:p>
        </p:txBody>
      </p:sp>
      <p:sp>
        <p:nvSpPr>
          <p:cNvPr id="6" name="">
            <a:extLst xmlns:a="http://schemas.openxmlformats.org/drawingml/2006/main">
              <a:ext uri="{FF2B5EF4-FFF2-40B4-BE49-F238E27FC236}">
                <a16:creationId xmlns:a16="http://schemas.microsoft.com/office/drawing/2014/main" id="{E5F29580-C55B-44E1-B1C9-42E3CA6D02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D4454FD-24BD-4677-8978-4470A7EABB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2022801846"/>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ABE867-A197-41D1-B6CC-DEE701D355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029C6B-BE8B-4C95-B9A1-4F3A34D6E7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0B5620C8-2229-4946-84D1-F2FAD099E3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87BC78C-BDBE-4753-8E14-89F15053E0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A63B68FC-EED5-4D60-8263-65BD18BE46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will not move and the cell remains the same.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Hypotonic solution has a molecular concentration that is less than that of the cell; therefore, water will enter the cell.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shape of the cell will swell and burst.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Hypertonic solution has a molecular concentration that is greater than that of the cell and water is pulled out of the cell.</a:t>
            </a:r>
          </a:p>
        </p:txBody>
      </p:sp>
      <p:sp>
        <p:nvSpPr>
          <p:cNvPr id="6" name="">
            <a:extLst xmlns:a="http://schemas.openxmlformats.org/drawingml/2006/main">
              <a:ext uri="{FF2B5EF4-FFF2-40B4-BE49-F238E27FC236}">
                <a16:creationId xmlns:a16="http://schemas.microsoft.com/office/drawing/2014/main" id="{25F11CBE-979E-44EF-AB01-3649BE2E7F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5D3FF9-CC9F-417D-9366-34426C2D70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58511078"/>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B7E0E1-75D7-4F84-AB0B-D939B679CC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04DFBF-C4B1-4BF3-A765-3BE9D098D2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5299D9B1-80D7-4721-A47B-9F53CEF3E3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8D6A3FD-8FA4-4BC5-A166-2EE37B16AD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83E88E17-F287-478B-9B1C-BCA0027C24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cell will shrink.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Osmolality reflects the number of dissolved particles per unit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greatest contributors are electrolytes, mainly sodium and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will basically move freely from one compartment to another to ensure equal osmolality.</a:t>
            </a:r>
          </a:p>
        </p:txBody>
      </p:sp>
      <p:sp>
        <p:nvSpPr>
          <p:cNvPr id="6" name="">
            <a:extLst xmlns:a="http://schemas.openxmlformats.org/drawingml/2006/main">
              <a:ext uri="{FF2B5EF4-FFF2-40B4-BE49-F238E27FC236}">
                <a16:creationId xmlns:a16="http://schemas.microsoft.com/office/drawing/2014/main" id="{879A620B-489F-4066-9567-E638950B32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E2830DE-E0ED-4C30-826A-B7C92C7D80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2124985097"/>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C97284-C9CE-4445-AA05-D9C50AB02F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4DC6C2-E7B8-4C13-9CEB-9B30CB999D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F9EF32C7-BCFE-4C5A-825F-E79C89CCDE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86DB2F8-D922-4470-831D-8A92EB158C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4A3A6800-9868-4CFE-83FF-708709EDB7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addition of solute to solution will reduce the amount of water, and the presence of solute will change the chemical behavior of a solution, such as a slower diffusion rate.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osmolality measures the number of particles in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unit of measurement is the milli-osmole (mOsm).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Points to remember: * Normal osmolality is 280-294 mOsm/kg in relation to body fluids.</a:t>
            </a:r>
          </a:p>
        </p:txBody>
      </p:sp>
      <p:sp>
        <p:nvSpPr>
          <p:cNvPr id="6" name="">
            <a:extLst xmlns:a="http://schemas.openxmlformats.org/drawingml/2006/main">
              <a:ext uri="{FF2B5EF4-FFF2-40B4-BE49-F238E27FC236}">
                <a16:creationId xmlns:a16="http://schemas.microsoft.com/office/drawing/2014/main" id="{7019BC77-ED2C-4C6E-8203-190F3E4AB8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3C11D0-C132-41F3-8BD0-2E8317834D9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131407996"/>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C26A0E-8C09-433D-9E3B-506EF78031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BB96D6-D595-43B1-A477-30F1B03F9C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67A64E11-F0C3-48FE-AD43-175F33F76A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1156006-35A9-4232-B073-3D0EC14562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96BE6208-3754-418B-8FFC-492FA7B969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The intracellular and extracellular osmolalities are always equal.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reflects the overall hydration status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Water will diffuse from a high to low osmolality.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Because of the osmotic equilibrium, imbalances between the intracellular and extracellular compartments are rapidly seen.</a:t>
            </a:r>
          </a:p>
        </p:txBody>
      </p:sp>
      <p:sp>
        <p:nvSpPr>
          <p:cNvPr id="6" name="">
            <a:extLst xmlns:a="http://schemas.openxmlformats.org/drawingml/2006/main">
              <a:ext uri="{FF2B5EF4-FFF2-40B4-BE49-F238E27FC236}">
                <a16:creationId xmlns:a16="http://schemas.microsoft.com/office/drawing/2014/main" id="{13DFCA33-3BDE-4285-8FD4-7BEC010781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377CAE2-6A2C-47A4-8C45-B9DBFCDA41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754455330"/>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F8DCB8-2ED5-4B68-BFC4-E759F61D9F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9540E4-9DEC-42D0-BBE9-9DF185A3FC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1F3D8E5D-B867-467C-AAD8-244F85CC91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3EECA8B-0764-42D1-B57D-E7F86CB78A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A38FAA11-F319-4EC0-ACEE-58B6961015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the random movement of molecules through solution or gas.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spread from an area of greater concentration to an area of lesser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are in constant motion tending toward equal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not always easy.</a:t>
            </a:r>
          </a:p>
        </p:txBody>
      </p:sp>
      <p:sp>
        <p:nvSpPr>
          <p:cNvPr id="6" name="">
            <a:extLst xmlns:a="http://schemas.openxmlformats.org/drawingml/2006/main">
              <a:ext uri="{FF2B5EF4-FFF2-40B4-BE49-F238E27FC236}">
                <a16:creationId xmlns:a16="http://schemas.microsoft.com/office/drawing/2014/main" id="{E36F0A4D-9734-465D-A650-8C0BC1CEA4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A8E1CB-A522-4442-83D1-7E5DB63EDA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58062285"/>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D9CF17-DE08-4FE3-ABBB-A9010A01DCF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69B039-EED2-4228-8FA4-D654E7EDEB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91E756D5-9495-4E38-A1D1-89EEC42276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75CCF0D-4192-4BFB-9A49-D27E53EDA8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8AB68A66-A9B0-4859-BE60-33873B179A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Large molecules may not pass freely through the cell membrane and may require "facilitated diffusion".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Certain compounds move slowly.</a:t>
            </a:r>
          </a:p>
        </p:txBody>
      </p:sp>
      <p:sp>
        <p:nvSpPr>
          <p:cNvPr id="6" name="">
            <a:extLst xmlns:a="http://schemas.openxmlformats.org/drawingml/2006/main">
              <a:ext uri="{FF2B5EF4-FFF2-40B4-BE49-F238E27FC236}">
                <a16:creationId xmlns:a16="http://schemas.microsoft.com/office/drawing/2014/main" id="{30B5E8BC-2434-4D3D-9634-61E0CD478C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2931CC-B369-4A0C-B733-A9588F00A5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666961924"/>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619FBA-0A03-4652-9557-AA6961D125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CD8928-9414-4118-8EA9-1CDA087D6E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a:t>
            </a:r>
          </a:p>
        </p:txBody>
      </p:sp>
      <p:sp>
        <p:nvSpPr>
          <p:cNvPr id="3" name="">
            <a:extLst xmlns:a="http://schemas.openxmlformats.org/drawingml/2006/main">
              <a:ext uri="{FF2B5EF4-FFF2-40B4-BE49-F238E27FC236}">
                <a16:creationId xmlns:a16="http://schemas.microsoft.com/office/drawing/2014/main" id="{2E5ED677-7BF8-4860-B0B1-7294033D8F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5FB661E-DFD0-4047-8F6B-E5D7C823EA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3A8ACA0F-EFAD-4A9D-BBC3-03CF25210B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movement of molecule is dependent on a number of factors.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Permeability reters to the size of the molecule relative to the size of the membrane pores.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Smaller molecules (sugars) do not.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Molecular concentration also plays a factor.</a:t>
            </a:r>
          </a:p>
        </p:txBody>
      </p:sp>
      <p:sp>
        <p:nvSpPr>
          <p:cNvPr id="6" name="">
            <a:extLst xmlns:a="http://schemas.openxmlformats.org/drawingml/2006/main">
              <a:ext uri="{FF2B5EF4-FFF2-40B4-BE49-F238E27FC236}">
                <a16:creationId xmlns:a16="http://schemas.microsoft.com/office/drawing/2014/main" id="{4D60B58D-C47D-45DB-BF46-AF5E5B223D4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BA2D83-8661-44E9-B0FB-FA339C56FE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685695124"/>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DA0EF9-24B0-4D29-A900-6934762ADD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8C6BAC-BACB-4384-9425-67A2D951C2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C52EA356-1127-41DB-A172-40BF1728B2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6BF52BD-F242-4971-9F31-55A6BE752A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1173A34D-9A95-44CC-96C5-61CFB29CD7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greater the concentration of molecules, the faster the rate of diffusion occurs across the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Electrical concentration can cause diffusion despite the molecular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Active transport is the third mechanism for the movement of fluids and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requires energy in the form of adenosine triphosphate (ATP) and a carrier substance to transport sodium, potassium, chloride, amino acids, and sugars.</a:t>
            </a:r>
          </a:p>
        </p:txBody>
      </p:sp>
      <p:sp>
        <p:nvSpPr>
          <p:cNvPr id="6" name="">
            <a:extLst xmlns:a="http://schemas.openxmlformats.org/drawingml/2006/main">
              <a:ext uri="{FF2B5EF4-FFF2-40B4-BE49-F238E27FC236}">
                <a16:creationId xmlns:a16="http://schemas.microsoft.com/office/drawing/2014/main" id="{4592FDB6-BFA7-4ECC-9AFF-EBC5151634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A1276F0-B686-44FA-9FA3-46728546487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52918404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E2EAF9-80C2-446B-BBDB-6090CB847A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82314F-526A-468E-92D6-6DDA6FE4D8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9BBE088B-8049-46DE-A618-47A13DB4F8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D1E7866-F8BA-4C98-9854-E352BB7CE0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562D2755-B271-4253-BD3B-162583DEE6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process is similar to "facilitated diffusion", except active transport acts against a concentrated gradient.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the sodium pump maintains conduction and contraction in muscle and nerve tissues.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Functions of Water The function of water in our bodies is multi-faceted.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provides the base needed for cellular metabolism, and remains constant in its physical and chemical properties throughout the intracellular and extracellular fluid spaces.</a:t>
            </a:r>
          </a:p>
        </p:txBody>
      </p:sp>
      <p:sp>
        <p:nvSpPr>
          <p:cNvPr id="6" name="">
            <a:extLst xmlns:a="http://schemas.openxmlformats.org/drawingml/2006/main">
              <a:ext uri="{FF2B5EF4-FFF2-40B4-BE49-F238E27FC236}">
                <a16:creationId xmlns:a16="http://schemas.microsoft.com/office/drawing/2014/main" id="{23CDE352-67E4-4C6B-BA10-1AB0018188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7A433F-5F11-4E53-852C-599043B4C0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996389778"/>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E81D53-A55C-4583-BA13-B007DBA8CA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ED9490-D310-43E8-BB92-0C409D5A8B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DA806A40-5CB4-4122-8CBA-8ECA489A9E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090F47-8B5D-4887-A398-3592201C4D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E1C06E31-4816-48D6-8CD1-1F55A18CE0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solvency of water allows dissolution of solutes utilized in cell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of the functional duties of water include: transportation of nutrients to and from cells, assisting with temperature regulation, and aiding in digestive and excretory processes.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Filtration is the fourth mechanism whereby water and dissolved solute pass through a semi permeable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Movement is from an area of high pressure to that of a low pressure.</a:t>
            </a:r>
          </a:p>
        </p:txBody>
      </p:sp>
      <p:sp>
        <p:nvSpPr>
          <p:cNvPr id="6" name="">
            <a:extLst xmlns:a="http://schemas.openxmlformats.org/drawingml/2006/main">
              <a:ext uri="{FF2B5EF4-FFF2-40B4-BE49-F238E27FC236}">
                <a16:creationId xmlns:a16="http://schemas.microsoft.com/office/drawing/2014/main" id="{F88F9CB1-3572-4B3C-A21F-526BA43D30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162EE2-90F2-448D-B3DF-B5BD842EEE0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638352024"/>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CEA883-B2FB-4620-ABD8-953882BF15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646DEC-D722-4A5C-9869-F4B762B360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006B46E2-4ED1-4713-A3C4-6B8CCF1AD9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ACE8B56-EEC6-4DD6-8799-13EE796522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FB5B1A8C-EA06-4FD5-BAED-89F4CB95CE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force is called capillary or hydrostatic pressure.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pumping action of the heart is the energy behind 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Large molecules, such as albumin, are known as colloids.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Selective retention of these molecules is accomplished to reduce water and solute concentration in the intravascular (plasma) fluid compartment.</a:t>
            </a:r>
          </a:p>
        </p:txBody>
      </p:sp>
      <p:sp>
        <p:nvSpPr>
          <p:cNvPr id="6" name="">
            <a:extLst xmlns:a="http://schemas.openxmlformats.org/drawingml/2006/main">
              <a:ext uri="{FF2B5EF4-FFF2-40B4-BE49-F238E27FC236}">
                <a16:creationId xmlns:a16="http://schemas.microsoft.com/office/drawing/2014/main" id="{A5A3E016-C59B-41A1-A6E7-853CC304DF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88C17A7-5436-410A-B3A2-1C5A8A4FF5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245434554"/>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89F37C-B83E-4804-A791-A9685EF536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F2FF1B-5518-46D4-8DEF-0BAB64EC03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0774577D-51AA-4645-816D-85E4B0441D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050E7E3-B00B-4A91-BCFC-6157F0BE4C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F501EFAE-D83E-4CEC-8F77-E7AE35B904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interaction of the plasma albumin and hydrostatic pressure determine the movement of extracellular fluid between the interstitial and intravascular 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Regulation The organs responsible for modulation of fluid and electrolyte balance are the lungs and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lungs through the process of respiration and the skin through the process of perspiration release significant amounts of water and small amounts of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known as insensible losses.</a:t>
            </a:r>
          </a:p>
        </p:txBody>
      </p:sp>
      <p:sp>
        <p:nvSpPr>
          <p:cNvPr id="6" name="">
            <a:extLst xmlns:a="http://schemas.openxmlformats.org/drawingml/2006/main">
              <a:ext uri="{FF2B5EF4-FFF2-40B4-BE49-F238E27FC236}">
                <a16:creationId xmlns:a16="http://schemas.microsoft.com/office/drawing/2014/main" id="{ACDF9097-0FC6-4B1C-AE38-76801317BB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ACCC3BA-A359-46C7-B8F4-35BAAC13C1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184446169"/>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132984-907B-4965-860C-FE224DDED6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6B4149-B7F7-4240-BC4F-DF75D0A1C7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8AF8D38F-9135-4291-B993-158E904843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11D5C25-EA71-40D3-8CE0-09A622C4AE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66983F30-8BEA-4274-84A8-B43217E541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External factors such as fever or a hot climate can affect these significantly, and must be considered in fluid output determinations.</a:t>
            </a:r>
          </a:p>
        </p:txBody>
      </p:sp>
      <p:sp>
        <p:nvSpPr>
          <p:cNvPr id="6" name="">
            <a:extLst xmlns:a="http://schemas.openxmlformats.org/drawingml/2006/main">
              <a:ext uri="{FF2B5EF4-FFF2-40B4-BE49-F238E27FC236}">
                <a16:creationId xmlns:a16="http://schemas.microsoft.com/office/drawing/2014/main" id="{B2209234-D39B-4A16-9E67-327CF144CF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97F7663-099A-4B5A-9C2B-727FEC8533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653119451"/>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C73769-3622-4B0F-A5D2-2DF7EF3536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544FA6-EA77-44DD-B081-C6AD7E6EF0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a:t>
            </a:r>
          </a:p>
        </p:txBody>
      </p:sp>
      <p:sp>
        <p:nvSpPr>
          <p:cNvPr id="3" name="">
            <a:extLst xmlns:a="http://schemas.openxmlformats.org/drawingml/2006/main">
              <a:ext uri="{FF2B5EF4-FFF2-40B4-BE49-F238E27FC236}">
                <a16:creationId xmlns:a16="http://schemas.microsoft.com/office/drawing/2014/main" id="{090E5391-F73F-49A7-B6F5-1CACBAAA9E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4537FA2-282E-4ED4-800D-741CE6FF70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13825138-A3BE-42CA-920D-47BBC66A2DF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kidneys are the primary modulators of fluid and electrolyte 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control the * Concentration of specific electrolytes * Volume of extracellular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Blood volume * Blood pH The kidneys maintain volume and concentration of urine through the control of water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heart and blood vessels supply the kidney with significant volume making possible the regulatory process of the kidney by perfusing them with blood.</a:t>
            </a:r>
          </a:p>
        </p:txBody>
      </p:sp>
      <p:sp>
        <p:nvSpPr>
          <p:cNvPr id="6" name="">
            <a:extLst xmlns:a="http://schemas.openxmlformats.org/drawingml/2006/main">
              <a:ext uri="{FF2B5EF4-FFF2-40B4-BE49-F238E27FC236}">
                <a16:creationId xmlns:a16="http://schemas.microsoft.com/office/drawing/2014/main" id="{13B2F8FC-4679-437E-8B5F-97C37A6352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3C2E843-438F-4647-B21B-F236E81F627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452552061"/>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4532F5-4396-4B80-9F98-D9ABFD0423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0C41B6-0D17-4268-BE13-1B23B15147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CC58BB4C-2E32-4751-AEED-CEDAE864DE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70A815B-B12B-4835-A688-F323200A50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E8D011B2-E245-4B31-90F8-8A54B9B2FC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of cardiac output per heartbeat is used to perfuse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pituitary gland releases an anti-diuretic hormone (ADH), which prevents the body from losing water by increasing renal re-absorption.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ADH release is stimulated by increased osmolality (particle concentration), extracellular fluid volume depletion (dehydration), and stress.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average adult requires approximately 2500cc of fluid a day, the minimal requirements are 1500cc.</a:t>
            </a:r>
          </a:p>
        </p:txBody>
      </p:sp>
      <p:sp>
        <p:nvSpPr>
          <p:cNvPr id="6" name="">
            <a:extLst xmlns:a="http://schemas.openxmlformats.org/drawingml/2006/main">
              <a:ext uri="{FF2B5EF4-FFF2-40B4-BE49-F238E27FC236}">
                <a16:creationId xmlns:a16="http://schemas.microsoft.com/office/drawing/2014/main" id="{37EC00FC-D3CC-4015-8A21-B4486EDF5A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612F44-76DC-407F-9D71-75E7C14DD2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358202960"/>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35857B-6385-44DC-BA37-487F1DC2C7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9E9852-B8C0-4E9B-9B63-4374B583D0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39C987F2-CEF4-42F1-BCC4-4485349107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824C714-168F-4190-801E-AFA45BD734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AEBBC4FA-CB18-4B38-AD66-01786AD963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adult in good condition can survive for approximately 10 days without water, a child 5 days.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Adrenal Cortical Hormones These hormones conserve sodium and chloride, excretes potassium, and enhances water re-absorption in the distal renal tubules.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Aldosterone completes this process by increasing the re-absorption of sodium, and along with it, water, while decreasing the reabsorption of potassium through the renal tubules.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adrenal cortex increases secretion of aldosterone.</a:t>
            </a:r>
          </a:p>
        </p:txBody>
      </p:sp>
      <p:sp>
        <p:nvSpPr>
          <p:cNvPr id="6" name="">
            <a:extLst xmlns:a="http://schemas.openxmlformats.org/drawingml/2006/main">
              <a:ext uri="{FF2B5EF4-FFF2-40B4-BE49-F238E27FC236}">
                <a16:creationId xmlns:a16="http://schemas.microsoft.com/office/drawing/2014/main" id="{9B0EE791-8FA6-44CE-B66F-54450876B2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CA070D-D8F9-473C-95CF-1DAB87CE9C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120814609"/>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FDA8C7-D001-4F54-8FC9-B7EC367DE9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BCE4B2-B1AD-4322-9877-38256A302E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3A96427F-B8C3-4D87-BBC5-8AE00311CC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14F4BFC-1145-46F0-A59B-5C0128FE5A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D14F0C1E-F28B-43AB-9D45-A27BF15375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Whenever extracellular sodium decreases, stress tends to cause the kidneys to retain sodium and excrete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results in many stress- related electrolyte imbalances seen in patients.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GI Tract The GI tract absorbs fluid through the process of dietary intake, absorbing approximately 7-9 liters of GI tract secretions per day, thereby replenishing the losses from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excretion by the kidneys, skin, and respiratory tract.</a:t>
            </a:r>
          </a:p>
        </p:txBody>
      </p:sp>
      <p:sp>
        <p:nvSpPr>
          <p:cNvPr id="6" name="">
            <a:extLst xmlns:a="http://schemas.openxmlformats.org/drawingml/2006/main">
              <a:ext uri="{FF2B5EF4-FFF2-40B4-BE49-F238E27FC236}">
                <a16:creationId xmlns:a16="http://schemas.microsoft.com/office/drawing/2014/main" id="{038065C6-147D-4DAA-A553-0D8E896E56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82AC42-DD5F-4C51-AC71-9CF7C64352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244406841"/>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83D1FC-04FF-4A94-981F-FE235D361A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B5D3B3-A3C9-4362-ABE6-6F7C8C4033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3B6A20AC-31A1-4EA5-9FB1-2EE3137AA5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836EE3A-3CED-4D88-A44F-2AD8F5B34E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0AD97523-FFF8-4AB2-BB01-8B13ABADF5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Thirst This mechanism regulates water intake by stimulating the Hypothalamus in the brain.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increase in body osmolality stimulates the osmo-receptors in the Hypothalamus to give the sensation of thirst, and we take a drink.</a:t>
            </a:r>
          </a:p>
        </p:txBody>
      </p:sp>
      <p:sp>
        <p:nvSpPr>
          <p:cNvPr id="6" name="">
            <a:extLst xmlns:a="http://schemas.openxmlformats.org/drawingml/2006/main">
              <a:ext uri="{FF2B5EF4-FFF2-40B4-BE49-F238E27FC236}">
                <a16:creationId xmlns:a16="http://schemas.microsoft.com/office/drawing/2014/main" id="{81B67ABA-76FB-4F05-B2D5-370CA1F3B0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A4B25C-2C47-4E36-AD1E-0EAA16A904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17568993"/>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9BD797-F70C-4CE2-BF0D-2E4F91BB0C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0210D5-AE2D-4BAD-BC2C-93D7DBD46B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a:t>
            </a:r>
          </a:p>
        </p:txBody>
      </p:sp>
      <p:sp>
        <p:nvSpPr>
          <p:cNvPr id="3" name="">
            <a:extLst xmlns:a="http://schemas.openxmlformats.org/drawingml/2006/main">
              <a:ext uri="{FF2B5EF4-FFF2-40B4-BE49-F238E27FC236}">
                <a16:creationId xmlns:a16="http://schemas.microsoft.com/office/drawing/2014/main" id="{92F688D3-B978-466C-B830-671C72266D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CE014DA-18B4-4001-8FFC-4DE528AC45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FCDA4D07-2406-4D90-9242-B810A368BB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Disturbances indicate a disturbance in water distribution among all fluid compartments and involving all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change in osmolality of one fluid compartment alters and affects all other-compartments: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of osmolar disturbances are often manifestations of cerebral dysfunction, which may include agitation, confusion, lethargy, and coma.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symptoms occur as a result of cell shrinking (hyper-osmolar state) or cell swelling (hypo-osmolar state).</a:t>
            </a:r>
          </a:p>
        </p:txBody>
      </p:sp>
      <p:sp>
        <p:nvSpPr>
          <p:cNvPr id="6" name="">
            <a:extLst xmlns:a="http://schemas.openxmlformats.org/drawingml/2006/main">
              <a:ext uri="{FF2B5EF4-FFF2-40B4-BE49-F238E27FC236}">
                <a16:creationId xmlns:a16="http://schemas.microsoft.com/office/drawing/2014/main" id="{9D599766-05B8-4BAF-B8D9-2F397F0378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FC36AC-2B80-4579-9699-C0A52A1C83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1265416989"/>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06E477-1392-445D-819D-FF6E407887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22BACE-BA9B-4ECF-B40D-F28D1B1AC0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4C5C25FA-E897-4ECA-879E-CFB743B495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EE7A02D-24F9-444A-98DE-6614579D96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396A76BA-5A20-40A7-BDEA-2BED5D2C00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Imbalances occur as a result of a change in solute (particle) and/or water concentration in a fluid compartment thereby leading to a change from an is-osmolar state.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Hyper-osmolar Imbalances This imbalance occurs as a result of water deficiency or extracellular solute overload.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water deficit, the amount of solutes is normal but they are dissolved in too little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solute excess, there are too many particles per unit of water.</a:t>
            </a:r>
          </a:p>
        </p:txBody>
      </p:sp>
      <p:sp>
        <p:nvSpPr>
          <p:cNvPr id="6" name="">
            <a:extLst xmlns:a="http://schemas.openxmlformats.org/drawingml/2006/main">
              <a:ext uri="{FF2B5EF4-FFF2-40B4-BE49-F238E27FC236}">
                <a16:creationId xmlns:a16="http://schemas.microsoft.com/office/drawing/2014/main" id="{4FC3CA7C-5DB2-4F29-8E8B-7DEDB8A1A8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E5C8CF-4777-4AFB-9E54-732874475A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1883903351"/>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D018E4-CF06-4509-9495-6CE2847A07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8D90E0-FCB9-4CEC-8BEA-37D0E4B642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91E39BAC-C9C3-49B0-88FD-969523844F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96A06AD-7D8A-4159-B7C6-CF7457FC5A9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43A2C43C-FBD9-4DE5-A569-B36C99831B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Either situation will cause cell shrinkage and dehydration.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Significant causes of water deficit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Decreased Water Intake Increased Water Output *Impaired Thirst (cerebral injury) *Emesis *Coma or severe confusion *Fever (severe diaphoresis) *Difficulty in swallowing *Diarrhea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*Unavailability of water *Diabetic Insipidus *Overload of hypertonic solutions *Overload of protein, salt or glucose * Excessive gastric feedings Nursing Interventions * Correct the</a:t>
            </a:r>
          </a:p>
        </p:txBody>
      </p:sp>
      <p:sp>
        <p:nvSpPr>
          <p:cNvPr id="6" name="">
            <a:extLst xmlns:a="http://schemas.openxmlformats.org/drawingml/2006/main">
              <a:ext uri="{FF2B5EF4-FFF2-40B4-BE49-F238E27FC236}">
                <a16:creationId xmlns:a16="http://schemas.microsoft.com/office/drawing/2014/main" id="{A772FEF9-38E4-46B1-AE77-1F5886219D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D4FBCD-2C98-4741-8FD9-231478A3252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1358568151"/>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72DA9D-9CEE-4832-9409-CDA022E044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75A37C-3398-4089-BE86-0E78D73CAA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7BEF1A65-5D87-44A2-A017-0E917790E7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DFD6A0D-9236-4196-B107-9232ED0958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ABA39291-1C48-407F-B2BC-FDF2D81F3B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cause *Replace volume before electrolytes *Replace water *Monitor vital signs frequently *Note the lab values of sodium and hemoglobin *Preserve skin and mucous membrane integrity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*Assess and prevent the complications of dehydration to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fever, shock, renal failure, and coma *Note blood sugar alterations when administering dextrose based solutions *Monitor intake and output</a:t>
            </a:r>
          </a:p>
        </p:txBody>
      </p:sp>
      <p:sp>
        <p:nvSpPr>
          <p:cNvPr id="6" name="">
            <a:extLst xmlns:a="http://schemas.openxmlformats.org/drawingml/2006/main">
              <a:ext uri="{FF2B5EF4-FFF2-40B4-BE49-F238E27FC236}">
                <a16:creationId xmlns:a16="http://schemas.microsoft.com/office/drawing/2014/main" id="{C1D81E01-9956-4D3D-BB71-E221E31AA6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98B93C2-E561-4072-AFA7-5AA7BEB299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1243123924"/>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4516A0-7E26-4D27-8600-C87FC2005A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7C17BE-A1C0-4C16-8696-55F374D9A0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a:t>
            </a:r>
          </a:p>
        </p:txBody>
      </p:sp>
      <p:sp>
        <p:nvSpPr>
          <p:cNvPr id="3" name="">
            <a:extLst xmlns:a="http://schemas.openxmlformats.org/drawingml/2006/main">
              <a:ext uri="{FF2B5EF4-FFF2-40B4-BE49-F238E27FC236}">
                <a16:creationId xmlns:a16="http://schemas.microsoft.com/office/drawing/2014/main" id="{4EE348D6-64E1-4DFD-B124-C5EF0C7FBD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BD45BFF-DEEB-429D-BE77-31A3988F2B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6A6CC37F-B903-462D-A96D-C33FE83473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imbalance occurs from either a water excess or solute deficit.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water excess, the amount of solutes remains normal, but they are dissolved in too much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solute deficit, there are too few particles in solution per unit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Both situations will cause the cell to swell.</a:t>
            </a:r>
          </a:p>
        </p:txBody>
      </p:sp>
      <p:sp>
        <p:nvSpPr>
          <p:cNvPr id="6" name="">
            <a:extLst xmlns:a="http://schemas.openxmlformats.org/drawingml/2006/main">
              <a:ext uri="{FF2B5EF4-FFF2-40B4-BE49-F238E27FC236}">
                <a16:creationId xmlns:a16="http://schemas.microsoft.com/office/drawing/2014/main" id="{AFD8E40C-2D6B-492E-9DFB-440BC0ADC7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914016-58F2-4AC3-A1BA-48FE347A3BF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114281272"/>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8EBFD3-E887-4DD2-B2EA-23DCD28CC4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32E73C-EF16-46C8-AF7F-40F1895DFD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18193574-5FE3-4581-9D7F-1D85B6E7EB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8ADB7F7-118B-4FAF-ACC5-D0DA0CD128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839449D3-0B00-4602-AD84-79059120C0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Excess *Excess intake * Inability to excrete due to renal disease *Brain injury * Administration of multiple tap water enemas (hypotonic solution) Solute Deficit *Poor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intake Diet Diuretics *Replacement of water and sodium losses with water only Nursing Interventions *Monitor intake and output *Restrict fluid intake if ADH over secretion is suspect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Administer hypotonic solutions cautiously *No tap water enemas *Daily weight *Replace losses of both sodium and water * Avoid the use of plain water for irrigation Isotonic Disturbances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sodium and water increase or decrease proportionately equal to the extracellular fluid (ECF), this imbalance can occur.</a:t>
            </a:r>
          </a:p>
        </p:txBody>
      </p:sp>
      <p:sp>
        <p:nvSpPr>
          <p:cNvPr id="6" name="">
            <a:extLst xmlns:a="http://schemas.openxmlformats.org/drawingml/2006/main">
              <a:ext uri="{FF2B5EF4-FFF2-40B4-BE49-F238E27FC236}">
                <a16:creationId xmlns:a16="http://schemas.microsoft.com/office/drawing/2014/main" id="{71F39B1D-047B-4E4A-989A-04966E11E0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3C3CBB2-24C1-4274-B3C9-710F7B0E8B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1811359309"/>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FE18C4-6D55-4C51-A486-48836CB85B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C00BFD-2C09-4F5C-9808-EF759FFB2A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6FFF0E15-6012-419D-AA7B-B4CE80B11D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C86670D-FD59-489F-AA77-0C6BFB2676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8FBE94EC-7B5B-42FF-AAA3-77E8D304BB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Sodium is retained so is water and the volume of the extracellular compartment increases.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Fluctuations in the ECF characterize isotonic volume imbalances.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increase in the ECF can result in edema and circulatory overload, while a decrease can result in circulatory collapse and shock.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Since osmolality remains unchanged the cells neither swell nor shrink.</a:t>
            </a:r>
          </a:p>
        </p:txBody>
      </p:sp>
      <p:sp>
        <p:nvSpPr>
          <p:cNvPr id="6" name="">
            <a:extLst xmlns:a="http://schemas.openxmlformats.org/drawingml/2006/main">
              <a:ext uri="{FF2B5EF4-FFF2-40B4-BE49-F238E27FC236}">
                <a16:creationId xmlns:a16="http://schemas.microsoft.com/office/drawing/2014/main" id="{25018485-31B2-4B38-84B5-9241CDCE2E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EFE19F-445B-4DC6-92A4-5A25B861F2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683848843"/>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8F5053-125D-4B16-809A-035274E8507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A4840B-A90C-4969-9B32-66BF18B52A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68665D73-AC56-47D9-B47B-F26FF28FFC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57C0657-9FE1-4B1F-911E-753E4111E3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B3C6AA6C-5053-48C9-904B-9570EBAA23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ECF Volume Depletion *Vomiting *Diarrhea *Hemorrhage *Burns</a:t>
            </a:r>
          </a:p>
        </p:txBody>
      </p:sp>
      <p:sp>
        <p:nvSpPr>
          <p:cNvPr id="6" name="">
            <a:extLst xmlns:a="http://schemas.openxmlformats.org/drawingml/2006/main">
              <a:ext uri="{FF2B5EF4-FFF2-40B4-BE49-F238E27FC236}">
                <a16:creationId xmlns:a16="http://schemas.microsoft.com/office/drawing/2014/main" id="{130C3005-0136-48CC-8FE4-130BAAD415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91A59F-C478-4656-BAC6-7AE7AE9A0A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1402332192"/>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0CEB2B-0E38-4FF3-B515-D207FF5772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202CAF-3F57-4AF3-9681-E76116BB78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a:t>
            </a:r>
          </a:p>
        </p:txBody>
      </p:sp>
      <p:sp>
        <p:nvSpPr>
          <p:cNvPr id="3" name="">
            <a:extLst xmlns:a="http://schemas.openxmlformats.org/drawingml/2006/main">
              <a:ext uri="{FF2B5EF4-FFF2-40B4-BE49-F238E27FC236}">
                <a16:creationId xmlns:a16="http://schemas.microsoft.com/office/drawing/2014/main" id="{B41CF099-86AB-4FFB-81F4-EC4B1D9379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B3D5B70-FC75-4D3E-B9D5-D712AAB39B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932FD0AF-0A42-45A7-B791-6D1DB63B64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Drainage *Decreased Aldosterone Production Nursing Intervention *Assess for symptoms of hypovolemia *Control the underlying cause Any delay in intervening for severe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extracellular volume depletion can lead to shock and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ECF Volume Excess * Administration of large amounts of saline over a short period of time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cardiac, renal, or liver *Patient's receiving corticosteroids, which may cause water and sodium retention Nursing Intervention * Administration of diuretics *Restriction of sodium</a:t>
            </a:r>
          </a:p>
        </p:txBody>
      </p:sp>
      <p:sp>
        <p:nvSpPr>
          <p:cNvPr id="6" name="">
            <a:extLst xmlns:a="http://schemas.openxmlformats.org/drawingml/2006/main">
              <a:ext uri="{FF2B5EF4-FFF2-40B4-BE49-F238E27FC236}">
                <a16:creationId xmlns:a16="http://schemas.microsoft.com/office/drawing/2014/main" id="{99B89612-E001-4DE3-A025-C5A1A03A2F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F4767F-580E-4641-98A0-E8BADEA16F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150031591"/>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29ADC1-1948-49D8-AA11-65CAD303E1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62FAA4-D843-4564-A3C9-A7B6EA5ABC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 — continued</a:t>
            </a:r>
          </a:p>
        </p:txBody>
      </p:sp>
      <p:sp>
        <p:nvSpPr>
          <p:cNvPr id="3" name="">
            <a:extLst xmlns:a="http://schemas.openxmlformats.org/drawingml/2006/main">
              <a:ext uri="{FF2B5EF4-FFF2-40B4-BE49-F238E27FC236}">
                <a16:creationId xmlns:a16="http://schemas.microsoft.com/office/drawing/2014/main" id="{FDA226C6-6129-4C2E-80FB-787B678BCD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9C91A2A-C97E-42EE-A430-DB07CF1F39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6E21ABD6-351F-443D-9C30-0AF31886BC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*Daily weights *Strict intake and output Signs of circulatory overload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bounding pulse, pulmonary edema, engorgement of peripheral veins, hypertension, peripheral edema, and weight gain.</a:t>
            </a:r>
          </a:p>
        </p:txBody>
      </p:sp>
      <p:sp>
        <p:nvSpPr>
          <p:cNvPr id="6" name="">
            <a:extLst xmlns:a="http://schemas.openxmlformats.org/drawingml/2006/main">
              <a:ext uri="{FF2B5EF4-FFF2-40B4-BE49-F238E27FC236}">
                <a16:creationId xmlns:a16="http://schemas.microsoft.com/office/drawing/2014/main" id="{D10FA2CB-81C1-49EB-BDB6-B7307753A2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2120B1-CECE-4853-B26D-8D82413B71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590538736"/>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F3E09F-F45E-42D5-BD45-A4B48AF108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E0CEE8-B6AD-4575-B982-819382721A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a:t>
            </a:r>
          </a:p>
        </p:txBody>
      </p:sp>
      <p:sp>
        <p:nvSpPr>
          <p:cNvPr id="3" name="">
            <a:extLst xmlns:a="http://schemas.openxmlformats.org/drawingml/2006/main">
              <a:ext uri="{FF2B5EF4-FFF2-40B4-BE49-F238E27FC236}">
                <a16:creationId xmlns:a16="http://schemas.microsoft.com/office/drawing/2014/main" id="{01E05C27-695C-49BE-A195-E31A4BE598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5745C96-6DED-4633-8390-24B260AB6A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89DE1ABC-E72B-4816-AA44-9189E4AE0C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(Nat) Sodium is the most frequent cation in the extracellular fluid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for a male approximately 145lbs is 2700-3000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concentration of sodium is 136-145 mEg/l.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supplies 90% of the total body cations.</a:t>
            </a:r>
          </a:p>
        </p:txBody>
      </p:sp>
      <p:sp>
        <p:nvSpPr>
          <p:cNvPr id="6" name="">
            <a:extLst xmlns:a="http://schemas.openxmlformats.org/drawingml/2006/main">
              <a:ext uri="{FF2B5EF4-FFF2-40B4-BE49-F238E27FC236}">
                <a16:creationId xmlns:a16="http://schemas.microsoft.com/office/drawing/2014/main" id="{8FC0563A-A66A-4EC0-96E7-F39E8A091A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F3E67E3-2AA5-4670-A67D-95D159BD97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340235463"/>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2E2ED3-872F-4141-9DF7-2CAF91C4A5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7D4D45-486B-4E6C-8BDB-0CDE36B2B38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A434DF07-D34E-4580-892D-AC330E5618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AFDFFAF-9806-4121-9FDD-9A9AA925FE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BD61413F-C7F5-4757-A6BD-5D36312A5D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performs the following vital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*Maintains plasma volume regulating the size of the vascular space *Regulates the ECF compartment volume *Aids in conduction of nerve impulses *Controls the osmotic equilibrium between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ICF and the ECF and thereby the distribution of body water *Helps with muscle contractility, especially the heart * Assists in the maintenance of neuromuscular irritability Daily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requirements are approximately 4.5gm.</a:t>
            </a:r>
          </a:p>
        </p:txBody>
      </p:sp>
      <p:sp>
        <p:nvSpPr>
          <p:cNvPr id="6" name="">
            <a:extLst xmlns:a="http://schemas.openxmlformats.org/drawingml/2006/main">
              <a:ext uri="{FF2B5EF4-FFF2-40B4-BE49-F238E27FC236}">
                <a16:creationId xmlns:a16="http://schemas.microsoft.com/office/drawing/2014/main" id="{AC71F2FD-51F9-4076-8E05-14B74AE752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71E7B48-0F42-476A-8F5A-AA0E2E8911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332265214"/>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F20627-EF5F-4F72-B558-4C3D26022B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B6F970-844E-4A74-83FB-A3A7E8C5C2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FCBF8C3F-7955-46D6-9F43-2851F41109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826F20B-2B4C-4850-8248-DDAA8FAED2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52FCE6B2-0C4B-4D3B-ACDC-52ADB077D6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normal diet will satisfy daily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 (Hyponatremia) Hyponatremia refers to the amount of sodium the extracellular compartment contains compared to the amount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Dilutional Hyponatremia - Usually occurs with the expansion of total body water, as in renal failure and congestive heart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restriction is one means of treatment.</a:t>
            </a:r>
          </a:p>
        </p:txBody>
      </p:sp>
      <p:sp>
        <p:nvSpPr>
          <p:cNvPr id="6" name="">
            <a:extLst xmlns:a="http://schemas.openxmlformats.org/drawingml/2006/main">
              <a:ext uri="{FF2B5EF4-FFF2-40B4-BE49-F238E27FC236}">
                <a16:creationId xmlns:a16="http://schemas.microsoft.com/office/drawing/2014/main" id="{BA163D1C-E7F0-4C45-8C06-98733E5A5C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BE6962D-E0D7-4B6C-9874-A80A4D6EB7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30325917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5B451D-C9F9-4A22-9E1D-38B33FC6A3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E2F8E9-3006-45E6-8213-D100A8106F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FF4B1B42-BDC9-4F1A-A154-C1B4FB5BB8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B1EB219-DF2D-47C5-B4DF-8F138966FC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30337DCD-700E-44DA-94BD-7F549FE651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this condition there is increased total body sodium even though serum levels are low because the body retains greater amounts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Saline is given only if severe symptoms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Intoxication - Usually occurs when a patient takes an abnormal amount of water, regardless of excretion.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its severity, symptoms include: confusion, muscle twitching, or seizures.</a:t>
            </a:r>
          </a:p>
        </p:txBody>
      </p:sp>
      <p:sp>
        <p:nvSpPr>
          <p:cNvPr id="6" name="">
            <a:extLst xmlns:a="http://schemas.openxmlformats.org/drawingml/2006/main">
              <a:ext uri="{FF2B5EF4-FFF2-40B4-BE49-F238E27FC236}">
                <a16:creationId xmlns:a16="http://schemas.microsoft.com/office/drawing/2014/main" id="{34686D95-CC49-460D-BF87-DBF4BCCA5B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B7ED94E-2E1E-4660-9944-9462CDFCFD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89635754"/>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D0A3CE-2E26-4F7D-9B8F-04B9E4D1C6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53C1D2-A31C-4129-9F4B-3CCDD0759A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AF68868A-69C5-46A4-95CC-7012857275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D60FD8-BB16-42E6-B45E-DE08B01C3F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9A8E6DC3-1400-42C1-9074-7EC3682A39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Restricting water intake is one means of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give hypertonic saline.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rare instances 3% or 5% saline has been given in an effort to control and restore a non-symptomatic state, not to replace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treatment is very dangerous and can lead to circulatory overload.</a:t>
            </a:r>
          </a:p>
        </p:txBody>
      </p:sp>
      <p:sp>
        <p:nvSpPr>
          <p:cNvPr id="6" name="">
            <a:extLst xmlns:a="http://schemas.openxmlformats.org/drawingml/2006/main">
              <a:ext uri="{FF2B5EF4-FFF2-40B4-BE49-F238E27FC236}">
                <a16:creationId xmlns:a16="http://schemas.microsoft.com/office/drawing/2014/main" id="{BAC3229C-85DC-4233-AC9F-9C3699025A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7F6E205-2015-4CEE-BD88-2E8D8AD524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274225581"/>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72D4C7-0ED5-4E88-B598-3BBCBB3BF4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C693A3-566D-4D2B-B15E-9FD18E7DC8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6B5C2A1E-7989-4D82-844D-77DADE26D5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0E2FBC2-C6EC-48A1-B586-8883A08165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331A1964-33C6-494D-A1DD-CB6AFD0EB7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be monitored closely.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True Hyponatremia - Usually occurs secondary to a loss of sodium, such as diarrhea, vomiting, renal disorders, and or adrenal insufficiency.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symptomatology reflected in this condition includes: the loss of skin turgor, tachycardia, hypotension, azotemia, and oliguria.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typical of low ECF volume and make diagnosis easy.</a:t>
            </a:r>
          </a:p>
        </p:txBody>
      </p:sp>
      <p:sp>
        <p:nvSpPr>
          <p:cNvPr id="6" name="">
            <a:extLst xmlns:a="http://schemas.openxmlformats.org/drawingml/2006/main">
              <a:ext uri="{FF2B5EF4-FFF2-40B4-BE49-F238E27FC236}">
                <a16:creationId xmlns:a16="http://schemas.microsoft.com/office/drawing/2014/main" id="{A9D57038-2A66-4524-A01E-40AA73536E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BFFA500-DF71-4765-946D-1145FC2C37E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2138038983"/>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9056EB-7D70-4140-9EA2-FF9DB9129D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A40AF9-CA43-43B0-AFC8-7E54BC9DD6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a:t>
            </a:r>
          </a:p>
        </p:txBody>
      </p:sp>
      <p:sp>
        <p:nvSpPr>
          <p:cNvPr id="3" name="">
            <a:extLst xmlns:a="http://schemas.openxmlformats.org/drawingml/2006/main">
              <a:ext uri="{FF2B5EF4-FFF2-40B4-BE49-F238E27FC236}">
                <a16:creationId xmlns:a16="http://schemas.microsoft.com/office/drawing/2014/main" id="{6023756D-A6FA-415B-96FE-CE5DD715C4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301794A-6AEF-4290-A7B8-EA5A1F21C0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368BCA96-9320-4C3B-A2FB-564F8F8D24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SIADH (Syndrome of inappropriate secretion of ADH) - Usually occurs due to cerebral disorders, lung disorders, malignant tumors, and cirrhosis.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a dilutional problem secondary to water retention with an uncontrolled ADH effect on the renal tubule.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the serum sodium had returned to normal, water should be given in an amount equal to the combined totals of insensible losses and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Starvation Hyponatremia - Usually occurs in patients with cancer, dieters, and those deprived of food for long periods of time.</a:t>
            </a:r>
          </a:p>
        </p:txBody>
      </p:sp>
      <p:sp>
        <p:nvSpPr>
          <p:cNvPr id="6" name="">
            <a:extLst xmlns:a="http://schemas.openxmlformats.org/drawingml/2006/main">
              <a:ext uri="{FF2B5EF4-FFF2-40B4-BE49-F238E27FC236}">
                <a16:creationId xmlns:a16="http://schemas.microsoft.com/office/drawing/2014/main" id="{9D12932A-EB74-4C9B-923A-BD0FAD3A21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E84D5FF-CD16-40E1-AF30-03CE81C1E0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96152520"/>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613BF8-A3F6-4DC9-9BFE-3EA1873F80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CCD8EB-FB3F-497F-BCAC-CE5854CAD0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22BA015D-88A9-4BA8-96F6-AD0717A577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759CA3B-AC6E-46AC-9F81-1930B710AF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1846A478-5F25-43A1-B315-EBB5DAAB18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with chronic disease may not show clinical signs of dehydration, but their sodium levels should be 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usually the result of starvation.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is geared towards improving the nutritional status.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 (Hypernatremia) When the amount of water loss exceeds sodium losses, or when water intake is insufficient hypernatremia can occur.</a:t>
            </a:r>
          </a:p>
        </p:txBody>
      </p:sp>
      <p:sp>
        <p:nvSpPr>
          <p:cNvPr id="6" name="">
            <a:extLst xmlns:a="http://schemas.openxmlformats.org/drawingml/2006/main">
              <a:ext uri="{FF2B5EF4-FFF2-40B4-BE49-F238E27FC236}">
                <a16:creationId xmlns:a16="http://schemas.microsoft.com/office/drawing/2014/main" id="{05845676-690A-469C-A0F7-5A6AC5AA8D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FB2FDF-DD38-4234-8C96-83B5DB5B34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894084226"/>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AFAEFA-7BFA-41A0-86E9-2DFC309011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C9DE4E-5524-4CC7-8F48-3795F5D635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18B1DC7A-088C-45DE-B1A9-A2FC4D0E49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4E48E1D-A173-4846-81C0-576D7374EE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6B831041-BC0B-4980-AE99-A435CA7797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hyper-osmolar state that occurs can be critical.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cause is excessive water loss and accompanies cellular and extracellular dehydration.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diarrhea, profuse sweating, and high protein tube feedings.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is drawn out of the intracellular fluid compartment and results in excess sodium and insufficient water in both compartments.</a:t>
            </a:r>
          </a:p>
        </p:txBody>
      </p:sp>
      <p:sp>
        <p:nvSpPr>
          <p:cNvPr id="6" name="">
            <a:extLst xmlns:a="http://schemas.openxmlformats.org/drawingml/2006/main">
              <a:ext uri="{FF2B5EF4-FFF2-40B4-BE49-F238E27FC236}">
                <a16:creationId xmlns:a16="http://schemas.microsoft.com/office/drawing/2014/main" id="{73C8240B-D96A-4317-A57F-03C3CF43D1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5D0518-BA05-4B1A-90F2-B406416EEE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575468485"/>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442067-8ADA-43F3-8C5C-75E291C0B8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4484F4-FF5E-49C4-8471-A7DCE3AC24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9289B178-C76D-4C19-85A7-2584FA104A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F52C2CA-D69D-47F7-AC88-C8898307FC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FDBD6CFA-9A05-46FF-BF95-D005E5E905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condition should be considered in any situation where the patient cannot ask for water; tracheobronchitis, or infants with sever diarrhea.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Salt intoxication - This occurs when significant amounts of sodium are added to the ECF in a short period of time.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is an outpouring of water into the interstitial and vascular compartments, which may result in convulsions or pulmonary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signs may present as flushed skin, intense thirst, and dry mucus membranes.</a:t>
            </a:r>
          </a:p>
        </p:txBody>
      </p:sp>
      <p:sp>
        <p:nvSpPr>
          <p:cNvPr id="6" name="">
            <a:extLst xmlns:a="http://schemas.openxmlformats.org/drawingml/2006/main">
              <a:ext uri="{FF2B5EF4-FFF2-40B4-BE49-F238E27FC236}">
                <a16:creationId xmlns:a16="http://schemas.microsoft.com/office/drawing/2014/main" id="{F7FD1A89-5734-4B45-A853-6F2870BE53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DD88D15-9453-479C-AB89-1C940E0A5B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547602831"/>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F03E51-273E-421D-BA09-0C848EF167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E7AF8A-F349-4B3B-9B99-F827164834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46698020-B6A8-4CEA-B179-CE64775F81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86E2740-C7DA-426E-9969-4C83A143A2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32511D7D-3DF7-4D22-933A-9D05D3792B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tissues usually remain firm due to excess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may present with fever, oliguria, anuria, and agitation.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is the administration of salt free solutions hypotonic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is the most frequent cation in the intracellular fluid compartment.</a:t>
            </a:r>
          </a:p>
        </p:txBody>
      </p:sp>
      <p:sp>
        <p:nvSpPr>
          <p:cNvPr id="6" name="">
            <a:extLst xmlns:a="http://schemas.openxmlformats.org/drawingml/2006/main">
              <a:ext uri="{FF2B5EF4-FFF2-40B4-BE49-F238E27FC236}">
                <a16:creationId xmlns:a16="http://schemas.microsoft.com/office/drawing/2014/main" id="{DD350BFA-EFBC-4157-AB09-D1C24C95AE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690CD9-386A-473A-A4B3-DC8F28DD2E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736142252"/>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4F1A80-78F6-4186-8CAA-C0B7D5564B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27E9B7-6E76-4B9B-9C97-E037DCB0C1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E1B844B2-3CE2-439E-8830-35FB954E65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B85E2C6-A219-42B4-995B-E6D44D9991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3255E1F3-69CD-4086-A346-E3ADA58FBD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values for a male 1451bs.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are 3500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found in all fluid compartments, the ICF contains 98% of all body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concentration is 3.5-5.0 mEg/L.</a:t>
            </a:r>
          </a:p>
        </p:txBody>
      </p:sp>
      <p:sp>
        <p:nvSpPr>
          <p:cNvPr id="6" name="">
            <a:extLst xmlns:a="http://schemas.openxmlformats.org/drawingml/2006/main">
              <a:ext uri="{FF2B5EF4-FFF2-40B4-BE49-F238E27FC236}">
                <a16:creationId xmlns:a16="http://schemas.microsoft.com/office/drawing/2014/main" id="{A7EDF17C-BCB8-4DA8-AB67-2B19886E86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6F3641A-86F3-49FE-953C-65AC3F61F1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537538977"/>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5A4608-BC7F-49D3-876C-859E5F8102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7DD7F2-8224-4793-BA39-D54720ED7D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FC52592E-FFC5-41F4-B7EC-DEA647BAD5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69AD5E5-E5BC-4057-8F6C-3F80FAA5D5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31B6EA27-4C90-4ACB-8B72-8416F90921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performs the following vital functions: *Regulates osmolality of the ICF.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*Necessary for cellular metabolism and growth *Helps conduct nerve impulses *Helps in the function of skeletal, cardiac, and smooth muscle contraction Daily potassium requirements 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normal diet will generally meet these requirements.</a:t>
            </a:r>
          </a:p>
        </p:txBody>
      </p:sp>
      <p:sp>
        <p:nvSpPr>
          <p:cNvPr id="6" name="">
            <a:extLst xmlns:a="http://schemas.openxmlformats.org/drawingml/2006/main">
              <a:ext uri="{FF2B5EF4-FFF2-40B4-BE49-F238E27FC236}">
                <a16:creationId xmlns:a16="http://schemas.microsoft.com/office/drawing/2014/main" id="{8BEA2EA6-C8ED-4381-BAEA-D62A8323E6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B4345C-BB20-4954-A235-AE544CD3B1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859570748"/>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6103C2-062D-431F-818E-15B2AFE760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7EDFFF-6A4A-4362-9414-CF9B2845FD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71C37470-9B49-4CB9-9225-9C4EC61CB6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30B3E0-0CB9-49E1-894C-289AEBA825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DAC0852D-041A-4279-ABEF-011B2FAE41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80-90% of ingested potassium will generally be excreted via the urine, while 10-20% via the GI tract.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Aldosterone acts on both the kidney and the GI tract to retain sodium and excrete potassium in maintaining balance in the body.</a:t>
            </a:r>
          </a:p>
        </p:txBody>
      </p:sp>
      <p:sp>
        <p:nvSpPr>
          <p:cNvPr id="6" name="">
            <a:extLst xmlns:a="http://schemas.openxmlformats.org/drawingml/2006/main">
              <a:ext uri="{FF2B5EF4-FFF2-40B4-BE49-F238E27FC236}">
                <a16:creationId xmlns:a16="http://schemas.microsoft.com/office/drawing/2014/main" id="{E2E5FB8B-22B3-4147-B11D-E319052A10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D9C17E-1306-41FF-AC9C-FA23DA069C1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972581656"/>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960A72-25E8-4CC7-820D-F234DD8082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F26BC9-AD64-48B4-9B06-51CB8BC97C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a:t>
            </a:r>
          </a:p>
        </p:txBody>
      </p:sp>
      <p:sp>
        <p:nvSpPr>
          <p:cNvPr id="3" name="">
            <a:extLst xmlns:a="http://schemas.openxmlformats.org/drawingml/2006/main">
              <a:ext uri="{FF2B5EF4-FFF2-40B4-BE49-F238E27FC236}">
                <a16:creationId xmlns:a16="http://schemas.microsoft.com/office/drawing/2014/main" id="{C11E3C25-9962-48BB-9418-920A51D5CA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95E25B-6C19-4917-BB95-4FAE95AE71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B007AC00-4855-48EE-ADFE-09976D21EA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 functions to preserve sodium while excreting potassium, even when both are at low levels.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Because the kidney prefers to conserve sodium under the influence of aldosterone, the following clinical picture may be seen: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*Cushing's syndrome (Hyperaldosteronism) - Both may stimulate potassium/sodium exchange in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disease - Increases urinary potassium loss by either accelerated losses, or defective re-absorption.</a:t>
            </a:r>
          </a:p>
        </p:txBody>
      </p:sp>
      <p:sp>
        <p:nvSpPr>
          <p:cNvPr id="6" name="">
            <a:extLst xmlns:a="http://schemas.openxmlformats.org/drawingml/2006/main">
              <a:ext uri="{FF2B5EF4-FFF2-40B4-BE49-F238E27FC236}">
                <a16:creationId xmlns:a16="http://schemas.microsoft.com/office/drawing/2014/main" id="{A2E2EB4B-4D58-4812-847B-97A1F97A0D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D79924-FE35-4162-A4FF-11F6CC802B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35963838"/>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271A7F-2C27-4501-AE58-024A680CA4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FC49CB-7343-4FE2-82F9-CB1D1DE4AB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4983F99F-ECBA-47E5-B9DD-B680548439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3DB482D-E51D-40F3-AECD-6A941FA95B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A7D6F819-DFC3-4308-9485-0A65C37D31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*Congestive heart failure - Increases aldosterone levels.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*Prolonged vomiting - Loss of K+ enriched fluid and metabolic alkalosis, with K+ enriched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*Diarrhea - loss of kt enriched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*Diuretics - Stimulate the loss of K+(Lasix, Diamox, and Edecrin).</a:t>
            </a:r>
          </a:p>
        </p:txBody>
      </p:sp>
      <p:sp>
        <p:nvSpPr>
          <p:cNvPr id="6" name="">
            <a:extLst xmlns:a="http://schemas.openxmlformats.org/drawingml/2006/main">
              <a:ext uri="{FF2B5EF4-FFF2-40B4-BE49-F238E27FC236}">
                <a16:creationId xmlns:a16="http://schemas.microsoft.com/office/drawing/2014/main" id="{0009FB07-12BC-46B7-9C50-48A8320D58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49A98F-281E-4298-A342-41B900AC52A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076451555"/>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3023BD-4A07-4E08-A1C2-14CFDBEBF7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BA29FA-5B42-42CF-9BDE-EE0D61667A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4991794D-EB0C-4888-A973-9CB0EF7B15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75C0BFB-4ACF-4933-A25D-50E2219A68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F8C1200B-D4C2-4EEE-B983-99AF4E2ACA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depletion can occur in both fluid 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ICF deficit, plasma levels may remain deceptively high prior to dropping to true levels accurately reflecting the condition.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Acute shortages may be tolerated.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long-term potassium deficits affect the kidneys and the heart.</a:t>
            </a:r>
          </a:p>
        </p:txBody>
      </p:sp>
      <p:sp>
        <p:nvSpPr>
          <p:cNvPr id="6" name="">
            <a:extLst xmlns:a="http://schemas.openxmlformats.org/drawingml/2006/main">
              <a:ext uri="{FF2B5EF4-FFF2-40B4-BE49-F238E27FC236}">
                <a16:creationId xmlns:a16="http://schemas.microsoft.com/office/drawing/2014/main" id="{C11E6146-C51D-4EFA-A3FB-F9E44976B28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B3E17B-A2B2-4945-B0EC-FD01635523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894681594"/>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427720-BA1B-4BCF-BFBC-1663BB9108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B2572F-901F-4301-B3F1-B0B03349AD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47E0770D-E994-496F-A4A9-6099FEC13D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1451C1F-8BB8-4082-BFA6-449DAE23FC9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E70FFA55-AE61-4766-8A46-F7CAFFC024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Profound deficits can cause ventricular fibrillation and cardiac arrest.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digitalized patient with low potassium can have fatal arrhythmias and death may ensue.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Alkalosis usually occurs with hypokalemia.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the plasma level of potassium falls, the kidney excretes hydrogen ions in place of potassium to sustain the electromechanical needs of the body.</a:t>
            </a:r>
          </a:p>
        </p:txBody>
      </p:sp>
      <p:sp>
        <p:nvSpPr>
          <p:cNvPr id="6" name="">
            <a:extLst xmlns:a="http://schemas.openxmlformats.org/drawingml/2006/main">
              <a:ext uri="{FF2B5EF4-FFF2-40B4-BE49-F238E27FC236}">
                <a16:creationId xmlns:a16="http://schemas.microsoft.com/office/drawing/2014/main" id="{83D488E5-1324-45DD-88F1-C3C03606BB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546B7DE-5A6A-4C82-B738-D0599C34A8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412174299"/>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AA6BE3-7752-4238-BEE1-52BDB18AD2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8C41EE-CA69-4E65-ABEE-512D0CFB91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97F282C0-B305-42EA-98A4-9E0D31DFC0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C78CE7-A675-4F79-8F26-2219F7C94F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D3EAEFF0-2410-4ACC-9E71-993DF06D1A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in the alkalosis state, the kidneys will attempt to conserve hydrogen and excrete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low or high potassium level will lead to the same neuromuscular effects.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of choice is the administration of potassium supplements.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Usually oral supplements will take care of the problem.</a:t>
            </a:r>
          </a:p>
        </p:txBody>
      </p:sp>
      <p:sp>
        <p:nvSpPr>
          <p:cNvPr id="6" name="">
            <a:extLst xmlns:a="http://schemas.openxmlformats.org/drawingml/2006/main">
              <a:ext uri="{FF2B5EF4-FFF2-40B4-BE49-F238E27FC236}">
                <a16:creationId xmlns:a16="http://schemas.microsoft.com/office/drawing/2014/main" id="{2D6609DF-EA78-4A59-BBF8-BB6946C307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F580E00-20D5-4A57-BE03-139123FCE5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303387775"/>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35037-DB4A-426A-A735-6944066B02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9A3326-4445-4610-9912-D25071E80F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92169661-A768-4647-99E4-7C23152E23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1BD43F-87DA-42C9-B40E-39D963D604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825E3CB5-2AC9-4EDB-A668-83CC116C49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symptoms are severe intravenous potassium can be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potassium should be given slowly (10 mEq/hr).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administer any electrolytes by the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 S.Q.</a:t>
            </a:r>
          </a:p>
        </p:txBody>
      </p:sp>
      <p:sp>
        <p:nvSpPr>
          <p:cNvPr id="6" name="">
            <a:extLst xmlns:a="http://schemas.openxmlformats.org/drawingml/2006/main">
              <a:ext uri="{FF2B5EF4-FFF2-40B4-BE49-F238E27FC236}">
                <a16:creationId xmlns:a16="http://schemas.microsoft.com/office/drawing/2014/main" id="{3FAE33C1-F600-4388-BD26-CCE6FC2507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AF5443-D754-41CE-9EAB-025562E4FB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23839515"/>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DCB8B2-09BA-4342-818D-090876984B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E34E48-2005-4EE1-880D-98A43D6E20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FC17E4E3-DC09-45A0-A1E2-2EB64DB377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4326F4B-5306-4713-B75F-482626C364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BC8F08ED-1B59-4432-8094-E13F0569023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infusing potassium, be aware of chemical phlebitis due to the irritation from the potassium in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attuned to patient complaints.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pharmacy may have suggestions or additives to lessen the irritation caused by the potassium infusing.</a:t>
            </a:r>
          </a:p>
        </p:txBody>
      </p:sp>
      <p:sp>
        <p:nvSpPr>
          <p:cNvPr id="6" name="">
            <a:extLst xmlns:a="http://schemas.openxmlformats.org/drawingml/2006/main">
              <a:ext uri="{FF2B5EF4-FFF2-40B4-BE49-F238E27FC236}">
                <a16:creationId xmlns:a16="http://schemas.microsoft.com/office/drawing/2014/main" id="{C20AACB3-D837-4336-98C5-55852BD42E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F81C7D7-DE57-4DD7-A348-2C620C2710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667321835"/>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A77A76-D0DF-4368-B8CC-0B66BAC695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B11BD9-0539-4508-B751-CEDD404BC8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2E3087BF-6908-4FAB-9535-A8E6C1BCB9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2629CA5-855D-4289-A6B9-1BF87C158C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A359019C-3B4D-4510-AD10-71B57A2FCD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 I.V.</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care is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Excess (Hyperkalemia) There are three major causes of this imbalance: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Retention of Potassium - Most commonly seen in people with renal failure, postoperative reduced urine output, and those with adrenocortical insufficiency.</a:t>
            </a:r>
          </a:p>
        </p:txBody>
      </p:sp>
      <p:sp>
        <p:nvSpPr>
          <p:cNvPr id="6" name="">
            <a:extLst xmlns:a="http://schemas.openxmlformats.org/drawingml/2006/main">
              <a:ext uri="{FF2B5EF4-FFF2-40B4-BE49-F238E27FC236}">
                <a16:creationId xmlns:a16="http://schemas.microsoft.com/office/drawing/2014/main" id="{DA01676D-0353-4466-8A0E-FE37945156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4CB2DF-7166-4A67-B281-77A5D903FBB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654033420"/>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87520A-0A2A-445B-B32C-8089161C21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2D8016-359B-406D-904C-327B6F67F6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BF01A490-0232-46A5-828E-B89F13BABD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73CD838-D2AF-4B53-B156-9063CB14B6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30425125-821E-4396-8F6B-5889202B7C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Excessive Release of Potassium from the Cells - Most commonly seen in people with</a:t>
            </a:r>
          </a:p>
        </p:txBody>
      </p:sp>
      <p:sp>
        <p:nvSpPr>
          <p:cNvPr id="6" name="">
            <a:extLst xmlns:a="http://schemas.openxmlformats.org/drawingml/2006/main">
              <a:ext uri="{FF2B5EF4-FFF2-40B4-BE49-F238E27FC236}">
                <a16:creationId xmlns:a16="http://schemas.microsoft.com/office/drawing/2014/main" id="{60C37FE5-E774-4ACD-BA5A-D6F6F650C0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F425C4-D4DF-4E22-BA72-3ED4B7467D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622266561"/>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EF4CD5-C4C9-445E-AD6B-1C69B283F4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4476BB-EA2D-4DD7-8035-AB3A98A229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a:t>
            </a:r>
          </a:p>
        </p:txBody>
      </p:sp>
      <p:sp>
        <p:nvSpPr>
          <p:cNvPr id="3" name="">
            <a:extLst xmlns:a="http://schemas.openxmlformats.org/drawingml/2006/main">
              <a:ext uri="{FF2B5EF4-FFF2-40B4-BE49-F238E27FC236}">
                <a16:creationId xmlns:a16="http://schemas.microsoft.com/office/drawing/2014/main" id="{0B694E47-44CB-4872-9DDE-D6B406CC55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A9D194F-4EC3-48F7-9265-4D6C317CE0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71BE7A6A-58F1-4B38-888B-35F3CED013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serious burns, traumatic injuries, acidosis, or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renal failure is a secondary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Potassium containing Intravenous Infusions - Most commonly seen in persons receiving infusion therapy containing potassium, especially if the infusion is rapid.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can occur in individuals with normal renal function.</a:t>
            </a:r>
          </a:p>
        </p:txBody>
      </p:sp>
      <p:sp>
        <p:nvSpPr>
          <p:cNvPr id="6" name="">
            <a:extLst xmlns:a="http://schemas.openxmlformats.org/drawingml/2006/main">
              <a:ext uri="{FF2B5EF4-FFF2-40B4-BE49-F238E27FC236}">
                <a16:creationId xmlns:a16="http://schemas.microsoft.com/office/drawing/2014/main" id="{158F73D7-9C42-41A5-BE5E-26C9127D55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65D2C4-28C8-4E47-9DE9-454DCA0342C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495675061"/>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66A69B-38F2-43C0-8413-1BA7A69816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7C74F4-BB84-4221-B598-327F018049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C92505CB-5AB2-4A06-BC37-721000863B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C4DD0DF-436A-4193-A341-9E98E07655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9F55CAB0-FEA8-47A0-BD8E-77728B2827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balance has its most profound effect on the cardiac and neuromuscular systems.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your level of potassium is elevated, expect to see EKG changes which may include; a prolonged PR interval, widened QRS, ST segment depression, and a tall widened T wave.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Seriously elevated K+ levels constitute an emergency.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Cardiac arrest may be imminent.</a:t>
            </a:r>
          </a:p>
        </p:txBody>
      </p:sp>
      <p:sp>
        <p:nvSpPr>
          <p:cNvPr id="6" name="">
            <a:extLst xmlns:a="http://schemas.openxmlformats.org/drawingml/2006/main">
              <a:ext uri="{FF2B5EF4-FFF2-40B4-BE49-F238E27FC236}">
                <a16:creationId xmlns:a16="http://schemas.microsoft.com/office/drawing/2014/main" id="{0D0A6C89-1182-4C1D-86EA-4928E2580F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B570340-C765-428A-A3B7-8DE5E8FC8D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404253762"/>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B5C66-B168-407D-914F-0E8A1F98FE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49D425-E190-4E7C-80D7-D25B787F80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038E96F4-3F57-4B35-918C-AD5FB9C371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B6854E4-6A1C-465A-9145-2662F0A902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39C75F15-7BAA-4A8A-99DD-C54F0F5D68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are the clinical symptoms that may be noted in the presence of Hyperkalemia: *Weakness, nausea, malaise, diarrhea, muscle irritability, flaccid paralysis, and EKG changes.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risk are those patients with K+ levels over 6.0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EKG should be monitored, protein and potassium should be restricted, and fluids encouraged to increase the urinary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(Cat) Imbalances in the serum calcium level are true medical emergencies.</a:t>
            </a:r>
          </a:p>
        </p:txBody>
      </p:sp>
      <p:sp>
        <p:nvSpPr>
          <p:cNvPr id="6" name="">
            <a:extLst xmlns:a="http://schemas.openxmlformats.org/drawingml/2006/main">
              <a:ext uri="{FF2B5EF4-FFF2-40B4-BE49-F238E27FC236}">
                <a16:creationId xmlns:a16="http://schemas.microsoft.com/office/drawing/2014/main" id="{2C4852A3-0171-4897-8E0D-1FCAA17D4F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14D7AD-3D3E-4AEE-9F5F-A7F6FE32875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2074400628"/>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810B41-BD99-473D-98D0-33AE21915E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72FA2E-902A-4116-BDCC-5DF4F56D70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24A4C632-C5D4-484A-89CC-9049A3E573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CB15222-AA46-4365-A566-BA7C03C0C5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A6F22859-C13B-4BB7-B801-2B480C7BEC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is found primarily in the bone (99%).</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Only a fraction is allotted to the blood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serum calcium is 8.9 - 10.3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Prolonged deficiency of calcium can lead to Rickets, Osteoporosis, or Osteomalacia.</a:t>
            </a:r>
          </a:p>
        </p:txBody>
      </p:sp>
      <p:sp>
        <p:nvSpPr>
          <p:cNvPr id="6" name="">
            <a:extLst xmlns:a="http://schemas.openxmlformats.org/drawingml/2006/main">
              <a:ext uri="{FF2B5EF4-FFF2-40B4-BE49-F238E27FC236}">
                <a16:creationId xmlns:a16="http://schemas.microsoft.com/office/drawing/2014/main" id="{9FD1B4F2-479F-4ADA-ACD9-3C512D208E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40E33CA-563C-4222-9A23-75CFB7064A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190179914"/>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9EFDFD-075F-4214-B09F-18E97902C4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3B593C-CD97-4DC3-9A08-207A40EFAD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BDBA0587-F40C-4B68-B157-4BEB289A90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37CEE1F-9D6B-4B3B-9B2A-BAD78678E9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B465F84F-5543-45FC-AF71-41989B6FEE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performs the following vital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*Promotes normal muscular contractility *Promotes normal neuromuscular irritability * Assists with the transmission of nerve impulses *Essential to blood clotting *Essential in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secretion of many hormones *Essential building block of bones and teeth *Strengthens capillary membranes The daily calcium requirement in a normal adult is approximately 0.8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need is increased in pregnancy and lactation.</a:t>
            </a:r>
          </a:p>
        </p:txBody>
      </p:sp>
      <p:sp>
        <p:nvSpPr>
          <p:cNvPr id="6" name="">
            <a:extLst xmlns:a="http://schemas.openxmlformats.org/drawingml/2006/main">
              <a:ext uri="{FF2B5EF4-FFF2-40B4-BE49-F238E27FC236}">
                <a16:creationId xmlns:a16="http://schemas.microsoft.com/office/drawing/2014/main" id="{F174D2B9-73DA-4366-A232-ABA2E5BBD4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E962D4-91C3-4A6E-A32D-EB58E37BDC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821769634"/>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BE22F7-46E4-4332-984C-E0BA668813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86505E-0C31-43F6-B131-59A8162EF9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F5D0EC9F-B029-48CE-AF0C-4B475805BC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7148CC0-AAF9-4AE5-8105-3315A697DD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463D7083-8A0F-4DEB-853B-962AA9F062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Daily needs can usually be met by a normal diet, mainly through the milk and dairy food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Approximately 1/3 is supplied through the vegetable and fruit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Absorption is dependent upon the presence of vitamin D, controlled by the parathyroid gland.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Excretion is accomplished via the urine and feces.</a:t>
            </a:r>
          </a:p>
        </p:txBody>
      </p:sp>
      <p:sp>
        <p:nvSpPr>
          <p:cNvPr id="6" name="">
            <a:extLst xmlns:a="http://schemas.openxmlformats.org/drawingml/2006/main">
              <a:ext uri="{FF2B5EF4-FFF2-40B4-BE49-F238E27FC236}">
                <a16:creationId xmlns:a16="http://schemas.microsoft.com/office/drawing/2014/main" id="{CB9860A8-1EBB-47A0-973B-5F52AB9CF8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A6C9DAA-F1D8-4171-A8C8-A848253B8BA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876970890"/>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D6392F-FD0E-4E51-A05F-0B6C452153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076549-32A5-4C07-89AA-13E127D5B9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a:t>
            </a:r>
          </a:p>
        </p:txBody>
      </p:sp>
      <p:sp>
        <p:nvSpPr>
          <p:cNvPr id="3" name="">
            <a:extLst xmlns:a="http://schemas.openxmlformats.org/drawingml/2006/main">
              <a:ext uri="{FF2B5EF4-FFF2-40B4-BE49-F238E27FC236}">
                <a16:creationId xmlns:a16="http://schemas.microsoft.com/office/drawing/2014/main" id="{A083D154-FC1F-4E47-844D-A5422E91A6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99A92D0-8569-4C40-83D4-95DD9E5EEC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CAC3F73A-BB21-41EE-936C-A6C8FA8A77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controlled by the parathyroid hormone (PTH).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release of PTH is dependent upon the serum level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Deficit (Hypocalcaemia) is relatively rare.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can cause serum calcium deficit: *Excessive loss such as from acute Pancreatitis, diarrhea, renal disorders, and Hypoparathyroid.</a:t>
            </a:r>
          </a:p>
        </p:txBody>
      </p:sp>
      <p:sp>
        <p:nvSpPr>
          <p:cNvPr id="6" name="">
            <a:extLst xmlns:a="http://schemas.openxmlformats.org/drawingml/2006/main">
              <a:ext uri="{FF2B5EF4-FFF2-40B4-BE49-F238E27FC236}">
                <a16:creationId xmlns:a16="http://schemas.microsoft.com/office/drawing/2014/main" id="{DF00BD8D-6A4F-4CD5-A1BC-CDC5BC6D835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970EAAD-F35A-4F2E-BCC4-8FD905D8CE3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471075134"/>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1DCB30-4F0C-4D13-8489-03593BE0AB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06E099-6997-45CF-BC18-9F64C01356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100EEB43-FD8A-4408-A6D2-6F149377F7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B6E5090-5310-4CCA-A866-D38F8E788D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C7C70A49-CB26-422A-B325-C2C9A99485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Post operative thyroidectomy where the parathyroid tissue has been accidentally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*During pregnancy and lactation when requirements are greater and dietary intake is poor.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Inadequate levels of vitamin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*During alkalosis.</a:t>
            </a:r>
          </a:p>
        </p:txBody>
      </p:sp>
      <p:sp>
        <p:nvSpPr>
          <p:cNvPr id="6" name="">
            <a:extLst xmlns:a="http://schemas.openxmlformats.org/drawingml/2006/main">
              <a:ext uri="{FF2B5EF4-FFF2-40B4-BE49-F238E27FC236}">
                <a16:creationId xmlns:a16="http://schemas.microsoft.com/office/drawing/2014/main" id="{EF29BBE4-2F9B-4C41-886A-53AB1C7A6A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54A24D-96C3-4DE5-AFD0-970D2414E0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608692143"/>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D5EDEC-8F3A-4DC1-9BF4-61D5389ECB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9069EE-07CB-442D-A7C9-16B2F9D0AE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EC2691DD-ACF5-4153-BC0F-212EFBE15A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5B9E977-5401-4E82-8D87-58884B13EB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627C4E1C-767B-449A-9155-74BF6B9812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*Chronic use of laxatives.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of hypocalcaemia may be noted: *Twitching, carpopedal spasms, perioral parathesias, Tetany, seizures, and cardiac dysrythmias.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receiving hemodialysis or hyperalimentation are at risk for depletion and need routine testing as part of their medical management.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Hypocalcemia produces increased neuromuscular irritability, leading to Tetany.</a:t>
            </a:r>
          </a:p>
        </p:txBody>
      </p:sp>
      <p:sp>
        <p:nvSpPr>
          <p:cNvPr id="6" name="">
            <a:extLst xmlns:a="http://schemas.openxmlformats.org/drawingml/2006/main">
              <a:ext uri="{FF2B5EF4-FFF2-40B4-BE49-F238E27FC236}">
                <a16:creationId xmlns:a16="http://schemas.microsoft.com/office/drawing/2014/main" id="{00F570BB-1FEC-463D-A6D9-FEAA73D385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A2E81F9-AE1D-47D6-9064-26E087822D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467722823"/>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6D3F32-1D24-4BE1-B0FF-4670168C7A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AFD8F5-13E4-491B-9783-77187157F9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5C8F761E-C3CD-48E9-960D-5B3205FC6B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2BE1ACA-1AD3-4ED3-84BF-D50E11A0AF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B4E05D6F-8268-4C0F-AC24-0ADE43962D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*Tingling and numbness of the fingers, painful muscle spasms, facial spasms, grimacing, fatigue, laryngospasm, positive Trousseau's sign and Chvostek's sign, and convulsions.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may be EKG changes, palpitations, and dysrythmias.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Trousseau's Sign - This is an important test for the diagnosis of latent Tetany.</a:t>
            </a:r>
          </a:p>
        </p:txBody>
      </p:sp>
      <p:sp>
        <p:nvSpPr>
          <p:cNvPr id="6" name="">
            <a:extLst xmlns:a="http://schemas.openxmlformats.org/drawingml/2006/main">
              <a:ext uri="{FF2B5EF4-FFF2-40B4-BE49-F238E27FC236}">
                <a16:creationId xmlns:a16="http://schemas.microsoft.com/office/drawing/2014/main" id="{AB8B8DE3-5A6C-43C4-975D-B012B2E140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636B05-04B6-4661-AF5B-495AC975CE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590521144"/>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8769FB-4678-411B-88DE-4A1B2043D0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92BCAC-34D8-4D6D-BEF8-E097E7618C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53DE335F-F82E-40A6-893F-E446553827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05B9614-3418-414F-ABF0-F4C464B8D7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49DFD828-FB04-4B00-9B44-4053E45E90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do this test, inflate the blood pressure cuff on the patient's arm of 1-5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Create enough pressure to stop the venous circulation, not the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Carpal spasm (contraction of the hands and fingers), signals increase of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positive test indicates hypocalcemia.</a:t>
            </a:r>
          </a:p>
        </p:txBody>
      </p:sp>
      <p:sp>
        <p:nvSpPr>
          <p:cNvPr id="6" name="">
            <a:extLst xmlns:a="http://schemas.openxmlformats.org/drawingml/2006/main">
              <a:ext uri="{FF2B5EF4-FFF2-40B4-BE49-F238E27FC236}">
                <a16:creationId xmlns:a16="http://schemas.microsoft.com/office/drawing/2014/main" id="{20C9AF1A-6D9D-4045-9946-EB23A341F9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873EE2-4AD6-4194-BAA7-B64A9669FF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38610529"/>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B6BEFD-D20A-424E-97D1-333DDE867D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08A16B-3F8D-4510-9B2D-6028A60370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55E93EF0-B12A-44AF-BF5E-B88CFCFEA4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BD76E0A-F278-4A71-ADD0-7C7EF1E078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96F69E8F-4E15-4F1B-9B27-B5CA0CE899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Chvostek's Sign - This test is used in the diagnosis of latent Tetany.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 with your finger the area just below the temple where the facial nerve emerges.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momentary contraction of the lip, nose, or side of the face indicates a positive sign.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positive sign indicates</a:t>
            </a:r>
          </a:p>
        </p:txBody>
      </p:sp>
      <p:sp>
        <p:nvSpPr>
          <p:cNvPr id="6" name="">
            <a:extLst xmlns:a="http://schemas.openxmlformats.org/drawingml/2006/main">
              <a:ext uri="{FF2B5EF4-FFF2-40B4-BE49-F238E27FC236}">
                <a16:creationId xmlns:a16="http://schemas.microsoft.com/office/drawing/2014/main" id="{CFCB6EDC-41D8-4280-BC7C-E308F71686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9D2336-F01D-4CC5-857B-0C153386DE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230301891"/>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9F9DEB-1F95-474C-98C5-49108CEC14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B7740B-57FC-417B-80DF-B8FD2180B7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a:t>
            </a:r>
          </a:p>
        </p:txBody>
      </p:sp>
      <p:sp>
        <p:nvSpPr>
          <p:cNvPr id="3" name="">
            <a:extLst xmlns:a="http://schemas.openxmlformats.org/drawingml/2006/main">
              <a:ext uri="{FF2B5EF4-FFF2-40B4-BE49-F238E27FC236}">
                <a16:creationId xmlns:a16="http://schemas.microsoft.com/office/drawing/2014/main" id="{43FDB384-BDA1-49B0-A6FC-9CC297C54A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B1D9F8E-13F0-4A05-8721-6E79D07A98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B119A1E1-D9CA-40E7-B07C-FA65ACD755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hyperirritability of the facial nerve, which is a strong sign of latent developing Tetany due The treatment for the acute hypocalcemic patient requires the intravenous administration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usually in the form of Calcium Gluconate.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dose is 10-20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a 10% solution.</a:t>
            </a:r>
          </a:p>
        </p:txBody>
      </p:sp>
      <p:sp>
        <p:nvSpPr>
          <p:cNvPr id="6" name="">
            <a:extLst xmlns:a="http://schemas.openxmlformats.org/drawingml/2006/main">
              <a:ext uri="{FF2B5EF4-FFF2-40B4-BE49-F238E27FC236}">
                <a16:creationId xmlns:a16="http://schemas.microsoft.com/office/drawing/2014/main" id="{117D6ED4-56B8-4B82-A82E-62050479B1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A24DE6F-E2AA-4C7E-B9EF-FA36B1E0BF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145650698"/>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FD0327-4ED1-45BB-B394-B71F32E259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C530F2-2CBC-45A4-BC6E-B068A6AF16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C30C74BC-640D-4F82-AF35-AA46491EAE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651EB48-F061-4F0A-A327-0FE744A4D1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195DE499-6324-4ED8-A4F8-498230823B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Saline is not used to administer calcium as sodium can stimulate loss ofcalcium.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will precipitate if mixed with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chronic hypocalcemia the patient is maintained on oral supplements of calcium given with vitamin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oral dosage ranges from 1.5-3 Day/day.</a:t>
            </a:r>
          </a:p>
        </p:txBody>
      </p:sp>
      <p:sp>
        <p:nvSpPr>
          <p:cNvPr id="6" name="">
            <a:extLst xmlns:a="http://schemas.openxmlformats.org/drawingml/2006/main">
              <a:ext uri="{FF2B5EF4-FFF2-40B4-BE49-F238E27FC236}">
                <a16:creationId xmlns:a16="http://schemas.microsoft.com/office/drawing/2014/main" id="{C299211D-8CE0-460C-A53A-2010258240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2B637F0-04C2-47B7-BEC4-415040FF50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824549314"/>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5EBD64-2D72-4A37-82FC-2134E452C8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9A48CB-28F1-486A-8452-EC11FF2AD2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00689F84-BFFA-4E4A-B1A0-C1B047EE91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1E8F170-C0BE-4E05-B290-F771A41118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61C43FAC-434C-4F5A-97F2-869ED214A4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known as the elemental dose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Vitamin D is available in an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High doses of vitamin D may be used to treat Tetany in the hypo parathyroid patient.</a:t>
            </a:r>
          </a:p>
        </p:txBody>
      </p:sp>
      <p:sp>
        <p:nvSpPr>
          <p:cNvPr id="6" name="">
            <a:extLst xmlns:a="http://schemas.openxmlformats.org/drawingml/2006/main">
              <a:ext uri="{FF2B5EF4-FFF2-40B4-BE49-F238E27FC236}">
                <a16:creationId xmlns:a16="http://schemas.microsoft.com/office/drawing/2014/main" id="{CE7FE559-A52C-4CF5-991F-16D70BA21D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DA28A6A-142E-4278-AF83-21AF6FD9B0C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2138686382"/>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7E0250-38C3-4645-B8D1-E87855CACE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80DEFC-B4F7-4875-9BFD-A0AEBDC144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3B94E1A3-8D77-46E1-ABB6-F2B8C90CF0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532721D-5877-4A32-A6E6-E68D8A8E23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9542ECF3-4782-4871-BE77-AB438264D0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in mild cases may be to supplement only vitamin D in a multi-vitamin supplement.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excess (Hypercalcemia) High serum calcium depresses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Over activity of the parathyroid glands is a common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causes include: * Decreased renal excretion due to renal failure.</a:t>
            </a:r>
          </a:p>
        </p:txBody>
      </p:sp>
      <p:sp>
        <p:nvSpPr>
          <p:cNvPr id="6" name="">
            <a:extLst xmlns:a="http://schemas.openxmlformats.org/drawingml/2006/main">
              <a:ext uri="{FF2B5EF4-FFF2-40B4-BE49-F238E27FC236}">
                <a16:creationId xmlns:a16="http://schemas.microsoft.com/office/drawing/2014/main" id="{766245F5-78A6-469E-97F5-2431C62782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75D62C7-AF38-4E83-8D52-37720003C0B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102564259"/>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E15E1D-D9A2-4306-8A13-E7D0DB4F61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F38338-9744-45A7-BD8B-382724DB97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8B1388C8-BEB0-4354-8A00-C181D1D806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C665198-76AB-4BB6-816B-D6874A6B4F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7E9E0B9E-90BE-48E4-820F-F4648B9759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*Movement of the calcium from bone to serum, seen in neoplastic disorders, metastatic disorders, and multiple myeloma.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Immobility can cause this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administration or oral intake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administration or oral intake of vitamin D.</a:t>
            </a:r>
          </a:p>
        </p:txBody>
      </p:sp>
      <p:sp>
        <p:nvSpPr>
          <p:cNvPr id="6" name="">
            <a:extLst xmlns:a="http://schemas.openxmlformats.org/drawingml/2006/main">
              <a:ext uri="{FF2B5EF4-FFF2-40B4-BE49-F238E27FC236}">
                <a16:creationId xmlns:a16="http://schemas.microsoft.com/office/drawing/2014/main" id="{493B5240-0DC9-465D-AA9F-64B84A1D72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CDC19A-20E5-4F33-BFB4-375A294554A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816724252"/>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1486CD-A5C4-48EF-A97C-D07968CEB5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F6E095-DCF4-4DB5-9BA5-5E72869373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EDB1554A-808A-4CC5-8417-DC1E8E8F8C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6E517F2-B93B-4422-8198-7080167418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342CC45E-9C7F-4889-846E-00580CD272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Administration of the thiazide diuretics, which decrease the urinary elimination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*Individuals who drink large amounts of milk daily and take various alkaline medications may develop hypercalcemia, which is referred to as milk-alkali syndrome.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goals of treatment are to eliminate the cause and increase renal excretion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therefore imperative that the underlying cause be treated.</a:t>
            </a:r>
          </a:p>
        </p:txBody>
      </p:sp>
      <p:sp>
        <p:nvSpPr>
          <p:cNvPr id="6" name="">
            <a:extLst xmlns:a="http://schemas.openxmlformats.org/drawingml/2006/main">
              <a:ext uri="{FF2B5EF4-FFF2-40B4-BE49-F238E27FC236}">
                <a16:creationId xmlns:a16="http://schemas.microsoft.com/office/drawing/2014/main" id="{FE5A786B-3A3A-4481-8E3A-CA874CFF2F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B104CA4-3399-4712-8BD8-3A7ACFDDBB9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259758963"/>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120829-0888-460A-BE9E-80294CFC7A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C9A3CE-48A4-4523-929D-840A644E22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7DABBAE1-3F17-4F1D-B45B-3BC5E9AC8C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32FDAD1-E3BF-42FD-9AAC-3911ACCEBF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9A8D640A-7AC6-4E8D-9E07-4F7FB19B13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susceptible individuals the intake of calcium and phosphorous should be limited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Hydration with saline solutions helps rid the body of calcium as sodium inhibits tubular re-absorption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may also include the administration of phosphate supplements to enhance calcium deposition into bone and soft tissue and reduce reabsorption of calcium by the intestines.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(Mgt+) Predominantly an intracellular cation, 70% of magnesium is combined with calcium and</a:t>
            </a:r>
          </a:p>
        </p:txBody>
      </p:sp>
      <p:sp>
        <p:nvSpPr>
          <p:cNvPr id="6" name="">
            <a:extLst xmlns:a="http://schemas.openxmlformats.org/drawingml/2006/main">
              <a:ext uri="{FF2B5EF4-FFF2-40B4-BE49-F238E27FC236}">
                <a16:creationId xmlns:a16="http://schemas.microsoft.com/office/drawing/2014/main" id="{70E6CB3F-62E2-49EF-A6C0-072CFE2B5D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1C90C59-78A1-439F-8402-11D1C14978A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747562414"/>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3C7D42-80FE-4A55-B951-FCE23665E9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5B5B99-434A-4C02-80E2-3CB1E6A270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a:t>
            </a:r>
          </a:p>
        </p:txBody>
      </p:sp>
      <p:sp>
        <p:nvSpPr>
          <p:cNvPr id="3" name="">
            <a:extLst xmlns:a="http://schemas.openxmlformats.org/drawingml/2006/main">
              <a:ext uri="{FF2B5EF4-FFF2-40B4-BE49-F238E27FC236}">
                <a16:creationId xmlns:a16="http://schemas.microsoft.com/office/drawing/2014/main" id="{CB70562A-995C-4702-9211-84B2798D61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62953D2-FB10-46F3-B325-CC28A0794E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F3A7AD21-678A-43AB-8242-DFDF506F4C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phosphorous in the bones, while 30% is distributed in the soft tissues and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concentration of magnesium in the ECF is approximately 1.5-2.5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performs the following functions: *Essential for the integrity of the neuromuscular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*Promotes the regulation of blood phosphorous level, potassium, and calcium.</a:t>
            </a:r>
          </a:p>
        </p:txBody>
      </p:sp>
      <p:sp>
        <p:nvSpPr>
          <p:cNvPr id="6" name="">
            <a:extLst xmlns:a="http://schemas.openxmlformats.org/drawingml/2006/main">
              <a:ext uri="{FF2B5EF4-FFF2-40B4-BE49-F238E27FC236}">
                <a16:creationId xmlns:a16="http://schemas.microsoft.com/office/drawing/2014/main" id="{8AB67B6B-CD23-4C12-ACC4-90CD04621E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EE57EB-5FB9-41F6-8A1E-B1D667D36B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819159982"/>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E3AFE4-BB8B-4F6C-9F13-6BC1B0C7F0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FE22BF-4784-4A7C-B9E0-14C14E4D9B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E84FA0E8-457C-404B-A9FC-659813E5B2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E2C28B1-6CCC-489F-9A09-0FF46BEE4B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79B10492-8071-4027-9A99-6DD96D4461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*Activates enzyme reactions in the metabolism of carbohydrates.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Daily requirements are usually abundant in an individuals' diet, as it is abundant in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an adult 200-300 MG/D are required.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About 45% of ingested magnesium is absorbed and the remainder is excreted via the stool.</a:t>
            </a:r>
          </a:p>
        </p:txBody>
      </p:sp>
      <p:sp>
        <p:nvSpPr>
          <p:cNvPr id="6" name="">
            <a:extLst xmlns:a="http://schemas.openxmlformats.org/drawingml/2006/main">
              <a:ext uri="{FF2B5EF4-FFF2-40B4-BE49-F238E27FC236}">
                <a16:creationId xmlns:a16="http://schemas.microsoft.com/office/drawing/2014/main" id="{183FD9C7-44F2-460B-B7B8-83E3B97B6F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F6E832-757F-4E9B-AFD5-8F738ADD38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722573422"/>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A05E73-E4C8-4D7D-95D0-58E7A1A533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02C153-EBD1-4A8B-A05A-BFCD5E6B49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A26C49A8-B263-4CF4-8DF4-074D488A41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BA00CCB-1DD8-490F-A4D8-8F47CE3B04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A6371BC3-6442-4EF5-A86D-247FE48D7F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Factors inhibiting the absorption of magnesium include: excess fat, phosphates, calcium, and a state of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parathyroid hormone (PTH) stimulates the increased absorption of magnesium by the intestinal tract.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excretion is also accomplished via the renal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this will vary according to the body's needs and renal function.</a:t>
            </a:r>
          </a:p>
        </p:txBody>
      </p:sp>
      <p:sp>
        <p:nvSpPr>
          <p:cNvPr id="6" name="">
            <a:extLst xmlns:a="http://schemas.openxmlformats.org/drawingml/2006/main">
              <a:ext uri="{FF2B5EF4-FFF2-40B4-BE49-F238E27FC236}">
                <a16:creationId xmlns:a16="http://schemas.microsoft.com/office/drawing/2014/main" id="{536A1823-85D4-47FA-B82F-DE2906BBE5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7EB805-A57E-4482-B464-F881D52497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23826229"/>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623594-638C-4260-9EA8-95CC0A4EEC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2AB3F70-85E8-4F91-A65D-55D366D2B3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E1E18331-E7D5-4396-AC48-E52A8CB186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43FF488-E9D2-4290-925D-3F99A70089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8A42AD4C-AB9E-4139-AAC1-DF1C90243F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Deficit (Hypomagnesemia) The majority of magnesium imbalances are usually in the deficit state.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is essential to neuromuscular integration.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Deficits can produce increased neuromuscular irritability, convulsions, and behavioral changes similar to hypocalcemia.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Deficits caused by the absence of magnesium additives to infusions can be easily rectified by the addition of 3-5 mEq of magnesium per liter.</a:t>
            </a:r>
          </a:p>
        </p:txBody>
      </p:sp>
      <p:sp>
        <p:nvSpPr>
          <p:cNvPr id="6" name="">
            <a:extLst xmlns:a="http://schemas.openxmlformats.org/drawingml/2006/main">
              <a:ext uri="{FF2B5EF4-FFF2-40B4-BE49-F238E27FC236}">
                <a16:creationId xmlns:a16="http://schemas.microsoft.com/office/drawing/2014/main" id="{B83F8A99-1377-42F6-9F0B-915A7B70C9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C514469-3679-4C29-BE98-CA180AA365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293585781"/>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303290-13B0-4EEA-9FA4-6455BAA6B5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4734CF-4AB5-4399-990E-2AF1786904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C44E1AAE-301C-4180-AEBA-09BAE497FA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426FC28-2748-4BEF-BBCF-98035A7D7D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FF1F3247-6AC6-448A-AFCA-4B451FB96DD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deficiencies can also occur due to severe mal-absorption, prolonged nasogastric tube suctioning, diabetic acidosis, acute Pancreatitis, chronic alcoholism, and diuretic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characterized by neuromuscular and central nervous system hyperactivity.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may be manifested by muscle tremors, Tetany, convulsions, or delirium.</a:t>
            </a:r>
          </a:p>
        </p:txBody>
      </p:sp>
      <p:sp>
        <p:nvSpPr>
          <p:cNvPr id="6" name="">
            <a:extLst xmlns:a="http://schemas.openxmlformats.org/drawingml/2006/main">
              <a:ext uri="{FF2B5EF4-FFF2-40B4-BE49-F238E27FC236}">
                <a16:creationId xmlns:a16="http://schemas.microsoft.com/office/drawing/2014/main" id="{F6BA6A5D-DFCD-4DB7-9FBD-6864A7DBC7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56560C-BBDF-483B-96FD-B6DC0D1CC4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575551332"/>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C0C0AE-072F-4630-8B6D-39AA10CAE0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69AA31-C101-43D4-B56D-997ABF6092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68787FEC-25F5-4054-AC3B-157BA49B02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3656029-C248-4F2B-8878-14AD8A363C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D2E9E6E5-680E-4130-B770-F4374014CB3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Hypomagnesemia may be difficult to diagnose based on symptoms alone, as a deficit in magnesium may present similarly to hypocalcemia.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common to have deficits if both occur simultaneously.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Serum levels of magnesium may prove to be the best diagnostic tool.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consists of intravenous administration if the level is critical.</a:t>
            </a:r>
          </a:p>
        </p:txBody>
      </p:sp>
      <p:sp>
        <p:nvSpPr>
          <p:cNvPr id="6" name="">
            <a:extLst xmlns:a="http://schemas.openxmlformats.org/drawingml/2006/main">
              <a:ext uri="{FF2B5EF4-FFF2-40B4-BE49-F238E27FC236}">
                <a16:creationId xmlns:a16="http://schemas.microsoft.com/office/drawing/2014/main" id="{543D0B0C-ED85-4C1A-A784-7EC18CAA83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98E20C-420C-43D6-84A0-172B377A288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138219489"/>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6BC981-6F70-4C42-8514-873B9E3C18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1C6243-AB7D-4969-B7B1-EF31570A80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7CDB5331-7602-481C-9085-6D87BB97AE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4148A0B-015E-423E-BB3D-82A1E6615D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F70EC628-A65F-4830-871F-C1A202E525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oral route is safer but slower.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replacement is magnesium sulfate.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injection route, if chosen, is very painful and must be given as a deep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injection, or I.V.</a:t>
            </a:r>
          </a:p>
        </p:txBody>
      </p:sp>
      <p:sp>
        <p:nvSpPr>
          <p:cNvPr id="6" name="">
            <a:extLst xmlns:a="http://schemas.openxmlformats.org/drawingml/2006/main">
              <a:ext uri="{FF2B5EF4-FFF2-40B4-BE49-F238E27FC236}">
                <a16:creationId xmlns:a16="http://schemas.microsoft.com/office/drawing/2014/main" id="{D0C910F4-1110-4A88-80F0-8F1F1A8268A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956529-7D9B-44B4-A00C-5EFA59669AF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513993334"/>
      </p:ext>
    </p:extLst>
  </p:cSld>
</p:sld>
</file>

<file path=ppt/slides/slide10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BCDD63-C6F3-44F1-A357-FECFDA6F2E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7A44DD-0B99-4FD4-8038-70DB4240E03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5CB5EDCE-72DD-4909-AB5A-1C802A4419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01DAF48-8EEF-443D-9B55-6D94ECF3B7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108</a:t>
            </a:r>
          </a:p>
        </p:txBody>
      </p:sp>
      <p:sp>
        <p:nvSpPr>
          <p:cNvPr id="5" name="">
            <a:extLst xmlns:a="http://schemas.openxmlformats.org/drawingml/2006/main">
              <a:ext uri="{FF2B5EF4-FFF2-40B4-BE49-F238E27FC236}">
                <a16:creationId xmlns:a16="http://schemas.microsoft.com/office/drawing/2014/main" id="{3147B262-10FF-4F8F-89F7-CCA1335944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Magnesium Excess (Hypermagnesemia) The following may cause hypermagnesemia: *Overuse of magnesium containing antacids 34•</a:t>
            </a:r>
          </a:p>
        </p:txBody>
      </p:sp>
      <p:sp>
        <p:nvSpPr>
          <p:cNvPr id="6" name="">
            <a:extLst xmlns:a="http://schemas.openxmlformats.org/drawingml/2006/main">
              <a:ext uri="{FF2B5EF4-FFF2-40B4-BE49-F238E27FC236}">
                <a16:creationId xmlns:a16="http://schemas.microsoft.com/office/drawing/2014/main" id="{29E60DCC-8E46-4D6B-8C59-D6EB927A25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20EDEF7-F82B-4BF4-B984-15DBBE4B35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710249207"/>
      </p:ext>
    </p:extLst>
  </p:cSld>
</p:sld>
</file>

<file path=ppt/slides/slide10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A8EB5C-BB1F-4FF7-B1CC-FF34C08F96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2B016C-9D58-4329-9BA7-EFB14D813F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a:t>
            </a:r>
          </a:p>
        </p:txBody>
      </p:sp>
      <p:sp>
        <p:nvSpPr>
          <p:cNvPr id="3" name="">
            <a:extLst xmlns:a="http://schemas.openxmlformats.org/drawingml/2006/main">
              <a:ext uri="{FF2B5EF4-FFF2-40B4-BE49-F238E27FC236}">
                <a16:creationId xmlns:a16="http://schemas.microsoft.com/office/drawing/2014/main" id="{B01FB3AE-8E9E-4274-8404-52F466A415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41576A5-4C12-4E7E-A0B6-D1F220B570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109</a:t>
            </a:r>
          </a:p>
        </p:txBody>
      </p:sp>
      <p:sp>
        <p:nvSpPr>
          <p:cNvPr id="5" name="">
            <a:extLst xmlns:a="http://schemas.openxmlformats.org/drawingml/2006/main">
              <a:ext uri="{FF2B5EF4-FFF2-40B4-BE49-F238E27FC236}">
                <a16:creationId xmlns:a16="http://schemas.microsoft.com/office/drawing/2014/main" id="{EDE6F322-F24A-457D-B278-668A90AA09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insufficiency *Severe dehydration, resulting in oliguria and retention of magnesium *Multiple enemas with Magnesium Sulfate (Epsom Salts).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pronounced reduction in neuromuscular irritability is a main physiologic change.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the level becomes greater than 7mEq common manifestations may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hypotension, a sensation of warmth throughout the body, drowsiness, possible coma, depressed respirations, and cardiac dysrythmias.</a:t>
            </a:r>
          </a:p>
        </p:txBody>
      </p:sp>
      <p:sp>
        <p:nvSpPr>
          <p:cNvPr id="6" name="">
            <a:extLst xmlns:a="http://schemas.openxmlformats.org/drawingml/2006/main">
              <a:ext uri="{FF2B5EF4-FFF2-40B4-BE49-F238E27FC236}">
                <a16:creationId xmlns:a16="http://schemas.microsoft.com/office/drawing/2014/main" id="{47C18252-3CCA-4286-8278-CF6449A2EA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05BFFC-CC61-4A2A-86F1-DF4C9A98BE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04969843"/>
      </p:ext>
    </p:extLst>
  </p:cSld>
</p:sld>
</file>

<file path=ppt/slides/slide1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10313C-2BD7-43C2-B10E-00BC7D4309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C95BFE-2B0B-4697-8054-F4B17567EC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05FEFC75-777A-4338-ABD6-532CB0430A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2829625-872F-425F-8C57-73DC00AE13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110</a:t>
            </a:r>
          </a:p>
        </p:txBody>
      </p:sp>
      <p:sp>
        <p:nvSpPr>
          <p:cNvPr id="5" name="">
            <a:extLst xmlns:a="http://schemas.openxmlformats.org/drawingml/2006/main">
              <a:ext uri="{FF2B5EF4-FFF2-40B4-BE49-F238E27FC236}">
                <a16:creationId xmlns:a16="http://schemas.microsoft.com/office/drawing/2014/main" id="{7C8A8CEA-A2FF-4851-8AC2-D87F1FE00F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treatment is to treat the underlying cause and prevent the toxicity associated with magnesium excess.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those patients with renal failure, peritoneal or hemodialysis is the treatment of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Fluids are administered to the dehydrated patient, and to increase urinary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medications or compounds containing magnesium are with held.</a:t>
            </a:r>
          </a:p>
        </p:txBody>
      </p:sp>
      <p:sp>
        <p:nvSpPr>
          <p:cNvPr id="6" name="">
            <a:extLst xmlns:a="http://schemas.openxmlformats.org/drawingml/2006/main">
              <a:ext uri="{FF2B5EF4-FFF2-40B4-BE49-F238E27FC236}">
                <a16:creationId xmlns:a16="http://schemas.microsoft.com/office/drawing/2014/main" id="{B7A3267C-26BD-4876-A0EE-C3CF2D6649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CF0DF5-85BE-43D2-964A-8EBD7B2610F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544812423"/>
      </p:ext>
    </p:extLst>
  </p:cSld>
</p:sld>
</file>

<file path=ppt/slides/slide1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C0B0E1-20AB-44D6-8D13-3B500FD3BBC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F9A5BC-95F6-4110-9567-3A411F30FA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C6FD2CE1-3ECB-4A32-99C2-A98AB275FC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7E974E8-B4E5-4F85-816E-9F868362A7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111</a:t>
            </a:r>
          </a:p>
        </p:txBody>
      </p:sp>
      <p:sp>
        <p:nvSpPr>
          <p:cNvPr id="5" name="">
            <a:extLst xmlns:a="http://schemas.openxmlformats.org/drawingml/2006/main">
              <a:ext uri="{FF2B5EF4-FFF2-40B4-BE49-F238E27FC236}">
                <a16:creationId xmlns:a16="http://schemas.microsoft.com/office/drawing/2014/main" id="{72DCB104-C117-45AA-909F-01C8B73BC1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(CI-) The first measurable electrolyte was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accounts for 2/3 of the anions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mainly used to evaluate and identify acid-base imbalances.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Changes in serum chloride alone rarely cause clinical problems.</a:t>
            </a:r>
          </a:p>
        </p:txBody>
      </p:sp>
      <p:sp>
        <p:nvSpPr>
          <p:cNvPr id="6" name="">
            <a:extLst xmlns:a="http://schemas.openxmlformats.org/drawingml/2006/main">
              <a:ext uri="{FF2B5EF4-FFF2-40B4-BE49-F238E27FC236}">
                <a16:creationId xmlns:a16="http://schemas.microsoft.com/office/drawing/2014/main" id="{350B24F6-DD42-4EAD-8698-D14E593958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F3A671-96EB-4BDB-9AF2-ABA5539E87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2136146609"/>
      </p:ext>
    </p:extLst>
  </p:cSld>
</p:sld>
</file>

<file path=ppt/slides/slide1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2E7783-1A22-4038-984B-6C759E743B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607563-BD17-4AE0-AD80-F120820912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2B015603-D358-4A51-BB59-07A568CC5C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16A76C2-88AC-4E04-BDE9-5EC69A2424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112</a:t>
            </a:r>
          </a:p>
        </p:txBody>
      </p:sp>
      <p:sp>
        <p:nvSpPr>
          <p:cNvPr id="5" name="">
            <a:extLst xmlns:a="http://schemas.openxmlformats.org/drawingml/2006/main">
              <a:ext uri="{FF2B5EF4-FFF2-40B4-BE49-F238E27FC236}">
                <a16:creationId xmlns:a16="http://schemas.microsoft.com/office/drawing/2014/main" id="{14819901-DE73-437A-A2C5-F0EDC12DC52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Imbalances usually accompany imbalances in the sodium and potassium levels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serves to maintain water balance, osmotic pressure, and ECF cation and anion balance (sodium with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total cations must equal the total anions, therefore as chloride decreases bicarbonate will increase to equalize.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Deficit A deficiency in chloride may lead to alkalosis reflected as hyper excitability of the nervous system, especially the peripheral nerves.</a:t>
            </a:r>
          </a:p>
        </p:txBody>
      </p:sp>
      <p:sp>
        <p:nvSpPr>
          <p:cNvPr id="6" name="">
            <a:extLst xmlns:a="http://schemas.openxmlformats.org/drawingml/2006/main">
              <a:ext uri="{FF2B5EF4-FFF2-40B4-BE49-F238E27FC236}">
                <a16:creationId xmlns:a16="http://schemas.microsoft.com/office/drawing/2014/main" id="{D930F831-7BC6-4D33-AA8A-96C7411459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D94806-8122-4032-91DF-85CD1E79E63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339125844"/>
      </p:ext>
    </p:extLst>
  </p:cSld>
</p:sld>
</file>

<file path=ppt/slides/slide1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230B46-B0E3-4C98-ABFB-BAF6F9BFD3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7B46A7-7CA1-40D1-8119-B53086EEC1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83D899BF-A23A-4DB5-881A-642C0E0E4A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0F2688B-CE83-4B1F-A669-23D429FC56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113</a:t>
            </a:r>
          </a:p>
        </p:txBody>
      </p:sp>
      <p:sp>
        <p:nvSpPr>
          <p:cNvPr id="5" name="">
            <a:extLst xmlns:a="http://schemas.openxmlformats.org/drawingml/2006/main">
              <a:ext uri="{FF2B5EF4-FFF2-40B4-BE49-F238E27FC236}">
                <a16:creationId xmlns:a16="http://schemas.microsoft.com/office/drawing/2014/main" id="{D1CC08B2-707C-4A04-B0BE-D920C3D511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signs may present as stupor, deep rapid breathing, and weakness.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person is taking bicarbonate, Edecrin, Lasix, thiazide diuretics, or IV's of 5% D/W for prolonged periods of time, expect to see a low lab chloride level.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Excess (Hyperchloremia) Hyperchloremia be seen in the dehydrated patient as well as in head injury, primary Hyper Parathyroidism,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Tubular Acidosis, which may be a sign of Pyelonephritis, and respiratory alkalosis.</a:t>
            </a:r>
          </a:p>
        </p:txBody>
      </p:sp>
      <p:sp>
        <p:nvSpPr>
          <p:cNvPr id="6" name="">
            <a:extLst xmlns:a="http://schemas.openxmlformats.org/drawingml/2006/main">
              <a:ext uri="{FF2B5EF4-FFF2-40B4-BE49-F238E27FC236}">
                <a16:creationId xmlns:a16="http://schemas.microsoft.com/office/drawing/2014/main" id="{80F47E4C-2CE7-4C2D-8417-B848C53B7DC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AF783C-0813-4C11-B6B1-9B1C2FA7AF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789432851"/>
      </p:ext>
    </p:extLst>
  </p:cSld>
</p:sld>
</file>

<file path=ppt/slides/slide1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2BCE3C-FDFE-4F9C-9058-89080A61BB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92911F-2911-4B6E-BBB3-8F0843346C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032C148A-B842-47C1-AA42-379A06766CB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D911A4-3A63-428D-94F9-E6E6A79331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114</a:t>
            </a:r>
          </a:p>
        </p:txBody>
      </p:sp>
      <p:sp>
        <p:nvSpPr>
          <p:cNvPr id="5" name="">
            <a:extLst xmlns:a="http://schemas.openxmlformats.org/drawingml/2006/main">
              <a:ext uri="{FF2B5EF4-FFF2-40B4-BE49-F238E27FC236}">
                <a16:creationId xmlns:a16="http://schemas.microsoft.com/office/drawing/2014/main" id="{9115967F-C9B7-4629-9692-157308577F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Individuals taking drugs such as Boric Acid, Ammonium Chloride, Questran, Tanderil, and Butazolidin, may be at risk for chloride excess.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Treatment consists of rectifying the underlying cause.</a:t>
            </a:r>
          </a:p>
        </p:txBody>
      </p:sp>
      <p:sp>
        <p:nvSpPr>
          <p:cNvPr id="6" name="">
            <a:extLst xmlns:a="http://schemas.openxmlformats.org/drawingml/2006/main">
              <a:ext uri="{FF2B5EF4-FFF2-40B4-BE49-F238E27FC236}">
                <a16:creationId xmlns:a16="http://schemas.microsoft.com/office/drawing/2014/main" id="{7573E70E-3C03-4FB7-BA28-BBA94A13F9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D2D0FA-35BF-4EF9-8F72-998976EDA8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881535381"/>
      </p:ext>
    </p:extLst>
  </p:cSld>
</p:sld>
</file>

<file path=ppt/slides/slide1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4EA91F-82BB-4FEC-9C35-CB85738D32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AB7C62-2511-4231-8AD3-F47ABA2002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a:t>
            </a:r>
          </a:p>
        </p:txBody>
      </p:sp>
      <p:sp>
        <p:nvSpPr>
          <p:cNvPr id="3" name="">
            <a:extLst xmlns:a="http://schemas.openxmlformats.org/drawingml/2006/main">
              <a:ext uri="{FF2B5EF4-FFF2-40B4-BE49-F238E27FC236}">
                <a16:creationId xmlns:a16="http://schemas.microsoft.com/office/drawing/2014/main" id="{61DC7F2C-8D5B-45D3-90F8-2285A08C0D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FB35FB0-62DA-414A-AEDB-4DAF6C2334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115</a:t>
            </a:r>
          </a:p>
        </p:txBody>
      </p:sp>
      <p:sp>
        <p:nvSpPr>
          <p:cNvPr id="5" name="">
            <a:extLst xmlns:a="http://schemas.openxmlformats.org/drawingml/2006/main">
              <a:ext uri="{FF2B5EF4-FFF2-40B4-BE49-F238E27FC236}">
                <a16:creationId xmlns:a16="http://schemas.microsoft.com/office/drawing/2014/main" id="{9A731F6E-B069-418E-9686-01E6D91B05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hydrogen ions in our body must remain in balance to maintain good health.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acidity or alkalinity of a solution is determined by the hydrogen ion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decrease in ions makes the solution alkaline, and an increase makes the solution acidic.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Hydrogen exists at a very low concentration (0.00004 mEq/L) as compared with other electrolytes.</a:t>
            </a:r>
          </a:p>
        </p:txBody>
      </p:sp>
      <p:sp>
        <p:nvSpPr>
          <p:cNvPr id="6" name="">
            <a:extLst xmlns:a="http://schemas.openxmlformats.org/drawingml/2006/main">
              <a:ext uri="{FF2B5EF4-FFF2-40B4-BE49-F238E27FC236}">
                <a16:creationId xmlns:a16="http://schemas.microsoft.com/office/drawing/2014/main" id="{B0A9200A-C1D5-429F-8343-2FA3C7D349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525034-ED27-4F40-9013-96A0C2D388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601639417"/>
      </p:ext>
    </p:extLst>
  </p:cSld>
</p:sld>
</file>

<file path=ppt/slides/slide1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DC7FA3-0A8E-4380-844E-774DBA5ADE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BDFA5B-D480-4164-AEEB-4FD7AAE8D8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F4E64CCB-A8DC-4920-9C23-50C88EF85F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1E5384C-5643-4358-ACBE-EEB54D2F49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116</a:t>
            </a:r>
          </a:p>
        </p:txBody>
      </p:sp>
      <p:sp>
        <p:nvSpPr>
          <p:cNvPr id="5" name="">
            <a:extLst xmlns:a="http://schemas.openxmlformats.org/drawingml/2006/main">
              <a:ext uri="{FF2B5EF4-FFF2-40B4-BE49-F238E27FC236}">
                <a16:creationId xmlns:a16="http://schemas.microsoft.com/office/drawing/2014/main" id="{8D411F46-A237-45FD-A34F-15AA8A5BE3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is best able to compensate in fluctuations in hydrogen ions than any other 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ion is found in both the ECF and ICF and plays a vital role in the regulation of metabolic and biochemical activities necessary for cellular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necessary for both the functioning of the enzyme system and the binding of oxygen by hemoglobin.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acidity or alkalinity of a particular solution is measured in terms of ph, which is a measurement of the hydrogen ion concentration.</a:t>
            </a:r>
          </a:p>
        </p:txBody>
      </p:sp>
      <p:sp>
        <p:nvSpPr>
          <p:cNvPr id="6" name="">
            <a:extLst xmlns:a="http://schemas.openxmlformats.org/drawingml/2006/main">
              <a:ext uri="{FF2B5EF4-FFF2-40B4-BE49-F238E27FC236}">
                <a16:creationId xmlns:a16="http://schemas.microsoft.com/office/drawing/2014/main" id="{EE1B2132-8221-4464-890B-312F9C6157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6282A7-BECE-41E5-A2DF-A1BB96FC63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627827180"/>
      </p:ext>
    </p:extLst>
  </p:cSld>
</p:sld>
</file>

<file path=ppt/slides/slide1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3AA7A7-3CA5-473F-9EAD-95003116E1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9ED396-43F9-4C39-ACB0-9E0B2FCD14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43C77C3F-3EBB-47F5-87A5-DE83AEC409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E198B8F-9C16-4E6E-BE2C-3A5A2B0D10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117</a:t>
            </a:r>
          </a:p>
        </p:txBody>
      </p:sp>
      <p:sp>
        <p:nvSpPr>
          <p:cNvPr id="5" name="">
            <a:extLst xmlns:a="http://schemas.openxmlformats.org/drawingml/2006/main">
              <a:ext uri="{FF2B5EF4-FFF2-40B4-BE49-F238E27FC236}">
                <a16:creationId xmlns:a16="http://schemas.microsoft.com/office/drawing/2014/main" id="{9E9E6511-4EBE-4430-B15A-E056B9E81E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total pH scale from 0-14 with a neutral value of 7 is generally the measurement index.</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higher the pH, the lower the hydrogen ion concentration - the more alkaline the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lower the ph, the greater number of hydrogen 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a solution with a pH of 3 is acidic and a ph of 11 is alkalotic.</a:t>
            </a:r>
          </a:p>
        </p:txBody>
      </p:sp>
      <p:sp>
        <p:nvSpPr>
          <p:cNvPr id="6" name="">
            <a:extLst xmlns:a="http://schemas.openxmlformats.org/drawingml/2006/main">
              <a:ext uri="{FF2B5EF4-FFF2-40B4-BE49-F238E27FC236}">
                <a16:creationId xmlns:a16="http://schemas.microsoft.com/office/drawing/2014/main" id="{5AA0EF5F-852C-4876-8611-060A8B0463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1C7355-7600-428E-9092-A6FD91C809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832826221"/>
      </p:ext>
    </p:extLst>
  </p:cSld>
</p:sld>
</file>

<file path=ppt/slides/slide1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7EC918-DBD1-4B52-A3AE-F197A72686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2B0464-FE0E-4727-98E4-6297E7231B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492A1E86-250E-4BEB-A7A7-A4E80A22B8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2497127-04F3-4CF0-B50E-D5D83F0FE2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DDB15394-D74A-4032-BDBF-C3E7BBEA3A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blood pH ranges in the body from 6.8-7.8.</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range is compatible with life.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the normal blood ph is between 7.35 - 7.45.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largest number of hydrogen ions (Ht) is released from metabolic processes.</a:t>
            </a:r>
          </a:p>
        </p:txBody>
      </p:sp>
      <p:sp>
        <p:nvSpPr>
          <p:cNvPr id="6" name="">
            <a:extLst xmlns:a="http://schemas.openxmlformats.org/drawingml/2006/main">
              <a:ext uri="{FF2B5EF4-FFF2-40B4-BE49-F238E27FC236}">
                <a16:creationId xmlns:a16="http://schemas.microsoft.com/office/drawing/2014/main" id="{6F5DE600-5604-48F5-AF15-94BFC53DB6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E5BE52-5506-4A7A-A50A-8022759CA65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341284097"/>
      </p:ext>
    </p:extLst>
  </p:cSld>
</p:sld>
</file>

<file path=ppt/slides/slide1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1F7736-EC94-4136-A00C-CEC73E8116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29C5F4-CDDE-4D03-9649-03CE64B94B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965936B7-56C4-448E-A7D1-42297B2D20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571A10F-482A-464E-93CF-BFF86A2B64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119</a:t>
            </a:r>
          </a:p>
        </p:txBody>
      </p:sp>
      <p:sp>
        <p:nvSpPr>
          <p:cNvPr id="5" name="">
            <a:extLst xmlns:a="http://schemas.openxmlformats.org/drawingml/2006/main">
              <a:ext uri="{FF2B5EF4-FFF2-40B4-BE49-F238E27FC236}">
                <a16:creationId xmlns:a16="http://schemas.microsoft.com/office/drawing/2014/main" id="{0FAE7C32-451F-4E43-A3EC-6D9AA3AA18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metabolic process that released volatile H+ is the complete metabolism of fat and carbohydrate to oxygen and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yields approximately 14,000 mEq of carbonic acid daily.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of the processes that yield non-volatile Ht are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incomplete breakdown of carbohydrates and fats to form Lactic Acid</a:t>
            </a:r>
          </a:p>
        </p:txBody>
      </p:sp>
      <p:sp>
        <p:nvSpPr>
          <p:cNvPr id="6" name="">
            <a:extLst xmlns:a="http://schemas.openxmlformats.org/drawingml/2006/main">
              <a:ext uri="{FF2B5EF4-FFF2-40B4-BE49-F238E27FC236}">
                <a16:creationId xmlns:a16="http://schemas.microsoft.com/office/drawing/2014/main" id="{8CD633AA-A207-4F99-8DE2-8AB6EB37B5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553EDE-70DF-4138-B09A-0FFD319971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516597246"/>
      </p:ext>
    </p:extLst>
  </p:cSld>
</p:sld>
</file>

<file path=ppt/slides/slide1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7E960B-EEB1-4622-98B8-7F571E5965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F16B0B-3159-462E-BC7E-B7038D6DC9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63F40080-5D58-48D0-A39B-81ECC66B14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A3F8453-D053-4F2D-BAF8-426B2C01C3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120</a:t>
            </a:r>
          </a:p>
        </p:txBody>
      </p:sp>
      <p:sp>
        <p:nvSpPr>
          <p:cNvPr id="5" name="">
            <a:extLst xmlns:a="http://schemas.openxmlformats.org/drawingml/2006/main">
              <a:ext uri="{FF2B5EF4-FFF2-40B4-BE49-F238E27FC236}">
                <a16:creationId xmlns:a16="http://schemas.microsoft.com/office/drawing/2014/main" id="{17C66630-47C9-410A-B927-BAF13E7FF7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Pyruvic Acid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Acetoacetic Acid, and Citric Acid.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oxidation of sulfur - containing amino acids to yield sulfuric acid residues.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oxidation of nucleoproteins and phosphoproteins.</a:t>
            </a:r>
          </a:p>
        </p:txBody>
      </p:sp>
      <p:sp>
        <p:nvSpPr>
          <p:cNvPr id="6" name="">
            <a:extLst xmlns:a="http://schemas.openxmlformats.org/drawingml/2006/main">
              <a:ext uri="{FF2B5EF4-FFF2-40B4-BE49-F238E27FC236}">
                <a16:creationId xmlns:a16="http://schemas.microsoft.com/office/drawing/2014/main" id="{805F4715-8B53-4408-BAF5-1A780E052C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FD2AD58-2CAF-41A4-9BB1-7B29D0DF803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918723313"/>
      </p:ext>
    </p:extLst>
  </p:cSld>
</p:sld>
</file>

<file path=ppt/slides/slide1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0DB4BF-C668-47A6-B1FA-CFFB594983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D8AA23-B801-40F2-90AF-3C889AD5D4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B74FDC2F-D338-44B9-BB3C-9EE2ECCFD7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A792FA7-9804-4118-A396-D9E5CFC1DE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121</a:t>
            </a:r>
          </a:p>
        </p:txBody>
      </p:sp>
      <p:sp>
        <p:nvSpPr>
          <p:cNvPr id="5" name="">
            <a:extLst xmlns:a="http://schemas.openxmlformats.org/drawingml/2006/main">
              <a:ext uri="{FF2B5EF4-FFF2-40B4-BE49-F238E27FC236}">
                <a16:creationId xmlns:a16="http://schemas.microsoft.com/office/drawing/2014/main" id="{977FDB65-F254-4167-92C3-A89AB134F5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Buffer System There are specific compounds of chemical in our ECF that act as "Buffers" against sudden changes in the Ht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buffers can be seen to function as chemical sponges.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important buffer present in the ECF is carbonic acid/sodium bicarbonate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Clinically disturbances in the acid base balance are considered in terms of this buffer system.</a:t>
            </a:r>
          </a:p>
        </p:txBody>
      </p:sp>
      <p:sp>
        <p:nvSpPr>
          <p:cNvPr id="6" name="">
            <a:extLst xmlns:a="http://schemas.openxmlformats.org/drawingml/2006/main">
              <a:ext uri="{FF2B5EF4-FFF2-40B4-BE49-F238E27FC236}">
                <a16:creationId xmlns:a16="http://schemas.microsoft.com/office/drawing/2014/main" id="{86B96D48-0371-4BA2-B9A3-4DB6387974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109AC5-35DA-4487-96BE-B722CBF6BF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309589572"/>
      </p:ext>
    </p:extLst>
  </p:cSld>
</p:sld>
</file>

<file path=ppt/slides/slide1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C5167E-B778-479C-A9AE-CCDB4D28F3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7D89E3-52DD-4695-9EBB-AB035D8EC1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01A02493-9FD8-4F84-9F6C-5AE670FE9A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0DB8F95-9005-497E-B6E4-FAECA6A901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122</a:t>
            </a:r>
          </a:p>
        </p:txBody>
      </p:sp>
      <p:sp>
        <p:nvSpPr>
          <p:cNvPr id="5" name="">
            <a:extLst xmlns:a="http://schemas.openxmlformats.org/drawingml/2006/main">
              <a:ext uri="{FF2B5EF4-FFF2-40B4-BE49-F238E27FC236}">
                <a16:creationId xmlns:a16="http://schemas.microsoft.com/office/drawing/2014/main" id="{9CBAC817-4321-4E84-8E0D-6B2E4EECBE1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ratio is one part Carbonic Acid to 20 parts of Bicarbonate in the ECF (1:20).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second buffer system to assist in maintaining this balance is the lungs.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Carbon Dioxide (CO2) is excreted from the lungs through an increased depth and rate of respirations.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third system is the kidneys whose excretion assists the first two systems.</a:t>
            </a:r>
          </a:p>
        </p:txBody>
      </p:sp>
      <p:sp>
        <p:nvSpPr>
          <p:cNvPr id="6" name="">
            <a:extLst xmlns:a="http://schemas.openxmlformats.org/drawingml/2006/main">
              <a:ext uri="{FF2B5EF4-FFF2-40B4-BE49-F238E27FC236}">
                <a16:creationId xmlns:a16="http://schemas.microsoft.com/office/drawing/2014/main" id="{FD1DD209-9A70-49FA-9125-3847B5E8BA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94E1BE8-D06B-4DDC-8B86-21E16D2218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917940892"/>
      </p:ext>
    </p:extLst>
  </p:cSld>
</p:sld>
</file>

<file path=ppt/slides/slide1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DE0DBA-2967-4871-9401-12B4B155FB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06F8E4-BF44-4105-B655-F3D52051EC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86D03C2C-D914-4653-AEDD-A9AE3C66A5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38CFE49-3146-49C5-99D6-54F9607FD7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123</a:t>
            </a:r>
          </a:p>
        </p:txBody>
      </p:sp>
      <p:sp>
        <p:nvSpPr>
          <p:cNvPr id="5" name="">
            <a:extLst xmlns:a="http://schemas.openxmlformats.org/drawingml/2006/main">
              <a:ext uri="{FF2B5EF4-FFF2-40B4-BE49-F238E27FC236}">
                <a16:creationId xmlns:a16="http://schemas.microsoft.com/office/drawing/2014/main" id="{CF843C32-5C4B-4EB1-AFFB-A96932EFC0A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 these processes occur the buffer ratio returns to its original value of 1:20.</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the three systems do not work and successful compensation does not occur, the result is an acid shift in the pH.</a:t>
            </a:r>
          </a:p>
        </p:txBody>
      </p:sp>
      <p:sp>
        <p:nvSpPr>
          <p:cNvPr id="6" name="">
            <a:extLst xmlns:a="http://schemas.openxmlformats.org/drawingml/2006/main">
              <a:ext uri="{FF2B5EF4-FFF2-40B4-BE49-F238E27FC236}">
                <a16:creationId xmlns:a16="http://schemas.microsoft.com/office/drawing/2014/main" id="{33DABA8F-5F9B-4766-B6AD-E9FD9D2B83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391B03-8505-4F21-B364-000AE2820A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894602907"/>
      </p:ext>
    </p:extLst>
  </p:cSld>
</p:sld>
</file>

<file path=ppt/slides/slide1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2532F-D2FD-4AAC-8172-EBDCA79F95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75CABD-7275-441E-A627-41D6AA2A40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a:t>
            </a:r>
          </a:p>
        </p:txBody>
      </p:sp>
      <p:sp>
        <p:nvSpPr>
          <p:cNvPr id="3" name="">
            <a:extLst xmlns:a="http://schemas.openxmlformats.org/drawingml/2006/main">
              <a:ext uri="{FF2B5EF4-FFF2-40B4-BE49-F238E27FC236}">
                <a16:creationId xmlns:a16="http://schemas.microsoft.com/office/drawing/2014/main" id="{72DF5814-8549-47E4-AB86-E38AC3058E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BD261D6-2BE6-4275-AAFD-8B1A200A56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124</a:t>
            </a:r>
          </a:p>
        </p:txBody>
      </p:sp>
      <p:sp>
        <p:nvSpPr>
          <p:cNvPr id="5" name="">
            <a:extLst xmlns:a="http://schemas.openxmlformats.org/drawingml/2006/main">
              <a:ext uri="{FF2B5EF4-FFF2-40B4-BE49-F238E27FC236}">
                <a16:creationId xmlns:a16="http://schemas.microsoft.com/office/drawing/2014/main" id="{C5290457-FEA7-4742-9676-A8D20A83D47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diagnosis of metabolic acidosis or metabolic alkalosis is usually made from the bicarbonate level in the plasma (24-31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Bicarbonate in the plasma is regulated by the kidneys through the acidification or alkalinization of the urine.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respiratory acidosis and alkalosis, the primary changes in carbonic acid are reflected bysecondary changes in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Acidosis is characterized by accumulation of CO2 due to hypoventilation.</a:t>
            </a:r>
          </a:p>
        </p:txBody>
      </p:sp>
      <p:sp>
        <p:nvSpPr>
          <p:cNvPr id="6" name="">
            <a:extLst xmlns:a="http://schemas.openxmlformats.org/drawingml/2006/main">
              <a:ext uri="{FF2B5EF4-FFF2-40B4-BE49-F238E27FC236}">
                <a16:creationId xmlns:a16="http://schemas.microsoft.com/office/drawing/2014/main" id="{FB32D862-E83B-4433-80C5-79EEB32C02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D25FDE7-C2D7-4B9C-A93F-46610E8535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034239612"/>
      </p:ext>
    </p:extLst>
  </p:cSld>
</p:sld>
</file>

<file path=ppt/slides/slide1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E4B31D-9A8D-4E49-8AA3-4CC092B293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CBA9CE-C6B8-461C-98CF-6F0EAC7E45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DF87B224-91CC-4FAA-9847-324CDACE64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2BA9C06-46B4-4142-981C-8DA5364764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125</a:t>
            </a:r>
          </a:p>
        </p:txBody>
      </p:sp>
      <p:sp>
        <p:nvSpPr>
          <p:cNvPr id="5" name="">
            <a:extLst xmlns:a="http://schemas.openxmlformats.org/drawingml/2006/main">
              <a:ext uri="{FF2B5EF4-FFF2-40B4-BE49-F238E27FC236}">
                <a16:creationId xmlns:a16="http://schemas.microsoft.com/office/drawing/2014/main" id="{D6FA1E7D-7814-4FD8-845E-3B41C0140E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Conversely, in alkalosis, there is a deficit of CO2 due to hyperventilation.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 - Base Deviations Metabolic Respiratory Blood (HCO3) (PCO2) pH Respiratory Alkalosis Respiratory Acidosis Metabolic Alkalosis Metabolic Acidosis Use the following acronym to help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with respiratory and metabolic questions on the exam: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ROME:</a:t>
            </a:r>
          </a:p>
        </p:txBody>
      </p:sp>
      <p:sp>
        <p:nvSpPr>
          <p:cNvPr id="6" name="">
            <a:extLst xmlns:a="http://schemas.openxmlformats.org/drawingml/2006/main">
              <a:ext uri="{FF2B5EF4-FFF2-40B4-BE49-F238E27FC236}">
                <a16:creationId xmlns:a16="http://schemas.microsoft.com/office/drawing/2014/main" id="{E047C532-92A1-4874-B247-FCE2536367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539A51-7F82-4042-B301-714AB723DC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299217970"/>
      </p:ext>
    </p:extLst>
  </p:cSld>
</p:sld>
</file>

<file path=ppt/slides/slide1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D35446-AB4E-4A38-8AF7-92C73C390E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B5BDEF-F49E-4D47-BBFE-5934AC3113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A96C8F92-D2C1-4307-9FA6-FCF647CD7F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3A8519F-B810-4654-840D-9ACA1F1BBA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126</a:t>
            </a:r>
          </a:p>
        </p:txBody>
      </p:sp>
      <p:sp>
        <p:nvSpPr>
          <p:cNvPr id="5" name="">
            <a:extLst xmlns:a="http://schemas.openxmlformats.org/drawingml/2006/main">
              <a:ext uri="{FF2B5EF4-FFF2-40B4-BE49-F238E27FC236}">
                <a16:creationId xmlns:a16="http://schemas.microsoft.com/office/drawing/2014/main" id="{87C0054C-3CD4-44BB-8B63-C446CBDFE10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Opposite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Equal This means, in respiratory disorders the pH is opposite to the CO2 and HCO3, and in metabolic disorders the pH is equal to or moves in the same direction as the CO2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Here's an explanation:</a:t>
            </a:r>
          </a:p>
        </p:txBody>
      </p:sp>
      <p:sp>
        <p:nvSpPr>
          <p:cNvPr id="6" name="">
            <a:extLst xmlns:a="http://schemas.openxmlformats.org/drawingml/2006/main">
              <a:ext uri="{FF2B5EF4-FFF2-40B4-BE49-F238E27FC236}">
                <a16:creationId xmlns:a16="http://schemas.microsoft.com/office/drawing/2014/main" id="{A24E9EE8-7F22-4A08-93E1-1D2DC1E198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519302-9868-4E3C-97AA-562DE5CD84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455363950"/>
      </p:ext>
    </p:extLst>
  </p:cSld>
</p:sld>
</file>

<file path=ppt/slides/slide1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7EC6BB-A40A-4F39-A387-D68FF3A0108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7FF78E-73A6-4040-B23E-D9F6798728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79459568-C3BE-4559-A931-2E153F3333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D37E018-2C82-453F-8E49-F88E713E93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127</a:t>
            </a:r>
          </a:p>
        </p:txBody>
      </p:sp>
      <p:sp>
        <p:nvSpPr>
          <p:cNvPr id="5" name="">
            <a:extLst xmlns:a="http://schemas.openxmlformats.org/drawingml/2006/main">
              <a:ext uri="{FF2B5EF4-FFF2-40B4-BE49-F238E27FC236}">
                <a16:creationId xmlns:a16="http://schemas.microsoft.com/office/drawing/2014/main" id="{9F1C94A0-3B0F-4972-ADAA-76005FD3EF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acidosis- pH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up,HCO3 up • Metabolic acidosis-pH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down • Respiratory alkalosis-pH up</a:t>
            </a:r>
          </a:p>
        </p:txBody>
      </p:sp>
      <p:sp>
        <p:nvSpPr>
          <p:cNvPr id="6" name="">
            <a:extLst xmlns:a="http://schemas.openxmlformats.org/drawingml/2006/main">
              <a:ext uri="{FF2B5EF4-FFF2-40B4-BE49-F238E27FC236}">
                <a16:creationId xmlns:a16="http://schemas.microsoft.com/office/drawing/2014/main" id="{2A12CCE6-9A8E-42BD-B1EA-C99E8091F4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4F3626-EA9F-4772-B19B-2A3FA3B8FD0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222126723"/>
      </p:ext>
    </p:extLst>
  </p:cSld>
</p:sld>
</file>

<file path=ppt/slides/slide1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4F8F02-E507-4E47-9F7F-23BCAA9F79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5A51D7-DC79-459F-8C8E-1AD81410E6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9CBACBD2-635B-4619-81DD-89BD9BF5AD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D99BD75-55B1-485E-A2B0-7AD7323FE0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128</a:t>
            </a:r>
          </a:p>
        </p:txBody>
      </p:sp>
      <p:sp>
        <p:nvSpPr>
          <p:cNvPr id="5" name="">
            <a:extLst xmlns:a="http://schemas.openxmlformats.org/drawingml/2006/main">
              <a:ext uri="{FF2B5EF4-FFF2-40B4-BE49-F238E27FC236}">
                <a16:creationId xmlns:a16="http://schemas.microsoft.com/office/drawing/2014/main" id="{8DDF23E8-8CCF-445C-B9D8-A9E3320C6E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down &gt;&gt; Metabolic alkalosis- pH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up</a:t>
            </a:r>
          </a:p>
        </p:txBody>
      </p:sp>
      <p:sp>
        <p:nvSpPr>
          <p:cNvPr id="6" name="">
            <a:extLst xmlns:a="http://schemas.openxmlformats.org/drawingml/2006/main">
              <a:ext uri="{FF2B5EF4-FFF2-40B4-BE49-F238E27FC236}">
                <a16:creationId xmlns:a16="http://schemas.microsoft.com/office/drawing/2014/main" id="{D413F0DF-A49D-48DB-BA44-15883E0D72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A063AB-3443-439A-A9B7-CA930205CD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413330838"/>
      </p:ext>
    </p:extLst>
  </p:cSld>
</p:sld>
</file>

<file path=ppt/slides/slide1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29E0DE-4783-4DCF-9A5A-A3CE252A0D7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E5DBC4-7CD6-4F03-85D9-0DF3C276D3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a:t>
            </a:r>
          </a:p>
        </p:txBody>
      </p:sp>
      <p:sp>
        <p:nvSpPr>
          <p:cNvPr id="3" name="">
            <a:extLst xmlns:a="http://schemas.openxmlformats.org/drawingml/2006/main">
              <a:ext uri="{FF2B5EF4-FFF2-40B4-BE49-F238E27FC236}">
                <a16:creationId xmlns:a16="http://schemas.microsoft.com/office/drawing/2014/main" id="{415090EA-6C6B-438F-95AF-A500B80D9C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2B907A5-5EAB-41CC-8351-F7AF9282A8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129</a:t>
            </a:r>
          </a:p>
        </p:txBody>
      </p:sp>
      <p:sp>
        <p:nvSpPr>
          <p:cNvPr id="5" name="">
            <a:extLst xmlns:a="http://schemas.openxmlformats.org/drawingml/2006/main">
              <a:ext uri="{FF2B5EF4-FFF2-40B4-BE49-F238E27FC236}">
                <a16:creationId xmlns:a16="http://schemas.microsoft.com/office/drawing/2014/main" id="{85C62E58-60E0-4AAB-9901-E3D913B54D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Simple disturbance of acid-base balance are those in which there is only a single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Alkalosis - When excessive CO2 is excreted respiratory alkalosis ensues.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 decrease in PCO2, a decrease in H2C03 and a rise in pH, usually results from hyperventilation or over stimulation of the respiratory center of the brain.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Over stimulation of the respiratory center of the brain can be caused by diseases of the CNS, fever, intracranial surgery</a:t>
            </a:r>
          </a:p>
        </p:txBody>
      </p:sp>
      <p:sp>
        <p:nvSpPr>
          <p:cNvPr id="6" name="">
            <a:extLst xmlns:a="http://schemas.openxmlformats.org/drawingml/2006/main">
              <a:ext uri="{FF2B5EF4-FFF2-40B4-BE49-F238E27FC236}">
                <a16:creationId xmlns:a16="http://schemas.microsoft.com/office/drawing/2014/main" id="{C5775575-270F-4BAC-A376-9F55711BFC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6C04DA-C1BF-4656-A732-2ABC73F973E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822004672"/>
      </p:ext>
    </p:extLst>
  </p:cSld>
</p:sld>
</file>

<file path=ppt/slides/slide1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02F7E9-82BC-4E92-921B-B323813551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4149CE-B020-4D15-A961-DA7FADF1FD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1F809FDA-D294-4B94-B1DF-375766E835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161F18C-A78A-46F6-B83E-0D4E564565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130</a:t>
            </a:r>
          </a:p>
        </p:txBody>
      </p:sp>
      <p:sp>
        <p:nvSpPr>
          <p:cNvPr id="5" name="">
            <a:extLst xmlns:a="http://schemas.openxmlformats.org/drawingml/2006/main">
              <a:ext uri="{FF2B5EF4-FFF2-40B4-BE49-F238E27FC236}">
                <a16:creationId xmlns:a16="http://schemas.microsoft.com/office/drawing/2014/main" id="{A94C8A28-49CB-4998-A8DF-C21F89930C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ASA poisoning, bacteremia, liver disease, and increased 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causes of hyperventilation include: anxiety, high altitude hypoxia, severe exercise, and a poorly adjusted mechanical ventilator.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individual can himself cause respiratory alkalosis or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your breath can cause acidosis, and alkalosis is caused by voluntary hyperventilation.</a:t>
            </a:r>
          </a:p>
        </p:txBody>
      </p:sp>
      <p:sp>
        <p:nvSpPr>
          <p:cNvPr id="6" name="">
            <a:extLst xmlns:a="http://schemas.openxmlformats.org/drawingml/2006/main">
              <a:ext uri="{FF2B5EF4-FFF2-40B4-BE49-F238E27FC236}">
                <a16:creationId xmlns:a16="http://schemas.microsoft.com/office/drawing/2014/main" id="{B33986FD-8E18-4577-BE13-C9692111B5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BA31AB-86EE-4098-A95B-746C4BFDE1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545411345"/>
      </p:ext>
    </p:extLst>
  </p:cSld>
</p:sld>
</file>

<file path=ppt/slides/slide1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FC3ACE-52D5-4C08-BF0B-4B82C75CFF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34006E-7F98-430F-849A-5756246E64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91FCCD62-4421-4F3B-B3F7-283EA520E8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F40F308-A818-4A1A-AA42-30648A103F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131</a:t>
            </a:r>
          </a:p>
        </p:txBody>
      </p:sp>
      <p:sp>
        <p:nvSpPr>
          <p:cNvPr id="5" name="">
            <a:extLst xmlns:a="http://schemas.openxmlformats.org/drawingml/2006/main">
              <a:ext uri="{FF2B5EF4-FFF2-40B4-BE49-F238E27FC236}">
                <a16:creationId xmlns:a16="http://schemas.microsoft.com/office/drawing/2014/main" id="{C668C28B-E64D-4C31-88FD-21AA19C5F2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outstanding characteristic of respiratory alkalosis is increased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that may be seen are hyper-reflexia, muscle twitching, and a positive Chvostek's sign.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Convulsions may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pH level is above 7.44, hypokalemia may occur if respiratory alkalosis persists for several days.</a:t>
            </a:r>
          </a:p>
        </p:txBody>
      </p:sp>
      <p:sp>
        <p:nvSpPr>
          <p:cNvPr id="6" name="">
            <a:extLst xmlns:a="http://schemas.openxmlformats.org/drawingml/2006/main">
              <a:ext uri="{FF2B5EF4-FFF2-40B4-BE49-F238E27FC236}">
                <a16:creationId xmlns:a16="http://schemas.microsoft.com/office/drawing/2014/main" id="{C30F9D04-114A-42A7-961A-A65FF1730A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AAD525-4CDF-4811-AB89-B55F36C5ED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877967102"/>
      </p:ext>
    </p:extLst>
  </p:cSld>
</p:sld>
</file>

<file path=ppt/slides/slide1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5E330B-D52C-4BE0-AF80-AC70F2ECDD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B2E6AE-6393-498F-969D-31001F7B5B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5454766F-4AE9-4D7B-B48B-0EB3C64194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EBD5B4A-9C8D-4719-9EAE-77D3257D71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132</a:t>
            </a:r>
          </a:p>
        </p:txBody>
      </p:sp>
      <p:sp>
        <p:nvSpPr>
          <p:cNvPr id="5" name="">
            <a:extLst xmlns:a="http://schemas.openxmlformats.org/drawingml/2006/main">
              <a:ext uri="{FF2B5EF4-FFF2-40B4-BE49-F238E27FC236}">
                <a16:creationId xmlns:a16="http://schemas.microsoft.com/office/drawing/2014/main" id="{EE42E515-7F23-40D3-B4B5-65570E0B71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consists of eliminating the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patient is anxious, calm their fears.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cause is ASA poisoning or the patient is suffering from a neurological disorder, the primary condition must be treated.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Acidosis - This disturbance is seen when abnormal patterns of respirations cause CO2 retention.</a:t>
            </a:r>
          </a:p>
        </p:txBody>
      </p:sp>
      <p:sp>
        <p:nvSpPr>
          <p:cNvPr id="6" name="">
            <a:extLst xmlns:a="http://schemas.openxmlformats.org/drawingml/2006/main">
              <a:ext uri="{FF2B5EF4-FFF2-40B4-BE49-F238E27FC236}">
                <a16:creationId xmlns:a16="http://schemas.microsoft.com/office/drawing/2014/main" id="{BAE8C1E7-8294-4BBF-B4C6-3DD814BE87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C101CA-2186-400F-BE8C-86C3E96E9B1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754771910"/>
      </p:ext>
    </p:extLst>
  </p:cSld>
</p:sld>
</file>

<file path=ppt/slides/slide1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4130F7-A057-4288-9855-6A808C5090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04084D-6626-4B48-BF94-D82591E9F5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6A431BD8-30D0-4028-B8BB-549731EBE8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F1D343A-8420-49AD-93E9-B832A257D4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133</a:t>
            </a:r>
          </a:p>
        </p:txBody>
      </p:sp>
      <p:sp>
        <p:nvSpPr>
          <p:cNvPr id="5" name="">
            <a:extLst xmlns:a="http://schemas.openxmlformats.org/drawingml/2006/main">
              <a:ext uri="{FF2B5EF4-FFF2-40B4-BE49-F238E27FC236}">
                <a16:creationId xmlns:a16="http://schemas.microsoft.com/office/drawing/2014/main" id="{C38593A4-32B8-4002-B879-F4CA5FCBDB2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an increase in H2CO3 and a decreased pH.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usually develops as a result of obstructed or halted gas exchange, obstructions preventing exhalation, impaired neuromuscular function, or a depressed respiratory center.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outstanding symptoms are generally cardiopulmonary in nature.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the only clinical signs are dyspnea on exertion.</a:t>
            </a:r>
          </a:p>
        </p:txBody>
      </p:sp>
      <p:sp>
        <p:nvSpPr>
          <p:cNvPr id="6" name="">
            <a:extLst xmlns:a="http://schemas.openxmlformats.org/drawingml/2006/main">
              <a:ext uri="{FF2B5EF4-FFF2-40B4-BE49-F238E27FC236}">
                <a16:creationId xmlns:a16="http://schemas.microsoft.com/office/drawing/2014/main" id="{D9FB4CD8-730D-4792-AF11-D2B2CCE3B9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CD60426-B520-4596-B5E4-22C2627E57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2139133816"/>
      </p:ext>
    </p:extLst>
  </p:cSld>
</p:sld>
</file>

<file path=ppt/slides/slide1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925F26-4A2C-4C19-9479-CDEA6495B5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CCDC9A-EADC-473F-880E-0DEEF714B9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65988C08-650C-44E6-87ED-C672DFAB88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6AF92DA-C1F3-49E9-BA91-26DBBCADB3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134</a:t>
            </a:r>
          </a:p>
        </p:txBody>
      </p:sp>
      <p:sp>
        <p:nvSpPr>
          <p:cNvPr id="5" name="">
            <a:extLst xmlns:a="http://schemas.openxmlformats.org/drawingml/2006/main">
              <a:ext uri="{FF2B5EF4-FFF2-40B4-BE49-F238E27FC236}">
                <a16:creationId xmlns:a16="http://schemas.microsoft.com/office/drawing/2014/main" id="{AB3BFE85-3F07-4F7A-A692-45383851B5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serious symptoms include: *Severity of Dyspnea *Wheezing *Disorientation progressing to coma *Dysrythmias In respiratory acidosis the most important factor is poor 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treatment is to improve ventilations by controlling and treating the underlying disease.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addition, the imbalances in potassium, pH, chloride, and H20 need to be corrected.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 treatments to improve respiratory efficiency include:</a:t>
            </a:r>
          </a:p>
        </p:txBody>
      </p:sp>
      <p:sp>
        <p:nvSpPr>
          <p:cNvPr id="6" name="">
            <a:extLst xmlns:a="http://schemas.openxmlformats.org/drawingml/2006/main">
              <a:ext uri="{FF2B5EF4-FFF2-40B4-BE49-F238E27FC236}">
                <a16:creationId xmlns:a16="http://schemas.microsoft.com/office/drawing/2014/main" id="{43F39CA9-A6DF-4F14-ABC8-922ABE7276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6C55AD-8B72-44D7-BC11-5755252FAB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907100740"/>
      </p:ext>
    </p:extLst>
  </p:cSld>
</p:sld>
</file>

<file path=ppt/slides/slide1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2C7775-9FE7-4FD5-A4D2-AEB979E019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938529-F069-4706-B3F7-009D3297B7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940BC8A7-92C7-488E-9880-07BE78510B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3A06FAD-D9CC-40DF-A167-26652C41ED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135</a:t>
            </a:r>
          </a:p>
        </p:txBody>
      </p:sp>
      <p:sp>
        <p:nvSpPr>
          <p:cNvPr id="5" name="">
            <a:extLst xmlns:a="http://schemas.openxmlformats.org/drawingml/2006/main">
              <a:ext uri="{FF2B5EF4-FFF2-40B4-BE49-F238E27FC236}">
                <a16:creationId xmlns:a16="http://schemas.microsoft.com/office/drawing/2014/main" id="{C32760A4-1F22-4D62-B9D1-98F4D158F3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antibiotics, postural drainage, broncho-dilators, breathing exercises, inhalation therapy, mechanical ventilators, and monitored oxygen therapy.</a:t>
            </a:r>
          </a:p>
        </p:txBody>
      </p:sp>
      <p:sp>
        <p:nvSpPr>
          <p:cNvPr id="6" name="">
            <a:extLst xmlns:a="http://schemas.openxmlformats.org/drawingml/2006/main">
              <a:ext uri="{FF2B5EF4-FFF2-40B4-BE49-F238E27FC236}">
                <a16:creationId xmlns:a16="http://schemas.microsoft.com/office/drawing/2014/main" id="{F599824D-0E17-47C7-92F9-8A0C251AF6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5AC4758-8A6B-4FC6-80F7-C39DC2B349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234080910"/>
      </p:ext>
    </p:extLst>
  </p:cSld>
</p:sld>
</file>

<file path=ppt/slides/slide1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E24579-C3E5-4FB7-A919-9C5DD1CB5A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E140E36-032F-4C3B-8EA9-E3C2CC53B0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a:t>
            </a:r>
          </a:p>
        </p:txBody>
      </p:sp>
      <p:sp>
        <p:nvSpPr>
          <p:cNvPr id="3" name="">
            <a:extLst xmlns:a="http://schemas.openxmlformats.org/drawingml/2006/main">
              <a:ext uri="{FF2B5EF4-FFF2-40B4-BE49-F238E27FC236}">
                <a16:creationId xmlns:a16="http://schemas.microsoft.com/office/drawing/2014/main" id="{583AB531-28C5-4B2C-AEDA-742BAB9903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945057E-0C0C-41DD-A7BE-77608238C4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136</a:t>
            </a:r>
          </a:p>
        </p:txBody>
      </p:sp>
      <p:sp>
        <p:nvSpPr>
          <p:cNvPr id="5" name="">
            <a:extLst xmlns:a="http://schemas.openxmlformats.org/drawingml/2006/main">
              <a:ext uri="{FF2B5EF4-FFF2-40B4-BE49-F238E27FC236}">
                <a16:creationId xmlns:a16="http://schemas.microsoft.com/office/drawing/2014/main" id="{DB889F95-765A-4D7A-B346-4C414C3876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acidosis is severe, and critical Hyperkalemia is present, IV bicarbonate may be administered.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Two solutions used in the treatment of Respiratory Acidosis are: Ringers Lactate, and a 0.6 m solution of Sodium Lactate.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Secondary conditions may become apparent as a result of intervention.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respiratory acidosis, four iatrogenic conditions may occur as a result of therapy: Tetany, CO2 narcosis, rebound respiratory alkalosis, and metabolic alkalosis.</a:t>
            </a:r>
          </a:p>
        </p:txBody>
      </p:sp>
      <p:sp>
        <p:nvSpPr>
          <p:cNvPr id="6" name="">
            <a:extLst xmlns:a="http://schemas.openxmlformats.org/drawingml/2006/main">
              <a:ext uri="{FF2B5EF4-FFF2-40B4-BE49-F238E27FC236}">
                <a16:creationId xmlns:a16="http://schemas.microsoft.com/office/drawing/2014/main" id="{7600F18C-8F9B-449E-AF16-48C0284A46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99543CD-99CF-4EC6-B8D6-4B30137D3A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566374346"/>
      </p:ext>
    </p:extLst>
  </p:cSld>
</p:sld>
</file>

<file path=ppt/slides/slide1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C9C699-B2CA-4801-A953-72D378D79B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92A6ED-5CA5-4B33-942F-1F7979D6F9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AAB5F2AE-CC92-4B79-BD37-B04A94981A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F0C886D-8151-4CB5-B3B4-B5BC729672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137</a:t>
            </a:r>
          </a:p>
        </p:txBody>
      </p:sp>
      <p:sp>
        <p:nvSpPr>
          <p:cNvPr id="5" name="">
            <a:extLst xmlns:a="http://schemas.openxmlformats.org/drawingml/2006/main">
              <a:ext uri="{FF2B5EF4-FFF2-40B4-BE49-F238E27FC236}">
                <a16:creationId xmlns:a16="http://schemas.microsoft.com/office/drawing/2014/main" id="{EF8E173A-81AB-47FB-B850-84B35D4841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appropriate monitoring and safety measures should be followed.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Alkalosis - An abnormal rise in plasma bicarbonate or a decrease in plasma Ht concentration followed by a rise in pH is an indication of metabolic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Those at risk include patients with intractable vomiting or those with continuous nasogastric suctioning without electrolyte replacement.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Both situations result in large losses of HCL - leading to Ht depletion (as in emesis or drainage) and loss of CL-, which stimulates the kidneys to retain HCO3.</a:t>
            </a:r>
          </a:p>
        </p:txBody>
      </p:sp>
      <p:sp>
        <p:nvSpPr>
          <p:cNvPr id="6" name="">
            <a:extLst xmlns:a="http://schemas.openxmlformats.org/drawingml/2006/main">
              <a:ext uri="{FF2B5EF4-FFF2-40B4-BE49-F238E27FC236}">
                <a16:creationId xmlns:a16="http://schemas.microsoft.com/office/drawing/2014/main" id="{158ADA5D-E5B9-4F4C-96A8-D49556B0F5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1365869-59DD-4FB8-A9EE-606E74A39E0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863322958"/>
      </p:ext>
    </p:extLst>
  </p:cSld>
</p:sld>
</file>

<file path=ppt/slides/slide1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1C2F06-8733-44D9-B4D1-127C8900BD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DD448D-AFC8-4A0E-A9FF-D0217BACD0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BE1F0664-E3E3-4A3B-8642-56C2350231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40D9F54-4F34-4E22-BA3F-88FC3FA63A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138</a:t>
            </a:r>
          </a:p>
        </p:txBody>
      </p:sp>
      <p:sp>
        <p:nvSpPr>
          <p:cNvPr id="5" name="">
            <a:extLst xmlns:a="http://schemas.openxmlformats.org/drawingml/2006/main">
              <a:ext uri="{FF2B5EF4-FFF2-40B4-BE49-F238E27FC236}">
                <a16:creationId xmlns:a16="http://schemas.microsoft.com/office/drawing/2014/main" id="{3162F5CD-1016-4B30-A721-B1C0588D4A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alkalosis due to loss of CL- is called Hypochloremic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in an attempt to rectify the situation and restore "balance", compensates in the following manner: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Compensation - Hypoventilation conserves CO2, therefore, increasing blood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 compensatory response hypoventilation is limited by the body's oxygen need.</a:t>
            </a:r>
          </a:p>
        </p:txBody>
      </p:sp>
      <p:sp>
        <p:nvSpPr>
          <p:cNvPr id="6" name="">
            <a:extLst xmlns:a="http://schemas.openxmlformats.org/drawingml/2006/main">
              <a:ext uri="{FF2B5EF4-FFF2-40B4-BE49-F238E27FC236}">
                <a16:creationId xmlns:a16="http://schemas.microsoft.com/office/drawing/2014/main" id="{B90BD0A2-3642-4B05-B0E5-AAFCD149FE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EDA3FE-65C9-4C0A-8B40-4CE3CAFA256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452574185"/>
      </p:ext>
    </p:extLst>
  </p:cSld>
</p:sld>
</file>

<file path=ppt/slides/slide1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930004-74C8-4F70-985E-EFE1D40363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F305FF-23CC-4732-84AA-E752A2246A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DA080682-44D8-49EA-BF16-65B380873E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5FDF6DA-12DD-4D51-ADAC-EA04596797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139</a:t>
            </a:r>
          </a:p>
        </p:txBody>
      </p:sp>
      <p:sp>
        <p:nvSpPr>
          <p:cNvPr id="5" name="">
            <a:extLst xmlns:a="http://schemas.openxmlformats.org/drawingml/2006/main">
              <a:ext uri="{FF2B5EF4-FFF2-40B4-BE49-F238E27FC236}">
                <a16:creationId xmlns:a16="http://schemas.microsoft.com/office/drawing/2014/main" id="{FEFF297F-09B4-420C-A5F8-DEC3CE8A8B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Compensation - The kidneys response is to conserve H+ and excrete large amounts of Nat and Kt with the excess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alkaline urine.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Defense mechanisms used by the body to fight metabolic alkalosis are the opposite of those used to defend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manifestations of metabolic alkalosis come from the imbalance itself and the body mechanisms to compensate.</a:t>
            </a:r>
          </a:p>
        </p:txBody>
      </p:sp>
      <p:sp>
        <p:nvSpPr>
          <p:cNvPr id="6" name="">
            <a:extLst xmlns:a="http://schemas.openxmlformats.org/drawingml/2006/main">
              <a:ext uri="{FF2B5EF4-FFF2-40B4-BE49-F238E27FC236}">
                <a16:creationId xmlns:a16="http://schemas.microsoft.com/office/drawing/2014/main" id="{3177DEB9-E671-4F20-8703-5FDDE5BBD2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2D3D02-28C9-4644-B17A-BA400E6E65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619480721"/>
      </p:ext>
    </p:extLst>
  </p:cSld>
</p:sld>
</file>

<file path=ppt/slides/slide1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45ADB5-C89D-4B26-BCF8-53CDF80B3F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B12454-5691-47E6-8316-330B2CE703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EB6319A8-5B02-4915-ADB3-B4740C9228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7B26078-7E2E-41CF-9163-082BC80FAA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140</a:t>
            </a:r>
          </a:p>
        </p:txBody>
      </p:sp>
      <p:sp>
        <p:nvSpPr>
          <p:cNvPr id="5" name="">
            <a:extLst xmlns:a="http://schemas.openxmlformats.org/drawingml/2006/main">
              <a:ext uri="{FF2B5EF4-FFF2-40B4-BE49-F238E27FC236}">
                <a16:creationId xmlns:a16="http://schemas.microsoft.com/office/drawing/2014/main" id="{6E4A3F16-B332-4EC2-8E1C-61DEA3E7DC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*Belligerence *Irritability *Disorientation *Convulsions *Slow shallow respirations *Periods of apnea Correction of the alkalosis is usually accomplished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Administration of a ringer's solution of an isotonic solution containing CL- 10mEq/L.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severe cases, 0.9% of Ammonium Chloride may be administered IV.</a:t>
            </a:r>
          </a:p>
        </p:txBody>
      </p:sp>
      <p:sp>
        <p:nvSpPr>
          <p:cNvPr id="6" name="">
            <a:extLst xmlns:a="http://schemas.openxmlformats.org/drawingml/2006/main">
              <a:ext uri="{FF2B5EF4-FFF2-40B4-BE49-F238E27FC236}">
                <a16:creationId xmlns:a16="http://schemas.microsoft.com/office/drawing/2014/main" id="{110E1715-47CD-4400-A1B2-CAC9F050EA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23904AC-7E9E-4389-B9BA-1919978F742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41976305"/>
      </p:ext>
    </p:extLst>
  </p:cSld>
</p:sld>
</file>

<file path=ppt/slides/slide1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D8FD8B-D847-417B-80F6-DD76481337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582E2A-557C-4968-A4A3-9BB303089D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16DD20D9-EBFB-4C3C-ADE5-B869538045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22952DA-E80A-433C-819C-B09F1A88F9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141</a:t>
            </a:r>
          </a:p>
        </p:txBody>
      </p:sp>
      <p:sp>
        <p:nvSpPr>
          <p:cNvPr id="5" name="">
            <a:extLst xmlns:a="http://schemas.openxmlformats.org/drawingml/2006/main">
              <a:ext uri="{FF2B5EF4-FFF2-40B4-BE49-F238E27FC236}">
                <a16:creationId xmlns:a16="http://schemas.microsoft.com/office/drawing/2014/main" id="{03FDE909-74CF-42AB-BC44-D742479A68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(Controversial)</a:t>
            </a:r>
          </a:p>
        </p:txBody>
      </p:sp>
      <p:sp>
        <p:nvSpPr>
          <p:cNvPr id="6" name="">
            <a:extLst xmlns:a="http://schemas.openxmlformats.org/drawingml/2006/main">
              <a:ext uri="{FF2B5EF4-FFF2-40B4-BE49-F238E27FC236}">
                <a16:creationId xmlns:a16="http://schemas.microsoft.com/office/drawing/2014/main" id="{ED34B6D4-DBCA-4BEC-95AE-C67E970967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7429EF-66A6-4C16-BA33-E4847D2A4FF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990533928"/>
      </p:ext>
    </p:extLst>
  </p:cSld>
</p:sld>
</file>

<file path=ppt/slides/slide1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C46A8C-086A-46F3-ABD8-03273DF0EB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203373-7A69-46BD-8853-22F7066A8E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a:t>
            </a:r>
          </a:p>
        </p:txBody>
      </p:sp>
      <p:sp>
        <p:nvSpPr>
          <p:cNvPr id="3" name="">
            <a:extLst xmlns:a="http://schemas.openxmlformats.org/drawingml/2006/main">
              <a:ext uri="{FF2B5EF4-FFF2-40B4-BE49-F238E27FC236}">
                <a16:creationId xmlns:a16="http://schemas.microsoft.com/office/drawing/2014/main" id="{AF17CE4E-8754-4988-B5B7-7058724472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499946D-715C-487B-B81A-8FC2EB8873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142</a:t>
            </a:r>
          </a:p>
        </p:txBody>
      </p:sp>
      <p:sp>
        <p:nvSpPr>
          <p:cNvPr id="5" name="">
            <a:extLst xmlns:a="http://schemas.openxmlformats.org/drawingml/2006/main">
              <a:ext uri="{FF2B5EF4-FFF2-40B4-BE49-F238E27FC236}">
                <a16:creationId xmlns:a16="http://schemas.microsoft.com/office/drawing/2014/main" id="{58C28E25-2455-4113-BB71-6054F5E98D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Acidosis - When there is an abnormal loss of NAHCO3 or an increase in nonvolatile acid, which exceeds renal capacity, metabolic acidosis is seen.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 factors include: *Over production of metabolic acids as in diabetes, fasting, hyperthyroidism, surgery, infections accompanied by high fever, and trauma.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ingestion of acids as in ASA poisoning, boric acid ingestion, or ingestion of the following medications: ferrous sulfate, ammonium chloride, or paraldehyde.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disease in which there is oliguria.</a:t>
            </a:r>
          </a:p>
        </p:txBody>
      </p:sp>
      <p:sp>
        <p:nvSpPr>
          <p:cNvPr id="6" name="">
            <a:extLst xmlns:a="http://schemas.openxmlformats.org/drawingml/2006/main">
              <a:ext uri="{FF2B5EF4-FFF2-40B4-BE49-F238E27FC236}">
                <a16:creationId xmlns:a16="http://schemas.microsoft.com/office/drawing/2014/main" id="{9EC53D37-78A0-4B9F-81F7-C5746D150F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316B962-6E11-4DC2-8E1C-744B191D33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614538656"/>
      </p:ext>
    </p:extLst>
  </p:cSld>
</p:sld>
</file>

<file path=ppt/slides/slide1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54B7B8-B8F4-4F41-B03E-C89B723309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B15629-0742-462B-A75A-C4BDCF200F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83E7CB3D-68D4-4C25-9F17-BCEB98A890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A6FD318-8C4E-4B3D-9FC9-9696721F23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143</a:t>
            </a:r>
          </a:p>
        </p:txBody>
      </p:sp>
      <p:sp>
        <p:nvSpPr>
          <p:cNvPr id="5" name="">
            <a:extLst xmlns:a="http://schemas.openxmlformats.org/drawingml/2006/main">
              <a:ext uri="{FF2B5EF4-FFF2-40B4-BE49-F238E27FC236}">
                <a16:creationId xmlns:a16="http://schemas.microsoft.com/office/drawing/2014/main" id="{BC6437EE-9CA9-43E2-A235-0063E62D34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kidneys are unable to excrete acid loads adequately.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some renal disorders there is an increase in the excretion of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*Abnormal alkali loss through diarrhea or prolonged vomiting will increase the loss of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Severe tissue anoxia as seen in individuals suffering from pulmonary and cardiac disorders, anemia, and shock, may have anaerobic metabolism producing excessive lactic acid.</a:t>
            </a:r>
          </a:p>
        </p:txBody>
      </p:sp>
      <p:sp>
        <p:nvSpPr>
          <p:cNvPr id="6" name="">
            <a:extLst xmlns:a="http://schemas.openxmlformats.org/drawingml/2006/main">
              <a:ext uri="{FF2B5EF4-FFF2-40B4-BE49-F238E27FC236}">
                <a16:creationId xmlns:a16="http://schemas.microsoft.com/office/drawing/2014/main" id="{7A538CC6-9C68-4AB9-B92C-DF352CC44C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9148628-76D6-4F5F-9E63-9336060FE4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004008147"/>
      </p:ext>
    </p:extLst>
  </p:cSld>
</p:sld>
</file>

<file path=ppt/slides/slide1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04522B-A7B8-479A-87A4-0B82D40DFD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F737D6-730A-4024-80BE-4294E2D121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4CEBB19E-FC39-4D01-A53A-238BB13853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D156693-7B37-4CEB-80DE-680A1DF3B4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144</a:t>
            </a:r>
          </a:p>
        </p:txBody>
      </p:sp>
      <p:sp>
        <p:nvSpPr>
          <p:cNvPr id="5" name="">
            <a:extLst xmlns:a="http://schemas.openxmlformats.org/drawingml/2006/main">
              <a:ext uri="{FF2B5EF4-FFF2-40B4-BE49-F238E27FC236}">
                <a16:creationId xmlns:a16="http://schemas.microsoft.com/office/drawing/2014/main" id="{8DEAD68C-2D7F-456C-9AC3-74B59317EB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results in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in known as Lactic Acidosis, and usually accompanies a poor prognosis.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symptoms come from both the primary imbalance and the compensatory reactions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may be seen: *Apathy *Disorientation *Weakness *Stupor and Coma *Dysrythmias *Kussmaul's Breathing The following goals are the focus of treatment: 1.</a:t>
            </a:r>
          </a:p>
        </p:txBody>
      </p:sp>
      <p:sp>
        <p:nvSpPr>
          <p:cNvPr id="6" name="">
            <a:extLst xmlns:a="http://schemas.openxmlformats.org/drawingml/2006/main">
              <a:ext uri="{FF2B5EF4-FFF2-40B4-BE49-F238E27FC236}">
                <a16:creationId xmlns:a16="http://schemas.microsoft.com/office/drawing/2014/main" id="{4CE25DCC-1FEF-4CFA-8FCC-3C1E5AE815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55860E8-B2FB-416B-8108-727FB4D981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666644337"/>
      </p:ext>
    </p:extLst>
  </p:cSld>
</p:sld>
</file>

<file path=ppt/slides/slide1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322B6D-C0CB-4CB6-B2F1-4408B6BEE2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35E085-063A-47A3-898D-B45378A158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94C0FB5E-FACB-41CC-A60D-B1905F1DEB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97847AC-4192-442A-B3AE-95CEC3F9E3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145</a:t>
            </a:r>
          </a:p>
        </p:txBody>
      </p:sp>
      <p:sp>
        <p:nvSpPr>
          <p:cNvPr id="5" name="">
            <a:extLst xmlns:a="http://schemas.openxmlformats.org/drawingml/2006/main">
              <a:ext uri="{FF2B5EF4-FFF2-40B4-BE49-F238E27FC236}">
                <a16:creationId xmlns:a16="http://schemas.microsoft.com/office/drawing/2014/main" id="{147F82C6-9330-4C21-8EE4-03DBB9F24D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Restore blood volume and osmolality through the infusion of isotonic solutions such as Ringers Lactate or Sodium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Correct the HCO3 deficit by administering NAHCO3 or NA lactate.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Prevent Electrolyte imbalance or correct the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Assessment of Fluid and Electrolyte Disturbances The nurse gathers data assessing fluid balance at the bedside.</a:t>
            </a:r>
          </a:p>
        </p:txBody>
      </p:sp>
      <p:sp>
        <p:nvSpPr>
          <p:cNvPr id="6" name="">
            <a:extLst xmlns:a="http://schemas.openxmlformats.org/drawingml/2006/main">
              <a:ext uri="{FF2B5EF4-FFF2-40B4-BE49-F238E27FC236}">
                <a16:creationId xmlns:a16="http://schemas.microsoft.com/office/drawing/2014/main" id="{5E9A76B8-8F7A-4B5B-859B-57743629D8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EF148D-183B-4B2F-9530-E7C8F506127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297925403"/>
      </p:ext>
    </p:extLst>
  </p:cSld>
</p:sld>
</file>

<file path=ppt/slides/slide1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1B42F9-3322-4115-B923-4A0C894C7A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7CCD4C-B2CC-44A2-98AD-79FD2AC140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C58075D5-CF2B-4A77-81DD-4765D5F1B0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ADE9182-3073-428F-8E7B-955E6EDF26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146</a:t>
            </a:r>
          </a:p>
        </p:txBody>
      </p:sp>
      <p:sp>
        <p:nvSpPr>
          <p:cNvPr id="5" name="">
            <a:extLst xmlns:a="http://schemas.openxmlformats.org/drawingml/2006/main">
              <a:ext uri="{FF2B5EF4-FFF2-40B4-BE49-F238E27FC236}">
                <a16:creationId xmlns:a16="http://schemas.microsoft.com/office/drawing/2014/main" id="{4787B930-E53C-4EE6-8E30-2A06E7117F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this information she can judge the patient's current fluid status, the patient's history, and whether the patient is</a:t>
            </a:r>
          </a:p>
        </p:txBody>
      </p:sp>
      <p:sp>
        <p:nvSpPr>
          <p:cNvPr id="6" name="">
            <a:extLst xmlns:a="http://schemas.openxmlformats.org/drawingml/2006/main">
              <a:ext uri="{FF2B5EF4-FFF2-40B4-BE49-F238E27FC236}">
                <a16:creationId xmlns:a16="http://schemas.microsoft.com/office/drawing/2014/main" id="{03163D77-2B25-41D3-942C-A8878796C8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0609B3-C2E3-4DA6-A5A6-DE09697C2C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020232468"/>
      </p:ext>
    </p:extLst>
  </p:cSld>
</p:sld>
</file>

<file path=ppt/slides/slide1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76DB98-E17D-444C-9AB4-AFE74DF57E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694025-5895-4448-8BD0-4DE1E4023C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a:t>
            </a:r>
          </a:p>
        </p:txBody>
      </p:sp>
      <p:sp>
        <p:nvSpPr>
          <p:cNvPr id="3" name="">
            <a:extLst xmlns:a="http://schemas.openxmlformats.org/drawingml/2006/main">
              <a:ext uri="{FF2B5EF4-FFF2-40B4-BE49-F238E27FC236}">
                <a16:creationId xmlns:a16="http://schemas.microsoft.com/office/drawing/2014/main" id="{F69F3418-D197-45AC-ADC8-CF59A94E81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3AD06B6-7727-478F-86FE-68E13DB669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147</a:t>
            </a:r>
          </a:p>
        </p:txBody>
      </p:sp>
      <p:sp>
        <p:nvSpPr>
          <p:cNvPr id="5" name="">
            <a:extLst xmlns:a="http://schemas.openxmlformats.org/drawingml/2006/main">
              <a:ext uri="{FF2B5EF4-FFF2-40B4-BE49-F238E27FC236}">
                <a16:creationId xmlns:a16="http://schemas.microsoft.com/office/drawing/2014/main" id="{249F00CE-22C5-49BB-B94D-CF29C95648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risk for imbalances of fluid and electrolytes necessitating monitoring of various labs and intake and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primary assessment and continued assessment of the patient Information to be noted in the health history of the patient includes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*Recent gain or loss of weight *Unusual or restricted diet *Taking the following medications: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Diuretics Laxatives Antacids Glucocorticoids Electrolyte replacements *Diseases of the endocrine or metabolic systems *Problems with incontinence, wound drainage, excessive diaphoresis</a:t>
            </a:r>
          </a:p>
        </p:txBody>
      </p:sp>
      <p:sp>
        <p:nvSpPr>
          <p:cNvPr id="6" name="">
            <a:extLst xmlns:a="http://schemas.openxmlformats.org/drawingml/2006/main">
              <a:ext uri="{FF2B5EF4-FFF2-40B4-BE49-F238E27FC236}">
                <a16:creationId xmlns:a16="http://schemas.microsoft.com/office/drawing/2014/main" id="{1DAEE3F6-9F00-48D4-840A-6FBD2BD76A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27A162-BB4F-492C-AF8C-09A6CC7365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2045148072"/>
      </p:ext>
    </p:extLst>
  </p:cSld>
</p:sld>
</file>

<file path=ppt/slides/slide1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00D20F-663A-4550-A140-9897761D0E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7F79D6-7C95-4D13-85C8-283D1934DB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58218CEE-7118-48CC-9C34-093D8F4EA8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15ACA59-F5BA-4DAF-859B-C45BC0DD13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148</a:t>
            </a:r>
          </a:p>
        </p:txBody>
      </p:sp>
      <p:sp>
        <p:nvSpPr>
          <p:cNvPr id="5" name="">
            <a:extLst xmlns:a="http://schemas.openxmlformats.org/drawingml/2006/main">
              <a:ext uri="{FF2B5EF4-FFF2-40B4-BE49-F238E27FC236}">
                <a16:creationId xmlns:a16="http://schemas.microsoft.com/office/drawing/2014/main" id="{FC211032-637B-479D-9252-D2632A1F39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 vomiting *Unusual Activity While obtaining the patient's history note overall affect, and loc.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disturbances in mental or physical status may indicate a problem.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a Physical assessment may identify symptoms of imbalance other factors need to be addressed.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include:</a:t>
            </a:r>
          </a:p>
        </p:txBody>
      </p:sp>
      <p:sp>
        <p:nvSpPr>
          <p:cNvPr id="6" name="">
            <a:extLst xmlns:a="http://schemas.openxmlformats.org/drawingml/2006/main">
              <a:ext uri="{FF2B5EF4-FFF2-40B4-BE49-F238E27FC236}">
                <a16:creationId xmlns:a16="http://schemas.microsoft.com/office/drawing/2014/main" id="{4E74873D-7878-4395-BA1F-CB897FDC4C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AEC144-B875-411C-9EBE-AF4DCA4F4B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365511073"/>
      </p:ext>
    </p:extLst>
  </p:cSld>
</p:sld>
</file>

<file path=ppt/slides/slide1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6F5EA5-A8B8-4931-A48B-B9049F1141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B48253-B2D0-4BF8-9500-652F6F0FD9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63C48B22-AB3C-4B4C-ABBE-371E106971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0D01145-DE90-4945-913B-32DA51738E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149</a:t>
            </a:r>
          </a:p>
        </p:txBody>
      </p:sp>
      <p:sp>
        <p:nvSpPr>
          <p:cNvPr id="5" name="">
            <a:extLst xmlns:a="http://schemas.openxmlformats.org/drawingml/2006/main">
              <a:ext uri="{FF2B5EF4-FFF2-40B4-BE49-F238E27FC236}">
                <a16:creationId xmlns:a16="http://schemas.microsoft.com/office/drawing/2014/main" id="{3D0E5A78-F604-4A6C-8697-B54B75E6088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*T.P.R *Blood Pressure *Hydration status of mucous membranes and skin *Unusual odors *Thirst (absence or presence) *Body weight *Behavioral changes *Dysrythmias *Neuromuscular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*Sensations of numbness or tingling *GI function *Edema *External jugular vein distention An accurate record of intake and output is a primary indicator of the hydration process.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record should be accurately maintained and documented.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Nurses should account for fluid intake as innocuous as that administered with oral medications, as over a period of time this seemingly small amount of fluid can account for 25-35% of</a:t>
            </a:r>
          </a:p>
        </p:txBody>
      </p:sp>
      <p:sp>
        <p:nvSpPr>
          <p:cNvPr id="6" name="">
            <a:extLst xmlns:a="http://schemas.openxmlformats.org/drawingml/2006/main">
              <a:ext uri="{FF2B5EF4-FFF2-40B4-BE49-F238E27FC236}">
                <a16:creationId xmlns:a16="http://schemas.microsoft.com/office/drawing/2014/main" id="{C4C837FB-090A-448A-AF99-34F1F19522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32AD98-2EEA-41C8-9946-B1BF8F91D8E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2079001646"/>
      </p:ext>
    </p:extLst>
  </p:cSld>
</p:sld>
</file>

<file path=ppt/slides/slide1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7D875E-2260-45E6-A148-CD6A66A45B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59A56E-88F0-4F0B-A454-A749C580B1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5641B69F-A528-44B2-8EAB-DC98257287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C09E4BB-1C92-4E83-92D4-8784DB5F2B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150</a:t>
            </a:r>
          </a:p>
        </p:txBody>
      </p:sp>
      <p:sp>
        <p:nvSpPr>
          <p:cNvPr id="5" name="">
            <a:extLst xmlns:a="http://schemas.openxmlformats.org/drawingml/2006/main">
              <a:ext uri="{FF2B5EF4-FFF2-40B4-BE49-F238E27FC236}">
                <a16:creationId xmlns:a16="http://schemas.microsoft.com/office/drawing/2014/main" id="{49D6CF30-C228-4D14-BEA9-7B42DDB412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daily fluid intake.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Careful documentation is also required in tallying IV fluids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accurate record of when and how much solution was hung, and the amount left in the bag at the end of shifts can serve to maintain an accurate and accountable intake record.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follow for the accurate documentation of fluids are as follows:</a:t>
            </a:r>
          </a:p>
        </p:txBody>
      </p:sp>
      <p:sp>
        <p:nvSpPr>
          <p:cNvPr id="6" name="">
            <a:extLst xmlns:a="http://schemas.openxmlformats.org/drawingml/2006/main">
              <a:ext uri="{FF2B5EF4-FFF2-40B4-BE49-F238E27FC236}">
                <a16:creationId xmlns:a16="http://schemas.microsoft.com/office/drawing/2014/main" id="{5C65BDC7-4511-4E1D-830F-0C027326B1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8549D1-546D-4810-B9A0-A1D66CE778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210567365"/>
      </p:ext>
    </p:extLst>
  </p:cSld>
</p:sld>
</file>

<file path=ppt/slides/slide1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77A18D-8F17-4644-B27F-98880CD8D28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AB14A7-36D8-4C61-83F4-F0C06C8A30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a:t>
            </a:r>
          </a:p>
        </p:txBody>
      </p:sp>
      <p:sp>
        <p:nvSpPr>
          <p:cNvPr id="3" name="">
            <a:extLst xmlns:a="http://schemas.openxmlformats.org/drawingml/2006/main">
              <a:ext uri="{FF2B5EF4-FFF2-40B4-BE49-F238E27FC236}">
                <a16:creationId xmlns:a16="http://schemas.microsoft.com/office/drawing/2014/main" id="{ED452D19-E376-4B6A-843E-C9369EE41F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D98015D-6410-47D8-9B42-B7BECB786A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151</a:t>
            </a:r>
          </a:p>
        </p:txBody>
      </p:sp>
      <p:sp>
        <p:nvSpPr>
          <p:cNvPr id="5" name="">
            <a:extLst xmlns:a="http://schemas.openxmlformats.org/drawingml/2006/main">
              <a:ext uri="{FF2B5EF4-FFF2-40B4-BE49-F238E27FC236}">
                <a16:creationId xmlns:a16="http://schemas.microsoft.com/office/drawing/2014/main" id="{D3D45B8C-FAD0-4503-A62B-53B30557DC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Educate the patient, significant others, or caregivers on the importance of accurate recording *Consider and record fluid loss from incontinence, (stool and urine) * In draining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wounds weigh the saturated dressings *Note level of diaphoresis *If instilling or irrigating, note the amount returned compared to the amount instilled *Note the water volume of 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chips which is generally half the amount of the ice chips Not all patients require strict intake and output, however, an evaluation of every patient should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*Has the individual had an oral intake of fluid approximating 1500cc/24H?</a:t>
            </a:r>
          </a:p>
        </p:txBody>
      </p:sp>
      <p:sp>
        <p:nvSpPr>
          <p:cNvPr id="6" name="">
            <a:extLst xmlns:a="http://schemas.openxmlformats.org/drawingml/2006/main">
              <a:ext uri="{FF2B5EF4-FFF2-40B4-BE49-F238E27FC236}">
                <a16:creationId xmlns:a16="http://schemas.microsoft.com/office/drawing/2014/main" id="{11A8842D-D960-40BC-8F01-FEE8FC9E11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B7AAA3A-E32C-4A3C-BECF-30A1B2F7A6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861502344"/>
      </p:ext>
    </p:extLst>
  </p:cSld>
</p:sld>
</file>

<file path=ppt/slides/slide1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7EE045-B0B4-4F2A-A341-FD239201F5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027281-D5B3-4CCC-A4A0-79BAF1DF8D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1CCABC38-DD29-4A42-B0C5-5D56A930B8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42FDA09-743A-4D92-9282-83A75C20B8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152</a:t>
            </a:r>
          </a:p>
        </p:txBody>
      </p:sp>
      <p:sp>
        <p:nvSpPr>
          <p:cNvPr id="5" name="">
            <a:extLst xmlns:a="http://schemas.openxmlformats.org/drawingml/2006/main">
              <a:ext uri="{FF2B5EF4-FFF2-40B4-BE49-F238E27FC236}">
                <a16:creationId xmlns:a16="http://schemas.microsoft.com/office/drawing/2014/main" id="{AFF20347-CFF3-45F4-A49D-66A74B33DE5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*Has the individual voided at least every 8 hours and how much?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 urine concentrated?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fever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 skin dry with poor turgor?</a:t>
            </a:r>
          </a:p>
        </p:txBody>
      </p:sp>
      <p:sp>
        <p:nvSpPr>
          <p:cNvPr id="6" name="">
            <a:extLst xmlns:a="http://schemas.openxmlformats.org/drawingml/2006/main">
              <a:ext uri="{FF2B5EF4-FFF2-40B4-BE49-F238E27FC236}">
                <a16:creationId xmlns:a16="http://schemas.microsoft.com/office/drawing/2014/main" id="{E6674981-28C9-4357-A81E-355344BC40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23C930-C62A-49C9-8D6A-4A09268C12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629296572"/>
      </p:ext>
    </p:extLst>
  </p:cSld>
</p:sld>
</file>

<file path=ppt/slides/slide1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0DA1F9-AD7F-41DC-BDA9-0A5F88C6D4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8190DC-46CF-477B-99E5-33F688E297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BDC6204D-1868-43FB-AA27-8CA9D40B5E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A85E336-281A-48C5-8E1F-B7CF025C34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153</a:t>
            </a:r>
          </a:p>
        </p:txBody>
      </p:sp>
      <p:sp>
        <p:nvSpPr>
          <p:cNvPr id="5" name="">
            <a:extLst xmlns:a="http://schemas.openxmlformats.org/drawingml/2006/main">
              <a:ext uri="{FF2B5EF4-FFF2-40B4-BE49-F238E27FC236}">
                <a16:creationId xmlns:a16="http://schemas.microsoft.com/office/drawing/2014/main" id="{3B2CA0D5-B02B-4DDC-8F4D-EA949D5A27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excessive diaphoresis?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excessive wound drainage?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diagnostic tests may help confirm diagnosis: *CBC: This value offers an estimate of the Hemoglobin and Hematocrit.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lematocrit values will increase with extracellular volume depletior und increase with volume excess.</a:t>
            </a:r>
          </a:p>
        </p:txBody>
      </p:sp>
      <p:sp>
        <p:nvSpPr>
          <p:cNvPr id="6" name="">
            <a:extLst xmlns:a="http://schemas.openxmlformats.org/drawingml/2006/main">
              <a:ext uri="{FF2B5EF4-FFF2-40B4-BE49-F238E27FC236}">
                <a16:creationId xmlns:a16="http://schemas.microsoft.com/office/drawing/2014/main" id="{6109EB9B-EFD8-4CB7-9336-B8EB7572DB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DBF68E-FFB4-4F66-A61F-8335486B78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024269278"/>
      </p:ext>
    </p:extLst>
  </p:cSld>
</p:sld>
</file>

<file path=ppt/slides/slide1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3EB8CD-CEB7-4E18-BFAA-89D1B4FCA8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16ED03-770E-4F66-892B-5C5A41343F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DBB326FE-4326-429A-9496-015E3FE2A4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62C6485-56F8-45B7-978B-1DEF7A2032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154</a:t>
            </a:r>
          </a:p>
        </p:txBody>
      </p:sp>
      <p:sp>
        <p:nvSpPr>
          <p:cNvPr id="5" name="">
            <a:extLst xmlns:a="http://schemas.openxmlformats.org/drawingml/2006/main">
              <a:ext uri="{FF2B5EF4-FFF2-40B4-BE49-F238E27FC236}">
                <a16:creationId xmlns:a16="http://schemas.microsoft.com/office/drawing/2014/main" id="{8C1D3CF3-FFA4-44B4-8BFA-68E214A459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men 40-50%, wome 35-45%) *Urinalysis Pertinent observations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odor, clarity, presence of foam, sedimentation, pH, specific gravity, presence of protein, and Glucose *Electrolytes (Serum) pertinent electrolyte concentrations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and HCO3.</a:t>
            </a:r>
          </a:p>
        </p:txBody>
      </p:sp>
      <p:sp>
        <p:nvSpPr>
          <p:cNvPr id="6" name="">
            <a:extLst xmlns:a="http://schemas.openxmlformats.org/drawingml/2006/main">
              <a:ext uri="{FF2B5EF4-FFF2-40B4-BE49-F238E27FC236}">
                <a16:creationId xmlns:a16="http://schemas.microsoft.com/office/drawing/2014/main" id="{6589D1CB-EF28-4A0B-89F7-DA4A1CC693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A64698-54EA-4B0B-8D81-7CAFA5A9E85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976434635"/>
      </p:ext>
    </p:extLst>
  </p:cSld>
</p:sld>
</file>

<file path=ppt/slides/slide1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B8F0D8-8248-405E-A2F9-7993DDE21B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8B2878-4B5C-4968-8FB3-584E5C664C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EACB7AB8-DEE0-4FC2-A956-52F9619F0F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32008F9-D2BB-469B-B8F6-B71B44070B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155</a:t>
            </a:r>
          </a:p>
        </p:txBody>
      </p:sp>
      <p:sp>
        <p:nvSpPr>
          <p:cNvPr id="5" name="">
            <a:extLst xmlns:a="http://schemas.openxmlformats.org/drawingml/2006/main">
              <a:ext uri="{FF2B5EF4-FFF2-40B4-BE49-F238E27FC236}">
                <a16:creationId xmlns:a16="http://schemas.microsoft.com/office/drawing/2014/main" id="{6D832FD4-BB94-4630-B505-2000818D00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*Bun (Blood Urea Nitrogen) this value tends to fluctuate with the individual's state of 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Diet, however, can alter the results (high protein).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range is 8-25.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Malnutrition may cause a low bun.</a:t>
            </a:r>
          </a:p>
        </p:txBody>
      </p:sp>
      <p:sp>
        <p:nvSpPr>
          <p:cNvPr id="6" name="">
            <a:extLst xmlns:a="http://schemas.openxmlformats.org/drawingml/2006/main">
              <a:ext uri="{FF2B5EF4-FFF2-40B4-BE49-F238E27FC236}">
                <a16:creationId xmlns:a16="http://schemas.microsoft.com/office/drawing/2014/main" id="{A3FB38E2-200D-4010-B2EA-7440E63C2E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1E72E64-2CB2-466D-9E89-82CD24B2FC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326006927"/>
      </p:ext>
    </p:extLst>
  </p:cSld>
</p:sld>
</file>

<file path=ppt/slides/slide1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1AE79B-8490-49FC-8540-1555AFE35C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B2715F-FC57-4814-825C-68EB42E0AA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5C9BDB90-B85B-42A3-8DA3-12623EDB0C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431C9F6-6DE7-4103-B87E-A7265833E6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156</a:t>
            </a:r>
          </a:p>
        </p:txBody>
      </p:sp>
      <p:sp>
        <p:nvSpPr>
          <p:cNvPr id="5" name="">
            <a:extLst xmlns:a="http://schemas.openxmlformats.org/drawingml/2006/main">
              <a:ext uri="{FF2B5EF4-FFF2-40B4-BE49-F238E27FC236}">
                <a16:creationId xmlns:a16="http://schemas.microsoft.com/office/drawing/2014/main" id="{28B7C8A3-CB21-469E-B48E-B4765E7B64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*Arterial Arterial Blood Gases - Any deviation in these results denote an acid-base imbalance.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Normal range is 7.35-7.45.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*EKG An EKG (Electrocardiogram) is a useful tool in denoting imbalances of K, MG, and CA.</a:t>
            </a:r>
          </a:p>
        </p:txBody>
      </p:sp>
      <p:sp>
        <p:nvSpPr>
          <p:cNvPr id="6" name="">
            <a:extLst xmlns:a="http://schemas.openxmlformats.org/drawingml/2006/main">
              <a:ext uri="{FF2B5EF4-FFF2-40B4-BE49-F238E27FC236}">
                <a16:creationId xmlns:a16="http://schemas.microsoft.com/office/drawing/2014/main" id="{9681830A-30C5-4F6D-8A39-8A28DEB5AB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B1A394-509E-40BD-8B5C-77DA7AF3590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826911112"/>
      </p:ext>
    </p:extLst>
  </p:cSld>
</p:sld>
</file>

<file path=ppt/slides/slide1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775DC0-6B16-4429-850E-5AD2C46516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3F1CF4F-A273-4569-B84C-FC3AFA49C7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a:t>
            </a:r>
          </a:p>
        </p:txBody>
      </p:sp>
      <p:sp>
        <p:nvSpPr>
          <p:cNvPr id="3" name="">
            <a:extLst xmlns:a="http://schemas.openxmlformats.org/drawingml/2006/main">
              <a:ext uri="{FF2B5EF4-FFF2-40B4-BE49-F238E27FC236}">
                <a16:creationId xmlns:a16="http://schemas.microsoft.com/office/drawing/2014/main" id="{8075CC08-CBCA-49EF-A103-64A9C09777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1705B0C-ED3A-4D76-BE7A-403B8175D9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157</a:t>
            </a:r>
          </a:p>
        </p:txBody>
      </p:sp>
      <p:sp>
        <p:nvSpPr>
          <p:cNvPr id="5" name="">
            <a:extLst xmlns:a="http://schemas.openxmlformats.org/drawingml/2006/main">
              <a:ext uri="{FF2B5EF4-FFF2-40B4-BE49-F238E27FC236}">
                <a16:creationId xmlns:a16="http://schemas.microsoft.com/office/drawing/2014/main" id="{A8992AD6-2156-49BE-B157-0E57CE4915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signs and symptoms of fluid deficit in patients with renal dysfunction, Ulcerative imbalances, and cerebral injury.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for signs and symptoms of fluid overload in patients with Congestive Heart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Acute Renal Insufficiency, cerebral lesions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Adrenal Insufficiency, and Phychogenic Polydipsia.</a:t>
            </a:r>
          </a:p>
        </p:txBody>
      </p:sp>
      <p:sp>
        <p:nvSpPr>
          <p:cNvPr id="6" name="">
            <a:extLst xmlns:a="http://schemas.openxmlformats.org/drawingml/2006/main">
              <a:ext uri="{FF2B5EF4-FFF2-40B4-BE49-F238E27FC236}">
                <a16:creationId xmlns:a16="http://schemas.microsoft.com/office/drawing/2014/main" id="{9E2BD6C9-25E2-4BA7-A29B-7B1E65E452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3FAA2F-0384-465D-BD6C-82F33297BDE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312761696"/>
      </p:ext>
    </p:extLst>
  </p:cSld>
</p:sld>
</file>

<file path=ppt/slides/slide1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38E913-8BA6-4373-9658-927D43313B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72BBC2-B9D9-4DF2-90D7-5C1A8AB604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8B428D23-5CE1-4B8A-8EC2-574EFC8738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24AC77-5B92-427C-9FA2-5B6704206F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158</a:t>
            </a:r>
          </a:p>
        </p:txBody>
      </p:sp>
      <p:sp>
        <p:nvSpPr>
          <p:cNvPr id="5" name="">
            <a:extLst xmlns:a="http://schemas.openxmlformats.org/drawingml/2006/main">
              <a:ext uri="{FF2B5EF4-FFF2-40B4-BE49-F238E27FC236}">
                <a16:creationId xmlns:a16="http://schemas.microsoft.com/office/drawing/2014/main" id="{C503A2B0-E568-4F23-AE54-B9831B32AF7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The term "Third Spacing" indicates a shift of fluid, from something as simple as a water blister or the swelling of a sprained ankle, to the serious third spacing that can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accompany burns.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is the shifting of fluid from the vascular space to the interstitial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occurs due to a decrease of plasma proteins, an increase of capillary permeability, or blockage of the lymphatic system.</a:t>
            </a:r>
          </a:p>
        </p:txBody>
      </p:sp>
      <p:sp>
        <p:nvSpPr>
          <p:cNvPr id="6" name="">
            <a:extLst xmlns:a="http://schemas.openxmlformats.org/drawingml/2006/main">
              <a:ext uri="{FF2B5EF4-FFF2-40B4-BE49-F238E27FC236}">
                <a16:creationId xmlns:a16="http://schemas.microsoft.com/office/drawing/2014/main" id="{D1956423-BF6E-421D-8011-1F85B8EA2F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829DFC-4AC2-493E-B982-848AC05AE01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935629456"/>
      </p:ext>
    </p:extLst>
  </p:cSld>
</p:sld>
</file>

<file path=ppt/slides/slide1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455638-B9C1-4D7C-B2FE-4287AD8ED1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D0F623-7848-473A-BC5D-9A0505A268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49732377-44B9-4C87-A098-6E318A920E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4D8DD8-1ADA-451A-B406-5F828763EA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159</a:t>
            </a:r>
          </a:p>
        </p:txBody>
      </p:sp>
      <p:sp>
        <p:nvSpPr>
          <p:cNvPr id="5" name="">
            <a:extLst xmlns:a="http://schemas.openxmlformats.org/drawingml/2006/main">
              <a:ext uri="{FF2B5EF4-FFF2-40B4-BE49-F238E27FC236}">
                <a16:creationId xmlns:a16="http://schemas.microsoft.com/office/drawing/2014/main" id="{1A41DF79-2104-4224-BEE8-BF47CA7E50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can be caused by trauma, disease, or inflammation.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Despite the movement of large amounts of fluid, third spacing is essentially invisible.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fluid hides in tissue spaces such as the walls of the bowels, the Omentum and the peritoneum.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four different mechanisms of pressures that move fluid through the capillary membrane: *Capillary Pressure - Pressure exerting outward from the capillary against the membrane.</a:t>
            </a:r>
          </a:p>
        </p:txBody>
      </p:sp>
      <p:sp>
        <p:nvSpPr>
          <p:cNvPr id="6" name="">
            <a:extLst xmlns:a="http://schemas.openxmlformats.org/drawingml/2006/main">
              <a:ext uri="{FF2B5EF4-FFF2-40B4-BE49-F238E27FC236}">
                <a16:creationId xmlns:a16="http://schemas.microsoft.com/office/drawing/2014/main" id="{D575425F-2085-4EB9-8A68-39709D336C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CAA012-2821-4115-9BB9-82EE599D01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654879677"/>
      </p:ext>
    </p:extLst>
  </p:cSld>
</p:sld>
</file>

<file path=ppt/slides/slide1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891A40-5896-4C0B-9F4D-AC7782F2E3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B34DEC-C29D-4748-A0BC-83645D2F30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55F775F1-1158-4FF4-8765-E79DD51511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431F12-9B9C-482B-9A9B-A80CE5D6DE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160</a:t>
            </a:r>
          </a:p>
        </p:txBody>
      </p:sp>
      <p:sp>
        <p:nvSpPr>
          <p:cNvPr id="5" name="">
            <a:extLst xmlns:a="http://schemas.openxmlformats.org/drawingml/2006/main">
              <a:ext uri="{FF2B5EF4-FFF2-40B4-BE49-F238E27FC236}">
                <a16:creationId xmlns:a16="http://schemas.microsoft.com/office/drawing/2014/main" id="{EA3F0117-8AEB-4759-BB9C-AF4A1EB220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Fluid Pressure - Pressure exerted inward toward the capillary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*Plasma Colloid Osmotic Pressure - A pressure that pulls fluid from the interstitial space into the capillaries.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Fluid Colloid Osmotic Pressure - that which draws fluid from the capillaries into the third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role of the lymphatic system is one of offering an accessory route whereby excesses of interstitial fluid and proteins flow back into vascular space.</a:t>
            </a:r>
          </a:p>
        </p:txBody>
      </p:sp>
      <p:sp>
        <p:nvSpPr>
          <p:cNvPr id="6" name="">
            <a:extLst xmlns:a="http://schemas.openxmlformats.org/drawingml/2006/main">
              <a:ext uri="{FF2B5EF4-FFF2-40B4-BE49-F238E27FC236}">
                <a16:creationId xmlns:a16="http://schemas.microsoft.com/office/drawing/2014/main" id="{6EB0A2C1-19B1-49A9-BC8B-C76597D93B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0A1D1C-2AB9-4085-AF88-33211DCAB63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465816462"/>
      </p:ext>
    </p:extLst>
  </p:cSld>
</p:sld>
</file>

<file path=ppt/slides/slide1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C16CE1-A8ED-481E-9564-183659DBC1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1EABFA-E919-4E3D-B770-51575AC301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CCBF6941-A010-47A4-867A-5BF4D6AE23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290051C-FCC9-46C1-939B-2AC491B7BD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161</a:t>
            </a:r>
          </a:p>
        </p:txBody>
      </p:sp>
      <p:sp>
        <p:nvSpPr>
          <p:cNvPr id="5" name="">
            <a:extLst xmlns:a="http://schemas.openxmlformats.org/drawingml/2006/main">
              <a:ext uri="{FF2B5EF4-FFF2-40B4-BE49-F238E27FC236}">
                <a16:creationId xmlns:a16="http://schemas.microsoft.com/office/drawing/2014/main" id="{7268741E-70E8-4820-99B6-8DAED23EFC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structure of the lymph system accommodates large protein molecules.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Should this system fail death would ensue within 24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occurs in two phases: *Fluid Loss - Immediately follows trauma or surgery and can last up to 72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increase in capillary permeability allows proteins to leak out into areas of inflammation and trauma, and therefore fluid shifts from the vascular to the interstitial space.</a:t>
            </a:r>
          </a:p>
        </p:txBody>
      </p:sp>
      <p:sp>
        <p:nvSpPr>
          <p:cNvPr id="6" name="">
            <a:extLst xmlns:a="http://schemas.openxmlformats.org/drawingml/2006/main">
              <a:ext uri="{FF2B5EF4-FFF2-40B4-BE49-F238E27FC236}">
                <a16:creationId xmlns:a16="http://schemas.microsoft.com/office/drawing/2014/main" id="{0C585901-972C-4E1E-935E-D2D0ED57E5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271AC8-ADFC-4C57-807C-844DA76AD0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339784136"/>
      </p:ext>
    </p:extLst>
  </p:cSld>
</p:sld>
</file>

<file path=ppt/slides/slide1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F9E75B-86AB-4204-81CE-12F1199028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23D278-ED49-4B9C-97AC-C9603E48C2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081BBD47-12EF-4ECB-B0D1-ACCDD8FD16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C8B9D12-E5EA-4017-B0AD-5BD3CCE52C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162</a:t>
            </a:r>
          </a:p>
        </p:txBody>
      </p:sp>
      <p:sp>
        <p:nvSpPr>
          <p:cNvPr id="5" name="">
            <a:extLst xmlns:a="http://schemas.openxmlformats.org/drawingml/2006/main">
              <a:ext uri="{FF2B5EF4-FFF2-40B4-BE49-F238E27FC236}">
                <a16:creationId xmlns:a16="http://schemas.microsoft.com/office/drawing/2014/main" id="{33C62965-2DA7-4C3A-98F4-3B73064439D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Despite appropriate IV therapy, the fluid does not stay in the vascular compartment and the patient becomes hypovolemic.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Symptoms include: *Decrease in blood pressure</a:t>
            </a:r>
          </a:p>
        </p:txBody>
      </p:sp>
      <p:sp>
        <p:nvSpPr>
          <p:cNvPr id="6" name="">
            <a:extLst xmlns:a="http://schemas.openxmlformats.org/drawingml/2006/main">
              <a:ext uri="{FF2B5EF4-FFF2-40B4-BE49-F238E27FC236}">
                <a16:creationId xmlns:a16="http://schemas.microsoft.com/office/drawing/2014/main" id="{6E2F7EBF-6006-4EC8-8A2E-817AC82AB64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CD6CA00-58C4-4E24-AFAD-4642A6B4C4A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510636986"/>
      </p:ext>
    </p:extLst>
  </p:cSld>
</p:sld>
</file>

<file path=ppt/slides/slide1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5E958D-DB3E-4D46-B8E4-B9D6B9EB0B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DD0344-AFE1-4327-B76A-C614959BD7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a:t>
            </a:r>
          </a:p>
        </p:txBody>
      </p:sp>
      <p:sp>
        <p:nvSpPr>
          <p:cNvPr id="3" name="">
            <a:extLst xmlns:a="http://schemas.openxmlformats.org/drawingml/2006/main">
              <a:ext uri="{FF2B5EF4-FFF2-40B4-BE49-F238E27FC236}">
                <a16:creationId xmlns:a16="http://schemas.microsoft.com/office/drawing/2014/main" id="{0FFED26D-1AB0-471B-AEE5-65A3E112F0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A497727-882B-4C10-9B10-7B27E5D5C8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163</a:t>
            </a:r>
          </a:p>
        </p:txBody>
      </p:sp>
      <p:sp>
        <p:nvSpPr>
          <p:cNvPr id="5" name="">
            <a:extLst xmlns:a="http://schemas.openxmlformats.org/drawingml/2006/main">
              <a:ext uri="{FF2B5EF4-FFF2-40B4-BE49-F238E27FC236}">
                <a16:creationId xmlns:a16="http://schemas.microsoft.com/office/drawing/2014/main" id="{5CFCAC93-9358-4F45-8F44-A2ECF15D94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Decrease in urine output *Increase in heart rate It is important at this point to increase plasma proteins through the use of products such as albumin: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works towards the prevention of hypovolemia and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Re-absorption - When the trauma and inflammation subside, fluid will shift back into the vascular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fluid will then be excreted by the kidneys.</a:t>
            </a:r>
          </a:p>
        </p:txBody>
      </p:sp>
      <p:sp>
        <p:nvSpPr>
          <p:cNvPr id="6" name="">
            <a:extLst xmlns:a="http://schemas.openxmlformats.org/drawingml/2006/main">
              <a:ext uri="{FF2B5EF4-FFF2-40B4-BE49-F238E27FC236}">
                <a16:creationId xmlns:a16="http://schemas.microsoft.com/office/drawing/2014/main" id="{E1088793-8E2C-4918-878C-B46ED42B4AF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5133FA-E05E-4377-8234-6022CA7A47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62941203"/>
      </p:ext>
    </p:extLst>
  </p:cSld>
</p:sld>
</file>

<file path=ppt/slides/slide1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327E26-9234-4A4F-9930-9616D069F4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AEDA2C-CE65-4C16-A20D-291EC44477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60ECC8D9-EDE2-4DBF-9843-373DFE153E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354ED99-2C54-48CE-8072-D7299E2E5C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164</a:t>
            </a:r>
          </a:p>
        </p:txBody>
      </p:sp>
      <p:sp>
        <p:nvSpPr>
          <p:cNvPr id="5" name="">
            <a:extLst xmlns:a="http://schemas.openxmlformats.org/drawingml/2006/main">
              <a:ext uri="{FF2B5EF4-FFF2-40B4-BE49-F238E27FC236}">
                <a16:creationId xmlns:a16="http://schemas.microsoft.com/office/drawing/2014/main" id="{F401E288-8C92-47CD-B40F-C6168EEE22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 intravenous fluids administered at this time will cause circulatory overload.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Drastic increases in the urn output in this phase as usual.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Total fluid output may exceed intake by 3:1.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Edema can be moderate to severe (pulmonary edema).</a:t>
            </a:r>
          </a:p>
        </p:txBody>
      </p:sp>
      <p:sp>
        <p:nvSpPr>
          <p:cNvPr id="6" name="">
            <a:extLst xmlns:a="http://schemas.openxmlformats.org/drawingml/2006/main">
              <a:ext uri="{FF2B5EF4-FFF2-40B4-BE49-F238E27FC236}">
                <a16:creationId xmlns:a16="http://schemas.microsoft.com/office/drawing/2014/main" id="{FDFB1A39-5CCF-4751-A5CE-2A4ED75D3E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C240C5-1903-44F0-B567-A5C8A97606F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679548146"/>
      </p:ext>
    </p:extLst>
  </p:cSld>
</p:sld>
</file>

<file path=ppt/slides/slide1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ED7379-E23F-45E8-960C-FBC63AD94B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46DC35-2DE4-4139-8027-8E93C1D1F0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E1CDFCFE-3A66-45C6-95BE-0929BEADFD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5BD2DD5-25EC-4061-AC51-D5321280D0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165</a:t>
            </a:r>
          </a:p>
        </p:txBody>
      </p:sp>
      <p:sp>
        <p:nvSpPr>
          <p:cNvPr id="5" name="">
            <a:extLst xmlns:a="http://schemas.openxmlformats.org/drawingml/2006/main">
              <a:ext uri="{FF2B5EF4-FFF2-40B4-BE49-F238E27FC236}">
                <a16:creationId xmlns:a16="http://schemas.microsoft.com/office/drawing/2014/main" id="{455B5FB7-3354-47E4-B58F-71645B6577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is a reflection of sodium retention, resulting in either excessive re-absorption or inadequate elimination.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severe fluid loss in the capillary bed, the resulting hypovolemia decreases renal perfusion, therefore stimulating Renin secretion.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Renin will trigger the release of aldosterone, which causes the retention of even more sodium and water, and the cycle continues.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more sodium is reabsorbed, less can be secreted and massive amounts of edema can develop.</a:t>
            </a:r>
          </a:p>
        </p:txBody>
      </p:sp>
      <p:sp>
        <p:nvSpPr>
          <p:cNvPr id="6" name="">
            <a:extLst xmlns:a="http://schemas.openxmlformats.org/drawingml/2006/main">
              <a:ext uri="{FF2B5EF4-FFF2-40B4-BE49-F238E27FC236}">
                <a16:creationId xmlns:a16="http://schemas.microsoft.com/office/drawing/2014/main" id="{0AA0F1DB-0101-415F-A335-2594CF8676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C9EF246-2C3F-4CFD-AF33-43A43D0313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923161898"/>
      </p:ext>
    </p:extLst>
  </p:cSld>
</p:sld>
</file>

<file path=ppt/slides/slide1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27EFC9-901C-4B27-A616-11C4A60DEA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A42F8B-B102-4A11-8CF2-6AF354AF08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AB59AE0E-7442-40BC-B5DE-C8CB82B74F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BE2BB8C-C083-4A09-A1A1-783D6494E8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166</a:t>
            </a:r>
          </a:p>
        </p:txBody>
      </p:sp>
      <p:sp>
        <p:nvSpPr>
          <p:cNvPr id="5" name="">
            <a:extLst xmlns:a="http://schemas.openxmlformats.org/drawingml/2006/main">
              <a:ext uri="{FF2B5EF4-FFF2-40B4-BE49-F238E27FC236}">
                <a16:creationId xmlns:a16="http://schemas.microsoft.com/office/drawing/2014/main" id="{61C6E932-CF92-469C-ACA3-70748453444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signs may be noted on assessment: *Pitting edema *Excessive weight gain (2.2lbs.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one liter of fluid retention) *Increased blood pressure *Shortness of breath *Engorged neck veins Edema is generally evaluated and noted numerically in severity on a scale of 1-4.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larger the number the greater the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edema is barely detectable following digital pressure, while +4 edema is deep and may have persistent indentation occurring after digital pressure.</a:t>
            </a:r>
          </a:p>
        </p:txBody>
      </p:sp>
      <p:sp>
        <p:nvSpPr>
          <p:cNvPr id="6" name="">
            <a:extLst xmlns:a="http://schemas.openxmlformats.org/drawingml/2006/main">
              <a:ext uri="{FF2B5EF4-FFF2-40B4-BE49-F238E27FC236}">
                <a16:creationId xmlns:a16="http://schemas.microsoft.com/office/drawing/2014/main" id="{66E63608-A43D-47B5-8307-F25FC40EE6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ADFB4D-F476-4EAA-9D0A-46A8312A3B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2078072537"/>
      </p:ext>
    </p:extLst>
  </p:cSld>
</p:sld>
</file>

<file path=ppt/slides/slide1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CF9223-50EF-46F3-875E-73AD54F751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0EA190-9402-4B97-B6E5-6F331474B2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233C82CB-38C7-49E2-B6AE-27DDE88845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F774109-00B7-4EE1-AB63-57E572D366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167</a:t>
            </a:r>
          </a:p>
        </p:txBody>
      </p:sp>
      <p:sp>
        <p:nvSpPr>
          <p:cNvPr id="5" name="">
            <a:extLst xmlns:a="http://schemas.openxmlformats.org/drawingml/2006/main">
              <a:ext uri="{FF2B5EF4-FFF2-40B4-BE49-F238E27FC236}">
                <a16:creationId xmlns:a16="http://schemas.microsoft.com/office/drawing/2014/main" id="{67A25C72-DD2C-430D-B6BD-BD4D8745E9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type of edema is referred to as Pitting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an average adult, up to 10 lbs of edema may go undetectable.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can be so severe that no pitting is possible, tight shiny skin is seen instead without any detectable anatomical outlines.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edema is that experienced during the menstrual cycle, related to hormones.</a:t>
            </a:r>
          </a:p>
        </p:txBody>
      </p:sp>
      <p:sp>
        <p:nvSpPr>
          <p:cNvPr id="6" name="">
            <a:extLst xmlns:a="http://schemas.openxmlformats.org/drawingml/2006/main">
              <a:ext uri="{FF2B5EF4-FFF2-40B4-BE49-F238E27FC236}">
                <a16:creationId xmlns:a16="http://schemas.microsoft.com/office/drawing/2014/main" id="{46BFB61D-5A0A-466D-9062-A7B8A07558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C1312D1-0CC4-4A33-B116-F3909AAB74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2002445563"/>
      </p:ext>
    </p:extLst>
  </p:cSld>
</p:sld>
</file>

<file path=ppt/slides/slide1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72AC09-8F20-4BB0-986F-0FDEB26865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50EA2C-B047-4601-A138-CC9DB98D0A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FD6B7672-62E1-4E56-AD46-E3297E74C1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5953951-8BDE-4C89-A29D-22717E7281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168</a:t>
            </a:r>
          </a:p>
        </p:txBody>
      </p:sp>
      <p:sp>
        <p:nvSpPr>
          <p:cNvPr id="5" name="">
            <a:extLst xmlns:a="http://schemas.openxmlformats.org/drawingml/2006/main">
              <a:ext uri="{FF2B5EF4-FFF2-40B4-BE49-F238E27FC236}">
                <a16:creationId xmlns:a16="http://schemas.microsoft.com/office/drawing/2014/main" id="{7ABE1D5A-6D7E-4DC7-97A6-D8464FB6CC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may be troublesome but not serious.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additional type of edema is due to lack of mobility.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Muscles are an important factor in the movement of fluids; therefore the stroke patient may be at risk for edema on the flaccid side of his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edema associated with pregnancy is secondary to an increase in circulating blood volume.</a:t>
            </a:r>
          </a:p>
        </p:txBody>
      </p:sp>
      <p:sp>
        <p:nvSpPr>
          <p:cNvPr id="6" name="">
            <a:extLst xmlns:a="http://schemas.openxmlformats.org/drawingml/2006/main">
              <a:ext uri="{FF2B5EF4-FFF2-40B4-BE49-F238E27FC236}">
                <a16:creationId xmlns:a16="http://schemas.microsoft.com/office/drawing/2014/main" id="{16D9FE73-07D6-45F2-B7BD-85F23DBCFB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6E72D4-A6D6-4E0A-8661-C4923116E4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21302043"/>
      </p:ext>
    </p:extLst>
  </p:cSld>
</p:sld>
</file>

<file path=ppt/slides/slide1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5FF0DA-8F03-4D6B-AD1A-52D4F2873D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22A6FE-7840-44FA-BD6B-6B0BFA5C78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16005672-ED8C-4ABE-854A-9AF986E1C0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6F515F4-1C1B-48B5-8B24-E97BA27C4C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169</a:t>
            </a:r>
          </a:p>
        </p:txBody>
      </p:sp>
      <p:sp>
        <p:nvSpPr>
          <p:cNvPr id="5" name="">
            <a:extLst xmlns:a="http://schemas.openxmlformats.org/drawingml/2006/main">
              <a:ext uri="{FF2B5EF4-FFF2-40B4-BE49-F238E27FC236}">
                <a16:creationId xmlns:a16="http://schemas.microsoft.com/office/drawing/2014/main" id="{C5411C97-D326-4E3E-9B1C-28A8A8C677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Certain drugs cause edema; corticosteroids, anti-inflammatorys, and anti-hypertensive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life threatening edema is pulmonary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will present with severe shortness of breath, frothy sputum, rapid pulse,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may be a history of nocturia</a:t>
            </a:r>
          </a:p>
        </p:txBody>
      </p:sp>
      <p:sp>
        <p:nvSpPr>
          <p:cNvPr id="6" name="">
            <a:extLst xmlns:a="http://schemas.openxmlformats.org/drawingml/2006/main">
              <a:ext uri="{FF2B5EF4-FFF2-40B4-BE49-F238E27FC236}">
                <a16:creationId xmlns:a16="http://schemas.microsoft.com/office/drawing/2014/main" id="{D74BED09-5F64-42BB-BFB3-C903511547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2E41F41-E544-473B-A262-E55404F1F1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512733015"/>
      </p:ext>
    </p:extLst>
  </p:cSld>
</p:sld>
</file>

<file path=ppt/slides/slide1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EC687B-C907-4BEF-97A0-1885B060E0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2E8376-E60C-415D-AA6C-4E829E4B3C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a:t>
            </a:r>
          </a:p>
        </p:txBody>
      </p:sp>
      <p:sp>
        <p:nvSpPr>
          <p:cNvPr id="3" name="">
            <a:extLst xmlns:a="http://schemas.openxmlformats.org/drawingml/2006/main">
              <a:ext uri="{FF2B5EF4-FFF2-40B4-BE49-F238E27FC236}">
                <a16:creationId xmlns:a16="http://schemas.microsoft.com/office/drawing/2014/main" id="{88AF0066-6D42-4932-AE77-6E71603A45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042131E-85FB-436D-8AFA-038D659FA2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170</a:t>
            </a:r>
          </a:p>
        </p:txBody>
      </p:sp>
      <p:sp>
        <p:nvSpPr>
          <p:cNvPr id="5" name="">
            <a:extLst xmlns:a="http://schemas.openxmlformats.org/drawingml/2006/main">
              <a:ext uri="{FF2B5EF4-FFF2-40B4-BE49-F238E27FC236}">
                <a16:creationId xmlns:a16="http://schemas.microsoft.com/office/drawing/2014/main" id="{09A668EB-D477-4B81-ABD3-7086E23939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orthopnea.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be treated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may include; change Edema is usually not serious, and is seen as the bodies attempt to correct a physiologic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restriction in selected patients is recommended.</a:t>
            </a:r>
          </a:p>
        </p:txBody>
      </p:sp>
      <p:sp>
        <p:nvSpPr>
          <p:cNvPr id="6" name="">
            <a:extLst xmlns:a="http://schemas.openxmlformats.org/drawingml/2006/main">
              <a:ext uri="{FF2B5EF4-FFF2-40B4-BE49-F238E27FC236}">
                <a16:creationId xmlns:a16="http://schemas.microsoft.com/office/drawing/2014/main" id="{516111DB-AA34-4FB6-808B-5FADC9521D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DF3499-3DA0-4D63-919A-754AE842D8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258798247"/>
      </p:ext>
    </p:extLst>
  </p:cSld>
</p:sld>
</file>

<file path=ppt/slides/slide1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6C4EDB-B2AB-482D-99DE-2F7C9D1662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FCABAF-2624-4937-9A21-7E303EFC1F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AD17CD17-A5B9-4615-AA11-6CDCAA86E4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A9B0A9-8941-4742-A867-92A6C01B6A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171</a:t>
            </a:r>
          </a:p>
        </p:txBody>
      </p:sp>
      <p:sp>
        <p:nvSpPr>
          <p:cNvPr id="5" name="">
            <a:extLst xmlns:a="http://schemas.openxmlformats.org/drawingml/2006/main">
              <a:ext uri="{FF2B5EF4-FFF2-40B4-BE49-F238E27FC236}">
                <a16:creationId xmlns:a16="http://schemas.microsoft.com/office/drawing/2014/main" id="{45886B88-336E-458E-8DB3-49C43B90CC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origin of the edema is cardiac or renal, there are some factors to consider.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Restriction of sodium is mandatory, administration of diuretics, daily weights, and frequent blood pressure checks are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is seen in all groups.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two groups in which dehydration is most commonly seen are infants and the elderly.</a:t>
            </a:r>
          </a:p>
        </p:txBody>
      </p:sp>
      <p:sp>
        <p:nvSpPr>
          <p:cNvPr id="6" name="">
            <a:extLst xmlns:a="http://schemas.openxmlformats.org/drawingml/2006/main">
              <a:ext uri="{FF2B5EF4-FFF2-40B4-BE49-F238E27FC236}">
                <a16:creationId xmlns:a16="http://schemas.microsoft.com/office/drawing/2014/main" id="{EA144229-877D-4B09-B708-1DF802C625C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F139A67-D028-402D-AD3A-3236F240EE4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908856262"/>
      </p:ext>
    </p:extLst>
  </p:cSld>
</p:sld>
</file>

<file path=ppt/slides/slide1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1105D-9BE8-4E8B-A35D-E39ADE4CEC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670223-CA5A-49BE-A74B-DC313B5EFFA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D449A367-81FD-4275-AB65-C8AE77D8F8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EE1F118-90DB-41E2-A5A2-6086CDEB30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172</a:t>
            </a:r>
          </a:p>
        </p:txBody>
      </p:sp>
      <p:sp>
        <p:nvSpPr>
          <p:cNvPr id="5" name="">
            <a:extLst xmlns:a="http://schemas.openxmlformats.org/drawingml/2006/main">
              <a:ext uri="{FF2B5EF4-FFF2-40B4-BE49-F238E27FC236}">
                <a16:creationId xmlns:a16="http://schemas.microsoft.com/office/drawing/2014/main" id="{C058EE5B-3C79-48D0-B560-EB041AEF45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usual cause of dehydration is from an inadequate intake of water due to the inability to swallow, coma, or the unavailability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process of obligatory losses will continue, regardless of intake.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include: respiratory losses, urinary losses, and perspiration.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the ECF rises because these losses are almost pure water.</a:t>
            </a:r>
          </a:p>
        </p:txBody>
      </p:sp>
      <p:sp>
        <p:nvSpPr>
          <p:cNvPr id="6" name="">
            <a:extLst xmlns:a="http://schemas.openxmlformats.org/drawingml/2006/main">
              <a:ext uri="{FF2B5EF4-FFF2-40B4-BE49-F238E27FC236}">
                <a16:creationId xmlns:a16="http://schemas.microsoft.com/office/drawing/2014/main" id="{AC591D5E-EA99-431A-8F97-0B7B664EDD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3A55749-BA57-4A34-B023-6706CB999C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1874539437"/>
      </p:ext>
    </p:extLst>
  </p:cSld>
</p:sld>
</file>

<file path=ppt/slides/slide1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6BD473-3B43-4F98-B37B-4B2A61D2B1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86C587-E5EF-4969-9A6A-7C7506033B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69C1A597-37A2-4427-9DD7-6733F6B200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18C181B-6199-480F-8EC7-DE301F0B49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173</a:t>
            </a:r>
          </a:p>
        </p:txBody>
      </p:sp>
      <p:sp>
        <p:nvSpPr>
          <p:cNvPr id="5" name="">
            <a:extLst xmlns:a="http://schemas.openxmlformats.org/drawingml/2006/main">
              <a:ext uri="{FF2B5EF4-FFF2-40B4-BE49-F238E27FC236}">
                <a16:creationId xmlns:a16="http://schemas.microsoft.com/office/drawing/2014/main" id="{7DA3D604-55B5-4D4B-BC6C-ADD011EF47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following are symptoms of water loss: *Dizziness *Weakness *Thirst *Difficulty speaking</a:t>
            </a:r>
          </a:p>
        </p:txBody>
      </p:sp>
      <p:sp>
        <p:nvSpPr>
          <p:cNvPr id="6" name="">
            <a:extLst xmlns:a="http://schemas.openxmlformats.org/drawingml/2006/main">
              <a:ext uri="{FF2B5EF4-FFF2-40B4-BE49-F238E27FC236}">
                <a16:creationId xmlns:a16="http://schemas.microsoft.com/office/drawing/2014/main" id="{42400D95-49C7-4199-B364-E4036DC495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E2C1DF-6E2D-40D3-AF7D-3EFFE60A2E5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709951719"/>
      </p:ext>
    </p:extLst>
  </p:cSld>
</p:sld>
</file>

<file path=ppt/slides/slide1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8E4F2-57EA-4E27-A976-9DAA594CBE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25103A-0AC1-4FD0-803F-435515C3A4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01"/>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a:t>
            </a:r>
          </a:p>
        </p:txBody>
      </p:sp>
      <p:sp>
        <p:nvSpPr>
          <p:cNvPr id="3" name="">
            <a:extLst xmlns:a="http://schemas.openxmlformats.org/drawingml/2006/main">
              <a:ext uri="{FF2B5EF4-FFF2-40B4-BE49-F238E27FC236}">
                <a16:creationId xmlns:a16="http://schemas.microsoft.com/office/drawing/2014/main" id="{9CE6B3BA-9E91-469D-97A1-78C015E8F5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B26A231-187C-463B-8B6E-91C32FF0B9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174</a:t>
            </a:r>
          </a:p>
        </p:txBody>
      </p:sp>
      <p:sp>
        <p:nvSpPr>
          <p:cNvPr id="5" name="">
            <a:extLst xmlns:a="http://schemas.openxmlformats.org/drawingml/2006/main">
              <a:ext uri="{FF2B5EF4-FFF2-40B4-BE49-F238E27FC236}">
                <a16:creationId xmlns:a16="http://schemas.microsoft.com/office/drawing/2014/main" id="{FD1B9E81-BB25-49E6-9C91-30AC0FBC35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*Dry skin and mucous membranes *The tongue may be swollen and dry with fissures *Postural hypotension *Fever and weight loss *Thready pulse Laboratory values of note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increased serum hematocrit, osmolality, and sodium, oliguria, urine sodium &lt; 10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can be avoided if you are aware of patients at risk for this complication.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the following patients as those at high risk for dehydration:</a:t>
            </a:r>
          </a:p>
        </p:txBody>
      </p:sp>
      <p:sp>
        <p:nvSpPr>
          <p:cNvPr id="6" name="">
            <a:extLst xmlns:a="http://schemas.openxmlformats.org/drawingml/2006/main">
              <a:ext uri="{FF2B5EF4-FFF2-40B4-BE49-F238E27FC236}">
                <a16:creationId xmlns:a16="http://schemas.microsoft.com/office/drawing/2014/main" id="{743E00F9-7635-43A3-9BB9-EABACE0E86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C5098BD-8F70-40F4-88D8-BF0D32FF643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881434338"/>
      </p:ext>
    </p:extLst>
  </p:cSld>
</p:sld>
</file>

<file path=ppt/slides/slide1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5AB655-85CF-4854-8574-1B043B1AAF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B7C385-6BC0-48F6-8152-CA8BBA34374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69055DFE-ADA6-4CE9-AAAF-42A010704B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262AD70-1D0A-4ABE-B8A9-797CF0C279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175</a:t>
            </a:r>
          </a:p>
        </p:txBody>
      </p:sp>
      <p:sp>
        <p:nvSpPr>
          <p:cNvPr id="5" name="">
            <a:extLst xmlns:a="http://schemas.openxmlformats.org/drawingml/2006/main">
              <a:ext uri="{FF2B5EF4-FFF2-40B4-BE49-F238E27FC236}">
                <a16:creationId xmlns:a16="http://schemas.microsoft.com/office/drawing/2014/main" id="{C3211F5B-4895-475B-8DC6-C95431B082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*Intubation and mechanical devices *Extreme debilitate and illness *Burns and massive injuries *Significant wound drainage *Significant drainage from suctioning *Coma *Unavailability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Predisposing symptoms of dehydration follow are vomiting, diarrhea, fever, fluid shifts, and hyperventilation.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Skin turgor can be assessed by the pinch test.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Slightly pinch the skin of the forearm.</a:t>
            </a:r>
          </a:p>
        </p:txBody>
      </p:sp>
      <p:sp>
        <p:nvSpPr>
          <p:cNvPr id="6" name="">
            <a:extLst xmlns:a="http://schemas.openxmlformats.org/drawingml/2006/main">
              <a:ext uri="{FF2B5EF4-FFF2-40B4-BE49-F238E27FC236}">
                <a16:creationId xmlns:a16="http://schemas.microsoft.com/office/drawing/2014/main" id="{82709819-AB00-4683-A647-B424535964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7E449C-1432-431B-AB87-11FF05CEDDD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127039163"/>
      </p:ext>
    </p:extLst>
  </p:cSld>
</p:sld>
</file>

<file path=ppt/slides/slide1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554C6C-2427-4BF6-BC40-488FDA2D41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B95CAB-F3F5-4A67-AE35-1066CBD6EB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69156D5A-9CBC-495E-90C8-8349DF5F8E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88B4434-8D35-404A-9C28-0CEA51A701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176</a:t>
            </a:r>
          </a:p>
        </p:txBody>
      </p:sp>
      <p:sp>
        <p:nvSpPr>
          <p:cNvPr id="5" name="">
            <a:extLst xmlns:a="http://schemas.openxmlformats.org/drawingml/2006/main">
              <a:ext uri="{FF2B5EF4-FFF2-40B4-BE49-F238E27FC236}">
                <a16:creationId xmlns:a16="http://schemas.microsoft.com/office/drawing/2014/main" id="{2A4DF828-9D15-400B-996D-B8D5DD8F35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Normally the skin will return to normal and resume its shape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skin retains the wrinkly for approximately 30 seconds, the patient has poor skin turgor.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Perform this test with caution in the elderly patient or the very thin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the treatment of dehydration you must look for the underlying cause and treat it.</a:t>
            </a:r>
          </a:p>
        </p:txBody>
      </p:sp>
      <p:sp>
        <p:nvSpPr>
          <p:cNvPr id="6" name="">
            <a:extLst xmlns:a="http://schemas.openxmlformats.org/drawingml/2006/main">
              <a:ext uri="{FF2B5EF4-FFF2-40B4-BE49-F238E27FC236}">
                <a16:creationId xmlns:a16="http://schemas.microsoft.com/office/drawing/2014/main" id="{B57AA922-DB94-41B8-97DF-764B75C4A9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FE1BA9-C08C-4139-8B73-0FA327124A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054042475"/>
      </p:ext>
    </p:extLst>
  </p:cSld>
</p:sld>
</file>

<file path=ppt/slides/slide1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ED3366-AA8C-496C-9B4F-F0E2C454A0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096C2F-E43E-4F2B-A075-E26A5917B0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5C4BCA88-070D-4A36-9998-7E73147EC2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729BE9A-3A1B-4D90-A61B-99306F6838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177</a:t>
            </a:r>
          </a:p>
        </p:txBody>
      </p:sp>
      <p:sp>
        <p:nvSpPr>
          <p:cNvPr id="5" name="">
            <a:extLst xmlns:a="http://schemas.openxmlformats.org/drawingml/2006/main">
              <a:ext uri="{FF2B5EF4-FFF2-40B4-BE49-F238E27FC236}">
                <a16:creationId xmlns:a16="http://schemas.microsoft.com/office/drawing/2014/main" id="{87BE37B7-F88C-46B0-8347-4C8464A276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an imbalance in the intake and output is suspect, it is your responsibility to show documentation and to clearly document these findings.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Circulatory Overload Circulatory overload is a systemic complication of IV therapy but one, which can easily lead to pulmonary edema, and therefore mentioned here.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can be caused by too much IV fluid or fluid delivered too fast.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symptoms are as follows:</a:t>
            </a:r>
          </a:p>
        </p:txBody>
      </p:sp>
      <p:sp>
        <p:nvSpPr>
          <p:cNvPr id="6" name="">
            <a:extLst xmlns:a="http://schemas.openxmlformats.org/drawingml/2006/main">
              <a:ext uri="{FF2B5EF4-FFF2-40B4-BE49-F238E27FC236}">
                <a16:creationId xmlns:a16="http://schemas.microsoft.com/office/drawing/2014/main" id="{A8654D84-8F39-4311-ACC5-C7E2AED6DD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062E311-206A-45BA-A2BC-D683D702AE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545801858"/>
      </p:ext>
    </p:extLst>
  </p:cSld>
</p:sld>
</file>

<file path=ppt/slides/slide1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A975AA-270A-46C4-837F-FD1A043CD4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E10F04-10D6-4E47-9BC1-D38E66A4FA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3DD9C133-AABB-41BB-BD8C-BA33669D18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8264312-0723-4713-A29D-D3A83AB2527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178</a:t>
            </a:r>
          </a:p>
        </p:txBody>
      </p:sp>
      <p:sp>
        <p:nvSpPr>
          <p:cNvPr id="5" name="">
            <a:extLst xmlns:a="http://schemas.openxmlformats.org/drawingml/2006/main">
              <a:ext uri="{FF2B5EF4-FFF2-40B4-BE49-F238E27FC236}">
                <a16:creationId xmlns:a16="http://schemas.microsoft.com/office/drawing/2014/main" id="{A8F1ACEC-5B18-47BA-B638-C975FF52DF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*Engorged neck veins * Increased respirations *Shortness of breath *Rales *Increase in blood pressure and central venous pressure (CVP) Wide variance between intake and output</a:t>
            </a:r>
          </a:p>
        </p:txBody>
      </p:sp>
      <p:sp>
        <p:nvSpPr>
          <p:cNvPr id="6" name="">
            <a:extLst xmlns:a="http://schemas.openxmlformats.org/drawingml/2006/main">
              <a:ext uri="{FF2B5EF4-FFF2-40B4-BE49-F238E27FC236}">
                <a16:creationId xmlns:a16="http://schemas.microsoft.com/office/drawing/2014/main" id="{5D8E4914-31E4-43D7-989A-91DD609597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E8133F-92E0-448F-BBA9-5ECD86D7BA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289191259"/>
      </p:ext>
    </p:extLst>
  </p:cSld>
</p:sld>
</file>

<file path=ppt/slides/slide1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B2AFFC-C4AD-44BD-927C-CF2ED64F97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F861F9-F6EF-4278-BE47-BE5FEC8696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a:t>
            </a:r>
          </a:p>
        </p:txBody>
      </p:sp>
      <p:sp>
        <p:nvSpPr>
          <p:cNvPr id="3" name="">
            <a:extLst xmlns:a="http://schemas.openxmlformats.org/drawingml/2006/main">
              <a:ext uri="{FF2B5EF4-FFF2-40B4-BE49-F238E27FC236}">
                <a16:creationId xmlns:a16="http://schemas.microsoft.com/office/drawing/2014/main" id="{8B0C9A49-2201-4AB5-8318-8F8961E9B4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BBAB7C5-D933-4A17-ACB8-1B0FEB1185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179</a:t>
            </a:r>
          </a:p>
        </p:txBody>
      </p:sp>
      <p:sp>
        <p:nvSpPr>
          <p:cNvPr id="5" name="">
            <a:extLst xmlns:a="http://schemas.openxmlformats.org/drawingml/2006/main">
              <a:ext uri="{FF2B5EF4-FFF2-40B4-BE49-F238E27FC236}">
                <a16:creationId xmlns:a16="http://schemas.microsoft.com/office/drawing/2014/main" id="{1FFBCAD7-6C91-447C-A531-0C7113F391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intervention should include slowing the IV rate to "Keep vein open"(KVO).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patient's head should be elevated and oxygen administered.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the vital signs and Special Considerations Pediatrics In the pediatric population IV therapy is a specialized and precise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Points to remember include: *Children are not small adults.</a:t>
            </a:r>
          </a:p>
        </p:txBody>
      </p:sp>
      <p:sp>
        <p:nvSpPr>
          <p:cNvPr id="6" name="">
            <a:extLst xmlns:a="http://schemas.openxmlformats.org/drawingml/2006/main">
              <a:ext uri="{FF2B5EF4-FFF2-40B4-BE49-F238E27FC236}">
                <a16:creationId xmlns:a16="http://schemas.microsoft.com/office/drawing/2014/main" id="{A48B4A62-4482-45B0-9966-C1EC7FB929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A2E69E-C0AD-4326-A8EC-C40F7B6A936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278117632"/>
      </p:ext>
    </p:extLst>
  </p:cSld>
</p:sld>
</file>

<file path=ppt/slides/slide1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D71274-D473-4F45-A366-148F5A251A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E5AF0E-A357-47AC-8EC0-F30959C48F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6963CCF3-2AD9-4B0D-949A-30730088C3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20F442E-D0EA-47B2-B3CA-ECFEC509BC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180</a:t>
            </a:r>
          </a:p>
        </p:txBody>
      </p:sp>
      <p:sp>
        <p:nvSpPr>
          <p:cNvPr id="5" name="">
            <a:extLst xmlns:a="http://schemas.openxmlformats.org/drawingml/2006/main">
              <a:ext uri="{FF2B5EF4-FFF2-40B4-BE49-F238E27FC236}">
                <a16:creationId xmlns:a16="http://schemas.microsoft.com/office/drawing/2014/main" id="{CD4B466B-C091-4F6B-83A8-75CA37A648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water content, compartmental proportions, and homeostatic controls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ICF and ECF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maintenance requirements for water and electrolytes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younger the infant, the smaller his fluid reserves.</a:t>
            </a:r>
          </a:p>
        </p:txBody>
      </p:sp>
      <p:sp>
        <p:nvSpPr>
          <p:cNvPr id="6" name="">
            <a:extLst xmlns:a="http://schemas.openxmlformats.org/drawingml/2006/main">
              <a:ext uri="{FF2B5EF4-FFF2-40B4-BE49-F238E27FC236}">
                <a16:creationId xmlns:a16="http://schemas.microsoft.com/office/drawing/2014/main" id="{9B0B44A3-9103-4296-B9FB-248E09AC47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8AD5D33-1859-44C9-9B1C-A42AD78C14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579436036"/>
      </p:ext>
    </p:extLst>
  </p:cSld>
</p:sld>
</file>

<file path=ppt/slides/slide1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F5287A-3A34-4272-B2BD-F807A76095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BFEF22-81EF-41E6-A7A0-33EEBCE788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71954B2A-8991-4BF9-91EE-751ABCA9CB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F2F77B7-4820-4683-9ADB-2AD550E6B1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181</a:t>
            </a:r>
          </a:p>
        </p:txBody>
      </p:sp>
      <p:sp>
        <p:nvSpPr>
          <p:cNvPr id="5" name="">
            <a:extLst xmlns:a="http://schemas.openxmlformats.org/drawingml/2006/main">
              <a:ext uri="{FF2B5EF4-FFF2-40B4-BE49-F238E27FC236}">
                <a16:creationId xmlns:a16="http://schemas.microsoft.com/office/drawing/2014/main" id="{D283BB8B-896E-4B04-8612-0DB8A2601E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 child's life depends upon rapid turnover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*Children have a narrow margin of error for fluid retention.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Elderly Good nursing assessment skills in the evaluation of the elderly patient are mandatory.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must: *Distinguish between normal signs of aging and the more severe signs of fluid imbalance.</a:t>
            </a:r>
          </a:p>
        </p:txBody>
      </p:sp>
      <p:sp>
        <p:nvSpPr>
          <p:cNvPr id="6" name="">
            <a:extLst xmlns:a="http://schemas.openxmlformats.org/drawingml/2006/main">
              <a:ext uri="{FF2B5EF4-FFF2-40B4-BE49-F238E27FC236}">
                <a16:creationId xmlns:a16="http://schemas.microsoft.com/office/drawing/2014/main" id="{D377A0B5-CB01-45F7-BD6C-F99FAA215C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7C5147-76BD-4AE7-99DC-85137374B0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56481691"/>
      </p:ext>
    </p:extLst>
  </p:cSld>
</p:sld>
</file>

<file path=ppt/slides/slide1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02572D-AE9A-4932-89E1-418557C23E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C79F4B-7714-4103-B7B9-E8CF2A6701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D33816F4-E31D-4912-91D7-112129A5A0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907C1B9-71DB-4366-8520-72F1350CB4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182</a:t>
            </a:r>
          </a:p>
        </p:txBody>
      </p:sp>
      <p:sp>
        <p:nvSpPr>
          <p:cNvPr id="5" name="">
            <a:extLst xmlns:a="http://schemas.openxmlformats.org/drawingml/2006/main">
              <a:ext uri="{FF2B5EF4-FFF2-40B4-BE49-F238E27FC236}">
                <a16:creationId xmlns:a16="http://schemas.microsoft.com/office/drawing/2014/main" id="{D6300107-6AF5-4A91-A78D-711DB8060B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Know the normal *The chief vulnerabilities of the elderly are fluid and electrolyte imbalance, acidosis and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elderly can maintain normal fluid balance, if they drink enough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many times they do not because: * Lifetime habit of drinking little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*Purposeful restriction of fluid due to incontinence.</a:t>
            </a:r>
          </a:p>
        </p:txBody>
      </p:sp>
      <p:sp>
        <p:nvSpPr>
          <p:cNvPr id="6" name="">
            <a:extLst xmlns:a="http://schemas.openxmlformats.org/drawingml/2006/main">
              <a:ext uri="{FF2B5EF4-FFF2-40B4-BE49-F238E27FC236}">
                <a16:creationId xmlns:a16="http://schemas.microsoft.com/office/drawing/2014/main" id="{03A78A58-04A5-4AF2-8725-451B63966F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44EE94-8EE4-4EAA-A921-58B27D37B6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3173435"/>
      </p:ext>
    </p:extLst>
  </p:cSld>
</p:sld>
</file>

<file path=ppt/slides/slide1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767CE9-9D68-4FA0-B675-FB27B04ACE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088B4E-E17C-4C00-AFEA-B86017E9E6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0A6DE823-676D-4DF6-9634-DA8C97FF50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10F29D3-7232-4DE6-A552-5FBF101142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183</a:t>
            </a:r>
          </a:p>
        </p:txBody>
      </p:sp>
      <p:sp>
        <p:nvSpPr>
          <p:cNvPr id="5" name="">
            <a:extLst xmlns:a="http://schemas.openxmlformats.org/drawingml/2006/main">
              <a:ext uri="{FF2B5EF4-FFF2-40B4-BE49-F238E27FC236}">
                <a16:creationId xmlns:a16="http://schemas.microsoft.com/office/drawing/2014/main" id="{A55781D5-F929-4CC5-B669-D8E6CA221B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*Physical limitations may prevent them from drinking as often as they would like.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*Their thirst mechanism may be diminished or absent.</a:t>
            </a:r>
          </a:p>
        </p:txBody>
      </p:sp>
      <p:sp>
        <p:nvSpPr>
          <p:cNvPr id="6" name="">
            <a:extLst xmlns:a="http://schemas.openxmlformats.org/drawingml/2006/main">
              <a:ext uri="{FF2B5EF4-FFF2-40B4-BE49-F238E27FC236}">
                <a16:creationId xmlns:a16="http://schemas.microsoft.com/office/drawing/2014/main" id="{06B050B5-412F-438D-BDE6-C7951C1AAB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2FC81E6-A9E4-4E92-B2D8-6480E60FEF9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622843980"/>
      </p:ext>
    </p:extLst>
  </p:cSld>
</p:sld>
</file>

<file path=ppt/slides/slide1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90820B-3324-44C4-8A25-E8C4BDF188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9CF38D-AFAC-4D98-BF84-CD037D5DF6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a:t>
            </a:r>
          </a:p>
        </p:txBody>
      </p:sp>
      <p:sp>
        <p:nvSpPr>
          <p:cNvPr id="3" name="">
            <a:extLst xmlns:a="http://schemas.openxmlformats.org/drawingml/2006/main">
              <a:ext uri="{FF2B5EF4-FFF2-40B4-BE49-F238E27FC236}">
                <a16:creationId xmlns:a16="http://schemas.microsoft.com/office/drawing/2014/main" id="{0D2E0240-9654-485D-89D1-F7F8D4C979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330EC14-1443-40FE-8D23-002D094E6C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184</a:t>
            </a:r>
          </a:p>
        </p:txBody>
      </p:sp>
      <p:sp>
        <p:nvSpPr>
          <p:cNvPr id="5" name="">
            <a:extLst xmlns:a="http://schemas.openxmlformats.org/drawingml/2006/main">
              <a:ext uri="{FF2B5EF4-FFF2-40B4-BE49-F238E27FC236}">
                <a16:creationId xmlns:a16="http://schemas.microsoft.com/office/drawing/2014/main" id="{A1BBB1B6-19DD-427C-99C5-B7A6DC333D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Plumer,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(1987) Principles and Practices of Intravenous Therapy, 4th edition, Little, Brown, and Company, Boston.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Luckman, J.</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Sorenson, K.</a:t>
            </a:r>
          </a:p>
        </p:txBody>
      </p:sp>
      <p:sp>
        <p:nvSpPr>
          <p:cNvPr id="6" name="">
            <a:extLst xmlns:a="http://schemas.openxmlformats.org/drawingml/2006/main">
              <a:ext uri="{FF2B5EF4-FFF2-40B4-BE49-F238E27FC236}">
                <a16:creationId xmlns:a16="http://schemas.microsoft.com/office/drawing/2014/main" id="{D1BB2A4B-19B0-441A-B7B2-BC2BC1A81C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958003-1ABF-406C-8988-281EE0D478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048439094"/>
      </p:ext>
    </p:extLst>
  </p:cSld>
</p:sld>
</file>

<file path=ppt/slides/slide1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1C2E53-6392-49E2-8BF1-EDEEA3F3F5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800CB0-F373-4329-B2F5-EC9C9309AD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A4EFBBA4-6294-447A-ACA3-D54BC6EB2B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33BE157-7B6D-4C5E-88E6-3BAD521BF5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185</a:t>
            </a:r>
          </a:p>
        </p:txBody>
      </p:sp>
      <p:sp>
        <p:nvSpPr>
          <p:cNvPr id="5" name="">
            <a:extLst xmlns:a="http://schemas.openxmlformats.org/drawingml/2006/main">
              <a:ext uri="{FF2B5EF4-FFF2-40B4-BE49-F238E27FC236}">
                <a16:creationId xmlns:a16="http://schemas.microsoft.com/office/drawing/2014/main" id="{E9ED15C4-7884-4A6C-8E9A-8AFFC38285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(1987) Medical-Surgical Nursing: A Psychophysiologic Approach.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Saunders Co., Philadelphia.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Glossary Acidosis Blood pH below normal.</a:t>
            </a:r>
          </a:p>
        </p:txBody>
      </p:sp>
      <p:sp>
        <p:nvSpPr>
          <p:cNvPr id="6" name="">
            <a:extLst xmlns:a="http://schemas.openxmlformats.org/drawingml/2006/main">
              <a:ext uri="{FF2B5EF4-FFF2-40B4-BE49-F238E27FC236}">
                <a16:creationId xmlns:a16="http://schemas.microsoft.com/office/drawing/2014/main" id="{BD67A9C1-342A-469A-80AD-ED9764C780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C09FED7-5844-4859-A17D-5FCDCB3B4D6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807624022"/>
      </p:ext>
    </p:extLst>
  </p:cSld>
</p:sld>
</file>

<file path=ppt/slides/slide1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9548D0-A207-40F0-8B46-E51CF7114B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488499-7D88-48E4-AB8C-AC1674520A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E037FAF8-AC78-40FB-AE87-85469F78F8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B9CF348-2B4E-44B3-9921-7EF8328642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186</a:t>
            </a:r>
          </a:p>
        </p:txBody>
      </p:sp>
      <p:sp>
        <p:nvSpPr>
          <p:cNvPr id="5" name="">
            <a:extLst xmlns:a="http://schemas.openxmlformats.org/drawingml/2006/main">
              <a:ext uri="{FF2B5EF4-FFF2-40B4-BE49-F238E27FC236}">
                <a16:creationId xmlns:a16="http://schemas.microsoft.com/office/drawing/2014/main" id="{E0E23ED4-E703-4C37-98A3-CA08D567E8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Acidosis can be either metabolic or respiratory.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Aldosterone A hormone secreted from the adrenal cortex.</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instrumental in the regulation of body Sodium and Potassium content.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Alkalosis Blood pH above normal, can be respiratory or metabolic.</a:t>
            </a:r>
          </a:p>
        </p:txBody>
      </p:sp>
      <p:sp>
        <p:nvSpPr>
          <p:cNvPr id="6" name="">
            <a:extLst xmlns:a="http://schemas.openxmlformats.org/drawingml/2006/main">
              <a:ext uri="{FF2B5EF4-FFF2-40B4-BE49-F238E27FC236}">
                <a16:creationId xmlns:a16="http://schemas.microsoft.com/office/drawing/2014/main" id="{1A6FCF18-E235-4392-AE06-71F0BD9289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A76B0D-403C-4422-A975-A8F1A5A3E8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919559927"/>
      </p:ext>
    </p:extLst>
  </p:cSld>
</p:sld>
</file>

<file path=ppt/slides/slide1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29BB2C-7F9B-4CC8-893C-3D915FCD53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F921DC-90C9-4366-A40D-F945FA303C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B1B67D9E-2FF6-4C64-BE6E-754A056652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982BBDE-4DE1-430E-B6F3-8E73E08C38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187</a:t>
            </a:r>
          </a:p>
        </p:txBody>
      </p:sp>
      <p:sp>
        <p:nvSpPr>
          <p:cNvPr id="5" name="">
            <a:extLst xmlns:a="http://schemas.openxmlformats.org/drawingml/2006/main">
              <a:ext uri="{FF2B5EF4-FFF2-40B4-BE49-F238E27FC236}">
                <a16:creationId xmlns:a16="http://schemas.microsoft.com/office/drawing/2014/main" id="{40C7EE40-CEEC-40F2-BC98-DA6E1FFD1C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Anion A negatively charged ion (CL-,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Anti-diuretic Hormone A hormone secreted from the Posterior Pituitary gland that causes the kidney to immediately conserve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Base Excess A metabolic (non-respiratory) body disturbance that may be primary or compensatory.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always positive in metabolic alkalosis and always negative in metabolic acidosis.</a:t>
            </a:r>
          </a:p>
        </p:txBody>
      </p:sp>
      <p:sp>
        <p:nvSpPr>
          <p:cNvPr id="6" name="">
            <a:extLst xmlns:a="http://schemas.openxmlformats.org/drawingml/2006/main">
              <a:ext uri="{FF2B5EF4-FFF2-40B4-BE49-F238E27FC236}">
                <a16:creationId xmlns:a16="http://schemas.microsoft.com/office/drawing/2014/main" id="{2A2E61E5-6D4D-4C2B-BDEA-64DCC05C9A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27A55CF-AE50-4F6A-BF97-9B494A4E0B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234390551"/>
      </p:ext>
    </p:extLst>
  </p:cSld>
</p:sld>
</file>

<file path=ppt/slides/slide1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F3B8E6-643A-4AF5-9471-653259366A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474B67-A64F-4622-A36C-E3A52A79FD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CB950FEF-3D8F-48BE-A8A8-8CB8D4CCB4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4D894ED-0214-46FE-80CA-5B727A864C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188</a:t>
            </a:r>
          </a:p>
        </p:txBody>
      </p:sp>
      <p:sp>
        <p:nvSpPr>
          <p:cNvPr id="5" name="">
            <a:extLst xmlns:a="http://schemas.openxmlformats.org/drawingml/2006/main">
              <a:ext uri="{FF2B5EF4-FFF2-40B4-BE49-F238E27FC236}">
                <a16:creationId xmlns:a16="http://schemas.microsoft.com/office/drawing/2014/main" id="{22D0677E-A631-41BA-81FE-3B91CD42E43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Cations A positively charged ion (K+, NAt).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A deficit of body water synonymous with Sodium excess.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Electrolyte A substance that is ionized (develops an electrical charge when dissolved in water Fluid Volume Deficit Decreased body fluid volume.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Volume Excess An intravascular increase in body fluid.</a:t>
            </a:r>
          </a:p>
        </p:txBody>
      </p:sp>
      <p:sp>
        <p:nvSpPr>
          <p:cNvPr id="6" name="">
            <a:extLst xmlns:a="http://schemas.openxmlformats.org/drawingml/2006/main">
              <a:ext uri="{FF2B5EF4-FFF2-40B4-BE49-F238E27FC236}">
                <a16:creationId xmlns:a16="http://schemas.microsoft.com/office/drawing/2014/main" id="{65C3C3DB-E600-4C22-8D6D-8A9283BAC4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E1C92A-A637-441A-870B-EC2B796521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733022648"/>
      </p:ext>
    </p:extLst>
  </p:cSld>
</p:sld>
</file>

<file path=ppt/slides/slide1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171E41-ED0E-4433-9FA7-A07DCF7FC7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91B90E-615B-423B-BC6D-03A00E844E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FD89FDB3-B59E-41AF-8373-B522BEA393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A84BB6F-82C7-455E-BAFB-66EAF9352D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189</a:t>
            </a:r>
          </a:p>
        </p:txBody>
      </p:sp>
      <p:sp>
        <p:nvSpPr>
          <p:cNvPr id="5" name="">
            <a:extLst xmlns:a="http://schemas.openxmlformats.org/drawingml/2006/main">
              <a:ext uri="{FF2B5EF4-FFF2-40B4-BE49-F238E27FC236}">
                <a16:creationId xmlns:a16="http://schemas.microsoft.com/office/drawing/2014/main" id="{61260661-DAD1-4AFE-9180-0D37CD105F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Homeostasis The ability to restore equilibrium under stress.</a:t>
            </a:r>
          </a:p>
        </p:txBody>
      </p:sp>
      <p:sp>
        <p:nvSpPr>
          <p:cNvPr id="6" name="">
            <a:extLst xmlns:a="http://schemas.openxmlformats.org/drawingml/2006/main">
              <a:ext uri="{FF2B5EF4-FFF2-40B4-BE49-F238E27FC236}">
                <a16:creationId xmlns:a16="http://schemas.microsoft.com/office/drawing/2014/main" id="{EA84C82A-B228-4071-87EA-F885732114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E284CA-BF8B-49B2-BCBF-39527BB89BD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213193796"/>
      </p:ext>
    </p:extLst>
  </p:cSld>
</p:sld>
</file>

<file path=ppt/slides/slide1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AB5382-93C5-4FF0-AFF6-11847252A0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493A14-C0E0-4FDB-9483-F14DA3018E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a:t>
            </a:r>
          </a:p>
        </p:txBody>
      </p:sp>
      <p:sp>
        <p:nvSpPr>
          <p:cNvPr id="3" name="">
            <a:extLst xmlns:a="http://schemas.openxmlformats.org/drawingml/2006/main">
              <a:ext uri="{FF2B5EF4-FFF2-40B4-BE49-F238E27FC236}">
                <a16:creationId xmlns:a16="http://schemas.microsoft.com/office/drawing/2014/main" id="{06D620DE-7278-410B-B55B-FD6BBC072C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114914D-8526-4DAE-A6F3-3838B66240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190</a:t>
            </a:r>
          </a:p>
        </p:txBody>
      </p:sp>
      <p:sp>
        <p:nvSpPr>
          <p:cNvPr id="5" name="">
            <a:extLst xmlns:a="http://schemas.openxmlformats.org/drawingml/2006/main">
              <a:ext uri="{FF2B5EF4-FFF2-40B4-BE49-F238E27FC236}">
                <a16:creationId xmlns:a16="http://schemas.microsoft.com/office/drawing/2014/main" id="{BAC47B00-65EF-4051-9341-7FD125FDE4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Hypercalcemia Hyperchloremia An excess of Chloride (CL-)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Hyperkalemia An excess of Potassium (K)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Hypermagnesemia An excess of Magnesium (Mgt)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Hyperphosphotemia An excess of Phosphate in the blood.</a:t>
            </a:r>
          </a:p>
        </p:txBody>
      </p:sp>
      <p:sp>
        <p:nvSpPr>
          <p:cNvPr id="6" name="">
            <a:extLst xmlns:a="http://schemas.openxmlformats.org/drawingml/2006/main">
              <a:ext uri="{FF2B5EF4-FFF2-40B4-BE49-F238E27FC236}">
                <a16:creationId xmlns:a16="http://schemas.microsoft.com/office/drawing/2014/main" id="{E136C605-EA5A-407B-845A-5E78308B34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F30F6EC-5DEF-44C8-8BA3-5E551C6C783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33359572"/>
      </p:ext>
    </p:extLst>
  </p:cSld>
</p:sld>
</file>

<file path=ppt/slides/slide1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5CDA2F-8A52-4793-AE16-F0DE6C0AC6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A963A9-3E05-4270-94C1-6FB00ED64B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9E5B7A58-456A-4B82-B50A-7BBF122745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9E41BCD-7BCB-41B7-AA68-BF7F2F919C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191</a:t>
            </a:r>
          </a:p>
        </p:txBody>
      </p:sp>
      <p:sp>
        <p:nvSpPr>
          <p:cNvPr id="5" name="">
            <a:extLst xmlns:a="http://schemas.openxmlformats.org/drawingml/2006/main">
              <a:ext uri="{FF2B5EF4-FFF2-40B4-BE49-F238E27FC236}">
                <a16:creationId xmlns:a16="http://schemas.microsoft.com/office/drawing/2014/main" id="{2EE0A95C-43AF-46E4-9DF7-5D36ED0B10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Hypocalcemia A low Calcium (CAt)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Hypochloremia A low Chloride (CL-)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Hypokalemia A low Potassium (Kt)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Hypomagnesemia A low magnesium (MG+) concentration in the blood.</a:t>
            </a:r>
          </a:p>
        </p:txBody>
      </p:sp>
      <p:sp>
        <p:nvSpPr>
          <p:cNvPr id="6" name="">
            <a:extLst xmlns:a="http://schemas.openxmlformats.org/drawingml/2006/main">
              <a:ext uri="{FF2B5EF4-FFF2-40B4-BE49-F238E27FC236}">
                <a16:creationId xmlns:a16="http://schemas.microsoft.com/office/drawing/2014/main" id="{5A9ACD4F-AFA8-4793-AE11-B22500FEAB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1A5543-526D-4B39-AAE6-BD73919E02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247105933"/>
      </p:ext>
    </p:extLst>
  </p:cSld>
</p:sld>
</file>

<file path=ppt/slides/slide1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A15D1-28DC-4177-8BD0-1BB8484BE6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FC4030-5C10-4694-90F3-56F533D99B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EB53B24F-CEFF-4D6C-BDF1-485F8CB937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3A808BA-5BD5-4F83-B0D4-178FD8AB9F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192</a:t>
            </a:r>
          </a:p>
        </p:txBody>
      </p:sp>
      <p:sp>
        <p:nvSpPr>
          <p:cNvPr id="5" name="">
            <a:extLst xmlns:a="http://schemas.openxmlformats.org/drawingml/2006/main">
              <a:ext uri="{FF2B5EF4-FFF2-40B4-BE49-F238E27FC236}">
                <a16:creationId xmlns:a16="http://schemas.microsoft.com/office/drawing/2014/main" id="{E95065B8-0E0C-40ED-A3F5-C52C5E80DD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Hyponatremia A low Sodium (NAt)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Hypophosphatemia A low phosphate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Insensible Fluid Loss Water lost from the lungs and skin (Invisible respiration) Interstitial Fluid Fluid between the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Intracellular Fluid Fluid inside the cells.</a:t>
            </a:r>
          </a:p>
        </p:txBody>
      </p:sp>
      <p:sp>
        <p:nvSpPr>
          <p:cNvPr id="6" name="">
            <a:extLst xmlns:a="http://schemas.openxmlformats.org/drawingml/2006/main">
              <a:ext uri="{FF2B5EF4-FFF2-40B4-BE49-F238E27FC236}">
                <a16:creationId xmlns:a16="http://schemas.microsoft.com/office/drawing/2014/main" id="{E668A8B3-1CAA-47AB-8332-364034F8A6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C7B5E7-21FA-4BFA-BF5B-F12B977AEC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414387878"/>
      </p:ext>
    </p:extLst>
  </p:cSld>
</p:sld>
</file>

<file path=ppt/slides/slide1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D07801-BEA3-4F1D-AFAA-AD142AB1C7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AB280C-C9BA-4483-A5F5-FB8F1DA8D1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6A12431A-9422-4A3D-98D1-080B07FC15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6220626-94F5-4DC4-83E7-837B58BB68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193</a:t>
            </a:r>
          </a:p>
        </p:txBody>
      </p:sp>
      <p:sp>
        <p:nvSpPr>
          <p:cNvPr id="5" name="">
            <a:extLst xmlns:a="http://schemas.openxmlformats.org/drawingml/2006/main">
              <a:ext uri="{FF2B5EF4-FFF2-40B4-BE49-F238E27FC236}">
                <a16:creationId xmlns:a16="http://schemas.microsoft.com/office/drawing/2014/main" id="{2002C2EF-5084-4106-B1B8-EDC1619871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Intravascular Fluid The fluid portion of blood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Ion An electrically charged atom or group of atoms Ketosis A condition in which there is an excessive amount of Ketone bodies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Kilogram A metric unit of volume equal to 1,000 Grams and roughly 2.2 pounds.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Milliequivalent (mEq) A unit of chemical activity.</a:t>
            </a:r>
          </a:p>
        </p:txBody>
      </p:sp>
      <p:sp>
        <p:nvSpPr>
          <p:cNvPr id="6" name="">
            <a:extLst xmlns:a="http://schemas.openxmlformats.org/drawingml/2006/main">
              <a:ext uri="{FF2B5EF4-FFF2-40B4-BE49-F238E27FC236}">
                <a16:creationId xmlns:a16="http://schemas.microsoft.com/office/drawing/2014/main" id="{26D137D8-AB6A-4EE9-A0F8-20C0FC1809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77DBEC8-522F-427D-8926-8DF5E3B568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967217486"/>
      </p:ext>
    </p:extLst>
  </p:cSld>
</p:sld>
</file>

<file path=ppt/slides/slide1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1DFB5F-734E-469A-BD19-EB8300EC50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AFE4AE-42FD-404F-BB27-7C70B0670F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DEA2BEBF-9630-4B8F-9C29-EC6E5CC38C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BD08C54-5586-4466-94CC-A1DBB8955F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194</a:t>
            </a:r>
          </a:p>
        </p:txBody>
      </p:sp>
      <p:sp>
        <p:nvSpPr>
          <p:cNvPr id="5" name="">
            <a:extLst xmlns:a="http://schemas.openxmlformats.org/drawingml/2006/main">
              <a:ext uri="{FF2B5EF4-FFF2-40B4-BE49-F238E27FC236}">
                <a16:creationId xmlns:a16="http://schemas.microsoft.com/office/drawing/2014/main" id="{11761469-4B50-4298-86B2-4F5070CCC2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Osmolality A measure of solute concentration.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Movement of water molecules from an area of lesser solute concentration to an area of higher solute concentration.</a:t>
            </a:r>
          </a:p>
        </p:txBody>
      </p:sp>
      <p:sp>
        <p:nvSpPr>
          <p:cNvPr id="6" name="">
            <a:extLst xmlns:a="http://schemas.openxmlformats.org/drawingml/2006/main">
              <a:ext uri="{FF2B5EF4-FFF2-40B4-BE49-F238E27FC236}">
                <a16:creationId xmlns:a16="http://schemas.microsoft.com/office/drawing/2014/main" id="{1A66F3BD-11C8-47B3-8C24-04C9D0999F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3EEA155-EC89-49D0-A078-610D422C63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759336969"/>
      </p:ext>
    </p:extLst>
  </p:cSld>
</p:sld>
</file>

<file path=ppt/slides/slide1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DE3B2-57B4-4CB0-9036-E331334474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399627-4972-4D30-821D-DF7D120629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partial pressure of Carbon Dioxide in the arterial blood</a:t>
            </a:r>
          </a:p>
        </p:txBody>
      </p:sp>
      <p:sp>
        <p:nvSpPr>
          <p:cNvPr id="3" name="">
            <a:extLst xmlns:a="http://schemas.openxmlformats.org/drawingml/2006/main">
              <a:ext uri="{FF2B5EF4-FFF2-40B4-BE49-F238E27FC236}">
                <a16:creationId xmlns:a16="http://schemas.microsoft.com/office/drawing/2014/main" id="{AA94760E-DC98-401F-8341-801390A510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7D755AC-BBFF-4B87-8DB2-2EF2E1F273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8A5DFB42-EDD1-47E4-8360-FCE05ECBDF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PaCO2 pH Refers to the Hydrogen ion concentration and measures the acidity or alkalinity of the substance.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Plasma The liquid portion of the blood in which the blood cells are suspended.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Sensible perspiration Visible perspiration.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Specific Gravity The weight of a substance divided by the weight of an equal volume of water.</a:t>
            </a:r>
          </a:p>
        </p:txBody>
      </p:sp>
      <p:sp>
        <p:nvSpPr>
          <p:cNvPr id="6" name="">
            <a:extLst xmlns:a="http://schemas.openxmlformats.org/drawingml/2006/main">
              <a:ext uri="{FF2B5EF4-FFF2-40B4-BE49-F238E27FC236}">
                <a16:creationId xmlns:a16="http://schemas.microsoft.com/office/drawing/2014/main" id="{DFB7C2EF-0EAF-4202-B049-A38EAD0109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82528C4-234F-4B46-8B26-21194F138D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50</a:t>
            </a:r>
          </a:p>
        </p:txBody>
      </p:sp>
    </p:spTree>
    <p:extLst>
      <p:ext uri="{BB962C8B-B14F-4D97-AF65-F5344CB8AC3E}">
        <p14:creationId xmlns:p14="http://schemas.microsoft.com/office/powerpoint/2010/main" val="1530271372"/>
      </p:ext>
    </p:extLst>
  </p:cSld>
</p:sld>
</file>

<file path=ppt/slides/slide1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7DA4FF-0438-41C4-B266-EF57B2B505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526D6F-4203-463A-90A0-9C7BC02F6B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E3B6A11B-8F2B-40C0-825E-43FA28782A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D3861B-55CB-437C-8118-9260611403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196</a:t>
            </a:r>
          </a:p>
        </p:txBody>
      </p:sp>
      <p:sp>
        <p:nvSpPr>
          <p:cNvPr id="5" name="">
            <a:extLst xmlns:a="http://schemas.openxmlformats.org/drawingml/2006/main">
              <a:ext uri="{FF2B5EF4-FFF2-40B4-BE49-F238E27FC236}">
                <a16:creationId xmlns:a16="http://schemas.microsoft.com/office/drawing/2014/main" id="{5E0BFBC5-2229-4749-8B0E-F1D1BE03C677}"/>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8D0155D3-9D5F-4C67-BD4C-9B50BDD5BD76}"/>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765772980"/>
      </p:ext>
    </p:extLst>
  </p:cSld>
</p:sld>
</file>

<file path=ppt/slides/slide1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558AAE-52B7-4DFC-81B9-279FF6753E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399B46-A818-49D2-917C-635B4D58C4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23520759-222E-4EBB-87EF-1C53FA5409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DB9E1BA-BCE4-464D-8324-4EC8EE99AE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197</a:t>
            </a:r>
          </a:p>
        </p:txBody>
      </p:sp>
      <p:sp>
        <p:nvSpPr>
          <p:cNvPr id="5" name="">
            <a:extLst xmlns:a="http://schemas.openxmlformats.org/drawingml/2006/main">
              <a:ext uri="{FF2B5EF4-FFF2-40B4-BE49-F238E27FC236}">
                <a16:creationId xmlns:a16="http://schemas.microsoft.com/office/drawing/2014/main" id="{2D89A16C-986F-4D47-AE9A-B4B1E39D9B1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F7B41CCF-A97D-4A8B-A956-556B0819ECDB}"/>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59698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2026-10-21T01:34:29.2570000Z</dcterms:created>
  <dcterms:modified xsi:type="dcterms:W3CDTF">2026-10-21T01:34:29.2570000Z</dcterms:modified>
</coreProperties>
</file>