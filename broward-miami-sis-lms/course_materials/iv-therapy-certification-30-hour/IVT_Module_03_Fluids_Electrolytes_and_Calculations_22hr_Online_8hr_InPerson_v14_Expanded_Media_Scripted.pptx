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5cca6fdac147cf" /><Relationship Type="http://schemas.openxmlformats.org/officeDocument/2006/relationships/extended-properties" Target="/docProps/app.xml" Id="R67320373817e4549" /><Relationship Type="http://schemas.openxmlformats.org/officeDocument/2006/relationships/officeDocument" Target="/ppt/presentation.xml" Id="Rd527b70089ff4604" /></Relationships>
</file>

<file path=ppt/presentation.xml><?xml version="1.0" encoding="utf-8"?>
<p:presentation xmlns:p="http://schemas.openxmlformats.org/presentationml/2006/main">
  <p:sldMasterIdLst>
    <p:sldMasterId xmlns:r="http://schemas.openxmlformats.org/officeDocument/2006/relationships" id="2147483648" r:id="R983f674c52fd4106"/>
  </p:sldMasterIdLst>
  <p:notesMasterIdLst>
    <p:notesMasterId xmlns:r="http://schemas.openxmlformats.org/officeDocument/2006/relationships" r:id="Rca826786091d484b"/>
  </p:notesMasterIdLst>
  <p:sldIdLst>
    <p:sldId xmlns:r="http://schemas.openxmlformats.org/officeDocument/2006/relationships" id="256" r:id="Ra904df06959f4b0c"/>
    <p:sldId xmlns:r="http://schemas.openxmlformats.org/officeDocument/2006/relationships" id="257" r:id="Raecd23e42e744db7"/>
    <p:sldId xmlns:r="http://schemas.openxmlformats.org/officeDocument/2006/relationships" id="258" r:id="Rb111f7ac41b8477f"/>
    <p:sldId xmlns:r="http://schemas.openxmlformats.org/officeDocument/2006/relationships" id="259" r:id="R8c2afb586ff34021"/>
    <p:sldId xmlns:r="http://schemas.openxmlformats.org/officeDocument/2006/relationships" id="260" r:id="R64bef9ea1d3b429c"/>
    <p:sldId xmlns:r="http://schemas.openxmlformats.org/officeDocument/2006/relationships" id="261" r:id="R53d44316ebef4df7"/>
    <p:sldId xmlns:r="http://schemas.openxmlformats.org/officeDocument/2006/relationships" id="262" r:id="R6ac274bbc66b4e41"/>
    <p:sldId xmlns:r="http://schemas.openxmlformats.org/officeDocument/2006/relationships" id="263" r:id="R8acbf7ab9a6943fe"/>
    <p:sldId xmlns:r="http://schemas.openxmlformats.org/officeDocument/2006/relationships" id="264" r:id="R8b59889f93a644ca"/>
    <p:sldId xmlns:r="http://schemas.openxmlformats.org/officeDocument/2006/relationships" id="265" r:id="R9f8342f2b72e4755"/>
    <p:sldId xmlns:r="http://schemas.openxmlformats.org/officeDocument/2006/relationships" id="266" r:id="R65acd0c194144d57"/>
    <p:sldId xmlns:r="http://schemas.openxmlformats.org/officeDocument/2006/relationships" id="267" r:id="R2d393b4717444311"/>
    <p:sldId xmlns:r="http://schemas.openxmlformats.org/officeDocument/2006/relationships" id="268" r:id="R2e9d71edc73b402b"/>
    <p:sldId xmlns:r="http://schemas.openxmlformats.org/officeDocument/2006/relationships" id="269" r:id="R83cc0a78a17948ae"/>
    <p:sldId xmlns:r="http://schemas.openxmlformats.org/officeDocument/2006/relationships" id="270" r:id="R8d38fd6627cd401e"/>
    <p:sldId xmlns:r="http://schemas.openxmlformats.org/officeDocument/2006/relationships" id="271" r:id="R8fb18de6680c4fcd"/>
    <p:sldId xmlns:r="http://schemas.openxmlformats.org/officeDocument/2006/relationships" id="272" r:id="R1c7985f751474042"/>
    <p:sldId xmlns:r="http://schemas.openxmlformats.org/officeDocument/2006/relationships" id="273" r:id="Re6e49b74f2df4e84"/>
    <p:sldId xmlns:r="http://schemas.openxmlformats.org/officeDocument/2006/relationships" id="274" r:id="R54e12cb8d31542df"/>
    <p:sldId xmlns:r="http://schemas.openxmlformats.org/officeDocument/2006/relationships" id="275" r:id="R80b363671931484c"/>
    <p:sldId xmlns:r="http://schemas.openxmlformats.org/officeDocument/2006/relationships" id="276" r:id="R870c4e2bccbb47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5682b85b0f419c" /><Relationship Type="http://schemas.openxmlformats.org/officeDocument/2006/relationships/slideMaster" Target="/ppt/slideMasters/slideMaster1.xml" Id="R983f674c52fd4106" /><Relationship Type="http://schemas.openxmlformats.org/officeDocument/2006/relationships/notesMaster" Target="/ppt/notesMasters/notesMaster1.xml" Id="Rca826786091d484b" /><Relationship Type="http://schemas.openxmlformats.org/officeDocument/2006/relationships/presProps" Target="/ppt/presProps.xml" Id="Rdd57fab25fd94689" /><Relationship Type="http://schemas.openxmlformats.org/officeDocument/2006/relationships/tableStyles" Target="/ppt/tableStyles.xml" Id="R76abe5d6a1e942fc" /><Relationship Type="http://schemas.openxmlformats.org/officeDocument/2006/relationships/slide" Target="/ppt/slides/slide1.xml" Id="Ra904df06959f4b0c" /><Relationship Type="http://schemas.openxmlformats.org/officeDocument/2006/relationships/slide" Target="/ppt/slides/slide2.xml" Id="Raecd23e42e744db7" /><Relationship Type="http://schemas.openxmlformats.org/officeDocument/2006/relationships/slide" Target="/ppt/slides/slide3.xml" Id="Rb111f7ac41b8477f" /><Relationship Type="http://schemas.openxmlformats.org/officeDocument/2006/relationships/slide" Target="/ppt/slides/slide4.xml" Id="R8c2afb586ff34021" /><Relationship Type="http://schemas.openxmlformats.org/officeDocument/2006/relationships/slide" Target="/ppt/slides/slide5.xml" Id="R64bef9ea1d3b429c" /><Relationship Type="http://schemas.openxmlformats.org/officeDocument/2006/relationships/slide" Target="/ppt/slides/slide6.xml" Id="R53d44316ebef4df7" /><Relationship Type="http://schemas.openxmlformats.org/officeDocument/2006/relationships/slide" Target="/ppt/slides/slide7.xml" Id="R6ac274bbc66b4e41" /><Relationship Type="http://schemas.openxmlformats.org/officeDocument/2006/relationships/slide" Target="/ppt/slides/slide8.xml" Id="R8acbf7ab9a6943fe" /><Relationship Type="http://schemas.openxmlformats.org/officeDocument/2006/relationships/slide" Target="/ppt/slides/slide9.xml" Id="R8b59889f93a644ca" /><Relationship Type="http://schemas.openxmlformats.org/officeDocument/2006/relationships/slide" Target="/ppt/slides/slide10.xml" Id="R9f8342f2b72e4755" /><Relationship Type="http://schemas.openxmlformats.org/officeDocument/2006/relationships/slide" Target="/ppt/slides/slide11.xml" Id="R65acd0c194144d57" /><Relationship Type="http://schemas.openxmlformats.org/officeDocument/2006/relationships/slide" Target="/ppt/slides/slide12.xml" Id="R2d393b4717444311" /><Relationship Type="http://schemas.openxmlformats.org/officeDocument/2006/relationships/slide" Target="/ppt/slides/slide13.xml" Id="R2e9d71edc73b402b" /><Relationship Type="http://schemas.openxmlformats.org/officeDocument/2006/relationships/slide" Target="/ppt/slides/slide14.xml" Id="R83cc0a78a17948ae" /><Relationship Type="http://schemas.openxmlformats.org/officeDocument/2006/relationships/slide" Target="/ppt/slides/slide15.xml" Id="R8d38fd6627cd401e" /><Relationship Type="http://schemas.openxmlformats.org/officeDocument/2006/relationships/slide" Target="/ppt/slides/slide16.xml" Id="R8fb18de6680c4fcd" /><Relationship Type="http://schemas.openxmlformats.org/officeDocument/2006/relationships/slide" Target="/ppt/slides/slide17.xml" Id="R1c7985f751474042" /><Relationship Type="http://schemas.openxmlformats.org/officeDocument/2006/relationships/slide" Target="/ppt/slides/slide18.xml" Id="Re6e49b74f2df4e84" /><Relationship Type="http://schemas.openxmlformats.org/officeDocument/2006/relationships/slide" Target="/ppt/slides/slide19.xml" Id="R54e12cb8d31542df" /><Relationship Type="http://schemas.openxmlformats.org/officeDocument/2006/relationships/slide" Target="/ppt/slides/slide20.xml" Id="R80b363671931484c" /><Relationship Type="http://schemas.openxmlformats.org/officeDocument/2006/relationships/slide" Target="/ppt/slides/slide21.xml" Id="R870c4e2bccbb47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5f86aa4ea746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f002e848e14806" /><Relationship Type="http://schemas.openxmlformats.org/officeDocument/2006/relationships/notesMaster" Target="/ppt/notesMasters/notesMaster1.xml" Id="R50006fc094e743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8009157ee9405e" /><Relationship Type="http://schemas.openxmlformats.org/officeDocument/2006/relationships/notesMaster" Target="/ppt/notesMasters/notesMaster1.xml" Id="R7adacad3a09f4b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043961146c4622" /><Relationship Type="http://schemas.openxmlformats.org/officeDocument/2006/relationships/notesMaster" Target="/ppt/notesMasters/notesMaster1.xml" Id="R0554621f6d7f41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460a8f200745dd" /><Relationship Type="http://schemas.openxmlformats.org/officeDocument/2006/relationships/notesMaster" Target="/ppt/notesMasters/notesMaster1.xml" Id="Rf67f5109708947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4d2354928a4d65" /><Relationship Type="http://schemas.openxmlformats.org/officeDocument/2006/relationships/notesMaster" Target="/ppt/notesMasters/notesMaster1.xml" Id="R0a74a6b30e6c4d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bbda3373b74f30" /><Relationship Type="http://schemas.openxmlformats.org/officeDocument/2006/relationships/notesMaster" Target="/ppt/notesMasters/notesMaster1.xml" Id="R1ac1e3e231a642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c1225ba108408c" /><Relationship Type="http://schemas.openxmlformats.org/officeDocument/2006/relationships/notesMaster" Target="/ppt/notesMasters/notesMaster1.xml" Id="R35644f86aab946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f01b45dcd9476b" /><Relationship Type="http://schemas.openxmlformats.org/officeDocument/2006/relationships/notesMaster" Target="/ppt/notesMasters/notesMaster1.xml" Id="R89b45f932dcb4d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3afe68b8e04a75" /><Relationship Type="http://schemas.openxmlformats.org/officeDocument/2006/relationships/notesMaster" Target="/ppt/notesMasters/notesMaster1.xml" Id="R4006d47ad6bc4d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5d427b2628416a" /><Relationship Type="http://schemas.openxmlformats.org/officeDocument/2006/relationships/notesMaster" Target="/ppt/notesMasters/notesMaster1.xml" Id="R779f3199d56042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fbae25dc75431c" /><Relationship Type="http://schemas.openxmlformats.org/officeDocument/2006/relationships/notesMaster" Target="/ppt/notesMasters/notesMaster1.xml" Id="R93318b2ad01840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270771dcb3465e" /><Relationship Type="http://schemas.openxmlformats.org/officeDocument/2006/relationships/notesMaster" Target="/ppt/notesMasters/notesMaster1.xml" Id="R6eb69769a77c4f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92b056f4ea4b0b" /><Relationship Type="http://schemas.openxmlformats.org/officeDocument/2006/relationships/notesMaster" Target="/ppt/notesMasters/notesMaster1.xml" Id="Rc7102a2e471e4e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957b0c165b45e5" /><Relationship Type="http://schemas.openxmlformats.org/officeDocument/2006/relationships/notesMaster" Target="/ppt/notesMasters/notesMaster1.xml" Id="Rb9fd6627b7be44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074404c84a446f" /><Relationship Type="http://schemas.openxmlformats.org/officeDocument/2006/relationships/notesMaster" Target="/ppt/notesMasters/notesMaster1.xml" Id="R6536673e0d2f49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ca06061cca491c" /><Relationship Type="http://schemas.openxmlformats.org/officeDocument/2006/relationships/notesMaster" Target="/ppt/notesMasters/notesMaster1.xml" Id="R658c245695cb48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6dfbba8cba4688" /><Relationship Type="http://schemas.openxmlformats.org/officeDocument/2006/relationships/notesMaster" Target="/ppt/notesMasters/notesMaster1.xml" Id="Rf9ad96a0e32648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749293b61e4ee3" /><Relationship Type="http://schemas.openxmlformats.org/officeDocument/2006/relationships/notesMaster" Target="/ppt/notesMasters/notesMaster1.xml" Id="R90b6731c084544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04c718ea044cc2" /><Relationship Type="http://schemas.openxmlformats.org/officeDocument/2006/relationships/notesMaster" Target="/ppt/notesMasters/notesMaster1.xml" Id="R19640ca310ca44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0ce20bcb15469b" /><Relationship Type="http://schemas.openxmlformats.org/officeDocument/2006/relationships/notesMaster" Target="/ppt/notesMasters/notesMaster1.xml" Id="R72d14cfce4aa4e2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cca6050c75409f" /><Relationship Type="http://schemas.openxmlformats.org/officeDocument/2006/relationships/notesMaster" Target="/ppt/notesMasters/notesMaster1.xml" Id="Ra33dbb4fb85f44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Cover media: Pexels photo by RDNE Stock project, https://www.pexels.com/photo/close-up-photo-of-an-infusion-pump-6129679/,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Major electrolytes and common adult reference ranges. First, Sodium: 135–145 mEq/L; Extracellular osmolality, water balance, nerve and muscle function Next, Potassium: 3.5–5.0 mEq/L; Cardiac conduction, muscle contraction, intracellular balance Next, Chloride: 96–106 mEq/L; Extracellular osmotic and acid-base balance Next, Calcium: 8.9–10.1 mg/dL; Bone, clotting, nerve signaling, muscle contraction Next, Magnesium: 1.5–2.5 mg/dL; Neuromuscular function and enzyme activity Next, Phosphorus: 2.5–4.5 mg/dL; Energy metabolism, cells, bone, and acid-base buffering Next, Reference ranges vary by laboratory, age, specimen type, albumin level, and clinical context. Use the reporting laboratory's range and evaluate trends rather than treating a single value in isolation.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Reference ranges vary by laboratory, age, specimen type, albumin level, and clinical context. Use the reporting laboratory's range and evaluate trends rather than treating a single value in isolation. Source: 30 Hour IV Certification Study Guide, revised March 2013, PDF pages 16-17. Ranges are presented as the packet's common adult examples and must be compared with the current reporting laboratory.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Sodium imbalance affects the brain and fluid balance. First, Hypernatremia: Thirst, irritability, weakness, altered mental status; severe cases may progress to seizures; Assess water loss, sodium gain, fluid balance, neurologic status, and ordered correction rate Next, Hyponatremia: Headache, nausea, confusion, fatigue, muscle weakness; severe or rapid decline may cause seizures; Review hypotonic fluids, excess free water, diuretics, GI losses, glucose, and the ordered correction plan Next, Rapid sodium correction can cause severe neurologic injury. Verify the solution, concentration, pump settings, monitoring schedule, and prescribed rate. Escalate acute neurologic changes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Rapid sodium correction can cause severe neurologic injury. Verify the solution, concentration, pump settings, monitoring schedule, and prescribed rate. Escalate acute neurologic changes immediately. Source: 30 Hour IV Certification Study Guide, revised March 2013, PDF pages 16-17. Findings were condensed for nursing recognition; treatment requires current orders and protocol.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imbalance can become a cardiac emergency. First, Hyperkalemia: Muscle weakness, paresthesia, nausea, bradycardia or other dysrhythmias; ECG changes may occur; Stop and clarify potassium-containing therapy when results or symptoms conflict with the order; obtain urgent assessment Next, Hypokalemia: Weakness, cramps, constipation, weak or irregular pulse; ECG changes and dysrhythmias may occur; Review GI loss, diuretics, insulin effect, and magnesium; verify replacement concentration and rate Next, Never give potassium by IV push. Use the ordered dilution, route, pump, monitoring, and maximum rate for the care setting. Confirm adequate renal function and urine output as required by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Never give potassium by IV push. Use the ordered dilution, route, pump, monitoring, and maximum rate for the care setting. Confirm adequate renal function and urine output as required by policy. Source: 30 Hour IV Certification Study Guide, revised March 2013, PDF pages 16-17. Medication and infusion directions were updated to a safety-focused framework rather than reproducing the packet's treatment list.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Calcium imbalance changes neuromuscular and cardiac function. First, Hypercalcemia: Fatigue, weakness, nausea, constipation, dehydration, confusion, shortened QT or dysrhythmia; Assess hydration, renal function, medications, ECG when indicated, and the ordered treatment response Next, Hypocalcemia: Perioral or fingertip tingling, cramps, tetany, hyperreflexia, possible laryngospasm, prolonged QT or dysrhythmia; Escalate airway symptoms, seizures, tetany, or ECG changes; verify calcium product and compatibility Next, Total calcium may be influenced by albumin. Ionized calcium may better reflect physiologically active calcium in selected patients. IV calcium products are not interchangeable and require order-specific administration.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Total calcium may be influenced by albumin. Ionized calcium may better reflect physiologically active calcium in selected patients. IV calcium products are not interchangeable and require order-specific administration. Source: 30 Hour IV Certification Study Guide, revised March 2013, PDF page 16. Findings were reorganized for recognition and safe escalation.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Magnesium and phosphorus support muscle, nerve, and cellular energy. First, High magnesium: Lethargy, weakness, hypotension, bradycardia, reduced reflexes, respiratory depression; Stop magnesium therapy when authorized, assess airway and circulation, notify immediately, and follow the emergency protocol Next, Low magnesium: Tremor, cramps, hyperreflexia, confusion, seizures, prolonged QT or dysrhythmias; Check related potassium and calcium abnormalities; verify replacement rate and monitoring Next, High phosphorus: Often reflects renal dysfunction; symptoms may relate to low calcium, including tingling, cramps, or tetany; Review renal function, calcium, medications, and the prescribed plan Next, Low phosphorus: Weakness, confusion, impaired respiratory muscle function, rhabdomyolysis in severe cases; Assess nutrition and refeeding risk; verify replacement product, route, and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16-18. Content was condensed and framed around assessment and escalation rather than fixed treatment recipes.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Chloride findings must be interpreted with sodium and acid-base status. First, Hyperchloremia: May occur with dehydration, bicarbonate loss, renal dysfunction, or large chloride loads; Review fluid type and volume, sodium, bicarbonate or total CO₂, renal function, and breathing pattern Next, Hypochloremia: May occur with vomiting, gastric suction, diuretics, or dilution; Review fluid losses, sodium, potassium, bicarbonate or total CO₂, and neuromuscular symptoms Next, Chloride abnormalities rarely stand alone. Evaluate the complete metabolic panel, fluid balance, clinical condition, and ordered IV solution before acting.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Chloride abnormalities rarely stand alone. Evaluate the complete metabolic panel, fluid balance, clinical condition, and ordered IV solution before acting. Source: 30 Hour IV Certification Study Guide, revised March 2013, PDF pages 16-17. The original list was reorganized to show the relationship between chloride, fluid therapy, and acid-base assessment.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Electrolyte result safety check. First, Verify: Does the result belong to this patient, and could hemolysis or collection error affect it? Next, Assess: Does the patient have neurologic, cardiac, respiratory, or neuromuscular changes? Next, Connect: Which fluids, medications, losses, renal changes, or nutrition therapies may contribute? Next, Protect: Should an infusion be stopped or held under policy while the result is clarified? Next, Escalate: Which finding requires immediate RN, prescriber, rapid-response, or emergency notification? Next, Treat the patient and verified clinical data together. Do not independently select a replacement product, concentration, or rate outside the nurse's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Treat the patient and verified clinical data together. Do not independently select a replacement product, concentration, or rate outside the nurse's authorized role. Teaching synthesis based on 30 Hour IV Certification Study Guide, revised March 2013, PDF pages 16-18, adapted to current orders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650505b9e84d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1425a7256345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4503b3f65c542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c42e556a204a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20c1155a1f40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f73e761f1843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EA5630-9136-44F4-B4EE-27EECF14D38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E6C7CF-2C97-459A-ACE1-B1287B20E0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51B30E9-065F-4B05-810D-E5320DB40E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DFA7ED-8D14-484F-9A7D-DB8D3F3C01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F32E52-0D24-43FF-AD9F-9FE98283C5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2CBFB1-1100-4E9B-B7D1-D29AA9E379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A6FCA8-BCA0-4CA8-A385-49FB731602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145434-633E-4BD4-8A40-197FAA7B7D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85CAF7-D4C4-431B-9C06-98155D0FD7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AC69E4-2F6D-4778-B670-FCC180B60C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61abbb83db4225" /><Relationship Type="http://schemas.openxmlformats.org/officeDocument/2006/relationships/slideLayout" Target="/ppt/slideLayouts/slideLayout1.xml" Id="Rab6e2c47e09c42ec" /><Relationship Type="http://schemas.openxmlformats.org/officeDocument/2006/relationships/slideLayout" Target="/ppt/slideLayouts/slideLayout2.xml" Id="Rdd12958512504a48" /><Relationship Type="http://schemas.openxmlformats.org/officeDocument/2006/relationships/slideLayout" Target="/ppt/slideLayouts/slideLayout3.xml" Id="R2e98de3fb31247f9" /><Relationship Type="http://schemas.openxmlformats.org/officeDocument/2006/relationships/slideLayout" Target="/ppt/slideLayouts/slideLayout4.xml" Id="Rd82acf1ba70d4f5e" /><Relationship Type="http://schemas.openxmlformats.org/officeDocument/2006/relationships/slideLayout" Target="/ppt/slideLayouts/slideLayout5.xml" Id="R758e6ff0a3164fbd" /><Relationship Type="http://schemas.openxmlformats.org/officeDocument/2006/relationships/slideLayout" Target="/ppt/slideLayouts/slideLayout6.xml" Id="R8f0ce0b5b7ea4a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6e2c47e09c42ec"/>
    <p:sldLayoutId xmlns:r="http://schemas.openxmlformats.org/officeDocument/2006/relationships" id="2147483650" r:id="Rdd12958512504a48"/>
    <p:sldLayoutId xmlns:r="http://schemas.openxmlformats.org/officeDocument/2006/relationships" id="2147483651" r:id="R2e98de3fb31247f9"/>
    <p:sldLayoutId xmlns:r="http://schemas.openxmlformats.org/officeDocument/2006/relationships" id="2147483652" r:id="Rd82acf1ba70d4f5e"/>
    <p:sldLayoutId xmlns:r="http://schemas.openxmlformats.org/officeDocument/2006/relationships" id="2147483653" r:id="R758e6ff0a3164fbd"/>
    <p:sldLayoutId xmlns:r="http://schemas.openxmlformats.org/officeDocument/2006/relationships" id="2147483654" r:id="R8f0ce0b5b7ea4a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cf080ec31b4a39" /><Relationship Type="http://schemas.openxmlformats.org/officeDocument/2006/relationships/image" Target="/ppt/media/image.jpeg" Id="R76c114bdd93142c0" /><Relationship Type="http://schemas.openxmlformats.org/officeDocument/2006/relationships/notesSlide" Target="/ppt/notesSlides/notesSlide1.xml" Id="R3f2fddae9adf46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0df2f99d924ae2" /><Relationship Type="http://schemas.openxmlformats.org/officeDocument/2006/relationships/notesSlide" Target="/ppt/notesSlides/notesSlide2.xml" Id="R561f94e4880e4d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a1d0346d3e4f53" /><Relationship Type="http://schemas.openxmlformats.org/officeDocument/2006/relationships/notesSlide" Target="/ppt/notesSlides/notesSlide3.xml" Id="Rba5323bf00764d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a7b6d6eb6840d0" /><Relationship Type="http://schemas.openxmlformats.org/officeDocument/2006/relationships/notesSlide" Target="/ppt/notesSlides/notesSlide4.xml" Id="Refad7491fe314f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99ac30d0c94315" /><Relationship Type="http://schemas.openxmlformats.org/officeDocument/2006/relationships/notesSlide" Target="/ppt/notesSlides/notesSlide5.xml" Id="R899b77c64f044d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9391cfbe3f4630" /><Relationship Type="http://schemas.openxmlformats.org/officeDocument/2006/relationships/notesSlide" Target="/ppt/notesSlides/notesSlide6.xml" Id="R8293ec2608094e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d2c5644d07645cf" /><Relationship Type="http://schemas.openxmlformats.org/officeDocument/2006/relationships/notesSlide" Target="/ppt/notesSlides/notesSlide7.xml" Id="Rd5e60216a49c4b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d8a2789afa4725" /><Relationship Type="http://schemas.openxmlformats.org/officeDocument/2006/relationships/notesSlide" Target="/ppt/notesSlides/notesSlide8.xml" Id="R8dbcacb0ddf24c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2e25b83d524c70" /><Relationship Type="http://schemas.openxmlformats.org/officeDocument/2006/relationships/notesSlide" Target="/ppt/notesSlides/notesSlide9.xml" Id="R6694cabf0c6b45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92a8da1b914421" /><Relationship Type="http://schemas.openxmlformats.org/officeDocument/2006/relationships/notesSlide" Target="/ppt/notesSlides/notesSlide10.xml" Id="Rb1eb08c5526c44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bfa01a8e04f45c7" /><Relationship Type="http://schemas.openxmlformats.org/officeDocument/2006/relationships/notesSlide" Target="/ppt/notesSlides/notesSlide11.xml" Id="R6fbcdfaa2daf41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7824299cbae4efa" /><Relationship Type="http://schemas.openxmlformats.org/officeDocument/2006/relationships/notesSlide" Target="/ppt/notesSlides/notesSlide12.xml" Id="R2d6899cf38d840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70ce79dd54f49ec" /><Relationship Type="http://schemas.openxmlformats.org/officeDocument/2006/relationships/notesSlide" Target="/ppt/notesSlides/notesSlide13.xml" Id="R0deaad79fa2f40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5c6883637f24d38" /><Relationship Type="http://schemas.openxmlformats.org/officeDocument/2006/relationships/notesSlide" Target="/ppt/notesSlides/notesSlide14.xml" Id="R9260656c1e164b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130242283044870" /><Relationship Type="http://schemas.openxmlformats.org/officeDocument/2006/relationships/notesSlide" Target="/ppt/notesSlides/notesSlide15.xml" Id="R771166a1894343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f9c739234a74aed" /><Relationship Type="http://schemas.openxmlformats.org/officeDocument/2006/relationships/notesSlide" Target="/ppt/notesSlides/notesSlide16.xml" Id="Rfc5dcac4ff274f6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62e81fc1f6843af" /><Relationship Type="http://schemas.openxmlformats.org/officeDocument/2006/relationships/notesSlide" Target="/ppt/notesSlides/notesSlide17.xml" Id="R2a6a8f31f53341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667cecd8c94c0b" /><Relationship Type="http://schemas.openxmlformats.org/officeDocument/2006/relationships/notesSlide" Target="/ppt/notesSlides/notesSlide18.xml" Id="R29026785a14749c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0dbb00423da4beb" /><Relationship Type="http://schemas.openxmlformats.org/officeDocument/2006/relationships/notesSlide" Target="/ppt/notesSlides/notesSlide19.xml" Id="Re1b849a27c9540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268e68f80f94a26" /><Relationship Type="http://schemas.openxmlformats.org/officeDocument/2006/relationships/notesSlide" Target="/ppt/notesSlides/notesSlide20.xml" Id="R01e6975df93749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3a2b3ab50cd4baa" /><Relationship Type="http://schemas.openxmlformats.org/officeDocument/2006/relationships/notesSlide" Target="/ppt/notesSlides/notesSlide21.xml" Id="R269bf064fa4c425d"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09F98FA-87AE-4B17-8F1F-59ACDCD8AF93}"/>
              </a:ext>
            </a:extLst>
          </p:cNvPr>
          <p:cNvPicPr>
            <a:picLocks xmlns:a="http://schemas.openxmlformats.org/drawingml/2006/main" noChangeAspect="1"/>
          </p:cNvPicPr>
          <p:nvPr/>
        </p:nvPicPr>
        <p:blipFill>
          <a:blip xmlns:r="http://schemas.openxmlformats.org/officeDocument/2006/relationships" xmlns:a="http://schemas.openxmlformats.org/drawingml/2006/main" r:embed="R76c114bdd93142c0"/>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1D2395-C7F0-4C71-996A-D1F41DE7CBF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A04DD95-4A95-4581-848F-38B4CF50031C}"/>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DC2515A9-6DB7-4CAB-892E-520108931E7E}"/>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ED937247-4032-4221-969D-B0FA8AB24FAD}"/>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Fluids, Electrolytes, and Calculations</a:t>
            </a:r>
          </a:p>
        </p:txBody>
      </p:sp>
      <p:sp>
        <p:nvSpPr>
          <p:cNvPr id="6" name="">
            <a:extLst xmlns:a="http://schemas.openxmlformats.org/drawingml/2006/main">
              <a:ext uri="{FF2B5EF4-FFF2-40B4-BE49-F238E27FC236}">
                <a16:creationId xmlns:a16="http://schemas.microsoft.com/office/drawing/2014/main" id="{AC98FFE1-4CB2-4A45-B261-7D7E5ED29BD6}"/>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3  |  30-Hour Basic Intravenous Therapy</a:t>
            </a:r>
          </a:p>
        </p:txBody>
      </p:sp>
      <p:sp>
        <p:nvSpPr>
          <p:cNvPr id="7" name="">
            <a:extLst xmlns:a="http://schemas.openxmlformats.org/drawingml/2006/main">
              <a:ext uri="{FF2B5EF4-FFF2-40B4-BE49-F238E27FC236}">
                <a16:creationId xmlns:a16="http://schemas.microsoft.com/office/drawing/2014/main" id="{63C8EEEE-5971-46AC-A34F-E95907A356C6}"/>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94538901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2DE150-F47E-4BE2-AEE5-E9B06A370A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7BFED5-6288-4BCA-9BCF-564C17EEBB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901ECD50-C6C1-409D-B081-4B055AEDCE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05D9A2B-0975-4C50-A279-B68CDE55A1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FFF36C8-69D0-4EE8-A8A3-26E1C0025A28}"/>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151325057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D8A440-5DFD-4613-B2EF-D13794AC65F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4007CF-7D37-4F1E-A877-6A80D27ABE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C0A8928F-F9F3-42E8-8CBA-E9DF4962C5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5DB83F4-E5A5-479F-8077-C29210C5BE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30B08CE0-FAA8-40E6-9169-1890B08DD8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7EB4B3CB-7DF4-4377-AE72-555432A195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9511681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7BB6B1-E65E-44C8-A574-8C7BD99011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577018-2114-47B7-899D-0A6B94BC02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2E5C0688-12D3-48FD-AAA0-6C667B0BA6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9D2A878-D825-4B20-9D0E-701D6D8564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F37D7C70-DC54-4075-AD2F-615FC2750A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2AA100B3-B397-435E-B350-5B6C72928A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0318705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75114F-675A-4467-8E72-88415A4255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A4080F8-C1CB-459D-A2F1-4FB21B4D30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805D40AC-9972-414C-9CE0-45AC7C7901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AF42CF1-5E14-4F94-958C-F7BD780E02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B6712D8-2BFF-44DC-8364-D4C2D03958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75177C02-9384-4201-806F-0C34EE08C80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678053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449067-BAF6-414E-9013-FD96583C17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21E2E2-BC20-4911-BCA2-C9963D96CEF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FBF37309-0FCF-4C90-A8BB-F816F6227D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4CEF55F-78E1-4049-8C3F-7856A2C485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67679117-759D-40ED-8C25-97BB4E85F4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90ED1846-9F37-4429-8C78-CD7AA9130F6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3333253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748BD15-BF70-4AD0-BC46-16A2376E2CB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B9E167-A79F-4E7F-B0AC-C88C8321DE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3" name="">
            <a:extLst xmlns:a="http://schemas.openxmlformats.org/drawingml/2006/main">
              <a:ext uri="{FF2B5EF4-FFF2-40B4-BE49-F238E27FC236}">
                <a16:creationId xmlns:a16="http://schemas.microsoft.com/office/drawing/2014/main" id="{539AC824-3BCC-4EA7-811E-9241988CBD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FE98E7A-BF4B-4473-A321-B44636B7CB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73A30B4B-E58B-4F60-B50F-42B92E885ACA}"/>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C8C488C-66E8-4BCD-AAB4-379B0B540835}"/>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7" name="">
            <a:extLst xmlns:a="http://schemas.openxmlformats.org/drawingml/2006/main">
              <a:ext uri="{FF2B5EF4-FFF2-40B4-BE49-F238E27FC236}">
                <a16:creationId xmlns:a16="http://schemas.microsoft.com/office/drawing/2014/main" id="{4A1C610D-BC46-4192-9AE9-E3BDBE1D5B83}"/>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7240D83-AC4F-467A-8E08-486A551B08C2}"/>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9" name="">
            <a:extLst xmlns:a="http://schemas.openxmlformats.org/drawingml/2006/main">
              <a:ext uri="{FF2B5EF4-FFF2-40B4-BE49-F238E27FC236}">
                <a16:creationId xmlns:a16="http://schemas.microsoft.com/office/drawing/2014/main" id="{AD5ACEE0-3EE3-48A6-A2A5-780A1C3CC4EA}"/>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373D2B3-497D-43FE-9C1C-19CDC4BFA9D0}"/>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CC8791B4-465A-475C-A0ED-97F9C97BDC41}"/>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C330A7F-6315-4E36-A4DD-BEACD2675406}"/>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3" name="">
            <a:extLst xmlns:a="http://schemas.openxmlformats.org/drawingml/2006/main">
              <a:ext uri="{FF2B5EF4-FFF2-40B4-BE49-F238E27FC236}">
                <a16:creationId xmlns:a16="http://schemas.microsoft.com/office/drawing/2014/main" id="{228985B6-1B6A-49F9-B3F7-978A18AD1D1F}"/>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77019BB-E9FB-4DB7-BEB3-45872A13A2A3}"/>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5" name="">
            <a:extLst xmlns:a="http://schemas.openxmlformats.org/drawingml/2006/main">
              <a:ext uri="{FF2B5EF4-FFF2-40B4-BE49-F238E27FC236}">
                <a16:creationId xmlns:a16="http://schemas.microsoft.com/office/drawing/2014/main" id="{577D15CA-17DE-4C9B-9992-59825701780E}"/>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2F64CAD-EF61-4B2C-8115-E8D13937B4F0}"/>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7" name="">
            <a:extLst xmlns:a="http://schemas.openxmlformats.org/drawingml/2006/main">
              <a:ext uri="{FF2B5EF4-FFF2-40B4-BE49-F238E27FC236}">
                <a16:creationId xmlns:a16="http://schemas.microsoft.com/office/drawing/2014/main" id="{5C77079F-1B41-442D-8204-DB554C0923C1}"/>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02DE6E3-EC51-4431-B37E-0103DDB21F21}"/>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19" name="">
            <a:extLst xmlns:a="http://schemas.openxmlformats.org/drawingml/2006/main">
              <a:ext uri="{FF2B5EF4-FFF2-40B4-BE49-F238E27FC236}">
                <a16:creationId xmlns:a16="http://schemas.microsoft.com/office/drawing/2014/main" id="{623192CA-8850-40BC-89EF-0ADCA2AD2A5D}"/>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6F47E97-4905-4D8C-930D-1C1ABC99A8C2}"/>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1" name="">
            <a:extLst xmlns:a="http://schemas.openxmlformats.org/drawingml/2006/main">
              <a:ext uri="{FF2B5EF4-FFF2-40B4-BE49-F238E27FC236}">
                <a16:creationId xmlns:a16="http://schemas.microsoft.com/office/drawing/2014/main" id="{C11CC11B-A32A-4F94-AA61-BCE0E02EBC4D}"/>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BF89B40-08AB-4044-B859-C60B8ABDBB01}"/>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3" name="">
            <a:extLst xmlns:a="http://schemas.openxmlformats.org/drawingml/2006/main">
              <a:ext uri="{FF2B5EF4-FFF2-40B4-BE49-F238E27FC236}">
                <a16:creationId xmlns:a16="http://schemas.microsoft.com/office/drawing/2014/main" id="{64FA3FAA-39BC-4991-BB78-4864651F5A73}"/>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1972F87-B2D4-45B5-A307-0B1982F598DF}"/>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5" name="">
            <a:extLst xmlns:a="http://schemas.openxmlformats.org/drawingml/2006/main">
              <a:ext uri="{FF2B5EF4-FFF2-40B4-BE49-F238E27FC236}">
                <a16:creationId xmlns:a16="http://schemas.microsoft.com/office/drawing/2014/main" id="{B3B49CE5-37A2-42CA-B862-0908B5EB8262}"/>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1585E1C-89F1-4856-A9E0-BE545A89EFDC}"/>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7" name="">
            <a:extLst xmlns:a="http://schemas.openxmlformats.org/drawingml/2006/main">
              <a:ext uri="{FF2B5EF4-FFF2-40B4-BE49-F238E27FC236}">
                <a16:creationId xmlns:a16="http://schemas.microsoft.com/office/drawing/2014/main" id="{AEA73B68-4BEB-4974-9C9B-DFA3AFC25A92}"/>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AA3D560-66F0-4811-9AC4-9F10E5ECEEE1}"/>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67460863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3E6F169-F020-4446-B2B2-04347CF0BB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A3D77A4-ED6E-44DF-A3C0-CD3AB0BF07A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3" name="">
            <a:extLst xmlns:a="http://schemas.openxmlformats.org/drawingml/2006/main">
              <a:ext uri="{FF2B5EF4-FFF2-40B4-BE49-F238E27FC236}">
                <a16:creationId xmlns:a16="http://schemas.microsoft.com/office/drawing/2014/main" id="{6AEB5CDA-665E-462C-9952-D1AEEBB541A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2FECF1B-04D5-47EB-ABA8-ECE0F2D72B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A674E57-DFA5-4646-AE12-A1C5F3CBAEC7}"/>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68AC3FF-855B-4947-B30E-ECFB5F449384}"/>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7" name="">
            <a:extLst xmlns:a="http://schemas.openxmlformats.org/drawingml/2006/main">
              <a:ext uri="{FF2B5EF4-FFF2-40B4-BE49-F238E27FC236}">
                <a16:creationId xmlns:a16="http://schemas.microsoft.com/office/drawing/2014/main" id="{C46206A0-4BD8-4E0D-A464-E5C22AC9491A}"/>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E10D95E-EC07-41FD-B73C-234FCF5C519A}"/>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9" name="">
            <a:extLst xmlns:a="http://schemas.openxmlformats.org/drawingml/2006/main">
              <a:ext uri="{FF2B5EF4-FFF2-40B4-BE49-F238E27FC236}">
                <a16:creationId xmlns:a16="http://schemas.microsoft.com/office/drawing/2014/main" id="{0BBF2C5F-2FEC-4823-AD6C-362D8C31119B}"/>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C56388D-C8C9-4C1E-AE79-59E14F31D63A}"/>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1" name="">
            <a:extLst xmlns:a="http://schemas.openxmlformats.org/drawingml/2006/main">
              <a:ext uri="{FF2B5EF4-FFF2-40B4-BE49-F238E27FC236}">
                <a16:creationId xmlns:a16="http://schemas.microsoft.com/office/drawing/2014/main" id="{4C2B8D50-3001-45F8-99F9-53A97EC96C37}"/>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896B4DE-D6DF-45F4-909D-EAB93A39922A}"/>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3" name="">
            <a:extLst xmlns:a="http://schemas.openxmlformats.org/drawingml/2006/main">
              <a:ext uri="{FF2B5EF4-FFF2-40B4-BE49-F238E27FC236}">
                <a16:creationId xmlns:a16="http://schemas.microsoft.com/office/drawing/2014/main" id="{EE9BB0B1-BBE1-4FBB-A346-754786A368F3}"/>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78A52DE-5AD2-49A0-A9ED-59CCAE890F6B}"/>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5" name="">
            <a:extLst xmlns:a="http://schemas.openxmlformats.org/drawingml/2006/main">
              <a:ext uri="{FF2B5EF4-FFF2-40B4-BE49-F238E27FC236}">
                <a16:creationId xmlns:a16="http://schemas.microsoft.com/office/drawing/2014/main" id="{7677F7B1-A65B-4AE1-B323-298D87AA1F76}"/>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0228BCF-06D8-46A8-B576-EF7C5E34B026}"/>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7" name="">
            <a:extLst xmlns:a="http://schemas.openxmlformats.org/drawingml/2006/main">
              <a:ext uri="{FF2B5EF4-FFF2-40B4-BE49-F238E27FC236}">
                <a16:creationId xmlns:a16="http://schemas.microsoft.com/office/drawing/2014/main" id="{AA4FD1C3-9CD9-47B7-AFCD-9B0CFAFD53DD}"/>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24A29E6-BEC1-41BB-B39E-EF116C19E94C}"/>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19" name="">
            <a:extLst xmlns:a="http://schemas.openxmlformats.org/drawingml/2006/main">
              <a:ext uri="{FF2B5EF4-FFF2-40B4-BE49-F238E27FC236}">
                <a16:creationId xmlns:a16="http://schemas.microsoft.com/office/drawing/2014/main" id="{8A3072D4-70CC-4A75-A81C-B69BA1678290}"/>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0FBD40F-3041-4D3A-B685-FC90E09A7506}"/>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1" name="">
            <a:extLst xmlns:a="http://schemas.openxmlformats.org/drawingml/2006/main">
              <a:ext uri="{FF2B5EF4-FFF2-40B4-BE49-F238E27FC236}">
                <a16:creationId xmlns:a16="http://schemas.microsoft.com/office/drawing/2014/main" id="{400B44B3-5A0C-4952-82A2-FDD549B10848}"/>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3C97AB5-2FED-4256-8A90-050E2CF1B893}"/>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3" name="">
            <a:extLst xmlns:a="http://schemas.openxmlformats.org/drawingml/2006/main">
              <a:ext uri="{FF2B5EF4-FFF2-40B4-BE49-F238E27FC236}">
                <a16:creationId xmlns:a16="http://schemas.microsoft.com/office/drawing/2014/main" id="{E10422BC-52BD-4B8B-A15D-F16EB5FD8E93}"/>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7251E12-8FF1-4659-B40E-43DA399FF6A8}"/>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5" name="">
            <a:extLst xmlns:a="http://schemas.openxmlformats.org/drawingml/2006/main">
              <a:ext uri="{FF2B5EF4-FFF2-40B4-BE49-F238E27FC236}">
                <a16:creationId xmlns:a16="http://schemas.microsoft.com/office/drawing/2014/main" id="{9A344DC3-1342-44CD-876D-9CC582C45CF2}"/>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EAF4E59-8A8E-40DA-B115-4986BB9EB1F2}"/>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7" name="">
            <a:extLst xmlns:a="http://schemas.openxmlformats.org/drawingml/2006/main">
              <a:ext uri="{FF2B5EF4-FFF2-40B4-BE49-F238E27FC236}">
                <a16:creationId xmlns:a16="http://schemas.microsoft.com/office/drawing/2014/main" id="{ECFEE946-D97E-407B-A395-232590D2D75D}"/>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39A4D63-15C3-4690-A877-6459DEF2FC71}"/>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97294072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1BDB4AA7-5D0E-4076-9E27-7C60F7A8E2A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4AF7B1-BA3D-4A9F-AD23-A2151BF007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Major electrolytes and common adult reference ranges</a:t>
            </a:r>
          </a:p>
        </p:txBody>
      </p:sp>
      <p:sp>
        <p:nvSpPr>
          <p:cNvPr id="3" name="">
            <a:extLst xmlns:a="http://schemas.openxmlformats.org/drawingml/2006/main">
              <a:ext uri="{FF2B5EF4-FFF2-40B4-BE49-F238E27FC236}">
                <a16:creationId xmlns:a16="http://schemas.microsoft.com/office/drawing/2014/main" id="{418316CC-BAC8-41CD-8B71-F6674FD17D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4C2167D-2EFC-4758-AC20-5CEE423DB4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805B5C22-D44D-41F5-BB73-474F7EB99F76}"/>
              </a:ext>
            </a:extLst>
          </p:cNvPr>
          <p:cNvSpPr>
            <a:spLocks xmlns:a="http://schemas.openxmlformats.org/drawingml/2006/main" noGrp="1"/>
          </p:cNvSpPr>
          <p:nvPr/>
        </p:nvSpPr>
        <p:spPr>
          <a:xfrm xmlns:a="http://schemas.openxmlformats.org/drawingml/2006/main">
            <a:off x="7810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8AA3320-6E1C-44A8-9A78-32831147CD3E}"/>
              </a:ext>
            </a:extLst>
          </p:cNvPr>
          <p:cNvSpPr>
            <a:spLocks xmlns:a="http://schemas.openxmlformats.org/drawingml/2006/main" noGrp="1"/>
          </p:cNvSpPr>
          <p:nvPr/>
        </p:nvSpPr>
        <p:spPr>
          <a:xfrm xmlns:a="http://schemas.openxmlformats.org/drawingml/2006/main">
            <a:off x="8763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Electrolyte</a:t>
            </a:r>
          </a:p>
        </p:txBody>
      </p:sp>
      <p:sp>
        <p:nvSpPr>
          <p:cNvPr id="7" name="">
            <a:extLst xmlns:a="http://schemas.openxmlformats.org/drawingml/2006/main">
              <a:ext uri="{FF2B5EF4-FFF2-40B4-BE49-F238E27FC236}">
                <a16:creationId xmlns:a16="http://schemas.microsoft.com/office/drawing/2014/main" id="{9CFDD008-1561-4E21-A0F9-D66DDE815C8E}"/>
              </a:ext>
            </a:extLst>
          </p:cNvPr>
          <p:cNvSpPr>
            <a:spLocks xmlns:a="http://schemas.openxmlformats.org/drawingml/2006/main" noGrp="1"/>
          </p:cNvSpPr>
          <p:nvPr/>
        </p:nvSpPr>
        <p:spPr>
          <a:xfrm xmlns:a="http://schemas.openxmlformats.org/drawingml/2006/main">
            <a:off x="430530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09A4927-8DF0-417F-A343-6B7E84B04BCB}"/>
              </a:ext>
            </a:extLst>
          </p:cNvPr>
          <p:cNvSpPr>
            <a:spLocks xmlns:a="http://schemas.openxmlformats.org/drawingml/2006/main" noGrp="1"/>
          </p:cNvSpPr>
          <p:nvPr/>
        </p:nvSpPr>
        <p:spPr>
          <a:xfrm xmlns:a="http://schemas.openxmlformats.org/drawingml/2006/main">
            <a:off x="440055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reference range</a:t>
            </a:r>
          </a:p>
        </p:txBody>
      </p:sp>
      <p:sp>
        <p:nvSpPr>
          <p:cNvPr id="9" name="">
            <a:extLst xmlns:a="http://schemas.openxmlformats.org/drawingml/2006/main">
              <a:ext uri="{FF2B5EF4-FFF2-40B4-BE49-F238E27FC236}">
                <a16:creationId xmlns:a16="http://schemas.microsoft.com/office/drawing/2014/main" id="{BC14B243-C82E-4F8A-9D5A-924C7A3A4B44}"/>
              </a:ext>
            </a:extLst>
          </p:cNvPr>
          <p:cNvSpPr>
            <a:spLocks xmlns:a="http://schemas.openxmlformats.org/drawingml/2006/main" noGrp="1"/>
          </p:cNvSpPr>
          <p:nvPr/>
        </p:nvSpPr>
        <p:spPr>
          <a:xfrm xmlns:a="http://schemas.openxmlformats.org/drawingml/2006/main">
            <a:off x="78295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A3ADCB4-9700-46FB-B31F-C3569A3E7E6C}"/>
              </a:ext>
            </a:extLst>
          </p:cNvPr>
          <p:cNvSpPr>
            <a:spLocks xmlns:a="http://schemas.openxmlformats.org/drawingml/2006/main" noGrp="1"/>
          </p:cNvSpPr>
          <p:nvPr/>
        </p:nvSpPr>
        <p:spPr>
          <a:xfrm xmlns:a="http://schemas.openxmlformats.org/drawingml/2006/main">
            <a:off x="79248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role</a:t>
            </a:r>
          </a:p>
        </p:txBody>
      </p:sp>
      <p:sp>
        <p:nvSpPr>
          <p:cNvPr id="11" name="">
            <a:extLst xmlns:a="http://schemas.openxmlformats.org/drawingml/2006/main">
              <a:ext uri="{FF2B5EF4-FFF2-40B4-BE49-F238E27FC236}">
                <a16:creationId xmlns:a16="http://schemas.microsoft.com/office/drawing/2014/main" id="{9233560B-2BB9-455F-9FB8-D36F0363D072}"/>
              </a:ext>
            </a:extLst>
          </p:cNvPr>
          <p:cNvSpPr>
            <a:spLocks xmlns:a="http://schemas.openxmlformats.org/drawingml/2006/main" noGrp="1"/>
          </p:cNvSpPr>
          <p:nvPr/>
        </p:nvSpPr>
        <p:spPr>
          <a:xfrm xmlns:a="http://schemas.openxmlformats.org/drawingml/2006/main">
            <a:off x="7810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7DA48DD-8805-4B8E-9954-B1981EE1BED5}"/>
              </a:ext>
            </a:extLst>
          </p:cNvPr>
          <p:cNvSpPr>
            <a:spLocks xmlns:a="http://schemas.openxmlformats.org/drawingml/2006/main" noGrp="1"/>
          </p:cNvSpPr>
          <p:nvPr/>
        </p:nvSpPr>
        <p:spPr>
          <a:xfrm xmlns:a="http://schemas.openxmlformats.org/drawingml/2006/main">
            <a:off x="8763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Sodium</a:t>
            </a:r>
          </a:p>
        </p:txBody>
      </p:sp>
      <p:sp>
        <p:nvSpPr>
          <p:cNvPr id="13" name="">
            <a:extLst xmlns:a="http://schemas.openxmlformats.org/drawingml/2006/main">
              <a:ext uri="{FF2B5EF4-FFF2-40B4-BE49-F238E27FC236}">
                <a16:creationId xmlns:a16="http://schemas.microsoft.com/office/drawing/2014/main" id="{DDC571E5-5059-4E9E-B442-6EED75904FEE}"/>
              </a:ext>
            </a:extLst>
          </p:cNvPr>
          <p:cNvSpPr>
            <a:spLocks xmlns:a="http://schemas.openxmlformats.org/drawingml/2006/main" noGrp="1"/>
          </p:cNvSpPr>
          <p:nvPr/>
        </p:nvSpPr>
        <p:spPr>
          <a:xfrm xmlns:a="http://schemas.openxmlformats.org/drawingml/2006/main">
            <a:off x="430530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8E9F5C8-8776-4E03-ADC3-8D2C5BC18A9B}"/>
              </a:ext>
            </a:extLst>
          </p:cNvPr>
          <p:cNvSpPr>
            <a:spLocks xmlns:a="http://schemas.openxmlformats.org/drawingml/2006/main" noGrp="1"/>
          </p:cNvSpPr>
          <p:nvPr/>
        </p:nvSpPr>
        <p:spPr>
          <a:xfrm xmlns:a="http://schemas.openxmlformats.org/drawingml/2006/main">
            <a:off x="440055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135–145 mEq/L</a:t>
            </a:r>
          </a:p>
        </p:txBody>
      </p:sp>
      <p:sp>
        <p:nvSpPr>
          <p:cNvPr id="15" name="">
            <a:extLst xmlns:a="http://schemas.openxmlformats.org/drawingml/2006/main">
              <a:ext uri="{FF2B5EF4-FFF2-40B4-BE49-F238E27FC236}">
                <a16:creationId xmlns:a16="http://schemas.microsoft.com/office/drawing/2014/main" id="{C45A98E7-19FA-42BD-B7DB-4AF440383095}"/>
              </a:ext>
            </a:extLst>
          </p:cNvPr>
          <p:cNvSpPr>
            <a:spLocks xmlns:a="http://schemas.openxmlformats.org/drawingml/2006/main" noGrp="1"/>
          </p:cNvSpPr>
          <p:nvPr/>
        </p:nvSpPr>
        <p:spPr>
          <a:xfrm xmlns:a="http://schemas.openxmlformats.org/drawingml/2006/main">
            <a:off x="78295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4CA358C-D17F-46DD-A6AA-306F8A7E34B6}"/>
              </a:ext>
            </a:extLst>
          </p:cNvPr>
          <p:cNvSpPr>
            <a:spLocks xmlns:a="http://schemas.openxmlformats.org/drawingml/2006/main" noGrp="1"/>
          </p:cNvSpPr>
          <p:nvPr/>
        </p:nvSpPr>
        <p:spPr>
          <a:xfrm xmlns:a="http://schemas.openxmlformats.org/drawingml/2006/main">
            <a:off x="79248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osmolality, water balance, nerve and muscle function</a:t>
            </a:r>
          </a:p>
        </p:txBody>
      </p:sp>
      <p:sp>
        <p:nvSpPr>
          <p:cNvPr id="17" name="">
            <a:extLst xmlns:a="http://schemas.openxmlformats.org/drawingml/2006/main">
              <a:ext uri="{FF2B5EF4-FFF2-40B4-BE49-F238E27FC236}">
                <a16:creationId xmlns:a16="http://schemas.microsoft.com/office/drawing/2014/main" id="{B82E4052-B5CE-4187-8996-AF173F7CBAE9}"/>
              </a:ext>
            </a:extLst>
          </p:cNvPr>
          <p:cNvSpPr>
            <a:spLocks xmlns:a="http://schemas.openxmlformats.org/drawingml/2006/main" noGrp="1"/>
          </p:cNvSpPr>
          <p:nvPr/>
        </p:nvSpPr>
        <p:spPr>
          <a:xfrm xmlns:a="http://schemas.openxmlformats.org/drawingml/2006/main">
            <a:off x="7810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FEAB683-D91A-4DD4-9739-A71E3E9642AA}"/>
              </a:ext>
            </a:extLst>
          </p:cNvPr>
          <p:cNvSpPr>
            <a:spLocks xmlns:a="http://schemas.openxmlformats.org/drawingml/2006/main" noGrp="1"/>
          </p:cNvSpPr>
          <p:nvPr/>
        </p:nvSpPr>
        <p:spPr>
          <a:xfrm xmlns:a="http://schemas.openxmlformats.org/drawingml/2006/main">
            <a:off x="8763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Potassium</a:t>
            </a:r>
          </a:p>
        </p:txBody>
      </p:sp>
      <p:sp>
        <p:nvSpPr>
          <p:cNvPr id="19" name="">
            <a:extLst xmlns:a="http://schemas.openxmlformats.org/drawingml/2006/main">
              <a:ext uri="{FF2B5EF4-FFF2-40B4-BE49-F238E27FC236}">
                <a16:creationId xmlns:a16="http://schemas.microsoft.com/office/drawing/2014/main" id="{76DFBAD3-438C-4423-942A-B4C6A2C79AB4}"/>
              </a:ext>
            </a:extLst>
          </p:cNvPr>
          <p:cNvSpPr>
            <a:spLocks xmlns:a="http://schemas.openxmlformats.org/drawingml/2006/main" noGrp="1"/>
          </p:cNvSpPr>
          <p:nvPr/>
        </p:nvSpPr>
        <p:spPr>
          <a:xfrm xmlns:a="http://schemas.openxmlformats.org/drawingml/2006/main">
            <a:off x="430530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2488D65-8404-4ED5-9434-464E9B02D6EB}"/>
              </a:ext>
            </a:extLst>
          </p:cNvPr>
          <p:cNvSpPr>
            <a:spLocks xmlns:a="http://schemas.openxmlformats.org/drawingml/2006/main" noGrp="1"/>
          </p:cNvSpPr>
          <p:nvPr/>
        </p:nvSpPr>
        <p:spPr>
          <a:xfrm xmlns:a="http://schemas.openxmlformats.org/drawingml/2006/main">
            <a:off x="440055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3.5–5.0 mEq/L</a:t>
            </a:r>
          </a:p>
        </p:txBody>
      </p:sp>
      <p:sp>
        <p:nvSpPr>
          <p:cNvPr id="21" name="">
            <a:extLst xmlns:a="http://schemas.openxmlformats.org/drawingml/2006/main">
              <a:ext uri="{FF2B5EF4-FFF2-40B4-BE49-F238E27FC236}">
                <a16:creationId xmlns:a16="http://schemas.microsoft.com/office/drawing/2014/main" id="{023FE993-B9DA-4C28-8788-283C26435636}"/>
              </a:ext>
            </a:extLst>
          </p:cNvPr>
          <p:cNvSpPr>
            <a:spLocks xmlns:a="http://schemas.openxmlformats.org/drawingml/2006/main" noGrp="1"/>
          </p:cNvSpPr>
          <p:nvPr/>
        </p:nvSpPr>
        <p:spPr>
          <a:xfrm xmlns:a="http://schemas.openxmlformats.org/drawingml/2006/main">
            <a:off x="78295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425048A-A77A-4802-9FF6-4EC9BCD42CE8}"/>
              </a:ext>
            </a:extLst>
          </p:cNvPr>
          <p:cNvSpPr>
            <a:spLocks xmlns:a="http://schemas.openxmlformats.org/drawingml/2006/main" noGrp="1"/>
          </p:cNvSpPr>
          <p:nvPr/>
        </p:nvSpPr>
        <p:spPr>
          <a:xfrm xmlns:a="http://schemas.openxmlformats.org/drawingml/2006/main">
            <a:off x="79248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Cardiac conduction, muscle contraction, intracellular balance</a:t>
            </a:r>
          </a:p>
        </p:txBody>
      </p:sp>
      <p:sp>
        <p:nvSpPr>
          <p:cNvPr id="23" name="">
            <a:extLst xmlns:a="http://schemas.openxmlformats.org/drawingml/2006/main">
              <a:ext uri="{FF2B5EF4-FFF2-40B4-BE49-F238E27FC236}">
                <a16:creationId xmlns:a16="http://schemas.microsoft.com/office/drawing/2014/main" id="{D2E20D30-A46E-49E0-8ABD-D2C925BF6CD5}"/>
              </a:ext>
            </a:extLst>
          </p:cNvPr>
          <p:cNvSpPr>
            <a:spLocks xmlns:a="http://schemas.openxmlformats.org/drawingml/2006/main" noGrp="1"/>
          </p:cNvSpPr>
          <p:nvPr/>
        </p:nvSpPr>
        <p:spPr>
          <a:xfrm xmlns:a="http://schemas.openxmlformats.org/drawingml/2006/main">
            <a:off x="7810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D876332-F922-4E19-9D70-7ED2A6F1D061}"/>
              </a:ext>
            </a:extLst>
          </p:cNvPr>
          <p:cNvSpPr>
            <a:spLocks xmlns:a="http://schemas.openxmlformats.org/drawingml/2006/main" noGrp="1"/>
          </p:cNvSpPr>
          <p:nvPr/>
        </p:nvSpPr>
        <p:spPr>
          <a:xfrm xmlns:a="http://schemas.openxmlformats.org/drawingml/2006/main">
            <a:off x="8763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Chloride</a:t>
            </a:r>
          </a:p>
        </p:txBody>
      </p:sp>
      <p:sp>
        <p:nvSpPr>
          <p:cNvPr id="25" name="">
            <a:extLst xmlns:a="http://schemas.openxmlformats.org/drawingml/2006/main">
              <a:ext uri="{FF2B5EF4-FFF2-40B4-BE49-F238E27FC236}">
                <a16:creationId xmlns:a16="http://schemas.microsoft.com/office/drawing/2014/main" id="{FD3EC873-031D-4EEA-8492-B11001575629}"/>
              </a:ext>
            </a:extLst>
          </p:cNvPr>
          <p:cNvSpPr>
            <a:spLocks xmlns:a="http://schemas.openxmlformats.org/drawingml/2006/main" noGrp="1"/>
          </p:cNvSpPr>
          <p:nvPr/>
        </p:nvSpPr>
        <p:spPr>
          <a:xfrm xmlns:a="http://schemas.openxmlformats.org/drawingml/2006/main">
            <a:off x="430530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BCC5FC9-70BA-407E-B5BC-96DF823E6580}"/>
              </a:ext>
            </a:extLst>
          </p:cNvPr>
          <p:cNvSpPr>
            <a:spLocks xmlns:a="http://schemas.openxmlformats.org/drawingml/2006/main" noGrp="1"/>
          </p:cNvSpPr>
          <p:nvPr/>
        </p:nvSpPr>
        <p:spPr>
          <a:xfrm xmlns:a="http://schemas.openxmlformats.org/drawingml/2006/main">
            <a:off x="440055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96–106 mEq/L</a:t>
            </a:r>
          </a:p>
        </p:txBody>
      </p:sp>
      <p:sp>
        <p:nvSpPr>
          <p:cNvPr id="27" name="">
            <a:extLst xmlns:a="http://schemas.openxmlformats.org/drawingml/2006/main">
              <a:ext uri="{FF2B5EF4-FFF2-40B4-BE49-F238E27FC236}">
                <a16:creationId xmlns:a16="http://schemas.microsoft.com/office/drawing/2014/main" id="{8C3D892A-2587-4ED5-83EA-DA9332C25888}"/>
              </a:ext>
            </a:extLst>
          </p:cNvPr>
          <p:cNvSpPr>
            <a:spLocks xmlns:a="http://schemas.openxmlformats.org/drawingml/2006/main" noGrp="1"/>
          </p:cNvSpPr>
          <p:nvPr/>
        </p:nvSpPr>
        <p:spPr>
          <a:xfrm xmlns:a="http://schemas.openxmlformats.org/drawingml/2006/main">
            <a:off x="78295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043B79E-2960-4323-8013-67E7FE707C52}"/>
              </a:ext>
            </a:extLst>
          </p:cNvPr>
          <p:cNvSpPr>
            <a:spLocks xmlns:a="http://schemas.openxmlformats.org/drawingml/2006/main" noGrp="1"/>
          </p:cNvSpPr>
          <p:nvPr/>
        </p:nvSpPr>
        <p:spPr>
          <a:xfrm xmlns:a="http://schemas.openxmlformats.org/drawingml/2006/main">
            <a:off x="79248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osmotic and acid-base balance</a:t>
            </a:r>
          </a:p>
        </p:txBody>
      </p:sp>
      <p:sp>
        <p:nvSpPr>
          <p:cNvPr id="29" name="">
            <a:extLst xmlns:a="http://schemas.openxmlformats.org/drawingml/2006/main">
              <a:ext uri="{FF2B5EF4-FFF2-40B4-BE49-F238E27FC236}">
                <a16:creationId xmlns:a16="http://schemas.microsoft.com/office/drawing/2014/main" id="{03A294DA-8B30-4A46-9B7C-9D3F78272754}"/>
              </a:ext>
            </a:extLst>
          </p:cNvPr>
          <p:cNvSpPr>
            <a:spLocks xmlns:a="http://schemas.openxmlformats.org/drawingml/2006/main" noGrp="1"/>
          </p:cNvSpPr>
          <p:nvPr/>
        </p:nvSpPr>
        <p:spPr>
          <a:xfrm xmlns:a="http://schemas.openxmlformats.org/drawingml/2006/main">
            <a:off x="7810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D2A4639-8E5B-42D2-A683-09AC80DB33F8}"/>
              </a:ext>
            </a:extLst>
          </p:cNvPr>
          <p:cNvSpPr>
            <a:spLocks xmlns:a="http://schemas.openxmlformats.org/drawingml/2006/main" noGrp="1"/>
          </p:cNvSpPr>
          <p:nvPr/>
        </p:nvSpPr>
        <p:spPr>
          <a:xfrm xmlns:a="http://schemas.openxmlformats.org/drawingml/2006/main">
            <a:off x="8763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Calcium</a:t>
            </a:r>
          </a:p>
        </p:txBody>
      </p:sp>
      <p:sp>
        <p:nvSpPr>
          <p:cNvPr id="31" name="">
            <a:extLst xmlns:a="http://schemas.openxmlformats.org/drawingml/2006/main">
              <a:ext uri="{FF2B5EF4-FFF2-40B4-BE49-F238E27FC236}">
                <a16:creationId xmlns:a16="http://schemas.microsoft.com/office/drawing/2014/main" id="{EB2BF81D-2607-4BFC-A601-7DA41D62225B}"/>
              </a:ext>
            </a:extLst>
          </p:cNvPr>
          <p:cNvSpPr>
            <a:spLocks xmlns:a="http://schemas.openxmlformats.org/drawingml/2006/main" noGrp="1"/>
          </p:cNvSpPr>
          <p:nvPr/>
        </p:nvSpPr>
        <p:spPr>
          <a:xfrm xmlns:a="http://schemas.openxmlformats.org/drawingml/2006/main">
            <a:off x="430530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DAACD47-C52E-4116-A1BA-C1969E252FDA}"/>
              </a:ext>
            </a:extLst>
          </p:cNvPr>
          <p:cNvSpPr>
            <a:spLocks xmlns:a="http://schemas.openxmlformats.org/drawingml/2006/main" noGrp="1"/>
          </p:cNvSpPr>
          <p:nvPr/>
        </p:nvSpPr>
        <p:spPr>
          <a:xfrm xmlns:a="http://schemas.openxmlformats.org/drawingml/2006/main">
            <a:off x="440055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8.9–10.1 mg/dL</a:t>
            </a:r>
          </a:p>
        </p:txBody>
      </p:sp>
      <p:sp>
        <p:nvSpPr>
          <p:cNvPr id="33" name="">
            <a:extLst xmlns:a="http://schemas.openxmlformats.org/drawingml/2006/main">
              <a:ext uri="{FF2B5EF4-FFF2-40B4-BE49-F238E27FC236}">
                <a16:creationId xmlns:a16="http://schemas.microsoft.com/office/drawing/2014/main" id="{7148DC17-3C0E-48D5-A9AC-F4CBCAF70EEE}"/>
              </a:ext>
            </a:extLst>
          </p:cNvPr>
          <p:cNvSpPr>
            <a:spLocks xmlns:a="http://schemas.openxmlformats.org/drawingml/2006/main" noGrp="1"/>
          </p:cNvSpPr>
          <p:nvPr/>
        </p:nvSpPr>
        <p:spPr>
          <a:xfrm xmlns:a="http://schemas.openxmlformats.org/drawingml/2006/main">
            <a:off x="78295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5FA9D2B-42F1-415D-93E5-13D1A4345C9F}"/>
              </a:ext>
            </a:extLst>
          </p:cNvPr>
          <p:cNvSpPr>
            <a:spLocks xmlns:a="http://schemas.openxmlformats.org/drawingml/2006/main" noGrp="1"/>
          </p:cNvSpPr>
          <p:nvPr/>
        </p:nvSpPr>
        <p:spPr>
          <a:xfrm xmlns:a="http://schemas.openxmlformats.org/drawingml/2006/main">
            <a:off x="79248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22"/>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Bone, clotting, nerve signaling, muscle contraction</a:t>
            </a:r>
          </a:p>
        </p:txBody>
      </p:sp>
      <p:sp>
        <p:nvSpPr>
          <p:cNvPr id="35" name="">
            <a:extLst xmlns:a="http://schemas.openxmlformats.org/drawingml/2006/main">
              <a:ext uri="{FF2B5EF4-FFF2-40B4-BE49-F238E27FC236}">
                <a16:creationId xmlns:a16="http://schemas.microsoft.com/office/drawing/2014/main" id="{3E5AF662-936E-4743-A32B-F2923D38293D}"/>
              </a:ext>
            </a:extLst>
          </p:cNvPr>
          <p:cNvSpPr>
            <a:spLocks xmlns:a="http://schemas.openxmlformats.org/drawingml/2006/main" noGrp="1"/>
          </p:cNvSpPr>
          <p:nvPr/>
        </p:nvSpPr>
        <p:spPr>
          <a:xfrm xmlns:a="http://schemas.openxmlformats.org/drawingml/2006/main">
            <a:off x="7810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B3A7C8EE-A8A3-41F3-9650-6E495384C186}"/>
              </a:ext>
            </a:extLst>
          </p:cNvPr>
          <p:cNvSpPr>
            <a:spLocks xmlns:a="http://schemas.openxmlformats.org/drawingml/2006/main" noGrp="1"/>
          </p:cNvSpPr>
          <p:nvPr/>
        </p:nvSpPr>
        <p:spPr>
          <a:xfrm xmlns:a="http://schemas.openxmlformats.org/drawingml/2006/main">
            <a:off x="8763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Magnesium</a:t>
            </a:r>
          </a:p>
        </p:txBody>
      </p:sp>
      <p:sp>
        <p:nvSpPr>
          <p:cNvPr id="37" name="">
            <a:extLst xmlns:a="http://schemas.openxmlformats.org/drawingml/2006/main">
              <a:ext uri="{FF2B5EF4-FFF2-40B4-BE49-F238E27FC236}">
                <a16:creationId xmlns:a16="http://schemas.microsoft.com/office/drawing/2014/main" id="{4F14F82F-2A31-4BD2-BDED-CEC5553323B9}"/>
              </a:ext>
            </a:extLst>
          </p:cNvPr>
          <p:cNvSpPr>
            <a:spLocks xmlns:a="http://schemas.openxmlformats.org/drawingml/2006/main" noGrp="1"/>
          </p:cNvSpPr>
          <p:nvPr/>
        </p:nvSpPr>
        <p:spPr>
          <a:xfrm xmlns:a="http://schemas.openxmlformats.org/drawingml/2006/main">
            <a:off x="430530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559EC9BC-053F-4764-8CA2-FFF13C31BFAB}"/>
              </a:ext>
            </a:extLst>
          </p:cNvPr>
          <p:cNvSpPr>
            <a:spLocks xmlns:a="http://schemas.openxmlformats.org/drawingml/2006/main" noGrp="1"/>
          </p:cNvSpPr>
          <p:nvPr/>
        </p:nvSpPr>
        <p:spPr>
          <a:xfrm xmlns:a="http://schemas.openxmlformats.org/drawingml/2006/main">
            <a:off x="440055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1.5–2.5 mg/dL</a:t>
            </a:r>
          </a:p>
        </p:txBody>
      </p:sp>
      <p:sp>
        <p:nvSpPr>
          <p:cNvPr id="39" name="">
            <a:extLst xmlns:a="http://schemas.openxmlformats.org/drawingml/2006/main">
              <a:ext uri="{FF2B5EF4-FFF2-40B4-BE49-F238E27FC236}">
                <a16:creationId xmlns:a16="http://schemas.microsoft.com/office/drawing/2014/main" id="{7C934669-9FEC-4F1D-9F9B-5BD50CD0A76A}"/>
              </a:ext>
            </a:extLst>
          </p:cNvPr>
          <p:cNvSpPr>
            <a:spLocks xmlns:a="http://schemas.openxmlformats.org/drawingml/2006/main" noGrp="1"/>
          </p:cNvSpPr>
          <p:nvPr/>
        </p:nvSpPr>
        <p:spPr>
          <a:xfrm xmlns:a="http://schemas.openxmlformats.org/drawingml/2006/main">
            <a:off x="78295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EAFB02EE-DCD0-4723-9A13-5805AB8EF206}"/>
              </a:ext>
            </a:extLst>
          </p:cNvPr>
          <p:cNvSpPr>
            <a:spLocks xmlns:a="http://schemas.openxmlformats.org/drawingml/2006/main" noGrp="1"/>
          </p:cNvSpPr>
          <p:nvPr/>
        </p:nvSpPr>
        <p:spPr>
          <a:xfrm xmlns:a="http://schemas.openxmlformats.org/drawingml/2006/main">
            <a:off x="79248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Neuromuscular function and enzyme activity</a:t>
            </a:r>
          </a:p>
        </p:txBody>
      </p:sp>
      <p:sp>
        <p:nvSpPr>
          <p:cNvPr id="41" name="">
            <a:extLst xmlns:a="http://schemas.openxmlformats.org/drawingml/2006/main">
              <a:ext uri="{FF2B5EF4-FFF2-40B4-BE49-F238E27FC236}">
                <a16:creationId xmlns:a16="http://schemas.microsoft.com/office/drawing/2014/main" id="{6C77ED86-19C9-4CD7-BE0C-119ECF25AAAA}"/>
              </a:ext>
            </a:extLst>
          </p:cNvPr>
          <p:cNvSpPr>
            <a:spLocks xmlns:a="http://schemas.openxmlformats.org/drawingml/2006/main" noGrp="1"/>
          </p:cNvSpPr>
          <p:nvPr/>
        </p:nvSpPr>
        <p:spPr>
          <a:xfrm xmlns:a="http://schemas.openxmlformats.org/drawingml/2006/main">
            <a:off x="7810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9D90F626-B80D-4616-B61C-F431A42B09ED}"/>
              </a:ext>
            </a:extLst>
          </p:cNvPr>
          <p:cNvSpPr>
            <a:spLocks xmlns:a="http://schemas.openxmlformats.org/drawingml/2006/main" noGrp="1"/>
          </p:cNvSpPr>
          <p:nvPr/>
        </p:nvSpPr>
        <p:spPr>
          <a:xfrm xmlns:a="http://schemas.openxmlformats.org/drawingml/2006/main">
            <a:off x="8763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Phosphorus</a:t>
            </a:r>
          </a:p>
        </p:txBody>
      </p:sp>
      <p:sp>
        <p:nvSpPr>
          <p:cNvPr id="43" name="">
            <a:extLst xmlns:a="http://schemas.openxmlformats.org/drawingml/2006/main">
              <a:ext uri="{FF2B5EF4-FFF2-40B4-BE49-F238E27FC236}">
                <a16:creationId xmlns:a16="http://schemas.microsoft.com/office/drawing/2014/main" id="{EE0BA40A-4347-4379-87BA-9273F7EEFC02}"/>
              </a:ext>
            </a:extLst>
          </p:cNvPr>
          <p:cNvSpPr>
            <a:spLocks xmlns:a="http://schemas.openxmlformats.org/drawingml/2006/main" noGrp="1"/>
          </p:cNvSpPr>
          <p:nvPr/>
        </p:nvSpPr>
        <p:spPr>
          <a:xfrm xmlns:a="http://schemas.openxmlformats.org/drawingml/2006/main">
            <a:off x="430530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4" name="">
            <a:extLst xmlns:a="http://schemas.openxmlformats.org/drawingml/2006/main">
              <a:ext uri="{FF2B5EF4-FFF2-40B4-BE49-F238E27FC236}">
                <a16:creationId xmlns:a16="http://schemas.microsoft.com/office/drawing/2014/main" id="{C941C71A-1419-46B0-A1AE-ECC7CC3A09A3}"/>
              </a:ext>
            </a:extLst>
          </p:cNvPr>
          <p:cNvSpPr>
            <a:spLocks xmlns:a="http://schemas.openxmlformats.org/drawingml/2006/main" noGrp="1"/>
          </p:cNvSpPr>
          <p:nvPr/>
        </p:nvSpPr>
        <p:spPr>
          <a:xfrm xmlns:a="http://schemas.openxmlformats.org/drawingml/2006/main">
            <a:off x="440055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2.5–4.5 mg/dL</a:t>
            </a:r>
          </a:p>
        </p:txBody>
      </p:sp>
      <p:sp>
        <p:nvSpPr>
          <p:cNvPr id="45" name="">
            <a:extLst xmlns:a="http://schemas.openxmlformats.org/drawingml/2006/main">
              <a:ext uri="{FF2B5EF4-FFF2-40B4-BE49-F238E27FC236}">
                <a16:creationId xmlns:a16="http://schemas.microsoft.com/office/drawing/2014/main" id="{E0A1FBF2-1C9B-4495-9353-E9F662D82629}"/>
              </a:ext>
            </a:extLst>
          </p:cNvPr>
          <p:cNvSpPr>
            <a:spLocks xmlns:a="http://schemas.openxmlformats.org/drawingml/2006/main" noGrp="1"/>
          </p:cNvSpPr>
          <p:nvPr/>
        </p:nvSpPr>
        <p:spPr>
          <a:xfrm xmlns:a="http://schemas.openxmlformats.org/drawingml/2006/main">
            <a:off x="78295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6" name="">
            <a:extLst xmlns:a="http://schemas.openxmlformats.org/drawingml/2006/main">
              <a:ext uri="{FF2B5EF4-FFF2-40B4-BE49-F238E27FC236}">
                <a16:creationId xmlns:a16="http://schemas.microsoft.com/office/drawing/2014/main" id="{2A7834CF-389F-44EF-94A3-50B849BF59C7}"/>
              </a:ext>
            </a:extLst>
          </p:cNvPr>
          <p:cNvSpPr>
            <a:spLocks xmlns:a="http://schemas.openxmlformats.org/drawingml/2006/main" noGrp="1"/>
          </p:cNvSpPr>
          <p:nvPr/>
        </p:nvSpPr>
        <p:spPr>
          <a:xfrm xmlns:a="http://schemas.openxmlformats.org/drawingml/2006/main">
            <a:off x="79248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Energy metabolism, cells, bone, and acid-base buffering</a:t>
            </a:r>
          </a:p>
        </p:txBody>
      </p:sp>
      <p:sp>
        <p:nvSpPr>
          <p:cNvPr id="47" name="">
            <a:extLst xmlns:a="http://schemas.openxmlformats.org/drawingml/2006/main">
              <a:ext uri="{FF2B5EF4-FFF2-40B4-BE49-F238E27FC236}">
                <a16:creationId xmlns:a16="http://schemas.microsoft.com/office/drawing/2014/main" id="{DF32DBE6-8833-4699-81EC-B02C4E24D596}"/>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Reference ranges vary by laboratory, age, specimen type, albumin level, and clinical context. Use the reporting laboratory's range and evaluate trends rather than treating a single value in isolation.</a:t>
            </a:r>
          </a:p>
        </p:txBody>
      </p:sp>
    </p:spTree>
    <p:extLst>
      <p:ext uri="{BB962C8B-B14F-4D97-AF65-F5344CB8AC3E}">
        <p14:creationId xmlns:p14="http://schemas.microsoft.com/office/powerpoint/2010/main" val="14786078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C8539A1-B7EB-440C-B551-302426339F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0D359B-F521-4968-9E4E-71CB4DBBC2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Sodium imbalance affects the brain and fluid balance</a:t>
            </a:r>
          </a:p>
        </p:txBody>
      </p:sp>
      <p:sp>
        <p:nvSpPr>
          <p:cNvPr id="3" name="">
            <a:extLst xmlns:a="http://schemas.openxmlformats.org/drawingml/2006/main">
              <a:ext uri="{FF2B5EF4-FFF2-40B4-BE49-F238E27FC236}">
                <a16:creationId xmlns:a16="http://schemas.microsoft.com/office/drawing/2014/main" id="{0C6F29D2-FD00-4730-8673-F5AED9FCCB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C1119F2-4FE4-4C47-BB5B-E6DBA69AFB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D06350B4-7BEB-4242-B70B-11D37E1EC282}"/>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5C560C8-C3A8-45A5-B062-CD1953DD3B1E}"/>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E0B6E89B-5CAE-4B25-A73D-FECE09CE55A1}"/>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0271FEA-2434-4BB3-A921-105E0B1051BD}"/>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37DBF552-10E9-416D-B3FD-EEB2133DB9EB}"/>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DDD3C83-BB59-4E20-B85F-0A4B45028CD2}"/>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1" name="">
            <a:extLst xmlns:a="http://schemas.openxmlformats.org/drawingml/2006/main">
              <a:ext uri="{FF2B5EF4-FFF2-40B4-BE49-F238E27FC236}">
                <a16:creationId xmlns:a16="http://schemas.microsoft.com/office/drawing/2014/main" id="{8EFF101C-9D54-427C-BDBB-A553D3471307}"/>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E5B1083-A19C-470B-9A26-A57C6913220E}"/>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Hypernatremia</a:t>
            </a:r>
          </a:p>
        </p:txBody>
      </p:sp>
      <p:sp>
        <p:nvSpPr>
          <p:cNvPr id="13" name="">
            <a:extLst xmlns:a="http://schemas.openxmlformats.org/drawingml/2006/main">
              <a:ext uri="{FF2B5EF4-FFF2-40B4-BE49-F238E27FC236}">
                <a16:creationId xmlns:a16="http://schemas.microsoft.com/office/drawing/2014/main" id="{D5F5A7B4-0443-491B-B0EC-D30B9284505D}"/>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D30FAD2-7E11-4563-85CD-3B5B6CA1DAE6}"/>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Thirst, irritability, weakness, altered mental status; severe cases may progress to seizures</a:t>
            </a:r>
          </a:p>
        </p:txBody>
      </p:sp>
      <p:sp>
        <p:nvSpPr>
          <p:cNvPr id="15" name="">
            <a:extLst xmlns:a="http://schemas.openxmlformats.org/drawingml/2006/main">
              <a:ext uri="{FF2B5EF4-FFF2-40B4-BE49-F238E27FC236}">
                <a16:creationId xmlns:a16="http://schemas.microsoft.com/office/drawing/2014/main" id="{6C44DCA2-E6EC-4AF3-9E73-C00CA66067D0}"/>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F68D2C0-1E4B-438B-8D9D-2A3999295959}"/>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water loss, sodium gain, fluid balance, neurologic status, and ordered correction rate</a:t>
            </a:r>
          </a:p>
        </p:txBody>
      </p:sp>
      <p:sp>
        <p:nvSpPr>
          <p:cNvPr id="17" name="">
            <a:extLst xmlns:a="http://schemas.openxmlformats.org/drawingml/2006/main">
              <a:ext uri="{FF2B5EF4-FFF2-40B4-BE49-F238E27FC236}">
                <a16:creationId xmlns:a16="http://schemas.microsoft.com/office/drawing/2014/main" id="{9482F88A-AE8D-4AE1-ACB9-0FB6230D6FC9}"/>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E4A72FD-6FBF-492E-81F1-CDCEEFDB81FB}"/>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Hyponatremia</a:t>
            </a:r>
          </a:p>
        </p:txBody>
      </p:sp>
      <p:sp>
        <p:nvSpPr>
          <p:cNvPr id="19" name="">
            <a:extLst xmlns:a="http://schemas.openxmlformats.org/drawingml/2006/main">
              <a:ext uri="{FF2B5EF4-FFF2-40B4-BE49-F238E27FC236}">
                <a16:creationId xmlns:a16="http://schemas.microsoft.com/office/drawing/2014/main" id="{DCBDCEA4-0FF1-43F5-A594-5F5BB7D29F2A}"/>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E0D468D-D0FB-42BC-8885-58C2B04DB5C4}"/>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Headache, nausea, confusion, fatigue, muscle weakness; severe or rapid decline may cause seizures</a:t>
            </a:r>
          </a:p>
        </p:txBody>
      </p:sp>
      <p:sp>
        <p:nvSpPr>
          <p:cNvPr id="21" name="">
            <a:extLst xmlns:a="http://schemas.openxmlformats.org/drawingml/2006/main">
              <a:ext uri="{FF2B5EF4-FFF2-40B4-BE49-F238E27FC236}">
                <a16:creationId xmlns:a16="http://schemas.microsoft.com/office/drawing/2014/main" id="{92B6E50A-84EE-4FF2-8455-3D13962E3E06}"/>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5471AE7-1151-40EF-80FC-98A57FB44F15}"/>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hypotonic fluids, excess free water, diuretics, GI losses, glucose, and the ordered correction plan</a:t>
            </a:r>
          </a:p>
        </p:txBody>
      </p:sp>
      <p:sp>
        <p:nvSpPr>
          <p:cNvPr id="23" name="">
            <a:extLst xmlns:a="http://schemas.openxmlformats.org/drawingml/2006/main">
              <a:ext uri="{FF2B5EF4-FFF2-40B4-BE49-F238E27FC236}">
                <a16:creationId xmlns:a16="http://schemas.microsoft.com/office/drawing/2014/main" id="{26D73A50-C236-43E2-B08B-D67503983510}"/>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Rapid sodium correction can cause severe neurologic injury. Verify the solution, concentration, pump settings, monitoring schedule, and prescribed rate. Escalate acute neurologic changes immediately.</a:t>
            </a:r>
          </a:p>
        </p:txBody>
      </p:sp>
    </p:spTree>
    <p:extLst>
      <p:ext uri="{BB962C8B-B14F-4D97-AF65-F5344CB8AC3E}">
        <p14:creationId xmlns:p14="http://schemas.microsoft.com/office/powerpoint/2010/main" val="95945831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6D9EBC0-61B0-4FEF-8052-A5D0CB824D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D9195C-92CD-4E7D-9C13-E18D186CEA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imbalance can become a cardiac emergency</a:t>
            </a:r>
          </a:p>
        </p:txBody>
      </p:sp>
      <p:sp>
        <p:nvSpPr>
          <p:cNvPr id="3" name="">
            <a:extLst xmlns:a="http://schemas.openxmlformats.org/drawingml/2006/main">
              <a:ext uri="{FF2B5EF4-FFF2-40B4-BE49-F238E27FC236}">
                <a16:creationId xmlns:a16="http://schemas.microsoft.com/office/drawing/2014/main" id="{53F6514F-0220-428D-8279-84721A7BD3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70668B8-F1B6-4E3E-8252-B0B42224FB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9ED9051F-E8F3-4031-BB0B-B29ECEBEF61C}"/>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66E6094-A918-4702-A2C4-CB281FB1B91E}"/>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E22930DF-DB3B-42D8-85EC-2E51B7645D8A}"/>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B9AC404-4E30-4C5E-8C2F-A3619FBC159B}"/>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827FD2ED-09F5-48D8-94C4-823B2E59A672}"/>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75D2DEF-ABD7-484B-BD2C-60E0F11FD51F}"/>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1" name="">
            <a:extLst xmlns:a="http://schemas.openxmlformats.org/drawingml/2006/main">
              <a:ext uri="{FF2B5EF4-FFF2-40B4-BE49-F238E27FC236}">
                <a16:creationId xmlns:a16="http://schemas.microsoft.com/office/drawing/2014/main" id="{24812AE8-02CC-4A0A-B001-2F8B352819F0}"/>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BB328C6-60FA-4740-A822-1A074A686CC5}"/>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Hyperkalemia</a:t>
            </a:r>
          </a:p>
        </p:txBody>
      </p:sp>
      <p:sp>
        <p:nvSpPr>
          <p:cNvPr id="13" name="">
            <a:extLst xmlns:a="http://schemas.openxmlformats.org/drawingml/2006/main">
              <a:ext uri="{FF2B5EF4-FFF2-40B4-BE49-F238E27FC236}">
                <a16:creationId xmlns:a16="http://schemas.microsoft.com/office/drawing/2014/main" id="{35AA0068-0390-45FE-82D5-5F39A7242462}"/>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54BFC58-EA34-45F5-8795-66694C0F32FA}"/>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weakness, paresthesia, nausea, bradycardia or other dysrhythmias; ECG changes may occur</a:t>
            </a:r>
          </a:p>
        </p:txBody>
      </p:sp>
      <p:sp>
        <p:nvSpPr>
          <p:cNvPr id="15" name="">
            <a:extLst xmlns:a="http://schemas.openxmlformats.org/drawingml/2006/main">
              <a:ext uri="{FF2B5EF4-FFF2-40B4-BE49-F238E27FC236}">
                <a16:creationId xmlns:a16="http://schemas.microsoft.com/office/drawing/2014/main" id="{2C7B7C9C-1584-48E0-9FCF-45FCB32DB568}"/>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EDA2C5F-FE4A-4143-99EE-68445AD6CE96}"/>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and clarify potassium-containing therapy when results or symptoms conflict with the order; obtain urgent assessment</a:t>
            </a:r>
          </a:p>
        </p:txBody>
      </p:sp>
      <p:sp>
        <p:nvSpPr>
          <p:cNvPr id="17" name="">
            <a:extLst xmlns:a="http://schemas.openxmlformats.org/drawingml/2006/main">
              <a:ext uri="{FF2B5EF4-FFF2-40B4-BE49-F238E27FC236}">
                <a16:creationId xmlns:a16="http://schemas.microsoft.com/office/drawing/2014/main" id="{89CB6C13-98F9-428F-94A8-EA5EB308A979}"/>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F01784D-8221-41F5-BF14-A6A360063163}"/>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Hypokalemia</a:t>
            </a:r>
          </a:p>
        </p:txBody>
      </p:sp>
      <p:sp>
        <p:nvSpPr>
          <p:cNvPr id="19" name="">
            <a:extLst xmlns:a="http://schemas.openxmlformats.org/drawingml/2006/main">
              <a:ext uri="{FF2B5EF4-FFF2-40B4-BE49-F238E27FC236}">
                <a16:creationId xmlns:a16="http://schemas.microsoft.com/office/drawing/2014/main" id="{9CFCE347-EB4C-4EBA-931E-2E08567DAC49}"/>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553671C-3351-4884-9BA6-953B9D08DF41}"/>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cramps, constipation, weak or irregular pulse; ECG changes and dysrhythmias may occur</a:t>
            </a:r>
          </a:p>
        </p:txBody>
      </p:sp>
      <p:sp>
        <p:nvSpPr>
          <p:cNvPr id="21" name="">
            <a:extLst xmlns:a="http://schemas.openxmlformats.org/drawingml/2006/main">
              <a:ext uri="{FF2B5EF4-FFF2-40B4-BE49-F238E27FC236}">
                <a16:creationId xmlns:a16="http://schemas.microsoft.com/office/drawing/2014/main" id="{337B6F72-2AA7-450E-836A-EA4909BA0A39}"/>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921B5E6-6E04-4A6A-9745-7C1B67C62146}"/>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GI loss, diuretics, insulin effect, and magnesium; verify replacement concentration and rate</a:t>
            </a:r>
          </a:p>
        </p:txBody>
      </p:sp>
      <p:sp>
        <p:nvSpPr>
          <p:cNvPr id="23" name="">
            <a:extLst xmlns:a="http://schemas.openxmlformats.org/drawingml/2006/main">
              <a:ext uri="{FF2B5EF4-FFF2-40B4-BE49-F238E27FC236}">
                <a16:creationId xmlns:a16="http://schemas.microsoft.com/office/drawing/2014/main" id="{D4AD33B4-2804-40F0-B0A7-EF4EE035FBB4}"/>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Never give potassium by IV push. Use the ordered dilution, route, pump, monitoring, and maximum rate for the care setting. Confirm adequate renal function and urine output as required by policy.</a:t>
            </a:r>
          </a:p>
        </p:txBody>
      </p:sp>
    </p:spTree>
    <p:extLst>
      <p:ext uri="{BB962C8B-B14F-4D97-AF65-F5344CB8AC3E}">
        <p14:creationId xmlns:p14="http://schemas.microsoft.com/office/powerpoint/2010/main" val="158824930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8BD7C7D-A734-4828-8272-E50B3548737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2CAE4C-F11A-4B9C-958A-E619FB7F30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3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Calcium imbalance changes neuromuscular and cardiac function</a:t>
            </a:r>
          </a:p>
        </p:txBody>
      </p:sp>
      <p:sp>
        <p:nvSpPr>
          <p:cNvPr id="3" name="">
            <a:extLst xmlns:a="http://schemas.openxmlformats.org/drawingml/2006/main">
              <a:ext uri="{FF2B5EF4-FFF2-40B4-BE49-F238E27FC236}">
                <a16:creationId xmlns:a16="http://schemas.microsoft.com/office/drawing/2014/main" id="{A3F6B275-0A48-4B5C-8A4B-82422092F2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2C85590-524A-4178-BFD5-252A0521D7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54D4B62-D23A-49CC-B7AB-4D603DA0A30D}"/>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A04DE70-BD19-4B9E-8DC9-42119658BEB7}"/>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C3D81A79-C18F-4C98-ACC4-3BB439770050}"/>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47ECC81-45F1-425A-BE17-C7AA3363C0E2}"/>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38FE76EB-E8DA-41B5-A90C-2D27B6999D2F}"/>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8C0C79C-D056-4ACD-BC09-298D80846DC5}"/>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1" name="">
            <a:extLst xmlns:a="http://schemas.openxmlformats.org/drawingml/2006/main">
              <a:ext uri="{FF2B5EF4-FFF2-40B4-BE49-F238E27FC236}">
                <a16:creationId xmlns:a16="http://schemas.microsoft.com/office/drawing/2014/main" id="{90553677-539F-4C74-A2AB-9728841AD178}"/>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D475620-E63B-4DE3-9F1C-6036FC11D846}"/>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Hypercalcemia</a:t>
            </a:r>
          </a:p>
        </p:txBody>
      </p:sp>
      <p:sp>
        <p:nvSpPr>
          <p:cNvPr id="13" name="">
            <a:extLst xmlns:a="http://schemas.openxmlformats.org/drawingml/2006/main">
              <a:ext uri="{FF2B5EF4-FFF2-40B4-BE49-F238E27FC236}">
                <a16:creationId xmlns:a16="http://schemas.microsoft.com/office/drawing/2014/main" id="{3EF7E61C-1222-490F-BA68-597D08B1619A}"/>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4BE08F8-D527-445D-A941-CBCB466C91BB}"/>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Fatigue, weakness, nausea, constipation, dehydration, confusion, shortened QT or dysrhythmia</a:t>
            </a:r>
          </a:p>
        </p:txBody>
      </p:sp>
      <p:sp>
        <p:nvSpPr>
          <p:cNvPr id="15" name="">
            <a:extLst xmlns:a="http://schemas.openxmlformats.org/drawingml/2006/main">
              <a:ext uri="{FF2B5EF4-FFF2-40B4-BE49-F238E27FC236}">
                <a16:creationId xmlns:a16="http://schemas.microsoft.com/office/drawing/2014/main" id="{03536684-A0AC-4D21-AB10-BF2B0E8C9555}"/>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223844D-619E-4D17-B5A9-D5B66DB5E9F8}"/>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hydration, renal function, medications, ECG when indicated, and the ordered treatment response</a:t>
            </a:r>
          </a:p>
        </p:txBody>
      </p:sp>
      <p:sp>
        <p:nvSpPr>
          <p:cNvPr id="17" name="">
            <a:extLst xmlns:a="http://schemas.openxmlformats.org/drawingml/2006/main">
              <a:ext uri="{FF2B5EF4-FFF2-40B4-BE49-F238E27FC236}">
                <a16:creationId xmlns:a16="http://schemas.microsoft.com/office/drawing/2014/main" id="{17390ED4-B7A2-438E-A5E4-EEC25718E947}"/>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7C9C84E-E7A7-4F18-9B65-D43639CD9F13}"/>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Hypocalcemia</a:t>
            </a:r>
          </a:p>
        </p:txBody>
      </p:sp>
      <p:sp>
        <p:nvSpPr>
          <p:cNvPr id="19" name="">
            <a:extLst xmlns:a="http://schemas.openxmlformats.org/drawingml/2006/main">
              <a:ext uri="{FF2B5EF4-FFF2-40B4-BE49-F238E27FC236}">
                <a16:creationId xmlns:a16="http://schemas.microsoft.com/office/drawing/2014/main" id="{A9A7B363-43F0-43C0-8350-7A4E894481B5}"/>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DEC2C2E-E8B1-47E8-9CEC-3020EC4CB979}"/>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Perioral or fingertip tingling, cramps, tetany, hyperreflexia, possible laryngospasm, prolonged QT or dysrhythmia</a:t>
            </a:r>
          </a:p>
        </p:txBody>
      </p:sp>
      <p:sp>
        <p:nvSpPr>
          <p:cNvPr id="21" name="">
            <a:extLst xmlns:a="http://schemas.openxmlformats.org/drawingml/2006/main">
              <a:ext uri="{FF2B5EF4-FFF2-40B4-BE49-F238E27FC236}">
                <a16:creationId xmlns:a16="http://schemas.microsoft.com/office/drawing/2014/main" id="{CDF4CFD1-7189-40CD-817D-F5224664F45A}"/>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B179E02-43E8-4372-87F1-0FA0F9EB3E6A}"/>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 airway symptoms, seizures, tetany, or ECG changes; verify calcium product and compatibility</a:t>
            </a:r>
          </a:p>
        </p:txBody>
      </p:sp>
      <p:sp>
        <p:nvSpPr>
          <p:cNvPr id="23" name="">
            <a:extLst xmlns:a="http://schemas.openxmlformats.org/drawingml/2006/main">
              <a:ext uri="{FF2B5EF4-FFF2-40B4-BE49-F238E27FC236}">
                <a16:creationId xmlns:a16="http://schemas.microsoft.com/office/drawing/2014/main" id="{5E32F81D-1041-40B5-8B12-351CCD051AF3}"/>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Total calcium may be influenced by albumin. Ionized calcium may better reflect physiologically active calcium in selected patients. IV calcium products are not interchangeable and require order-specific administration.</a:t>
            </a:r>
          </a:p>
        </p:txBody>
      </p:sp>
    </p:spTree>
    <p:extLst>
      <p:ext uri="{BB962C8B-B14F-4D97-AF65-F5344CB8AC3E}">
        <p14:creationId xmlns:p14="http://schemas.microsoft.com/office/powerpoint/2010/main" val="1330104145"/>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784193E-9AA0-449B-B7C5-8D298460AC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B0C47E-AE4C-48D5-B29B-1BB5BB4DF6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Magnesium and phosphorus support muscle, nerve, and cellular energy</a:t>
            </a:r>
          </a:p>
        </p:txBody>
      </p:sp>
      <p:sp>
        <p:nvSpPr>
          <p:cNvPr id="3" name="">
            <a:extLst xmlns:a="http://schemas.openxmlformats.org/drawingml/2006/main">
              <a:ext uri="{FF2B5EF4-FFF2-40B4-BE49-F238E27FC236}">
                <a16:creationId xmlns:a16="http://schemas.microsoft.com/office/drawing/2014/main" id="{D3092B1D-4DFB-4E79-AEFE-D6C9454709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C506974-BDB3-46A5-92FF-3BFE9AA5E38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C13A2DD1-7A1F-4F96-84E4-D38202CCD719}"/>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B997E27-5425-4187-9E18-E1CF8341FEF1}"/>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Imbalance</a:t>
            </a:r>
          </a:p>
        </p:txBody>
      </p:sp>
      <p:sp>
        <p:nvSpPr>
          <p:cNvPr id="7" name="">
            <a:extLst xmlns:a="http://schemas.openxmlformats.org/drawingml/2006/main">
              <a:ext uri="{FF2B5EF4-FFF2-40B4-BE49-F238E27FC236}">
                <a16:creationId xmlns:a16="http://schemas.microsoft.com/office/drawing/2014/main" id="{7312EA9C-F7C8-448E-A4C1-D1E4533C4017}"/>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A3EB4BD-EB93-4ED6-940D-D47204C1DE12}"/>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764C690D-1861-4B38-B481-D68BAA61B0E7}"/>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A48EEEF-FB18-46C2-9AEA-76046515392A}"/>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a:t>
            </a:r>
          </a:p>
        </p:txBody>
      </p:sp>
      <p:sp>
        <p:nvSpPr>
          <p:cNvPr id="11" name="">
            <a:extLst xmlns:a="http://schemas.openxmlformats.org/drawingml/2006/main">
              <a:ext uri="{FF2B5EF4-FFF2-40B4-BE49-F238E27FC236}">
                <a16:creationId xmlns:a16="http://schemas.microsoft.com/office/drawing/2014/main" id="{F59D034E-432E-4987-849B-3E899555870A}"/>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425F284-3491-4027-9157-C9E9031615EC}"/>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magnesium</a:t>
            </a:r>
          </a:p>
        </p:txBody>
      </p:sp>
      <p:sp>
        <p:nvSpPr>
          <p:cNvPr id="13" name="">
            <a:extLst xmlns:a="http://schemas.openxmlformats.org/drawingml/2006/main">
              <a:ext uri="{FF2B5EF4-FFF2-40B4-BE49-F238E27FC236}">
                <a16:creationId xmlns:a16="http://schemas.microsoft.com/office/drawing/2014/main" id="{CEC16921-662D-4D9D-8194-27E7AB7A1E1F}"/>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CE3E566-F934-4571-AE18-2DF68768DB39}"/>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Lethargy, weakness, hypotension, bradycardia, reduced reflexes, respiratory depression</a:t>
            </a:r>
          </a:p>
        </p:txBody>
      </p:sp>
      <p:sp>
        <p:nvSpPr>
          <p:cNvPr id="15" name="">
            <a:extLst xmlns:a="http://schemas.openxmlformats.org/drawingml/2006/main">
              <a:ext uri="{FF2B5EF4-FFF2-40B4-BE49-F238E27FC236}">
                <a16:creationId xmlns:a16="http://schemas.microsoft.com/office/drawing/2014/main" id="{F05DE452-97E7-444C-B22F-96A886689909}"/>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B69662D-09BC-4D87-9E60-4BD939A29866}"/>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3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magnesium therapy when authorized, assess airway and circulation, notify immediately, and follow the emergency protocol</a:t>
            </a:r>
          </a:p>
        </p:txBody>
      </p:sp>
      <p:sp>
        <p:nvSpPr>
          <p:cNvPr id="17" name="">
            <a:extLst xmlns:a="http://schemas.openxmlformats.org/drawingml/2006/main">
              <a:ext uri="{FF2B5EF4-FFF2-40B4-BE49-F238E27FC236}">
                <a16:creationId xmlns:a16="http://schemas.microsoft.com/office/drawing/2014/main" id="{9BBABEC1-70AA-47F0-8F41-BDA7FA7AB379}"/>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CA58B16-617B-4F09-92B1-F010FEE5E027}"/>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magnesium</a:t>
            </a:r>
          </a:p>
        </p:txBody>
      </p:sp>
      <p:sp>
        <p:nvSpPr>
          <p:cNvPr id="19" name="">
            <a:extLst xmlns:a="http://schemas.openxmlformats.org/drawingml/2006/main">
              <a:ext uri="{FF2B5EF4-FFF2-40B4-BE49-F238E27FC236}">
                <a16:creationId xmlns:a16="http://schemas.microsoft.com/office/drawing/2014/main" id="{02D13E40-8A1E-4D86-8A74-94E8EA1E5D31}"/>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9DA38A7-98C3-44E4-B019-2A5A1706AECD}"/>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Tremor, cramps, hyperreflexia, confusion, seizures, prolonged QT or dysrhythmias</a:t>
            </a:r>
          </a:p>
        </p:txBody>
      </p:sp>
      <p:sp>
        <p:nvSpPr>
          <p:cNvPr id="21" name="">
            <a:extLst xmlns:a="http://schemas.openxmlformats.org/drawingml/2006/main">
              <a:ext uri="{FF2B5EF4-FFF2-40B4-BE49-F238E27FC236}">
                <a16:creationId xmlns:a16="http://schemas.microsoft.com/office/drawing/2014/main" id="{D13E94E5-9329-435A-9FB7-2AE635E7085B}"/>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3D8EC53-0177-4545-A58E-F9DEAA36C020}"/>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related potassium and calcium abnormalities; verify replacement rate and monitoring</a:t>
            </a:r>
          </a:p>
        </p:txBody>
      </p:sp>
      <p:sp>
        <p:nvSpPr>
          <p:cNvPr id="23" name="">
            <a:extLst xmlns:a="http://schemas.openxmlformats.org/drawingml/2006/main">
              <a:ext uri="{FF2B5EF4-FFF2-40B4-BE49-F238E27FC236}">
                <a16:creationId xmlns:a16="http://schemas.microsoft.com/office/drawing/2014/main" id="{81836000-B8D3-4F94-86E5-701655961B0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8418D3A-68EA-45F5-9A48-353E1A92EF7A}"/>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phosphorus</a:t>
            </a:r>
          </a:p>
        </p:txBody>
      </p:sp>
      <p:sp>
        <p:nvSpPr>
          <p:cNvPr id="25" name="">
            <a:extLst xmlns:a="http://schemas.openxmlformats.org/drawingml/2006/main">
              <a:ext uri="{FF2B5EF4-FFF2-40B4-BE49-F238E27FC236}">
                <a16:creationId xmlns:a16="http://schemas.microsoft.com/office/drawing/2014/main" id="{E67C64C2-50BC-4BB9-A7D4-98FE385E7E5F}"/>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890EAEE-4C0C-4BAE-B33F-715C3097517C}"/>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reflects renal dysfunction; symptoms may relate to low calcium, including tingling, cramps, or tetany</a:t>
            </a:r>
          </a:p>
        </p:txBody>
      </p:sp>
      <p:sp>
        <p:nvSpPr>
          <p:cNvPr id="27" name="">
            <a:extLst xmlns:a="http://schemas.openxmlformats.org/drawingml/2006/main">
              <a:ext uri="{FF2B5EF4-FFF2-40B4-BE49-F238E27FC236}">
                <a16:creationId xmlns:a16="http://schemas.microsoft.com/office/drawing/2014/main" id="{EC5F5C63-0276-4B09-A2A9-040378AD7656}"/>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42678C4-185A-44FA-A656-5CF639F76475}"/>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renal function, calcium, medications, and the prescribed plan</a:t>
            </a:r>
          </a:p>
        </p:txBody>
      </p:sp>
      <p:sp>
        <p:nvSpPr>
          <p:cNvPr id="29" name="">
            <a:extLst xmlns:a="http://schemas.openxmlformats.org/drawingml/2006/main">
              <a:ext uri="{FF2B5EF4-FFF2-40B4-BE49-F238E27FC236}">
                <a16:creationId xmlns:a16="http://schemas.microsoft.com/office/drawing/2014/main" id="{09D8BD60-8DA8-4516-B3D6-60D53C295BE9}"/>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02BAB27-0496-448D-B1E3-9F8DB0CDA98F}"/>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phosphorus</a:t>
            </a:r>
          </a:p>
        </p:txBody>
      </p:sp>
      <p:sp>
        <p:nvSpPr>
          <p:cNvPr id="31" name="">
            <a:extLst xmlns:a="http://schemas.openxmlformats.org/drawingml/2006/main">
              <a:ext uri="{FF2B5EF4-FFF2-40B4-BE49-F238E27FC236}">
                <a16:creationId xmlns:a16="http://schemas.microsoft.com/office/drawing/2014/main" id="{41B85A36-7180-493C-9BA3-8FB54C873C63}"/>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516BB2E3-52D3-4C32-A00B-23DEB75C942A}"/>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confusion, impaired respiratory muscle function, rhabdomyolysis in severe cases</a:t>
            </a:r>
          </a:p>
        </p:txBody>
      </p:sp>
      <p:sp>
        <p:nvSpPr>
          <p:cNvPr id="33" name="">
            <a:extLst xmlns:a="http://schemas.openxmlformats.org/drawingml/2006/main">
              <a:ext uri="{FF2B5EF4-FFF2-40B4-BE49-F238E27FC236}">
                <a16:creationId xmlns:a16="http://schemas.microsoft.com/office/drawing/2014/main" id="{9A018447-DEDE-47FC-8193-216CBCD4FF7B}"/>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6237921-16BD-43E4-8FB6-1341AB0AEEE4}"/>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nutrition and refeeding risk; verify replacement product, route, and monitoring</a:t>
            </a:r>
          </a:p>
        </p:txBody>
      </p:sp>
    </p:spTree>
    <p:extLst>
      <p:ext uri="{BB962C8B-B14F-4D97-AF65-F5344CB8AC3E}">
        <p14:creationId xmlns:p14="http://schemas.microsoft.com/office/powerpoint/2010/main" val="102898440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9855B0D-CF3B-429C-8123-55B4957AC1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8EB556E-6B99-4B18-9289-0AF2383345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Chloride findings must be interpreted with sodium and acid-base status</a:t>
            </a:r>
          </a:p>
        </p:txBody>
      </p:sp>
      <p:sp>
        <p:nvSpPr>
          <p:cNvPr id="3" name="">
            <a:extLst xmlns:a="http://schemas.openxmlformats.org/drawingml/2006/main">
              <a:ext uri="{FF2B5EF4-FFF2-40B4-BE49-F238E27FC236}">
                <a16:creationId xmlns:a16="http://schemas.microsoft.com/office/drawing/2014/main" id="{0051A492-435E-44EE-8A68-1A5AE68778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66D7FDA-D5F9-4C30-AB8F-D93108E79F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1145E678-B228-4916-A5DB-D87BC34EC138}"/>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439E8D9-B77D-4F48-AF29-41A1DA700B8F}"/>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7E59FFBD-2B63-4118-800C-508ABBB7F6CE}"/>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A934D11-89A0-4946-AFB4-56F3897E3E42}"/>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clinical association</a:t>
            </a:r>
          </a:p>
        </p:txBody>
      </p:sp>
      <p:sp>
        <p:nvSpPr>
          <p:cNvPr id="9" name="">
            <a:extLst xmlns:a="http://schemas.openxmlformats.org/drawingml/2006/main">
              <a:ext uri="{FF2B5EF4-FFF2-40B4-BE49-F238E27FC236}">
                <a16:creationId xmlns:a16="http://schemas.microsoft.com/office/drawing/2014/main" id="{8EADE7D6-74CA-421A-AF8B-0BFB2F9160A6}"/>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ED2DE0E-38B1-4315-B74A-D10BB1088BEE}"/>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focus</a:t>
            </a:r>
          </a:p>
        </p:txBody>
      </p:sp>
      <p:sp>
        <p:nvSpPr>
          <p:cNvPr id="11" name="">
            <a:extLst xmlns:a="http://schemas.openxmlformats.org/drawingml/2006/main">
              <a:ext uri="{FF2B5EF4-FFF2-40B4-BE49-F238E27FC236}">
                <a16:creationId xmlns:a16="http://schemas.microsoft.com/office/drawing/2014/main" id="{57FB28AD-CBB2-4D33-A62D-809A006BEEF4}"/>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3392BF8-A535-4624-B010-AEF03A8FAAEB}"/>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Hyperchloremia</a:t>
            </a:r>
          </a:p>
        </p:txBody>
      </p:sp>
      <p:sp>
        <p:nvSpPr>
          <p:cNvPr id="13" name="">
            <a:extLst xmlns:a="http://schemas.openxmlformats.org/drawingml/2006/main">
              <a:ext uri="{FF2B5EF4-FFF2-40B4-BE49-F238E27FC236}">
                <a16:creationId xmlns:a16="http://schemas.microsoft.com/office/drawing/2014/main" id="{6F6B9A1A-B3AF-482C-A855-A2961D083DE8}"/>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DD0A94A-0FAC-4719-BA17-F3A4E1067642}"/>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dehydration, bicarbonate loss, renal dysfunction, or large chloride loads</a:t>
            </a:r>
          </a:p>
        </p:txBody>
      </p:sp>
      <p:sp>
        <p:nvSpPr>
          <p:cNvPr id="15" name="">
            <a:extLst xmlns:a="http://schemas.openxmlformats.org/drawingml/2006/main">
              <a:ext uri="{FF2B5EF4-FFF2-40B4-BE49-F238E27FC236}">
                <a16:creationId xmlns:a16="http://schemas.microsoft.com/office/drawing/2014/main" id="{0F23A953-4608-4A65-9AB3-711C524A9953}"/>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0ECF90D-43AA-48ED-9328-B070B9184E30}"/>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type and volume, sodium, bicarbonate or total CO₂, renal function, and breathing pattern</a:t>
            </a:r>
          </a:p>
        </p:txBody>
      </p:sp>
      <p:sp>
        <p:nvSpPr>
          <p:cNvPr id="17" name="">
            <a:extLst xmlns:a="http://schemas.openxmlformats.org/drawingml/2006/main">
              <a:ext uri="{FF2B5EF4-FFF2-40B4-BE49-F238E27FC236}">
                <a16:creationId xmlns:a16="http://schemas.microsoft.com/office/drawing/2014/main" id="{9A31338D-9FF9-4C79-B117-2F4A534AC73A}"/>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52F8467-60FD-4F9E-9C2A-F3D605912E0E}"/>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Hypochloremia</a:t>
            </a:r>
          </a:p>
        </p:txBody>
      </p:sp>
      <p:sp>
        <p:nvSpPr>
          <p:cNvPr id="19" name="">
            <a:extLst xmlns:a="http://schemas.openxmlformats.org/drawingml/2006/main">
              <a:ext uri="{FF2B5EF4-FFF2-40B4-BE49-F238E27FC236}">
                <a16:creationId xmlns:a16="http://schemas.microsoft.com/office/drawing/2014/main" id="{DE166702-94FE-47E5-BC44-48D0006B6D3A}"/>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4AD8647-C00C-4E7A-B63B-33F13FEB64A0}"/>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vomiting, gastric suction, diuretics, or dilution</a:t>
            </a:r>
          </a:p>
        </p:txBody>
      </p:sp>
      <p:sp>
        <p:nvSpPr>
          <p:cNvPr id="21" name="">
            <a:extLst xmlns:a="http://schemas.openxmlformats.org/drawingml/2006/main">
              <a:ext uri="{FF2B5EF4-FFF2-40B4-BE49-F238E27FC236}">
                <a16:creationId xmlns:a16="http://schemas.microsoft.com/office/drawing/2014/main" id="{7D244E22-8AEF-4290-A335-976FE7CC82A3}"/>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59C58BE-F97F-4E9D-8EE7-03C1BA46CCCF}"/>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losses, sodium, potassium, bicarbonate or total CO₂, and neuromuscular symptoms</a:t>
            </a:r>
          </a:p>
        </p:txBody>
      </p:sp>
      <p:sp>
        <p:nvSpPr>
          <p:cNvPr id="23" name="">
            <a:extLst xmlns:a="http://schemas.openxmlformats.org/drawingml/2006/main">
              <a:ext uri="{FF2B5EF4-FFF2-40B4-BE49-F238E27FC236}">
                <a16:creationId xmlns:a16="http://schemas.microsoft.com/office/drawing/2014/main" id="{BEDAB814-9AC0-478F-9585-0A2D225F9568}"/>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Chloride abnormalities rarely stand alone. Evaluate the complete metabolic panel, fluid balance, clinical condition, and ordered IV solution before acting.</a:t>
            </a:r>
          </a:p>
        </p:txBody>
      </p:sp>
    </p:spTree>
    <p:extLst>
      <p:ext uri="{BB962C8B-B14F-4D97-AF65-F5344CB8AC3E}">
        <p14:creationId xmlns:p14="http://schemas.microsoft.com/office/powerpoint/2010/main" val="2004142857"/>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8C47402-FE20-4531-9F9F-6E55CE08DF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ADEB56-E1C3-4C0C-8A43-61220F0FF8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Electrolyte result safety check</a:t>
            </a:r>
          </a:p>
        </p:txBody>
      </p:sp>
      <p:sp>
        <p:nvSpPr>
          <p:cNvPr id="3" name="">
            <a:extLst xmlns:a="http://schemas.openxmlformats.org/drawingml/2006/main">
              <a:ext uri="{FF2B5EF4-FFF2-40B4-BE49-F238E27FC236}">
                <a16:creationId xmlns:a16="http://schemas.microsoft.com/office/drawing/2014/main" id="{B3236935-476A-452D-B85A-F6EDC86261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7BCBF39-A914-489A-9E15-868BA1B56E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BD5CE5A3-9F01-41D0-B70F-EF925B31588E}"/>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8A3547B-A034-4B70-85A8-F5DD60C6D3E5}"/>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4C4F88C7-305A-42F4-9CC7-9109B6A90342}"/>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D17AC43-84C9-4075-B6FE-22E5EF1714AB}"/>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question</a:t>
            </a:r>
          </a:p>
        </p:txBody>
      </p:sp>
      <p:sp>
        <p:nvSpPr>
          <p:cNvPr id="9" name="">
            <a:extLst xmlns:a="http://schemas.openxmlformats.org/drawingml/2006/main">
              <a:ext uri="{FF2B5EF4-FFF2-40B4-BE49-F238E27FC236}">
                <a16:creationId xmlns:a16="http://schemas.microsoft.com/office/drawing/2014/main" id="{87294C44-FAAF-4AF4-8A8E-EE0473E1EDF5}"/>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FDDF84B-B599-4865-8EEB-4E4F21B29D6F}"/>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a:t>
            </a:r>
          </a:p>
        </p:txBody>
      </p:sp>
      <p:sp>
        <p:nvSpPr>
          <p:cNvPr id="11" name="">
            <a:extLst xmlns:a="http://schemas.openxmlformats.org/drawingml/2006/main">
              <a:ext uri="{FF2B5EF4-FFF2-40B4-BE49-F238E27FC236}">
                <a16:creationId xmlns:a16="http://schemas.microsoft.com/office/drawing/2014/main" id="{E1D89062-B1DC-4A56-ABE8-879D7E8089AD}"/>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9A17CBE-ADBB-43C5-8EDE-77B1E0F3BE85}"/>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result belong to this patient, and could hemolysis or collection error affect it?</a:t>
            </a:r>
          </a:p>
        </p:txBody>
      </p:sp>
      <p:sp>
        <p:nvSpPr>
          <p:cNvPr id="13" name="">
            <a:extLst xmlns:a="http://schemas.openxmlformats.org/drawingml/2006/main">
              <a:ext uri="{FF2B5EF4-FFF2-40B4-BE49-F238E27FC236}">
                <a16:creationId xmlns:a16="http://schemas.microsoft.com/office/drawing/2014/main" id="{BE68A650-082E-4CE1-8762-821602E13F77}"/>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56DCE13-87B4-4458-BBF6-92363917D309}"/>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5" name="">
            <a:extLst xmlns:a="http://schemas.openxmlformats.org/drawingml/2006/main">
              <a:ext uri="{FF2B5EF4-FFF2-40B4-BE49-F238E27FC236}">
                <a16:creationId xmlns:a16="http://schemas.microsoft.com/office/drawing/2014/main" id="{1838CCF9-00FB-4016-99D7-C3EDE94D26AF}"/>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0A0BE29-66B9-4579-9530-76D8F89C00E7}"/>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patient have neurologic, cardiac, respiratory, or neuromuscular changes?</a:t>
            </a:r>
          </a:p>
        </p:txBody>
      </p:sp>
      <p:sp>
        <p:nvSpPr>
          <p:cNvPr id="17" name="">
            <a:extLst xmlns:a="http://schemas.openxmlformats.org/drawingml/2006/main">
              <a:ext uri="{FF2B5EF4-FFF2-40B4-BE49-F238E27FC236}">
                <a16:creationId xmlns:a16="http://schemas.microsoft.com/office/drawing/2014/main" id="{412E6252-51FB-4CE7-8C03-CAECACA778F2}"/>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1BDC1E4-99C8-4BFC-A65B-501F46219B17}"/>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Connect</a:t>
            </a:r>
          </a:p>
        </p:txBody>
      </p:sp>
      <p:sp>
        <p:nvSpPr>
          <p:cNvPr id="19" name="">
            <a:extLst xmlns:a="http://schemas.openxmlformats.org/drawingml/2006/main">
              <a:ext uri="{FF2B5EF4-FFF2-40B4-BE49-F238E27FC236}">
                <a16:creationId xmlns:a16="http://schemas.microsoft.com/office/drawing/2014/main" id="{9EDAB28F-94AE-42E3-947A-DFEF985E927D}"/>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D9B7D23-75D2-4D03-B43D-B9E0A700F69F}"/>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fluids, medications, losses, renal changes, or nutrition therapies may contribute?</a:t>
            </a:r>
          </a:p>
        </p:txBody>
      </p:sp>
      <p:sp>
        <p:nvSpPr>
          <p:cNvPr id="21" name="">
            <a:extLst xmlns:a="http://schemas.openxmlformats.org/drawingml/2006/main">
              <a:ext uri="{FF2B5EF4-FFF2-40B4-BE49-F238E27FC236}">
                <a16:creationId xmlns:a16="http://schemas.microsoft.com/office/drawing/2014/main" id="{FDC28268-1E44-4337-8CE5-1B88B9C3C7A3}"/>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40E0F59-99BB-450A-B9DE-482220F7E4F7}"/>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a:t>
            </a:r>
          </a:p>
        </p:txBody>
      </p:sp>
      <p:sp>
        <p:nvSpPr>
          <p:cNvPr id="23" name="">
            <a:extLst xmlns:a="http://schemas.openxmlformats.org/drawingml/2006/main">
              <a:ext uri="{FF2B5EF4-FFF2-40B4-BE49-F238E27FC236}">
                <a16:creationId xmlns:a16="http://schemas.microsoft.com/office/drawing/2014/main" id="{F89219E9-6EF0-423A-8637-88C8774A5E53}"/>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3D1A4B4-B676-4C7F-B0BD-8707CCB3ADC6}"/>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Should an infusion be stopped or held under policy while the result is clarified?</a:t>
            </a:r>
          </a:p>
        </p:txBody>
      </p:sp>
      <p:sp>
        <p:nvSpPr>
          <p:cNvPr id="25" name="">
            <a:extLst xmlns:a="http://schemas.openxmlformats.org/drawingml/2006/main">
              <a:ext uri="{FF2B5EF4-FFF2-40B4-BE49-F238E27FC236}">
                <a16:creationId xmlns:a16="http://schemas.microsoft.com/office/drawing/2014/main" id="{25ED996A-8007-4A94-9517-E8AA16A88A14}"/>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273A2FF-8D0F-4674-A796-01B8C268D759}"/>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7" name="">
            <a:extLst xmlns:a="http://schemas.openxmlformats.org/drawingml/2006/main">
              <a:ext uri="{FF2B5EF4-FFF2-40B4-BE49-F238E27FC236}">
                <a16:creationId xmlns:a16="http://schemas.microsoft.com/office/drawing/2014/main" id="{E5DC8839-43BF-442F-B518-D54822031D81}"/>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7A81CED-7D59-420F-85F7-7D4BA0C7F789}"/>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finding requires immediate RN, prescriber, rapid-response, or emergency notification?</a:t>
            </a:r>
          </a:p>
        </p:txBody>
      </p:sp>
      <p:sp>
        <p:nvSpPr>
          <p:cNvPr id="29" name="">
            <a:extLst xmlns:a="http://schemas.openxmlformats.org/drawingml/2006/main">
              <a:ext uri="{FF2B5EF4-FFF2-40B4-BE49-F238E27FC236}">
                <a16:creationId xmlns:a16="http://schemas.microsoft.com/office/drawing/2014/main" id="{E81CBA0F-6C10-437B-B6D6-7F668DF368EE}"/>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Treat the patient and verified clinical data together. Do not independently select a replacement product, concentration, or rate outside the nurse's authorized role.</a:t>
            </a:r>
          </a:p>
        </p:txBody>
      </p:sp>
    </p:spTree>
    <p:extLst>
      <p:ext uri="{BB962C8B-B14F-4D97-AF65-F5344CB8AC3E}">
        <p14:creationId xmlns:p14="http://schemas.microsoft.com/office/powerpoint/2010/main" val="477746860"/>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4052F9D-3A39-47D5-B33F-863069F09D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A421E1-A41D-4B05-9548-E6FAAE1A91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3" name="">
            <a:extLst xmlns:a="http://schemas.openxmlformats.org/drawingml/2006/main">
              <a:ext uri="{FF2B5EF4-FFF2-40B4-BE49-F238E27FC236}">
                <a16:creationId xmlns:a16="http://schemas.microsoft.com/office/drawing/2014/main" id="{504AFF13-A08E-4557-82A8-3ED2CD6959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25691B6-6F3A-4B13-A852-D364959189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306BC75D-6F18-45C4-B98D-692C16D18FB5}"/>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DA5D7E6-AC36-4C03-9B02-06975F71818F}"/>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7" name="">
            <a:extLst xmlns:a="http://schemas.openxmlformats.org/drawingml/2006/main">
              <a:ext uri="{FF2B5EF4-FFF2-40B4-BE49-F238E27FC236}">
                <a16:creationId xmlns:a16="http://schemas.microsoft.com/office/drawing/2014/main" id="{1559F123-C7AC-403B-BEF9-1C5BCE4EFA14}"/>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94E761E-DF81-477F-8479-F2036159B278}"/>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9" name="">
            <a:extLst xmlns:a="http://schemas.openxmlformats.org/drawingml/2006/main">
              <a:ext uri="{FF2B5EF4-FFF2-40B4-BE49-F238E27FC236}">
                <a16:creationId xmlns:a16="http://schemas.microsoft.com/office/drawing/2014/main" id="{985FC7AE-9929-42FF-9537-A1939F18A63F}"/>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D178616-9BE0-40AB-A180-C298F6CDF5D1}"/>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1" name="">
            <a:extLst xmlns:a="http://schemas.openxmlformats.org/drawingml/2006/main">
              <a:ext uri="{FF2B5EF4-FFF2-40B4-BE49-F238E27FC236}">
                <a16:creationId xmlns:a16="http://schemas.microsoft.com/office/drawing/2014/main" id="{A2DC684B-984D-4009-BBE6-AF12BC0E1A75}"/>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A7B50C0-46A0-496D-B0DF-0287A8E0DF39}"/>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3" name="">
            <a:extLst xmlns:a="http://schemas.openxmlformats.org/drawingml/2006/main">
              <a:ext uri="{FF2B5EF4-FFF2-40B4-BE49-F238E27FC236}">
                <a16:creationId xmlns:a16="http://schemas.microsoft.com/office/drawing/2014/main" id="{6F3FCA9F-6FEA-45EA-93F4-29B028D58114}"/>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89E2AE8-AA5C-457E-A0E8-A49345368A93}"/>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5" name="">
            <a:extLst xmlns:a="http://schemas.openxmlformats.org/drawingml/2006/main">
              <a:ext uri="{FF2B5EF4-FFF2-40B4-BE49-F238E27FC236}">
                <a16:creationId xmlns:a16="http://schemas.microsoft.com/office/drawing/2014/main" id="{8391A95A-41E5-4506-8133-7D07C0FD703A}"/>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9872977-FDA5-46C4-A24E-F2F90E89285C}"/>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7" name="">
            <a:extLst xmlns:a="http://schemas.openxmlformats.org/drawingml/2006/main">
              <a:ext uri="{FF2B5EF4-FFF2-40B4-BE49-F238E27FC236}">
                <a16:creationId xmlns:a16="http://schemas.microsoft.com/office/drawing/2014/main" id="{EE731D4E-C2C0-4BB2-AD3B-F4513F1146CE}"/>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792024A-F139-4A97-8B27-2040555AB40D}"/>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19" name="">
            <a:extLst xmlns:a="http://schemas.openxmlformats.org/drawingml/2006/main">
              <a:ext uri="{FF2B5EF4-FFF2-40B4-BE49-F238E27FC236}">
                <a16:creationId xmlns:a16="http://schemas.microsoft.com/office/drawing/2014/main" id="{A20C3F14-E17C-460C-897B-10766CF9D844}"/>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5E43427-777A-4FB6-9978-1B00681F557E}"/>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1" name="">
            <a:extLst xmlns:a="http://schemas.openxmlformats.org/drawingml/2006/main">
              <a:ext uri="{FF2B5EF4-FFF2-40B4-BE49-F238E27FC236}">
                <a16:creationId xmlns:a16="http://schemas.microsoft.com/office/drawing/2014/main" id="{CCBB8510-3C7D-4C72-BB98-A415D9764088}"/>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60B3C86-50D9-47D6-AED3-D0C9D536CE49}"/>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3" name="">
            <a:extLst xmlns:a="http://schemas.openxmlformats.org/drawingml/2006/main">
              <a:ext uri="{FF2B5EF4-FFF2-40B4-BE49-F238E27FC236}">
                <a16:creationId xmlns:a16="http://schemas.microsoft.com/office/drawing/2014/main" id="{BCB7C237-6062-4DB6-AC2C-E86B0AAACE70}"/>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711BEE5-7C5C-4105-BEDE-AD56AB0DD1C5}"/>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5" name="">
            <a:extLst xmlns:a="http://schemas.openxmlformats.org/drawingml/2006/main">
              <a:ext uri="{FF2B5EF4-FFF2-40B4-BE49-F238E27FC236}">
                <a16:creationId xmlns:a16="http://schemas.microsoft.com/office/drawing/2014/main" id="{253229A5-767D-4594-BC31-210AA26872D5}"/>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6509DEF-544D-4E2F-8FC2-90FF755571A9}"/>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7" name="">
            <a:extLst xmlns:a="http://schemas.openxmlformats.org/drawingml/2006/main">
              <a:ext uri="{FF2B5EF4-FFF2-40B4-BE49-F238E27FC236}">
                <a16:creationId xmlns:a16="http://schemas.microsoft.com/office/drawing/2014/main" id="{DB70C88C-27EC-4545-8A32-D36B0E3CC884}"/>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8059060-E261-443D-BB60-B039CDE8B0BD}"/>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29" name="">
            <a:extLst xmlns:a="http://schemas.openxmlformats.org/drawingml/2006/main">
              <a:ext uri="{FF2B5EF4-FFF2-40B4-BE49-F238E27FC236}">
                <a16:creationId xmlns:a16="http://schemas.microsoft.com/office/drawing/2014/main" id="{477018C8-537C-47BF-A3B9-57E7089C7C67}"/>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6ACDDFF-8D99-44E7-82C0-B64361944CFD}"/>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1" name="">
            <a:extLst xmlns:a="http://schemas.openxmlformats.org/drawingml/2006/main">
              <a:ext uri="{FF2B5EF4-FFF2-40B4-BE49-F238E27FC236}">
                <a16:creationId xmlns:a16="http://schemas.microsoft.com/office/drawing/2014/main" id="{5F7681A0-8BD9-44A7-9BA1-27EE29165899}"/>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B15B399-90E8-425F-BB43-3D7F63CF6CBD}"/>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3" name="">
            <a:extLst xmlns:a="http://schemas.openxmlformats.org/drawingml/2006/main">
              <a:ext uri="{FF2B5EF4-FFF2-40B4-BE49-F238E27FC236}">
                <a16:creationId xmlns:a16="http://schemas.microsoft.com/office/drawing/2014/main" id="{CEBDD9BB-B27F-4A4C-84DC-F29791018413}"/>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44048706-D28B-4A22-82B5-FC743ACA484F}"/>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5" name="">
            <a:extLst xmlns:a="http://schemas.openxmlformats.org/drawingml/2006/main">
              <a:ext uri="{FF2B5EF4-FFF2-40B4-BE49-F238E27FC236}">
                <a16:creationId xmlns:a16="http://schemas.microsoft.com/office/drawing/2014/main" id="{DC9E341E-2599-49C3-ABBA-1EF40830AE36}"/>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0AEDD82B-9378-47FD-8145-586649BCB631}"/>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7" name="">
            <a:extLst xmlns:a="http://schemas.openxmlformats.org/drawingml/2006/main">
              <a:ext uri="{FF2B5EF4-FFF2-40B4-BE49-F238E27FC236}">
                <a16:creationId xmlns:a16="http://schemas.microsoft.com/office/drawing/2014/main" id="{9CCAFE48-DEE9-454D-8153-BC38BACA8F0A}"/>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96981087-9669-4593-9A53-296B2968A900}"/>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39" name="">
            <a:extLst xmlns:a="http://schemas.openxmlformats.org/drawingml/2006/main">
              <a:ext uri="{FF2B5EF4-FFF2-40B4-BE49-F238E27FC236}">
                <a16:creationId xmlns:a16="http://schemas.microsoft.com/office/drawing/2014/main" id="{FACA0EAB-256A-4B1E-A47C-DC4D25539160}"/>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A81514C5-A17A-419E-B5D7-030F5FE4CFEB}"/>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1" name="">
            <a:extLst xmlns:a="http://schemas.openxmlformats.org/drawingml/2006/main">
              <a:ext uri="{FF2B5EF4-FFF2-40B4-BE49-F238E27FC236}">
                <a16:creationId xmlns:a16="http://schemas.microsoft.com/office/drawing/2014/main" id="{2F42CD6A-22CE-42A5-813D-16A860CCA648}"/>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402110201"/>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E5FC6A-2707-4B54-A7BF-2FE4001F4F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D5B220B-E9B9-482C-B9C2-C0DF81BAEB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3" name="">
            <a:extLst xmlns:a="http://schemas.openxmlformats.org/drawingml/2006/main">
              <a:ext uri="{FF2B5EF4-FFF2-40B4-BE49-F238E27FC236}">
                <a16:creationId xmlns:a16="http://schemas.microsoft.com/office/drawing/2014/main" id="{9C303F0C-B775-4DA3-A14C-53463CF889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62AD7CF-20A6-48FF-A386-F3C49B7A37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77A8C2D1-E546-4859-9EA2-765876E19E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6" name="">
            <a:extLst xmlns:a="http://schemas.openxmlformats.org/drawingml/2006/main">
              <a:ext uri="{FF2B5EF4-FFF2-40B4-BE49-F238E27FC236}">
                <a16:creationId xmlns:a16="http://schemas.microsoft.com/office/drawing/2014/main" id="{AEC51695-428B-4516-94B1-75CB82DC9C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17134213"/>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20038D-9C58-4753-8E83-902E9C040B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224F20-B3E1-4BBC-BCC9-F9350ED56F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3" name="">
            <a:extLst xmlns:a="http://schemas.openxmlformats.org/drawingml/2006/main">
              <a:ext uri="{FF2B5EF4-FFF2-40B4-BE49-F238E27FC236}">
                <a16:creationId xmlns:a16="http://schemas.microsoft.com/office/drawing/2014/main" id="{A365769B-83B0-4D30-9AFD-734BA94DF6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681C3B1-CFC0-4145-A5CA-8FBEEED7AF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D87C901D-C1B1-4357-A3A4-8B0D5EA9FE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6" name="">
            <a:extLst xmlns:a="http://schemas.openxmlformats.org/drawingml/2006/main">
              <a:ext uri="{FF2B5EF4-FFF2-40B4-BE49-F238E27FC236}">
                <a16:creationId xmlns:a16="http://schemas.microsoft.com/office/drawing/2014/main" id="{95B126EE-1FFD-4B02-A2FC-C7D4429599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54083126"/>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90EF6DA-B486-4644-A61D-08132F5A2A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98B96A-2ACF-42EB-9EAA-26490E61FA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3" name="">
            <a:extLst xmlns:a="http://schemas.openxmlformats.org/drawingml/2006/main">
              <a:ext uri="{FF2B5EF4-FFF2-40B4-BE49-F238E27FC236}">
                <a16:creationId xmlns:a16="http://schemas.microsoft.com/office/drawing/2014/main" id="{6A1973AD-D95F-426D-8791-F4DE7ABCFEA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07F32F8-9992-4C5B-B2A6-38CB790DFD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B6FD266A-46D7-4867-8001-8E370DF76BF5}"/>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EAD209A-55FB-49D9-AD69-75FD408CB55F}"/>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733FE73F-AA24-4545-9CAE-45F1E77968D6}"/>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7BED212-4049-4FBA-83E4-74F143113DB7}"/>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9" name="">
            <a:extLst xmlns:a="http://schemas.openxmlformats.org/drawingml/2006/main">
              <a:ext uri="{FF2B5EF4-FFF2-40B4-BE49-F238E27FC236}">
                <a16:creationId xmlns:a16="http://schemas.microsoft.com/office/drawing/2014/main" id="{679BADB5-F129-4FC8-AC73-D853ECEEBFCE}"/>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7CF9A48-5E2D-4772-8BEC-13B3C732A086}"/>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1" name="">
            <a:extLst xmlns:a="http://schemas.openxmlformats.org/drawingml/2006/main">
              <a:ext uri="{FF2B5EF4-FFF2-40B4-BE49-F238E27FC236}">
                <a16:creationId xmlns:a16="http://schemas.microsoft.com/office/drawing/2014/main" id="{08CC07FA-100A-47CD-818D-82A2FF59D3D7}"/>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59E3AA4-E54F-4236-B431-D1848E60B28D}"/>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3" name="">
            <a:extLst xmlns:a="http://schemas.openxmlformats.org/drawingml/2006/main">
              <a:ext uri="{FF2B5EF4-FFF2-40B4-BE49-F238E27FC236}">
                <a16:creationId xmlns:a16="http://schemas.microsoft.com/office/drawing/2014/main" id="{049B2C21-1D53-49AA-8BDA-636616345FD9}"/>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225FBF4-4050-4B68-9161-E8B17F218F18}"/>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5" name="">
            <a:extLst xmlns:a="http://schemas.openxmlformats.org/drawingml/2006/main">
              <a:ext uri="{FF2B5EF4-FFF2-40B4-BE49-F238E27FC236}">
                <a16:creationId xmlns:a16="http://schemas.microsoft.com/office/drawing/2014/main" id="{72BB167A-3F1F-4C16-80F8-13E25BEBDF21}"/>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0DD9B16-3CDB-4842-A444-69CC7C2E8EEB}"/>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7" name="">
            <a:extLst xmlns:a="http://schemas.openxmlformats.org/drawingml/2006/main">
              <a:ext uri="{FF2B5EF4-FFF2-40B4-BE49-F238E27FC236}">
                <a16:creationId xmlns:a16="http://schemas.microsoft.com/office/drawing/2014/main" id="{4B106BCF-0AB0-4867-94A3-C8FEBBC75CC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0E91F9F-B47B-46CF-A4A6-D31F9CB1ED7B}"/>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19" name="">
            <a:extLst xmlns:a="http://schemas.openxmlformats.org/drawingml/2006/main">
              <a:ext uri="{FF2B5EF4-FFF2-40B4-BE49-F238E27FC236}">
                <a16:creationId xmlns:a16="http://schemas.microsoft.com/office/drawing/2014/main" id="{C13ABD0F-03A7-4CA5-849F-B18E23B7C0DA}"/>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2FA531F-838B-4022-B6E9-4157F9E767E7}"/>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1" name="">
            <a:extLst xmlns:a="http://schemas.openxmlformats.org/drawingml/2006/main">
              <a:ext uri="{FF2B5EF4-FFF2-40B4-BE49-F238E27FC236}">
                <a16:creationId xmlns:a16="http://schemas.microsoft.com/office/drawing/2014/main" id="{0B5FEA6E-67BA-4F4E-A9DD-D1BE66BB9894}"/>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AB9C704-E121-462F-8B36-0AF7FA1C1696}"/>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3" name="">
            <a:extLst xmlns:a="http://schemas.openxmlformats.org/drawingml/2006/main">
              <a:ext uri="{FF2B5EF4-FFF2-40B4-BE49-F238E27FC236}">
                <a16:creationId xmlns:a16="http://schemas.microsoft.com/office/drawing/2014/main" id="{0F4603D2-F384-4203-8479-10697588143D}"/>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3EED2EC-F47C-48FE-8FAF-EEDD67261162}"/>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239696131"/>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BAEADE-FA24-4338-857F-32D7B03ECF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B7A1B6-1168-4119-81B3-A99DEB7BCD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1034D213-755C-49D5-9E27-803A3CA9C5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E26B4B3-BBBE-4944-861E-AA5373464B7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10DE785B-0BDC-4852-B0D9-E9369FE8182F}"/>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37705073-FAF8-4E79-9C19-583500747C9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155145756"/>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588380-0716-482C-AF13-810EE793B3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9D5450C-8CA1-41F4-A925-8E4365F326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6091328D-02BF-4A21-81C2-CCF8C518DF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83CE8E6-784B-4F25-87F2-6D481A8614B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C652BCC3-CC80-46E5-8097-BA1DA7A0851A}"/>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557ED649-242E-4A38-9BD7-1919380D56B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444716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2026-10-23T09:45:41.3990000Z</dcterms:created>
  <dcterms:modified xsi:type="dcterms:W3CDTF">2026-10-23T09:45:41.3990000Z</dcterms:modified>
</coreProperties>
</file>