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72674fdf3f457c" /><Relationship Type="http://schemas.openxmlformats.org/officeDocument/2006/relationships/extended-properties" Target="/docProps/app.xml" Id="R5fb2582cee0d4947" /><Relationship Type="http://schemas.openxmlformats.org/officeDocument/2006/relationships/officeDocument" Target="/ppt/presentation.xml" Id="Rf10d1b335e234f72" /></Relationships>
</file>

<file path=ppt/presentation.xml><?xml version="1.0" encoding="utf-8"?>
<p:presentation xmlns:p="http://schemas.openxmlformats.org/presentationml/2006/main">
  <p:sldMasterIdLst>
    <p:sldMasterId xmlns:r="http://schemas.openxmlformats.org/officeDocument/2006/relationships" id="2147483648" r:id="R7e67a1132bc54be2"/>
  </p:sldMasterIdLst>
  <p:notesMasterIdLst>
    <p:notesMasterId xmlns:r="http://schemas.openxmlformats.org/officeDocument/2006/relationships" r:id="R57f586dc290b43ea"/>
  </p:notesMasterIdLst>
  <p:sldIdLst>
    <p:sldId xmlns:r="http://schemas.openxmlformats.org/officeDocument/2006/relationships" id="256" r:id="R019f180cdfc242bc"/>
    <p:sldId xmlns:r="http://schemas.openxmlformats.org/officeDocument/2006/relationships" id="257" r:id="Rb48103dc6d3a401b"/>
    <p:sldId xmlns:r="http://schemas.openxmlformats.org/officeDocument/2006/relationships" id="258" r:id="R39426a9ba43c41d5"/>
    <p:sldId xmlns:r="http://schemas.openxmlformats.org/officeDocument/2006/relationships" id="259" r:id="Rdf223b3556e24341"/>
    <p:sldId xmlns:r="http://schemas.openxmlformats.org/officeDocument/2006/relationships" id="260" r:id="Rc4bfffa033fb4626"/>
    <p:sldId xmlns:r="http://schemas.openxmlformats.org/officeDocument/2006/relationships" id="261" r:id="R65201ac0d4d84813"/>
    <p:sldId xmlns:r="http://schemas.openxmlformats.org/officeDocument/2006/relationships" id="262" r:id="Rf33b1b3fbcb34757"/>
    <p:sldId xmlns:r="http://schemas.openxmlformats.org/officeDocument/2006/relationships" id="263" r:id="R7b161aecad58462c"/>
    <p:sldId xmlns:r="http://schemas.openxmlformats.org/officeDocument/2006/relationships" id="264" r:id="R4f28c2de15cb429d"/>
    <p:sldId xmlns:r="http://schemas.openxmlformats.org/officeDocument/2006/relationships" id="265" r:id="R2dbb8b61a9974ee3"/>
    <p:sldId xmlns:r="http://schemas.openxmlformats.org/officeDocument/2006/relationships" id="266" r:id="R90c4304d73ce4a4c"/>
    <p:sldId xmlns:r="http://schemas.openxmlformats.org/officeDocument/2006/relationships" id="267" r:id="R172617cf53174683"/>
    <p:sldId xmlns:r="http://schemas.openxmlformats.org/officeDocument/2006/relationships" id="268" r:id="R720830132b654b70"/>
    <p:sldId xmlns:r="http://schemas.openxmlformats.org/officeDocument/2006/relationships" id="269" r:id="R431329f2774e4bb6"/>
    <p:sldId xmlns:r="http://schemas.openxmlformats.org/officeDocument/2006/relationships" id="270" r:id="R3e270f3f604b4473"/>
    <p:sldId xmlns:r="http://schemas.openxmlformats.org/officeDocument/2006/relationships" id="271" r:id="Ra8b766b3b7e247be"/>
    <p:sldId xmlns:r="http://schemas.openxmlformats.org/officeDocument/2006/relationships" id="272" r:id="R9f3a9f756fe342d8"/>
    <p:sldId xmlns:r="http://schemas.openxmlformats.org/officeDocument/2006/relationships" id="273" r:id="R78e9c2e7e5d4417e"/>
    <p:sldId xmlns:r="http://schemas.openxmlformats.org/officeDocument/2006/relationships" id="274" r:id="Ra6b6e70128bb4f11"/>
    <p:sldId xmlns:r="http://schemas.openxmlformats.org/officeDocument/2006/relationships" id="275" r:id="R2f1e450077324cef"/>
    <p:sldId xmlns:r="http://schemas.openxmlformats.org/officeDocument/2006/relationships" id="276" r:id="R46c48d05fedb4c5a"/>
    <p:sldId xmlns:r="http://schemas.openxmlformats.org/officeDocument/2006/relationships" id="277" r:id="Rda98dff82fc94119"/>
    <p:sldId xmlns:r="http://schemas.openxmlformats.org/officeDocument/2006/relationships" id="278" r:id="Ra950d733aa9b4dcf"/>
    <p:sldId xmlns:r="http://schemas.openxmlformats.org/officeDocument/2006/relationships" id="279" r:id="Rc3825c317e8e40e4"/>
    <p:sldId xmlns:r="http://schemas.openxmlformats.org/officeDocument/2006/relationships" id="280" r:id="Rfeba415e347c40af"/>
    <p:sldId xmlns:r="http://schemas.openxmlformats.org/officeDocument/2006/relationships" id="281" r:id="R3a6c0ef761bd40d9"/>
    <p:sldId xmlns:r="http://schemas.openxmlformats.org/officeDocument/2006/relationships" id="282" r:id="R3ffed4f3b576461c"/>
    <p:sldId xmlns:r="http://schemas.openxmlformats.org/officeDocument/2006/relationships" id="283" r:id="R5970f7476ca8458e"/>
    <p:sldId xmlns:r="http://schemas.openxmlformats.org/officeDocument/2006/relationships" id="284" r:id="R7d3869454bd24aed"/>
    <p:sldId xmlns:r="http://schemas.openxmlformats.org/officeDocument/2006/relationships" id="285" r:id="R20a319f50ea3428c"/>
    <p:sldId xmlns:r="http://schemas.openxmlformats.org/officeDocument/2006/relationships" id="286" r:id="Ra2ac7b26092c4167"/>
    <p:sldId xmlns:r="http://schemas.openxmlformats.org/officeDocument/2006/relationships" id="287" r:id="R38bf9462e4b241a2"/>
    <p:sldId xmlns:r="http://schemas.openxmlformats.org/officeDocument/2006/relationships" id="288" r:id="Rd0a95234864e41fb"/>
    <p:sldId xmlns:r="http://schemas.openxmlformats.org/officeDocument/2006/relationships" id="289" r:id="R2e8fb7b89fc141b2"/>
    <p:sldId xmlns:r="http://schemas.openxmlformats.org/officeDocument/2006/relationships" id="290" r:id="R255b19cbebe049c6"/>
    <p:sldId xmlns:r="http://schemas.openxmlformats.org/officeDocument/2006/relationships" id="291" r:id="Ra06aff4db1214d45"/>
    <p:sldId xmlns:r="http://schemas.openxmlformats.org/officeDocument/2006/relationships" id="292" r:id="Rea1ffd2e4fb94e62"/>
    <p:sldId xmlns:r="http://schemas.openxmlformats.org/officeDocument/2006/relationships" id="293" r:id="R4de1a773d32147fc"/>
    <p:sldId xmlns:r="http://schemas.openxmlformats.org/officeDocument/2006/relationships" id="294" r:id="R8af3df94e4134b34"/>
    <p:sldId xmlns:r="http://schemas.openxmlformats.org/officeDocument/2006/relationships" id="295" r:id="R8887cb3c79ba494f"/>
    <p:sldId xmlns:r="http://schemas.openxmlformats.org/officeDocument/2006/relationships" id="296" r:id="R2e91ab271ffe403d"/>
    <p:sldId xmlns:r="http://schemas.openxmlformats.org/officeDocument/2006/relationships" id="297" r:id="R0a21a8028d4c41ea"/>
    <p:sldId xmlns:r="http://schemas.openxmlformats.org/officeDocument/2006/relationships" id="298" r:id="Rdb2ef76dba5e453c"/>
    <p:sldId xmlns:r="http://schemas.openxmlformats.org/officeDocument/2006/relationships" id="299" r:id="Rf78a50afb2b645b7"/>
    <p:sldId xmlns:r="http://schemas.openxmlformats.org/officeDocument/2006/relationships" id="300" r:id="R4ab496d5599b450b"/>
    <p:sldId xmlns:r="http://schemas.openxmlformats.org/officeDocument/2006/relationships" id="301" r:id="Re847e9fc4ff84207"/>
    <p:sldId xmlns:r="http://schemas.openxmlformats.org/officeDocument/2006/relationships" id="302" r:id="Rfbc6ed398b1a4d7c"/>
    <p:sldId xmlns:r="http://schemas.openxmlformats.org/officeDocument/2006/relationships" id="303" r:id="R41ea1eb7bc9847ef"/>
    <p:sldId xmlns:r="http://schemas.openxmlformats.org/officeDocument/2006/relationships" id="304" r:id="R80a1e9afe5c540c1"/>
    <p:sldId xmlns:r="http://schemas.openxmlformats.org/officeDocument/2006/relationships" id="305" r:id="R9de713668103423d"/>
    <p:sldId xmlns:r="http://schemas.openxmlformats.org/officeDocument/2006/relationships" id="306" r:id="R58ba55c404b34c92"/>
    <p:sldId xmlns:r="http://schemas.openxmlformats.org/officeDocument/2006/relationships" id="307" r:id="R7d9346a4dd9b44df"/>
    <p:sldId xmlns:r="http://schemas.openxmlformats.org/officeDocument/2006/relationships" id="308" r:id="Ra932d152cdba447e"/>
    <p:sldId xmlns:r="http://schemas.openxmlformats.org/officeDocument/2006/relationships" id="309" r:id="Ra716926507c54d33"/>
    <p:sldId xmlns:r="http://schemas.openxmlformats.org/officeDocument/2006/relationships" id="310" r:id="R82611842c969450d"/>
    <p:sldId xmlns:r="http://schemas.openxmlformats.org/officeDocument/2006/relationships" id="311" r:id="R28be66d05de14b5e"/>
    <p:sldId xmlns:r="http://schemas.openxmlformats.org/officeDocument/2006/relationships" id="312" r:id="R04105ed6aa9c499e"/>
    <p:sldId xmlns:r="http://schemas.openxmlformats.org/officeDocument/2006/relationships" id="313" r:id="R154d63fd04c54989"/>
    <p:sldId xmlns:r="http://schemas.openxmlformats.org/officeDocument/2006/relationships" id="314" r:id="Ref37ce28f2eb4080"/>
    <p:sldId xmlns:r="http://schemas.openxmlformats.org/officeDocument/2006/relationships" id="315" r:id="Rf5a2da9f83154b1b"/>
    <p:sldId xmlns:r="http://schemas.openxmlformats.org/officeDocument/2006/relationships" id="316" r:id="R09ab107f02504a1b"/>
    <p:sldId xmlns:r="http://schemas.openxmlformats.org/officeDocument/2006/relationships" id="317" r:id="Rc6fa81c6aea14225"/>
    <p:sldId xmlns:r="http://schemas.openxmlformats.org/officeDocument/2006/relationships" id="318" r:id="Rbdf48b481f0740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85b00c7ed64afc" /><Relationship Type="http://schemas.openxmlformats.org/officeDocument/2006/relationships/slideMaster" Target="/ppt/slideMasters/slideMaster1.xml" Id="R7e67a1132bc54be2" /><Relationship Type="http://schemas.openxmlformats.org/officeDocument/2006/relationships/notesMaster" Target="/ppt/notesMasters/notesMaster1.xml" Id="R57f586dc290b43ea" /><Relationship Type="http://schemas.openxmlformats.org/officeDocument/2006/relationships/presProps" Target="/ppt/presProps.xml" Id="R79b86eab36c44c80" /><Relationship Type="http://schemas.openxmlformats.org/officeDocument/2006/relationships/tableStyles" Target="/ppt/tableStyles.xml" Id="R60ed699fa14647b5" /><Relationship Type="http://schemas.openxmlformats.org/officeDocument/2006/relationships/slide" Target="/ppt/slides/slide1.xml" Id="R019f180cdfc242bc" /><Relationship Type="http://schemas.openxmlformats.org/officeDocument/2006/relationships/slide" Target="/ppt/slides/slide2.xml" Id="Rb48103dc6d3a401b" /><Relationship Type="http://schemas.openxmlformats.org/officeDocument/2006/relationships/slide" Target="/ppt/slides/slide3.xml" Id="R39426a9ba43c41d5" /><Relationship Type="http://schemas.openxmlformats.org/officeDocument/2006/relationships/slide" Target="/ppt/slides/slide4.xml" Id="Rdf223b3556e24341" /><Relationship Type="http://schemas.openxmlformats.org/officeDocument/2006/relationships/slide" Target="/ppt/slides/slide5.xml" Id="Rc4bfffa033fb4626" /><Relationship Type="http://schemas.openxmlformats.org/officeDocument/2006/relationships/slide" Target="/ppt/slides/slide6.xml" Id="R65201ac0d4d84813" /><Relationship Type="http://schemas.openxmlformats.org/officeDocument/2006/relationships/slide" Target="/ppt/slides/slide7.xml" Id="Rf33b1b3fbcb34757" /><Relationship Type="http://schemas.openxmlformats.org/officeDocument/2006/relationships/slide" Target="/ppt/slides/slide8.xml" Id="R7b161aecad58462c" /><Relationship Type="http://schemas.openxmlformats.org/officeDocument/2006/relationships/slide" Target="/ppt/slides/slide9.xml" Id="R4f28c2de15cb429d" /><Relationship Type="http://schemas.openxmlformats.org/officeDocument/2006/relationships/slide" Target="/ppt/slides/slide10.xml" Id="R2dbb8b61a9974ee3" /><Relationship Type="http://schemas.openxmlformats.org/officeDocument/2006/relationships/slide" Target="/ppt/slides/slide11.xml" Id="R90c4304d73ce4a4c" /><Relationship Type="http://schemas.openxmlformats.org/officeDocument/2006/relationships/slide" Target="/ppt/slides/slide12.xml" Id="R172617cf53174683" /><Relationship Type="http://schemas.openxmlformats.org/officeDocument/2006/relationships/slide" Target="/ppt/slides/slide13.xml" Id="R720830132b654b70" /><Relationship Type="http://schemas.openxmlformats.org/officeDocument/2006/relationships/slide" Target="/ppt/slides/slide14.xml" Id="R431329f2774e4bb6" /><Relationship Type="http://schemas.openxmlformats.org/officeDocument/2006/relationships/slide" Target="/ppt/slides/slide15.xml" Id="R3e270f3f604b4473" /><Relationship Type="http://schemas.openxmlformats.org/officeDocument/2006/relationships/slide" Target="/ppt/slides/slide16.xml" Id="Ra8b766b3b7e247be" /><Relationship Type="http://schemas.openxmlformats.org/officeDocument/2006/relationships/slide" Target="/ppt/slides/slide17.xml" Id="R9f3a9f756fe342d8" /><Relationship Type="http://schemas.openxmlformats.org/officeDocument/2006/relationships/slide" Target="/ppt/slides/slide18.xml" Id="R78e9c2e7e5d4417e" /><Relationship Type="http://schemas.openxmlformats.org/officeDocument/2006/relationships/slide" Target="/ppt/slides/slide19.xml" Id="Ra6b6e70128bb4f11" /><Relationship Type="http://schemas.openxmlformats.org/officeDocument/2006/relationships/slide" Target="/ppt/slides/slide20.xml" Id="R2f1e450077324cef" /><Relationship Type="http://schemas.openxmlformats.org/officeDocument/2006/relationships/slide" Target="/ppt/slides/slide21.xml" Id="R46c48d05fedb4c5a" /><Relationship Type="http://schemas.openxmlformats.org/officeDocument/2006/relationships/slide" Target="/ppt/slides/slide22.xml" Id="Rda98dff82fc94119" /><Relationship Type="http://schemas.openxmlformats.org/officeDocument/2006/relationships/slide" Target="/ppt/slides/slide23.xml" Id="Ra950d733aa9b4dcf" /><Relationship Type="http://schemas.openxmlformats.org/officeDocument/2006/relationships/slide" Target="/ppt/slides/slide24.xml" Id="Rc3825c317e8e40e4" /><Relationship Type="http://schemas.openxmlformats.org/officeDocument/2006/relationships/slide" Target="/ppt/slides/slide25.xml" Id="Rfeba415e347c40af" /><Relationship Type="http://schemas.openxmlformats.org/officeDocument/2006/relationships/slide" Target="/ppt/slides/slide26.xml" Id="R3a6c0ef761bd40d9" /><Relationship Type="http://schemas.openxmlformats.org/officeDocument/2006/relationships/slide" Target="/ppt/slides/slide27.xml" Id="R3ffed4f3b576461c" /><Relationship Type="http://schemas.openxmlformats.org/officeDocument/2006/relationships/slide" Target="/ppt/slides/slide28.xml" Id="R5970f7476ca8458e" /><Relationship Type="http://schemas.openxmlformats.org/officeDocument/2006/relationships/slide" Target="/ppt/slides/slide29.xml" Id="R7d3869454bd24aed" /><Relationship Type="http://schemas.openxmlformats.org/officeDocument/2006/relationships/slide" Target="/ppt/slides/slide30.xml" Id="R20a319f50ea3428c" /><Relationship Type="http://schemas.openxmlformats.org/officeDocument/2006/relationships/slide" Target="/ppt/slides/slide31.xml" Id="Ra2ac7b26092c4167" /><Relationship Type="http://schemas.openxmlformats.org/officeDocument/2006/relationships/slide" Target="/ppt/slides/slide32.xml" Id="R38bf9462e4b241a2" /><Relationship Type="http://schemas.openxmlformats.org/officeDocument/2006/relationships/slide" Target="/ppt/slides/slide33.xml" Id="Rd0a95234864e41fb" /><Relationship Type="http://schemas.openxmlformats.org/officeDocument/2006/relationships/slide" Target="/ppt/slides/slide34.xml" Id="R2e8fb7b89fc141b2" /><Relationship Type="http://schemas.openxmlformats.org/officeDocument/2006/relationships/slide" Target="/ppt/slides/slide35.xml" Id="R255b19cbebe049c6" /><Relationship Type="http://schemas.openxmlformats.org/officeDocument/2006/relationships/slide" Target="/ppt/slides/slide36.xml" Id="Ra06aff4db1214d45" /><Relationship Type="http://schemas.openxmlformats.org/officeDocument/2006/relationships/slide" Target="/ppt/slides/slide37.xml" Id="Rea1ffd2e4fb94e62" /><Relationship Type="http://schemas.openxmlformats.org/officeDocument/2006/relationships/slide" Target="/ppt/slides/slide38.xml" Id="R4de1a773d32147fc" /><Relationship Type="http://schemas.openxmlformats.org/officeDocument/2006/relationships/slide" Target="/ppt/slides/slide39.xml" Id="R8af3df94e4134b34" /><Relationship Type="http://schemas.openxmlformats.org/officeDocument/2006/relationships/slide" Target="/ppt/slides/slide40.xml" Id="R8887cb3c79ba494f" /><Relationship Type="http://schemas.openxmlformats.org/officeDocument/2006/relationships/slide" Target="/ppt/slides/slide41.xml" Id="R2e91ab271ffe403d" /><Relationship Type="http://schemas.openxmlformats.org/officeDocument/2006/relationships/slide" Target="/ppt/slides/slide42.xml" Id="R0a21a8028d4c41ea" /><Relationship Type="http://schemas.openxmlformats.org/officeDocument/2006/relationships/slide" Target="/ppt/slides/slide43.xml" Id="Rdb2ef76dba5e453c" /><Relationship Type="http://schemas.openxmlformats.org/officeDocument/2006/relationships/slide" Target="/ppt/slides/slide44.xml" Id="Rf78a50afb2b645b7" /><Relationship Type="http://schemas.openxmlformats.org/officeDocument/2006/relationships/slide" Target="/ppt/slides/slide45.xml" Id="R4ab496d5599b450b" /><Relationship Type="http://schemas.openxmlformats.org/officeDocument/2006/relationships/slide" Target="/ppt/slides/slide46.xml" Id="Re847e9fc4ff84207" /><Relationship Type="http://schemas.openxmlformats.org/officeDocument/2006/relationships/slide" Target="/ppt/slides/slide47.xml" Id="Rfbc6ed398b1a4d7c" /><Relationship Type="http://schemas.openxmlformats.org/officeDocument/2006/relationships/slide" Target="/ppt/slides/slide48.xml" Id="R41ea1eb7bc9847ef" /><Relationship Type="http://schemas.openxmlformats.org/officeDocument/2006/relationships/slide" Target="/ppt/slides/slide49.xml" Id="R80a1e9afe5c540c1" /><Relationship Type="http://schemas.openxmlformats.org/officeDocument/2006/relationships/slide" Target="/ppt/slides/slide50.xml" Id="R9de713668103423d" /><Relationship Type="http://schemas.openxmlformats.org/officeDocument/2006/relationships/slide" Target="/ppt/slides/slide51.xml" Id="R58ba55c404b34c92" /><Relationship Type="http://schemas.openxmlformats.org/officeDocument/2006/relationships/slide" Target="/ppt/slides/slide52.xml" Id="R7d9346a4dd9b44df" /><Relationship Type="http://schemas.openxmlformats.org/officeDocument/2006/relationships/slide" Target="/ppt/slides/slide53.xml" Id="Ra932d152cdba447e" /><Relationship Type="http://schemas.openxmlformats.org/officeDocument/2006/relationships/slide" Target="/ppt/slides/slide54.xml" Id="Ra716926507c54d33" /><Relationship Type="http://schemas.openxmlformats.org/officeDocument/2006/relationships/slide" Target="/ppt/slides/slide55.xml" Id="R82611842c969450d" /><Relationship Type="http://schemas.openxmlformats.org/officeDocument/2006/relationships/slide" Target="/ppt/slides/slide56.xml" Id="R28be66d05de14b5e" /><Relationship Type="http://schemas.openxmlformats.org/officeDocument/2006/relationships/slide" Target="/ppt/slides/slide57.xml" Id="R04105ed6aa9c499e" /><Relationship Type="http://schemas.openxmlformats.org/officeDocument/2006/relationships/slide" Target="/ppt/slides/slide58.xml" Id="R154d63fd04c54989" /><Relationship Type="http://schemas.openxmlformats.org/officeDocument/2006/relationships/slide" Target="/ppt/slides/slide59.xml" Id="Ref37ce28f2eb4080" /><Relationship Type="http://schemas.openxmlformats.org/officeDocument/2006/relationships/slide" Target="/ppt/slides/slide60.xml" Id="Rf5a2da9f83154b1b" /><Relationship Type="http://schemas.openxmlformats.org/officeDocument/2006/relationships/slide" Target="/ppt/slides/slide61.xml" Id="R09ab107f02504a1b" /><Relationship Type="http://schemas.openxmlformats.org/officeDocument/2006/relationships/slide" Target="/ppt/slides/slide62.xml" Id="Rc6fa81c6aea14225" /><Relationship Type="http://schemas.openxmlformats.org/officeDocument/2006/relationships/slide" Target="/ppt/slides/slide63.xml" Id="Rbdf48b481f0740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15c594497049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44021603ac494c" /><Relationship Type="http://schemas.openxmlformats.org/officeDocument/2006/relationships/notesMaster" Target="/ppt/notesMasters/notesMaster1.xml" Id="Rcb6cb9ef07a644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3f0c832a6d444a" /><Relationship Type="http://schemas.openxmlformats.org/officeDocument/2006/relationships/notesMaster" Target="/ppt/notesMasters/notesMaster1.xml" Id="R217e78f6339342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2916a5e90146a5" /><Relationship Type="http://schemas.openxmlformats.org/officeDocument/2006/relationships/notesMaster" Target="/ppt/notesMasters/notesMaster1.xml" Id="R54a1f1c04e9447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268d103c694129" /><Relationship Type="http://schemas.openxmlformats.org/officeDocument/2006/relationships/notesMaster" Target="/ppt/notesMasters/notesMaster1.xml" Id="Rf8d92629b6e64d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b24bec2c3f4e95" /><Relationship Type="http://schemas.openxmlformats.org/officeDocument/2006/relationships/notesMaster" Target="/ppt/notesMasters/notesMaster1.xml" Id="R6f73028d82574b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6220db1bad4770" /><Relationship Type="http://schemas.openxmlformats.org/officeDocument/2006/relationships/notesMaster" Target="/ppt/notesMasters/notesMaster1.xml" Id="Refc37bdb15084a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804b9006d54c3c" /><Relationship Type="http://schemas.openxmlformats.org/officeDocument/2006/relationships/notesMaster" Target="/ppt/notesMasters/notesMaster1.xml" Id="R8321023c7b8a4b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d01fd589ab43ae" /><Relationship Type="http://schemas.openxmlformats.org/officeDocument/2006/relationships/notesMaster" Target="/ppt/notesMasters/notesMaster1.xml" Id="R8843248d20fd4f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19fd6895024a01" /><Relationship Type="http://schemas.openxmlformats.org/officeDocument/2006/relationships/notesMaster" Target="/ppt/notesMasters/notesMaster1.xml" Id="Ra20fe2a205d84a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d3cf8b68414f45" /><Relationship Type="http://schemas.openxmlformats.org/officeDocument/2006/relationships/notesMaster" Target="/ppt/notesMasters/notesMaster1.xml" Id="Rdb74b35dc5a341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4ee02fb0474d41" /><Relationship Type="http://schemas.openxmlformats.org/officeDocument/2006/relationships/notesMaster" Target="/ppt/notesMasters/notesMaster1.xml" Id="Rf7327f70941c4c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27f2e82f6349d9" /><Relationship Type="http://schemas.openxmlformats.org/officeDocument/2006/relationships/notesMaster" Target="/ppt/notesMasters/notesMaster1.xml" Id="R8579b138d59b48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30fe63d78740d4" /><Relationship Type="http://schemas.openxmlformats.org/officeDocument/2006/relationships/notesMaster" Target="/ppt/notesMasters/notesMaster1.xml" Id="Raf0bbfe9f09649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a28f9ec4014ef7" /><Relationship Type="http://schemas.openxmlformats.org/officeDocument/2006/relationships/notesMaster" Target="/ppt/notesMasters/notesMaster1.xml" Id="R812cbda8b5f34d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fd6a1c6fa64689" /><Relationship Type="http://schemas.openxmlformats.org/officeDocument/2006/relationships/notesMaster" Target="/ppt/notesMasters/notesMaster1.xml" Id="R884dd8c1324045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3e416a66504d42" /><Relationship Type="http://schemas.openxmlformats.org/officeDocument/2006/relationships/notesMaster" Target="/ppt/notesMasters/notesMaster1.xml" Id="Rc64ba75b2b1e45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66c2b9096d411f" /><Relationship Type="http://schemas.openxmlformats.org/officeDocument/2006/relationships/notesMaster" Target="/ppt/notesMasters/notesMaster1.xml" Id="Refbfbf819d4047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50c09bdcbe48bb" /><Relationship Type="http://schemas.openxmlformats.org/officeDocument/2006/relationships/notesMaster" Target="/ppt/notesMasters/notesMaster1.xml" Id="R82ffd453ab244d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2396641fb0a4dab" /><Relationship Type="http://schemas.openxmlformats.org/officeDocument/2006/relationships/notesMaster" Target="/ppt/notesMasters/notesMaster1.xml" Id="Rdb0c3a05640b46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453fbeaa7c342f0" /><Relationship Type="http://schemas.openxmlformats.org/officeDocument/2006/relationships/notesMaster" Target="/ppt/notesMasters/notesMaster1.xml" Id="R1d649f0cc31d41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9fca5f0628414e" /><Relationship Type="http://schemas.openxmlformats.org/officeDocument/2006/relationships/notesMaster" Target="/ppt/notesMasters/notesMaster1.xml" Id="R66228bbea803429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c39173cbab4cdf" /><Relationship Type="http://schemas.openxmlformats.org/officeDocument/2006/relationships/notesMaster" Target="/ppt/notesMasters/notesMaster1.xml" Id="R4a62a840882b41f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65b94e370d462e" /><Relationship Type="http://schemas.openxmlformats.org/officeDocument/2006/relationships/notesMaster" Target="/ppt/notesMasters/notesMaster1.xml" Id="Rd850e77b7e4f40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fdc86bff4b9429e" /><Relationship Type="http://schemas.openxmlformats.org/officeDocument/2006/relationships/notesMaster" Target="/ppt/notesMasters/notesMaster1.xml" Id="R649e7b4030b542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6954ea8e2cb4fa2" /><Relationship Type="http://schemas.openxmlformats.org/officeDocument/2006/relationships/notesMaster" Target="/ppt/notesMasters/notesMaster1.xml" Id="R34bba2b0d3764e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0bec5ad414e4032" /><Relationship Type="http://schemas.openxmlformats.org/officeDocument/2006/relationships/notesMaster" Target="/ppt/notesMasters/notesMaster1.xml" Id="Rf64212381faf43b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1344f90474c401f" /><Relationship Type="http://schemas.openxmlformats.org/officeDocument/2006/relationships/notesMaster" Target="/ppt/notesMasters/notesMaster1.xml" Id="R87ff39cac66b42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5defb7c44b4b93" /><Relationship Type="http://schemas.openxmlformats.org/officeDocument/2006/relationships/notesMaster" Target="/ppt/notesMasters/notesMaster1.xml" Id="R381fe43701a647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0a48f94ead94f8f" /><Relationship Type="http://schemas.openxmlformats.org/officeDocument/2006/relationships/notesMaster" Target="/ppt/notesMasters/notesMaster1.xml" Id="R578c49bf86be44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30066686c874161" /><Relationship Type="http://schemas.openxmlformats.org/officeDocument/2006/relationships/notesMaster" Target="/ppt/notesMasters/notesMaster1.xml" Id="R70f9754b142047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59ddf0f32764129" /><Relationship Type="http://schemas.openxmlformats.org/officeDocument/2006/relationships/notesMaster" Target="/ppt/notesMasters/notesMaster1.xml" Id="R903414bbe76b451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d64f1c4d4f4764" /><Relationship Type="http://schemas.openxmlformats.org/officeDocument/2006/relationships/notesMaster" Target="/ppt/notesMasters/notesMaster1.xml" Id="R6d5779f33fc34ab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ac8d975b364484" /><Relationship Type="http://schemas.openxmlformats.org/officeDocument/2006/relationships/notesMaster" Target="/ppt/notesMasters/notesMaster1.xml" Id="Rc06306f1d95c4be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947e3a6cfae4b36" /><Relationship Type="http://schemas.openxmlformats.org/officeDocument/2006/relationships/notesMaster" Target="/ppt/notesMasters/notesMaster1.xml" Id="R5d7e399b12e04d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296d41dd174a82" /><Relationship Type="http://schemas.openxmlformats.org/officeDocument/2006/relationships/notesMaster" Target="/ppt/notesMasters/notesMaster1.xml" Id="R59b8e4bcf4984ee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d3c5c519e664faa" /><Relationship Type="http://schemas.openxmlformats.org/officeDocument/2006/relationships/notesMaster" Target="/ppt/notesMasters/notesMaster1.xml" Id="R8e4f113822ba47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cb64a0579994f59" /><Relationship Type="http://schemas.openxmlformats.org/officeDocument/2006/relationships/notesMaster" Target="/ppt/notesMasters/notesMaster1.xml" Id="Rf84e97b32f1440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66bd0d718545bb" /><Relationship Type="http://schemas.openxmlformats.org/officeDocument/2006/relationships/notesMaster" Target="/ppt/notesMasters/notesMaster1.xml" Id="R7da88f2e751c4c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008f2c965341a4" /><Relationship Type="http://schemas.openxmlformats.org/officeDocument/2006/relationships/notesMaster" Target="/ppt/notesMasters/notesMaster1.xml" Id="R34750f1edae4436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92bca80e4bc4a6f" /><Relationship Type="http://schemas.openxmlformats.org/officeDocument/2006/relationships/notesMaster" Target="/ppt/notesMasters/notesMaster1.xml" Id="R3cade286e76946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cec28457b4e4c57" /><Relationship Type="http://schemas.openxmlformats.org/officeDocument/2006/relationships/notesMaster" Target="/ppt/notesMasters/notesMaster1.xml" Id="R65a98acf7c0d42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dd0eb84775546a3" /><Relationship Type="http://schemas.openxmlformats.org/officeDocument/2006/relationships/notesMaster" Target="/ppt/notesMasters/notesMaster1.xml" Id="Rbfa5dabb633a4dc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59b0c3ee77e4da7" /><Relationship Type="http://schemas.openxmlformats.org/officeDocument/2006/relationships/notesMaster" Target="/ppt/notesMasters/notesMaster1.xml" Id="Rbceae2cf77f64c8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73518110ddd417f" /><Relationship Type="http://schemas.openxmlformats.org/officeDocument/2006/relationships/notesMaster" Target="/ppt/notesMasters/notesMaster1.xml" Id="R13ec2b33df674c0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5ffee2841404c41" /><Relationship Type="http://schemas.openxmlformats.org/officeDocument/2006/relationships/notesMaster" Target="/ppt/notesMasters/notesMaster1.xml" Id="Rb3daede35b45492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079c171f73f41d8" /><Relationship Type="http://schemas.openxmlformats.org/officeDocument/2006/relationships/notesMaster" Target="/ppt/notesMasters/notesMaster1.xml" Id="R4bf405c9204d4f2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2cf591103b24748" /><Relationship Type="http://schemas.openxmlformats.org/officeDocument/2006/relationships/notesMaster" Target="/ppt/notesMasters/notesMaster1.xml" Id="Rc8051b0ac333431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9edc006f59345f8" /><Relationship Type="http://schemas.openxmlformats.org/officeDocument/2006/relationships/notesMaster" Target="/ppt/notesMasters/notesMaster1.xml" Id="Rbced3b50260f426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f2f4184bba42fc" /><Relationship Type="http://schemas.openxmlformats.org/officeDocument/2006/relationships/notesMaster" Target="/ppt/notesMasters/notesMaster1.xml" Id="Rf0610baa3a6e4b7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cf054eebb134450" /><Relationship Type="http://schemas.openxmlformats.org/officeDocument/2006/relationships/notesMaster" Target="/ppt/notesMasters/notesMaster1.xml" Id="Ree02ad82645243f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d7016cf4cb44ea9" /><Relationship Type="http://schemas.openxmlformats.org/officeDocument/2006/relationships/notesMaster" Target="/ppt/notesMasters/notesMaster1.xml" Id="Rdd0fe49e6064441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f32636697b74257" /><Relationship Type="http://schemas.openxmlformats.org/officeDocument/2006/relationships/notesMaster" Target="/ppt/notesMasters/notesMaster1.xml" Id="Rcab5eb4b9dcd482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fa93a6a564b45b5" /><Relationship Type="http://schemas.openxmlformats.org/officeDocument/2006/relationships/notesMaster" Target="/ppt/notesMasters/notesMaster1.xml" Id="R4f6032fb42cf448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1e45fc5ed7547a7" /><Relationship Type="http://schemas.openxmlformats.org/officeDocument/2006/relationships/notesMaster" Target="/ppt/notesMasters/notesMaster1.xml" Id="Re96725bd1f28472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b2b9315c2a64e02" /><Relationship Type="http://schemas.openxmlformats.org/officeDocument/2006/relationships/notesMaster" Target="/ppt/notesMasters/notesMaster1.xml" Id="R6997e1c9817141d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30d7c1bf4cc4a8c" /><Relationship Type="http://schemas.openxmlformats.org/officeDocument/2006/relationships/notesMaster" Target="/ppt/notesMasters/notesMaster1.xml" Id="R511da9748d1b4c0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6cfbc52f39f4819" /><Relationship Type="http://schemas.openxmlformats.org/officeDocument/2006/relationships/notesMaster" Target="/ppt/notesMasters/notesMaster1.xml" Id="R88b9c738c3a841a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97224755beb4e6d" /><Relationship Type="http://schemas.openxmlformats.org/officeDocument/2006/relationships/notesMaster" Target="/ppt/notesMasters/notesMaster1.xml" Id="R2051a8bb943048e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c5c986886b34fb6" /><Relationship Type="http://schemas.openxmlformats.org/officeDocument/2006/relationships/notesMaster" Target="/ppt/notesMasters/notesMaster1.xml" Id="Rab0f39f47dba4c1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9b20cc501a14419" /><Relationship Type="http://schemas.openxmlformats.org/officeDocument/2006/relationships/notesMaster" Target="/ppt/notesMasters/notesMaster1.xml" Id="R2db52467693a459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be7edcd97d7447f" /><Relationship Type="http://schemas.openxmlformats.org/officeDocument/2006/relationships/notesMaster" Target="/ppt/notesMasters/notesMaster1.xml" Id="Rff50ae15e3c643e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dd33dc097bb4fa5" /><Relationship Type="http://schemas.openxmlformats.org/officeDocument/2006/relationships/notesMaster" Target="/ppt/notesMasters/notesMaster1.xml" Id="R66719b2e68f6405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9ab93e8e30646ba" /><Relationship Type="http://schemas.openxmlformats.org/officeDocument/2006/relationships/notesMaster" Target="/ppt/notesMasters/notesMaster1.xml" Id="Rc2fd76c48d6b4d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1. First, Blood administration requires specific authorization, patient identification, consent verification, baseline assessment, product verification by qualified staff, dedicated compatible tubing/solution, close early monitoring, and prompt response to reactions. Next, If a reaction is suspected, stop the transfusion, maintain access as policy directs with compatible solution/new tubing, assess and support the patient, notify required personnel, recheck identification, and complete ordered specimens/documentation.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2. First, Parenteral nutrition contains concentrated nutrients and carries metabolic, infection, and line risks. Next, Verify the formulation and rate, use the required central or peripheral route, dedicated lumen and filter when ordered, strict asepsis, glucose/electrolyte monitoring, and never abruptly change therapy without direction.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3. First, High-alert and vesicant medications require current drug-specific guidance, appropriate access, blood return/patency checks when indicated, close monitoring, and immediate use of the facility extravasation or emergency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Live Review: Infection Control, Access Devices, Blood, and Nutrition 1. First, Instructor demonstrations and guided discussion cover hand hygiene, PPE, aseptic non-touch technique, skin preparation, connector disinfection, dressing assessment, peripheral versus central access, device restrictions, blood components and reactions, parenteral nutrition, high-alert therapy, and emergency readiness.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Live Review: Infection Control, Access Devices, Blood, and Nutrition 2. First, Students complete verbal teach-back for suspected infection, transfusion reaction, and central-line complication scenarios. Next, The instructor documents attendance and provides remediation before lab participation when a learner cannot state the immediate safety 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Transfusion Therapy. First, Module Four Module Objectives At the conclusion of this self-learning module, the learner will be able to: 1. Next, List indications for the transfusion of blood or blood products. Next, State the procedure for the proper identification of the patient requiring transfusion of blood or blood products. Next, List the different blood components indications for use, and equipment required for administration. Next, Describe transfusion reactions and appropriate nursing interventions.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Transfusion Therapy — continued. First, Unit Outline Transfusion Therapy Indications for blood or blood products Safety measures in the administration of infusion products Blood Grouping Blood typing and cross matching The ABO blood grouping system Next, Compatibility and incompatibility Objectives of Transfusion Therapy Increase circulating blood volume Increase oxygen carrying capacity Replace specific blood components Contraindications for Transfusion Therapy Need Next, must be documented Need must be immediate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First, Whole Blood Packed Red Blood Cells Frozen Red Cells - Leukocyte Depleted Packed Red Cells Plasma components Plasma Cryoprecipitate Platelets Granulocytes Human Serum Albumin Transfusion Initiation Procedure Obtaining Next, blood from the blood bank Blood slips/compatibility check Patient identification Blood filters Venipuncture Standards of administration Documentation Transfusion Reactions Nursing interventions Hemolytic reaction Next, Allergic reaction Febrile reaction Circulatory overload Air embolism Transfusion Therapy The ultimate responsibility of the safe administration of blood and blood products is that of the nurse. Next, From the comparison of donor and recipient blood type to the proper identification of the patient, safe transfusion of blood requires a basic knowledge of the various blood components available, indications for their Next, use, and recognition of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 continued. First, The administration of blood and blood products has become a vital part of patient care. Next, Transfusion therapy demands a qualified and competent staff with the experience to safely administer these products without untoward effects.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Objectives of Transfusion Therapy. First, Replacement of Blood Components (platelets, coagulation factors) The occurrence of a bleeding disorder warrants the administration of a plasma concentrate. Next, If all the factors need replacement, fresh frozen plasma is given. Next, Replacement of Oxygen Carrying Capacity The erythrocyte (RBC) is the only blood component capable of carrying oxygen in the body. Next, When there is depletion in the number of circulating RBCs, either by loss or excessive destruction, replacement is necessary to maintain an adequate oxygen supply to the tissues of the body. Next, Replacement of Circulating Blood Volume To maintain adequate tissue oxygenation an adequate volume of circulating blood is necessary.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Objectives of Transfusion Therapy — continued. First, Should volume decrease due to a loss of blood, the body can compensate by constricting the vessels of the venous system. Next, When the loss is rapid or excessive, the venous system may be unable to compensate effectively. Next, When the hematocrit is below normal, tissue oxygenation is not adequate. Next, Requirements There must be a documented need for the transfusion of blood or blood products The patient must have clinical symptoms warranting the need for the transfusion. Next, The rapid volume depletion cannot be corrected by the administration of crystalloid replacement solutions.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Objectives of Transfusion Therapy — continued. First, Blood Groups The best known blood grouping system is the ABO system. Next, The A antigen and B antigen are the most important antigens. Next, They are located on the surface of the RBC. Next, The RBC is tested to determine what specific blood group it belongs to. Next, Those patients who test positive for the A antigen are classified as group A, B antigen as group B, and AB as group AB.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Objectives of Transfusion Therapy — continued. First, The absence of an antigen is classified as group O. Next, Blood typing also checks for the D antigen also known as the Rh factor. Next, The presence of the D antigen designated Rh positive blood and the absence designates Rh negative blood. Next, Accurate blood typing should include both the group and the Rh factor. Next, The compatibility of the ABO blood group and the Rh factor between the donor and the recipient is of major importance to avoid complications associated with transfusion reactions.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First, The following is an overview of the various replacement therapies available and indications for use: Whole Blood - Whole blood restores circulating blood volume and increases oxygen carrying capacity. Next, Indications for whole blood administration include; massive blood loss, hypovolemic shock(necessitating multiple units of blood), and cardiac surgery. Next, Multiple transfusions of whole blood may cause a need for platelet and clotting factor replacement, due to the loss of these constituents during the storage period. Next, The incidence of transfusion reactions is higher in the administration of whole blood because of the many substances constituting the plasma portion of whole blood. Next, Packed Red Blood Cells - This product is preferred when the oxygen carrying capacity of the patient needs improvement without extensive volume restoration.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 continued. First, A unit of packed cells has a hematocrit (percent red blood cells) of 80%, and provides the necessary replacement of oxygen carrying red cells without the risk of circulatory overload. Next, There is less citrate in packed cells than whole blood therefore, the risk of toxicity is reduced. Next, Frozen Red Cells - The technique of long-term preservation of red blood cells is accomplished through freezing the cells in glycerol. Next, This process has enabled blood banks to store frozen blood for as long as three years. Next, This technique is extremely valuable in the preservation of rare and atypical blood types.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 continued. First, Aside from the latter advantage, it has been found that hepatitis transmission is decreased when frozen cells are administered. Next, The process involves removing the red blood cells from a unit of whole blood, coating them with glycerol to prevent damage from freezing, and freezing them at 85 degrees centigrade. Next, The cells are then prepared for administration by thawing for 30 minutes in a water bath at 40 degrees centigrade. Next, The cells are then washed to remove the glycerol. Next, The process of washing the cells markedly decreased the number of leukocytes and plasma in the donor unit, thus decreasing the incidence of transfusion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 continued. First, This is significant for the patient who has been sensitized from previous transfusions. Next, Leukocyte (poor) depleted washed cells - packed cells that are mostly free of white blood cells, are indicated for the patient who has had previous severe transfusions reactions. Next, The unit is prepared in one of three ways. Next, The blood can be centrifuged, saline washed, or administered through a special nylon filter to remove the white cell constituents of the blood. Next, In order to be considered leukocyte poor at least 75% of the leukocytes have to be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Cell Preparations — continued. First, There are also special filters available to remove leukocytes form a unit of packed cells during administration. Next, Plasma Components One objective of transfusion therapy is replacement of coagulation properties in the patient. Next, This is accomplished through the transfusion of clotting factors found in plasma.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First, Plasma - The liquid portion of the whole blood that remains after the removal of red blood cells is plasma. Next, Plasma is separated from whole blood utilizing a closed system, culture and visual inspection is performed to assure sterility. Next, Liquid stored plasma provides the patient with plasma proteins, important in the treatment of burn patients, it prevents shock while not overloading the circulation volumetrically. Next, Plasma can transmit the Hepatitis virus, therefore, single donor plasma is preferred. Next, Fresh Frozen Plasma - This product is indicated for the patient with inherited or acquired coagulation disorders.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The plasma is separated from the red cells and frozen, preserving the clotting factors. Next, Fresh frozen plasma must be stored at -18 degrees to -30 degrees centigrade and kept frozen until it is needed. Next, After thawing the plasma, it must be administered within six (6) hours to avoid the loss of Factor VIII (anti-hemophiliac factor). Next, Donor plasma should be compatible with the recipient's red cells. Next, The patient with blood group AB positive is the universal recipient.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O negative may give plasma to other groups. Next, O plasma may be used for all ABO blood groups. Next, When the blood group is unknown, as in an emergency, O negative plasma is given. Next, Cryoprecipitate - This concentrate contains factor VIII the hemophiliac factor. Next, It is extracted from quick frozen plasma that is thawed over a 24-hour period.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The cryoprecipitate is then removed from the frozen plasma. Next, The small amount collected form this process contains 75% of the hemophiliac factor. Next, The only use for this factor is in the treatment of hemophilia, a coagulation deficiency. Next, It remains frozen until use. Next, Once thawed it must be given with six (6) hours.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Platelets - Platelets are a constituent of the plasma portion of the blood. Next, Normal adult platelet counts range form 150,000 to 350,000 per cubic millimeter. Next, Replacement of this plasma component is therapeutically indicated for counts under 10,000. Next, They are generally stored at room temperature and infused within six (6) hours of donation. Next, Platelets are bolused through a standard blood Y administration set or a small filter set.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It is preferable for the donor plasma and the recipient's red cells to be ABO compatible and Rh match as well, to prevent Rh sensitization. Next, Granulocytes - White blood corpuscles or leukocytes, consist of 60% granulocytes. Next, They are administered in the presence of a serious bacterial infection in a patient who is immuno-compromised either form chemotherapy, leukemia, or toxic drugs, and are only used after all other treatments have failed. Next, The treatment consists of a daily transfusion of granulocytes for three to five days, or until the granulocyte count increases, the infection decreased, or the patient cannot tolerate the transfusion.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Fresh Frozen Plasma - This product is indicated for the patient with inherited or — continued. First, A cross-match (usually for four units) is obtained to ensure that the donor and the recipient have compatible blood types since these cells are contaminated with donor red cells. Next, A standard blood filter (17 microns) is used and the transfusion is given over a four-hour period.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First, Human Serum Albumin - The primary therapeutic use for the administration of albumin is to replace protein in the seriously depleted patient. Next, Infusion is a T A rate of 2-3 cc/min. Next, depending on the circulatory status of the patient. Next, Circulatory overload can occur if infused too rapidly. Next, 5% albumin is equivalent to an equal amount of plasma and may b substituted.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 continued. First, Albumin is also used in the treatment of shock and burns. Next, There is no risk of transmitting the hepatitis virus as the heating process used in the preparation destroys the virus. Next, Initiating Transfusion Therapy Obtaining blood that has been prepared for the patient is governed by individual hospital policy. Next, The nurse should be aware of the specific policy. Next, Blood administration should begin within 30 minutes from the time the blood is signed out of the blood bank to prevent excessive warming.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 continued. First, Red cells begin to deteriorate, and bacterial growth begins as the unit warms to room temperature. Next, It should be within this time frame. Next, Blood cannot be placed in the refrigerator on the nursing unit because the temperature control is not as precise as blood bank refrigerators. Next, Patient Identification - Proper identification, labeling, and testing of blood is essential in the prevention of transfusion reactions. Next, Failure to properly perform the donor client identification is the cause of 90% of transfusion reactions.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 continued. First, The nurse makes the final determination whether to administer the unit of blood or question the compatibility. Next, Two nurses should verify the following information: 1. Next, Check the patient's ABO and Rh factor with the donor ABO and Rh on the blood compatibility tag. Next, Verify the blood identification number on the unit of blood with the blood tag. Next, Check the name and unit number on the blood tag with the patient's chart.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 continued. First, The unit of blood is then brought to the patient's bedside. Next, The patient is asked to identify himself by stating his full name. Next, The hospital number on the unit of blood tag must match the hospital numbers on the patient's identification bracelet. Next, Some institutions use crossmatch bracelets to identify type and Rh of patients prepared to receive blood. Next, If there is any discrepancy, it must be investigated and corrected prior to administration.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Initiating Transfusion Therapy — continued. First, Blood Filters - Stored blood contain particles of fibrin, degenerated platelets, and leukocytes. Next, These particles begin to collect as early as 2 to 24 hours after collection. Next, For this reason blood is administered through a filter. Next, Transfusion filters provide a mesh like screen with a surface area large enough to efficiently remove particles. Next, Most filters can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First, be used for up to 4 units of blood depending on the type of anticoagulant used in the blood container and the age of the unit of blood. Next, Average pore size of the filter ranges Platelets and cryoprecipitate are infused through a filter similar to the blood filter, but. Next, with a smaller drip chamber. Next, It requires less volume to prime and also contains no rubber in the tubing that would cause platelet aggregation. Next, Micro aggregate filters are often preferred for patients with compromised pulmonary function or those with a history of febrile reactions.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 continued. First, These filters range in size from 20 to 40 microns. Next, They have proven to be the most effective in the removal of leukocytes during transfusion thus reducing transfusion reactions. Next, The "Y" type infusion set allows for normal saline to be attached to one side of the blood administration set. Next, If the blood is too thick to pass through the filter, a sterile transfer of normal saline can be done (50 to 75 cc). Next, This maintenance of a closed system prevents contamination while allowing a steady stream of blood to flow.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 continued. First, Venipuncture - An IV access must be established prior to blood administration. Next, Red blood cells and whole blood should be administered through an 18 to 20 gauge needle in the adult, and a 23 gauge needle is sufficient in the pediatric patient. Next, Infusion Rate - The clinical condition of the patient will determine the physician's order for rate of administration. Next, The recommended infusion rate for the first 15 minutes is generally 10 to 25 cc. Next, In the pediatric patient, the rate is 5 to 10 percent of the total red blood cell volume to be infused.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 continued. First, Again, this is ordered by the physician. Next, This is to avoid a large quantity of blood being infused in case of a reaction. Next, An infusion time of 11/2 to 2 hours is tolerated by most patients for one unit of blood. Next, Blood should be administered within a four (4) hour time frame. Next, If it is to be infused over a longer period of time, the unit can be divided into two parts by the blood bank technician.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 continued. First, One part will be kept refrigerated in the blood bank during the infusion of the other half. Next, Transfusion Reactions Over the years, improvements in the techniques of blood collection, storage, and testing, have greatly reduced the risks associated with the administration of blood, however, the risk of reactions Next, still remain. Next, The nurse administering blood must be aware and alert for the symptomatology of reactions and how to treat them. Next, The primary causes of transfusion reactions are incompatibility, contaminated blood, or to rapid infusion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from 170 to 220 microns. — continued. First, If a transfusion reaction should occur, the following steps should be taken to safeguard the patient: 1. Next, Stop the transfusion. Next, (Turn off flow control on blood side of the administration set.)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normal saline side of the administration set.). First, Maintain a patient IV line with normal saline solution. Next, (Turn on the flow control on the 3. Next, Immediately notify the physician for orders. Next, Notify the blood bank. Next, Save the blood bag and tubing and send them to the blood bank for examination.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normal saline side of the administration set.) — continued. First, Fill out a transfusion reaction form. Next, Follow hospital or institutional policy for collection of blood and urine specimens. Next, Monitor the patient paying close attention to the urinary output and the vital signs. Next, The following is a list of transfusion reactions and immediate nursing interventions. Next, The nurse administering blood and blood components should be familiar with the most common types of reactions signs and symptoms, and nursing interventions to provide safe patient care during transfusion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normal saline side of the administration set.) — continued. First, Hemolytic Reactions Cause - ABO or Rh incompatibility. Next, Mislabeled blood or blood administered to the wrong patient. Next, This is the most serious of all blood transfusion reactions. Next, Symptoms - Usually immediate onset. Next, Chills, fever, low back pain, chest pain, nausea, vomiting, hypotension, bleeding abnormalities.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normal saline side of the administration set.) — continued. First, Treatment - Stop transfusion immediately. Next, Keep vein open with normal saline. Next, Administer oxygen, fluids, and medications per physician order. Next, Record the intake and output carefully. Next, Follow hospital or institutional policy and physician orders for lab and urine specimens.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normal saline side of the administration set.) — continued. First, Prevention - Double checking the patient's identification and blood type to make sure the blood is compatible. Next, Beginning the transfusion slowly, remaining with the patient for the first 15 minutes of the transfusion. Next, Allergic Reactions Cause - Sensitivity of the recipient to a substance in the donor's blood. Next, Symptoms - Urticaria (hives), itching, chills, fever, nausea, vomiting, rare facial or throat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Treatment - Stop transfusion immediately and keep the vein open with normal saline. First, infusion. Next, Notify the physician. Next, Administer epinephrine or steroids per physician's order. Next, Prevention - Minimize patient's risk by ascertaining a previous history of blood allergic reactions. Next, His chances of experiencing this again are two in three; inform the physician.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Treatment - Stop transfusion immediately and keep the vein open with normal saline — continued. First, Febrile Reactions Cause - Most commonly caused by the presence of leukocyte or thrombocyte incompatibility from previous transfusions. Next, Patients may also have febrile reactions from sensitization to platelet or plasma proteins from numerous transfusions. Next, Symptoms - Tightness in the chest, breathing difficulty, engorged neck veins, rapid pounding pulse, moist rales at lung bases, flushed feeling, or a dry cough. Next, Treatment - stop the transfusion. Next, Monitor vital signs and patient's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Treatment - Stop transfusion immediately and keep the vein open with normal saline — continued. First, Follow physician's orders. Next, Prevention - To minimize risk of overload in patients with cardiac or renal insufficiency, packed cells should be given instead of whole blood. Next, Infusing the cells at a slower rate and giving diuretics as ordered at the onset of the transfusion will also decrease the risk of overload. Next, Air Embolism Cause - Air introduced into the bloodstream by way of tubing. Next, Symptoms - Cyanosis, dyspnea, shock, cardiac arrest, anxiety, drop in blood pressure, chest pain.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Treatment - Stop transfusion immediately and keep the vein open with normal saline — continued. First, Treatment - Lower patient's head and turn patient onto his left side. Next, Slow or stop the infusion depending on the patient's condition. Next, Notify the physician. Next, Treat for shock or cardiac arrest if they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Treatment - Stop transfusion immediately and keep the vein open with normal saline — continued. First, Prevention - Minimize the risk of air embolism to the patient by expelling all the air from the tubing before beginning transfusions. Next, Check the patient and the infusion at regular intervals during the transfusion and do not allow the bag to run dry.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First, Antibody A protein substance developed in response to and interacting with an antigen. Next, Antigen A substance that induces the formation of antibodies that interact specifically with it. Next, This antigen-antibody reaction forms the basis for immunity. Next, Blood Groups A genetically determined system of antigens located on the surface of the erythrocyte. Next, The ABO blood group system is determined by a series of genes and is of prime importance in blood transfusions.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Centrifugation A device that spins test tubes at high speeds. Next, This force causes the heavy particles in the liquid to settle at the bottom of the container (I.E. Next, red cells). Next, Citrate Solution used to prevent clotting of blood. Next, It permits whole blood to be stored until needed for transfusion.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Crystalloid A substance capable of crystallization which in a solution can be diffused through animal membranes. Next, Glycerol A thick syrupy colorless liquid soluble in all proportions in water and alcohol. Next, Leukocyte A white blood corpuscle. Next, Microaggregates Microscopic particles of fibrin, platelets, and Rh Blood Group A blood group discovered on the surface of erythrocytes of the rhesus monkey. Next, It is present to a variable degree in human populations.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When present the individual is designated as Rh positive. Next, When absent, Rh negative. Next, It is important in typing and crossmatching blood to prevent reactions. Next, Thrombocyte Term for a blood platelet. Next, Transfusion The injection of blood or a blood product into the bloodstream.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Bibliography. First, Kurdi, W. Next, (1985). Next, and Collier, C.I. Next, (1987). Next, Medical-Surgical Nursing Assessment and management of Clinical Problems(2nd Ed.) New York: McGraw Hill book Company.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Bibliography — continued. First, 696-701. Next, Plumer, A.L. Next, (1987). Next, Principles and Practices of Intravenous Therapy. Next, (4th Ed.) Boston: Little, Brown and Company.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Bibliography — continued. First, 191-207. Next, Rutman, R.C. Next, and Miller, W. Next, (1985).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Bibliography — continued. First, Transfusion Therapy Principles and Practices. Next, (2nd Ed.) Rockville, Maryland: An Aspen Publication.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07015aaf674a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c0b0dc2b1545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9c2c795dff46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6246672e714f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5190a01dd846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8abf317aaa49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473537-5E3C-413A-B1E2-5121AA5C46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F01C2C-199D-4F0A-9C83-B66C40EAD8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16D3A0-BE75-462F-A43A-7F48D27D5B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BB8057-7260-4065-BDDA-D10BD3B45D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0C8D2C-B8D4-4A05-AC04-F18641E250E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C4BF4A-94D6-4FAE-AA8F-23D00ABA68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70D891-2CCC-4925-A6B0-DE468C2C75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99A757-5D08-4DBE-A197-7E807C0A5D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28B3AC-67F4-4D9F-B2B3-E78FDD5D6A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16E0BE-F9B0-464E-B08A-FC4A865B5E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be10f4ac7f4b2b" /><Relationship Type="http://schemas.openxmlformats.org/officeDocument/2006/relationships/slideLayout" Target="/ppt/slideLayouts/slideLayout1.xml" Id="Rffe314e606a14604" /><Relationship Type="http://schemas.openxmlformats.org/officeDocument/2006/relationships/slideLayout" Target="/ppt/slideLayouts/slideLayout2.xml" Id="R0f458005bdcd4c64" /><Relationship Type="http://schemas.openxmlformats.org/officeDocument/2006/relationships/slideLayout" Target="/ppt/slideLayouts/slideLayout3.xml" Id="Rb2295c84474c4aff" /><Relationship Type="http://schemas.openxmlformats.org/officeDocument/2006/relationships/slideLayout" Target="/ppt/slideLayouts/slideLayout4.xml" Id="R6fe684647e154f7d" /><Relationship Type="http://schemas.openxmlformats.org/officeDocument/2006/relationships/slideLayout" Target="/ppt/slideLayouts/slideLayout5.xml" Id="R626a86524c214136" /><Relationship Type="http://schemas.openxmlformats.org/officeDocument/2006/relationships/slideLayout" Target="/ppt/slideLayouts/slideLayout6.xml" Id="Rce59f4ff70e54a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e314e606a14604"/>
    <p:sldLayoutId xmlns:r="http://schemas.openxmlformats.org/officeDocument/2006/relationships" id="2147483650" r:id="R0f458005bdcd4c64"/>
    <p:sldLayoutId xmlns:r="http://schemas.openxmlformats.org/officeDocument/2006/relationships" id="2147483651" r:id="Rb2295c84474c4aff"/>
    <p:sldLayoutId xmlns:r="http://schemas.openxmlformats.org/officeDocument/2006/relationships" id="2147483652" r:id="R6fe684647e154f7d"/>
    <p:sldLayoutId xmlns:r="http://schemas.openxmlformats.org/officeDocument/2006/relationships" id="2147483653" r:id="R626a86524c214136"/>
    <p:sldLayoutId xmlns:r="http://schemas.openxmlformats.org/officeDocument/2006/relationships" id="2147483654" r:id="Rce59f4ff70e54a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de9b80efce4ee0" /><Relationship Type="http://schemas.openxmlformats.org/officeDocument/2006/relationships/notesSlide" Target="/ppt/notesSlides/notesSlide1.xml" Id="Rb2740518bd4c4d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0fc9a1dcad4421" /><Relationship Type="http://schemas.openxmlformats.org/officeDocument/2006/relationships/notesSlide" Target="/ppt/notesSlides/notesSlide2.xml" Id="Rffdf0ded73e44c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bed4db976d41ee" /><Relationship Type="http://schemas.openxmlformats.org/officeDocument/2006/relationships/notesSlide" Target="/ppt/notesSlides/notesSlide3.xml" Id="R6232b70cceb244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04cbc7ac3046de" /><Relationship Type="http://schemas.openxmlformats.org/officeDocument/2006/relationships/notesSlide" Target="/ppt/notesSlides/notesSlide4.xml" Id="Rcc908bd9249742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121fa7b934420a" /><Relationship Type="http://schemas.openxmlformats.org/officeDocument/2006/relationships/notesSlide" Target="/ppt/notesSlides/notesSlide5.xml" Id="R37aa2c8fad0243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a0c3d9db0b42cd" /><Relationship Type="http://schemas.openxmlformats.org/officeDocument/2006/relationships/notesSlide" Target="/ppt/notesSlides/notesSlide6.xml" Id="Rfea3065d1cd144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c1283e9b1e4fc3" /><Relationship Type="http://schemas.openxmlformats.org/officeDocument/2006/relationships/notesSlide" Target="/ppt/notesSlides/notesSlide7.xml" Id="Rf84f603ee8454f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765e0418734b55" /><Relationship Type="http://schemas.openxmlformats.org/officeDocument/2006/relationships/notesSlide" Target="/ppt/notesSlides/notesSlide8.xml" Id="Rf11b6ebfc123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9dd415990840a0" /><Relationship Type="http://schemas.openxmlformats.org/officeDocument/2006/relationships/notesSlide" Target="/ppt/notesSlides/notesSlide9.xml" Id="R95916469961348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979717cfde44cc" /><Relationship Type="http://schemas.openxmlformats.org/officeDocument/2006/relationships/notesSlide" Target="/ppt/notesSlides/notesSlide10.xml" Id="R358cb6533d764e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e1196e3441441c" /><Relationship Type="http://schemas.openxmlformats.org/officeDocument/2006/relationships/notesSlide" Target="/ppt/notesSlides/notesSlide11.xml" Id="R0585e27d338d45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1a79359c7845f0" /><Relationship Type="http://schemas.openxmlformats.org/officeDocument/2006/relationships/notesSlide" Target="/ppt/notesSlides/notesSlide12.xml" Id="R8fb23eba460842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d462ae2a184b2e" /><Relationship Type="http://schemas.openxmlformats.org/officeDocument/2006/relationships/notesSlide" Target="/ppt/notesSlides/notesSlide13.xml" Id="R5993309f108d41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816cf3ea2664d32" /><Relationship Type="http://schemas.openxmlformats.org/officeDocument/2006/relationships/notesSlide" Target="/ppt/notesSlides/notesSlide14.xml" Id="Rbd4720c5755d47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c956a3d7b04919" /><Relationship Type="http://schemas.openxmlformats.org/officeDocument/2006/relationships/notesSlide" Target="/ppt/notesSlides/notesSlide15.xml" Id="R9800325164844c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9831e08499415d" /><Relationship Type="http://schemas.openxmlformats.org/officeDocument/2006/relationships/notesSlide" Target="/ppt/notesSlides/notesSlide16.xml" Id="Rd37f4836d6aa4e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e3c3fad1574b8e" /><Relationship Type="http://schemas.openxmlformats.org/officeDocument/2006/relationships/notesSlide" Target="/ppt/notesSlides/notesSlide17.xml" Id="R93c035c4d2ff49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a0969c902dc4b92" /><Relationship Type="http://schemas.openxmlformats.org/officeDocument/2006/relationships/notesSlide" Target="/ppt/notesSlides/notesSlide18.xml" Id="R85768138a39848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8d53500173c4318" /><Relationship Type="http://schemas.openxmlformats.org/officeDocument/2006/relationships/notesSlide" Target="/ppt/notesSlides/notesSlide19.xml" Id="Rc83380dc5dd544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1dafad996f4942" /><Relationship Type="http://schemas.openxmlformats.org/officeDocument/2006/relationships/notesSlide" Target="/ppt/notesSlides/notesSlide20.xml" Id="R10f1740714de48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9a906f3f4d4edc" /><Relationship Type="http://schemas.openxmlformats.org/officeDocument/2006/relationships/notesSlide" Target="/ppt/notesSlides/notesSlide21.xml" Id="R73cdbd7b1dc54ac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a2de7e2ce6943d2" /><Relationship Type="http://schemas.openxmlformats.org/officeDocument/2006/relationships/notesSlide" Target="/ppt/notesSlides/notesSlide22.xml" Id="R9e0901378de844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fe6b4f82ec64dcd" /><Relationship Type="http://schemas.openxmlformats.org/officeDocument/2006/relationships/notesSlide" Target="/ppt/notesSlides/notesSlide23.xml" Id="R1552dd46268546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a7d629b30224822" /><Relationship Type="http://schemas.openxmlformats.org/officeDocument/2006/relationships/notesSlide" Target="/ppt/notesSlides/notesSlide24.xml" Id="R1412eeaa9ac549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a55f24c14684b9f" /><Relationship Type="http://schemas.openxmlformats.org/officeDocument/2006/relationships/notesSlide" Target="/ppt/notesSlides/notesSlide25.xml" Id="R54156e8facda46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afaa218d2ea49d5" /><Relationship Type="http://schemas.openxmlformats.org/officeDocument/2006/relationships/notesSlide" Target="/ppt/notesSlides/notesSlide26.xml" Id="R85070d599ab3454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69a2aea3f0a4c82" /><Relationship Type="http://schemas.openxmlformats.org/officeDocument/2006/relationships/notesSlide" Target="/ppt/notesSlides/notesSlide27.xml" Id="R216a08ca90b84c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1fd0ea81e1c47cb" /><Relationship Type="http://schemas.openxmlformats.org/officeDocument/2006/relationships/notesSlide" Target="/ppt/notesSlides/notesSlide28.xml" Id="R5d03f73f55d841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a1a3051dc6c4a24" /><Relationship Type="http://schemas.openxmlformats.org/officeDocument/2006/relationships/notesSlide" Target="/ppt/notesSlides/notesSlide29.xml" Id="R26bf31e1532048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f68b98c515247c7" /><Relationship Type="http://schemas.openxmlformats.org/officeDocument/2006/relationships/notesSlide" Target="/ppt/notesSlides/notesSlide30.xml" Id="R3f915094001a496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dfc86a913484731" /><Relationship Type="http://schemas.openxmlformats.org/officeDocument/2006/relationships/notesSlide" Target="/ppt/notesSlides/notesSlide31.xml" Id="Rf7334fed87624a2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e230b5f9681478f" /><Relationship Type="http://schemas.openxmlformats.org/officeDocument/2006/relationships/notesSlide" Target="/ppt/notesSlides/notesSlide32.xml" Id="R6eb31b87d1924d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5d3a6e50a694c71" /><Relationship Type="http://schemas.openxmlformats.org/officeDocument/2006/relationships/notesSlide" Target="/ppt/notesSlides/notesSlide33.xml" Id="R19165dccb6a343f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84632d2b5984246" /><Relationship Type="http://schemas.openxmlformats.org/officeDocument/2006/relationships/notesSlide" Target="/ppt/notesSlides/notesSlide34.xml" Id="Rdca225a833cf4e8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3adf34687a84bc0" /><Relationship Type="http://schemas.openxmlformats.org/officeDocument/2006/relationships/notesSlide" Target="/ppt/notesSlides/notesSlide35.xml" Id="Rf493606fbc564eb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dff31c0fb7a4c35" /><Relationship Type="http://schemas.openxmlformats.org/officeDocument/2006/relationships/notesSlide" Target="/ppt/notesSlides/notesSlide36.xml" Id="Rbb49de0e033d481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61e70c374e4416d" /><Relationship Type="http://schemas.openxmlformats.org/officeDocument/2006/relationships/notesSlide" Target="/ppt/notesSlides/notesSlide37.xml" Id="Rc2f54cbe385142a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90166d049d74bf2" /><Relationship Type="http://schemas.openxmlformats.org/officeDocument/2006/relationships/notesSlide" Target="/ppt/notesSlides/notesSlide38.xml" Id="R96bab480c354458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99ec52916534549" /><Relationship Type="http://schemas.openxmlformats.org/officeDocument/2006/relationships/notesSlide" Target="/ppt/notesSlides/notesSlide39.xml" Id="Ra8d169e05adf486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7df0e2ac1e8482e" /><Relationship Type="http://schemas.openxmlformats.org/officeDocument/2006/relationships/notesSlide" Target="/ppt/notesSlides/notesSlide40.xml" Id="R1cc96f9648c0452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897ccae8e43455b" /><Relationship Type="http://schemas.openxmlformats.org/officeDocument/2006/relationships/notesSlide" Target="/ppt/notesSlides/notesSlide41.xml" Id="Rabd340c3c124437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2347116077b449d" /><Relationship Type="http://schemas.openxmlformats.org/officeDocument/2006/relationships/notesSlide" Target="/ppt/notesSlides/notesSlide42.xml" Id="R0895368fc62d47f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9904c6c103641ca" /><Relationship Type="http://schemas.openxmlformats.org/officeDocument/2006/relationships/notesSlide" Target="/ppt/notesSlides/notesSlide43.xml" Id="R09ce009c7b2a44e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1042c004c0e451f" /><Relationship Type="http://schemas.openxmlformats.org/officeDocument/2006/relationships/notesSlide" Target="/ppt/notesSlides/notesSlide44.xml" Id="R654110d0f49c49b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798dacda0bf4e5e" /><Relationship Type="http://schemas.openxmlformats.org/officeDocument/2006/relationships/notesSlide" Target="/ppt/notesSlides/notesSlide45.xml" Id="Re6756b2f92c64c0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eb12a262e574fc7" /><Relationship Type="http://schemas.openxmlformats.org/officeDocument/2006/relationships/notesSlide" Target="/ppt/notesSlides/notesSlide46.xml" Id="R0fb3cfa5ba5c4cd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97b920d75ab4491" /><Relationship Type="http://schemas.openxmlformats.org/officeDocument/2006/relationships/notesSlide" Target="/ppt/notesSlides/notesSlide47.xml" Id="R1b1016dabea945f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bba8291f0124150" /><Relationship Type="http://schemas.openxmlformats.org/officeDocument/2006/relationships/notesSlide" Target="/ppt/notesSlides/notesSlide48.xml" Id="R25d389f1501c496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2bcea8ed8cd4358" /><Relationship Type="http://schemas.openxmlformats.org/officeDocument/2006/relationships/notesSlide" Target="/ppt/notesSlides/notesSlide49.xml" Id="Rd45be7b137c34be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91f6bbeef25241bd" /><Relationship Type="http://schemas.openxmlformats.org/officeDocument/2006/relationships/notesSlide" Target="/ppt/notesSlides/notesSlide50.xml" Id="R53205385fc03415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d0ebcc3984e4b06" /><Relationship Type="http://schemas.openxmlformats.org/officeDocument/2006/relationships/notesSlide" Target="/ppt/notesSlides/notesSlide51.xml" Id="R9b26e3e24b2c4e7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cf3a74be3734ca9" /><Relationship Type="http://schemas.openxmlformats.org/officeDocument/2006/relationships/notesSlide" Target="/ppt/notesSlides/notesSlide52.xml" Id="R7fd958fc24714a5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ea9afd0c7eb4a6d" /><Relationship Type="http://schemas.openxmlformats.org/officeDocument/2006/relationships/notesSlide" Target="/ppt/notesSlides/notesSlide53.xml" Id="R4d84e4685b18479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cfe2191787ab4597" /><Relationship Type="http://schemas.openxmlformats.org/officeDocument/2006/relationships/notesSlide" Target="/ppt/notesSlides/notesSlide54.xml" Id="R17d05ddfdc724e2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5ef29094fa1c4608" /><Relationship Type="http://schemas.openxmlformats.org/officeDocument/2006/relationships/notesSlide" Target="/ppt/notesSlides/notesSlide55.xml" Id="R3ca9bf71bae14ec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2e2f942204374560" /><Relationship Type="http://schemas.openxmlformats.org/officeDocument/2006/relationships/notesSlide" Target="/ppt/notesSlides/notesSlide56.xml" Id="R3f579eb35f174bb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6a65d24a8974a7d" /><Relationship Type="http://schemas.openxmlformats.org/officeDocument/2006/relationships/notesSlide" Target="/ppt/notesSlides/notesSlide57.xml" Id="R545c371a59b747e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53b13a9acfb4914" /><Relationship Type="http://schemas.openxmlformats.org/officeDocument/2006/relationships/notesSlide" Target="/ppt/notesSlides/notesSlide58.xml" Id="R418a4b07e5034f7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c23f25a703f44bbc" /><Relationship Type="http://schemas.openxmlformats.org/officeDocument/2006/relationships/notesSlide" Target="/ppt/notesSlides/notesSlide59.xml" Id="R0377ab94c6ba418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08dd67996964df0" /><Relationship Type="http://schemas.openxmlformats.org/officeDocument/2006/relationships/notesSlide" Target="/ppt/notesSlides/notesSlide60.xml" Id="R61323b0fe536418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5db1cdbe39a42e8" /><Relationship Type="http://schemas.openxmlformats.org/officeDocument/2006/relationships/notesSlide" Target="/ppt/notesSlides/notesSlide61.xml" Id="Rea0c7b6f3ab34f2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48a73bb02a146b7" /><Relationship Type="http://schemas.openxmlformats.org/officeDocument/2006/relationships/notesSlide" Target="/ppt/notesSlides/notesSlide62.xml" Id="Rdfb6f13aa68642e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df91cf8c7efe4f44" /><Relationship Type="http://schemas.openxmlformats.org/officeDocument/2006/relationships/notesSlide" Target="/ppt/notesSlides/notesSlide63.xml" Id="Rcc3ed23075694fd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E06CCA-8907-4097-BC21-25D8A3918129}"/>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A5EE7B-D684-4805-A8F5-61B939C0E247}"/>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3E21C670-691C-48D2-9E58-0285C28CA07C}"/>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Transfusion Therapy</a:t>
            </a:r>
          </a:p>
        </p:txBody>
      </p:sp>
      <p:sp>
        <p:nvSpPr>
          <p:cNvPr id="4" name="">
            <a:extLst xmlns:a="http://schemas.openxmlformats.org/drawingml/2006/main">
              <a:ext uri="{FF2B5EF4-FFF2-40B4-BE49-F238E27FC236}">
                <a16:creationId xmlns:a16="http://schemas.microsoft.com/office/drawing/2014/main" id="{E6D376EA-CA17-43B1-BEC7-60819E94B923}"/>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4  |  30-Hour Basic Intravenous Therapy</a:t>
            </a:r>
          </a:p>
        </p:txBody>
      </p:sp>
      <p:sp>
        <p:nvSpPr>
          <p:cNvPr id="5" name="">
            <a:extLst xmlns:a="http://schemas.openxmlformats.org/drawingml/2006/main">
              <a:ext uri="{FF2B5EF4-FFF2-40B4-BE49-F238E27FC236}">
                <a16:creationId xmlns:a16="http://schemas.microsoft.com/office/drawing/2014/main" id="{ACFF0B27-23E8-483C-8215-D5C2FAA7875E}"/>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43874993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D2C9BD-92F2-4394-A83B-C35C503B38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F5208D-767C-4079-986E-30854E8C68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64AB17E-96EC-46FC-BF4B-CC1D74D57E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41BCBC3-C7E6-4E6E-8467-A342FEA597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FCA5DFA-67EB-4B06-886E-69F9E119E086}"/>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21148787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9E03B6-D760-40D3-B4EB-2B34BB759E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4C42C0-280C-40FD-993E-4F1CCC0B57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4930DDD6-C892-4DAA-9219-07B44D69BC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3E7890E-CCB8-4AD3-B6EF-BB284D818A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213BC71-678C-4816-95A2-E7EEBE5618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2F06827E-69BB-4EF3-B970-F7924F2107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961577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4A62BB-E110-4CA2-A667-7298593DFE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C98ABE-8407-4314-A107-5C7BC83547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098D2C70-6DB3-4364-A905-0C5AABDFE5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C2EC7D8-C4C0-4DE2-98AE-4D4F1411E1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C51FCD1-99A0-4769-B3CE-8A00E51E52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5E63B7A6-6C2B-4BAF-8307-E634223DD68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11616733"/>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B492ED-2437-4D86-AA56-E4C914F37E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04B759-BF9E-43B4-9A5E-BAF414F9B4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E78433B2-F86B-4647-B824-0149B6FB9B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F4E37F2-4A66-487D-9EBC-9541BD6E3D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F339A2D-4AF9-47A7-B3F5-ADDE1CF120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8D6EEA35-A6BB-4FDF-A27B-B1A77FC20D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9653231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579F75-D75F-4EDC-A211-A6E039F238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D2BD42-BE4E-437D-97AC-B8BF6456F6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26971B83-2E2C-432C-8803-D65E9DA883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C1F8D60-FBDB-425E-87BC-1BCCC64A7F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28ACA5A-2A1A-4B07-81E5-7F8C830F19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2A41D712-36A3-4E74-93A2-5C6B5B33DD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1092206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6C94B3-6E40-45C8-AEAE-94EE80DA79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F7C2DA-7AD9-4B68-B792-F995FFD1A4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1</a:t>
            </a:r>
          </a:p>
        </p:txBody>
      </p:sp>
      <p:sp>
        <p:nvSpPr>
          <p:cNvPr id="3" name="">
            <a:extLst xmlns:a="http://schemas.openxmlformats.org/drawingml/2006/main">
              <a:ext uri="{FF2B5EF4-FFF2-40B4-BE49-F238E27FC236}">
                <a16:creationId xmlns:a16="http://schemas.microsoft.com/office/drawing/2014/main" id="{C930F41C-BDB0-487D-816C-5AE6D870FC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5EFC6F6-1502-4628-8D14-B3670FE95B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30ADF797-20C2-4617-9661-2525945B93C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administration requires specific authorization, patient identification, consent verification, baseline assessment, product verification by qualified staff, dedicated compatible tubing/solution, close early monitoring, and prompt response to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reaction is suspected, stop the transfusion, maintain access as policy directs with compatible solution/new tubing, assess and support the patient, notify required personnel, recheck identification, and complete ordered specimens/documentation.</a:t>
            </a:r>
          </a:p>
        </p:txBody>
      </p:sp>
      <p:sp>
        <p:nvSpPr>
          <p:cNvPr id="6" name="">
            <a:extLst xmlns:a="http://schemas.openxmlformats.org/drawingml/2006/main">
              <a:ext uri="{FF2B5EF4-FFF2-40B4-BE49-F238E27FC236}">
                <a16:creationId xmlns:a16="http://schemas.microsoft.com/office/drawing/2014/main" id="{7939E995-0A47-4BC2-9B3B-5C38DCB1EE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351825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B5ECE6-D097-4312-9B0D-BAA5545C0B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675B86-9A01-4B3E-8F1B-EA58F47B4A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2</a:t>
            </a:r>
          </a:p>
        </p:txBody>
      </p:sp>
      <p:sp>
        <p:nvSpPr>
          <p:cNvPr id="3" name="">
            <a:extLst xmlns:a="http://schemas.openxmlformats.org/drawingml/2006/main">
              <a:ext uri="{FF2B5EF4-FFF2-40B4-BE49-F238E27FC236}">
                <a16:creationId xmlns:a16="http://schemas.microsoft.com/office/drawing/2014/main" id="{8BB13420-19E3-4630-9F0E-FB0F1BC9C4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06C615D-36C2-4368-BD0C-71891F2550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207FD1F-390B-4EE4-98E4-796B16FDF0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contains concentrated nutrients and carries metabolic, infection, and line risks.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formulation and rate, use the required central or peripheral route, dedicated lumen and filter when ordered, strict asepsis, glucose/electrolyte monitoring, and never abruptly change therapy without direction.</a:t>
            </a:r>
          </a:p>
        </p:txBody>
      </p:sp>
      <p:sp>
        <p:nvSpPr>
          <p:cNvPr id="6" name="">
            <a:extLst xmlns:a="http://schemas.openxmlformats.org/drawingml/2006/main">
              <a:ext uri="{FF2B5EF4-FFF2-40B4-BE49-F238E27FC236}">
                <a16:creationId xmlns:a16="http://schemas.microsoft.com/office/drawing/2014/main" id="{356F8C94-42B6-4BDB-82F3-163DF01149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3138239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9DBFCB-A064-4063-BB08-DE67A4AF43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441913-61E9-4FBE-94FA-4254FC3582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3</a:t>
            </a:r>
          </a:p>
        </p:txBody>
      </p:sp>
      <p:sp>
        <p:nvSpPr>
          <p:cNvPr id="3" name="">
            <a:extLst xmlns:a="http://schemas.openxmlformats.org/drawingml/2006/main">
              <a:ext uri="{FF2B5EF4-FFF2-40B4-BE49-F238E27FC236}">
                <a16:creationId xmlns:a16="http://schemas.microsoft.com/office/drawing/2014/main" id="{5B6856E2-53C4-4F28-9036-2D066B6040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5C4672D-E494-42CA-BF66-7766E5E70B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150624D5-BD60-40AD-BE91-F7BBE0F3D3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High-alert and vesicant medications require current drug-specific guidance, appropriate access, blood return/patency checks when indicated, close monitoring, and immediate use of the facility extravasation or emergency protocol.</a:t>
            </a:r>
          </a:p>
        </p:txBody>
      </p:sp>
      <p:sp>
        <p:nvSpPr>
          <p:cNvPr id="6" name="">
            <a:extLst xmlns:a="http://schemas.openxmlformats.org/drawingml/2006/main">
              <a:ext uri="{FF2B5EF4-FFF2-40B4-BE49-F238E27FC236}">
                <a16:creationId xmlns:a16="http://schemas.microsoft.com/office/drawing/2014/main" id="{AE8CF08E-B009-4930-A2DD-2D0553F6FB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105557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51BE66-DCDA-46B9-B655-15A559EA73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CF03DB-ABDB-4E74-8B73-1C29ACA9CD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Live Review: Infection Control, Access Devices, Blood, and Nutrition 1</a:t>
            </a:r>
          </a:p>
        </p:txBody>
      </p:sp>
      <p:sp>
        <p:nvSpPr>
          <p:cNvPr id="3" name="">
            <a:extLst xmlns:a="http://schemas.openxmlformats.org/drawingml/2006/main">
              <a:ext uri="{FF2B5EF4-FFF2-40B4-BE49-F238E27FC236}">
                <a16:creationId xmlns:a16="http://schemas.microsoft.com/office/drawing/2014/main" id="{3996DCAD-D877-4114-A89E-F3C448F71A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488B836-1820-4BEA-9933-D0803222FA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D7BC167-BE8D-48CB-AE6E-BB2BF3DA60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Instructor demonstrations and guided discussion cover hand hygiene, PPE, aseptic non-touch technique, skin preparation, connector disinfection, dressing assessment, peripheral versus central access, device restrictions, blood components and reactions, parenteral nutrition, high-alert therapy, and emergency readiness.</a:t>
            </a:r>
          </a:p>
        </p:txBody>
      </p:sp>
      <p:sp>
        <p:nvSpPr>
          <p:cNvPr id="6" name="">
            <a:extLst xmlns:a="http://schemas.openxmlformats.org/drawingml/2006/main">
              <a:ext uri="{FF2B5EF4-FFF2-40B4-BE49-F238E27FC236}">
                <a16:creationId xmlns:a16="http://schemas.microsoft.com/office/drawing/2014/main" id="{A24415B8-9A8D-49E5-BADA-5801675F07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422304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D9D5D7-17CD-42C2-99D7-EDC099AEF4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8611C5-615A-4E63-A78C-B436416ABA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Live Review: Infection Control, Access Devices, Blood, and Nutrition 2</a:t>
            </a:r>
          </a:p>
        </p:txBody>
      </p:sp>
      <p:sp>
        <p:nvSpPr>
          <p:cNvPr id="3" name="">
            <a:extLst xmlns:a="http://schemas.openxmlformats.org/drawingml/2006/main">
              <a:ext uri="{FF2B5EF4-FFF2-40B4-BE49-F238E27FC236}">
                <a16:creationId xmlns:a16="http://schemas.microsoft.com/office/drawing/2014/main" id="{961CE885-A307-4330-975B-B858598BA3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60D03E6-4058-44AE-BF32-15BC3E3055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F6590A7-CCB6-49AB-A8F5-6072F52B8F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complete verbal teach-back for suspected infection, transfusion reaction, and central-line complication scenarios.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instructor documents attendance and provides remediation before lab participation when a learner cannot state the immediate safety action.</a:t>
            </a:r>
          </a:p>
        </p:txBody>
      </p:sp>
      <p:sp>
        <p:nvSpPr>
          <p:cNvPr id="6" name="">
            <a:extLst xmlns:a="http://schemas.openxmlformats.org/drawingml/2006/main">
              <a:ext uri="{FF2B5EF4-FFF2-40B4-BE49-F238E27FC236}">
                <a16:creationId xmlns:a16="http://schemas.microsoft.com/office/drawing/2014/main" id="{60D681D3-11E2-412D-9D67-5CABB56814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5130106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E19050-867C-48A6-9130-047B63BC33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7DD40A-7DB6-416F-9BD2-5C8D26507C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Transfusion Therapy</a:t>
            </a:r>
          </a:p>
        </p:txBody>
      </p:sp>
      <p:sp>
        <p:nvSpPr>
          <p:cNvPr id="3" name="">
            <a:extLst xmlns:a="http://schemas.openxmlformats.org/drawingml/2006/main">
              <a:ext uri="{FF2B5EF4-FFF2-40B4-BE49-F238E27FC236}">
                <a16:creationId xmlns:a16="http://schemas.microsoft.com/office/drawing/2014/main" id="{6378F3E9-2FE5-4DAC-A24D-28571635C7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074BF241-E68E-4C9C-9942-26FBC93118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9DAAC3E3-CF17-4D0C-8C55-288380D6E6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Four Module Objectives At the conclusion of this self-learning module, the learner will be able to: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List indications for the transfusion of blood or blood products.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the procedure for the proper identification of the patient requiring transfusion of blood or blood products.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List the different blood components indications for use, and equipment required for administration.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transfusion reactions and appropriate nursing interventions.</a:t>
            </a:r>
          </a:p>
        </p:txBody>
      </p:sp>
      <p:sp>
        <p:nvSpPr>
          <p:cNvPr id="6" name="">
            <a:extLst xmlns:a="http://schemas.openxmlformats.org/drawingml/2006/main">
              <a:ext uri="{FF2B5EF4-FFF2-40B4-BE49-F238E27FC236}">
                <a16:creationId xmlns:a16="http://schemas.microsoft.com/office/drawing/2014/main" id="{AF53D92E-30EE-4CB6-A12A-60351DE3D7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32867B-2268-4B42-A02E-FE14354C3E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51</a:t>
            </a:r>
          </a:p>
        </p:txBody>
      </p:sp>
    </p:spTree>
    <p:extLst>
      <p:ext uri="{BB962C8B-B14F-4D97-AF65-F5344CB8AC3E}">
        <p14:creationId xmlns:p14="http://schemas.microsoft.com/office/powerpoint/2010/main" val="1703892941"/>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63243B-F9BB-481F-94EE-8E6B57A128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329D35-FBB2-492B-A847-C9E6A12FF4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Transfusion Therapy — continued</a:t>
            </a:r>
          </a:p>
        </p:txBody>
      </p:sp>
      <p:sp>
        <p:nvSpPr>
          <p:cNvPr id="3" name="">
            <a:extLst xmlns:a="http://schemas.openxmlformats.org/drawingml/2006/main">
              <a:ext uri="{FF2B5EF4-FFF2-40B4-BE49-F238E27FC236}">
                <a16:creationId xmlns:a16="http://schemas.microsoft.com/office/drawing/2014/main" id="{7C5ECADD-C4C7-43A5-9E97-2BC9286C4D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A34B2CA-0155-4B57-8545-0CAFD34E32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F5685AF-4A2F-4540-A15C-E163FFA60A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Unit Outline Transfusion Therapy Indications for blood or blood products Safety measures in the administration of infusion products Blood Grouping Blood typing and cross matching The ABO blood grouping system</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Compatibility and incompatibility Objectives of Transfusion Therapy Increase circulating blood volume Increase oxygen carrying capacity Replace specific blood components Contraindications for Transfusion Therapy Need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must be documented Need must be immediate</a:t>
            </a:r>
          </a:p>
        </p:txBody>
      </p:sp>
      <p:sp>
        <p:nvSpPr>
          <p:cNvPr id="6" name="">
            <a:extLst xmlns:a="http://schemas.openxmlformats.org/drawingml/2006/main">
              <a:ext uri="{FF2B5EF4-FFF2-40B4-BE49-F238E27FC236}">
                <a16:creationId xmlns:a16="http://schemas.microsoft.com/office/drawing/2014/main" id="{41C8B18E-BA93-40B0-8BE6-A35224F4B7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0E475E-7F47-40FA-BD66-C5C6E0F7CD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51</a:t>
            </a:r>
          </a:p>
        </p:txBody>
      </p:sp>
    </p:spTree>
    <p:extLst>
      <p:ext uri="{BB962C8B-B14F-4D97-AF65-F5344CB8AC3E}">
        <p14:creationId xmlns:p14="http://schemas.microsoft.com/office/powerpoint/2010/main" val="194504590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C69F6D-9862-4A09-802D-6CD4BEF989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07DF9D-F798-4513-894B-E84D18467D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a:t>
            </a:r>
          </a:p>
        </p:txBody>
      </p:sp>
      <p:sp>
        <p:nvSpPr>
          <p:cNvPr id="3" name="">
            <a:extLst xmlns:a="http://schemas.openxmlformats.org/drawingml/2006/main">
              <a:ext uri="{FF2B5EF4-FFF2-40B4-BE49-F238E27FC236}">
                <a16:creationId xmlns:a16="http://schemas.microsoft.com/office/drawing/2014/main" id="{A9CCD501-3F54-44D2-AD17-E619293803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D4981FA-A94B-4A0C-969C-EDA8A740F3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054F027-D99A-4D49-AF5E-AAD0FA357D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Whole Blood Packed Red Blood Cells Frozen Red Cells - Leukocyte Depleted Packed Red Cells Plasma components Plasma Cryoprecipitate Platelets Granulocytes Human Serum Albumin Transfusion Initiation Procedure Obtaining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from the blood bank Blood slips/compatibility check Patient identification Blood filters Venipuncture Standards of administration Documentation Transfusion Reactions Nursing interventions Hemolytic reaction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Allergic reaction Febrile reaction Circulatory overload Air embolism Transfusion Therapy The ultimate responsibility of the safe administration of blood and blood products is that of the nurse.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From the comparison of donor and recipient blood type to the proper identification of the patient, safe transfusion of blood requires a basic knowledge of the various blood components available, indications for their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and recognition of complications.</a:t>
            </a:r>
          </a:p>
        </p:txBody>
      </p:sp>
      <p:sp>
        <p:nvSpPr>
          <p:cNvPr id="6" name="">
            <a:extLst xmlns:a="http://schemas.openxmlformats.org/drawingml/2006/main">
              <a:ext uri="{FF2B5EF4-FFF2-40B4-BE49-F238E27FC236}">
                <a16:creationId xmlns:a16="http://schemas.microsoft.com/office/drawing/2014/main" id="{755A4FAD-99AC-4E81-A6C8-2756AE3F02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BED2442-032A-4BA3-A75E-4D5F2D1C59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52</a:t>
            </a:r>
          </a:p>
        </p:txBody>
      </p:sp>
    </p:spTree>
    <p:extLst>
      <p:ext uri="{BB962C8B-B14F-4D97-AF65-F5344CB8AC3E}">
        <p14:creationId xmlns:p14="http://schemas.microsoft.com/office/powerpoint/2010/main" val="1054209104"/>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274736-5A4A-4FFA-AA59-AFB1C5B7A2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D86437-FA23-4533-9204-189A0BB678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 — continued</a:t>
            </a:r>
          </a:p>
        </p:txBody>
      </p:sp>
      <p:sp>
        <p:nvSpPr>
          <p:cNvPr id="3" name="">
            <a:extLst xmlns:a="http://schemas.openxmlformats.org/drawingml/2006/main">
              <a:ext uri="{FF2B5EF4-FFF2-40B4-BE49-F238E27FC236}">
                <a16:creationId xmlns:a16="http://schemas.microsoft.com/office/drawing/2014/main" id="{8EEFD6F7-E92B-4FEB-B089-60F9963EDF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61ED95D-5A70-42F2-995F-BE75662481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590EFA23-DF64-4FF8-8496-16B3037449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administration of blood and blood products has become a vital part of patient care.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Transfusion therapy demands a qualified and competent staff with the experience to safely administer these products without untoward effects.</a:t>
            </a:r>
          </a:p>
        </p:txBody>
      </p:sp>
      <p:sp>
        <p:nvSpPr>
          <p:cNvPr id="6" name="">
            <a:extLst xmlns:a="http://schemas.openxmlformats.org/drawingml/2006/main">
              <a:ext uri="{FF2B5EF4-FFF2-40B4-BE49-F238E27FC236}">
                <a16:creationId xmlns:a16="http://schemas.microsoft.com/office/drawing/2014/main" id="{55C478E2-8898-4CE3-B567-E2284996D7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D5E72A6-045F-4926-9A4B-3B52B297DD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52</a:t>
            </a:r>
          </a:p>
        </p:txBody>
      </p:sp>
    </p:spTree>
    <p:extLst>
      <p:ext uri="{BB962C8B-B14F-4D97-AF65-F5344CB8AC3E}">
        <p14:creationId xmlns:p14="http://schemas.microsoft.com/office/powerpoint/2010/main" val="213770454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71E1FF-A472-43EA-BDEE-99758C846D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AC6BAE-7E2D-4DC7-8EA4-B65F744ACF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Objectives of Transfusion Therapy</a:t>
            </a:r>
          </a:p>
        </p:txBody>
      </p:sp>
      <p:sp>
        <p:nvSpPr>
          <p:cNvPr id="3" name="">
            <a:extLst xmlns:a="http://schemas.openxmlformats.org/drawingml/2006/main">
              <a:ext uri="{FF2B5EF4-FFF2-40B4-BE49-F238E27FC236}">
                <a16:creationId xmlns:a16="http://schemas.microsoft.com/office/drawing/2014/main" id="{EFC73AC6-281C-41F5-A2D7-CF6815A6FA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9F652C0-8DAB-45FD-9924-F675BC7E19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2016D3F8-78F5-48C5-A3CC-2B1BD0F113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Replacement of Blood Components (platelets, coagulation factors) The occurrence of a bleeding disorder warrants the administration of a plasma concentrate.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all the factors need replacement, fresh frozen plasma is given.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Replacement of Oxygen Carrying Capacity The erythrocyte (RBC) is the only blood component capable of carrying oxygen in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there is depletion in the number of circulating RBCs, either by loss or excessive destruction, replacement is necessary to maintain an adequate oxygen supply to the tissues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Replacement of Circulating Blood Volume To maintain adequate tissue oxygenation an adequate volume of circulating blood is necessary.</a:t>
            </a:r>
          </a:p>
        </p:txBody>
      </p:sp>
      <p:sp>
        <p:nvSpPr>
          <p:cNvPr id="6" name="">
            <a:extLst xmlns:a="http://schemas.openxmlformats.org/drawingml/2006/main">
              <a:ext uri="{FF2B5EF4-FFF2-40B4-BE49-F238E27FC236}">
                <a16:creationId xmlns:a16="http://schemas.microsoft.com/office/drawing/2014/main" id="{F9F189E0-B9CE-443B-8C47-E4039B0F0F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DFCF13-F0DE-4986-BD45-E177C40814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53</a:t>
            </a:r>
          </a:p>
        </p:txBody>
      </p:sp>
    </p:spTree>
    <p:extLst>
      <p:ext uri="{BB962C8B-B14F-4D97-AF65-F5344CB8AC3E}">
        <p14:creationId xmlns:p14="http://schemas.microsoft.com/office/powerpoint/2010/main" val="90688137"/>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F6D782-E4E2-4404-B974-9CD29372F6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29FAF5-3A1E-4360-BB0A-32272339F8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Objectives of Transfusion Therapy — continued</a:t>
            </a:r>
          </a:p>
        </p:txBody>
      </p:sp>
      <p:sp>
        <p:nvSpPr>
          <p:cNvPr id="3" name="">
            <a:extLst xmlns:a="http://schemas.openxmlformats.org/drawingml/2006/main">
              <a:ext uri="{FF2B5EF4-FFF2-40B4-BE49-F238E27FC236}">
                <a16:creationId xmlns:a16="http://schemas.microsoft.com/office/drawing/2014/main" id="{5A4614F9-17BB-4D31-BABB-8C2595357C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D43963E-C77B-4CC6-98B7-7CDD1914AF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BAAFDD43-BA84-4DC3-9DD9-BE5EC12EBE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Should volume decrease due to a loss of blood, the body can compensate by constricting the vessels of the venous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the loss is rapid or excessive, the venous system may be unable to compensate effectively.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the hematocrit is below normal, tissue oxygenation is not adequate.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Requirements There must be a documented need for the transfusion of blood or blood products The patient must have clinical symptoms warranting the need for the transfusion.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rapid volume depletion cannot be corrected by the administration of crystalloid replacement solutions.</a:t>
            </a:r>
          </a:p>
        </p:txBody>
      </p:sp>
      <p:sp>
        <p:nvSpPr>
          <p:cNvPr id="6" name="">
            <a:extLst xmlns:a="http://schemas.openxmlformats.org/drawingml/2006/main">
              <a:ext uri="{FF2B5EF4-FFF2-40B4-BE49-F238E27FC236}">
                <a16:creationId xmlns:a16="http://schemas.microsoft.com/office/drawing/2014/main" id="{FAAFD707-F7EC-4CFF-B19D-C4D279FA46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B0CF20A-4050-4065-845F-626A5F56E74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53</a:t>
            </a:r>
          </a:p>
        </p:txBody>
      </p:sp>
    </p:spTree>
    <p:extLst>
      <p:ext uri="{BB962C8B-B14F-4D97-AF65-F5344CB8AC3E}">
        <p14:creationId xmlns:p14="http://schemas.microsoft.com/office/powerpoint/2010/main" val="1518615360"/>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FB8EA1-7AB7-4067-BEB3-62E4B55C8D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5DB104-B39A-4F60-821D-C629584A09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Objectives of Transfusion Therapy — continued</a:t>
            </a:r>
          </a:p>
        </p:txBody>
      </p:sp>
      <p:sp>
        <p:nvSpPr>
          <p:cNvPr id="3" name="">
            <a:extLst xmlns:a="http://schemas.openxmlformats.org/drawingml/2006/main">
              <a:ext uri="{FF2B5EF4-FFF2-40B4-BE49-F238E27FC236}">
                <a16:creationId xmlns:a16="http://schemas.microsoft.com/office/drawing/2014/main" id="{0A049BC5-E22A-4650-B6D6-BD4420B84D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335C9D4-A541-466E-8D55-EB60BE042E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A8A981B3-5A9B-4B35-B796-9E52ADB542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Groups The best known blood grouping system is the ABO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 antigen and B antigen are the most important antigens.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are located on the surface of the RBC.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RBC is tested to determine what specific blood group it belongs to.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Those patients who test positive for the A antigen are classified as group A, B antigen as group B, and AB as group AB.</a:t>
            </a:r>
          </a:p>
        </p:txBody>
      </p:sp>
      <p:sp>
        <p:nvSpPr>
          <p:cNvPr id="6" name="">
            <a:extLst xmlns:a="http://schemas.openxmlformats.org/drawingml/2006/main">
              <a:ext uri="{FF2B5EF4-FFF2-40B4-BE49-F238E27FC236}">
                <a16:creationId xmlns:a16="http://schemas.microsoft.com/office/drawing/2014/main" id="{2BABAFDF-8E69-4B3D-AD37-8968A80C4E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46C2D3-E93F-41D2-983D-534A1DA3A5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53</a:t>
            </a:r>
          </a:p>
        </p:txBody>
      </p:sp>
    </p:spTree>
    <p:extLst>
      <p:ext uri="{BB962C8B-B14F-4D97-AF65-F5344CB8AC3E}">
        <p14:creationId xmlns:p14="http://schemas.microsoft.com/office/powerpoint/2010/main" val="1782997098"/>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F858A3-4C03-451C-A046-D9043736AA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948AFE-6DF7-4BA3-8B0C-E021365397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Objectives of Transfusion Therapy — continued</a:t>
            </a:r>
          </a:p>
        </p:txBody>
      </p:sp>
      <p:sp>
        <p:nvSpPr>
          <p:cNvPr id="3" name="">
            <a:extLst xmlns:a="http://schemas.openxmlformats.org/drawingml/2006/main">
              <a:ext uri="{FF2B5EF4-FFF2-40B4-BE49-F238E27FC236}">
                <a16:creationId xmlns:a16="http://schemas.microsoft.com/office/drawing/2014/main" id="{AF8937F5-F6EB-41BF-8FCD-036CFE4522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E81F7C2-175E-4302-AA33-30C6CCAAD0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FD05AF17-78BD-49C8-872E-FA978ECBBB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absence of an antigen is classified as group 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typing also checks for the D antigen also known as the Rh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presence of the D antigen designated Rh positive blood and the absence designates Rh negative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Accurate blood typing should include both the group and the Rh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compatibility of the ABO blood group and the Rh factor between the donor and the recipient is of major importance to avoid complications associated with transfusion reactions.</a:t>
            </a:r>
          </a:p>
        </p:txBody>
      </p:sp>
      <p:sp>
        <p:nvSpPr>
          <p:cNvPr id="6" name="">
            <a:extLst xmlns:a="http://schemas.openxmlformats.org/drawingml/2006/main">
              <a:ext uri="{FF2B5EF4-FFF2-40B4-BE49-F238E27FC236}">
                <a16:creationId xmlns:a16="http://schemas.microsoft.com/office/drawing/2014/main" id="{60654097-8790-4011-9114-95B85D382D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98C6EB-6A3B-4A15-B883-C78CC2215A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53</a:t>
            </a:r>
          </a:p>
        </p:txBody>
      </p:sp>
    </p:spTree>
    <p:extLst>
      <p:ext uri="{BB962C8B-B14F-4D97-AF65-F5344CB8AC3E}">
        <p14:creationId xmlns:p14="http://schemas.microsoft.com/office/powerpoint/2010/main" val="1411072457"/>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970374-A17D-4A11-B2F4-2C27E17809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FC8591-4552-4E42-A6F0-6D5351AF91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a:t>
            </a:r>
          </a:p>
        </p:txBody>
      </p:sp>
      <p:sp>
        <p:nvSpPr>
          <p:cNvPr id="3" name="">
            <a:extLst xmlns:a="http://schemas.openxmlformats.org/drawingml/2006/main">
              <a:ext uri="{FF2B5EF4-FFF2-40B4-BE49-F238E27FC236}">
                <a16:creationId xmlns:a16="http://schemas.microsoft.com/office/drawing/2014/main" id="{9E05153F-1414-47BF-AAD8-FD9D112391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AAD57F5-E2E9-47C0-B0E0-4174B65022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3735671E-941A-407F-BB69-794C87647C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is an overview of the various replacement therapies available and indications for use: Whole Blood - Whole blood restores circulating blood volume and increases oxygen carrying capacity.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Indications for whole blood administration include; massive blood loss, hypovolemic shock(necessitating multiple units of blood), and cardiac surgery.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Multiple transfusions of whole blood may cause a need for platelet and clotting factor replacement, due to the loss of these constituents during the storage period.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incidence of transfusion reactions is higher in the administration of whole blood because of the many substances constituting the plasma portion of whole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Packed Red Blood Cells - This product is preferred when the oxygen carrying capacity of the patient needs improvement without extensive volume restoration.</a:t>
            </a:r>
          </a:p>
        </p:txBody>
      </p:sp>
      <p:sp>
        <p:nvSpPr>
          <p:cNvPr id="6" name="">
            <a:extLst xmlns:a="http://schemas.openxmlformats.org/drawingml/2006/main">
              <a:ext uri="{FF2B5EF4-FFF2-40B4-BE49-F238E27FC236}">
                <a16:creationId xmlns:a16="http://schemas.microsoft.com/office/drawing/2014/main" id="{6129252B-8022-406B-85D3-7E0A98B27D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3D2F6FF-7FE6-427A-B1DA-689478919FD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54</a:t>
            </a:r>
          </a:p>
        </p:txBody>
      </p:sp>
    </p:spTree>
    <p:extLst>
      <p:ext uri="{BB962C8B-B14F-4D97-AF65-F5344CB8AC3E}">
        <p14:creationId xmlns:p14="http://schemas.microsoft.com/office/powerpoint/2010/main" val="73951133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9833E0-3039-471C-AFC3-4F1DAC5996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7F8AB7-8E92-48B5-866B-F9C8631F34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 — continued</a:t>
            </a:r>
          </a:p>
        </p:txBody>
      </p:sp>
      <p:sp>
        <p:nvSpPr>
          <p:cNvPr id="3" name="">
            <a:extLst xmlns:a="http://schemas.openxmlformats.org/drawingml/2006/main">
              <a:ext uri="{FF2B5EF4-FFF2-40B4-BE49-F238E27FC236}">
                <a16:creationId xmlns:a16="http://schemas.microsoft.com/office/drawing/2014/main" id="{341D8E60-080E-4B89-A972-B87D1A1C90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A218437-A813-494E-A1BB-2105271BBC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3DD2F56-CED3-4D78-8583-ED20E477D2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unit of packed cells has a hematocrit (percent red blood cells) of 80%, and provides the necessary replacement of oxygen carrying red cells without the risk of circulatory overload.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less citrate in packed cells than whole blood therefore, the risk of toxicity is reduced.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Frozen Red Cells - The technique of long-term preservation of red blood cells is accomplished through freezing the cells in glycerol.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has enabled blood banks to store frozen blood for as long as three years.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technique is extremely valuable in the preservation of rare and atypical blood types.</a:t>
            </a:r>
          </a:p>
        </p:txBody>
      </p:sp>
      <p:sp>
        <p:nvSpPr>
          <p:cNvPr id="6" name="">
            <a:extLst xmlns:a="http://schemas.openxmlformats.org/drawingml/2006/main">
              <a:ext uri="{FF2B5EF4-FFF2-40B4-BE49-F238E27FC236}">
                <a16:creationId xmlns:a16="http://schemas.microsoft.com/office/drawing/2014/main" id="{52C866B5-CC69-44A4-BB15-786E9474004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339FA0C-E5E8-4C27-AFB9-ADC8224979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54</a:t>
            </a:r>
          </a:p>
        </p:txBody>
      </p:sp>
    </p:spTree>
    <p:extLst>
      <p:ext uri="{BB962C8B-B14F-4D97-AF65-F5344CB8AC3E}">
        <p14:creationId xmlns:p14="http://schemas.microsoft.com/office/powerpoint/2010/main" val="1810765862"/>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7E68BA-71EE-411D-B9C5-082627CE2C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DA2061-BE20-4896-80B5-43BFE4CAA7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 — continued</a:t>
            </a:r>
          </a:p>
        </p:txBody>
      </p:sp>
      <p:sp>
        <p:nvSpPr>
          <p:cNvPr id="3" name="">
            <a:extLst xmlns:a="http://schemas.openxmlformats.org/drawingml/2006/main">
              <a:ext uri="{FF2B5EF4-FFF2-40B4-BE49-F238E27FC236}">
                <a16:creationId xmlns:a16="http://schemas.microsoft.com/office/drawing/2014/main" id="{A443E8A9-B930-4555-B736-135793284B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2E0B7B1-06C2-4961-A380-24EE7E02BD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EFFDD581-6CDF-4DC8-853C-10683A3563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Aside from the latter advantage, it has been found that hepatitis transmission is decreased when frozen cells are administered.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process involves removing the red blood cells from a unit of whole blood, coating them with glycerol to prevent damage from freezing, and freezing them at 85 degrees centigrade.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cells are then prepared for administration by thawing for 30 minutes in a water bath at 40 degrees centigrade.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cells are then washed to remove the glycerol.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process of washing the cells markedly decreased the number of leukocytes and plasma in the donor unit, thus decreasing the incidence of transfusion reaction.</a:t>
            </a:r>
          </a:p>
        </p:txBody>
      </p:sp>
      <p:sp>
        <p:nvSpPr>
          <p:cNvPr id="6" name="">
            <a:extLst xmlns:a="http://schemas.openxmlformats.org/drawingml/2006/main">
              <a:ext uri="{FF2B5EF4-FFF2-40B4-BE49-F238E27FC236}">
                <a16:creationId xmlns:a16="http://schemas.microsoft.com/office/drawing/2014/main" id="{A3CEEFC8-5707-4445-AE3F-555D777D65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202FF85-7A7D-4370-9314-67248853479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54</a:t>
            </a:r>
          </a:p>
        </p:txBody>
      </p:sp>
    </p:spTree>
    <p:extLst>
      <p:ext uri="{BB962C8B-B14F-4D97-AF65-F5344CB8AC3E}">
        <p14:creationId xmlns:p14="http://schemas.microsoft.com/office/powerpoint/2010/main" val="470865591"/>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F14EED-D658-449E-98ED-A1A95A7D3A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8CBC45-58AD-4F25-BA34-546747193E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 — continued</a:t>
            </a:r>
          </a:p>
        </p:txBody>
      </p:sp>
      <p:sp>
        <p:nvSpPr>
          <p:cNvPr id="3" name="">
            <a:extLst xmlns:a="http://schemas.openxmlformats.org/drawingml/2006/main">
              <a:ext uri="{FF2B5EF4-FFF2-40B4-BE49-F238E27FC236}">
                <a16:creationId xmlns:a16="http://schemas.microsoft.com/office/drawing/2014/main" id="{B4C6829C-575A-4FDC-A542-CFABE4E1E6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06BA5BE-BCCA-4E04-8960-9576A2CE49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612E2499-BA12-4764-AC7F-F47EBCB86F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significant for the patient who has been sensitized from previous transfusions.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Leukocyte (poor) depleted washed cells - packed cells that are mostly free of white blood cells, are indicated for the patient who has had previous severe transfusions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unit is prepared in one of three ways.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blood can be centrifuged, saline washed, or administered through a special nylon filter to remove the white cell constituents of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order to be considered leukocyte poor at least 75% of the leukocytes have to be removed.</a:t>
            </a:r>
          </a:p>
        </p:txBody>
      </p:sp>
      <p:sp>
        <p:nvSpPr>
          <p:cNvPr id="6" name="">
            <a:extLst xmlns:a="http://schemas.openxmlformats.org/drawingml/2006/main">
              <a:ext uri="{FF2B5EF4-FFF2-40B4-BE49-F238E27FC236}">
                <a16:creationId xmlns:a16="http://schemas.microsoft.com/office/drawing/2014/main" id="{C1915152-6415-412C-986E-F847A850C6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513A07D-866C-47D5-80DB-5EC4EDA883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54</a:t>
            </a:r>
          </a:p>
        </p:txBody>
      </p:sp>
    </p:spTree>
    <p:extLst>
      <p:ext uri="{BB962C8B-B14F-4D97-AF65-F5344CB8AC3E}">
        <p14:creationId xmlns:p14="http://schemas.microsoft.com/office/powerpoint/2010/main" val="1863867696"/>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56462B-FA94-4720-A0FA-00178EEBF0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9380F1-27F0-4DCD-9E75-751860D8CC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Cell Preparations — continued</a:t>
            </a:r>
          </a:p>
        </p:txBody>
      </p:sp>
      <p:sp>
        <p:nvSpPr>
          <p:cNvPr id="3" name="">
            <a:extLst xmlns:a="http://schemas.openxmlformats.org/drawingml/2006/main">
              <a:ext uri="{FF2B5EF4-FFF2-40B4-BE49-F238E27FC236}">
                <a16:creationId xmlns:a16="http://schemas.microsoft.com/office/drawing/2014/main" id="{17046008-48E4-4D0D-88E8-1792DC05A6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880CE51-F35B-4951-8EA8-BA8C71B905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FACC99F1-5803-48DA-AEED-5F3EF781CB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There are also special filters available to remove leukocytes form a unit of packed cells during administration.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Plasma Components One objective of transfusion therapy is replacement of coagulation properties in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is accomplished through the transfusion of clotting factors found in plasma.</a:t>
            </a:r>
          </a:p>
        </p:txBody>
      </p:sp>
      <p:sp>
        <p:nvSpPr>
          <p:cNvPr id="6" name="">
            <a:extLst xmlns:a="http://schemas.openxmlformats.org/drawingml/2006/main">
              <a:ext uri="{FF2B5EF4-FFF2-40B4-BE49-F238E27FC236}">
                <a16:creationId xmlns:a16="http://schemas.microsoft.com/office/drawing/2014/main" id="{4F249713-1893-4E79-848F-9BCCD0694B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A2AB58-280D-4A81-8474-9D2F47A7184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54</a:t>
            </a:r>
          </a:p>
        </p:txBody>
      </p:sp>
    </p:spTree>
    <p:extLst>
      <p:ext uri="{BB962C8B-B14F-4D97-AF65-F5344CB8AC3E}">
        <p14:creationId xmlns:p14="http://schemas.microsoft.com/office/powerpoint/2010/main" val="424048340"/>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B844B8-58EA-403A-AA83-1D2AAA4FC8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347CF5-2A63-466C-B11C-FB7D0F1729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a:t>
            </a:r>
          </a:p>
        </p:txBody>
      </p:sp>
      <p:sp>
        <p:nvSpPr>
          <p:cNvPr id="3" name="">
            <a:extLst xmlns:a="http://schemas.openxmlformats.org/drawingml/2006/main">
              <a:ext uri="{FF2B5EF4-FFF2-40B4-BE49-F238E27FC236}">
                <a16:creationId xmlns:a16="http://schemas.microsoft.com/office/drawing/2014/main" id="{E7E022EF-11CD-480B-902F-3C44DF1896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DAE1A86-B5BB-459D-A752-9426B67057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C3F25C32-A53B-4101-B931-DFC5E11B0A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Plasma - The liquid portion of the whole blood that remains after the removal of red blood cells is plasma.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Plasma is separated from whole blood utilizing a closed system, culture and visual inspection is performed to assure sterility.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Liquid stored plasma provides the patient with plasma proteins, important in the treatment of burn patients, it prevents shock while not overloading the circulation volumetrically.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Plasma can transmit the Hepatitis virus, therefore, single donor plasma is preferred.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Fresh Frozen Plasma - This product is indicated for the patient with inherited or acquired coagulation disorders.</a:t>
            </a:r>
          </a:p>
        </p:txBody>
      </p:sp>
      <p:sp>
        <p:nvSpPr>
          <p:cNvPr id="6" name="">
            <a:extLst xmlns:a="http://schemas.openxmlformats.org/drawingml/2006/main">
              <a:ext uri="{FF2B5EF4-FFF2-40B4-BE49-F238E27FC236}">
                <a16:creationId xmlns:a16="http://schemas.microsoft.com/office/drawing/2014/main" id="{6FA3FF4E-E0A8-4C86-B9E5-6A9075F742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F3E6BA-8ACD-4420-9C55-B1C4445330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912810368"/>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636056-85E2-4EC6-BE3A-4E9D958509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5EF0E9-ED33-4F6D-AEDA-A93EC441C5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0281890B-F8E9-436F-8787-FB25E8DE88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063EB07-CBA4-4CC7-BBBD-7CA36B1DA6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932180CC-1E94-49CE-832A-C130A24A31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plasma is separated from the red cells and frozen, preserving the clotting factors.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Fresh frozen plasma must be stored at -18 degrees to -30 degrees centigrade and kept frozen until it is needed.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After thawing the plasma, it must be administered within six (6) hours to avoid the loss of Factor VIII (anti-hemophiliac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Donor plasma should be compatible with the recipient's red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with blood group AB positive is the universal recipient.</a:t>
            </a:r>
          </a:p>
        </p:txBody>
      </p:sp>
      <p:sp>
        <p:nvSpPr>
          <p:cNvPr id="6" name="">
            <a:extLst xmlns:a="http://schemas.openxmlformats.org/drawingml/2006/main">
              <a:ext uri="{FF2B5EF4-FFF2-40B4-BE49-F238E27FC236}">
                <a16:creationId xmlns:a16="http://schemas.microsoft.com/office/drawing/2014/main" id="{4D798907-43B9-4BBC-B70A-AD01CAC58C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69E8CA-BFFF-41C2-9FCC-22E1F8C1797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1572874981"/>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53934E-1F73-430F-A5B6-6E77570972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08F839-C61C-477D-9760-0BE514BB3C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BBBB290E-E0C1-4E4A-889C-7BBDA52CFB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DFDC386-59CB-43DD-923A-1028B3695D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333432BE-B0F0-4145-A889-7B7773431C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 negative may give plasma to other groups.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 plasma may be used for all ABO blood groups.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the blood group is unknown, as in an emergency, O negative plasma is given.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Cryoprecipitate - This concentrate contains factor VIII the hemophiliac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extracted from quick frozen plasma that is thawed over a 24-hour period.</a:t>
            </a:r>
          </a:p>
        </p:txBody>
      </p:sp>
      <p:sp>
        <p:nvSpPr>
          <p:cNvPr id="6" name="">
            <a:extLst xmlns:a="http://schemas.openxmlformats.org/drawingml/2006/main">
              <a:ext uri="{FF2B5EF4-FFF2-40B4-BE49-F238E27FC236}">
                <a16:creationId xmlns:a16="http://schemas.microsoft.com/office/drawing/2014/main" id="{682EA95A-F5D1-4A70-89FE-A30A165AD2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865620A-1ABD-48A7-9E6F-342BE5ACCE3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2057234721"/>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841AEA-797A-47D8-AC87-170306A8AB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169A26-1521-4088-80A6-C71353C912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7A0D191E-48AF-4B30-9874-A8456D5DBF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562B781-5B95-4970-9978-0D771251A4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81571964-31E0-4714-AAE3-625BA057DE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cryoprecipitate is then removed from the frozen plasma.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small amount collected form this process contains 75% of the hemophiliac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only use for this factor is in the treatment of hemophilia, a coagulation deficiency.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remains frozen until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thawed it must be given with six (6) hours.</a:t>
            </a:r>
          </a:p>
        </p:txBody>
      </p:sp>
      <p:sp>
        <p:nvSpPr>
          <p:cNvPr id="6" name="">
            <a:extLst xmlns:a="http://schemas.openxmlformats.org/drawingml/2006/main">
              <a:ext uri="{FF2B5EF4-FFF2-40B4-BE49-F238E27FC236}">
                <a16:creationId xmlns:a16="http://schemas.microsoft.com/office/drawing/2014/main" id="{6CD52850-967B-4ECA-9035-EFBA93331F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616A46-714A-47F9-BE5A-C425B2AB913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369814882"/>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74DF45-728A-4C68-9212-B7057B0440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9C87C8-1FB6-4250-8F80-289C3A80B9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F64F8AE8-50CF-4370-A9B0-EB866394FE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2E3A0DA-F44F-4616-8625-D9C6FB9FA8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4D6A7FF4-44D2-42E8-9CE6-199F8FC705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Platelets - Platelets are a constituent of the plasma portion of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 adult platelet counts range form 150,000 to 350,000 per cubic millimeter.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Replacement of this plasma component is therapeutically indicated for counts under 10,000.</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are generally stored at room temperature and infused within six (6) hours of donation.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Platelets are bolused through a standard blood Y administration set or a small filter set.</a:t>
            </a:r>
          </a:p>
        </p:txBody>
      </p:sp>
      <p:sp>
        <p:nvSpPr>
          <p:cNvPr id="6" name="">
            <a:extLst xmlns:a="http://schemas.openxmlformats.org/drawingml/2006/main">
              <a:ext uri="{FF2B5EF4-FFF2-40B4-BE49-F238E27FC236}">
                <a16:creationId xmlns:a16="http://schemas.microsoft.com/office/drawing/2014/main" id="{4403A0E4-09AA-4804-B069-8DA4F0587C8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AA6C2C-ACC7-449D-A116-F9A2E924EB0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518964964"/>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94D357-7523-4604-8E76-A483BC1010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A42C59-5C27-405A-AFE2-3B28B908CB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913E0C79-E439-4CC8-9090-A4274E33D5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3FEC3079-CE4C-4CED-A06C-4FBDAF9A2D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567350BD-0F50-4580-8444-6C6A9AE365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preferable for the donor plasma and the recipient's red cells to be ABO compatible and Rh match as well, to prevent Rh sensitization.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Granulocytes - White blood corpuscles or leukocytes, consist of 60% granulocytes.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administered in the presence of a serious bacterial infection in a patient who is immuno-compromised either form chemotherapy, leukemia, or toxic drugs, and are only used after all other treatments have failed.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consists of a daily transfusion of granulocytes for three to five days, or until the granulocyte count increases, the infection decreased, or the patient cannot tolerate the transfusion.</a:t>
            </a:r>
          </a:p>
        </p:txBody>
      </p:sp>
      <p:sp>
        <p:nvSpPr>
          <p:cNvPr id="6" name="">
            <a:extLst xmlns:a="http://schemas.openxmlformats.org/drawingml/2006/main">
              <a:ext uri="{FF2B5EF4-FFF2-40B4-BE49-F238E27FC236}">
                <a16:creationId xmlns:a16="http://schemas.microsoft.com/office/drawing/2014/main" id="{D41DA0AF-B981-44F4-97B9-40FC6AFBA2E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86539C-65FF-4182-AD60-BE761359B6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51734993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979C1A-8EB8-4F01-8B06-56D24F80DF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F418B2-8C9B-44F1-AC65-B6A19D692C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Fresh Frozen Plasma - This product is indicated for the patient with inherited or — continued</a:t>
            </a:r>
          </a:p>
        </p:txBody>
      </p:sp>
      <p:sp>
        <p:nvSpPr>
          <p:cNvPr id="3" name="">
            <a:extLst xmlns:a="http://schemas.openxmlformats.org/drawingml/2006/main">
              <a:ext uri="{FF2B5EF4-FFF2-40B4-BE49-F238E27FC236}">
                <a16:creationId xmlns:a16="http://schemas.microsoft.com/office/drawing/2014/main" id="{FD9D0D37-D815-4AE0-BFEA-562217775E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4A6C66D-E7F5-4893-B5FC-D73871390B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283CBA91-E384-4E03-B5E3-DB3BBA39B0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cross-match (usually for four units) is obtained to ensure that the donor and the recipient have compatible blood types since these cells are contaminated with donor red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standard blood filter (17 microns) is used and the transfusion is given over a four-hour period.</a:t>
            </a:r>
          </a:p>
        </p:txBody>
      </p:sp>
      <p:sp>
        <p:nvSpPr>
          <p:cNvPr id="6" name="">
            <a:extLst xmlns:a="http://schemas.openxmlformats.org/drawingml/2006/main">
              <a:ext uri="{FF2B5EF4-FFF2-40B4-BE49-F238E27FC236}">
                <a16:creationId xmlns:a16="http://schemas.microsoft.com/office/drawing/2014/main" id="{1F67C564-596E-4BD7-B1EC-761C1D8F4D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E51EB3B-C4E1-4EA0-86F4-9ECD09121B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55</a:t>
            </a:r>
          </a:p>
        </p:txBody>
      </p:sp>
    </p:spTree>
    <p:extLst>
      <p:ext uri="{BB962C8B-B14F-4D97-AF65-F5344CB8AC3E}">
        <p14:creationId xmlns:p14="http://schemas.microsoft.com/office/powerpoint/2010/main" val="998813046"/>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FDFDF3-61AE-4684-A71E-429A2AF209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59BE3F-2389-4560-8E23-E9A10CF957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a:t>
            </a:r>
          </a:p>
        </p:txBody>
      </p:sp>
      <p:sp>
        <p:nvSpPr>
          <p:cNvPr id="3" name="">
            <a:extLst xmlns:a="http://schemas.openxmlformats.org/drawingml/2006/main">
              <a:ext uri="{FF2B5EF4-FFF2-40B4-BE49-F238E27FC236}">
                <a16:creationId xmlns:a16="http://schemas.microsoft.com/office/drawing/2014/main" id="{D4FE357A-C6F2-46AA-B545-ECCBFE5337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D06DC2B-DB89-46B9-A623-F6E7CEFD96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6F1CB8E4-D07B-4993-AE1C-6A6820E7F0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Human Serum Albumin - The primary therapeutic use for the administration of albumin is to replace protein in the seriously depleted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Infusion is a T A rate of 2-3 cc/min.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depending on the circulatory status of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Circulatory overload can occur if infused too rapidly.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5% albumin is equivalent to an equal amount of plasma and may b substituted.</a:t>
            </a:r>
          </a:p>
        </p:txBody>
      </p:sp>
      <p:sp>
        <p:nvSpPr>
          <p:cNvPr id="6" name="">
            <a:extLst xmlns:a="http://schemas.openxmlformats.org/drawingml/2006/main">
              <a:ext uri="{FF2B5EF4-FFF2-40B4-BE49-F238E27FC236}">
                <a16:creationId xmlns:a16="http://schemas.microsoft.com/office/drawing/2014/main" id="{73B676A4-994A-45FF-BAE2-094D40136B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0C21E2-D540-4D41-8FD0-E7C093EFE3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1738986117"/>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ECBE35-8642-4964-A391-478DDB58D0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2E4F55-2824-4BBD-B0BC-03DDF4C413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 — continued</a:t>
            </a:r>
          </a:p>
        </p:txBody>
      </p:sp>
      <p:sp>
        <p:nvSpPr>
          <p:cNvPr id="3" name="">
            <a:extLst xmlns:a="http://schemas.openxmlformats.org/drawingml/2006/main">
              <a:ext uri="{FF2B5EF4-FFF2-40B4-BE49-F238E27FC236}">
                <a16:creationId xmlns:a16="http://schemas.microsoft.com/office/drawing/2014/main" id="{55E48332-D886-4A58-98C2-7869CEF429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00367AC3-FD18-487F-B37E-D99081252E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210D6524-344F-4770-8619-341374B3F3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Albumin is also used in the treatment of shock and burns.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no risk of transmitting the hepatitis virus as the heating process used in the preparation destroys the virus.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Initiating Transfusion Therapy Obtaining blood that has been prepared for the patient is governed by individual hospital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should be aware of the specific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administration should begin within 30 minutes from the time the blood is signed out of the blood bank to prevent excessive warming.</a:t>
            </a:r>
          </a:p>
        </p:txBody>
      </p:sp>
      <p:sp>
        <p:nvSpPr>
          <p:cNvPr id="6" name="">
            <a:extLst xmlns:a="http://schemas.openxmlformats.org/drawingml/2006/main">
              <a:ext uri="{FF2B5EF4-FFF2-40B4-BE49-F238E27FC236}">
                <a16:creationId xmlns:a16="http://schemas.microsoft.com/office/drawing/2014/main" id="{08A731C7-7516-44E2-823F-6D095AAB7A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C36258-6D83-441C-B621-94049BC900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1841705570"/>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FBA63A-4ECA-4657-8A7E-B840ADEB59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936D04-CA31-4342-A98F-D94AB1C597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 — continued</a:t>
            </a:r>
          </a:p>
        </p:txBody>
      </p:sp>
      <p:sp>
        <p:nvSpPr>
          <p:cNvPr id="3" name="">
            <a:extLst xmlns:a="http://schemas.openxmlformats.org/drawingml/2006/main">
              <a:ext uri="{FF2B5EF4-FFF2-40B4-BE49-F238E27FC236}">
                <a16:creationId xmlns:a16="http://schemas.microsoft.com/office/drawing/2014/main" id="{84DCCB63-0B0F-4A2A-836C-B98F616BB6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B680B4D-4935-4BD4-9990-57B61B7A21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0022ECD1-7FC9-4781-A18B-7D716F729D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Red cells begin to deteriorate, and bacterial growth begins as the unit warms to room temperature.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should be within this time frame.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cannot be placed in the refrigerator on the nursing unit because the temperature control is not as precise as blood bank refrigerators.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 Identification - Proper identification, labeling, and testing of blood is essential in the prevention of transfusion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Failure to properly perform the donor client identification is the cause of 90% of transfusion reactions.</a:t>
            </a:r>
          </a:p>
        </p:txBody>
      </p:sp>
      <p:sp>
        <p:nvSpPr>
          <p:cNvPr id="6" name="">
            <a:extLst xmlns:a="http://schemas.openxmlformats.org/drawingml/2006/main">
              <a:ext uri="{FF2B5EF4-FFF2-40B4-BE49-F238E27FC236}">
                <a16:creationId xmlns:a16="http://schemas.microsoft.com/office/drawing/2014/main" id="{EC7C5488-7583-4833-8E19-BC8C6F1EF7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F58FCEA-A4C9-43B8-90C8-66C8819B77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516340777"/>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928C90-F14B-49F7-ACF6-06775E2964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DDC8A5-E201-4D6D-8BF1-280EA5EA90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 — continued</a:t>
            </a:r>
          </a:p>
        </p:txBody>
      </p:sp>
      <p:sp>
        <p:nvSpPr>
          <p:cNvPr id="3" name="">
            <a:extLst xmlns:a="http://schemas.openxmlformats.org/drawingml/2006/main">
              <a:ext uri="{FF2B5EF4-FFF2-40B4-BE49-F238E27FC236}">
                <a16:creationId xmlns:a16="http://schemas.microsoft.com/office/drawing/2014/main" id="{6D41A82B-CB9E-4C47-B139-EC4D66F241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B8608D4-36C4-4FFA-8DC9-7FF1593D0E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DF15A366-7FA6-4C73-8BCE-53E540836E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makes the final determination whether to administer the unit of blood or question the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Two nurses should verify the following information: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Check the patient's ABO and Rh factor with the donor ABO and Rh on the blood compatibility tag.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blood identification number on the unit of blood with the blood tag.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Check the name and unit number on the blood tag with the patient's chart.</a:t>
            </a:r>
          </a:p>
        </p:txBody>
      </p:sp>
      <p:sp>
        <p:nvSpPr>
          <p:cNvPr id="6" name="">
            <a:extLst xmlns:a="http://schemas.openxmlformats.org/drawingml/2006/main">
              <a:ext uri="{FF2B5EF4-FFF2-40B4-BE49-F238E27FC236}">
                <a16:creationId xmlns:a16="http://schemas.microsoft.com/office/drawing/2014/main" id="{A0AEAABB-0602-4836-ACE8-928F00A0F5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55C01B-4DDC-47E8-BB9B-D577891AB53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744982851"/>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55B042-7B1D-4BE5-A8B9-7CB6BA799AC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2E9FB0-2400-408C-BC33-2C376E2FED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 — continued</a:t>
            </a:r>
          </a:p>
        </p:txBody>
      </p:sp>
      <p:sp>
        <p:nvSpPr>
          <p:cNvPr id="3" name="">
            <a:extLst xmlns:a="http://schemas.openxmlformats.org/drawingml/2006/main">
              <a:ext uri="{FF2B5EF4-FFF2-40B4-BE49-F238E27FC236}">
                <a16:creationId xmlns:a16="http://schemas.microsoft.com/office/drawing/2014/main" id="{D4F9CF1E-F9A6-41C8-BEFA-60B5DA1C3E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87185CE-E0C2-47BD-AB17-45FA19FE82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5B6E4E6D-1528-40EB-9747-EDAABB01CD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unit of blood is then brought to the patient's bedside.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is asked to identify himself by stating his full name.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hospital number on the unit of blood tag must match the hospital numbers on the patient's identification bracelet.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 institutions use crossmatch bracelets to identify type and Rh of patients prepared to receive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there is any discrepancy, it must be investigated and corrected prior to administration.</a:t>
            </a:r>
          </a:p>
        </p:txBody>
      </p:sp>
      <p:sp>
        <p:nvSpPr>
          <p:cNvPr id="6" name="">
            <a:extLst xmlns:a="http://schemas.openxmlformats.org/drawingml/2006/main">
              <a:ext uri="{FF2B5EF4-FFF2-40B4-BE49-F238E27FC236}">
                <a16:creationId xmlns:a16="http://schemas.microsoft.com/office/drawing/2014/main" id="{1450206F-02B0-4BB8-ACDD-87467622D5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005631-45C8-42E0-B6E4-114663C9CF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2130609710"/>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71256B-573E-4D4C-9EB3-927C35DDC1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652CF9-223C-40E5-B77F-35CAAECE8D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Initiating Transfusion Therapy — continued</a:t>
            </a:r>
          </a:p>
        </p:txBody>
      </p:sp>
      <p:sp>
        <p:nvSpPr>
          <p:cNvPr id="3" name="">
            <a:extLst xmlns:a="http://schemas.openxmlformats.org/drawingml/2006/main">
              <a:ext uri="{FF2B5EF4-FFF2-40B4-BE49-F238E27FC236}">
                <a16:creationId xmlns:a16="http://schemas.microsoft.com/office/drawing/2014/main" id="{C540B477-3D55-4180-BAAC-15CBB765AE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48DBF75-7748-4C52-BFF1-37F3696F63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47B544C1-056E-48F1-995A-5D55132444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Filters - Stored blood contain particles of fibrin, degenerated platelets, and leukocytes.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particles begin to collect as early as 2 to 24 hours after collection.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this reason blood is administered through a filter.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Transfusion filters provide a mesh like screen with a surface area large enough to efficiently remove particles.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filters can</a:t>
            </a:r>
          </a:p>
        </p:txBody>
      </p:sp>
      <p:sp>
        <p:nvSpPr>
          <p:cNvPr id="6" name="">
            <a:extLst xmlns:a="http://schemas.openxmlformats.org/drawingml/2006/main">
              <a:ext uri="{FF2B5EF4-FFF2-40B4-BE49-F238E27FC236}">
                <a16:creationId xmlns:a16="http://schemas.microsoft.com/office/drawing/2014/main" id="{1EABF52C-95DC-42BA-95D1-B1A02A8333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3D74BB-8DFC-4CC5-A824-D8DC8952A8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56</a:t>
            </a:r>
          </a:p>
        </p:txBody>
      </p:sp>
    </p:spTree>
    <p:extLst>
      <p:ext uri="{BB962C8B-B14F-4D97-AF65-F5344CB8AC3E}">
        <p14:creationId xmlns:p14="http://schemas.microsoft.com/office/powerpoint/2010/main" val="1726256232"/>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35094A-0DE9-467A-A9A9-BEE83AFC90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412DA3-4DCE-4216-9CB8-5523D0DDCF3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a:t>
            </a:r>
          </a:p>
        </p:txBody>
      </p:sp>
      <p:sp>
        <p:nvSpPr>
          <p:cNvPr id="3" name="">
            <a:extLst xmlns:a="http://schemas.openxmlformats.org/drawingml/2006/main">
              <a:ext uri="{FF2B5EF4-FFF2-40B4-BE49-F238E27FC236}">
                <a16:creationId xmlns:a16="http://schemas.microsoft.com/office/drawing/2014/main" id="{C1AD2C83-F7CD-4A9F-91FF-3105F1FC04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0986E62-5176-4956-AEB9-5DD02FA939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895E732D-FCF5-40D2-B7F9-E776CD4020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used for up to 4 units of blood depending on the type of anticoagulant used in the blood container and the age of the unit of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Average pore size of the filter ranges Platelets and cryoprecipitate are infused through a filter similar to the blood filter, but.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with a smaller drip chamber.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requires less volume to prime and also contains no rubber in the tubing that would cause platelet aggregation.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Micro aggregate filters are often preferred for patients with compromised pulmonary function or those with a history of febrile reactions.</a:t>
            </a:r>
          </a:p>
        </p:txBody>
      </p:sp>
      <p:sp>
        <p:nvSpPr>
          <p:cNvPr id="6" name="">
            <a:extLst xmlns:a="http://schemas.openxmlformats.org/drawingml/2006/main">
              <a:ext uri="{FF2B5EF4-FFF2-40B4-BE49-F238E27FC236}">
                <a16:creationId xmlns:a16="http://schemas.microsoft.com/office/drawing/2014/main" id="{91BA8473-FE31-4203-A8C3-CC5D0642E20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96B025-F41A-4E55-A47F-3DAE78EC85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529904910"/>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00C466-A979-4380-BEF2-5917A22F43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C177688-0166-48C4-B7BA-9958180775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 — continued</a:t>
            </a:r>
          </a:p>
        </p:txBody>
      </p:sp>
      <p:sp>
        <p:nvSpPr>
          <p:cNvPr id="3" name="">
            <a:extLst xmlns:a="http://schemas.openxmlformats.org/drawingml/2006/main">
              <a:ext uri="{FF2B5EF4-FFF2-40B4-BE49-F238E27FC236}">
                <a16:creationId xmlns:a16="http://schemas.microsoft.com/office/drawing/2014/main" id="{F637F173-ADAF-4574-99BB-340BACDC17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067A8AD-7D86-439A-B7E8-6B6AE888E5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1BA820B6-8147-4683-B56E-1A18380D98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filters range in size from 20 to 40 microns.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have proven to be the most effective in the removal of leukocytes during transfusion thus reducing transfusion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"Y" type infusion set allows for normal saline to be attached to one side of the blood administration set.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blood is too thick to pass through the filter, a sterile transfer of normal saline can be done (50 to 75 cc).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maintenance of a closed system prevents contamination while allowing a steady stream of blood to flow.</a:t>
            </a:r>
          </a:p>
        </p:txBody>
      </p:sp>
      <p:sp>
        <p:nvSpPr>
          <p:cNvPr id="6" name="">
            <a:extLst xmlns:a="http://schemas.openxmlformats.org/drawingml/2006/main">
              <a:ext uri="{FF2B5EF4-FFF2-40B4-BE49-F238E27FC236}">
                <a16:creationId xmlns:a16="http://schemas.microsoft.com/office/drawing/2014/main" id="{D7904885-724E-4E2D-B0C0-8EC33310D7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375A1B1-85D4-48D7-8BB3-CC8F2A6BCB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136908091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2637D2-0334-416C-9390-C291A6B7F4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5CF8D4-504E-412D-8C86-663E42C55D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 — continued</a:t>
            </a:r>
          </a:p>
        </p:txBody>
      </p:sp>
      <p:sp>
        <p:nvSpPr>
          <p:cNvPr id="3" name="">
            <a:extLst xmlns:a="http://schemas.openxmlformats.org/drawingml/2006/main">
              <a:ext uri="{FF2B5EF4-FFF2-40B4-BE49-F238E27FC236}">
                <a16:creationId xmlns:a16="http://schemas.microsoft.com/office/drawing/2014/main" id="{DFDCF0F0-0D2D-4BCD-890E-36D4E46926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ED175C3-D5B4-4DDE-9810-AFA7B2E3DC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DA5E9DC9-74D8-4989-8873-2ACFF4A46E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Venipuncture - An IV access must be established prior to blood administration.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Red blood cells and whole blood should be administered through an 18 to 20 gauge needle in the adult, and a 23 gauge needle is sufficient in the pediatric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Infusion Rate - The clinical condition of the patient will determine the physician's order for rate of administration.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recommended infusion rate for the first 15 minutes is generally 10 to 25 cc.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the pediatric patient, the rate is 5 to 10 percent of the total red blood cell volume to be infused.</a:t>
            </a:r>
          </a:p>
        </p:txBody>
      </p:sp>
      <p:sp>
        <p:nvSpPr>
          <p:cNvPr id="6" name="">
            <a:extLst xmlns:a="http://schemas.openxmlformats.org/drawingml/2006/main">
              <a:ext uri="{FF2B5EF4-FFF2-40B4-BE49-F238E27FC236}">
                <a16:creationId xmlns:a16="http://schemas.microsoft.com/office/drawing/2014/main" id="{3A695D7C-7D38-42C1-9FEC-C2046344AD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F400EA7-CBF0-4197-ADE0-4A3A52EC9F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1674585946"/>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444641-FDB5-4640-B05B-2CBA93CCCD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BC5E2E-E9C4-4E50-8DA0-F8B679D678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 — continued</a:t>
            </a:r>
          </a:p>
        </p:txBody>
      </p:sp>
      <p:sp>
        <p:nvSpPr>
          <p:cNvPr id="3" name="">
            <a:extLst xmlns:a="http://schemas.openxmlformats.org/drawingml/2006/main">
              <a:ext uri="{FF2B5EF4-FFF2-40B4-BE49-F238E27FC236}">
                <a16:creationId xmlns:a16="http://schemas.microsoft.com/office/drawing/2014/main" id="{F2DFCC07-C74E-4625-B2B7-07838F59D2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67CFF94-BCBC-4002-8B58-3049127EC9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DA396498-EAF1-42C4-B7CA-4E6789AB26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Again, this is ordered by the physician.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to avoid a large quantity of blood being infused in case of a reaction.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infusion time of 11/2 to 2 hours is tolerated by most patients for one unit of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should be administered within a four (4) hour time frame.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it is to be infused over a longer period of time, the unit can be divided into two parts by the blood bank technician.</a:t>
            </a:r>
          </a:p>
        </p:txBody>
      </p:sp>
      <p:sp>
        <p:nvSpPr>
          <p:cNvPr id="6" name="">
            <a:extLst xmlns:a="http://schemas.openxmlformats.org/drawingml/2006/main">
              <a:ext uri="{FF2B5EF4-FFF2-40B4-BE49-F238E27FC236}">
                <a16:creationId xmlns:a16="http://schemas.microsoft.com/office/drawing/2014/main" id="{D65415DB-4D1A-4F6C-BAA9-91140EB635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9EEF0D6-FC59-4689-944E-6A4F9D8B0D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1811454898"/>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8C7E34-4907-42C6-BA2D-841C945410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473058-DADD-46F4-9698-82DEBB0A16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 — continued</a:t>
            </a:r>
          </a:p>
        </p:txBody>
      </p:sp>
      <p:sp>
        <p:nvSpPr>
          <p:cNvPr id="3" name="">
            <a:extLst xmlns:a="http://schemas.openxmlformats.org/drawingml/2006/main">
              <a:ext uri="{FF2B5EF4-FFF2-40B4-BE49-F238E27FC236}">
                <a16:creationId xmlns:a16="http://schemas.microsoft.com/office/drawing/2014/main" id="{A08D7298-FAC0-48BB-A8DF-E881C0F0DB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32F9A7E-129B-4F6D-B698-750FB21B2F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8ED45D46-ED66-4987-AB0B-AEE6D0E2D5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One part will be kept refrigerated in the blood bank during the infusion of the other half.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Transfusion Reactions Over the years, improvements in the techniques of blood collection, storage, and testing, have greatly reduced the risks associated with the administration of blood, however, the risk of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still remain.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administering blood must be aware and alert for the symptomatology of reactions and how to treat them.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primary causes of transfusion reactions are incompatibility, contaminated blood, or to rapid infusion rate.</a:t>
            </a:r>
          </a:p>
        </p:txBody>
      </p:sp>
      <p:sp>
        <p:nvSpPr>
          <p:cNvPr id="6" name="">
            <a:extLst xmlns:a="http://schemas.openxmlformats.org/drawingml/2006/main">
              <a:ext uri="{FF2B5EF4-FFF2-40B4-BE49-F238E27FC236}">
                <a16:creationId xmlns:a16="http://schemas.microsoft.com/office/drawing/2014/main" id="{6D430CB7-E322-49FD-93BB-1BEE115521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A50204-15E2-4E1F-B41D-0126EB654AC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1177780891"/>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1964E3-C26C-4ABF-A35F-40B7F08A58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470BC6-B7F3-40E2-AAED-4E5D12A4FF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from 170 to 220 microns. — continued</a:t>
            </a:r>
          </a:p>
        </p:txBody>
      </p:sp>
      <p:sp>
        <p:nvSpPr>
          <p:cNvPr id="3" name="">
            <a:extLst xmlns:a="http://schemas.openxmlformats.org/drawingml/2006/main">
              <a:ext uri="{FF2B5EF4-FFF2-40B4-BE49-F238E27FC236}">
                <a16:creationId xmlns:a16="http://schemas.microsoft.com/office/drawing/2014/main" id="{15DADFDD-BDB6-4460-AB5F-37B2F8266F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D6B9210-6A61-47A0-85F7-43DBC31A86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74BE3449-2B29-46BA-A305-A32B634E52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transfusion reaction should occur, the following steps should be taken to safeguard the patient: 1.</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(Turn off flow control on blood side of the administration set.)</a:t>
            </a:r>
          </a:p>
        </p:txBody>
      </p:sp>
      <p:sp>
        <p:nvSpPr>
          <p:cNvPr id="6" name="">
            <a:extLst xmlns:a="http://schemas.openxmlformats.org/drawingml/2006/main">
              <a:ext uri="{FF2B5EF4-FFF2-40B4-BE49-F238E27FC236}">
                <a16:creationId xmlns:a16="http://schemas.microsoft.com/office/drawing/2014/main" id="{D060571D-89AF-4722-A6BE-DDE37A0D0F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223100-4327-42A4-9FF2-30AE9DE612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57</a:t>
            </a:r>
          </a:p>
        </p:txBody>
      </p:sp>
    </p:spTree>
    <p:extLst>
      <p:ext uri="{BB962C8B-B14F-4D97-AF65-F5344CB8AC3E}">
        <p14:creationId xmlns:p14="http://schemas.microsoft.com/office/powerpoint/2010/main" val="2113319583"/>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B63CF1-0B5E-4382-B9ED-DDB750C217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82EBAF-197A-462D-B761-E0EAD6B41A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normal saline side of the administration set.)</a:t>
            </a:r>
          </a:p>
        </p:txBody>
      </p:sp>
      <p:sp>
        <p:nvSpPr>
          <p:cNvPr id="3" name="">
            <a:extLst xmlns:a="http://schemas.openxmlformats.org/drawingml/2006/main">
              <a:ext uri="{FF2B5EF4-FFF2-40B4-BE49-F238E27FC236}">
                <a16:creationId xmlns:a16="http://schemas.microsoft.com/office/drawing/2014/main" id="{FC69843C-70F6-4ED1-B077-1ABF68FE21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622405B-01EB-44EC-9000-82C072B5CC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954ABF7C-3C81-4E25-BAC8-7FC7EA5DB4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 patient IV line with normal saline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(Turn on the flow control on the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Immediately notify the physician for orders.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Notify the blood bank.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Save the blood bag and tubing and send them to the blood bank for examination.</a:t>
            </a:r>
          </a:p>
        </p:txBody>
      </p:sp>
      <p:sp>
        <p:nvSpPr>
          <p:cNvPr id="6" name="">
            <a:extLst xmlns:a="http://schemas.openxmlformats.org/drawingml/2006/main">
              <a:ext uri="{FF2B5EF4-FFF2-40B4-BE49-F238E27FC236}">
                <a16:creationId xmlns:a16="http://schemas.microsoft.com/office/drawing/2014/main" id="{584781FE-1BD7-4395-A22A-7880E1DEFB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0F9FA60-8F1C-4E41-9AAB-29995ABCA7F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58</a:t>
            </a:r>
          </a:p>
        </p:txBody>
      </p:sp>
    </p:spTree>
    <p:extLst>
      <p:ext uri="{BB962C8B-B14F-4D97-AF65-F5344CB8AC3E}">
        <p14:creationId xmlns:p14="http://schemas.microsoft.com/office/powerpoint/2010/main" val="1164954876"/>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49C6A7-1C50-41B8-98D0-C0290C3DCD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9999F3-4F47-414D-8AEE-AD4FA30499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normal saline side of the administration set.) — continued</a:t>
            </a:r>
          </a:p>
        </p:txBody>
      </p:sp>
      <p:sp>
        <p:nvSpPr>
          <p:cNvPr id="3" name="">
            <a:extLst xmlns:a="http://schemas.openxmlformats.org/drawingml/2006/main">
              <a:ext uri="{FF2B5EF4-FFF2-40B4-BE49-F238E27FC236}">
                <a16:creationId xmlns:a16="http://schemas.microsoft.com/office/drawing/2014/main" id="{02CA1D70-B6B3-494F-BFC6-78E4BE9EB9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5D70B87-E36E-46E8-AE89-A8AECDD697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B33D54C7-9E3F-478B-9AC3-B1E8C9079C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Fill out a transfusion reaction form.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hospital or institutional policy for collection of blood and urine specimens.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 the patient paying close attention to the urinary output and the vital signs.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is a list of transfusion reactions and immediate nursing interventions.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administering blood and blood components should be familiar with the most common types of reactions signs and symptoms, and nursing interventions to provide safe patient care during transfusion therapy.</a:t>
            </a:r>
          </a:p>
        </p:txBody>
      </p:sp>
      <p:sp>
        <p:nvSpPr>
          <p:cNvPr id="6" name="">
            <a:extLst xmlns:a="http://schemas.openxmlformats.org/drawingml/2006/main">
              <a:ext uri="{FF2B5EF4-FFF2-40B4-BE49-F238E27FC236}">
                <a16:creationId xmlns:a16="http://schemas.microsoft.com/office/drawing/2014/main" id="{E2A2FE34-210C-43D3-AEDF-524AE82B2C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BC7EAF-8E21-4EA0-BDB1-FC23D1CD3F0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58</a:t>
            </a:r>
          </a:p>
        </p:txBody>
      </p:sp>
    </p:spTree>
    <p:extLst>
      <p:ext uri="{BB962C8B-B14F-4D97-AF65-F5344CB8AC3E}">
        <p14:creationId xmlns:p14="http://schemas.microsoft.com/office/powerpoint/2010/main" val="1280280553"/>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193FD7-A75B-43FE-AB4C-7EF4EFC24F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60B6C7-8B6C-4589-B8D1-676DE0738F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normal saline side of the administration set.) — continued</a:t>
            </a:r>
          </a:p>
        </p:txBody>
      </p:sp>
      <p:sp>
        <p:nvSpPr>
          <p:cNvPr id="3" name="">
            <a:extLst xmlns:a="http://schemas.openxmlformats.org/drawingml/2006/main">
              <a:ext uri="{FF2B5EF4-FFF2-40B4-BE49-F238E27FC236}">
                <a16:creationId xmlns:a16="http://schemas.microsoft.com/office/drawing/2014/main" id="{9B1AAAFC-DF54-4DFA-9403-0D2B7C2F0F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755C2EC-474D-497A-B776-D26EFBDDCA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0D3BC518-12BC-40BA-9EC8-F9E1631483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Hemolytic Reactions Cause - ABO or Rh incompatibility.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Mislabeled blood or blood administered to the wrong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the most serious of all blood transfusion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Symptoms - Usually immediate onset.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Chills, fever, low back pain, chest pain, nausea, vomiting, hypotension, bleeding abnormalities.</a:t>
            </a:r>
          </a:p>
        </p:txBody>
      </p:sp>
      <p:sp>
        <p:nvSpPr>
          <p:cNvPr id="6" name="">
            <a:extLst xmlns:a="http://schemas.openxmlformats.org/drawingml/2006/main">
              <a:ext uri="{FF2B5EF4-FFF2-40B4-BE49-F238E27FC236}">
                <a16:creationId xmlns:a16="http://schemas.microsoft.com/office/drawing/2014/main" id="{3926D737-837C-4503-981A-7C5DBFC053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0F105C-FBA0-48FF-9F12-45E30236AC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58</a:t>
            </a:r>
          </a:p>
        </p:txBody>
      </p:sp>
    </p:spTree>
    <p:extLst>
      <p:ext uri="{BB962C8B-B14F-4D97-AF65-F5344CB8AC3E}">
        <p14:creationId xmlns:p14="http://schemas.microsoft.com/office/powerpoint/2010/main" val="78997050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040234-CC0D-43A6-89F0-C9E4B7A463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0EE945-99E9-41FD-8D9F-6C74B0C4FE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normal saline side of the administration set.) — continued</a:t>
            </a:r>
          </a:p>
        </p:txBody>
      </p:sp>
      <p:sp>
        <p:nvSpPr>
          <p:cNvPr id="3" name="">
            <a:extLst xmlns:a="http://schemas.openxmlformats.org/drawingml/2006/main">
              <a:ext uri="{FF2B5EF4-FFF2-40B4-BE49-F238E27FC236}">
                <a16:creationId xmlns:a16="http://schemas.microsoft.com/office/drawing/2014/main" id="{00B68B61-FD27-46BD-8CA9-E7883AADD8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0A385A1-75C6-43AA-B6BC-EDB6B45C34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3104B910-D5E0-45CC-8CCD-2B9366EF6F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 Stop transfusion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Keep vein open with normal saline.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Administer oxygen, fluids, and medications per physician order.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Record the intake and output carefully.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hospital or institutional policy and physician orders for lab and urine specimens.</a:t>
            </a:r>
          </a:p>
        </p:txBody>
      </p:sp>
      <p:sp>
        <p:nvSpPr>
          <p:cNvPr id="6" name="">
            <a:extLst xmlns:a="http://schemas.openxmlformats.org/drawingml/2006/main">
              <a:ext uri="{FF2B5EF4-FFF2-40B4-BE49-F238E27FC236}">
                <a16:creationId xmlns:a16="http://schemas.microsoft.com/office/drawing/2014/main" id="{2A7F6841-F606-4A24-A283-80D6087F4A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EDBD60-D0F4-4DA6-B9A7-CADB29D525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58</a:t>
            </a:r>
          </a:p>
        </p:txBody>
      </p:sp>
    </p:spTree>
    <p:extLst>
      <p:ext uri="{BB962C8B-B14F-4D97-AF65-F5344CB8AC3E}">
        <p14:creationId xmlns:p14="http://schemas.microsoft.com/office/powerpoint/2010/main" val="2073207600"/>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3A83B4-1E56-46B7-84B1-BC02FCAFFD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FE6E108-F83C-4ECC-94FB-5950051E10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normal saline side of the administration set.) — continued</a:t>
            </a:r>
          </a:p>
        </p:txBody>
      </p:sp>
      <p:sp>
        <p:nvSpPr>
          <p:cNvPr id="3" name="">
            <a:extLst xmlns:a="http://schemas.openxmlformats.org/drawingml/2006/main">
              <a:ext uri="{FF2B5EF4-FFF2-40B4-BE49-F238E27FC236}">
                <a16:creationId xmlns:a16="http://schemas.microsoft.com/office/drawing/2014/main" id="{8DE9C46F-48D1-4C22-87CF-F0FFB49BAC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FD7E0BF-3D91-45E5-A037-8BDB7176F7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72634DA0-4001-4D92-B204-4DBB2940E2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Prevention - Double checking the patient's identification and blood type to make sure the blood is compatible.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Beginning the transfusion slowly, remaining with the patient for the first 15 minutes of the transfusion.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Allergic Reactions Cause - Sensitivity of the recipient to a substance in the donor's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 Urticaria (hives), itching, chills, fever, nausea, vomiting, rare facial or throat edema.</a:t>
            </a:r>
          </a:p>
        </p:txBody>
      </p:sp>
      <p:sp>
        <p:nvSpPr>
          <p:cNvPr id="6" name="">
            <a:extLst xmlns:a="http://schemas.openxmlformats.org/drawingml/2006/main">
              <a:ext uri="{FF2B5EF4-FFF2-40B4-BE49-F238E27FC236}">
                <a16:creationId xmlns:a16="http://schemas.microsoft.com/office/drawing/2014/main" id="{412B1FEF-0E5B-4D77-ACCA-1AB3D6EA9F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EB7E17-E99F-4EFC-BB96-989E6ED94C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58</a:t>
            </a:r>
          </a:p>
        </p:txBody>
      </p:sp>
    </p:spTree>
    <p:extLst>
      <p:ext uri="{BB962C8B-B14F-4D97-AF65-F5344CB8AC3E}">
        <p14:creationId xmlns:p14="http://schemas.microsoft.com/office/powerpoint/2010/main" val="401977734"/>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16F854-B917-4988-8637-22C4B68231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3C4D95-6717-4546-8BB4-B8527DA028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Treatment - Stop transfusion immediately and keep the vein open with normal saline</a:t>
            </a:r>
          </a:p>
        </p:txBody>
      </p:sp>
      <p:sp>
        <p:nvSpPr>
          <p:cNvPr id="3" name="">
            <a:extLst xmlns:a="http://schemas.openxmlformats.org/drawingml/2006/main">
              <a:ext uri="{FF2B5EF4-FFF2-40B4-BE49-F238E27FC236}">
                <a16:creationId xmlns:a16="http://schemas.microsoft.com/office/drawing/2014/main" id="{59FAC377-9711-4CCB-A428-A3068385A0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ADBF48A-523F-46F5-A091-732CE2D336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D821CAF7-A46D-4358-A15C-12EF4C3495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Notify the physician.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Administer epinephrine or steroids per physician's order.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Prevention - Minimize patient's risk by ascertaining a previous history of blood allergic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His chances of experiencing this again are two in three; inform the physician.</a:t>
            </a:r>
          </a:p>
        </p:txBody>
      </p:sp>
      <p:sp>
        <p:nvSpPr>
          <p:cNvPr id="6" name="">
            <a:extLst xmlns:a="http://schemas.openxmlformats.org/drawingml/2006/main">
              <a:ext uri="{FF2B5EF4-FFF2-40B4-BE49-F238E27FC236}">
                <a16:creationId xmlns:a16="http://schemas.microsoft.com/office/drawing/2014/main" id="{BFF193A4-2161-41FE-9CAC-3A5236BEF9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CC7D206-E7E8-448A-A73C-6461ACB78BD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59</a:t>
            </a:r>
          </a:p>
        </p:txBody>
      </p:sp>
    </p:spTree>
    <p:extLst>
      <p:ext uri="{BB962C8B-B14F-4D97-AF65-F5344CB8AC3E}">
        <p14:creationId xmlns:p14="http://schemas.microsoft.com/office/powerpoint/2010/main" val="1569800035"/>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D833D5-0538-4A8B-868C-1130B9CB1AF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A9909C-0003-4F48-AAE6-5F51006C0E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Treatment - Stop transfusion immediately and keep the vein open with normal saline — continued</a:t>
            </a:r>
          </a:p>
        </p:txBody>
      </p:sp>
      <p:sp>
        <p:nvSpPr>
          <p:cNvPr id="3" name="">
            <a:extLst xmlns:a="http://schemas.openxmlformats.org/drawingml/2006/main">
              <a:ext uri="{FF2B5EF4-FFF2-40B4-BE49-F238E27FC236}">
                <a16:creationId xmlns:a16="http://schemas.microsoft.com/office/drawing/2014/main" id="{9E06B57E-9D39-4D41-9E06-5B32CA89B4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C729CA1-106D-4D5B-8F03-557710F662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24D6FB6B-DC26-4B70-A8D5-E931C6AEEF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Febrile Reactions Cause - Most commonly caused by the presence of leukocyte or thrombocyte incompatibility from previous transfusions.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Patients may also have febrile reactions from sensitization to platelet or plasma proteins from numerous transfusions.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Symptoms - Tightness in the chest, breathing difficulty, engorged neck veins, rapid pounding pulse, moist rales at lung bases, flushed feeling, or a dry cough.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 stop the transfusion.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 vital signs and patient's condition.</a:t>
            </a:r>
          </a:p>
        </p:txBody>
      </p:sp>
      <p:sp>
        <p:nvSpPr>
          <p:cNvPr id="6" name="">
            <a:extLst xmlns:a="http://schemas.openxmlformats.org/drawingml/2006/main">
              <a:ext uri="{FF2B5EF4-FFF2-40B4-BE49-F238E27FC236}">
                <a16:creationId xmlns:a16="http://schemas.microsoft.com/office/drawing/2014/main" id="{261655C2-1E3A-451A-9345-62AC77B1E2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A7CC1D-7609-46C3-823D-1B318F3279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59</a:t>
            </a:r>
          </a:p>
        </p:txBody>
      </p:sp>
    </p:spTree>
    <p:extLst>
      <p:ext uri="{BB962C8B-B14F-4D97-AF65-F5344CB8AC3E}">
        <p14:creationId xmlns:p14="http://schemas.microsoft.com/office/powerpoint/2010/main" val="2032099686"/>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B2C793-49D9-4FEF-B946-3763D94263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5B7CF5-8071-462D-BA5D-684C07A217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Treatment - Stop transfusion immediately and keep the vein open with normal saline — continued</a:t>
            </a:r>
          </a:p>
        </p:txBody>
      </p:sp>
      <p:sp>
        <p:nvSpPr>
          <p:cNvPr id="3" name="">
            <a:extLst xmlns:a="http://schemas.openxmlformats.org/drawingml/2006/main">
              <a:ext uri="{FF2B5EF4-FFF2-40B4-BE49-F238E27FC236}">
                <a16:creationId xmlns:a16="http://schemas.microsoft.com/office/drawing/2014/main" id="{D74F44C6-B156-4DCB-98BC-26E02D655B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7BF3BFE-A517-48A2-9D9C-9E78B3B861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DFCB5DBB-F2A3-476A-A9C8-01EDD37009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physician's orders.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Prevention - To minimize risk of overload in patients with cardiac or renal insufficiency, packed cells should be given instead of whole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Infusing the cells at a slower rate and giving diuretics as ordered at the onset of the transfusion will also decrease the risk of overload.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Air Embolism Cause - Air introduced into the bloodstream by way of tubing.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Symptoms - Cyanosis, dyspnea, shock, cardiac arrest, anxiety, drop in blood pressure, chest pain.</a:t>
            </a:r>
          </a:p>
        </p:txBody>
      </p:sp>
      <p:sp>
        <p:nvSpPr>
          <p:cNvPr id="6" name="">
            <a:extLst xmlns:a="http://schemas.openxmlformats.org/drawingml/2006/main">
              <a:ext uri="{FF2B5EF4-FFF2-40B4-BE49-F238E27FC236}">
                <a16:creationId xmlns:a16="http://schemas.microsoft.com/office/drawing/2014/main" id="{E7707DB7-74FB-4FFE-87C3-BAC677C882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C876594-4559-475F-9CC4-8D513C809D7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59</a:t>
            </a:r>
          </a:p>
        </p:txBody>
      </p:sp>
    </p:spTree>
    <p:extLst>
      <p:ext uri="{BB962C8B-B14F-4D97-AF65-F5344CB8AC3E}">
        <p14:creationId xmlns:p14="http://schemas.microsoft.com/office/powerpoint/2010/main" val="831186473"/>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7972BD-B652-4AFF-8212-CA39E8EF25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758F59-91C2-420C-8A7E-B2737C5FB3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Treatment - Stop transfusion immediately and keep the vein open with normal saline — continued</a:t>
            </a:r>
          </a:p>
        </p:txBody>
      </p:sp>
      <p:sp>
        <p:nvSpPr>
          <p:cNvPr id="3" name="">
            <a:extLst xmlns:a="http://schemas.openxmlformats.org/drawingml/2006/main">
              <a:ext uri="{FF2B5EF4-FFF2-40B4-BE49-F238E27FC236}">
                <a16:creationId xmlns:a16="http://schemas.microsoft.com/office/drawing/2014/main" id="{9176A596-CBA6-4C63-AEF7-5C4D01D767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ECDB918-96B6-4EA8-8796-AB60B19A95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84B9273D-13B2-4038-81E9-2177930F9E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 Lower patient's head and turn patient onto his left side.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Slow or stop the infusion depending on the patient's condition.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physician.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 for shock or cardiac arrest if they occur.</a:t>
            </a:r>
          </a:p>
        </p:txBody>
      </p:sp>
      <p:sp>
        <p:nvSpPr>
          <p:cNvPr id="6" name="">
            <a:extLst xmlns:a="http://schemas.openxmlformats.org/drawingml/2006/main">
              <a:ext uri="{FF2B5EF4-FFF2-40B4-BE49-F238E27FC236}">
                <a16:creationId xmlns:a16="http://schemas.microsoft.com/office/drawing/2014/main" id="{3F5191BF-755A-4A0A-9207-880B415197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DD6DC3-9498-459B-ADFE-6644985982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59</a:t>
            </a:r>
          </a:p>
        </p:txBody>
      </p:sp>
    </p:spTree>
    <p:extLst>
      <p:ext uri="{BB962C8B-B14F-4D97-AF65-F5344CB8AC3E}">
        <p14:creationId xmlns:p14="http://schemas.microsoft.com/office/powerpoint/2010/main" val="250756492"/>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759DCC-6BA3-43CE-BB63-DD43435577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917DC6-703D-4738-97C4-FFEBF8CD21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Treatment - Stop transfusion immediately and keep the vein open with normal saline — continued</a:t>
            </a:r>
          </a:p>
        </p:txBody>
      </p:sp>
      <p:sp>
        <p:nvSpPr>
          <p:cNvPr id="3" name="">
            <a:extLst xmlns:a="http://schemas.openxmlformats.org/drawingml/2006/main">
              <a:ext uri="{FF2B5EF4-FFF2-40B4-BE49-F238E27FC236}">
                <a16:creationId xmlns:a16="http://schemas.microsoft.com/office/drawing/2014/main" id="{3D290543-4DB4-4C0D-B841-9AB2144849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3EAEEE1-DD3A-4353-BF75-A81752C94B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48F2B455-1EB2-4044-AF53-FA4E95830E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Prevention - Minimize the risk of air embolism to the patient by expelling all the air from the tubing before beginning transfusions.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Check the patient and the infusion at regular intervals during the transfusion and do not allow the bag to run dry.</a:t>
            </a:r>
          </a:p>
        </p:txBody>
      </p:sp>
      <p:sp>
        <p:nvSpPr>
          <p:cNvPr id="6" name="">
            <a:extLst xmlns:a="http://schemas.openxmlformats.org/drawingml/2006/main">
              <a:ext uri="{FF2B5EF4-FFF2-40B4-BE49-F238E27FC236}">
                <a16:creationId xmlns:a16="http://schemas.microsoft.com/office/drawing/2014/main" id="{66F20485-7043-4850-86C8-F5904469BC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C97F16-0C2A-4488-96C1-F34272D11A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59</a:t>
            </a:r>
          </a:p>
        </p:txBody>
      </p:sp>
    </p:spTree>
    <p:extLst>
      <p:ext uri="{BB962C8B-B14F-4D97-AF65-F5344CB8AC3E}">
        <p14:creationId xmlns:p14="http://schemas.microsoft.com/office/powerpoint/2010/main" val="811462941"/>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A3146E-7619-4FAF-B666-A9B04DC399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A3C099-B803-4ECE-9545-AF80F01FC2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a:t>
            </a:r>
          </a:p>
        </p:txBody>
      </p:sp>
      <p:sp>
        <p:nvSpPr>
          <p:cNvPr id="3" name="">
            <a:extLst xmlns:a="http://schemas.openxmlformats.org/drawingml/2006/main">
              <a:ext uri="{FF2B5EF4-FFF2-40B4-BE49-F238E27FC236}">
                <a16:creationId xmlns:a16="http://schemas.microsoft.com/office/drawing/2014/main" id="{CFE274F8-6967-431F-9DAD-18F3C5ABEF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C88D511-15DE-4D6E-B78F-8C53ABED79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5A3BDA51-4E62-4CE2-AF2E-67EE0BE182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Antibody A protein substance developed in response to and interacting with an antigen.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Antigen A substance that induces the formation of antibodies that interact specifically with 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antigen-antibody reaction forms the basis for immunity.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Groups A genetically determined system of antigens located on the surface of the erythrocyte.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ABO blood group system is determined by a series of genes and is of prime importance in blood transfusions.</a:t>
            </a:r>
          </a:p>
        </p:txBody>
      </p:sp>
      <p:sp>
        <p:nvSpPr>
          <p:cNvPr id="6" name="">
            <a:extLst xmlns:a="http://schemas.openxmlformats.org/drawingml/2006/main">
              <a:ext uri="{FF2B5EF4-FFF2-40B4-BE49-F238E27FC236}">
                <a16:creationId xmlns:a16="http://schemas.microsoft.com/office/drawing/2014/main" id="{10431D35-EF5B-430B-95BD-FB799386AF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9FD9BB-91CE-4546-A5A0-B5F99FAD7C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60</a:t>
            </a:r>
          </a:p>
        </p:txBody>
      </p:sp>
    </p:spTree>
    <p:extLst>
      <p:ext uri="{BB962C8B-B14F-4D97-AF65-F5344CB8AC3E}">
        <p14:creationId xmlns:p14="http://schemas.microsoft.com/office/powerpoint/2010/main" val="610751541"/>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B75721-4D43-41C3-ACDC-E9FE14DD20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C693BD-D702-45D6-B366-F1BF2FE9D4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29C56065-E629-4526-B4AD-02C1879939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C676028-3BE4-4022-A1A6-9CE8DCDF74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C921FFB2-A561-44D6-9A70-342CA7901E7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Centrifugation A device that spins test tubes at high speeds.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force causes the heavy particles in the liquid to settle at the bottom of the container (I.E.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red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Citrate Solution used to prevent clotting of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permits whole blood to be stored until needed for transfusion.</a:t>
            </a:r>
          </a:p>
        </p:txBody>
      </p:sp>
      <p:sp>
        <p:nvSpPr>
          <p:cNvPr id="6" name="">
            <a:extLst xmlns:a="http://schemas.openxmlformats.org/drawingml/2006/main">
              <a:ext uri="{FF2B5EF4-FFF2-40B4-BE49-F238E27FC236}">
                <a16:creationId xmlns:a16="http://schemas.microsoft.com/office/drawing/2014/main" id="{50945422-43DA-43C5-8AAD-630C9D01BC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D9ABA5-9409-479D-946C-77506CAA0C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60</a:t>
            </a:r>
          </a:p>
        </p:txBody>
      </p:sp>
    </p:spTree>
    <p:extLst>
      <p:ext uri="{BB962C8B-B14F-4D97-AF65-F5344CB8AC3E}">
        <p14:creationId xmlns:p14="http://schemas.microsoft.com/office/powerpoint/2010/main" val="120487747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063EBA-B592-4380-9338-27A9A6EBB9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9AA0AF-9013-48F8-9B0D-97F1E4283C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6615AC15-0B69-4B9B-A67B-FFE0D6EFBB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8AB133E-34A5-47A1-A265-4DBD8E12C5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A89AE94A-DC2A-43AF-ACD8-FA6C60B349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Crystalloid A substance capable of crystallization which in a solution can be diffused through animal membranes.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Glycerol A thick syrupy colorless liquid soluble in all proportions in water and alcohol.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Leukocyte A white blood corpuscle.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Microaggregates Microscopic particles of fibrin, platelets, and Rh Blood Group A blood group discovered on the surface of erythrocytes of the rhesus monkey.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present to a variable degree in human populations.</a:t>
            </a:r>
          </a:p>
        </p:txBody>
      </p:sp>
      <p:sp>
        <p:nvSpPr>
          <p:cNvPr id="6" name="">
            <a:extLst xmlns:a="http://schemas.openxmlformats.org/drawingml/2006/main">
              <a:ext uri="{FF2B5EF4-FFF2-40B4-BE49-F238E27FC236}">
                <a16:creationId xmlns:a16="http://schemas.microsoft.com/office/drawing/2014/main" id="{A69B998A-8667-42EF-AFCA-61469F0747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35F539A-E160-42F7-9A6A-E499D18C775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60</a:t>
            </a:r>
          </a:p>
        </p:txBody>
      </p:sp>
    </p:spTree>
    <p:extLst>
      <p:ext uri="{BB962C8B-B14F-4D97-AF65-F5344CB8AC3E}">
        <p14:creationId xmlns:p14="http://schemas.microsoft.com/office/powerpoint/2010/main" val="2017895478"/>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212B63-85B2-442D-8BAA-A949EACAA6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8AFDC1-075A-40C9-92D0-653F3FF5D8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24FE92B3-4464-4B62-B8E5-948CA30DE8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BA580794-02DD-440D-BD91-CF0330DAE3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D88AC0D9-7641-4362-87A9-673C2FA54C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present the individual is designated as Rh positive.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absent, Rh negative.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important in typing and crossmatching blood to prevent reactions.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Thrombocyte Term for a blood platelet.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Transfusion The injection of blood or a blood product into the bloodstream.</a:t>
            </a:r>
          </a:p>
        </p:txBody>
      </p:sp>
      <p:sp>
        <p:nvSpPr>
          <p:cNvPr id="6" name="">
            <a:extLst xmlns:a="http://schemas.openxmlformats.org/drawingml/2006/main">
              <a:ext uri="{FF2B5EF4-FFF2-40B4-BE49-F238E27FC236}">
                <a16:creationId xmlns:a16="http://schemas.microsoft.com/office/drawing/2014/main" id="{1AD8A48A-1704-40C3-BCB5-BEF6184371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B08707-E1A9-40A5-B29D-2AE7A456282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60</a:t>
            </a:r>
          </a:p>
        </p:txBody>
      </p:sp>
    </p:spTree>
    <p:extLst>
      <p:ext uri="{BB962C8B-B14F-4D97-AF65-F5344CB8AC3E}">
        <p14:creationId xmlns:p14="http://schemas.microsoft.com/office/powerpoint/2010/main" val="90155125"/>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5F2220-D039-4E78-86EF-53C50A9791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EB75A5-FB3C-44F9-AF4D-47FF970067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Bibliography</a:t>
            </a:r>
          </a:p>
        </p:txBody>
      </p:sp>
      <p:sp>
        <p:nvSpPr>
          <p:cNvPr id="3" name="">
            <a:extLst xmlns:a="http://schemas.openxmlformats.org/drawingml/2006/main">
              <a:ext uri="{FF2B5EF4-FFF2-40B4-BE49-F238E27FC236}">
                <a16:creationId xmlns:a16="http://schemas.microsoft.com/office/drawing/2014/main" id="{E39A7D94-A8E3-4491-8858-BFA7519275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98E154F-A2B4-414C-B73D-1DFBAE0C54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657FF0D5-40EE-4A24-98DE-9E64D97166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Kurdi, 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Collier, C.I.</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(1987).</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Medical-Surgical Nursing Assessment and management of Clinical Problems(2nd Ed.) New York: McGraw Hill book Company.</a:t>
            </a:r>
          </a:p>
        </p:txBody>
      </p:sp>
      <p:sp>
        <p:nvSpPr>
          <p:cNvPr id="6" name="">
            <a:extLst xmlns:a="http://schemas.openxmlformats.org/drawingml/2006/main">
              <a:ext uri="{FF2B5EF4-FFF2-40B4-BE49-F238E27FC236}">
                <a16:creationId xmlns:a16="http://schemas.microsoft.com/office/drawing/2014/main" id="{BFC370BC-428E-4220-8CBA-65444C64E1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E63E43-18D7-4D4A-A403-A2BB8FBAE3D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61</a:t>
            </a:r>
          </a:p>
        </p:txBody>
      </p:sp>
    </p:spTree>
    <p:extLst>
      <p:ext uri="{BB962C8B-B14F-4D97-AF65-F5344CB8AC3E}">
        <p14:creationId xmlns:p14="http://schemas.microsoft.com/office/powerpoint/2010/main" val="1174308465"/>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C165A1-1DB3-44C6-A5D2-E4D08F145F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D0E833-4433-42E9-9A26-61B466413C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Bibliography — continued</a:t>
            </a:r>
          </a:p>
        </p:txBody>
      </p:sp>
      <p:sp>
        <p:nvSpPr>
          <p:cNvPr id="3" name="">
            <a:extLst xmlns:a="http://schemas.openxmlformats.org/drawingml/2006/main">
              <a:ext uri="{FF2B5EF4-FFF2-40B4-BE49-F238E27FC236}">
                <a16:creationId xmlns:a16="http://schemas.microsoft.com/office/drawing/2014/main" id="{6DD14FCC-AD5E-4F7E-94DC-040D90A112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0AB98B56-B414-44E9-B139-B1FAE340B6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0D822DAE-CB4A-4643-AE3E-5A30FD3169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696-701.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Plumer, 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(1987).</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Principles and Practices of Intravenous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(4th Ed.) Boston: Little, Brown and Company.</a:t>
            </a:r>
          </a:p>
        </p:txBody>
      </p:sp>
      <p:sp>
        <p:nvSpPr>
          <p:cNvPr id="6" name="">
            <a:extLst xmlns:a="http://schemas.openxmlformats.org/drawingml/2006/main">
              <a:ext uri="{FF2B5EF4-FFF2-40B4-BE49-F238E27FC236}">
                <a16:creationId xmlns:a16="http://schemas.microsoft.com/office/drawing/2014/main" id="{A2D0322F-34C6-41ED-AA36-42541EB5D4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455EF1-A9E3-41FE-AAFD-55B7D72BD3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61</a:t>
            </a:r>
          </a:p>
        </p:txBody>
      </p:sp>
    </p:spTree>
    <p:extLst>
      <p:ext uri="{BB962C8B-B14F-4D97-AF65-F5344CB8AC3E}">
        <p14:creationId xmlns:p14="http://schemas.microsoft.com/office/powerpoint/2010/main" val="1989857387"/>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5E127-476B-4E13-A7B6-50BF96497E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869571-1597-457A-A7B1-C82F57251B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Bibliography — continued</a:t>
            </a:r>
          </a:p>
        </p:txBody>
      </p:sp>
      <p:sp>
        <p:nvSpPr>
          <p:cNvPr id="3" name="">
            <a:extLst xmlns:a="http://schemas.openxmlformats.org/drawingml/2006/main">
              <a:ext uri="{FF2B5EF4-FFF2-40B4-BE49-F238E27FC236}">
                <a16:creationId xmlns:a16="http://schemas.microsoft.com/office/drawing/2014/main" id="{04BB295B-1EAB-4DB7-A620-691F6C30A1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10CE636-6D18-4A38-9FF5-44F40E35DF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D0F6D4AA-B20C-4D6E-BFA9-5AF9126389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191-207.</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Rutman, R.C.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Miller, 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(1985).</a:t>
            </a:r>
          </a:p>
        </p:txBody>
      </p:sp>
      <p:sp>
        <p:nvSpPr>
          <p:cNvPr id="6" name="">
            <a:extLst xmlns:a="http://schemas.openxmlformats.org/drawingml/2006/main">
              <a:ext uri="{FF2B5EF4-FFF2-40B4-BE49-F238E27FC236}">
                <a16:creationId xmlns:a16="http://schemas.microsoft.com/office/drawing/2014/main" id="{F2CBE737-A332-4770-AC46-5723C8BE46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889800-6E83-4C81-8F95-4A2A4583EC8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61</a:t>
            </a:r>
          </a:p>
        </p:txBody>
      </p:sp>
    </p:spTree>
    <p:extLst>
      <p:ext uri="{BB962C8B-B14F-4D97-AF65-F5344CB8AC3E}">
        <p14:creationId xmlns:p14="http://schemas.microsoft.com/office/powerpoint/2010/main" val="1616450469"/>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1F5A7B-944E-4FEB-B0AA-C315567368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B88EE1-8FCB-454C-8754-851ABD2A37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Bibliography — continued</a:t>
            </a:r>
          </a:p>
        </p:txBody>
      </p:sp>
      <p:sp>
        <p:nvSpPr>
          <p:cNvPr id="3" name="">
            <a:extLst xmlns:a="http://schemas.openxmlformats.org/drawingml/2006/main">
              <a:ext uri="{FF2B5EF4-FFF2-40B4-BE49-F238E27FC236}">
                <a16:creationId xmlns:a16="http://schemas.microsoft.com/office/drawing/2014/main" id="{6E2F4B35-C1EF-4854-9134-14664D21ED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BC74303-AC72-4997-B0FF-9647AD5CCE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A8FCC9BF-B159-4856-9F11-6F3A6E87863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Transfusion Therapy Principles and Practices.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(2nd Ed.) Rockville, Maryland: An Aspen Publication.</a:t>
            </a:r>
          </a:p>
        </p:txBody>
      </p:sp>
      <p:sp>
        <p:nvSpPr>
          <p:cNvPr id="6" name="">
            <a:extLst xmlns:a="http://schemas.openxmlformats.org/drawingml/2006/main">
              <a:ext uri="{FF2B5EF4-FFF2-40B4-BE49-F238E27FC236}">
                <a16:creationId xmlns:a16="http://schemas.microsoft.com/office/drawing/2014/main" id="{E2703EA5-1185-411A-983C-CBCDFD8DEF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528817-9E59-43EC-9352-1B90DD1D8B2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61</a:t>
            </a:r>
          </a:p>
        </p:txBody>
      </p:sp>
    </p:spTree>
    <p:extLst>
      <p:ext uri="{BB962C8B-B14F-4D97-AF65-F5344CB8AC3E}">
        <p14:creationId xmlns:p14="http://schemas.microsoft.com/office/powerpoint/2010/main" val="342918149"/>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EE136E-83E2-4A27-9275-B8339C065B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3EFB96-065E-42CD-A40A-81E45C3A24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A6B02AEB-8701-48A0-8A96-DC51248FC7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285A3C7-ED30-490C-B514-22A3467276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223618AC-DB56-4BDB-8F33-E9A44E729573}"/>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129F7176-AD34-4D89-BE96-501E2F3496B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721942308"/>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E7752F-27AD-4818-909C-08A68A9CF1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3D949D-DA63-4169-8192-AC8164C344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96366D3-8C36-43EF-AFB4-A41544F7D8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5647D3E-B9E8-451C-9DDD-F0629D0733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37915BEB-FA1E-45E2-9554-1E8A0944A1F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CDB00940-0BDE-4A72-99EF-EDED61F82E4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149743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2026-10-23T07:16:00.5480000Z</dcterms:created>
  <dcterms:modified xsi:type="dcterms:W3CDTF">2026-10-23T07:16:00.5480000Z</dcterms:modified>
</coreProperties>
</file>