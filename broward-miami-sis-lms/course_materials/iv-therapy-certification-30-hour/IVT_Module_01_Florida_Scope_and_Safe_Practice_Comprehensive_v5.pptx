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Override PartName="/ppt/slides/slide31.xml" ContentType="application/vnd.openxmlformats-officedocument.presentationml.slide+xml"/>
  <Override PartName="/ppt/notesSlides/notesSlide31.xml" ContentType="application/vnd.openxmlformats-officedocument.presentationml.notesSlide+xml"/>
  <Override PartName="/ppt/slides/slide32.xml" ContentType="application/vnd.openxmlformats-officedocument.presentationml.slide+xml"/>
  <Override PartName="/ppt/notesSlides/notesSlide32.xml" ContentType="application/vnd.openxmlformats-officedocument.presentationml.notesSlide+xml"/>
  <Override PartName="/ppt/slides/slide33.xml" ContentType="application/vnd.openxmlformats-officedocument.presentationml.slide+xml"/>
  <Override PartName="/ppt/notesSlides/notesSlide33.xml" ContentType="application/vnd.openxmlformats-officedocument.presentationml.notesSlide+xml"/>
  <Override PartName="/ppt/slides/slide34.xml" ContentType="application/vnd.openxmlformats-officedocument.presentationml.slide+xml"/>
  <Override PartName="/ppt/notesSlides/notesSlide34.xml" ContentType="application/vnd.openxmlformats-officedocument.presentationml.notesSlide+xml"/>
  <Override PartName="/ppt/slides/slide35.xml" ContentType="application/vnd.openxmlformats-officedocument.presentationml.slide+xml"/>
  <Override PartName="/ppt/notesSlides/notesSlide35.xml" ContentType="application/vnd.openxmlformats-officedocument.presentationml.notesSlide+xml"/>
  <Override PartName="/ppt/slides/slide36.xml" ContentType="application/vnd.openxmlformats-officedocument.presentationml.slide+xml"/>
  <Override PartName="/ppt/notesSlides/notesSlide36.xml" ContentType="application/vnd.openxmlformats-officedocument.presentationml.notesSlide+xml"/>
  <Override PartName="/ppt/slides/slide37.xml" ContentType="application/vnd.openxmlformats-officedocument.presentationml.slide+xml"/>
  <Override PartName="/ppt/notesSlides/notesSlide37.xml" ContentType="application/vnd.openxmlformats-officedocument.presentationml.notesSlide+xml"/>
  <Override PartName="/ppt/slides/slide38.xml" ContentType="application/vnd.openxmlformats-officedocument.presentationml.slide+xml"/>
  <Override PartName="/ppt/notesSlides/notesSlide38.xml" ContentType="application/vnd.openxmlformats-officedocument.presentationml.notesSlide+xml"/>
  <Override PartName="/ppt/slides/slide39.xml" ContentType="application/vnd.openxmlformats-officedocument.presentationml.slide+xml"/>
  <Override PartName="/ppt/notesSlides/notesSlide39.xml" ContentType="application/vnd.openxmlformats-officedocument.presentationml.notesSlide+xml"/>
  <Override PartName="/ppt/slides/slide40.xml" ContentType="application/vnd.openxmlformats-officedocument.presentationml.slide+xml"/>
  <Override PartName="/ppt/notesSlides/notesSlide40.xml" ContentType="application/vnd.openxmlformats-officedocument.presentationml.notesSlide+xml"/>
  <Override PartName="/ppt/slides/slide41.xml" ContentType="application/vnd.openxmlformats-officedocument.presentationml.slide+xml"/>
  <Override PartName="/ppt/notesSlides/notesSlide41.xml" ContentType="application/vnd.openxmlformats-officedocument.presentationml.notesSlide+xml"/>
  <Override PartName="/ppt/slides/slide42.xml" ContentType="application/vnd.openxmlformats-officedocument.presentationml.slide+xml"/>
  <Override PartName="/ppt/notesSlides/notesSlide42.xml" ContentType="application/vnd.openxmlformats-officedocument.presentationml.notesSlide+xml"/>
  <Override PartName="/ppt/slides/slide43.xml" ContentType="application/vnd.openxmlformats-officedocument.presentationml.slide+xml"/>
  <Override PartName="/ppt/notesSlides/notesSlide43.xml" ContentType="application/vnd.openxmlformats-officedocument.presentationml.notesSlide+xml"/>
  <Override PartName="/ppt/slides/slide44.xml" ContentType="application/vnd.openxmlformats-officedocument.presentationml.slide+xml"/>
  <Override PartName="/ppt/notesSlides/notesSlide44.xml" ContentType="application/vnd.openxmlformats-officedocument.presentationml.notesSlide+xml"/>
  <Override PartName="/ppt/slides/slide45.xml" ContentType="application/vnd.openxmlformats-officedocument.presentationml.slide+xml"/>
  <Override PartName="/ppt/notesSlides/notesSlide45.xml" ContentType="application/vnd.openxmlformats-officedocument.presentationml.notesSlide+xml"/>
  <Override PartName="/ppt/slides/slide46.xml" ContentType="application/vnd.openxmlformats-officedocument.presentationml.slide+xml"/>
  <Override PartName="/ppt/notesSlides/notesSlide46.xml" ContentType="application/vnd.openxmlformats-officedocument.presentationml.notesSlide+xml"/>
  <Override PartName="/ppt/slides/slide47.xml" ContentType="application/vnd.openxmlformats-officedocument.presentationml.slide+xml"/>
  <Override PartName="/ppt/notesSlides/notesSlide47.xml" ContentType="application/vnd.openxmlformats-officedocument.presentationml.notesSlide+xml"/>
  <Override PartName="/ppt/slides/slide48.xml" ContentType="application/vnd.openxmlformats-officedocument.presentationml.slide+xml"/>
  <Override PartName="/ppt/notesSlides/notesSlide48.xml" ContentType="application/vnd.openxmlformats-officedocument.presentationml.notesSlide+xml"/>
  <Override PartName="/ppt/slides/slide49.xml" ContentType="application/vnd.openxmlformats-officedocument.presentationml.slide+xml"/>
  <Override PartName="/ppt/notesSlides/notesSlide49.xml" ContentType="application/vnd.openxmlformats-officedocument.presentationml.notesSlide+xml"/>
  <Override PartName="/ppt/slides/slide50.xml" ContentType="application/vnd.openxmlformats-officedocument.presentationml.slide+xml"/>
  <Override PartName="/ppt/notesSlides/notesSlide50.xml" ContentType="application/vnd.openxmlformats-officedocument.presentationml.notesSlide+xml"/>
  <Override PartName="/ppt/slides/slide51.xml" ContentType="application/vnd.openxmlformats-officedocument.presentationml.slide+xml"/>
  <Override PartName="/ppt/notesSlides/notesSlide51.xml" ContentType="application/vnd.openxmlformats-officedocument.presentationml.notesSlide+xml"/>
  <Override PartName="/ppt/slides/slide52.xml" ContentType="application/vnd.openxmlformats-officedocument.presentationml.slide+xml"/>
  <Override PartName="/ppt/notesSlides/notesSlide52.xml" ContentType="application/vnd.openxmlformats-officedocument.presentationml.notesSlide+xml"/>
  <Override PartName="/ppt/slides/slide53.xml" ContentType="application/vnd.openxmlformats-officedocument.presentationml.slide+xml"/>
  <Override PartName="/ppt/notesSlides/notesSlide53.xml" ContentType="application/vnd.openxmlformats-officedocument.presentationml.notesSlide+xml"/>
  <Override PartName="/ppt/slides/slide54.xml" ContentType="application/vnd.openxmlformats-officedocument.presentationml.slide+xml"/>
  <Override PartName="/ppt/notesSlides/notesSlide54.xml" ContentType="application/vnd.openxmlformats-officedocument.presentationml.notesSlide+xml"/>
  <Override PartName="/ppt/slides/slide55.xml" ContentType="application/vnd.openxmlformats-officedocument.presentationml.slide+xml"/>
  <Override PartName="/ppt/notesSlides/notesSlide55.xml" ContentType="application/vnd.openxmlformats-officedocument.presentationml.notesSlide+xml"/>
  <Override PartName="/ppt/slides/slide56.xml" ContentType="application/vnd.openxmlformats-officedocument.presentationml.slide+xml"/>
  <Override PartName="/ppt/notesSlides/notesSlide56.xml" ContentType="application/vnd.openxmlformats-officedocument.presentationml.notesSlide+xml"/>
  <Override PartName="/ppt/slides/slide57.xml" ContentType="application/vnd.openxmlformats-officedocument.presentationml.slide+xml"/>
  <Override PartName="/ppt/notesSlides/notesSlide57.xml" ContentType="application/vnd.openxmlformats-officedocument.presentationml.notesSlide+xml"/>
  <Override PartName="/ppt/slides/slide58.xml" ContentType="application/vnd.openxmlformats-officedocument.presentationml.slide+xml"/>
  <Override PartName="/ppt/notesSlides/notesSlide58.xml" ContentType="application/vnd.openxmlformats-officedocument.presentationml.notesSlide+xml"/>
  <Override PartName="/ppt/slides/slide59.xml" ContentType="application/vnd.openxmlformats-officedocument.presentationml.slide+xml"/>
  <Override PartName="/ppt/notesSlides/notesSlide59.xml" ContentType="application/vnd.openxmlformats-officedocument.presentationml.notesSlide+xml"/>
  <Override PartName="/ppt/slides/slide60.xml" ContentType="application/vnd.openxmlformats-officedocument.presentationml.slide+xml"/>
  <Override PartName="/ppt/notesSlides/notesSlide60.xml" ContentType="application/vnd.openxmlformats-officedocument.presentationml.notesSlide+xml"/>
  <Override PartName="/ppt/slides/slide61.xml" ContentType="application/vnd.openxmlformats-officedocument.presentationml.slide+xml"/>
  <Override PartName="/ppt/notesSlides/notesSlide61.xml" ContentType="application/vnd.openxmlformats-officedocument.presentationml.notesSlide+xml"/>
  <Override PartName="/ppt/slides/slide62.xml" ContentType="application/vnd.openxmlformats-officedocument.presentationml.slide+xml"/>
  <Override PartName="/ppt/notesSlides/notesSlide62.xml" ContentType="application/vnd.openxmlformats-officedocument.presentationml.notesSlide+xml"/>
  <Override PartName="/ppt/slides/slide63.xml" ContentType="application/vnd.openxmlformats-officedocument.presentationml.slide+xml"/>
  <Override PartName="/ppt/notesSlides/notesSlide63.xml" ContentType="application/vnd.openxmlformats-officedocument.presentationml.notesSlide+xml"/>
  <Override PartName="/ppt/slides/slide64.xml" ContentType="application/vnd.openxmlformats-officedocument.presentationml.slide+xml"/>
  <Override PartName="/ppt/notesSlides/notesSlide64.xml" ContentType="application/vnd.openxmlformats-officedocument.presentationml.notesSlide+xml"/>
  <Override PartName="/ppt/slides/slide65.xml" ContentType="application/vnd.openxmlformats-officedocument.presentationml.slide+xml"/>
  <Override PartName="/ppt/notesSlides/notesSlide65.xml" ContentType="application/vnd.openxmlformats-officedocument.presentationml.notesSlide+xml"/>
  <Override PartName="/ppt/slides/slide66.xml" ContentType="application/vnd.openxmlformats-officedocument.presentationml.slide+xml"/>
  <Override PartName="/ppt/notesSlides/notesSlide66.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dcf7ac58df464604" /><Relationship Type="http://schemas.openxmlformats.org/officeDocument/2006/relationships/extended-properties" Target="/docProps/app.xml" Id="R12df82141fc6436b" /><Relationship Type="http://schemas.openxmlformats.org/officeDocument/2006/relationships/officeDocument" Target="/ppt/presentation.xml" Id="R1fcc34a571094ee2" /></Relationships>
</file>

<file path=ppt/presentation.xml><?xml version="1.0" encoding="utf-8"?>
<p:presentation xmlns:p="http://schemas.openxmlformats.org/presentationml/2006/main">
  <p:sldMasterIdLst>
    <p:sldMasterId xmlns:r="http://schemas.openxmlformats.org/officeDocument/2006/relationships" id="2147483648" r:id="Rae4708ecee2e447f"/>
  </p:sldMasterIdLst>
  <p:notesMasterIdLst>
    <p:notesMasterId xmlns:r="http://schemas.openxmlformats.org/officeDocument/2006/relationships" r:id="Rdadb0715e2a5413e"/>
  </p:notesMasterIdLst>
  <p:sldIdLst>
    <p:sldId xmlns:r="http://schemas.openxmlformats.org/officeDocument/2006/relationships" id="256" r:id="R9f2e0cf6fd51405a"/>
    <p:sldId xmlns:r="http://schemas.openxmlformats.org/officeDocument/2006/relationships" id="257" r:id="Rd1f3d003e6f64de9"/>
    <p:sldId xmlns:r="http://schemas.openxmlformats.org/officeDocument/2006/relationships" id="258" r:id="Rb0443a7a0f974d69"/>
    <p:sldId xmlns:r="http://schemas.openxmlformats.org/officeDocument/2006/relationships" id="259" r:id="Rde835f6f63a74710"/>
    <p:sldId xmlns:r="http://schemas.openxmlformats.org/officeDocument/2006/relationships" id="260" r:id="R354320541da84b94"/>
    <p:sldId xmlns:r="http://schemas.openxmlformats.org/officeDocument/2006/relationships" id="261" r:id="R3ebcf58103a94c52"/>
    <p:sldId xmlns:r="http://schemas.openxmlformats.org/officeDocument/2006/relationships" id="262" r:id="R9e62d1ed599b48ce"/>
    <p:sldId xmlns:r="http://schemas.openxmlformats.org/officeDocument/2006/relationships" id="263" r:id="Rcaa6e0a6629b46b9"/>
    <p:sldId xmlns:r="http://schemas.openxmlformats.org/officeDocument/2006/relationships" id="264" r:id="R066009ab29f64352"/>
    <p:sldId xmlns:r="http://schemas.openxmlformats.org/officeDocument/2006/relationships" id="265" r:id="Rb251d4ee30dd4179"/>
    <p:sldId xmlns:r="http://schemas.openxmlformats.org/officeDocument/2006/relationships" id="266" r:id="Rd3bcc3fb2f374813"/>
    <p:sldId xmlns:r="http://schemas.openxmlformats.org/officeDocument/2006/relationships" id="267" r:id="Rebfd7afc6e524166"/>
    <p:sldId xmlns:r="http://schemas.openxmlformats.org/officeDocument/2006/relationships" id="268" r:id="Rf9499f751f334942"/>
    <p:sldId xmlns:r="http://schemas.openxmlformats.org/officeDocument/2006/relationships" id="269" r:id="Ref688d1dc09d4412"/>
    <p:sldId xmlns:r="http://schemas.openxmlformats.org/officeDocument/2006/relationships" id="270" r:id="R0be938d382134fe6"/>
    <p:sldId xmlns:r="http://schemas.openxmlformats.org/officeDocument/2006/relationships" id="271" r:id="Re38ea4966e9c4278"/>
    <p:sldId xmlns:r="http://schemas.openxmlformats.org/officeDocument/2006/relationships" id="272" r:id="R857f968a5b7b4c1d"/>
    <p:sldId xmlns:r="http://schemas.openxmlformats.org/officeDocument/2006/relationships" id="273" r:id="Rbfda08be4d834ebf"/>
    <p:sldId xmlns:r="http://schemas.openxmlformats.org/officeDocument/2006/relationships" id="274" r:id="Ra1784a51d5fa4a5c"/>
    <p:sldId xmlns:r="http://schemas.openxmlformats.org/officeDocument/2006/relationships" id="275" r:id="R1ba237a5c83c496c"/>
    <p:sldId xmlns:r="http://schemas.openxmlformats.org/officeDocument/2006/relationships" id="276" r:id="R47fc4d314f644699"/>
    <p:sldId xmlns:r="http://schemas.openxmlformats.org/officeDocument/2006/relationships" id="277" r:id="R0732fb2f5e804377"/>
    <p:sldId xmlns:r="http://schemas.openxmlformats.org/officeDocument/2006/relationships" id="278" r:id="R89bb6cf852534b61"/>
    <p:sldId xmlns:r="http://schemas.openxmlformats.org/officeDocument/2006/relationships" id="279" r:id="R54a649f4bcd14e91"/>
    <p:sldId xmlns:r="http://schemas.openxmlformats.org/officeDocument/2006/relationships" id="280" r:id="Rfedd2bab098c41b3"/>
    <p:sldId xmlns:r="http://schemas.openxmlformats.org/officeDocument/2006/relationships" id="281" r:id="Rb88c0afcfc5b4463"/>
    <p:sldId xmlns:r="http://schemas.openxmlformats.org/officeDocument/2006/relationships" id="282" r:id="R1d9cf890a57c4ec6"/>
    <p:sldId xmlns:r="http://schemas.openxmlformats.org/officeDocument/2006/relationships" id="283" r:id="Rc148023839b842f6"/>
    <p:sldId xmlns:r="http://schemas.openxmlformats.org/officeDocument/2006/relationships" id="284" r:id="R87640078825a4735"/>
    <p:sldId xmlns:r="http://schemas.openxmlformats.org/officeDocument/2006/relationships" id="285" r:id="Rf26eaaaf5b1b4c1b"/>
    <p:sldId xmlns:r="http://schemas.openxmlformats.org/officeDocument/2006/relationships" id="286" r:id="Re2298508ad7840d1"/>
    <p:sldId xmlns:r="http://schemas.openxmlformats.org/officeDocument/2006/relationships" id="287" r:id="R47ea87b0ff9048f5"/>
    <p:sldId xmlns:r="http://schemas.openxmlformats.org/officeDocument/2006/relationships" id="288" r:id="Rfe62a33d898b4afd"/>
    <p:sldId xmlns:r="http://schemas.openxmlformats.org/officeDocument/2006/relationships" id="289" r:id="R0138731b388a43f7"/>
    <p:sldId xmlns:r="http://schemas.openxmlformats.org/officeDocument/2006/relationships" id="290" r:id="Rb1e89829d9324f59"/>
    <p:sldId xmlns:r="http://schemas.openxmlformats.org/officeDocument/2006/relationships" id="291" r:id="Raffbd783a49743ee"/>
    <p:sldId xmlns:r="http://schemas.openxmlformats.org/officeDocument/2006/relationships" id="292" r:id="R2c3cd503f02d484e"/>
    <p:sldId xmlns:r="http://schemas.openxmlformats.org/officeDocument/2006/relationships" id="293" r:id="R53cbcfc7816a462e"/>
    <p:sldId xmlns:r="http://schemas.openxmlformats.org/officeDocument/2006/relationships" id="294" r:id="R3b4fa7ab447943d1"/>
    <p:sldId xmlns:r="http://schemas.openxmlformats.org/officeDocument/2006/relationships" id="295" r:id="R743c2252efe1403c"/>
    <p:sldId xmlns:r="http://schemas.openxmlformats.org/officeDocument/2006/relationships" id="296" r:id="R5b971f40cadd4d37"/>
    <p:sldId xmlns:r="http://schemas.openxmlformats.org/officeDocument/2006/relationships" id="297" r:id="R5fc3c82e1f244433"/>
    <p:sldId xmlns:r="http://schemas.openxmlformats.org/officeDocument/2006/relationships" id="298" r:id="R1dbc977814ea433c"/>
    <p:sldId xmlns:r="http://schemas.openxmlformats.org/officeDocument/2006/relationships" id="299" r:id="Ra0584ab6a69d43bc"/>
    <p:sldId xmlns:r="http://schemas.openxmlformats.org/officeDocument/2006/relationships" id="300" r:id="R3e187f7a055e48b2"/>
    <p:sldId xmlns:r="http://schemas.openxmlformats.org/officeDocument/2006/relationships" id="301" r:id="R7cec7bdb1e7b4530"/>
    <p:sldId xmlns:r="http://schemas.openxmlformats.org/officeDocument/2006/relationships" id="302" r:id="R01bb57f21f234b71"/>
    <p:sldId xmlns:r="http://schemas.openxmlformats.org/officeDocument/2006/relationships" id="303" r:id="R29a39a49db694518"/>
    <p:sldId xmlns:r="http://schemas.openxmlformats.org/officeDocument/2006/relationships" id="304" r:id="R481a22148b2a48ab"/>
    <p:sldId xmlns:r="http://schemas.openxmlformats.org/officeDocument/2006/relationships" id="305" r:id="Rb0f945f407464541"/>
    <p:sldId xmlns:r="http://schemas.openxmlformats.org/officeDocument/2006/relationships" id="306" r:id="R822e1bef8a924bca"/>
    <p:sldId xmlns:r="http://schemas.openxmlformats.org/officeDocument/2006/relationships" id="307" r:id="R68b7de9c579448f9"/>
    <p:sldId xmlns:r="http://schemas.openxmlformats.org/officeDocument/2006/relationships" id="308" r:id="R69d72dc656b74111"/>
    <p:sldId xmlns:r="http://schemas.openxmlformats.org/officeDocument/2006/relationships" id="309" r:id="R8263882cab4042d2"/>
    <p:sldId xmlns:r="http://schemas.openxmlformats.org/officeDocument/2006/relationships" id="310" r:id="R5cfb364ee2d04e7e"/>
    <p:sldId xmlns:r="http://schemas.openxmlformats.org/officeDocument/2006/relationships" id="311" r:id="Raff721a0585e4b5f"/>
    <p:sldId xmlns:r="http://schemas.openxmlformats.org/officeDocument/2006/relationships" id="312" r:id="R35c8f538ddb04479"/>
    <p:sldId xmlns:r="http://schemas.openxmlformats.org/officeDocument/2006/relationships" id="313" r:id="R3173ea63d6014380"/>
    <p:sldId xmlns:r="http://schemas.openxmlformats.org/officeDocument/2006/relationships" id="314" r:id="R1069c744feec4454"/>
    <p:sldId xmlns:r="http://schemas.openxmlformats.org/officeDocument/2006/relationships" id="315" r:id="R669fb364069b43f3"/>
    <p:sldId xmlns:r="http://schemas.openxmlformats.org/officeDocument/2006/relationships" id="316" r:id="R9553e719fa004c40"/>
    <p:sldId xmlns:r="http://schemas.openxmlformats.org/officeDocument/2006/relationships" id="317" r:id="R52b45800cd404261"/>
    <p:sldId xmlns:r="http://schemas.openxmlformats.org/officeDocument/2006/relationships" id="318" r:id="R50410d16c0b242b9"/>
    <p:sldId xmlns:r="http://schemas.openxmlformats.org/officeDocument/2006/relationships" id="319" r:id="R4145033fd86e4f53"/>
    <p:sldId xmlns:r="http://schemas.openxmlformats.org/officeDocument/2006/relationships" id="320" r:id="R74b0e7f92977409e"/>
    <p:sldId xmlns:r="http://schemas.openxmlformats.org/officeDocument/2006/relationships" id="321" r:id="R8fe52878f9554320"/>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9cb5177a313944ee" /><Relationship Type="http://schemas.openxmlformats.org/officeDocument/2006/relationships/slideMaster" Target="/ppt/slideMasters/slideMaster1.xml" Id="Rae4708ecee2e447f" /><Relationship Type="http://schemas.openxmlformats.org/officeDocument/2006/relationships/notesMaster" Target="/ppt/notesMasters/notesMaster1.xml" Id="Rdadb0715e2a5413e" /><Relationship Type="http://schemas.openxmlformats.org/officeDocument/2006/relationships/presProps" Target="/ppt/presProps.xml" Id="Re0ad8de21f1d4982" /><Relationship Type="http://schemas.openxmlformats.org/officeDocument/2006/relationships/tableStyles" Target="/ppt/tableStyles.xml" Id="Ra9965ac928fc49e7" /><Relationship Type="http://schemas.openxmlformats.org/officeDocument/2006/relationships/slide" Target="/ppt/slides/slide1.xml" Id="R9f2e0cf6fd51405a" /><Relationship Type="http://schemas.openxmlformats.org/officeDocument/2006/relationships/slide" Target="/ppt/slides/slide2.xml" Id="Rd1f3d003e6f64de9" /><Relationship Type="http://schemas.openxmlformats.org/officeDocument/2006/relationships/slide" Target="/ppt/slides/slide3.xml" Id="Rb0443a7a0f974d69" /><Relationship Type="http://schemas.openxmlformats.org/officeDocument/2006/relationships/slide" Target="/ppt/slides/slide4.xml" Id="Rde835f6f63a74710" /><Relationship Type="http://schemas.openxmlformats.org/officeDocument/2006/relationships/slide" Target="/ppt/slides/slide5.xml" Id="R354320541da84b94" /><Relationship Type="http://schemas.openxmlformats.org/officeDocument/2006/relationships/slide" Target="/ppt/slides/slide6.xml" Id="R3ebcf58103a94c52" /><Relationship Type="http://schemas.openxmlformats.org/officeDocument/2006/relationships/slide" Target="/ppt/slides/slide7.xml" Id="R9e62d1ed599b48ce" /><Relationship Type="http://schemas.openxmlformats.org/officeDocument/2006/relationships/slide" Target="/ppt/slides/slide8.xml" Id="Rcaa6e0a6629b46b9" /><Relationship Type="http://schemas.openxmlformats.org/officeDocument/2006/relationships/slide" Target="/ppt/slides/slide9.xml" Id="R066009ab29f64352" /><Relationship Type="http://schemas.openxmlformats.org/officeDocument/2006/relationships/slide" Target="/ppt/slides/slide10.xml" Id="Rb251d4ee30dd4179" /><Relationship Type="http://schemas.openxmlformats.org/officeDocument/2006/relationships/slide" Target="/ppt/slides/slide11.xml" Id="Rd3bcc3fb2f374813" /><Relationship Type="http://schemas.openxmlformats.org/officeDocument/2006/relationships/slide" Target="/ppt/slides/slide12.xml" Id="Rebfd7afc6e524166" /><Relationship Type="http://schemas.openxmlformats.org/officeDocument/2006/relationships/slide" Target="/ppt/slides/slide13.xml" Id="Rf9499f751f334942" /><Relationship Type="http://schemas.openxmlformats.org/officeDocument/2006/relationships/slide" Target="/ppt/slides/slide14.xml" Id="Ref688d1dc09d4412" /><Relationship Type="http://schemas.openxmlformats.org/officeDocument/2006/relationships/slide" Target="/ppt/slides/slide15.xml" Id="R0be938d382134fe6" /><Relationship Type="http://schemas.openxmlformats.org/officeDocument/2006/relationships/slide" Target="/ppt/slides/slide16.xml" Id="Re38ea4966e9c4278" /><Relationship Type="http://schemas.openxmlformats.org/officeDocument/2006/relationships/slide" Target="/ppt/slides/slide17.xml" Id="R857f968a5b7b4c1d" /><Relationship Type="http://schemas.openxmlformats.org/officeDocument/2006/relationships/slide" Target="/ppt/slides/slide18.xml" Id="Rbfda08be4d834ebf" /><Relationship Type="http://schemas.openxmlformats.org/officeDocument/2006/relationships/slide" Target="/ppt/slides/slide19.xml" Id="Ra1784a51d5fa4a5c" /><Relationship Type="http://schemas.openxmlformats.org/officeDocument/2006/relationships/slide" Target="/ppt/slides/slide20.xml" Id="R1ba237a5c83c496c" /><Relationship Type="http://schemas.openxmlformats.org/officeDocument/2006/relationships/slide" Target="/ppt/slides/slide21.xml" Id="R47fc4d314f644699" /><Relationship Type="http://schemas.openxmlformats.org/officeDocument/2006/relationships/slide" Target="/ppt/slides/slide22.xml" Id="R0732fb2f5e804377" /><Relationship Type="http://schemas.openxmlformats.org/officeDocument/2006/relationships/slide" Target="/ppt/slides/slide23.xml" Id="R89bb6cf852534b61" /><Relationship Type="http://schemas.openxmlformats.org/officeDocument/2006/relationships/slide" Target="/ppt/slides/slide24.xml" Id="R54a649f4bcd14e91" /><Relationship Type="http://schemas.openxmlformats.org/officeDocument/2006/relationships/slide" Target="/ppt/slides/slide25.xml" Id="Rfedd2bab098c41b3" /><Relationship Type="http://schemas.openxmlformats.org/officeDocument/2006/relationships/slide" Target="/ppt/slides/slide26.xml" Id="Rb88c0afcfc5b4463" /><Relationship Type="http://schemas.openxmlformats.org/officeDocument/2006/relationships/slide" Target="/ppt/slides/slide27.xml" Id="R1d9cf890a57c4ec6" /><Relationship Type="http://schemas.openxmlformats.org/officeDocument/2006/relationships/slide" Target="/ppt/slides/slide28.xml" Id="Rc148023839b842f6" /><Relationship Type="http://schemas.openxmlformats.org/officeDocument/2006/relationships/slide" Target="/ppt/slides/slide29.xml" Id="R87640078825a4735" /><Relationship Type="http://schemas.openxmlformats.org/officeDocument/2006/relationships/slide" Target="/ppt/slides/slide30.xml" Id="Rf26eaaaf5b1b4c1b" /><Relationship Type="http://schemas.openxmlformats.org/officeDocument/2006/relationships/slide" Target="/ppt/slides/slide31.xml" Id="Re2298508ad7840d1" /><Relationship Type="http://schemas.openxmlformats.org/officeDocument/2006/relationships/slide" Target="/ppt/slides/slide32.xml" Id="R47ea87b0ff9048f5" /><Relationship Type="http://schemas.openxmlformats.org/officeDocument/2006/relationships/slide" Target="/ppt/slides/slide33.xml" Id="Rfe62a33d898b4afd" /><Relationship Type="http://schemas.openxmlformats.org/officeDocument/2006/relationships/slide" Target="/ppt/slides/slide34.xml" Id="R0138731b388a43f7" /><Relationship Type="http://schemas.openxmlformats.org/officeDocument/2006/relationships/slide" Target="/ppt/slides/slide35.xml" Id="Rb1e89829d9324f59" /><Relationship Type="http://schemas.openxmlformats.org/officeDocument/2006/relationships/slide" Target="/ppt/slides/slide36.xml" Id="Raffbd783a49743ee" /><Relationship Type="http://schemas.openxmlformats.org/officeDocument/2006/relationships/slide" Target="/ppt/slides/slide37.xml" Id="R2c3cd503f02d484e" /><Relationship Type="http://schemas.openxmlformats.org/officeDocument/2006/relationships/slide" Target="/ppt/slides/slide38.xml" Id="R53cbcfc7816a462e" /><Relationship Type="http://schemas.openxmlformats.org/officeDocument/2006/relationships/slide" Target="/ppt/slides/slide39.xml" Id="R3b4fa7ab447943d1" /><Relationship Type="http://schemas.openxmlformats.org/officeDocument/2006/relationships/slide" Target="/ppt/slides/slide40.xml" Id="R743c2252efe1403c" /><Relationship Type="http://schemas.openxmlformats.org/officeDocument/2006/relationships/slide" Target="/ppt/slides/slide41.xml" Id="R5b971f40cadd4d37" /><Relationship Type="http://schemas.openxmlformats.org/officeDocument/2006/relationships/slide" Target="/ppt/slides/slide42.xml" Id="R5fc3c82e1f244433" /><Relationship Type="http://schemas.openxmlformats.org/officeDocument/2006/relationships/slide" Target="/ppt/slides/slide43.xml" Id="R1dbc977814ea433c" /><Relationship Type="http://schemas.openxmlformats.org/officeDocument/2006/relationships/slide" Target="/ppt/slides/slide44.xml" Id="Ra0584ab6a69d43bc" /><Relationship Type="http://schemas.openxmlformats.org/officeDocument/2006/relationships/slide" Target="/ppt/slides/slide45.xml" Id="R3e187f7a055e48b2" /><Relationship Type="http://schemas.openxmlformats.org/officeDocument/2006/relationships/slide" Target="/ppt/slides/slide46.xml" Id="R7cec7bdb1e7b4530" /><Relationship Type="http://schemas.openxmlformats.org/officeDocument/2006/relationships/slide" Target="/ppt/slides/slide47.xml" Id="R01bb57f21f234b71" /><Relationship Type="http://schemas.openxmlformats.org/officeDocument/2006/relationships/slide" Target="/ppt/slides/slide48.xml" Id="R29a39a49db694518" /><Relationship Type="http://schemas.openxmlformats.org/officeDocument/2006/relationships/slide" Target="/ppt/slides/slide49.xml" Id="R481a22148b2a48ab" /><Relationship Type="http://schemas.openxmlformats.org/officeDocument/2006/relationships/slide" Target="/ppt/slides/slide50.xml" Id="Rb0f945f407464541" /><Relationship Type="http://schemas.openxmlformats.org/officeDocument/2006/relationships/slide" Target="/ppt/slides/slide51.xml" Id="R822e1bef8a924bca" /><Relationship Type="http://schemas.openxmlformats.org/officeDocument/2006/relationships/slide" Target="/ppt/slides/slide52.xml" Id="R68b7de9c579448f9" /><Relationship Type="http://schemas.openxmlformats.org/officeDocument/2006/relationships/slide" Target="/ppt/slides/slide53.xml" Id="R69d72dc656b74111" /><Relationship Type="http://schemas.openxmlformats.org/officeDocument/2006/relationships/slide" Target="/ppt/slides/slide54.xml" Id="R8263882cab4042d2" /><Relationship Type="http://schemas.openxmlformats.org/officeDocument/2006/relationships/slide" Target="/ppt/slides/slide55.xml" Id="R5cfb364ee2d04e7e" /><Relationship Type="http://schemas.openxmlformats.org/officeDocument/2006/relationships/slide" Target="/ppt/slides/slide56.xml" Id="Raff721a0585e4b5f" /><Relationship Type="http://schemas.openxmlformats.org/officeDocument/2006/relationships/slide" Target="/ppt/slides/slide57.xml" Id="R35c8f538ddb04479" /><Relationship Type="http://schemas.openxmlformats.org/officeDocument/2006/relationships/slide" Target="/ppt/slides/slide58.xml" Id="R3173ea63d6014380" /><Relationship Type="http://schemas.openxmlformats.org/officeDocument/2006/relationships/slide" Target="/ppt/slides/slide59.xml" Id="R1069c744feec4454" /><Relationship Type="http://schemas.openxmlformats.org/officeDocument/2006/relationships/slide" Target="/ppt/slides/slide60.xml" Id="R669fb364069b43f3" /><Relationship Type="http://schemas.openxmlformats.org/officeDocument/2006/relationships/slide" Target="/ppt/slides/slide61.xml" Id="R9553e719fa004c40" /><Relationship Type="http://schemas.openxmlformats.org/officeDocument/2006/relationships/slide" Target="/ppt/slides/slide62.xml" Id="R52b45800cd404261" /><Relationship Type="http://schemas.openxmlformats.org/officeDocument/2006/relationships/slide" Target="/ppt/slides/slide63.xml" Id="R50410d16c0b242b9" /><Relationship Type="http://schemas.openxmlformats.org/officeDocument/2006/relationships/slide" Target="/ppt/slides/slide64.xml" Id="R4145033fd86e4f53" /><Relationship Type="http://schemas.openxmlformats.org/officeDocument/2006/relationships/slide" Target="/ppt/slides/slide65.xml" Id="R74b0e7f92977409e" /><Relationship Type="http://schemas.openxmlformats.org/officeDocument/2006/relationships/slide" Target="/ppt/slides/slide66.xml" Id="R8fe52878f9554320"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14cc1b17e2c943d8"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b4dafeb8c377434b" /><Relationship Type="http://schemas.openxmlformats.org/officeDocument/2006/relationships/notesMaster" Target="/ppt/notesMasters/notesMaster1.xml" Id="Ra15e10d5dd764970" /></Relationships>
</file>

<file path=ppt/notesSlides/_rels/notesSlide2.xml.rels>&#65279;<?xml version="1.0" encoding="utf-8"?><Relationships xmlns="http://schemas.openxmlformats.org/package/2006/relationships"><Relationship Type="http://schemas.openxmlformats.org/officeDocument/2006/relationships/slide" Target="/ppt/slides/slide2.xml" Id="R272076136a8c4c88" /><Relationship Type="http://schemas.openxmlformats.org/officeDocument/2006/relationships/notesMaster" Target="/ppt/notesMasters/notesMaster1.xml" Id="Rfc9f4fe6eee744ac" /></Relationships>
</file>

<file path=ppt/notesSlides/_rels/notesSlide3.xml.rels>&#65279;<?xml version="1.0" encoding="utf-8"?><Relationships xmlns="http://schemas.openxmlformats.org/package/2006/relationships"><Relationship Type="http://schemas.openxmlformats.org/officeDocument/2006/relationships/slide" Target="/ppt/slides/slide3.xml" Id="R8e9a2307e53742ea" /><Relationship Type="http://schemas.openxmlformats.org/officeDocument/2006/relationships/notesMaster" Target="/ppt/notesMasters/notesMaster1.xml" Id="Ra7a8f96737fc4cb1" /></Relationships>
</file>

<file path=ppt/notesSlides/_rels/notesSlide4.xml.rels>&#65279;<?xml version="1.0" encoding="utf-8"?><Relationships xmlns="http://schemas.openxmlformats.org/package/2006/relationships"><Relationship Type="http://schemas.openxmlformats.org/officeDocument/2006/relationships/slide" Target="/ppt/slides/slide4.xml" Id="R07602ba073624bb6" /><Relationship Type="http://schemas.openxmlformats.org/officeDocument/2006/relationships/notesMaster" Target="/ppt/notesMasters/notesMaster1.xml" Id="R6813c6b146c24277" /></Relationships>
</file>

<file path=ppt/notesSlides/_rels/notesSlide5.xml.rels>&#65279;<?xml version="1.0" encoding="utf-8"?><Relationships xmlns="http://schemas.openxmlformats.org/package/2006/relationships"><Relationship Type="http://schemas.openxmlformats.org/officeDocument/2006/relationships/slide" Target="/ppt/slides/slide5.xml" Id="Rfbd46e5017aa48f0" /><Relationship Type="http://schemas.openxmlformats.org/officeDocument/2006/relationships/notesMaster" Target="/ppt/notesMasters/notesMaster1.xml" Id="Rcdca8d679e3a4b6b" /></Relationships>
</file>

<file path=ppt/notesSlides/_rels/notesSlide6.xml.rels>&#65279;<?xml version="1.0" encoding="utf-8"?><Relationships xmlns="http://schemas.openxmlformats.org/package/2006/relationships"><Relationship Type="http://schemas.openxmlformats.org/officeDocument/2006/relationships/slide" Target="/ppt/slides/slide6.xml" Id="Rd85349b94db840d2" /><Relationship Type="http://schemas.openxmlformats.org/officeDocument/2006/relationships/notesMaster" Target="/ppt/notesMasters/notesMaster1.xml" Id="Re27f624b699a41bc" /></Relationships>
</file>

<file path=ppt/notesSlides/_rels/notesSlide7.xml.rels>&#65279;<?xml version="1.0" encoding="utf-8"?><Relationships xmlns="http://schemas.openxmlformats.org/package/2006/relationships"><Relationship Type="http://schemas.openxmlformats.org/officeDocument/2006/relationships/slide" Target="/ppt/slides/slide7.xml" Id="R3e4e983c9260427c" /><Relationship Type="http://schemas.openxmlformats.org/officeDocument/2006/relationships/notesMaster" Target="/ppt/notesMasters/notesMaster1.xml" Id="R85dfbeff6ef44253" /></Relationships>
</file>

<file path=ppt/notesSlides/_rels/notesSlide8.xml.rels>&#65279;<?xml version="1.0" encoding="utf-8"?><Relationships xmlns="http://schemas.openxmlformats.org/package/2006/relationships"><Relationship Type="http://schemas.openxmlformats.org/officeDocument/2006/relationships/slide" Target="/ppt/slides/slide8.xml" Id="R60a716dbe99841b2" /><Relationship Type="http://schemas.openxmlformats.org/officeDocument/2006/relationships/notesMaster" Target="/ppt/notesMasters/notesMaster1.xml" Id="R48736d71c3da4eb3" /></Relationships>
</file>

<file path=ppt/notesSlides/_rels/notesSlide9.xml.rels>&#65279;<?xml version="1.0" encoding="utf-8"?><Relationships xmlns="http://schemas.openxmlformats.org/package/2006/relationships"><Relationship Type="http://schemas.openxmlformats.org/officeDocument/2006/relationships/slide" Target="/ppt/slides/slide9.xml" Id="R341d7b5df94b4ff7" /><Relationship Type="http://schemas.openxmlformats.org/officeDocument/2006/relationships/notesMaster" Target="/ppt/notesMasters/notesMaster1.xml" Id="R5e6def5aa2bb4c32"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96c8e0614c124465" /><Relationship Type="http://schemas.openxmlformats.org/officeDocument/2006/relationships/notesMaster" Target="/ppt/notesMasters/notesMaster1.xml" Id="R9ecd9e311e9146f4"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8d994ee6e207419f" /><Relationship Type="http://schemas.openxmlformats.org/officeDocument/2006/relationships/notesMaster" Target="/ppt/notesMasters/notesMaster1.xml" Id="R934e6db59aed47d0"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7f6245186f4a4f78" /><Relationship Type="http://schemas.openxmlformats.org/officeDocument/2006/relationships/notesMaster" Target="/ppt/notesMasters/notesMaster1.xml" Id="R69b430546b7f477c"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3db5c537ee464f27" /><Relationship Type="http://schemas.openxmlformats.org/officeDocument/2006/relationships/notesMaster" Target="/ppt/notesMasters/notesMaster1.xml" Id="R9bbc78627fac4113"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98f871a541bd4231" /><Relationship Type="http://schemas.openxmlformats.org/officeDocument/2006/relationships/notesMaster" Target="/ppt/notesMasters/notesMaster1.xml" Id="Rfc18c46b6a8947c6"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7dc9454176ce4e7b" /><Relationship Type="http://schemas.openxmlformats.org/officeDocument/2006/relationships/notesMaster" Target="/ppt/notesMasters/notesMaster1.xml" Id="Rfc5eb22073ca4244"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d9ac102a8ba94406" /><Relationship Type="http://schemas.openxmlformats.org/officeDocument/2006/relationships/notesMaster" Target="/ppt/notesMasters/notesMaster1.xml" Id="Re9fbe72740fe4976"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20ab831870034343" /><Relationship Type="http://schemas.openxmlformats.org/officeDocument/2006/relationships/notesMaster" Target="/ppt/notesMasters/notesMaster1.xml" Id="R39039def12d04535"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bd0e4d07283347b4" /><Relationship Type="http://schemas.openxmlformats.org/officeDocument/2006/relationships/notesMaster" Target="/ppt/notesMasters/notesMaster1.xml" Id="Ra6d6d4d15fe544ff"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5e24e0a0624f46c4" /><Relationship Type="http://schemas.openxmlformats.org/officeDocument/2006/relationships/notesMaster" Target="/ppt/notesMasters/notesMaster1.xml" Id="R5dba53e0eaa9463b"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6ef745f67b2f4247" /><Relationship Type="http://schemas.openxmlformats.org/officeDocument/2006/relationships/notesMaster" Target="/ppt/notesMasters/notesMaster1.xml" Id="Re1731c2126f9440b"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d3fe34d9d91a4ddc" /><Relationship Type="http://schemas.openxmlformats.org/officeDocument/2006/relationships/notesMaster" Target="/ppt/notesMasters/notesMaster1.xml" Id="Rda0aee6dcc784d3e"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b97e83ad48ec46de" /><Relationship Type="http://schemas.openxmlformats.org/officeDocument/2006/relationships/notesMaster" Target="/ppt/notesMasters/notesMaster1.xml" Id="R8ff767f1a36f4e60"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a40d5f08341c4fb3" /><Relationship Type="http://schemas.openxmlformats.org/officeDocument/2006/relationships/notesMaster" Target="/ppt/notesMasters/notesMaster1.xml" Id="R64500e69642a4cc3"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05ddbab2572d489c" /><Relationship Type="http://schemas.openxmlformats.org/officeDocument/2006/relationships/notesMaster" Target="/ppt/notesMasters/notesMaster1.xml" Id="R4ae7fc65ec8d4aa0"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5729132267e94fb1" /><Relationship Type="http://schemas.openxmlformats.org/officeDocument/2006/relationships/notesMaster" Target="/ppt/notesMasters/notesMaster1.xml" Id="R67de2b98f6d74c2f"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6f0595143e6f473c" /><Relationship Type="http://schemas.openxmlformats.org/officeDocument/2006/relationships/notesMaster" Target="/ppt/notesMasters/notesMaster1.xml" Id="R10b44239492c40f3"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7e738d766e284768" /><Relationship Type="http://schemas.openxmlformats.org/officeDocument/2006/relationships/notesMaster" Target="/ppt/notesMasters/notesMaster1.xml" Id="Rc5cbcee2430f4770"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3901220664014610" /><Relationship Type="http://schemas.openxmlformats.org/officeDocument/2006/relationships/notesMaster" Target="/ppt/notesMasters/notesMaster1.xml" Id="R6c7c46d8a8074864"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e14b7e1270b04109" /><Relationship Type="http://schemas.openxmlformats.org/officeDocument/2006/relationships/notesMaster" Target="/ppt/notesMasters/notesMaster1.xml" Id="R3b27cc8ca9db4973" /></Relationships>
</file>

<file path=ppt/notesSlides/_rels/notesSlide30.xml.rels>&#65279;<?xml version="1.0" encoding="utf-8"?><Relationships xmlns="http://schemas.openxmlformats.org/package/2006/relationships"><Relationship Type="http://schemas.openxmlformats.org/officeDocument/2006/relationships/slide" Target="/ppt/slides/slide30.xml" Id="Rbc1ec3395253420d" /><Relationship Type="http://schemas.openxmlformats.org/officeDocument/2006/relationships/notesMaster" Target="/ppt/notesMasters/notesMaster1.xml" Id="R4bbf942dcc7740af" /></Relationships>
</file>

<file path=ppt/notesSlides/_rels/notesSlide31.xml.rels>&#65279;<?xml version="1.0" encoding="utf-8"?><Relationships xmlns="http://schemas.openxmlformats.org/package/2006/relationships"><Relationship Type="http://schemas.openxmlformats.org/officeDocument/2006/relationships/slide" Target="/ppt/slides/slide31.xml" Id="Rb81019bfeecf458d" /><Relationship Type="http://schemas.openxmlformats.org/officeDocument/2006/relationships/notesMaster" Target="/ppt/notesMasters/notesMaster1.xml" Id="R0bfebe0d7c324f10" /></Relationships>
</file>

<file path=ppt/notesSlides/_rels/notesSlide32.xml.rels>&#65279;<?xml version="1.0" encoding="utf-8"?><Relationships xmlns="http://schemas.openxmlformats.org/package/2006/relationships"><Relationship Type="http://schemas.openxmlformats.org/officeDocument/2006/relationships/slide" Target="/ppt/slides/slide32.xml" Id="Rb0e5816412ed46fa" /><Relationship Type="http://schemas.openxmlformats.org/officeDocument/2006/relationships/notesMaster" Target="/ppt/notesMasters/notesMaster1.xml" Id="R0c94628d28324a05" /></Relationships>
</file>

<file path=ppt/notesSlides/_rels/notesSlide33.xml.rels>&#65279;<?xml version="1.0" encoding="utf-8"?><Relationships xmlns="http://schemas.openxmlformats.org/package/2006/relationships"><Relationship Type="http://schemas.openxmlformats.org/officeDocument/2006/relationships/slide" Target="/ppt/slides/slide33.xml" Id="R2a0a14441ca34099" /><Relationship Type="http://schemas.openxmlformats.org/officeDocument/2006/relationships/notesMaster" Target="/ppt/notesMasters/notesMaster1.xml" Id="Ra667af4c5e474631" /></Relationships>
</file>

<file path=ppt/notesSlides/_rels/notesSlide34.xml.rels>&#65279;<?xml version="1.0" encoding="utf-8"?><Relationships xmlns="http://schemas.openxmlformats.org/package/2006/relationships"><Relationship Type="http://schemas.openxmlformats.org/officeDocument/2006/relationships/slide" Target="/ppt/slides/slide34.xml" Id="R3cf2e8a6a8f04402" /><Relationship Type="http://schemas.openxmlformats.org/officeDocument/2006/relationships/notesMaster" Target="/ppt/notesMasters/notesMaster1.xml" Id="R7af3967300ba4d10" /></Relationships>
</file>

<file path=ppt/notesSlides/_rels/notesSlide35.xml.rels>&#65279;<?xml version="1.0" encoding="utf-8"?><Relationships xmlns="http://schemas.openxmlformats.org/package/2006/relationships"><Relationship Type="http://schemas.openxmlformats.org/officeDocument/2006/relationships/slide" Target="/ppt/slides/slide35.xml" Id="Re11acfcaa1504591" /><Relationship Type="http://schemas.openxmlformats.org/officeDocument/2006/relationships/notesMaster" Target="/ppt/notesMasters/notesMaster1.xml" Id="R840ac0fe263a4ca7" /></Relationships>
</file>

<file path=ppt/notesSlides/_rels/notesSlide36.xml.rels>&#65279;<?xml version="1.0" encoding="utf-8"?><Relationships xmlns="http://schemas.openxmlformats.org/package/2006/relationships"><Relationship Type="http://schemas.openxmlformats.org/officeDocument/2006/relationships/slide" Target="/ppt/slides/slide36.xml" Id="R56fa4b97714f48d8" /><Relationship Type="http://schemas.openxmlformats.org/officeDocument/2006/relationships/notesMaster" Target="/ppt/notesMasters/notesMaster1.xml" Id="Rd64246b0c0794f29" /></Relationships>
</file>

<file path=ppt/notesSlides/_rels/notesSlide37.xml.rels>&#65279;<?xml version="1.0" encoding="utf-8"?><Relationships xmlns="http://schemas.openxmlformats.org/package/2006/relationships"><Relationship Type="http://schemas.openxmlformats.org/officeDocument/2006/relationships/slide" Target="/ppt/slides/slide37.xml" Id="R79dc5918d6e74969" /><Relationship Type="http://schemas.openxmlformats.org/officeDocument/2006/relationships/notesMaster" Target="/ppt/notesMasters/notesMaster1.xml" Id="Rea1456a0b69c4a47" /></Relationships>
</file>

<file path=ppt/notesSlides/_rels/notesSlide38.xml.rels>&#65279;<?xml version="1.0" encoding="utf-8"?><Relationships xmlns="http://schemas.openxmlformats.org/package/2006/relationships"><Relationship Type="http://schemas.openxmlformats.org/officeDocument/2006/relationships/slide" Target="/ppt/slides/slide38.xml" Id="R12f3a8c55da34c76" /><Relationship Type="http://schemas.openxmlformats.org/officeDocument/2006/relationships/notesMaster" Target="/ppt/notesMasters/notesMaster1.xml" Id="R7134d1c3ede84090" /></Relationships>
</file>

<file path=ppt/notesSlides/_rels/notesSlide39.xml.rels>&#65279;<?xml version="1.0" encoding="utf-8"?><Relationships xmlns="http://schemas.openxmlformats.org/package/2006/relationships"><Relationship Type="http://schemas.openxmlformats.org/officeDocument/2006/relationships/slide" Target="/ppt/slides/slide39.xml" Id="R163e4e9cbfb845a2" /><Relationship Type="http://schemas.openxmlformats.org/officeDocument/2006/relationships/notesMaster" Target="/ppt/notesMasters/notesMaster1.xml" Id="Rc66a7d1bdeb846c8" /></Relationships>
</file>

<file path=ppt/notesSlides/_rels/notesSlide40.xml.rels>&#65279;<?xml version="1.0" encoding="utf-8"?><Relationships xmlns="http://schemas.openxmlformats.org/package/2006/relationships"><Relationship Type="http://schemas.openxmlformats.org/officeDocument/2006/relationships/slide" Target="/ppt/slides/slide40.xml" Id="R320001a8b9874ac7" /><Relationship Type="http://schemas.openxmlformats.org/officeDocument/2006/relationships/notesMaster" Target="/ppt/notesMasters/notesMaster1.xml" Id="Rba4d2e6d31964b31" /></Relationships>
</file>

<file path=ppt/notesSlides/_rels/notesSlide41.xml.rels>&#65279;<?xml version="1.0" encoding="utf-8"?><Relationships xmlns="http://schemas.openxmlformats.org/package/2006/relationships"><Relationship Type="http://schemas.openxmlformats.org/officeDocument/2006/relationships/slide" Target="/ppt/slides/slide41.xml" Id="R3321ce52799e439b" /><Relationship Type="http://schemas.openxmlformats.org/officeDocument/2006/relationships/notesMaster" Target="/ppt/notesMasters/notesMaster1.xml" Id="R818ddb07f31d4cd4" /></Relationships>
</file>

<file path=ppt/notesSlides/_rels/notesSlide42.xml.rels>&#65279;<?xml version="1.0" encoding="utf-8"?><Relationships xmlns="http://schemas.openxmlformats.org/package/2006/relationships"><Relationship Type="http://schemas.openxmlformats.org/officeDocument/2006/relationships/slide" Target="/ppt/slides/slide42.xml" Id="R87011c8ef8534f2a" /><Relationship Type="http://schemas.openxmlformats.org/officeDocument/2006/relationships/notesMaster" Target="/ppt/notesMasters/notesMaster1.xml" Id="R66d18b40e5874e60" /></Relationships>
</file>

<file path=ppt/notesSlides/_rels/notesSlide43.xml.rels>&#65279;<?xml version="1.0" encoding="utf-8"?><Relationships xmlns="http://schemas.openxmlformats.org/package/2006/relationships"><Relationship Type="http://schemas.openxmlformats.org/officeDocument/2006/relationships/slide" Target="/ppt/slides/slide43.xml" Id="R6dfa93b44ea04764" /><Relationship Type="http://schemas.openxmlformats.org/officeDocument/2006/relationships/notesMaster" Target="/ppt/notesMasters/notesMaster1.xml" Id="R4ce26143cb6646ff" /></Relationships>
</file>

<file path=ppt/notesSlides/_rels/notesSlide44.xml.rels>&#65279;<?xml version="1.0" encoding="utf-8"?><Relationships xmlns="http://schemas.openxmlformats.org/package/2006/relationships"><Relationship Type="http://schemas.openxmlformats.org/officeDocument/2006/relationships/slide" Target="/ppt/slides/slide44.xml" Id="R28aa89932843428d" /><Relationship Type="http://schemas.openxmlformats.org/officeDocument/2006/relationships/notesMaster" Target="/ppt/notesMasters/notesMaster1.xml" Id="R9dc883f0da3f42b3" /></Relationships>
</file>

<file path=ppt/notesSlides/_rels/notesSlide45.xml.rels>&#65279;<?xml version="1.0" encoding="utf-8"?><Relationships xmlns="http://schemas.openxmlformats.org/package/2006/relationships"><Relationship Type="http://schemas.openxmlformats.org/officeDocument/2006/relationships/slide" Target="/ppt/slides/slide45.xml" Id="R810f69d133e7471a" /><Relationship Type="http://schemas.openxmlformats.org/officeDocument/2006/relationships/notesMaster" Target="/ppt/notesMasters/notesMaster1.xml" Id="R33422d3c5afd4600" /></Relationships>
</file>

<file path=ppt/notesSlides/_rels/notesSlide46.xml.rels>&#65279;<?xml version="1.0" encoding="utf-8"?><Relationships xmlns="http://schemas.openxmlformats.org/package/2006/relationships"><Relationship Type="http://schemas.openxmlformats.org/officeDocument/2006/relationships/slide" Target="/ppt/slides/slide46.xml" Id="R5d253925489d42b6" /><Relationship Type="http://schemas.openxmlformats.org/officeDocument/2006/relationships/notesMaster" Target="/ppt/notesMasters/notesMaster1.xml" Id="Ra333c7b1947c4b1a" /></Relationships>
</file>

<file path=ppt/notesSlides/_rels/notesSlide47.xml.rels>&#65279;<?xml version="1.0" encoding="utf-8"?><Relationships xmlns="http://schemas.openxmlformats.org/package/2006/relationships"><Relationship Type="http://schemas.openxmlformats.org/officeDocument/2006/relationships/slide" Target="/ppt/slides/slide47.xml" Id="R82f17a1cc44d4c1b" /><Relationship Type="http://schemas.openxmlformats.org/officeDocument/2006/relationships/notesMaster" Target="/ppt/notesMasters/notesMaster1.xml" Id="R961554c630124924" /></Relationships>
</file>

<file path=ppt/notesSlides/_rels/notesSlide48.xml.rels>&#65279;<?xml version="1.0" encoding="utf-8"?><Relationships xmlns="http://schemas.openxmlformats.org/package/2006/relationships"><Relationship Type="http://schemas.openxmlformats.org/officeDocument/2006/relationships/slide" Target="/ppt/slides/slide48.xml" Id="R1879739706934e02" /><Relationship Type="http://schemas.openxmlformats.org/officeDocument/2006/relationships/notesMaster" Target="/ppt/notesMasters/notesMaster1.xml" Id="R0a696f51b7fc4052" /></Relationships>
</file>

<file path=ppt/notesSlides/_rels/notesSlide49.xml.rels>&#65279;<?xml version="1.0" encoding="utf-8"?><Relationships xmlns="http://schemas.openxmlformats.org/package/2006/relationships"><Relationship Type="http://schemas.openxmlformats.org/officeDocument/2006/relationships/slide" Target="/ppt/slides/slide49.xml" Id="Rbd76c9b6c7c14a02" /><Relationship Type="http://schemas.openxmlformats.org/officeDocument/2006/relationships/notesMaster" Target="/ppt/notesMasters/notesMaster1.xml" Id="Ra30c587cdb5f495f" /></Relationships>
</file>

<file path=ppt/notesSlides/_rels/notesSlide50.xml.rels>&#65279;<?xml version="1.0" encoding="utf-8"?><Relationships xmlns="http://schemas.openxmlformats.org/package/2006/relationships"><Relationship Type="http://schemas.openxmlformats.org/officeDocument/2006/relationships/slide" Target="/ppt/slides/slide50.xml" Id="Re0d8b8cb8b8e4027" /><Relationship Type="http://schemas.openxmlformats.org/officeDocument/2006/relationships/notesMaster" Target="/ppt/notesMasters/notesMaster1.xml" Id="R71b2d09dbb1a4f5d" /></Relationships>
</file>

<file path=ppt/notesSlides/_rels/notesSlide51.xml.rels>&#65279;<?xml version="1.0" encoding="utf-8"?><Relationships xmlns="http://schemas.openxmlformats.org/package/2006/relationships"><Relationship Type="http://schemas.openxmlformats.org/officeDocument/2006/relationships/slide" Target="/ppt/slides/slide51.xml" Id="R18731e958de34010" /><Relationship Type="http://schemas.openxmlformats.org/officeDocument/2006/relationships/notesMaster" Target="/ppt/notesMasters/notesMaster1.xml" Id="Ra89178e4f9ad45fc" /></Relationships>
</file>

<file path=ppt/notesSlides/_rels/notesSlide52.xml.rels>&#65279;<?xml version="1.0" encoding="utf-8"?><Relationships xmlns="http://schemas.openxmlformats.org/package/2006/relationships"><Relationship Type="http://schemas.openxmlformats.org/officeDocument/2006/relationships/slide" Target="/ppt/slides/slide52.xml" Id="Rcdec6a24d57a46aa" /><Relationship Type="http://schemas.openxmlformats.org/officeDocument/2006/relationships/notesMaster" Target="/ppt/notesMasters/notesMaster1.xml" Id="R335de544720a4776" /></Relationships>
</file>

<file path=ppt/notesSlides/_rels/notesSlide53.xml.rels>&#65279;<?xml version="1.0" encoding="utf-8"?><Relationships xmlns="http://schemas.openxmlformats.org/package/2006/relationships"><Relationship Type="http://schemas.openxmlformats.org/officeDocument/2006/relationships/slide" Target="/ppt/slides/slide53.xml" Id="R155df9cf8dde49e6" /><Relationship Type="http://schemas.openxmlformats.org/officeDocument/2006/relationships/notesMaster" Target="/ppt/notesMasters/notesMaster1.xml" Id="Rb0091f979baa4f49" /></Relationships>
</file>

<file path=ppt/notesSlides/_rels/notesSlide54.xml.rels>&#65279;<?xml version="1.0" encoding="utf-8"?><Relationships xmlns="http://schemas.openxmlformats.org/package/2006/relationships"><Relationship Type="http://schemas.openxmlformats.org/officeDocument/2006/relationships/slide" Target="/ppt/slides/slide54.xml" Id="Rfd23230d2d4543d4" /><Relationship Type="http://schemas.openxmlformats.org/officeDocument/2006/relationships/notesMaster" Target="/ppt/notesMasters/notesMaster1.xml" Id="R2eb50396f2ba462b" /></Relationships>
</file>

<file path=ppt/notesSlides/_rels/notesSlide55.xml.rels>&#65279;<?xml version="1.0" encoding="utf-8"?><Relationships xmlns="http://schemas.openxmlformats.org/package/2006/relationships"><Relationship Type="http://schemas.openxmlformats.org/officeDocument/2006/relationships/slide" Target="/ppt/slides/slide55.xml" Id="R2bf7962b4892469b" /><Relationship Type="http://schemas.openxmlformats.org/officeDocument/2006/relationships/notesMaster" Target="/ppt/notesMasters/notesMaster1.xml" Id="R008650924c1d4fc7" /></Relationships>
</file>

<file path=ppt/notesSlides/_rels/notesSlide56.xml.rels>&#65279;<?xml version="1.0" encoding="utf-8"?><Relationships xmlns="http://schemas.openxmlformats.org/package/2006/relationships"><Relationship Type="http://schemas.openxmlformats.org/officeDocument/2006/relationships/slide" Target="/ppt/slides/slide56.xml" Id="R102f481fc70c45ab" /><Relationship Type="http://schemas.openxmlformats.org/officeDocument/2006/relationships/notesMaster" Target="/ppt/notesMasters/notesMaster1.xml" Id="R917f874579324c03" /></Relationships>
</file>

<file path=ppt/notesSlides/_rels/notesSlide57.xml.rels>&#65279;<?xml version="1.0" encoding="utf-8"?><Relationships xmlns="http://schemas.openxmlformats.org/package/2006/relationships"><Relationship Type="http://schemas.openxmlformats.org/officeDocument/2006/relationships/slide" Target="/ppt/slides/slide57.xml" Id="Rd1a204c4bcbd44a7" /><Relationship Type="http://schemas.openxmlformats.org/officeDocument/2006/relationships/notesMaster" Target="/ppt/notesMasters/notesMaster1.xml" Id="Rba94d5496a174804" /></Relationships>
</file>

<file path=ppt/notesSlides/_rels/notesSlide58.xml.rels>&#65279;<?xml version="1.0" encoding="utf-8"?><Relationships xmlns="http://schemas.openxmlformats.org/package/2006/relationships"><Relationship Type="http://schemas.openxmlformats.org/officeDocument/2006/relationships/slide" Target="/ppt/slides/slide58.xml" Id="R0d4698e09cc24a3d" /><Relationship Type="http://schemas.openxmlformats.org/officeDocument/2006/relationships/notesMaster" Target="/ppt/notesMasters/notesMaster1.xml" Id="R485ba3bef4e74ae4" /></Relationships>
</file>

<file path=ppt/notesSlides/_rels/notesSlide59.xml.rels>&#65279;<?xml version="1.0" encoding="utf-8"?><Relationships xmlns="http://schemas.openxmlformats.org/package/2006/relationships"><Relationship Type="http://schemas.openxmlformats.org/officeDocument/2006/relationships/slide" Target="/ppt/slides/slide59.xml" Id="R99870f91ed15439d" /><Relationship Type="http://schemas.openxmlformats.org/officeDocument/2006/relationships/notesMaster" Target="/ppt/notesMasters/notesMaster1.xml" Id="R3bc5f78e6f7c4ef0" /></Relationships>
</file>

<file path=ppt/notesSlides/_rels/notesSlide60.xml.rels>&#65279;<?xml version="1.0" encoding="utf-8"?><Relationships xmlns="http://schemas.openxmlformats.org/package/2006/relationships"><Relationship Type="http://schemas.openxmlformats.org/officeDocument/2006/relationships/slide" Target="/ppt/slides/slide60.xml" Id="R8cfaa7b7dd8d40c0" /><Relationship Type="http://schemas.openxmlformats.org/officeDocument/2006/relationships/notesMaster" Target="/ppt/notesMasters/notesMaster1.xml" Id="R910e84dca4e942e9" /></Relationships>
</file>

<file path=ppt/notesSlides/_rels/notesSlide61.xml.rels>&#65279;<?xml version="1.0" encoding="utf-8"?><Relationships xmlns="http://schemas.openxmlformats.org/package/2006/relationships"><Relationship Type="http://schemas.openxmlformats.org/officeDocument/2006/relationships/slide" Target="/ppt/slides/slide61.xml" Id="R1be52bf4d4244aed" /><Relationship Type="http://schemas.openxmlformats.org/officeDocument/2006/relationships/notesMaster" Target="/ppt/notesMasters/notesMaster1.xml" Id="R030c1bd146a043de" /></Relationships>
</file>

<file path=ppt/notesSlides/_rels/notesSlide62.xml.rels>&#65279;<?xml version="1.0" encoding="utf-8"?><Relationships xmlns="http://schemas.openxmlformats.org/package/2006/relationships"><Relationship Type="http://schemas.openxmlformats.org/officeDocument/2006/relationships/slide" Target="/ppt/slides/slide62.xml" Id="R3dcb978f309e435d" /><Relationship Type="http://schemas.openxmlformats.org/officeDocument/2006/relationships/notesMaster" Target="/ppt/notesMasters/notesMaster1.xml" Id="R527a690d7693493d" /></Relationships>
</file>

<file path=ppt/notesSlides/_rels/notesSlide63.xml.rels>&#65279;<?xml version="1.0" encoding="utf-8"?><Relationships xmlns="http://schemas.openxmlformats.org/package/2006/relationships"><Relationship Type="http://schemas.openxmlformats.org/officeDocument/2006/relationships/slide" Target="/ppt/slides/slide63.xml" Id="R94f4e79edc3940ca" /><Relationship Type="http://schemas.openxmlformats.org/officeDocument/2006/relationships/notesMaster" Target="/ppt/notesMasters/notesMaster1.xml" Id="Rae6d595150694d5c" /></Relationships>
</file>

<file path=ppt/notesSlides/_rels/notesSlide64.xml.rels>&#65279;<?xml version="1.0" encoding="utf-8"?><Relationships xmlns="http://schemas.openxmlformats.org/package/2006/relationships"><Relationship Type="http://schemas.openxmlformats.org/officeDocument/2006/relationships/slide" Target="/ppt/slides/slide64.xml" Id="R3f092944f85f46dd" /><Relationship Type="http://schemas.openxmlformats.org/officeDocument/2006/relationships/notesMaster" Target="/ppt/notesMasters/notesMaster1.xml" Id="R37353d4e4fbd4907" /></Relationships>
</file>

<file path=ppt/notesSlides/_rels/notesSlide65.xml.rels>&#65279;<?xml version="1.0" encoding="utf-8"?><Relationships xmlns="http://schemas.openxmlformats.org/package/2006/relationships"><Relationship Type="http://schemas.openxmlformats.org/officeDocument/2006/relationships/slide" Target="/ppt/slides/slide65.xml" Id="Rd16ea22046084d81" /><Relationship Type="http://schemas.openxmlformats.org/officeDocument/2006/relationships/notesMaster" Target="/ppt/notesMasters/notesMaster1.xml" Id="Re26c0f7dbd574418" /></Relationships>
</file>

<file path=ppt/notesSlides/_rels/notesSlide66.xml.rels>&#65279;<?xml version="1.0" encoding="utf-8"?><Relationships xmlns="http://schemas.openxmlformats.org/package/2006/relationships"><Relationship Type="http://schemas.openxmlformats.org/officeDocument/2006/relationships/slide" Target="/ppt/slides/slide66.xml" Id="Rc682470e85804aa6" /><Relationship Type="http://schemas.openxmlformats.org/officeDocument/2006/relationships/notesMaster" Target="/ppt/notesMasters/notesMaster1.xml" Id="R9e3dc4b757854fc4"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Basic Intravenous Therapy Certification manual, pages 4;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Basic Intravenous Therapy Certification manual, pages 4;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Basic Intravenous Therapy Certification manual, pages 4-16;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Basic Intravenous Therapy Certification manual, pages 4-16;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Basic Intravenous Therapy Certification manual, pages 4-16;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Basic Intravenous Therapy Certification manual, pages 4-16;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Basic Intravenous Therapy Certification manual, pages 4-16;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Basic Intravenous Therapy Certification manual, pages 4-16;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Basic Intravenous Therapy Certification manual, pages 4-16;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Basic Intravenous Therapy Certification manual, pages 4-16;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Basic Intravenous Therapy Certification manual, pages 4-16;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Basic Intravenous Therapy Certification manual, pages 4-16;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Basic Intravenous Therapy Certification manual, pages 4-16;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Basic Intravenous Therapy Certification manual, pages 4-16;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Basic Intravenous Therapy Certification manual, pages 4-16;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Basic Intravenous Therapy Certification manual, pages 4-16;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Basic Intravenous Therapy Certification manual, pages 4-16;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Basic Intravenous Therapy Certification manual, pages 4-16;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Basic Intravenous Therapy Certification manual, pages 4-16;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Basic Intravenous Therapy Certification manual, pages 4-16;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Basic Intravenous Therapy Certification manual, pages 4-16;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Basic Intravenous Therapy Certification manual, pages 4-16;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Basic Intravenous Therapy Certification manual, pages 4;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Basic Intravenous Therapy Certification manual, pages 4;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Basic Intravenous Therapy Certification manual, pages 4;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Basic Intravenous Therapy Certification manual, pages 4;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Basic Intravenous Therapy Certification manual, pages 5;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Basic Intravenous Therapy Certification manual, pages 5;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Basic Intravenous Therapy Certification manual, pages 5;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Basic Intravenous Therapy Certification manual, pages 5;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Basic Intravenous Therapy Certification manual, pages 5;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Basic Intravenous Therapy Certification manual, pages 5;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Basic Intravenous Therapy Certification manual, pages 6;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Basic Intravenous Therapy Certification manual, pages 6;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Basic Intravenous Therapy Certification manual, pages 6;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Basic Intravenous Therapy Certification manual, pages 6;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Basic Intravenous Therapy Certification manual, pages 6;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Basic Intravenous Therapy Certification manual, pages 7;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Basic Intravenous Therapy Certification manual, pages 7;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Basic Intravenous Therapy Certification manual, pages 7;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Basic Intravenous Therapy Certification manual, pages 7;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Basic Intravenous Therapy Certification manual, pages 7;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Basic Intravenous Therapy Certification manual, pages 7;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Basic Intravenous Therapy Certification manual, pages 8;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Basic Intravenous Therapy Certification manual, pages 8;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Basic Intravenous Therapy Certification manual, pages 8;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Basic Intravenous Therapy Certification manual, pages 8;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Basic Intravenous Therapy Certification manual, pages 9;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Basic Intravenous Therapy Certification manual, pages 9;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Basic Intravenous Therapy Certification manual, pages 9;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Basic Intravenous Therapy Certification manual, pages 9;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Basic Intravenous Therapy Certification manual, pages 9;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Basic Intravenous Therapy Certification manual, pages 10;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Basic Intravenous Therapy Certification manual, pages 10;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Basic Intravenous Therapy Certification manual, pages 10;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Basic Intravenous Therapy Certification manual, pages 10;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Basic Intravenous Therapy Certification manual, pages 10;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Basic Intravenous Therapy Certification manual, pages 10;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Basic Intravenous Therapy Certification manual, pages 10;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Basic Intravenous Therapy Certification manual, pages 11;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Basic Intravenous Therapy Certification manual, pages 11;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Basic Intravenous Therapy Certification manual, pages 11;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Basic Intravenous Therapy Certification manual, pages 12;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Basic Intravenous Therapy Certification manual, pages 12;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Basic Intravenous Therapy Certification manual, pages 4; BMHI IVT 030 course content. Online preparation precedes live practice.</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Basic Intravenous Therapy Certification manual, pages 4;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c89a3daf2a8140ac"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98e8e3254e17464c"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c41351e8b1a94b37"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ab610fd784044531"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0e3db57b94cc47e5"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2a2c513a585743e6"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8F24DFCA-0E00-43DE-A0BC-1EE9DD620440}"/>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A39937E2-D080-42C0-829F-C1A015DE47BB}"/>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29F81F00-2E02-4DEF-B007-FC275125DB52}"/>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E26E09D6-A618-4C02-8804-E029E64CD0BA}"/>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5C56DB47-2642-4FA0-A699-BA56525AFF9F}"/>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1F311D74-65D5-4DEE-B1AC-62B85A062F14}"/>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98CC5579-EFC0-4B96-A168-B105115DDCC2}"/>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8A8D6547-1515-4041-90F7-8C8D73AE80D3}"/>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02023DF0-7C06-4A5D-9813-4960AA84C301}"/>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F825D640-3D67-415A-9F6B-7CD09403AE01}"/>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621b0846240a4282" /><Relationship Type="http://schemas.openxmlformats.org/officeDocument/2006/relationships/slideLayout" Target="/ppt/slideLayouts/slideLayout1.xml" Id="R23c2cff167ad46e7" /><Relationship Type="http://schemas.openxmlformats.org/officeDocument/2006/relationships/slideLayout" Target="/ppt/slideLayouts/slideLayout2.xml" Id="R2defee702c9c420e" /><Relationship Type="http://schemas.openxmlformats.org/officeDocument/2006/relationships/slideLayout" Target="/ppt/slideLayouts/slideLayout3.xml" Id="R7f54ef61b1234cd9" /><Relationship Type="http://schemas.openxmlformats.org/officeDocument/2006/relationships/slideLayout" Target="/ppt/slideLayouts/slideLayout4.xml" Id="Rcc7af07791c94e2c" /><Relationship Type="http://schemas.openxmlformats.org/officeDocument/2006/relationships/slideLayout" Target="/ppt/slideLayouts/slideLayout5.xml" Id="Rbae8f656251e435a" /><Relationship Type="http://schemas.openxmlformats.org/officeDocument/2006/relationships/slideLayout" Target="/ppt/slideLayouts/slideLayout6.xml" Id="R61d68c64681b4225"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23c2cff167ad46e7"/>
    <p:sldLayoutId xmlns:r="http://schemas.openxmlformats.org/officeDocument/2006/relationships" id="2147483650" r:id="R2defee702c9c420e"/>
    <p:sldLayoutId xmlns:r="http://schemas.openxmlformats.org/officeDocument/2006/relationships" id="2147483651" r:id="R7f54ef61b1234cd9"/>
    <p:sldLayoutId xmlns:r="http://schemas.openxmlformats.org/officeDocument/2006/relationships" id="2147483652" r:id="Rcc7af07791c94e2c"/>
    <p:sldLayoutId xmlns:r="http://schemas.openxmlformats.org/officeDocument/2006/relationships" id="2147483653" r:id="Rbae8f656251e435a"/>
    <p:sldLayoutId xmlns:r="http://schemas.openxmlformats.org/officeDocument/2006/relationships" id="2147483654" r:id="R61d68c64681b4225"/>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6eff5824d5dd41ed" /><Relationship Type="http://schemas.openxmlformats.org/officeDocument/2006/relationships/notesSlide" Target="/ppt/notesSlides/notesSlide1.xml" Id="R1a6238ce9e2d48eb"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c68ea5568b504c4d" /><Relationship Type="http://schemas.openxmlformats.org/officeDocument/2006/relationships/notesSlide" Target="/ppt/notesSlides/notesSlide2.xml" Id="Rf55430f183bf4035"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bbd64a69a2ae4006" /><Relationship Type="http://schemas.openxmlformats.org/officeDocument/2006/relationships/notesSlide" Target="/ppt/notesSlides/notesSlide3.xml" Id="R77303978d5874144"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ddd7b88f67be4655" /><Relationship Type="http://schemas.openxmlformats.org/officeDocument/2006/relationships/notesSlide" Target="/ppt/notesSlides/notesSlide4.xml" Id="R1c5cd44262b04999"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88130d87abda4032" /><Relationship Type="http://schemas.openxmlformats.org/officeDocument/2006/relationships/notesSlide" Target="/ppt/notesSlides/notesSlide5.xml" Id="R7cd6c383d728451c"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40007f38444c4548" /><Relationship Type="http://schemas.openxmlformats.org/officeDocument/2006/relationships/notesSlide" Target="/ppt/notesSlides/notesSlide6.xml" Id="Ra3595170fee94816"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7074a9c6e24c42b2" /><Relationship Type="http://schemas.openxmlformats.org/officeDocument/2006/relationships/notesSlide" Target="/ppt/notesSlides/notesSlide7.xml" Id="R7d9e233f528b406a"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f7e0d7c640964f26" /><Relationship Type="http://schemas.openxmlformats.org/officeDocument/2006/relationships/notesSlide" Target="/ppt/notesSlides/notesSlide8.xml" Id="R731a94cdea3d48c6"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04a46edcd9b24dd0" /><Relationship Type="http://schemas.openxmlformats.org/officeDocument/2006/relationships/notesSlide" Target="/ppt/notesSlides/notesSlide9.xml" Id="Re599353e0383462e"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bb9325d1ed364d0b" /><Relationship Type="http://schemas.openxmlformats.org/officeDocument/2006/relationships/notesSlide" Target="/ppt/notesSlides/notesSlide10.xml" Id="Reb69f2bc9f8d430f"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498f1bbf5a1549c7" /><Relationship Type="http://schemas.openxmlformats.org/officeDocument/2006/relationships/notesSlide" Target="/ppt/notesSlides/notesSlide11.xml" Id="R8b1014a59b6f4bcb"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1d7ceaad66a643e0" /><Relationship Type="http://schemas.openxmlformats.org/officeDocument/2006/relationships/notesSlide" Target="/ppt/notesSlides/notesSlide12.xml" Id="Rbd2c775c339b433b"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3ba1a334446b4714" /><Relationship Type="http://schemas.openxmlformats.org/officeDocument/2006/relationships/notesSlide" Target="/ppt/notesSlides/notesSlide13.xml" Id="R9d687431c59b46c4"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afa11b859e5a4c54" /><Relationship Type="http://schemas.openxmlformats.org/officeDocument/2006/relationships/notesSlide" Target="/ppt/notesSlides/notesSlide14.xml" Id="R2f7f1c3d5019492f" /></Relationships>
</file>

<file path=ppt/slides/_rels/slide15.xml.rels>&#65279;<?xml version="1.0" encoding="utf-8"?><Relationships xmlns="http://schemas.openxmlformats.org/package/2006/relationships"><Relationship Type="http://schemas.openxmlformats.org/officeDocument/2006/relationships/slideLayout" Target="/ppt/slideLayouts/slideLayout6.xml" Id="Rfe9a1ae020d54dcb" /><Relationship Type="http://schemas.openxmlformats.org/officeDocument/2006/relationships/notesSlide" Target="/ppt/notesSlides/notesSlide15.xml" Id="R6191d7533e914633" /></Relationships>
</file>

<file path=ppt/slides/_rels/slide16.xml.rels>&#65279;<?xml version="1.0" encoding="utf-8"?><Relationships xmlns="http://schemas.openxmlformats.org/package/2006/relationships"><Relationship Type="http://schemas.openxmlformats.org/officeDocument/2006/relationships/slideLayout" Target="/ppt/slideLayouts/slideLayout6.xml" Id="Rcb48e4274dd64bca" /><Relationship Type="http://schemas.openxmlformats.org/officeDocument/2006/relationships/notesSlide" Target="/ppt/notesSlides/notesSlide16.xml" Id="R53e29b6304ad4eec" /></Relationships>
</file>

<file path=ppt/slides/_rels/slide17.xml.rels>&#65279;<?xml version="1.0" encoding="utf-8"?><Relationships xmlns="http://schemas.openxmlformats.org/package/2006/relationships"><Relationship Type="http://schemas.openxmlformats.org/officeDocument/2006/relationships/slideLayout" Target="/ppt/slideLayouts/slideLayout6.xml" Id="R746e9322b7dc47b9" /><Relationship Type="http://schemas.openxmlformats.org/officeDocument/2006/relationships/notesSlide" Target="/ppt/notesSlides/notesSlide17.xml" Id="R051ed6ab24484d95" /></Relationships>
</file>

<file path=ppt/slides/_rels/slide18.xml.rels>&#65279;<?xml version="1.0" encoding="utf-8"?><Relationships xmlns="http://schemas.openxmlformats.org/package/2006/relationships"><Relationship Type="http://schemas.openxmlformats.org/officeDocument/2006/relationships/slideLayout" Target="/ppt/slideLayouts/slideLayout6.xml" Id="R120c5d7edc2d4f68" /><Relationship Type="http://schemas.openxmlformats.org/officeDocument/2006/relationships/notesSlide" Target="/ppt/notesSlides/notesSlide18.xml" Id="R1cf4a5ee5c8149de" /></Relationships>
</file>

<file path=ppt/slides/_rels/slide19.xml.rels>&#65279;<?xml version="1.0" encoding="utf-8"?><Relationships xmlns="http://schemas.openxmlformats.org/package/2006/relationships"><Relationship Type="http://schemas.openxmlformats.org/officeDocument/2006/relationships/slideLayout" Target="/ppt/slideLayouts/slideLayout6.xml" Id="R5c2b1c07def04d98" /><Relationship Type="http://schemas.openxmlformats.org/officeDocument/2006/relationships/notesSlide" Target="/ppt/notesSlides/notesSlide19.xml" Id="R9ace60ee63f6479f" /></Relationships>
</file>

<file path=ppt/slides/_rels/slide20.xml.rels>&#65279;<?xml version="1.0" encoding="utf-8"?><Relationships xmlns="http://schemas.openxmlformats.org/package/2006/relationships"><Relationship Type="http://schemas.openxmlformats.org/officeDocument/2006/relationships/slideLayout" Target="/ppt/slideLayouts/slideLayout6.xml" Id="R15b2c8db3ee341b0" /><Relationship Type="http://schemas.openxmlformats.org/officeDocument/2006/relationships/notesSlide" Target="/ppt/notesSlides/notesSlide20.xml" Id="R37c2296d11274b7f" /></Relationships>
</file>

<file path=ppt/slides/_rels/slide21.xml.rels>&#65279;<?xml version="1.0" encoding="utf-8"?><Relationships xmlns="http://schemas.openxmlformats.org/package/2006/relationships"><Relationship Type="http://schemas.openxmlformats.org/officeDocument/2006/relationships/slideLayout" Target="/ppt/slideLayouts/slideLayout6.xml" Id="Rd0872e3462e548f6" /><Relationship Type="http://schemas.openxmlformats.org/officeDocument/2006/relationships/notesSlide" Target="/ppt/notesSlides/notesSlide21.xml" Id="Rd010ff492cd64577" /></Relationships>
</file>

<file path=ppt/slides/_rels/slide22.xml.rels>&#65279;<?xml version="1.0" encoding="utf-8"?><Relationships xmlns="http://schemas.openxmlformats.org/package/2006/relationships"><Relationship Type="http://schemas.openxmlformats.org/officeDocument/2006/relationships/slideLayout" Target="/ppt/slideLayouts/slideLayout6.xml" Id="R97588a39e50f4410" /><Relationship Type="http://schemas.openxmlformats.org/officeDocument/2006/relationships/notesSlide" Target="/ppt/notesSlides/notesSlide22.xml" Id="R46b0aec8ecdd466a" /></Relationships>
</file>

<file path=ppt/slides/_rels/slide23.xml.rels>&#65279;<?xml version="1.0" encoding="utf-8"?><Relationships xmlns="http://schemas.openxmlformats.org/package/2006/relationships"><Relationship Type="http://schemas.openxmlformats.org/officeDocument/2006/relationships/slideLayout" Target="/ppt/slideLayouts/slideLayout6.xml" Id="R5debf8e50b044a77" /><Relationship Type="http://schemas.openxmlformats.org/officeDocument/2006/relationships/notesSlide" Target="/ppt/notesSlides/notesSlide23.xml" Id="R5e97b8c1a15849cf" /></Relationships>
</file>

<file path=ppt/slides/_rels/slide24.xml.rels>&#65279;<?xml version="1.0" encoding="utf-8"?><Relationships xmlns="http://schemas.openxmlformats.org/package/2006/relationships"><Relationship Type="http://schemas.openxmlformats.org/officeDocument/2006/relationships/slideLayout" Target="/ppt/slideLayouts/slideLayout6.xml" Id="R30ff0768356046b5" /><Relationship Type="http://schemas.openxmlformats.org/officeDocument/2006/relationships/notesSlide" Target="/ppt/notesSlides/notesSlide24.xml" Id="Ra9ec5e73738b4d9c" /></Relationships>
</file>

<file path=ppt/slides/_rels/slide25.xml.rels>&#65279;<?xml version="1.0" encoding="utf-8"?><Relationships xmlns="http://schemas.openxmlformats.org/package/2006/relationships"><Relationship Type="http://schemas.openxmlformats.org/officeDocument/2006/relationships/slideLayout" Target="/ppt/slideLayouts/slideLayout6.xml" Id="R107e1365455548ff" /><Relationship Type="http://schemas.openxmlformats.org/officeDocument/2006/relationships/notesSlide" Target="/ppt/notesSlides/notesSlide25.xml" Id="R924458281a2c4546" /></Relationships>
</file>

<file path=ppt/slides/_rels/slide26.xml.rels>&#65279;<?xml version="1.0" encoding="utf-8"?><Relationships xmlns="http://schemas.openxmlformats.org/package/2006/relationships"><Relationship Type="http://schemas.openxmlformats.org/officeDocument/2006/relationships/slideLayout" Target="/ppt/slideLayouts/slideLayout6.xml" Id="R0867db6d50374463" /><Relationship Type="http://schemas.openxmlformats.org/officeDocument/2006/relationships/notesSlide" Target="/ppt/notesSlides/notesSlide26.xml" Id="R0fa37665dbc04686" /></Relationships>
</file>

<file path=ppt/slides/_rels/slide27.xml.rels>&#65279;<?xml version="1.0" encoding="utf-8"?><Relationships xmlns="http://schemas.openxmlformats.org/package/2006/relationships"><Relationship Type="http://schemas.openxmlformats.org/officeDocument/2006/relationships/slideLayout" Target="/ppt/slideLayouts/slideLayout6.xml" Id="Re527fbdfcadb43ec" /><Relationship Type="http://schemas.openxmlformats.org/officeDocument/2006/relationships/notesSlide" Target="/ppt/notesSlides/notesSlide27.xml" Id="Re77f63920cc34c58" /></Relationships>
</file>

<file path=ppt/slides/_rels/slide28.xml.rels>&#65279;<?xml version="1.0" encoding="utf-8"?><Relationships xmlns="http://schemas.openxmlformats.org/package/2006/relationships"><Relationship Type="http://schemas.openxmlformats.org/officeDocument/2006/relationships/slideLayout" Target="/ppt/slideLayouts/slideLayout6.xml" Id="R37d76c15bbd44f5d" /><Relationship Type="http://schemas.openxmlformats.org/officeDocument/2006/relationships/notesSlide" Target="/ppt/notesSlides/notesSlide28.xml" Id="R7fb4e2cb8bb24d91" /></Relationships>
</file>

<file path=ppt/slides/_rels/slide29.xml.rels>&#65279;<?xml version="1.0" encoding="utf-8"?><Relationships xmlns="http://schemas.openxmlformats.org/package/2006/relationships"><Relationship Type="http://schemas.openxmlformats.org/officeDocument/2006/relationships/slideLayout" Target="/ppt/slideLayouts/slideLayout6.xml" Id="Rca9ef5d0469a4eb8" /><Relationship Type="http://schemas.openxmlformats.org/officeDocument/2006/relationships/notesSlide" Target="/ppt/notesSlides/notesSlide29.xml" Id="R6fbd4689441040b7" /></Relationships>
</file>

<file path=ppt/slides/_rels/slide30.xml.rels>&#65279;<?xml version="1.0" encoding="utf-8"?><Relationships xmlns="http://schemas.openxmlformats.org/package/2006/relationships"><Relationship Type="http://schemas.openxmlformats.org/officeDocument/2006/relationships/slideLayout" Target="/ppt/slideLayouts/slideLayout6.xml" Id="Rceec9e5cfe124a53" /><Relationship Type="http://schemas.openxmlformats.org/officeDocument/2006/relationships/notesSlide" Target="/ppt/notesSlides/notesSlide30.xml" Id="Rd0832869400d49bb" /></Relationships>
</file>

<file path=ppt/slides/_rels/slide31.xml.rels>&#65279;<?xml version="1.0" encoding="utf-8"?><Relationships xmlns="http://schemas.openxmlformats.org/package/2006/relationships"><Relationship Type="http://schemas.openxmlformats.org/officeDocument/2006/relationships/slideLayout" Target="/ppt/slideLayouts/slideLayout6.xml" Id="R13bd5d046fac4af8" /><Relationship Type="http://schemas.openxmlformats.org/officeDocument/2006/relationships/notesSlide" Target="/ppt/notesSlides/notesSlide31.xml" Id="Rbfc8d0ddb9554f60" /></Relationships>
</file>

<file path=ppt/slides/_rels/slide32.xml.rels>&#65279;<?xml version="1.0" encoding="utf-8"?><Relationships xmlns="http://schemas.openxmlformats.org/package/2006/relationships"><Relationship Type="http://schemas.openxmlformats.org/officeDocument/2006/relationships/slideLayout" Target="/ppt/slideLayouts/slideLayout6.xml" Id="R4e0eec41ca9e434d" /><Relationship Type="http://schemas.openxmlformats.org/officeDocument/2006/relationships/notesSlide" Target="/ppt/notesSlides/notesSlide32.xml" Id="R5708570b5c264c77" /></Relationships>
</file>

<file path=ppt/slides/_rels/slide33.xml.rels>&#65279;<?xml version="1.0" encoding="utf-8"?><Relationships xmlns="http://schemas.openxmlformats.org/package/2006/relationships"><Relationship Type="http://schemas.openxmlformats.org/officeDocument/2006/relationships/slideLayout" Target="/ppt/slideLayouts/slideLayout6.xml" Id="R961b747c9a4a4b66" /><Relationship Type="http://schemas.openxmlformats.org/officeDocument/2006/relationships/notesSlide" Target="/ppt/notesSlides/notesSlide33.xml" Id="R2b97085fbddb47f7" /></Relationships>
</file>

<file path=ppt/slides/_rels/slide34.xml.rels>&#65279;<?xml version="1.0" encoding="utf-8"?><Relationships xmlns="http://schemas.openxmlformats.org/package/2006/relationships"><Relationship Type="http://schemas.openxmlformats.org/officeDocument/2006/relationships/slideLayout" Target="/ppt/slideLayouts/slideLayout6.xml" Id="Rdf78b74826fe4ab8" /><Relationship Type="http://schemas.openxmlformats.org/officeDocument/2006/relationships/notesSlide" Target="/ppt/notesSlides/notesSlide34.xml" Id="Rc6a1eca3a3ef4e8b" /></Relationships>
</file>

<file path=ppt/slides/_rels/slide35.xml.rels>&#65279;<?xml version="1.0" encoding="utf-8"?><Relationships xmlns="http://schemas.openxmlformats.org/package/2006/relationships"><Relationship Type="http://schemas.openxmlformats.org/officeDocument/2006/relationships/slideLayout" Target="/ppt/slideLayouts/slideLayout6.xml" Id="Rf433d4f9f5654b2f" /><Relationship Type="http://schemas.openxmlformats.org/officeDocument/2006/relationships/notesSlide" Target="/ppt/notesSlides/notesSlide35.xml" Id="Rfcd0451e64d54fc9" /></Relationships>
</file>

<file path=ppt/slides/_rels/slide36.xml.rels>&#65279;<?xml version="1.0" encoding="utf-8"?><Relationships xmlns="http://schemas.openxmlformats.org/package/2006/relationships"><Relationship Type="http://schemas.openxmlformats.org/officeDocument/2006/relationships/slideLayout" Target="/ppt/slideLayouts/slideLayout6.xml" Id="R50f74ef335a143ab" /><Relationship Type="http://schemas.openxmlformats.org/officeDocument/2006/relationships/notesSlide" Target="/ppt/notesSlides/notesSlide36.xml" Id="R3e731f59b0904c9c" /></Relationships>
</file>

<file path=ppt/slides/_rels/slide37.xml.rels>&#65279;<?xml version="1.0" encoding="utf-8"?><Relationships xmlns="http://schemas.openxmlformats.org/package/2006/relationships"><Relationship Type="http://schemas.openxmlformats.org/officeDocument/2006/relationships/slideLayout" Target="/ppt/slideLayouts/slideLayout6.xml" Id="Re6f5ea28162b4246" /><Relationship Type="http://schemas.openxmlformats.org/officeDocument/2006/relationships/notesSlide" Target="/ppt/notesSlides/notesSlide37.xml" Id="R61cf761595234287" /></Relationships>
</file>

<file path=ppt/slides/_rels/slide38.xml.rels>&#65279;<?xml version="1.0" encoding="utf-8"?><Relationships xmlns="http://schemas.openxmlformats.org/package/2006/relationships"><Relationship Type="http://schemas.openxmlformats.org/officeDocument/2006/relationships/slideLayout" Target="/ppt/slideLayouts/slideLayout6.xml" Id="Rda0d27ed543e4218" /><Relationship Type="http://schemas.openxmlformats.org/officeDocument/2006/relationships/notesSlide" Target="/ppt/notesSlides/notesSlide38.xml" Id="Rf5e124f4fb414e37" /></Relationships>
</file>

<file path=ppt/slides/_rels/slide39.xml.rels>&#65279;<?xml version="1.0" encoding="utf-8"?><Relationships xmlns="http://schemas.openxmlformats.org/package/2006/relationships"><Relationship Type="http://schemas.openxmlformats.org/officeDocument/2006/relationships/slideLayout" Target="/ppt/slideLayouts/slideLayout6.xml" Id="Rc45e1d37daf54028" /><Relationship Type="http://schemas.openxmlformats.org/officeDocument/2006/relationships/notesSlide" Target="/ppt/notesSlides/notesSlide39.xml" Id="R0e4f47cd8eff4f89" /></Relationships>
</file>

<file path=ppt/slides/_rels/slide40.xml.rels>&#65279;<?xml version="1.0" encoding="utf-8"?><Relationships xmlns="http://schemas.openxmlformats.org/package/2006/relationships"><Relationship Type="http://schemas.openxmlformats.org/officeDocument/2006/relationships/slideLayout" Target="/ppt/slideLayouts/slideLayout6.xml" Id="R31f943a3e6ee4cc5" /><Relationship Type="http://schemas.openxmlformats.org/officeDocument/2006/relationships/notesSlide" Target="/ppt/notesSlides/notesSlide40.xml" Id="R354496d1d21d4943" /></Relationships>
</file>

<file path=ppt/slides/_rels/slide41.xml.rels>&#65279;<?xml version="1.0" encoding="utf-8"?><Relationships xmlns="http://schemas.openxmlformats.org/package/2006/relationships"><Relationship Type="http://schemas.openxmlformats.org/officeDocument/2006/relationships/slideLayout" Target="/ppt/slideLayouts/slideLayout6.xml" Id="R2697e473be724a82" /><Relationship Type="http://schemas.openxmlformats.org/officeDocument/2006/relationships/notesSlide" Target="/ppt/notesSlides/notesSlide41.xml" Id="Rad11ea77651b4d78" /></Relationships>
</file>

<file path=ppt/slides/_rels/slide42.xml.rels>&#65279;<?xml version="1.0" encoding="utf-8"?><Relationships xmlns="http://schemas.openxmlformats.org/package/2006/relationships"><Relationship Type="http://schemas.openxmlformats.org/officeDocument/2006/relationships/slideLayout" Target="/ppt/slideLayouts/slideLayout6.xml" Id="Rf88eab0cd9444acb" /><Relationship Type="http://schemas.openxmlformats.org/officeDocument/2006/relationships/notesSlide" Target="/ppt/notesSlides/notesSlide42.xml" Id="R7faed4992c0d4bd0" /></Relationships>
</file>

<file path=ppt/slides/_rels/slide43.xml.rels>&#65279;<?xml version="1.0" encoding="utf-8"?><Relationships xmlns="http://schemas.openxmlformats.org/package/2006/relationships"><Relationship Type="http://schemas.openxmlformats.org/officeDocument/2006/relationships/slideLayout" Target="/ppt/slideLayouts/slideLayout6.xml" Id="R13e160991b7f4a8d" /><Relationship Type="http://schemas.openxmlformats.org/officeDocument/2006/relationships/notesSlide" Target="/ppt/notesSlides/notesSlide43.xml" Id="R6b5f4231bc7c40fc" /></Relationships>
</file>

<file path=ppt/slides/_rels/slide44.xml.rels>&#65279;<?xml version="1.0" encoding="utf-8"?><Relationships xmlns="http://schemas.openxmlformats.org/package/2006/relationships"><Relationship Type="http://schemas.openxmlformats.org/officeDocument/2006/relationships/slideLayout" Target="/ppt/slideLayouts/slideLayout6.xml" Id="R1549c08420dc4df4" /><Relationship Type="http://schemas.openxmlformats.org/officeDocument/2006/relationships/notesSlide" Target="/ppt/notesSlides/notesSlide44.xml" Id="Rec67e3943f0942f0" /></Relationships>
</file>

<file path=ppt/slides/_rels/slide45.xml.rels>&#65279;<?xml version="1.0" encoding="utf-8"?><Relationships xmlns="http://schemas.openxmlformats.org/package/2006/relationships"><Relationship Type="http://schemas.openxmlformats.org/officeDocument/2006/relationships/slideLayout" Target="/ppt/slideLayouts/slideLayout6.xml" Id="Rf34d4006ce104650" /><Relationship Type="http://schemas.openxmlformats.org/officeDocument/2006/relationships/notesSlide" Target="/ppt/notesSlides/notesSlide45.xml" Id="R93b0446a0d9b48c8" /></Relationships>
</file>

<file path=ppt/slides/_rels/slide46.xml.rels>&#65279;<?xml version="1.0" encoding="utf-8"?><Relationships xmlns="http://schemas.openxmlformats.org/package/2006/relationships"><Relationship Type="http://schemas.openxmlformats.org/officeDocument/2006/relationships/slideLayout" Target="/ppt/slideLayouts/slideLayout6.xml" Id="Red57a7f8b3484919" /><Relationship Type="http://schemas.openxmlformats.org/officeDocument/2006/relationships/notesSlide" Target="/ppt/notesSlides/notesSlide46.xml" Id="Rd92d590fbf334272" /></Relationships>
</file>

<file path=ppt/slides/_rels/slide47.xml.rels>&#65279;<?xml version="1.0" encoding="utf-8"?><Relationships xmlns="http://schemas.openxmlformats.org/package/2006/relationships"><Relationship Type="http://schemas.openxmlformats.org/officeDocument/2006/relationships/slideLayout" Target="/ppt/slideLayouts/slideLayout6.xml" Id="R520eeebaf97b4260" /><Relationship Type="http://schemas.openxmlformats.org/officeDocument/2006/relationships/notesSlide" Target="/ppt/notesSlides/notesSlide47.xml" Id="Redcfe7ea075440f6" /></Relationships>
</file>

<file path=ppt/slides/_rels/slide48.xml.rels>&#65279;<?xml version="1.0" encoding="utf-8"?><Relationships xmlns="http://schemas.openxmlformats.org/package/2006/relationships"><Relationship Type="http://schemas.openxmlformats.org/officeDocument/2006/relationships/slideLayout" Target="/ppt/slideLayouts/slideLayout6.xml" Id="R98197e341c714fdf" /><Relationship Type="http://schemas.openxmlformats.org/officeDocument/2006/relationships/notesSlide" Target="/ppt/notesSlides/notesSlide48.xml" Id="R4a393f02df174d8b" /></Relationships>
</file>

<file path=ppt/slides/_rels/slide49.xml.rels>&#65279;<?xml version="1.0" encoding="utf-8"?><Relationships xmlns="http://schemas.openxmlformats.org/package/2006/relationships"><Relationship Type="http://schemas.openxmlformats.org/officeDocument/2006/relationships/slideLayout" Target="/ppt/slideLayouts/slideLayout6.xml" Id="R2af32451107c47c0" /><Relationship Type="http://schemas.openxmlformats.org/officeDocument/2006/relationships/notesSlide" Target="/ppt/notesSlides/notesSlide49.xml" Id="Rd1601d33fd1b4d79" /></Relationships>
</file>

<file path=ppt/slides/_rels/slide50.xml.rels>&#65279;<?xml version="1.0" encoding="utf-8"?><Relationships xmlns="http://schemas.openxmlformats.org/package/2006/relationships"><Relationship Type="http://schemas.openxmlformats.org/officeDocument/2006/relationships/slideLayout" Target="/ppt/slideLayouts/slideLayout6.xml" Id="R79831a2d152b4c3d" /><Relationship Type="http://schemas.openxmlformats.org/officeDocument/2006/relationships/notesSlide" Target="/ppt/notesSlides/notesSlide50.xml" Id="R2b22e229100647f8" /></Relationships>
</file>

<file path=ppt/slides/_rels/slide51.xml.rels>&#65279;<?xml version="1.0" encoding="utf-8"?><Relationships xmlns="http://schemas.openxmlformats.org/package/2006/relationships"><Relationship Type="http://schemas.openxmlformats.org/officeDocument/2006/relationships/slideLayout" Target="/ppt/slideLayouts/slideLayout6.xml" Id="R02708294a85d4e65" /><Relationship Type="http://schemas.openxmlformats.org/officeDocument/2006/relationships/notesSlide" Target="/ppt/notesSlides/notesSlide51.xml" Id="R723d697145cd425d" /></Relationships>
</file>

<file path=ppt/slides/_rels/slide52.xml.rels>&#65279;<?xml version="1.0" encoding="utf-8"?><Relationships xmlns="http://schemas.openxmlformats.org/package/2006/relationships"><Relationship Type="http://schemas.openxmlformats.org/officeDocument/2006/relationships/slideLayout" Target="/ppt/slideLayouts/slideLayout6.xml" Id="Re2862ab5655d4c16" /><Relationship Type="http://schemas.openxmlformats.org/officeDocument/2006/relationships/notesSlide" Target="/ppt/notesSlides/notesSlide52.xml" Id="Ra77bd5c9a5c54b47" /></Relationships>
</file>

<file path=ppt/slides/_rels/slide53.xml.rels>&#65279;<?xml version="1.0" encoding="utf-8"?><Relationships xmlns="http://schemas.openxmlformats.org/package/2006/relationships"><Relationship Type="http://schemas.openxmlformats.org/officeDocument/2006/relationships/slideLayout" Target="/ppt/slideLayouts/slideLayout6.xml" Id="R8677e4fea5424d33" /><Relationship Type="http://schemas.openxmlformats.org/officeDocument/2006/relationships/notesSlide" Target="/ppt/notesSlides/notesSlide53.xml" Id="Rea35e89181414daf" /></Relationships>
</file>

<file path=ppt/slides/_rels/slide54.xml.rels>&#65279;<?xml version="1.0" encoding="utf-8"?><Relationships xmlns="http://schemas.openxmlformats.org/package/2006/relationships"><Relationship Type="http://schemas.openxmlformats.org/officeDocument/2006/relationships/slideLayout" Target="/ppt/slideLayouts/slideLayout6.xml" Id="R0db92a8a8a3242b0" /><Relationship Type="http://schemas.openxmlformats.org/officeDocument/2006/relationships/notesSlide" Target="/ppt/notesSlides/notesSlide54.xml" Id="R31e0c8730e7b48f7" /></Relationships>
</file>

<file path=ppt/slides/_rels/slide55.xml.rels>&#65279;<?xml version="1.0" encoding="utf-8"?><Relationships xmlns="http://schemas.openxmlformats.org/package/2006/relationships"><Relationship Type="http://schemas.openxmlformats.org/officeDocument/2006/relationships/slideLayout" Target="/ppt/slideLayouts/slideLayout6.xml" Id="R5b2bb37d8b2b48f0" /><Relationship Type="http://schemas.openxmlformats.org/officeDocument/2006/relationships/notesSlide" Target="/ppt/notesSlides/notesSlide55.xml" Id="Rbd7778061ca14fee" /></Relationships>
</file>

<file path=ppt/slides/_rels/slide56.xml.rels>&#65279;<?xml version="1.0" encoding="utf-8"?><Relationships xmlns="http://schemas.openxmlformats.org/package/2006/relationships"><Relationship Type="http://schemas.openxmlformats.org/officeDocument/2006/relationships/slideLayout" Target="/ppt/slideLayouts/slideLayout6.xml" Id="R9b7190adfd204888" /><Relationship Type="http://schemas.openxmlformats.org/officeDocument/2006/relationships/notesSlide" Target="/ppt/notesSlides/notesSlide56.xml" Id="R39c6e34d49c34221" /></Relationships>
</file>

<file path=ppt/slides/_rels/slide57.xml.rels>&#65279;<?xml version="1.0" encoding="utf-8"?><Relationships xmlns="http://schemas.openxmlformats.org/package/2006/relationships"><Relationship Type="http://schemas.openxmlformats.org/officeDocument/2006/relationships/slideLayout" Target="/ppt/slideLayouts/slideLayout6.xml" Id="Rdbe8843b1c9e46b5" /><Relationship Type="http://schemas.openxmlformats.org/officeDocument/2006/relationships/notesSlide" Target="/ppt/notesSlides/notesSlide57.xml" Id="R8d78d1fa1e0d4960" /></Relationships>
</file>

<file path=ppt/slides/_rels/slide58.xml.rels>&#65279;<?xml version="1.0" encoding="utf-8"?><Relationships xmlns="http://schemas.openxmlformats.org/package/2006/relationships"><Relationship Type="http://schemas.openxmlformats.org/officeDocument/2006/relationships/slideLayout" Target="/ppt/slideLayouts/slideLayout6.xml" Id="Rb6b1aefbe5c34f66" /><Relationship Type="http://schemas.openxmlformats.org/officeDocument/2006/relationships/notesSlide" Target="/ppt/notesSlides/notesSlide58.xml" Id="R894ec974f5964cf7" /></Relationships>
</file>

<file path=ppt/slides/_rels/slide59.xml.rels>&#65279;<?xml version="1.0" encoding="utf-8"?><Relationships xmlns="http://schemas.openxmlformats.org/package/2006/relationships"><Relationship Type="http://schemas.openxmlformats.org/officeDocument/2006/relationships/slideLayout" Target="/ppt/slideLayouts/slideLayout6.xml" Id="R966107979523451b" /><Relationship Type="http://schemas.openxmlformats.org/officeDocument/2006/relationships/notesSlide" Target="/ppt/notesSlides/notesSlide59.xml" Id="R79272e40e9594aec" /></Relationships>
</file>

<file path=ppt/slides/_rels/slide60.xml.rels>&#65279;<?xml version="1.0" encoding="utf-8"?><Relationships xmlns="http://schemas.openxmlformats.org/package/2006/relationships"><Relationship Type="http://schemas.openxmlformats.org/officeDocument/2006/relationships/slideLayout" Target="/ppt/slideLayouts/slideLayout6.xml" Id="R70e9622bf48046d2" /><Relationship Type="http://schemas.openxmlformats.org/officeDocument/2006/relationships/notesSlide" Target="/ppt/notesSlides/notesSlide60.xml" Id="R3614a09d4ad34c19" /></Relationships>
</file>

<file path=ppt/slides/_rels/slide61.xml.rels>&#65279;<?xml version="1.0" encoding="utf-8"?><Relationships xmlns="http://schemas.openxmlformats.org/package/2006/relationships"><Relationship Type="http://schemas.openxmlformats.org/officeDocument/2006/relationships/slideLayout" Target="/ppt/slideLayouts/slideLayout6.xml" Id="Rd811dfb80d5e4f33" /><Relationship Type="http://schemas.openxmlformats.org/officeDocument/2006/relationships/notesSlide" Target="/ppt/notesSlides/notesSlide61.xml" Id="R41c4c22ae258404f" /></Relationships>
</file>

<file path=ppt/slides/_rels/slide62.xml.rels>&#65279;<?xml version="1.0" encoding="utf-8"?><Relationships xmlns="http://schemas.openxmlformats.org/package/2006/relationships"><Relationship Type="http://schemas.openxmlformats.org/officeDocument/2006/relationships/slideLayout" Target="/ppt/slideLayouts/slideLayout6.xml" Id="R31158c6abd0641a5" /><Relationship Type="http://schemas.openxmlformats.org/officeDocument/2006/relationships/notesSlide" Target="/ppt/notesSlides/notesSlide62.xml" Id="R9d72bbb5488b478f" /></Relationships>
</file>

<file path=ppt/slides/_rels/slide63.xml.rels>&#65279;<?xml version="1.0" encoding="utf-8"?><Relationships xmlns="http://schemas.openxmlformats.org/package/2006/relationships"><Relationship Type="http://schemas.openxmlformats.org/officeDocument/2006/relationships/slideLayout" Target="/ppt/slideLayouts/slideLayout6.xml" Id="Ra64b08f6e3674361" /><Relationship Type="http://schemas.openxmlformats.org/officeDocument/2006/relationships/notesSlide" Target="/ppt/notesSlides/notesSlide63.xml" Id="R13f5a31eda7c4af1" /></Relationships>
</file>

<file path=ppt/slides/_rels/slide64.xml.rels>&#65279;<?xml version="1.0" encoding="utf-8"?><Relationships xmlns="http://schemas.openxmlformats.org/package/2006/relationships"><Relationship Type="http://schemas.openxmlformats.org/officeDocument/2006/relationships/slideLayout" Target="/ppt/slideLayouts/slideLayout6.xml" Id="R57ba86c63d504fff" /><Relationship Type="http://schemas.openxmlformats.org/officeDocument/2006/relationships/notesSlide" Target="/ppt/notesSlides/notesSlide64.xml" Id="R5335bad1f3684efa" /></Relationships>
</file>

<file path=ppt/slides/_rels/slide65.xml.rels>&#65279;<?xml version="1.0" encoding="utf-8"?><Relationships xmlns="http://schemas.openxmlformats.org/package/2006/relationships"><Relationship Type="http://schemas.openxmlformats.org/officeDocument/2006/relationships/slideLayout" Target="/ppt/slideLayouts/slideLayout6.xml" Id="R6583d1ac67f84f3c" /><Relationship Type="http://schemas.openxmlformats.org/officeDocument/2006/relationships/notesSlide" Target="/ppt/notesSlides/notesSlide65.xml" Id="R886fcc6b6dd947ff" /></Relationships>
</file>

<file path=ppt/slides/_rels/slide66.xml.rels>&#65279;<?xml version="1.0" encoding="utf-8"?><Relationships xmlns="http://schemas.openxmlformats.org/package/2006/relationships"><Relationship Type="http://schemas.openxmlformats.org/officeDocument/2006/relationships/slideLayout" Target="/ppt/slideLayouts/slideLayout6.xml" Id="Rcafe8f9aff214e71" /><Relationship Type="http://schemas.openxmlformats.org/officeDocument/2006/relationships/notesSlide" Target="/ppt/notesSlides/notesSlide66.xml" Id="R3fd97cede2874831" /></Relationships>
</file>

<file path=ppt/slides/slide1.xml><?xml version="1.0" encoding="utf-8"?>
<p:sld xmlns:p="http://schemas.openxmlformats.org/presentationml/2006/main">
  <p:cSld>
    <p:bg>
      <p:bgPr>
        <a:solidFill xmlns:a="http://schemas.openxmlformats.org/drawingml/2006/main">
          <a:srgbClr val="15324A"/>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88AD19DE-E36A-4485-AD8F-28BD385CF5B2}"/>
              </a:ext>
            </a:extLst>
          </p:cNvPr>
          <p:cNvSpPr>
            <a:spLocks xmlns:a="http://schemas.openxmlformats.org/drawingml/2006/main" noGrp="1"/>
          </p:cNvSpPr>
          <p:nvPr/>
        </p:nvSpPr>
        <p:spPr>
          <a:xfrm xmlns:a="http://schemas.openxmlformats.org/drawingml/2006/main">
            <a:off x="0" y="0"/>
            <a:ext cx="26670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50EBDD21-F1F4-4D71-B103-4913F1452617}"/>
              </a:ext>
            </a:extLst>
          </p:cNvPr>
          <p:cNvSpPr>
            <a:spLocks xmlns:a="http://schemas.openxmlformats.org/drawingml/2006/main" noGrp="1"/>
          </p:cNvSpPr>
          <p:nvPr/>
        </p:nvSpPr>
        <p:spPr>
          <a:xfrm xmlns:a="http://schemas.openxmlformats.org/drawingml/2006/main">
            <a:off x="723900" y="628650"/>
            <a:ext cx="7620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75" b="1">
                <a:solidFill>
                  <a:srgbClr val="CFEDEF"/>
                </a:solidFill>
                <a:latin typeface="Helvetica Neue"/>
                <a:ea typeface="Helvetica Neue"/>
                <a:cs typeface="Helvetica Neue"/>
              </a:defRPr>
            </a:defPPr>
            <a:lvl1pPr>
              <a:defRPr sz="1275" b="1">
                <a:solidFill>
                  <a:srgbClr val="CFEDEF"/>
                </a:solidFill>
                <a:latin typeface="Helvetica Neue"/>
                <a:ea typeface="Helvetica Neue"/>
                <a:cs typeface="Helvetica Neue"/>
              </a:defRPr>
            </a:lvl1pPr>
            <a:lvl2pPr>
              <a:defRPr sz="1275" b="1">
                <a:solidFill>
                  <a:srgbClr val="CFEDEF"/>
                </a:solidFill>
                <a:latin typeface="Helvetica Neue"/>
                <a:ea typeface="Helvetica Neue"/>
                <a:cs typeface="Helvetica Neue"/>
              </a:defRPr>
            </a:lvl2pPr>
            <a:lvl3pPr>
              <a:defRPr sz="1275" b="1">
                <a:solidFill>
                  <a:srgbClr val="CFEDEF"/>
                </a:solidFill>
                <a:latin typeface="Helvetica Neue"/>
                <a:ea typeface="Helvetica Neue"/>
                <a:cs typeface="Helvetica Neue"/>
              </a:defRPr>
            </a:lvl3pPr>
            <a:lvl4pPr>
              <a:defRPr sz="1275" b="1">
                <a:solidFill>
                  <a:srgbClr val="CFEDEF"/>
                </a:solidFill>
                <a:latin typeface="Helvetica Neue"/>
                <a:ea typeface="Helvetica Neue"/>
                <a:cs typeface="Helvetica Neue"/>
              </a:defRPr>
            </a:lvl4pPr>
            <a:lvl5pPr>
              <a:defRPr sz="1275" b="1">
                <a:solidFill>
                  <a:srgbClr val="CFEDEF"/>
                </a:solidFill>
                <a:latin typeface="Helvetica Neue"/>
                <a:ea typeface="Helvetica Neue"/>
                <a:cs typeface="Helvetica Neue"/>
              </a:defRPr>
            </a:lvl5pPr>
            <a:lvl6pPr>
              <a:defRPr sz="1275" b="1">
                <a:solidFill>
                  <a:srgbClr val="CFEDEF"/>
                </a:solidFill>
                <a:latin typeface="Helvetica Neue"/>
                <a:ea typeface="Helvetica Neue"/>
                <a:cs typeface="Helvetica Neue"/>
              </a:defRPr>
            </a:lvl6pPr>
            <a:lvl7pPr>
              <a:defRPr sz="1275" b="1">
                <a:solidFill>
                  <a:srgbClr val="CFEDEF"/>
                </a:solidFill>
                <a:latin typeface="Helvetica Neue"/>
                <a:ea typeface="Helvetica Neue"/>
                <a:cs typeface="Helvetica Neue"/>
              </a:defRPr>
            </a:lvl7pPr>
            <a:lvl8pPr>
              <a:defRPr sz="1275" b="1">
                <a:solidFill>
                  <a:srgbClr val="CFEDEF"/>
                </a:solidFill>
                <a:latin typeface="Helvetica Neue"/>
                <a:ea typeface="Helvetica Neue"/>
                <a:cs typeface="Helvetica Neue"/>
              </a:defRPr>
            </a:lvl8pPr>
            <a:lvl9pPr>
              <a:defRPr sz="1275" b="1">
                <a:solidFill>
                  <a:srgbClr val="CFEDEF"/>
                </a:solidFill>
                <a:latin typeface="Helvetica Neue"/>
                <a:ea typeface="Helvetica Neue"/>
                <a:cs typeface="Helvetica Neue"/>
              </a:defRPr>
            </a:lvl9pPr>
          </a:lstStyle>
          <a:p xmlns:a="http://schemas.openxmlformats.org/drawingml/2006/main">
            <a:pPr>
              <a:defRPr sz="1275" b="1">
                <a:solidFill>
                  <a:srgbClr val="CFEDEF"/>
                </a:solidFill>
                <a:latin typeface="Helvetica Neue"/>
                <a:ea typeface="Helvetica Neue"/>
                <a:cs typeface="Helvetica Neue"/>
              </a:defRPr>
            </a:pPr>
            <a:r>
              <a:rPr sz="1275" b="1">
                <a:solidFill>
                  <a:srgbClr val="CFEDEF"/>
                </a:solidFill>
                <a:latin typeface="Helvetica Neue"/>
                <a:ea typeface="Helvetica Neue"/>
                <a:cs typeface="Helvetica Neue"/>
              </a:rPr>
              <a:t>BROWARD-MIAMI HEALTH INSTITUTE</a:t>
            </a:r>
          </a:p>
        </p:txBody>
      </p:sp>
      <p:sp>
        <p:nvSpPr>
          <p:cNvPr id="3" name="">
            <a:extLst xmlns:a="http://schemas.openxmlformats.org/drawingml/2006/main">
              <a:ext uri="{FF2B5EF4-FFF2-40B4-BE49-F238E27FC236}">
                <a16:creationId xmlns:a16="http://schemas.microsoft.com/office/drawing/2014/main" id="{343BE6B7-70D4-4275-BC9C-9C556FA37A42}"/>
              </a:ext>
            </a:extLst>
          </p:cNvPr>
          <p:cNvSpPr>
            <a:spLocks xmlns:a="http://schemas.openxmlformats.org/drawingml/2006/main" noGrp="1"/>
          </p:cNvSpPr>
          <p:nvPr/>
        </p:nvSpPr>
        <p:spPr>
          <a:xfrm xmlns:a="http://schemas.openxmlformats.org/drawingml/2006/main">
            <a:off x="723900" y="1809750"/>
            <a:ext cx="9906000" cy="1619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3900" b="1">
                <a:solidFill>
                  <a:srgbClr val="FFFFFF"/>
                </a:solidFill>
                <a:latin typeface="Helvetica Neue"/>
                <a:ea typeface="Helvetica Neue"/>
                <a:cs typeface="Helvetica Neue"/>
              </a:defRPr>
            </a:defPPr>
            <a:lvl1pPr>
              <a:defRPr sz="3900" b="1">
                <a:solidFill>
                  <a:srgbClr val="FFFFFF"/>
                </a:solidFill>
                <a:latin typeface="Helvetica Neue"/>
                <a:ea typeface="Helvetica Neue"/>
                <a:cs typeface="Helvetica Neue"/>
              </a:defRPr>
            </a:lvl1pPr>
            <a:lvl2pPr>
              <a:defRPr sz="3900" b="1">
                <a:solidFill>
                  <a:srgbClr val="FFFFFF"/>
                </a:solidFill>
                <a:latin typeface="Helvetica Neue"/>
                <a:ea typeface="Helvetica Neue"/>
                <a:cs typeface="Helvetica Neue"/>
              </a:defRPr>
            </a:lvl2pPr>
            <a:lvl3pPr>
              <a:defRPr sz="3900" b="1">
                <a:solidFill>
                  <a:srgbClr val="FFFFFF"/>
                </a:solidFill>
                <a:latin typeface="Helvetica Neue"/>
                <a:ea typeface="Helvetica Neue"/>
                <a:cs typeface="Helvetica Neue"/>
              </a:defRPr>
            </a:lvl3pPr>
            <a:lvl4pPr>
              <a:defRPr sz="3900" b="1">
                <a:solidFill>
                  <a:srgbClr val="FFFFFF"/>
                </a:solidFill>
                <a:latin typeface="Helvetica Neue"/>
                <a:ea typeface="Helvetica Neue"/>
                <a:cs typeface="Helvetica Neue"/>
              </a:defRPr>
            </a:lvl4pPr>
            <a:lvl5pPr>
              <a:defRPr sz="3900" b="1">
                <a:solidFill>
                  <a:srgbClr val="FFFFFF"/>
                </a:solidFill>
                <a:latin typeface="Helvetica Neue"/>
                <a:ea typeface="Helvetica Neue"/>
                <a:cs typeface="Helvetica Neue"/>
              </a:defRPr>
            </a:lvl5pPr>
            <a:lvl6pPr>
              <a:defRPr sz="3900" b="1">
                <a:solidFill>
                  <a:srgbClr val="FFFFFF"/>
                </a:solidFill>
                <a:latin typeface="Helvetica Neue"/>
                <a:ea typeface="Helvetica Neue"/>
                <a:cs typeface="Helvetica Neue"/>
              </a:defRPr>
            </a:lvl6pPr>
            <a:lvl7pPr>
              <a:defRPr sz="3900" b="1">
                <a:solidFill>
                  <a:srgbClr val="FFFFFF"/>
                </a:solidFill>
                <a:latin typeface="Helvetica Neue"/>
                <a:ea typeface="Helvetica Neue"/>
                <a:cs typeface="Helvetica Neue"/>
              </a:defRPr>
            </a:lvl7pPr>
            <a:lvl8pPr>
              <a:defRPr sz="3900" b="1">
                <a:solidFill>
                  <a:srgbClr val="FFFFFF"/>
                </a:solidFill>
                <a:latin typeface="Helvetica Neue"/>
                <a:ea typeface="Helvetica Neue"/>
                <a:cs typeface="Helvetica Neue"/>
              </a:defRPr>
            </a:lvl8pPr>
            <a:lvl9pPr>
              <a:defRPr sz="3900" b="1">
                <a:solidFill>
                  <a:srgbClr val="FFFFFF"/>
                </a:solidFill>
                <a:latin typeface="Helvetica Neue"/>
                <a:ea typeface="Helvetica Neue"/>
                <a:cs typeface="Helvetica Neue"/>
              </a:defRPr>
            </a:lvl9pPr>
          </a:lstStyle>
          <a:p xmlns:a="http://schemas.openxmlformats.org/drawingml/2006/main">
            <a:pPr>
              <a:defRPr sz="3900" b="1">
                <a:solidFill>
                  <a:srgbClr val="FFFFFF"/>
                </a:solidFill>
                <a:latin typeface="Helvetica Neue"/>
                <a:ea typeface="Helvetica Neue"/>
                <a:cs typeface="Helvetica Neue"/>
              </a:defRPr>
            </a:pPr>
            <a:r>
              <a:rPr sz="3900" b="1">
                <a:solidFill>
                  <a:srgbClr val="FFFFFF"/>
                </a:solidFill>
                <a:latin typeface="Helvetica Neue"/>
                <a:ea typeface="Helvetica Neue"/>
                <a:cs typeface="Helvetica Neue"/>
              </a:rPr>
              <a:t>Florida Scope and Safe IV Practice</a:t>
            </a:r>
          </a:p>
        </p:txBody>
      </p:sp>
      <p:sp>
        <p:nvSpPr>
          <p:cNvPr id="4" name="">
            <a:extLst xmlns:a="http://schemas.openxmlformats.org/drawingml/2006/main">
              <a:ext uri="{FF2B5EF4-FFF2-40B4-BE49-F238E27FC236}">
                <a16:creationId xmlns:a16="http://schemas.microsoft.com/office/drawing/2014/main" id="{A4AAE13A-11BC-4A8F-920C-BB3397CA53C7}"/>
              </a:ext>
            </a:extLst>
          </p:cNvPr>
          <p:cNvSpPr>
            <a:spLocks xmlns:a="http://schemas.openxmlformats.org/drawingml/2006/main" noGrp="1"/>
          </p:cNvSpPr>
          <p:nvPr/>
        </p:nvSpPr>
        <p:spPr>
          <a:xfrm xmlns:a="http://schemas.openxmlformats.org/drawingml/2006/main">
            <a:off x="762000" y="3943350"/>
            <a:ext cx="8763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875">
                <a:solidFill>
                  <a:srgbClr val="FFFFFF"/>
                </a:solidFill>
                <a:latin typeface="Helvetica Neue"/>
                <a:ea typeface="Helvetica Neue"/>
                <a:cs typeface="Helvetica Neue"/>
              </a:defRPr>
            </a:defPPr>
            <a:lvl1pPr>
              <a:defRPr sz="1875">
                <a:solidFill>
                  <a:srgbClr val="FFFFFF"/>
                </a:solidFill>
                <a:latin typeface="Helvetica Neue"/>
                <a:ea typeface="Helvetica Neue"/>
                <a:cs typeface="Helvetica Neue"/>
              </a:defRPr>
            </a:lvl1pPr>
            <a:lvl2pPr>
              <a:defRPr sz="1875">
                <a:solidFill>
                  <a:srgbClr val="FFFFFF"/>
                </a:solidFill>
                <a:latin typeface="Helvetica Neue"/>
                <a:ea typeface="Helvetica Neue"/>
                <a:cs typeface="Helvetica Neue"/>
              </a:defRPr>
            </a:lvl2pPr>
            <a:lvl3pPr>
              <a:defRPr sz="1875">
                <a:solidFill>
                  <a:srgbClr val="FFFFFF"/>
                </a:solidFill>
                <a:latin typeface="Helvetica Neue"/>
                <a:ea typeface="Helvetica Neue"/>
                <a:cs typeface="Helvetica Neue"/>
              </a:defRPr>
            </a:lvl3pPr>
            <a:lvl4pPr>
              <a:defRPr sz="1875">
                <a:solidFill>
                  <a:srgbClr val="FFFFFF"/>
                </a:solidFill>
                <a:latin typeface="Helvetica Neue"/>
                <a:ea typeface="Helvetica Neue"/>
                <a:cs typeface="Helvetica Neue"/>
              </a:defRPr>
            </a:lvl4pPr>
            <a:lvl5pPr>
              <a:defRPr sz="1875">
                <a:solidFill>
                  <a:srgbClr val="FFFFFF"/>
                </a:solidFill>
                <a:latin typeface="Helvetica Neue"/>
                <a:ea typeface="Helvetica Neue"/>
                <a:cs typeface="Helvetica Neue"/>
              </a:defRPr>
            </a:lvl5pPr>
            <a:lvl6pPr>
              <a:defRPr sz="1875">
                <a:solidFill>
                  <a:srgbClr val="FFFFFF"/>
                </a:solidFill>
                <a:latin typeface="Helvetica Neue"/>
                <a:ea typeface="Helvetica Neue"/>
                <a:cs typeface="Helvetica Neue"/>
              </a:defRPr>
            </a:lvl6pPr>
            <a:lvl7pPr>
              <a:defRPr sz="1875">
                <a:solidFill>
                  <a:srgbClr val="FFFFFF"/>
                </a:solidFill>
                <a:latin typeface="Helvetica Neue"/>
                <a:ea typeface="Helvetica Neue"/>
                <a:cs typeface="Helvetica Neue"/>
              </a:defRPr>
            </a:lvl7pPr>
            <a:lvl8pPr>
              <a:defRPr sz="1875">
                <a:solidFill>
                  <a:srgbClr val="FFFFFF"/>
                </a:solidFill>
                <a:latin typeface="Helvetica Neue"/>
                <a:ea typeface="Helvetica Neue"/>
                <a:cs typeface="Helvetica Neue"/>
              </a:defRPr>
            </a:lvl8pPr>
            <a:lvl9pPr>
              <a:defRPr sz="1875">
                <a:solidFill>
                  <a:srgbClr val="FFFFFF"/>
                </a:solidFill>
                <a:latin typeface="Helvetica Neue"/>
                <a:ea typeface="Helvetica Neue"/>
                <a:cs typeface="Helvetica Neue"/>
              </a:defRPr>
            </a:lvl9pPr>
          </a:lstStyle>
          <a:p xmlns:a="http://schemas.openxmlformats.org/drawingml/2006/main">
            <a:pPr>
              <a:defRPr sz="1875">
                <a:solidFill>
                  <a:srgbClr val="FFFFFF"/>
                </a:solidFill>
                <a:latin typeface="Helvetica Neue"/>
                <a:ea typeface="Helvetica Neue"/>
                <a:cs typeface="Helvetica Neue"/>
              </a:defRPr>
            </a:pPr>
            <a:r>
              <a:rPr sz="1875">
                <a:solidFill>
                  <a:srgbClr val="FFFFFF"/>
                </a:solidFill>
                <a:latin typeface="Helvetica Neue"/>
                <a:ea typeface="Helvetica Neue"/>
                <a:cs typeface="Helvetica Neue"/>
              </a:rPr>
              <a:t>Module 1  |  30-Hour Basic Intravenous Therapy</a:t>
            </a:r>
          </a:p>
        </p:txBody>
      </p:sp>
      <p:sp>
        <p:nvSpPr>
          <p:cNvPr id="5" name="">
            <a:extLst xmlns:a="http://schemas.openxmlformats.org/drawingml/2006/main">
              <a:ext uri="{FF2B5EF4-FFF2-40B4-BE49-F238E27FC236}">
                <a16:creationId xmlns:a16="http://schemas.microsoft.com/office/drawing/2014/main" id="{70356505-3C07-4DF8-9256-5FF77A0DF2CC}"/>
              </a:ext>
            </a:extLst>
          </p:cNvPr>
          <p:cNvSpPr>
            <a:spLocks xmlns:a="http://schemas.openxmlformats.org/drawingml/2006/main" noGrp="1"/>
          </p:cNvSpPr>
          <p:nvPr/>
        </p:nvSpPr>
        <p:spPr>
          <a:xfrm xmlns:a="http://schemas.openxmlformats.org/drawingml/2006/main">
            <a:off x="762000" y="4762500"/>
            <a:ext cx="8953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500" b="1">
                <a:solidFill>
                  <a:srgbClr val="CFEDEF"/>
                </a:solidFill>
                <a:latin typeface="Helvetica Neue"/>
                <a:ea typeface="Helvetica Neue"/>
                <a:cs typeface="Helvetica Neue"/>
              </a:defRPr>
            </a:defPPr>
            <a:lvl1pPr>
              <a:defRPr sz="1500" b="1">
                <a:solidFill>
                  <a:srgbClr val="CFEDEF"/>
                </a:solidFill>
                <a:latin typeface="Helvetica Neue"/>
                <a:ea typeface="Helvetica Neue"/>
                <a:cs typeface="Helvetica Neue"/>
              </a:defRPr>
            </a:lvl1pPr>
            <a:lvl2pPr>
              <a:defRPr sz="1500" b="1">
                <a:solidFill>
                  <a:srgbClr val="CFEDEF"/>
                </a:solidFill>
                <a:latin typeface="Helvetica Neue"/>
                <a:ea typeface="Helvetica Neue"/>
                <a:cs typeface="Helvetica Neue"/>
              </a:defRPr>
            </a:lvl2pPr>
            <a:lvl3pPr>
              <a:defRPr sz="1500" b="1">
                <a:solidFill>
                  <a:srgbClr val="CFEDEF"/>
                </a:solidFill>
                <a:latin typeface="Helvetica Neue"/>
                <a:ea typeface="Helvetica Neue"/>
                <a:cs typeface="Helvetica Neue"/>
              </a:defRPr>
            </a:lvl3pPr>
            <a:lvl4pPr>
              <a:defRPr sz="1500" b="1">
                <a:solidFill>
                  <a:srgbClr val="CFEDEF"/>
                </a:solidFill>
                <a:latin typeface="Helvetica Neue"/>
                <a:ea typeface="Helvetica Neue"/>
                <a:cs typeface="Helvetica Neue"/>
              </a:defRPr>
            </a:lvl4pPr>
            <a:lvl5pPr>
              <a:defRPr sz="1500" b="1">
                <a:solidFill>
                  <a:srgbClr val="CFEDEF"/>
                </a:solidFill>
                <a:latin typeface="Helvetica Neue"/>
                <a:ea typeface="Helvetica Neue"/>
                <a:cs typeface="Helvetica Neue"/>
              </a:defRPr>
            </a:lvl5pPr>
            <a:lvl6pPr>
              <a:defRPr sz="1500" b="1">
                <a:solidFill>
                  <a:srgbClr val="CFEDEF"/>
                </a:solidFill>
                <a:latin typeface="Helvetica Neue"/>
                <a:ea typeface="Helvetica Neue"/>
                <a:cs typeface="Helvetica Neue"/>
              </a:defRPr>
            </a:lvl6pPr>
            <a:lvl7pPr>
              <a:defRPr sz="1500" b="1">
                <a:solidFill>
                  <a:srgbClr val="CFEDEF"/>
                </a:solidFill>
                <a:latin typeface="Helvetica Neue"/>
                <a:ea typeface="Helvetica Neue"/>
                <a:cs typeface="Helvetica Neue"/>
              </a:defRPr>
            </a:lvl7pPr>
            <a:lvl8pPr>
              <a:defRPr sz="1500" b="1">
                <a:solidFill>
                  <a:srgbClr val="CFEDEF"/>
                </a:solidFill>
                <a:latin typeface="Helvetica Neue"/>
                <a:ea typeface="Helvetica Neue"/>
                <a:cs typeface="Helvetica Neue"/>
              </a:defRPr>
            </a:lvl8pPr>
            <a:lvl9pPr>
              <a:defRPr sz="1500" b="1">
                <a:solidFill>
                  <a:srgbClr val="CFEDEF"/>
                </a:solidFill>
                <a:latin typeface="Helvetica Neue"/>
                <a:ea typeface="Helvetica Neue"/>
                <a:cs typeface="Helvetica Neue"/>
              </a:defRPr>
            </a:lvl9pPr>
          </a:lstStyle>
          <a:p xmlns:a="http://schemas.openxmlformats.org/drawingml/2006/main">
            <a:pPr>
              <a:defRPr sz="1500" b="1">
                <a:solidFill>
                  <a:srgbClr val="CFEDEF"/>
                </a:solidFill>
                <a:latin typeface="Helvetica Neue"/>
                <a:ea typeface="Helvetica Neue"/>
                <a:cs typeface="Helvetica Neue"/>
              </a:defRPr>
            </a:pPr>
            <a:r>
              <a:rPr sz="1500" b="1">
                <a:solidFill>
                  <a:srgbClr val="CFEDEF"/>
                </a:solidFill>
                <a:latin typeface="Helvetica Neue"/>
                <a:ea typeface="Helvetica Neue"/>
                <a:cs typeface="Helvetica Neue"/>
              </a:rPr>
              <a:t>Comprehensive instructor presentation • full manual coverage</a:t>
            </a:r>
          </a:p>
        </p:txBody>
      </p:sp>
    </p:spTree>
    <p:extLst>
      <p:ext uri="{BB962C8B-B14F-4D97-AF65-F5344CB8AC3E}">
        <p14:creationId xmlns:p14="http://schemas.microsoft.com/office/powerpoint/2010/main" val="899796516"/>
      </p:ext>
    </p:extLst>
  </p:cSld>
</p:sld>
</file>

<file path=ppt/slides/slide2.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F7E2DBAF-9749-4F27-BBCD-5C8D6B284324}"/>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F25F2F46-75F0-48AB-A411-DD7ECF42A83D}"/>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Learning objectives</a:t>
            </a:r>
          </a:p>
        </p:txBody>
      </p:sp>
      <p:sp>
        <p:nvSpPr>
          <p:cNvPr id="3" name="">
            <a:extLst xmlns:a="http://schemas.openxmlformats.org/drawingml/2006/main">
              <a:ext uri="{FF2B5EF4-FFF2-40B4-BE49-F238E27FC236}">
                <a16:creationId xmlns:a16="http://schemas.microsoft.com/office/drawing/2014/main" id="{895EDB57-925D-4924-8757-F53FAEF53A7A}"/>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1</a:t>
            </a:r>
          </a:p>
        </p:txBody>
      </p:sp>
      <p:sp>
        <p:nvSpPr>
          <p:cNvPr id="4" name="">
            <a:extLst xmlns:a="http://schemas.openxmlformats.org/drawingml/2006/main">
              <a:ext uri="{FF2B5EF4-FFF2-40B4-BE49-F238E27FC236}">
                <a16:creationId xmlns:a16="http://schemas.microsoft.com/office/drawing/2014/main" id="{C4347E8E-B94B-429F-8337-F596763208BF}"/>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02</a:t>
            </a:r>
          </a:p>
        </p:txBody>
      </p:sp>
      <p:sp>
        <p:nvSpPr>
          <p:cNvPr id="5" name="">
            <a:extLst xmlns:a="http://schemas.openxmlformats.org/drawingml/2006/main">
              <a:ext uri="{FF2B5EF4-FFF2-40B4-BE49-F238E27FC236}">
                <a16:creationId xmlns:a16="http://schemas.microsoft.com/office/drawing/2014/main" id="{18249484-9CC5-4D14-9BAE-B579C9E0C62A}"/>
              </a:ext>
            </a:extLst>
          </p:cNvPr>
          <p:cNvSpPr>
            <a:spLocks xmlns:a="http://schemas.openxmlformats.org/drawingml/2006/main" noGrp="1"/>
          </p:cNvSpPr>
          <p:nvPr/>
        </p:nvSpPr>
        <p:spPr>
          <a:xfrm xmlns:a="http://schemas.openxmlformats.org/drawingml/2006/main">
            <a:off x="895350" y="1809750"/>
            <a:ext cx="10191750" cy="3714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175">
                <a:solidFill>
                  <a:srgbClr val="13212D"/>
                </a:solidFill>
                <a:latin typeface="Helvetica Neue"/>
                <a:ea typeface="Helvetica Neue"/>
                <a:cs typeface="Helvetica Neue"/>
              </a:defRPr>
            </a:defPPr>
            <a:lvl1pPr>
              <a:defRPr sz="2175">
                <a:solidFill>
                  <a:srgbClr val="13212D"/>
                </a:solidFill>
                <a:latin typeface="Helvetica Neue"/>
                <a:ea typeface="Helvetica Neue"/>
                <a:cs typeface="Helvetica Neue"/>
              </a:defRPr>
            </a:lvl1pPr>
            <a:lvl2pPr>
              <a:defRPr sz="2175">
                <a:solidFill>
                  <a:srgbClr val="13212D"/>
                </a:solidFill>
                <a:latin typeface="Helvetica Neue"/>
                <a:ea typeface="Helvetica Neue"/>
                <a:cs typeface="Helvetica Neue"/>
              </a:defRPr>
            </a:lvl2pPr>
            <a:lvl3pPr>
              <a:defRPr sz="2175">
                <a:solidFill>
                  <a:srgbClr val="13212D"/>
                </a:solidFill>
                <a:latin typeface="Helvetica Neue"/>
                <a:ea typeface="Helvetica Neue"/>
                <a:cs typeface="Helvetica Neue"/>
              </a:defRPr>
            </a:lvl3pPr>
            <a:lvl4pPr>
              <a:defRPr sz="2175">
                <a:solidFill>
                  <a:srgbClr val="13212D"/>
                </a:solidFill>
                <a:latin typeface="Helvetica Neue"/>
                <a:ea typeface="Helvetica Neue"/>
                <a:cs typeface="Helvetica Neue"/>
              </a:defRPr>
            </a:lvl4pPr>
            <a:lvl5pPr>
              <a:defRPr sz="2175">
                <a:solidFill>
                  <a:srgbClr val="13212D"/>
                </a:solidFill>
                <a:latin typeface="Helvetica Neue"/>
                <a:ea typeface="Helvetica Neue"/>
                <a:cs typeface="Helvetica Neue"/>
              </a:defRPr>
            </a:lvl5pPr>
            <a:lvl6pPr>
              <a:defRPr sz="2175">
                <a:solidFill>
                  <a:srgbClr val="13212D"/>
                </a:solidFill>
                <a:latin typeface="Helvetica Neue"/>
                <a:ea typeface="Helvetica Neue"/>
                <a:cs typeface="Helvetica Neue"/>
              </a:defRPr>
            </a:lvl6pPr>
            <a:lvl7pPr>
              <a:defRPr sz="2175">
                <a:solidFill>
                  <a:srgbClr val="13212D"/>
                </a:solidFill>
                <a:latin typeface="Helvetica Neue"/>
                <a:ea typeface="Helvetica Neue"/>
                <a:cs typeface="Helvetica Neue"/>
              </a:defRPr>
            </a:lvl7pPr>
            <a:lvl8pPr>
              <a:defRPr sz="2175">
                <a:solidFill>
                  <a:srgbClr val="13212D"/>
                </a:solidFill>
                <a:latin typeface="Helvetica Neue"/>
                <a:ea typeface="Helvetica Neue"/>
                <a:cs typeface="Helvetica Neue"/>
              </a:defRPr>
            </a:lvl8pPr>
            <a:lvl9pPr>
              <a:defRPr sz="217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2175">
                <a:solidFill>
                  <a:srgbClr val="13212D"/>
                </a:solidFill>
                <a:latin typeface="Helvetica Neue"/>
                <a:ea typeface="Helvetica Neue"/>
                <a:cs typeface="Helvetica Neue"/>
              </a:defRPr>
            </a:pPr>
            <a:r>
              <a:rPr sz="2175">
                <a:solidFill>
                  <a:srgbClr val="13212D"/>
                </a:solidFill>
                <a:latin typeface="Helvetica Neue"/>
                <a:ea typeface="Helvetica Neue"/>
                <a:cs typeface="Helvetica Neue"/>
              </a:rPr>
              <a:t>Explain how Florida law and Board rules govern practical nursing</a:t>
            </a:r>
          </a:p>
          <a:p xmlns:a="http://schemas.openxmlformats.org/drawingml/2006/main">
            <a:pPr marL="279400" indent="-127000">
              <a:spcAft>
                <a:spcPts val="1300"/>
              </a:spcAft>
              <a:buChar char="•"/>
              <a:defRPr sz="2175">
                <a:solidFill>
                  <a:srgbClr val="13212D"/>
                </a:solidFill>
                <a:latin typeface="Helvetica Neue"/>
                <a:ea typeface="Helvetica Neue"/>
                <a:cs typeface="Helvetica Neue"/>
              </a:defRPr>
            </a:pPr>
            <a:r>
              <a:rPr sz="2175">
                <a:solidFill>
                  <a:srgbClr val="13212D"/>
                </a:solidFill>
                <a:latin typeface="Helvetica Neue"/>
                <a:ea typeface="Helvetica Neue"/>
                <a:cs typeface="Helvetica Neue"/>
              </a:rPr>
              <a:t>Identify IV activities that require direction or direct supervision</a:t>
            </a:r>
          </a:p>
          <a:p xmlns:a="http://schemas.openxmlformats.org/drawingml/2006/main">
            <a:pPr marL="279400" indent="-127000">
              <a:spcAft>
                <a:spcPts val="1300"/>
              </a:spcAft>
              <a:buChar char="•"/>
              <a:defRPr sz="2175">
                <a:solidFill>
                  <a:srgbClr val="13212D"/>
                </a:solidFill>
                <a:latin typeface="Helvetica Neue"/>
                <a:ea typeface="Helvetica Neue"/>
                <a:cs typeface="Helvetica Neue"/>
              </a:defRPr>
            </a:pPr>
            <a:r>
              <a:rPr sz="2175">
                <a:solidFill>
                  <a:srgbClr val="13212D"/>
                </a:solidFill>
                <a:latin typeface="Helvetica Neue"/>
                <a:ea typeface="Helvetica Neue"/>
                <a:cs typeface="Helvetica Neue"/>
              </a:rPr>
              <a:t>Describe education, competency verification, and documentation duties</a:t>
            </a:r>
          </a:p>
        </p:txBody>
      </p:sp>
    </p:spTree>
    <p:extLst>
      <p:ext uri="{BB962C8B-B14F-4D97-AF65-F5344CB8AC3E}">
        <p14:creationId xmlns:p14="http://schemas.microsoft.com/office/powerpoint/2010/main" val="1645043785"/>
      </p:ext>
    </p:extLst>
  </p:cSld>
</p:sld>
</file>

<file path=ppt/slides/slide3.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7A4F3F2C-A6B5-4CB5-89D4-3128338A24CF}"/>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6DE19F17-1F82-4745-8504-520407F728BC}"/>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Scope begins with current authority</a:t>
            </a:r>
          </a:p>
        </p:txBody>
      </p:sp>
      <p:sp>
        <p:nvSpPr>
          <p:cNvPr id="3" name="">
            <a:extLst xmlns:a="http://schemas.openxmlformats.org/drawingml/2006/main">
              <a:ext uri="{FF2B5EF4-FFF2-40B4-BE49-F238E27FC236}">
                <a16:creationId xmlns:a16="http://schemas.microsoft.com/office/drawing/2014/main" id="{A3D21169-6095-4CAF-81A9-94EBB7DAF3A9}"/>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1</a:t>
            </a:r>
          </a:p>
        </p:txBody>
      </p:sp>
      <p:sp>
        <p:nvSpPr>
          <p:cNvPr id="4" name="">
            <a:extLst xmlns:a="http://schemas.openxmlformats.org/drawingml/2006/main">
              <a:ext uri="{FF2B5EF4-FFF2-40B4-BE49-F238E27FC236}">
                <a16:creationId xmlns:a16="http://schemas.microsoft.com/office/drawing/2014/main" id="{20522068-25E7-47E9-A3A5-9C38EAA74F3E}"/>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03</a:t>
            </a:r>
          </a:p>
        </p:txBody>
      </p:sp>
      <p:sp>
        <p:nvSpPr>
          <p:cNvPr id="5" name="">
            <a:extLst xmlns:a="http://schemas.openxmlformats.org/drawingml/2006/main">
              <a:ext uri="{FF2B5EF4-FFF2-40B4-BE49-F238E27FC236}">
                <a16:creationId xmlns:a16="http://schemas.microsoft.com/office/drawing/2014/main" id="{EA8B06FB-AE60-4627-95FF-6D5E8520F71A}"/>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100">
                <a:solidFill>
                  <a:srgbClr val="13212D"/>
                </a:solidFill>
                <a:latin typeface="Helvetica Neue"/>
                <a:ea typeface="Helvetica Neue"/>
                <a:cs typeface="Helvetica Neue"/>
              </a:defRPr>
            </a:defPPr>
            <a:lvl1pPr>
              <a:defRPr sz="2100">
                <a:solidFill>
                  <a:srgbClr val="13212D"/>
                </a:solidFill>
                <a:latin typeface="Helvetica Neue"/>
                <a:ea typeface="Helvetica Neue"/>
                <a:cs typeface="Helvetica Neue"/>
              </a:defRPr>
            </a:lvl1pPr>
            <a:lvl2pPr>
              <a:defRPr sz="2100">
                <a:solidFill>
                  <a:srgbClr val="13212D"/>
                </a:solidFill>
                <a:latin typeface="Helvetica Neue"/>
                <a:ea typeface="Helvetica Neue"/>
                <a:cs typeface="Helvetica Neue"/>
              </a:defRPr>
            </a:lvl2pPr>
            <a:lvl3pPr>
              <a:defRPr sz="2100">
                <a:solidFill>
                  <a:srgbClr val="13212D"/>
                </a:solidFill>
                <a:latin typeface="Helvetica Neue"/>
                <a:ea typeface="Helvetica Neue"/>
                <a:cs typeface="Helvetica Neue"/>
              </a:defRPr>
            </a:lvl3pPr>
            <a:lvl4pPr>
              <a:defRPr sz="2100">
                <a:solidFill>
                  <a:srgbClr val="13212D"/>
                </a:solidFill>
                <a:latin typeface="Helvetica Neue"/>
                <a:ea typeface="Helvetica Neue"/>
                <a:cs typeface="Helvetica Neue"/>
              </a:defRPr>
            </a:lvl4pPr>
            <a:lvl5pPr>
              <a:defRPr sz="2100">
                <a:solidFill>
                  <a:srgbClr val="13212D"/>
                </a:solidFill>
                <a:latin typeface="Helvetica Neue"/>
                <a:ea typeface="Helvetica Neue"/>
                <a:cs typeface="Helvetica Neue"/>
              </a:defRPr>
            </a:lvl5pPr>
            <a:lvl6pPr>
              <a:defRPr sz="2100">
                <a:solidFill>
                  <a:srgbClr val="13212D"/>
                </a:solidFill>
                <a:latin typeface="Helvetica Neue"/>
                <a:ea typeface="Helvetica Neue"/>
                <a:cs typeface="Helvetica Neue"/>
              </a:defRPr>
            </a:lvl6pPr>
            <a:lvl7pPr>
              <a:defRPr sz="2100">
                <a:solidFill>
                  <a:srgbClr val="13212D"/>
                </a:solidFill>
                <a:latin typeface="Helvetica Neue"/>
                <a:ea typeface="Helvetica Neue"/>
                <a:cs typeface="Helvetica Neue"/>
              </a:defRPr>
            </a:lvl7pPr>
            <a:lvl8pPr>
              <a:defRPr sz="2100">
                <a:solidFill>
                  <a:srgbClr val="13212D"/>
                </a:solidFill>
                <a:latin typeface="Helvetica Neue"/>
                <a:ea typeface="Helvetica Neue"/>
                <a:cs typeface="Helvetica Neue"/>
              </a:defRPr>
            </a:lvl8pPr>
            <a:lvl9pPr>
              <a:defRPr sz="2100">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Florida Statutes define practical nursing as selected nursing acts performed under authorized direction.</a:t>
            </a:r>
          </a:p>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Education and experience set personal limits.</a:t>
            </a:r>
          </a:p>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Employer policy may narrow the permitted role.</a:t>
            </a:r>
          </a:p>
        </p:txBody>
      </p:sp>
      <p:sp>
        <p:nvSpPr>
          <p:cNvPr id="6" name="">
            <a:extLst xmlns:a="http://schemas.openxmlformats.org/drawingml/2006/main">
              <a:ext uri="{FF2B5EF4-FFF2-40B4-BE49-F238E27FC236}">
                <a16:creationId xmlns:a16="http://schemas.microsoft.com/office/drawing/2014/main" id="{A0F4C4E7-08AD-4BD9-A180-51983F31DF24}"/>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Tree>
    <p:extLst>
      <p:ext uri="{BB962C8B-B14F-4D97-AF65-F5344CB8AC3E}">
        <p14:creationId xmlns:p14="http://schemas.microsoft.com/office/powerpoint/2010/main" val="507789459"/>
      </p:ext>
    </p:extLst>
  </p:cSld>
</p:sld>
</file>

<file path=ppt/slides/slide4.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36B47184-A1AE-4009-A9B7-B5B62940388B}"/>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7F7B3EC5-721F-449F-B0A7-08239AE182A2}"/>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The 30-hour qualification</a:t>
            </a:r>
          </a:p>
        </p:txBody>
      </p:sp>
      <p:sp>
        <p:nvSpPr>
          <p:cNvPr id="3" name="">
            <a:extLst xmlns:a="http://schemas.openxmlformats.org/drawingml/2006/main">
              <a:ext uri="{FF2B5EF4-FFF2-40B4-BE49-F238E27FC236}">
                <a16:creationId xmlns:a16="http://schemas.microsoft.com/office/drawing/2014/main" id="{F4470E09-E02E-40AC-8B9A-AF5DC246C56A}"/>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1</a:t>
            </a:r>
          </a:p>
        </p:txBody>
      </p:sp>
      <p:sp>
        <p:nvSpPr>
          <p:cNvPr id="4" name="">
            <a:extLst xmlns:a="http://schemas.openxmlformats.org/drawingml/2006/main">
              <a:ext uri="{FF2B5EF4-FFF2-40B4-BE49-F238E27FC236}">
                <a16:creationId xmlns:a16="http://schemas.microsoft.com/office/drawing/2014/main" id="{AE48CF30-D0C9-4AC7-9873-9DBD9BE59ED1}"/>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04</a:t>
            </a:r>
          </a:p>
        </p:txBody>
      </p:sp>
      <p:sp>
        <p:nvSpPr>
          <p:cNvPr id="5" name="">
            <a:extLst xmlns:a="http://schemas.openxmlformats.org/drawingml/2006/main">
              <a:ext uri="{FF2B5EF4-FFF2-40B4-BE49-F238E27FC236}">
                <a16:creationId xmlns:a16="http://schemas.microsoft.com/office/drawing/2014/main" id="{65E5DC56-62F3-4810-97EF-0FDD798F65F9}"/>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100">
                <a:solidFill>
                  <a:srgbClr val="13212D"/>
                </a:solidFill>
                <a:latin typeface="Helvetica Neue"/>
                <a:ea typeface="Helvetica Neue"/>
                <a:cs typeface="Helvetica Neue"/>
              </a:defRPr>
            </a:defPPr>
            <a:lvl1pPr>
              <a:defRPr sz="2100">
                <a:solidFill>
                  <a:srgbClr val="13212D"/>
                </a:solidFill>
                <a:latin typeface="Helvetica Neue"/>
                <a:ea typeface="Helvetica Neue"/>
                <a:cs typeface="Helvetica Neue"/>
              </a:defRPr>
            </a:lvl1pPr>
            <a:lvl2pPr>
              <a:defRPr sz="2100">
                <a:solidFill>
                  <a:srgbClr val="13212D"/>
                </a:solidFill>
                <a:latin typeface="Helvetica Neue"/>
                <a:ea typeface="Helvetica Neue"/>
                <a:cs typeface="Helvetica Neue"/>
              </a:defRPr>
            </a:lvl2pPr>
            <a:lvl3pPr>
              <a:defRPr sz="2100">
                <a:solidFill>
                  <a:srgbClr val="13212D"/>
                </a:solidFill>
                <a:latin typeface="Helvetica Neue"/>
                <a:ea typeface="Helvetica Neue"/>
                <a:cs typeface="Helvetica Neue"/>
              </a:defRPr>
            </a:lvl3pPr>
            <a:lvl4pPr>
              <a:defRPr sz="2100">
                <a:solidFill>
                  <a:srgbClr val="13212D"/>
                </a:solidFill>
                <a:latin typeface="Helvetica Neue"/>
                <a:ea typeface="Helvetica Neue"/>
                <a:cs typeface="Helvetica Neue"/>
              </a:defRPr>
            </a:lvl4pPr>
            <a:lvl5pPr>
              <a:defRPr sz="2100">
                <a:solidFill>
                  <a:srgbClr val="13212D"/>
                </a:solidFill>
                <a:latin typeface="Helvetica Neue"/>
                <a:ea typeface="Helvetica Neue"/>
                <a:cs typeface="Helvetica Neue"/>
              </a:defRPr>
            </a:lvl5pPr>
            <a:lvl6pPr>
              <a:defRPr sz="2100">
                <a:solidFill>
                  <a:srgbClr val="13212D"/>
                </a:solidFill>
                <a:latin typeface="Helvetica Neue"/>
                <a:ea typeface="Helvetica Neue"/>
                <a:cs typeface="Helvetica Neue"/>
              </a:defRPr>
            </a:lvl6pPr>
            <a:lvl7pPr>
              <a:defRPr sz="2100">
                <a:solidFill>
                  <a:srgbClr val="13212D"/>
                </a:solidFill>
                <a:latin typeface="Helvetica Neue"/>
                <a:ea typeface="Helvetica Neue"/>
                <a:cs typeface="Helvetica Neue"/>
              </a:defRPr>
            </a:lvl7pPr>
            <a:lvl8pPr>
              <a:defRPr sz="2100">
                <a:solidFill>
                  <a:srgbClr val="13212D"/>
                </a:solidFill>
                <a:latin typeface="Helvetica Neue"/>
                <a:ea typeface="Helvetica Neue"/>
                <a:cs typeface="Helvetica Neue"/>
              </a:defRPr>
            </a:lvl8pPr>
            <a:lvl9pPr>
              <a:defRPr sz="2100">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Florida Administrative Code Rule 64B9-12.005 requires at least 30 hours of post-graduate IV education for an LPN or graduate practical nurse who needs this qualification.</a:t>
            </a:r>
          </a:p>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Course content must cover the required cognitive and clinical areas.</a:t>
            </a:r>
          </a:p>
        </p:txBody>
      </p:sp>
      <p:sp>
        <p:nvSpPr>
          <p:cNvPr id="6" name="">
            <a:extLst xmlns:a="http://schemas.openxmlformats.org/drawingml/2006/main">
              <a:ext uri="{FF2B5EF4-FFF2-40B4-BE49-F238E27FC236}">
                <a16:creationId xmlns:a16="http://schemas.microsoft.com/office/drawing/2014/main" id="{3C03CC27-39E7-45C5-9B0A-2B03E93AA0DB}"/>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Tree>
    <p:extLst>
      <p:ext uri="{BB962C8B-B14F-4D97-AF65-F5344CB8AC3E}">
        <p14:creationId xmlns:p14="http://schemas.microsoft.com/office/powerpoint/2010/main" val="1623036729"/>
      </p:ext>
    </p:extLst>
  </p:cSld>
</p:sld>
</file>

<file path=ppt/slides/slide5.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A76AC8A5-AFF6-4CAE-97AB-A1D515700CBF}"/>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C74D34F9-289A-45AB-B65A-05EF069BC155}"/>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Central-line preparation</a:t>
            </a:r>
          </a:p>
        </p:txBody>
      </p:sp>
      <p:sp>
        <p:nvSpPr>
          <p:cNvPr id="3" name="">
            <a:extLst xmlns:a="http://schemas.openxmlformats.org/drawingml/2006/main">
              <a:ext uri="{FF2B5EF4-FFF2-40B4-BE49-F238E27FC236}">
                <a16:creationId xmlns:a16="http://schemas.microsoft.com/office/drawing/2014/main" id="{538D74D8-683F-4FE9-8A49-0FB53912CD9E}"/>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1</a:t>
            </a:r>
          </a:p>
        </p:txBody>
      </p:sp>
      <p:sp>
        <p:nvSpPr>
          <p:cNvPr id="4" name="">
            <a:extLst xmlns:a="http://schemas.openxmlformats.org/drawingml/2006/main">
              <a:ext uri="{FF2B5EF4-FFF2-40B4-BE49-F238E27FC236}">
                <a16:creationId xmlns:a16="http://schemas.microsoft.com/office/drawing/2014/main" id="{79C8CD68-98AE-4AFB-9DD1-377CCD738CC1}"/>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05</a:t>
            </a:r>
          </a:p>
        </p:txBody>
      </p:sp>
      <p:sp>
        <p:nvSpPr>
          <p:cNvPr id="5" name="">
            <a:extLst xmlns:a="http://schemas.openxmlformats.org/drawingml/2006/main">
              <a:ext uri="{FF2B5EF4-FFF2-40B4-BE49-F238E27FC236}">
                <a16:creationId xmlns:a16="http://schemas.microsoft.com/office/drawing/2014/main" id="{0E06CD91-93D0-445A-92C5-7A0A65656243}"/>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100">
                <a:solidFill>
                  <a:srgbClr val="13212D"/>
                </a:solidFill>
                <a:latin typeface="Helvetica Neue"/>
                <a:ea typeface="Helvetica Neue"/>
                <a:cs typeface="Helvetica Neue"/>
              </a:defRPr>
            </a:defPPr>
            <a:lvl1pPr>
              <a:defRPr sz="2100">
                <a:solidFill>
                  <a:srgbClr val="13212D"/>
                </a:solidFill>
                <a:latin typeface="Helvetica Neue"/>
                <a:ea typeface="Helvetica Neue"/>
                <a:cs typeface="Helvetica Neue"/>
              </a:defRPr>
            </a:lvl1pPr>
            <a:lvl2pPr>
              <a:defRPr sz="2100">
                <a:solidFill>
                  <a:srgbClr val="13212D"/>
                </a:solidFill>
                <a:latin typeface="Helvetica Neue"/>
                <a:ea typeface="Helvetica Neue"/>
                <a:cs typeface="Helvetica Neue"/>
              </a:defRPr>
            </a:lvl2pPr>
            <a:lvl3pPr>
              <a:defRPr sz="2100">
                <a:solidFill>
                  <a:srgbClr val="13212D"/>
                </a:solidFill>
                <a:latin typeface="Helvetica Neue"/>
                <a:ea typeface="Helvetica Neue"/>
                <a:cs typeface="Helvetica Neue"/>
              </a:defRPr>
            </a:lvl3pPr>
            <a:lvl4pPr>
              <a:defRPr sz="2100">
                <a:solidFill>
                  <a:srgbClr val="13212D"/>
                </a:solidFill>
                <a:latin typeface="Helvetica Neue"/>
                <a:ea typeface="Helvetica Neue"/>
                <a:cs typeface="Helvetica Neue"/>
              </a:defRPr>
            </a:lvl4pPr>
            <a:lvl5pPr>
              <a:defRPr sz="2100">
                <a:solidFill>
                  <a:srgbClr val="13212D"/>
                </a:solidFill>
                <a:latin typeface="Helvetica Neue"/>
                <a:ea typeface="Helvetica Neue"/>
                <a:cs typeface="Helvetica Neue"/>
              </a:defRPr>
            </a:lvl5pPr>
            <a:lvl6pPr>
              <a:defRPr sz="2100">
                <a:solidFill>
                  <a:srgbClr val="13212D"/>
                </a:solidFill>
                <a:latin typeface="Helvetica Neue"/>
                <a:ea typeface="Helvetica Neue"/>
                <a:cs typeface="Helvetica Neue"/>
              </a:defRPr>
            </a:lvl6pPr>
            <a:lvl7pPr>
              <a:defRPr sz="2100">
                <a:solidFill>
                  <a:srgbClr val="13212D"/>
                </a:solidFill>
                <a:latin typeface="Helvetica Neue"/>
                <a:ea typeface="Helvetica Neue"/>
                <a:cs typeface="Helvetica Neue"/>
              </a:defRPr>
            </a:lvl7pPr>
            <a:lvl8pPr>
              <a:defRPr sz="2100">
                <a:solidFill>
                  <a:srgbClr val="13212D"/>
                </a:solidFill>
                <a:latin typeface="Helvetica Neue"/>
                <a:ea typeface="Helvetica Neue"/>
                <a:cs typeface="Helvetica Neue"/>
              </a:defRPr>
            </a:lvl8pPr>
            <a:lvl9pPr>
              <a:defRPr sz="2100">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Central-line practice requires at least four hours of instruction that may count within the 30 hours.</a:t>
            </a:r>
          </a:p>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Training includes anatomy, site assessment, dressing and cap changes, flushing, administration, blood collection, and complication response.</a:t>
            </a:r>
          </a:p>
        </p:txBody>
      </p:sp>
      <p:sp>
        <p:nvSpPr>
          <p:cNvPr id="6" name="">
            <a:extLst xmlns:a="http://schemas.openxmlformats.org/drawingml/2006/main">
              <a:ext uri="{FF2B5EF4-FFF2-40B4-BE49-F238E27FC236}">
                <a16:creationId xmlns:a16="http://schemas.microsoft.com/office/drawing/2014/main" id="{4588078A-8779-4805-8DF0-E0F3B78B3400}"/>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Tree>
    <p:extLst>
      <p:ext uri="{BB962C8B-B14F-4D97-AF65-F5344CB8AC3E}">
        <p14:creationId xmlns:p14="http://schemas.microsoft.com/office/powerpoint/2010/main" val="241272289"/>
      </p:ext>
    </p:extLst>
  </p:cSld>
</p:sld>
</file>

<file path=ppt/slides/slide6.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1A90536A-A280-4AE5-812A-D994D3B67DB4}"/>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0A1BD56A-1309-44B3-88CF-AB681D6D1BBF}"/>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Clinical competence and records</a:t>
            </a:r>
          </a:p>
        </p:txBody>
      </p:sp>
      <p:sp>
        <p:nvSpPr>
          <p:cNvPr id="3" name="">
            <a:extLst xmlns:a="http://schemas.openxmlformats.org/drawingml/2006/main">
              <a:ext uri="{FF2B5EF4-FFF2-40B4-BE49-F238E27FC236}">
                <a16:creationId xmlns:a16="http://schemas.microsoft.com/office/drawing/2014/main" id="{9F518482-C881-4A24-BE6B-74B6CEE53A64}"/>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1</a:t>
            </a:r>
          </a:p>
        </p:txBody>
      </p:sp>
      <p:sp>
        <p:nvSpPr>
          <p:cNvPr id="4" name="">
            <a:extLst xmlns:a="http://schemas.openxmlformats.org/drawingml/2006/main">
              <a:ext uri="{FF2B5EF4-FFF2-40B4-BE49-F238E27FC236}">
                <a16:creationId xmlns:a16="http://schemas.microsoft.com/office/drawing/2014/main" id="{29A5205D-6B46-4166-8923-A9F86AC251B2}"/>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06</a:t>
            </a:r>
          </a:p>
        </p:txBody>
      </p:sp>
      <p:sp>
        <p:nvSpPr>
          <p:cNvPr id="5" name="">
            <a:extLst xmlns:a="http://schemas.openxmlformats.org/drawingml/2006/main">
              <a:ext uri="{FF2B5EF4-FFF2-40B4-BE49-F238E27FC236}">
                <a16:creationId xmlns:a16="http://schemas.microsoft.com/office/drawing/2014/main" id="{B4943B66-CC64-4790-8F83-FD4115276F4D}"/>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100">
                <a:solidFill>
                  <a:srgbClr val="13212D"/>
                </a:solidFill>
                <a:latin typeface="Helvetica Neue"/>
                <a:ea typeface="Helvetica Neue"/>
                <a:cs typeface="Helvetica Neue"/>
              </a:defRPr>
            </a:defPPr>
            <a:lvl1pPr>
              <a:defRPr sz="2100">
                <a:solidFill>
                  <a:srgbClr val="13212D"/>
                </a:solidFill>
                <a:latin typeface="Helvetica Neue"/>
                <a:ea typeface="Helvetica Neue"/>
                <a:cs typeface="Helvetica Neue"/>
              </a:defRPr>
            </a:lvl1pPr>
            <a:lvl2pPr>
              <a:defRPr sz="2100">
                <a:solidFill>
                  <a:srgbClr val="13212D"/>
                </a:solidFill>
                <a:latin typeface="Helvetica Neue"/>
                <a:ea typeface="Helvetica Neue"/>
                <a:cs typeface="Helvetica Neue"/>
              </a:defRPr>
            </a:lvl2pPr>
            <a:lvl3pPr>
              <a:defRPr sz="2100">
                <a:solidFill>
                  <a:srgbClr val="13212D"/>
                </a:solidFill>
                <a:latin typeface="Helvetica Neue"/>
                <a:ea typeface="Helvetica Neue"/>
                <a:cs typeface="Helvetica Neue"/>
              </a:defRPr>
            </a:lvl3pPr>
            <a:lvl4pPr>
              <a:defRPr sz="2100">
                <a:solidFill>
                  <a:srgbClr val="13212D"/>
                </a:solidFill>
                <a:latin typeface="Helvetica Neue"/>
                <a:ea typeface="Helvetica Neue"/>
                <a:cs typeface="Helvetica Neue"/>
              </a:defRPr>
            </a:lvl4pPr>
            <a:lvl5pPr>
              <a:defRPr sz="2100">
                <a:solidFill>
                  <a:srgbClr val="13212D"/>
                </a:solidFill>
                <a:latin typeface="Helvetica Neue"/>
                <a:ea typeface="Helvetica Neue"/>
                <a:cs typeface="Helvetica Neue"/>
              </a:defRPr>
            </a:lvl5pPr>
            <a:lvl6pPr>
              <a:defRPr sz="2100">
                <a:solidFill>
                  <a:srgbClr val="13212D"/>
                </a:solidFill>
                <a:latin typeface="Helvetica Neue"/>
                <a:ea typeface="Helvetica Neue"/>
                <a:cs typeface="Helvetica Neue"/>
              </a:defRPr>
            </a:lvl6pPr>
            <a:lvl7pPr>
              <a:defRPr sz="2100">
                <a:solidFill>
                  <a:srgbClr val="13212D"/>
                </a:solidFill>
                <a:latin typeface="Helvetica Neue"/>
                <a:ea typeface="Helvetica Neue"/>
                <a:cs typeface="Helvetica Neue"/>
              </a:defRPr>
            </a:lvl7pPr>
            <a:lvl8pPr>
              <a:defRPr sz="2100">
                <a:solidFill>
                  <a:srgbClr val="13212D"/>
                </a:solidFill>
                <a:latin typeface="Helvetica Neue"/>
                <a:ea typeface="Helvetica Neue"/>
                <a:cs typeface="Helvetica Neue"/>
              </a:defRPr>
            </a:lvl8pPr>
            <a:lvl9pPr>
              <a:defRPr sz="2100">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A Florida-licensed RN witnesses clinical practice and files a proficiency statement.</a:t>
            </a:r>
          </a:p>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The employing institution verifies competence under its protocol.</a:t>
            </a:r>
          </a:p>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Documentation identifies the device, site, solution, delivery method, assessment, response, and complications.</a:t>
            </a:r>
          </a:p>
        </p:txBody>
      </p:sp>
      <p:sp>
        <p:nvSpPr>
          <p:cNvPr id="6" name="">
            <a:extLst xmlns:a="http://schemas.openxmlformats.org/drawingml/2006/main">
              <a:ext uri="{FF2B5EF4-FFF2-40B4-BE49-F238E27FC236}">
                <a16:creationId xmlns:a16="http://schemas.microsoft.com/office/drawing/2014/main" id="{75480D4A-876B-4E78-8103-89C04EACE3F5}"/>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Tree>
    <p:extLst>
      <p:ext uri="{BB962C8B-B14F-4D97-AF65-F5344CB8AC3E}">
        <p14:creationId xmlns:p14="http://schemas.microsoft.com/office/powerpoint/2010/main" val="906852529"/>
      </p:ext>
    </p:extLst>
  </p:cSld>
</p:sld>
</file>

<file path=ppt/slides/slide7.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9ABAD127-34A5-4763-95BF-A2554F70B42B}"/>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79D41B1A-7429-491B-8DF8-0BB314B18B89}"/>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Welcome, Hybrid Schedule, and Completion Rules 1</a:t>
            </a:r>
          </a:p>
        </p:txBody>
      </p:sp>
      <p:sp>
        <p:nvSpPr>
          <p:cNvPr id="3" name="">
            <a:extLst xmlns:a="http://schemas.openxmlformats.org/drawingml/2006/main">
              <a:ext uri="{FF2B5EF4-FFF2-40B4-BE49-F238E27FC236}">
                <a16:creationId xmlns:a16="http://schemas.microsoft.com/office/drawing/2014/main" id="{EBA34084-8163-4B59-A9A3-DF6D2A8BA973}"/>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1</a:t>
            </a:r>
          </a:p>
        </p:txBody>
      </p:sp>
      <p:sp>
        <p:nvSpPr>
          <p:cNvPr id="4" name="">
            <a:extLst xmlns:a="http://schemas.openxmlformats.org/drawingml/2006/main">
              <a:ext uri="{FF2B5EF4-FFF2-40B4-BE49-F238E27FC236}">
                <a16:creationId xmlns:a16="http://schemas.microsoft.com/office/drawing/2014/main" id="{0E5F3C75-6275-4B1A-8764-CE2FE4617125}"/>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07</a:t>
            </a:r>
          </a:p>
        </p:txBody>
      </p:sp>
      <p:sp>
        <p:nvSpPr>
          <p:cNvPr id="5" name="">
            <a:extLst xmlns:a="http://schemas.openxmlformats.org/drawingml/2006/main">
              <a:ext uri="{FF2B5EF4-FFF2-40B4-BE49-F238E27FC236}">
                <a16:creationId xmlns:a16="http://schemas.microsoft.com/office/drawing/2014/main" id="{88CA9DA5-F566-4B3C-B4A1-52D1A34B5D90}"/>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100">
                <a:solidFill>
                  <a:srgbClr val="13212D"/>
                </a:solidFill>
                <a:latin typeface="Helvetica Neue"/>
                <a:ea typeface="Helvetica Neue"/>
                <a:cs typeface="Helvetica Neue"/>
              </a:defRPr>
            </a:defPPr>
            <a:lvl1pPr>
              <a:defRPr sz="2100">
                <a:solidFill>
                  <a:srgbClr val="13212D"/>
                </a:solidFill>
                <a:latin typeface="Helvetica Neue"/>
                <a:ea typeface="Helvetica Neue"/>
                <a:cs typeface="Helvetica Neue"/>
              </a:defRPr>
            </a:lvl1pPr>
            <a:lvl2pPr>
              <a:defRPr sz="2100">
                <a:solidFill>
                  <a:srgbClr val="13212D"/>
                </a:solidFill>
                <a:latin typeface="Helvetica Neue"/>
                <a:ea typeface="Helvetica Neue"/>
                <a:cs typeface="Helvetica Neue"/>
              </a:defRPr>
            </a:lvl2pPr>
            <a:lvl3pPr>
              <a:defRPr sz="2100">
                <a:solidFill>
                  <a:srgbClr val="13212D"/>
                </a:solidFill>
                <a:latin typeface="Helvetica Neue"/>
                <a:ea typeface="Helvetica Neue"/>
                <a:cs typeface="Helvetica Neue"/>
              </a:defRPr>
            </a:lvl3pPr>
            <a:lvl4pPr>
              <a:defRPr sz="2100">
                <a:solidFill>
                  <a:srgbClr val="13212D"/>
                </a:solidFill>
                <a:latin typeface="Helvetica Neue"/>
                <a:ea typeface="Helvetica Neue"/>
                <a:cs typeface="Helvetica Neue"/>
              </a:defRPr>
            </a:lvl4pPr>
            <a:lvl5pPr>
              <a:defRPr sz="2100">
                <a:solidFill>
                  <a:srgbClr val="13212D"/>
                </a:solidFill>
                <a:latin typeface="Helvetica Neue"/>
                <a:ea typeface="Helvetica Neue"/>
                <a:cs typeface="Helvetica Neue"/>
              </a:defRPr>
            </a:lvl5pPr>
            <a:lvl6pPr>
              <a:defRPr sz="2100">
                <a:solidFill>
                  <a:srgbClr val="13212D"/>
                </a:solidFill>
                <a:latin typeface="Helvetica Neue"/>
                <a:ea typeface="Helvetica Neue"/>
                <a:cs typeface="Helvetica Neue"/>
              </a:defRPr>
            </a:lvl6pPr>
            <a:lvl7pPr>
              <a:defRPr sz="2100">
                <a:solidFill>
                  <a:srgbClr val="13212D"/>
                </a:solidFill>
                <a:latin typeface="Helvetica Neue"/>
                <a:ea typeface="Helvetica Neue"/>
                <a:cs typeface="Helvetica Neue"/>
              </a:defRPr>
            </a:lvl7pPr>
            <a:lvl8pPr>
              <a:defRPr sz="2100">
                <a:solidFill>
                  <a:srgbClr val="13212D"/>
                </a:solidFill>
                <a:latin typeface="Helvetica Neue"/>
                <a:ea typeface="Helvetica Neue"/>
                <a:cs typeface="Helvetica Neue"/>
              </a:defRPr>
            </a:lvl8pPr>
            <a:lvl9pPr>
              <a:defRPr sz="2100">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Welcome to IVT 030</a:t>
            </a:r>
          </a:p>
        </p:txBody>
      </p:sp>
      <p:sp>
        <p:nvSpPr>
          <p:cNvPr id="6" name="">
            <a:extLst xmlns:a="http://schemas.openxmlformats.org/drawingml/2006/main">
              <a:ext uri="{FF2B5EF4-FFF2-40B4-BE49-F238E27FC236}">
                <a16:creationId xmlns:a16="http://schemas.microsoft.com/office/drawing/2014/main" id="{5FFBA381-B657-4A44-8864-9B3A849E8E29}"/>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Tree>
    <p:extLst>
      <p:ext uri="{BB962C8B-B14F-4D97-AF65-F5344CB8AC3E}">
        <p14:creationId xmlns:p14="http://schemas.microsoft.com/office/powerpoint/2010/main" val="2137400461"/>
      </p:ext>
    </p:extLst>
  </p:cSld>
</p:sld>
</file>

<file path=ppt/slides/slide8.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FCD3997E-A955-4854-8EE1-C7BC21E1D7FA}"/>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FA472F2E-3D19-4BCE-A3C6-3C035ACFD253}"/>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Welcome, Hybrid Schedule, and Completion Rules 2</a:t>
            </a:r>
          </a:p>
        </p:txBody>
      </p:sp>
      <p:sp>
        <p:nvSpPr>
          <p:cNvPr id="3" name="">
            <a:extLst xmlns:a="http://schemas.openxmlformats.org/drawingml/2006/main">
              <a:ext uri="{FF2B5EF4-FFF2-40B4-BE49-F238E27FC236}">
                <a16:creationId xmlns:a16="http://schemas.microsoft.com/office/drawing/2014/main" id="{AF192B1C-72CA-410B-A26D-85E291AB0816}"/>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1</a:t>
            </a:r>
          </a:p>
        </p:txBody>
      </p:sp>
      <p:sp>
        <p:nvSpPr>
          <p:cNvPr id="4" name="">
            <a:extLst xmlns:a="http://schemas.openxmlformats.org/drawingml/2006/main">
              <a:ext uri="{FF2B5EF4-FFF2-40B4-BE49-F238E27FC236}">
                <a16:creationId xmlns:a16="http://schemas.microsoft.com/office/drawing/2014/main" id="{BEFC3237-5FF8-4FDD-AC3A-6A7365A3CB0F}"/>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08</a:t>
            </a:r>
          </a:p>
        </p:txBody>
      </p:sp>
      <p:sp>
        <p:nvSpPr>
          <p:cNvPr id="5" name="">
            <a:extLst xmlns:a="http://schemas.openxmlformats.org/drawingml/2006/main">
              <a:ext uri="{FF2B5EF4-FFF2-40B4-BE49-F238E27FC236}">
                <a16:creationId xmlns:a16="http://schemas.microsoft.com/office/drawing/2014/main" id="{D48DEA3B-8559-4B43-9851-9E55DD442236}"/>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100">
                <a:solidFill>
                  <a:srgbClr val="13212D"/>
                </a:solidFill>
                <a:latin typeface="Helvetica Neue"/>
                <a:ea typeface="Helvetica Neue"/>
                <a:cs typeface="Helvetica Neue"/>
              </a:defRPr>
            </a:defPPr>
            <a:lvl1pPr>
              <a:defRPr sz="2100">
                <a:solidFill>
                  <a:srgbClr val="13212D"/>
                </a:solidFill>
                <a:latin typeface="Helvetica Neue"/>
                <a:ea typeface="Helvetica Neue"/>
                <a:cs typeface="Helvetica Neue"/>
              </a:defRPr>
            </a:lvl1pPr>
            <a:lvl2pPr>
              <a:defRPr sz="2100">
                <a:solidFill>
                  <a:srgbClr val="13212D"/>
                </a:solidFill>
                <a:latin typeface="Helvetica Neue"/>
                <a:ea typeface="Helvetica Neue"/>
                <a:cs typeface="Helvetica Neue"/>
              </a:defRPr>
            </a:lvl2pPr>
            <a:lvl3pPr>
              <a:defRPr sz="2100">
                <a:solidFill>
                  <a:srgbClr val="13212D"/>
                </a:solidFill>
                <a:latin typeface="Helvetica Neue"/>
                <a:ea typeface="Helvetica Neue"/>
                <a:cs typeface="Helvetica Neue"/>
              </a:defRPr>
            </a:lvl3pPr>
            <a:lvl4pPr>
              <a:defRPr sz="2100">
                <a:solidFill>
                  <a:srgbClr val="13212D"/>
                </a:solidFill>
                <a:latin typeface="Helvetica Neue"/>
                <a:ea typeface="Helvetica Neue"/>
                <a:cs typeface="Helvetica Neue"/>
              </a:defRPr>
            </a:lvl4pPr>
            <a:lvl5pPr>
              <a:defRPr sz="2100">
                <a:solidFill>
                  <a:srgbClr val="13212D"/>
                </a:solidFill>
                <a:latin typeface="Helvetica Neue"/>
                <a:ea typeface="Helvetica Neue"/>
                <a:cs typeface="Helvetica Neue"/>
              </a:defRPr>
            </a:lvl5pPr>
            <a:lvl6pPr>
              <a:defRPr sz="2100">
                <a:solidFill>
                  <a:srgbClr val="13212D"/>
                </a:solidFill>
                <a:latin typeface="Helvetica Neue"/>
                <a:ea typeface="Helvetica Neue"/>
                <a:cs typeface="Helvetica Neue"/>
              </a:defRPr>
            </a:lvl6pPr>
            <a:lvl7pPr>
              <a:defRPr sz="2100">
                <a:solidFill>
                  <a:srgbClr val="13212D"/>
                </a:solidFill>
                <a:latin typeface="Helvetica Neue"/>
                <a:ea typeface="Helvetica Neue"/>
                <a:cs typeface="Helvetica Neue"/>
              </a:defRPr>
            </a:lvl7pPr>
            <a:lvl8pPr>
              <a:defRPr sz="2100">
                <a:solidFill>
                  <a:srgbClr val="13212D"/>
                </a:solidFill>
                <a:latin typeface="Helvetica Neue"/>
                <a:ea typeface="Helvetica Neue"/>
                <a:cs typeface="Helvetica Neue"/>
              </a:defRPr>
            </a:lvl8pPr>
            <a:lvl9pPr>
              <a:defRPr sz="2100">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This course combines 14 hours of required online preparation with 16 hours of live classroom review, guided skills practice, and competency evaluation.</a:t>
            </a:r>
          </a:p>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The online sequence must be completed before the classroom segment.</a:t>
            </a:r>
          </a:p>
        </p:txBody>
      </p:sp>
      <p:sp>
        <p:nvSpPr>
          <p:cNvPr id="6" name="">
            <a:extLst xmlns:a="http://schemas.openxmlformats.org/drawingml/2006/main">
              <a:ext uri="{FF2B5EF4-FFF2-40B4-BE49-F238E27FC236}">
                <a16:creationId xmlns:a16="http://schemas.microsoft.com/office/drawing/2014/main" id="{C3FBBD0C-66A2-4456-94EA-3CA468C81E41}"/>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Tree>
    <p:extLst>
      <p:ext uri="{BB962C8B-B14F-4D97-AF65-F5344CB8AC3E}">
        <p14:creationId xmlns:p14="http://schemas.microsoft.com/office/powerpoint/2010/main" val="33547665"/>
      </p:ext>
    </p:extLst>
  </p:cSld>
</p:sld>
</file>

<file path=ppt/slides/slide9.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0DABE964-9CE1-4FB7-8B80-9BBA0904C0DA}"/>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0DB5EEA6-76D5-4262-8B94-90000F06A506}"/>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Completion requirements</a:t>
            </a:r>
          </a:p>
        </p:txBody>
      </p:sp>
      <p:sp>
        <p:nvSpPr>
          <p:cNvPr id="3" name="">
            <a:extLst xmlns:a="http://schemas.openxmlformats.org/drawingml/2006/main">
              <a:ext uri="{FF2B5EF4-FFF2-40B4-BE49-F238E27FC236}">
                <a16:creationId xmlns:a16="http://schemas.microsoft.com/office/drawing/2014/main" id="{32302560-A6FB-4FD7-BCE9-E954CFD4E32C}"/>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1</a:t>
            </a:r>
          </a:p>
        </p:txBody>
      </p:sp>
      <p:sp>
        <p:nvSpPr>
          <p:cNvPr id="4" name="">
            <a:extLst xmlns:a="http://schemas.openxmlformats.org/drawingml/2006/main">
              <a:ext uri="{FF2B5EF4-FFF2-40B4-BE49-F238E27FC236}">
                <a16:creationId xmlns:a16="http://schemas.microsoft.com/office/drawing/2014/main" id="{503DD2C2-F7C1-4759-AAA9-3D2ED87860B2}"/>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09</a:t>
            </a:r>
          </a:p>
        </p:txBody>
      </p:sp>
      <p:sp>
        <p:nvSpPr>
          <p:cNvPr id="5" name="">
            <a:extLst xmlns:a="http://schemas.openxmlformats.org/drawingml/2006/main">
              <a:ext uri="{FF2B5EF4-FFF2-40B4-BE49-F238E27FC236}">
                <a16:creationId xmlns:a16="http://schemas.microsoft.com/office/drawing/2014/main" id="{88660D7E-509B-4FA1-AE04-A04E5B8AB93F}"/>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875">
                <a:solidFill>
                  <a:srgbClr val="13212D"/>
                </a:solidFill>
                <a:latin typeface="Helvetica Neue"/>
                <a:ea typeface="Helvetica Neue"/>
                <a:cs typeface="Helvetica Neue"/>
              </a:defRPr>
            </a:defPPr>
            <a:lvl1pPr>
              <a:defRPr sz="1875">
                <a:solidFill>
                  <a:srgbClr val="13212D"/>
                </a:solidFill>
                <a:latin typeface="Helvetica Neue"/>
                <a:ea typeface="Helvetica Neue"/>
                <a:cs typeface="Helvetica Neue"/>
              </a:defRPr>
            </a:lvl1pPr>
            <a:lvl2pPr>
              <a:defRPr sz="1875">
                <a:solidFill>
                  <a:srgbClr val="13212D"/>
                </a:solidFill>
                <a:latin typeface="Helvetica Neue"/>
                <a:ea typeface="Helvetica Neue"/>
                <a:cs typeface="Helvetica Neue"/>
              </a:defRPr>
            </a:lvl2pPr>
            <a:lvl3pPr>
              <a:defRPr sz="1875">
                <a:solidFill>
                  <a:srgbClr val="13212D"/>
                </a:solidFill>
                <a:latin typeface="Helvetica Neue"/>
                <a:ea typeface="Helvetica Neue"/>
                <a:cs typeface="Helvetica Neue"/>
              </a:defRPr>
            </a:lvl3pPr>
            <a:lvl4pPr>
              <a:defRPr sz="1875">
                <a:solidFill>
                  <a:srgbClr val="13212D"/>
                </a:solidFill>
                <a:latin typeface="Helvetica Neue"/>
                <a:ea typeface="Helvetica Neue"/>
                <a:cs typeface="Helvetica Neue"/>
              </a:defRPr>
            </a:lvl4pPr>
            <a:lvl5pPr>
              <a:defRPr sz="1875">
                <a:solidFill>
                  <a:srgbClr val="13212D"/>
                </a:solidFill>
                <a:latin typeface="Helvetica Neue"/>
                <a:ea typeface="Helvetica Neue"/>
                <a:cs typeface="Helvetica Neue"/>
              </a:defRPr>
            </a:lvl5pPr>
            <a:lvl6pPr>
              <a:defRPr sz="1875">
                <a:solidFill>
                  <a:srgbClr val="13212D"/>
                </a:solidFill>
                <a:latin typeface="Helvetica Neue"/>
                <a:ea typeface="Helvetica Neue"/>
                <a:cs typeface="Helvetica Neue"/>
              </a:defRPr>
            </a:lvl6pPr>
            <a:lvl7pPr>
              <a:defRPr sz="1875">
                <a:solidFill>
                  <a:srgbClr val="13212D"/>
                </a:solidFill>
                <a:latin typeface="Helvetica Neue"/>
                <a:ea typeface="Helvetica Neue"/>
                <a:cs typeface="Helvetica Neue"/>
              </a:defRPr>
            </a:lvl7pPr>
            <a:lvl8pPr>
              <a:defRPr sz="1875">
                <a:solidFill>
                  <a:srgbClr val="13212D"/>
                </a:solidFill>
                <a:latin typeface="Helvetica Neue"/>
                <a:ea typeface="Helvetica Neue"/>
                <a:cs typeface="Helvetica Neue"/>
              </a:defRPr>
            </a:lvl8pPr>
            <a:lvl9pPr>
              <a:defRPr sz="187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Complete all 30 clock hours: 14 hours of assigned online/home study and 16 hours of scheduled classroom, skills lab, and evaluation.</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Earn 80% or higher on each pre-course test and on the comprehensive online exam.</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Attend the in-person classroom and laboratory sections. Online completion does not replace hands-on attendance.</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Successfully demonstrate every critical skill on the competency checklist under direct evaluation by a Florida-licensed RN.</a:t>
            </a:r>
          </a:p>
        </p:txBody>
      </p:sp>
      <p:sp>
        <p:nvSpPr>
          <p:cNvPr id="6" name="">
            <a:extLst xmlns:a="http://schemas.openxmlformats.org/drawingml/2006/main">
              <a:ext uri="{FF2B5EF4-FFF2-40B4-BE49-F238E27FC236}">
                <a16:creationId xmlns:a16="http://schemas.microsoft.com/office/drawing/2014/main" id="{74A73C3E-5E3C-403E-8A63-ED8180D8A72D}"/>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Tree>
    <p:extLst>
      <p:ext uri="{BB962C8B-B14F-4D97-AF65-F5344CB8AC3E}">
        <p14:creationId xmlns:p14="http://schemas.microsoft.com/office/powerpoint/2010/main" val="152997614"/>
      </p:ext>
    </p:extLst>
  </p:cSld>
</p:sld>
</file>

<file path=ppt/slides/slide10.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F574DCD2-2516-4536-A2E1-1DD8E372EBB5}"/>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570DDBB1-F848-4FAD-876D-D86CABACFAC4}"/>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Completion requirements continued</a:t>
            </a:r>
          </a:p>
        </p:txBody>
      </p:sp>
      <p:sp>
        <p:nvSpPr>
          <p:cNvPr id="3" name="">
            <a:extLst xmlns:a="http://schemas.openxmlformats.org/drawingml/2006/main">
              <a:ext uri="{FF2B5EF4-FFF2-40B4-BE49-F238E27FC236}">
                <a16:creationId xmlns:a16="http://schemas.microsoft.com/office/drawing/2014/main" id="{22F67404-999D-4D0E-B72F-CE56EE10363A}"/>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1</a:t>
            </a:r>
          </a:p>
        </p:txBody>
      </p:sp>
      <p:sp>
        <p:nvSpPr>
          <p:cNvPr id="4" name="">
            <a:extLst xmlns:a="http://schemas.openxmlformats.org/drawingml/2006/main">
              <a:ext uri="{FF2B5EF4-FFF2-40B4-BE49-F238E27FC236}">
                <a16:creationId xmlns:a16="http://schemas.microsoft.com/office/drawing/2014/main" id="{B665F39D-4F0F-4F63-8C0E-ADAF43A756BF}"/>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10</a:t>
            </a:r>
          </a:p>
        </p:txBody>
      </p:sp>
      <p:sp>
        <p:nvSpPr>
          <p:cNvPr id="5" name="">
            <a:extLst xmlns:a="http://schemas.openxmlformats.org/drawingml/2006/main">
              <a:ext uri="{FF2B5EF4-FFF2-40B4-BE49-F238E27FC236}">
                <a16:creationId xmlns:a16="http://schemas.microsoft.com/office/drawing/2014/main" id="{49460F13-95AA-4DED-A025-5A6C75B0B087}"/>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100">
                <a:solidFill>
                  <a:srgbClr val="13212D"/>
                </a:solidFill>
                <a:latin typeface="Helvetica Neue"/>
                <a:ea typeface="Helvetica Neue"/>
                <a:cs typeface="Helvetica Neue"/>
              </a:defRPr>
            </a:defPPr>
            <a:lvl1pPr>
              <a:defRPr sz="2100">
                <a:solidFill>
                  <a:srgbClr val="13212D"/>
                </a:solidFill>
                <a:latin typeface="Helvetica Neue"/>
                <a:ea typeface="Helvetica Neue"/>
                <a:cs typeface="Helvetica Neue"/>
              </a:defRPr>
            </a:lvl1pPr>
            <a:lvl2pPr>
              <a:defRPr sz="2100">
                <a:solidFill>
                  <a:srgbClr val="13212D"/>
                </a:solidFill>
                <a:latin typeface="Helvetica Neue"/>
                <a:ea typeface="Helvetica Neue"/>
                <a:cs typeface="Helvetica Neue"/>
              </a:defRPr>
            </a:lvl2pPr>
            <a:lvl3pPr>
              <a:defRPr sz="2100">
                <a:solidFill>
                  <a:srgbClr val="13212D"/>
                </a:solidFill>
                <a:latin typeface="Helvetica Neue"/>
                <a:ea typeface="Helvetica Neue"/>
                <a:cs typeface="Helvetica Neue"/>
              </a:defRPr>
            </a:lvl3pPr>
            <a:lvl4pPr>
              <a:defRPr sz="2100">
                <a:solidFill>
                  <a:srgbClr val="13212D"/>
                </a:solidFill>
                <a:latin typeface="Helvetica Neue"/>
                <a:ea typeface="Helvetica Neue"/>
                <a:cs typeface="Helvetica Neue"/>
              </a:defRPr>
            </a:lvl4pPr>
            <a:lvl5pPr>
              <a:defRPr sz="2100">
                <a:solidFill>
                  <a:srgbClr val="13212D"/>
                </a:solidFill>
                <a:latin typeface="Helvetica Neue"/>
                <a:ea typeface="Helvetica Neue"/>
                <a:cs typeface="Helvetica Neue"/>
              </a:defRPr>
            </a:lvl5pPr>
            <a:lvl6pPr>
              <a:defRPr sz="2100">
                <a:solidFill>
                  <a:srgbClr val="13212D"/>
                </a:solidFill>
                <a:latin typeface="Helvetica Neue"/>
                <a:ea typeface="Helvetica Neue"/>
                <a:cs typeface="Helvetica Neue"/>
              </a:defRPr>
            </a:lvl6pPr>
            <a:lvl7pPr>
              <a:defRPr sz="2100">
                <a:solidFill>
                  <a:srgbClr val="13212D"/>
                </a:solidFill>
                <a:latin typeface="Helvetica Neue"/>
                <a:ea typeface="Helvetica Neue"/>
                <a:cs typeface="Helvetica Neue"/>
              </a:defRPr>
            </a:lvl7pPr>
            <a:lvl8pPr>
              <a:defRPr sz="2100">
                <a:solidFill>
                  <a:srgbClr val="13212D"/>
                </a:solidFill>
                <a:latin typeface="Helvetica Neue"/>
                <a:ea typeface="Helvetica Neue"/>
                <a:cs typeface="Helvetica Neue"/>
              </a:defRPr>
            </a:lvl8pPr>
            <a:lvl9pPr>
              <a:defRPr sz="2100">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Clinical competence must be documented in writing. Employer policies may further limit practice and never expand legal scope.</a:t>
            </a:r>
          </a:p>
        </p:txBody>
      </p:sp>
      <p:sp>
        <p:nvSpPr>
          <p:cNvPr id="6" name="">
            <a:extLst xmlns:a="http://schemas.openxmlformats.org/drawingml/2006/main">
              <a:ext uri="{FF2B5EF4-FFF2-40B4-BE49-F238E27FC236}">
                <a16:creationId xmlns:a16="http://schemas.microsoft.com/office/drawing/2014/main" id="{F9D04BA3-FEC5-4130-B9C1-3C7647DB4D33}"/>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Tree>
    <p:extLst>
      <p:ext uri="{BB962C8B-B14F-4D97-AF65-F5344CB8AC3E}">
        <p14:creationId xmlns:p14="http://schemas.microsoft.com/office/powerpoint/2010/main" val="648089692"/>
      </p:ext>
    </p:extLst>
  </p:cSld>
</p:sld>
</file>

<file path=ppt/slides/slide11.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32404ED4-3BB6-412B-A836-C0D0E919B7E0}"/>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8F6C55E3-86A5-4345-8167-07F4BD7F563A}"/>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Safety notice</a:t>
            </a:r>
          </a:p>
        </p:txBody>
      </p:sp>
      <p:sp>
        <p:nvSpPr>
          <p:cNvPr id="3" name="">
            <a:extLst xmlns:a="http://schemas.openxmlformats.org/drawingml/2006/main">
              <a:ext uri="{FF2B5EF4-FFF2-40B4-BE49-F238E27FC236}">
                <a16:creationId xmlns:a16="http://schemas.microsoft.com/office/drawing/2014/main" id="{C032A2AB-5BC3-4DB0-849B-42C54A855890}"/>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1</a:t>
            </a:r>
          </a:p>
        </p:txBody>
      </p:sp>
      <p:sp>
        <p:nvSpPr>
          <p:cNvPr id="4" name="">
            <a:extLst xmlns:a="http://schemas.openxmlformats.org/drawingml/2006/main">
              <a:ext uri="{FF2B5EF4-FFF2-40B4-BE49-F238E27FC236}">
                <a16:creationId xmlns:a16="http://schemas.microsoft.com/office/drawing/2014/main" id="{23BE56CD-A682-4F95-ADB4-C6B6604E1833}"/>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11</a:t>
            </a:r>
          </a:p>
        </p:txBody>
      </p:sp>
      <p:sp>
        <p:nvSpPr>
          <p:cNvPr id="5" name="">
            <a:extLst xmlns:a="http://schemas.openxmlformats.org/drawingml/2006/main">
              <a:ext uri="{FF2B5EF4-FFF2-40B4-BE49-F238E27FC236}">
                <a16:creationId xmlns:a16="http://schemas.microsoft.com/office/drawing/2014/main" id="{248AB2A0-968A-47C5-A123-9AED775FAABC}"/>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100">
                <a:solidFill>
                  <a:srgbClr val="13212D"/>
                </a:solidFill>
                <a:latin typeface="Helvetica Neue"/>
                <a:ea typeface="Helvetica Neue"/>
                <a:cs typeface="Helvetica Neue"/>
              </a:defRPr>
            </a:defPPr>
            <a:lvl1pPr>
              <a:defRPr sz="2100">
                <a:solidFill>
                  <a:srgbClr val="13212D"/>
                </a:solidFill>
                <a:latin typeface="Helvetica Neue"/>
                <a:ea typeface="Helvetica Neue"/>
                <a:cs typeface="Helvetica Neue"/>
              </a:defRPr>
            </a:lvl1pPr>
            <a:lvl2pPr>
              <a:defRPr sz="2100">
                <a:solidFill>
                  <a:srgbClr val="13212D"/>
                </a:solidFill>
                <a:latin typeface="Helvetica Neue"/>
                <a:ea typeface="Helvetica Neue"/>
                <a:cs typeface="Helvetica Neue"/>
              </a:defRPr>
            </a:lvl2pPr>
            <a:lvl3pPr>
              <a:defRPr sz="2100">
                <a:solidFill>
                  <a:srgbClr val="13212D"/>
                </a:solidFill>
                <a:latin typeface="Helvetica Neue"/>
                <a:ea typeface="Helvetica Neue"/>
                <a:cs typeface="Helvetica Neue"/>
              </a:defRPr>
            </a:lvl3pPr>
            <a:lvl4pPr>
              <a:defRPr sz="2100">
                <a:solidFill>
                  <a:srgbClr val="13212D"/>
                </a:solidFill>
                <a:latin typeface="Helvetica Neue"/>
                <a:ea typeface="Helvetica Neue"/>
                <a:cs typeface="Helvetica Neue"/>
              </a:defRPr>
            </a:lvl4pPr>
            <a:lvl5pPr>
              <a:defRPr sz="2100">
                <a:solidFill>
                  <a:srgbClr val="13212D"/>
                </a:solidFill>
                <a:latin typeface="Helvetica Neue"/>
                <a:ea typeface="Helvetica Neue"/>
                <a:cs typeface="Helvetica Neue"/>
              </a:defRPr>
            </a:lvl5pPr>
            <a:lvl6pPr>
              <a:defRPr sz="2100">
                <a:solidFill>
                  <a:srgbClr val="13212D"/>
                </a:solidFill>
                <a:latin typeface="Helvetica Neue"/>
                <a:ea typeface="Helvetica Neue"/>
                <a:cs typeface="Helvetica Neue"/>
              </a:defRPr>
            </a:lvl6pPr>
            <a:lvl7pPr>
              <a:defRPr sz="2100">
                <a:solidFill>
                  <a:srgbClr val="13212D"/>
                </a:solidFill>
                <a:latin typeface="Helvetica Neue"/>
                <a:ea typeface="Helvetica Neue"/>
                <a:cs typeface="Helvetica Neue"/>
              </a:defRPr>
            </a:lvl7pPr>
            <a:lvl8pPr>
              <a:defRPr sz="2100">
                <a:solidFill>
                  <a:srgbClr val="13212D"/>
                </a:solidFill>
                <a:latin typeface="Helvetica Neue"/>
                <a:ea typeface="Helvetica Neue"/>
                <a:cs typeface="Helvetica Neue"/>
              </a:defRPr>
            </a:lvl8pPr>
            <a:lvl9pPr>
              <a:defRPr sz="2100">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This course supports supervised education.</a:t>
            </a:r>
          </a:p>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Students must follow current Florida law, Board of Nursing rules, prescriber orders, manufacturer instructions, evidence-based standards, and facility policies.</a:t>
            </a:r>
          </a:p>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Drug references and older source manuals must be checked against current authoritative information before clinical use.</a:t>
            </a:r>
          </a:p>
        </p:txBody>
      </p:sp>
      <p:sp>
        <p:nvSpPr>
          <p:cNvPr id="6" name="">
            <a:extLst xmlns:a="http://schemas.openxmlformats.org/drawingml/2006/main">
              <a:ext uri="{FF2B5EF4-FFF2-40B4-BE49-F238E27FC236}">
                <a16:creationId xmlns:a16="http://schemas.microsoft.com/office/drawing/2014/main" id="{EB7929BA-4394-4B22-8AB0-F644C45A6CB3}"/>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Tree>
    <p:extLst>
      <p:ext uri="{BB962C8B-B14F-4D97-AF65-F5344CB8AC3E}">
        <p14:creationId xmlns:p14="http://schemas.microsoft.com/office/powerpoint/2010/main" val="1386814969"/>
      </p:ext>
    </p:extLst>
  </p:cSld>
</p:sld>
</file>

<file path=ppt/slides/slide12.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F6FF1A58-C431-448C-9FF0-2C0F011C0DF6}"/>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1264D693-44B7-45F3-B4D2-A3485C8D4DC0}"/>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Welcome, Hybrid Schedule, and Completion Rules 3</a:t>
            </a:r>
          </a:p>
        </p:txBody>
      </p:sp>
      <p:sp>
        <p:nvSpPr>
          <p:cNvPr id="3" name="">
            <a:extLst xmlns:a="http://schemas.openxmlformats.org/drawingml/2006/main">
              <a:ext uri="{FF2B5EF4-FFF2-40B4-BE49-F238E27FC236}">
                <a16:creationId xmlns:a16="http://schemas.microsoft.com/office/drawing/2014/main" id="{6A8B358A-4726-4083-B6B6-EE5295F6B54F}"/>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1</a:t>
            </a:r>
          </a:p>
        </p:txBody>
      </p:sp>
      <p:sp>
        <p:nvSpPr>
          <p:cNvPr id="4" name="">
            <a:extLst xmlns:a="http://schemas.openxmlformats.org/drawingml/2006/main">
              <a:ext uri="{FF2B5EF4-FFF2-40B4-BE49-F238E27FC236}">
                <a16:creationId xmlns:a16="http://schemas.microsoft.com/office/drawing/2014/main" id="{EB2550DA-E3AB-4900-9BDE-776399D862F5}"/>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12</a:t>
            </a:r>
          </a:p>
        </p:txBody>
      </p:sp>
      <p:sp>
        <p:nvSpPr>
          <p:cNvPr id="5" name="">
            <a:extLst xmlns:a="http://schemas.openxmlformats.org/drawingml/2006/main">
              <a:ext uri="{FF2B5EF4-FFF2-40B4-BE49-F238E27FC236}">
                <a16:creationId xmlns:a16="http://schemas.microsoft.com/office/drawing/2014/main" id="{9FAF2C64-A52D-4D9A-BDE9-57E7DE84C153}"/>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100">
                <a:solidFill>
                  <a:srgbClr val="13212D"/>
                </a:solidFill>
                <a:latin typeface="Helvetica Neue"/>
                <a:ea typeface="Helvetica Neue"/>
                <a:cs typeface="Helvetica Neue"/>
              </a:defRPr>
            </a:defPPr>
            <a:lvl1pPr>
              <a:defRPr sz="2100">
                <a:solidFill>
                  <a:srgbClr val="13212D"/>
                </a:solidFill>
                <a:latin typeface="Helvetica Neue"/>
                <a:ea typeface="Helvetica Neue"/>
                <a:cs typeface="Helvetica Neue"/>
              </a:defRPr>
            </a:lvl1pPr>
            <a:lvl2pPr>
              <a:defRPr sz="2100">
                <a:solidFill>
                  <a:srgbClr val="13212D"/>
                </a:solidFill>
                <a:latin typeface="Helvetica Neue"/>
                <a:ea typeface="Helvetica Neue"/>
                <a:cs typeface="Helvetica Neue"/>
              </a:defRPr>
            </a:lvl2pPr>
            <a:lvl3pPr>
              <a:defRPr sz="2100">
                <a:solidFill>
                  <a:srgbClr val="13212D"/>
                </a:solidFill>
                <a:latin typeface="Helvetica Neue"/>
                <a:ea typeface="Helvetica Neue"/>
                <a:cs typeface="Helvetica Neue"/>
              </a:defRPr>
            </a:lvl3pPr>
            <a:lvl4pPr>
              <a:defRPr sz="2100">
                <a:solidFill>
                  <a:srgbClr val="13212D"/>
                </a:solidFill>
                <a:latin typeface="Helvetica Neue"/>
                <a:ea typeface="Helvetica Neue"/>
                <a:cs typeface="Helvetica Neue"/>
              </a:defRPr>
            </a:lvl4pPr>
            <a:lvl5pPr>
              <a:defRPr sz="2100">
                <a:solidFill>
                  <a:srgbClr val="13212D"/>
                </a:solidFill>
                <a:latin typeface="Helvetica Neue"/>
                <a:ea typeface="Helvetica Neue"/>
                <a:cs typeface="Helvetica Neue"/>
              </a:defRPr>
            </a:lvl5pPr>
            <a:lvl6pPr>
              <a:defRPr sz="2100">
                <a:solidFill>
                  <a:srgbClr val="13212D"/>
                </a:solidFill>
                <a:latin typeface="Helvetica Neue"/>
                <a:ea typeface="Helvetica Neue"/>
                <a:cs typeface="Helvetica Neue"/>
              </a:defRPr>
            </a:lvl6pPr>
            <a:lvl7pPr>
              <a:defRPr sz="2100">
                <a:solidFill>
                  <a:srgbClr val="13212D"/>
                </a:solidFill>
                <a:latin typeface="Helvetica Neue"/>
                <a:ea typeface="Helvetica Neue"/>
                <a:cs typeface="Helvetica Neue"/>
              </a:defRPr>
            </a:lvl7pPr>
            <a:lvl8pPr>
              <a:defRPr sz="2100">
                <a:solidFill>
                  <a:srgbClr val="13212D"/>
                </a:solidFill>
                <a:latin typeface="Helvetica Neue"/>
                <a:ea typeface="Helvetica Neue"/>
                <a:cs typeface="Helvetica Neue"/>
              </a:defRPr>
            </a:lvl8pPr>
            <a:lvl9pPr>
              <a:defRPr sz="2100">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Bring to lab: government-issued identification, required uniform/PPE, calculator, and any supplies directed by BMHI.</a:t>
            </a:r>
          </a:p>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Never practice invasive skills on a person outside an authorized lab or clinical setting.</a:t>
            </a:r>
          </a:p>
        </p:txBody>
      </p:sp>
      <p:sp>
        <p:nvSpPr>
          <p:cNvPr id="6" name="">
            <a:extLst xmlns:a="http://schemas.openxmlformats.org/drawingml/2006/main">
              <a:ext uri="{FF2B5EF4-FFF2-40B4-BE49-F238E27FC236}">
                <a16:creationId xmlns:a16="http://schemas.microsoft.com/office/drawing/2014/main" id="{61A4346D-3AAF-48AD-B050-9729B59C52D3}"/>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Tree>
    <p:extLst>
      <p:ext uri="{BB962C8B-B14F-4D97-AF65-F5344CB8AC3E}">
        <p14:creationId xmlns:p14="http://schemas.microsoft.com/office/powerpoint/2010/main" val="1424085569"/>
      </p:ext>
    </p:extLst>
  </p:cSld>
</p:sld>
</file>

<file path=ppt/slides/slide13.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44620722-AD0E-4555-8217-EAD26654CCFA}"/>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810E3186-86CA-43B3-A515-3507FCF0939F}"/>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Learning outcomes</a:t>
            </a:r>
          </a:p>
        </p:txBody>
      </p:sp>
      <p:sp>
        <p:nvSpPr>
          <p:cNvPr id="3" name="">
            <a:extLst xmlns:a="http://schemas.openxmlformats.org/drawingml/2006/main">
              <a:ext uri="{FF2B5EF4-FFF2-40B4-BE49-F238E27FC236}">
                <a16:creationId xmlns:a16="http://schemas.microsoft.com/office/drawing/2014/main" id="{7A0274A8-7D99-46F7-9B8B-AA0EED310CA3}"/>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1</a:t>
            </a:r>
          </a:p>
        </p:txBody>
      </p:sp>
      <p:sp>
        <p:nvSpPr>
          <p:cNvPr id="4" name="">
            <a:extLst xmlns:a="http://schemas.openxmlformats.org/drawingml/2006/main">
              <a:ext uri="{FF2B5EF4-FFF2-40B4-BE49-F238E27FC236}">
                <a16:creationId xmlns:a16="http://schemas.microsoft.com/office/drawing/2014/main" id="{2264B024-CFAA-40AF-A4FE-B290BC93A814}"/>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13</a:t>
            </a:r>
          </a:p>
        </p:txBody>
      </p:sp>
      <p:sp>
        <p:nvSpPr>
          <p:cNvPr id="5" name="">
            <a:extLst xmlns:a="http://schemas.openxmlformats.org/drawingml/2006/main">
              <a:ext uri="{FF2B5EF4-FFF2-40B4-BE49-F238E27FC236}">
                <a16:creationId xmlns:a16="http://schemas.microsoft.com/office/drawing/2014/main" id="{A9A91CBC-DC34-4433-80A3-83CE8DB8E7AC}"/>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100">
                <a:solidFill>
                  <a:srgbClr val="13212D"/>
                </a:solidFill>
                <a:latin typeface="Helvetica Neue"/>
                <a:ea typeface="Helvetica Neue"/>
                <a:cs typeface="Helvetica Neue"/>
              </a:defRPr>
            </a:defPPr>
            <a:lvl1pPr>
              <a:defRPr sz="2100">
                <a:solidFill>
                  <a:srgbClr val="13212D"/>
                </a:solidFill>
                <a:latin typeface="Helvetica Neue"/>
                <a:ea typeface="Helvetica Neue"/>
                <a:cs typeface="Helvetica Neue"/>
              </a:defRPr>
            </a:lvl1pPr>
            <a:lvl2pPr>
              <a:defRPr sz="2100">
                <a:solidFill>
                  <a:srgbClr val="13212D"/>
                </a:solidFill>
                <a:latin typeface="Helvetica Neue"/>
                <a:ea typeface="Helvetica Neue"/>
                <a:cs typeface="Helvetica Neue"/>
              </a:defRPr>
            </a:lvl2pPr>
            <a:lvl3pPr>
              <a:defRPr sz="2100">
                <a:solidFill>
                  <a:srgbClr val="13212D"/>
                </a:solidFill>
                <a:latin typeface="Helvetica Neue"/>
                <a:ea typeface="Helvetica Neue"/>
                <a:cs typeface="Helvetica Neue"/>
              </a:defRPr>
            </a:lvl3pPr>
            <a:lvl4pPr>
              <a:defRPr sz="2100">
                <a:solidFill>
                  <a:srgbClr val="13212D"/>
                </a:solidFill>
                <a:latin typeface="Helvetica Neue"/>
                <a:ea typeface="Helvetica Neue"/>
                <a:cs typeface="Helvetica Neue"/>
              </a:defRPr>
            </a:lvl4pPr>
            <a:lvl5pPr>
              <a:defRPr sz="2100">
                <a:solidFill>
                  <a:srgbClr val="13212D"/>
                </a:solidFill>
                <a:latin typeface="Helvetica Neue"/>
                <a:ea typeface="Helvetica Neue"/>
                <a:cs typeface="Helvetica Neue"/>
              </a:defRPr>
            </a:lvl5pPr>
            <a:lvl6pPr>
              <a:defRPr sz="2100">
                <a:solidFill>
                  <a:srgbClr val="13212D"/>
                </a:solidFill>
                <a:latin typeface="Helvetica Neue"/>
                <a:ea typeface="Helvetica Neue"/>
                <a:cs typeface="Helvetica Neue"/>
              </a:defRPr>
            </a:lvl6pPr>
            <a:lvl7pPr>
              <a:defRPr sz="2100">
                <a:solidFill>
                  <a:srgbClr val="13212D"/>
                </a:solidFill>
                <a:latin typeface="Helvetica Neue"/>
                <a:ea typeface="Helvetica Neue"/>
                <a:cs typeface="Helvetica Neue"/>
              </a:defRPr>
            </a:lvl7pPr>
            <a:lvl8pPr>
              <a:defRPr sz="2100">
                <a:solidFill>
                  <a:srgbClr val="13212D"/>
                </a:solidFill>
                <a:latin typeface="Helvetica Neue"/>
                <a:ea typeface="Helvetica Neue"/>
                <a:cs typeface="Helvetica Neue"/>
              </a:defRPr>
            </a:lvl8pPr>
            <a:lvl9pPr>
              <a:defRPr sz="2100">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Distinguish statutory/regulatory scope from employer authorization.</a:t>
            </a:r>
          </a:p>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Explain why training and RN-verified competence are both required.</a:t>
            </a:r>
          </a:p>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Identify when to stop, clarify, report, or escalate.</a:t>
            </a:r>
          </a:p>
        </p:txBody>
      </p:sp>
      <p:sp>
        <p:nvSpPr>
          <p:cNvPr id="6" name="">
            <a:extLst xmlns:a="http://schemas.openxmlformats.org/drawingml/2006/main">
              <a:ext uri="{FF2B5EF4-FFF2-40B4-BE49-F238E27FC236}">
                <a16:creationId xmlns:a16="http://schemas.microsoft.com/office/drawing/2014/main" id="{7E1E914F-8AE6-4B9F-8279-8E79F44EB028}"/>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Tree>
    <p:extLst>
      <p:ext uri="{BB962C8B-B14F-4D97-AF65-F5344CB8AC3E}">
        <p14:creationId xmlns:p14="http://schemas.microsoft.com/office/powerpoint/2010/main" val="119522562"/>
      </p:ext>
    </p:extLst>
  </p:cSld>
</p:sld>
</file>

<file path=ppt/slides/slide14.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7F06A518-98DD-4E8A-BADD-5421AC022FD4}"/>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375ECCA8-F954-424F-A3AB-5BCF00D0A82E}"/>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Practice framework</a:t>
            </a:r>
          </a:p>
        </p:txBody>
      </p:sp>
      <p:sp>
        <p:nvSpPr>
          <p:cNvPr id="3" name="">
            <a:extLst xmlns:a="http://schemas.openxmlformats.org/drawingml/2006/main">
              <a:ext uri="{FF2B5EF4-FFF2-40B4-BE49-F238E27FC236}">
                <a16:creationId xmlns:a16="http://schemas.microsoft.com/office/drawing/2014/main" id="{254F34FB-2A67-4C61-A156-8038E050D2B5}"/>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1</a:t>
            </a:r>
          </a:p>
        </p:txBody>
      </p:sp>
      <p:sp>
        <p:nvSpPr>
          <p:cNvPr id="4" name="">
            <a:extLst xmlns:a="http://schemas.openxmlformats.org/drawingml/2006/main">
              <a:ext uri="{FF2B5EF4-FFF2-40B4-BE49-F238E27FC236}">
                <a16:creationId xmlns:a16="http://schemas.microsoft.com/office/drawing/2014/main" id="{7DA7C096-DCF0-45A5-8CBB-1507980F3A1E}"/>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14</a:t>
            </a:r>
          </a:p>
        </p:txBody>
      </p:sp>
      <p:sp>
        <p:nvSpPr>
          <p:cNvPr id="5" name="">
            <a:extLst xmlns:a="http://schemas.openxmlformats.org/drawingml/2006/main">
              <a:ext uri="{FF2B5EF4-FFF2-40B4-BE49-F238E27FC236}">
                <a16:creationId xmlns:a16="http://schemas.microsoft.com/office/drawing/2014/main" id="{67E92DBD-C0C0-4066-BC49-461011F9DAAD}"/>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100">
                <a:solidFill>
                  <a:srgbClr val="13212D"/>
                </a:solidFill>
                <a:latin typeface="Helvetica Neue"/>
                <a:ea typeface="Helvetica Neue"/>
                <a:cs typeface="Helvetica Neue"/>
              </a:defRPr>
            </a:defPPr>
            <a:lvl1pPr>
              <a:defRPr sz="2100">
                <a:solidFill>
                  <a:srgbClr val="13212D"/>
                </a:solidFill>
                <a:latin typeface="Helvetica Neue"/>
                <a:ea typeface="Helvetica Neue"/>
                <a:cs typeface="Helvetica Neue"/>
              </a:defRPr>
            </a:lvl1pPr>
            <a:lvl2pPr>
              <a:defRPr sz="2100">
                <a:solidFill>
                  <a:srgbClr val="13212D"/>
                </a:solidFill>
                <a:latin typeface="Helvetica Neue"/>
                <a:ea typeface="Helvetica Neue"/>
                <a:cs typeface="Helvetica Neue"/>
              </a:defRPr>
            </a:lvl2pPr>
            <a:lvl3pPr>
              <a:defRPr sz="2100">
                <a:solidFill>
                  <a:srgbClr val="13212D"/>
                </a:solidFill>
                <a:latin typeface="Helvetica Neue"/>
                <a:ea typeface="Helvetica Neue"/>
                <a:cs typeface="Helvetica Neue"/>
              </a:defRPr>
            </a:lvl3pPr>
            <a:lvl4pPr>
              <a:defRPr sz="2100">
                <a:solidFill>
                  <a:srgbClr val="13212D"/>
                </a:solidFill>
                <a:latin typeface="Helvetica Neue"/>
                <a:ea typeface="Helvetica Neue"/>
                <a:cs typeface="Helvetica Neue"/>
              </a:defRPr>
            </a:lvl4pPr>
            <a:lvl5pPr>
              <a:defRPr sz="2100">
                <a:solidFill>
                  <a:srgbClr val="13212D"/>
                </a:solidFill>
                <a:latin typeface="Helvetica Neue"/>
                <a:ea typeface="Helvetica Neue"/>
                <a:cs typeface="Helvetica Neue"/>
              </a:defRPr>
            </a:lvl5pPr>
            <a:lvl6pPr>
              <a:defRPr sz="2100">
                <a:solidFill>
                  <a:srgbClr val="13212D"/>
                </a:solidFill>
                <a:latin typeface="Helvetica Neue"/>
                <a:ea typeface="Helvetica Neue"/>
                <a:cs typeface="Helvetica Neue"/>
              </a:defRPr>
            </a:lvl6pPr>
            <a:lvl7pPr>
              <a:defRPr sz="2100">
                <a:solidFill>
                  <a:srgbClr val="13212D"/>
                </a:solidFill>
                <a:latin typeface="Helvetica Neue"/>
                <a:ea typeface="Helvetica Neue"/>
                <a:cs typeface="Helvetica Neue"/>
              </a:defRPr>
            </a:lvl7pPr>
            <a:lvl8pPr>
              <a:defRPr sz="2100">
                <a:solidFill>
                  <a:srgbClr val="13212D"/>
                </a:solidFill>
                <a:latin typeface="Helvetica Neue"/>
                <a:ea typeface="Helvetica Neue"/>
                <a:cs typeface="Helvetica Neue"/>
              </a:defRPr>
            </a:lvl8pPr>
            <a:lvl9pPr>
              <a:defRPr sz="2100">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The nurse verifies that the task is permitted by current Florida requirements, is included in employer policy, is supported by a complete order, and is within personal validated competence.</a:t>
            </a:r>
          </a:p>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An employer may be more restrictive.</a:t>
            </a:r>
          </a:p>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A certificate alone does not authorize a task that law or policy prohibits.</a:t>
            </a:r>
          </a:p>
        </p:txBody>
      </p:sp>
      <p:sp>
        <p:nvSpPr>
          <p:cNvPr id="6" name="">
            <a:extLst xmlns:a="http://schemas.openxmlformats.org/drawingml/2006/main">
              <a:ext uri="{FF2B5EF4-FFF2-40B4-BE49-F238E27FC236}">
                <a16:creationId xmlns:a16="http://schemas.microsoft.com/office/drawing/2014/main" id="{1E935643-6B58-45C2-98A8-96D1DD78BD2B}"/>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Tree>
    <p:extLst>
      <p:ext uri="{BB962C8B-B14F-4D97-AF65-F5344CB8AC3E}">
        <p14:creationId xmlns:p14="http://schemas.microsoft.com/office/powerpoint/2010/main" val="1447568650"/>
      </p:ext>
    </p:extLst>
  </p:cSld>
</p:sld>
</file>

<file path=ppt/slides/slide15.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24F8B5BB-B267-45F9-991F-269E34A2780C}"/>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17925129-1913-4224-8337-15EFB05F8A32}"/>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Before therapy</a:t>
            </a:r>
          </a:p>
        </p:txBody>
      </p:sp>
      <p:sp>
        <p:nvSpPr>
          <p:cNvPr id="3" name="">
            <a:extLst xmlns:a="http://schemas.openxmlformats.org/drawingml/2006/main">
              <a:ext uri="{FF2B5EF4-FFF2-40B4-BE49-F238E27FC236}">
                <a16:creationId xmlns:a16="http://schemas.microsoft.com/office/drawing/2014/main" id="{CE0DDFF3-6738-43A5-B8A3-D28AD7D05D4B}"/>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1</a:t>
            </a:r>
          </a:p>
        </p:txBody>
      </p:sp>
      <p:sp>
        <p:nvSpPr>
          <p:cNvPr id="4" name="">
            <a:extLst xmlns:a="http://schemas.openxmlformats.org/drawingml/2006/main">
              <a:ext uri="{FF2B5EF4-FFF2-40B4-BE49-F238E27FC236}">
                <a16:creationId xmlns:a16="http://schemas.microsoft.com/office/drawing/2014/main" id="{B40C12C4-80D3-4E65-A35C-BA1C330CF169}"/>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15</a:t>
            </a:r>
          </a:p>
        </p:txBody>
      </p:sp>
      <p:sp>
        <p:nvSpPr>
          <p:cNvPr id="5" name="">
            <a:extLst xmlns:a="http://schemas.openxmlformats.org/drawingml/2006/main">
              <a:ext uri="{FF2B5EF4-FFF2-40B4-BE49-F238E27FC236}">
                <a16:creationId xmlns:a16="http://schemas.microsoft.com/office/drawing/2014/main" id="{851064BA-E0D0-4770-BB4F-62A5043116E8}"/>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100">
                <a:solidFill>
                  <a:srgbClr val="13212D"/>
                </a:solidFill>
                <a:latin typeface="Helvetica Neue"/>
                <a:ea typeface="Helvetica Neue"/>
                <a:cs typeface="Helvetica Neue"/>
              </a:defRPr>
            </a:defPPr>
            <a:lvl1pPr>
              <a:defRPr sz="2100">
                <a:solidFill>
                  <a:srgbClr val="13212D"/>
                </a:solidFill>
                <a:latin typeface="Helvetica Neue"/>
                <a:ea typeface="Helvetica Neue"/>
                <a:cs typeface="Helvetica Neue"/>
              </a:defRPr>
            </a:lvl1pPr>
            <a:lvl2pPr>
              <a:defRPr sz="2100">
                <a:solidFill>
                  <a:srgbClr val="13212D"/>
                </a:solidFill>
                <a:latin typeface="Helvetica Neue"/>
                <a:ea typeface="Helvetica Neue"/>
                <a:cs typeface="Helvetica Neue"/>
              </a:defRPr>
            </a:lvl2pPr>
            <a:lvl3pPr>
              <a:defRPr sz="2100">
                <a:solidFill>
                  <a:srgbClr val="13212D"/>
                </a:solidFill>
                <a:latin typeface="Helvetica Neue"/>
                <a:ea typeface="Helvetica Neue"/>
                <a:cs typeface="Helvetica Neue"/>
              </a:defRPr>
            </a:lvl3pPr>
            <a:lvl4pPr>
              <a:defRPr sz="2100">
                <a:solidFill>
                  <a:srgbClr val="13212D"/>
                </a:solidFill>
                <a:latin typeface="Helvetica Neue"/>
                <a:ea typeface="Helvetica Neue"/>
                <a:cs typeface="Helvetica Neue"/>
              </a:defRPr>
            </a:lvl4pPr>
            <a:lvl5pPr>
              <a:defRPr sz="2100">
                <a:solidFill>
                  <a:srgbClr val="13212D"/>
                </a:solidFill>
                <a:latin typeface="Helvetica Neue"/>
                <a:ea typeface="Helvetica Neue"/>
                <a:cs typeface="Helvetica Neue"/>
              </a:defRPr>
            </a:lvl5pPr>
            <a:lvl6pPr>
              <a:defRPr sz="2100">
                <a:solidFill>
                  <a:srgbClr val="13212D"/>
                </a:solidFill>
                <a:latin typeface="Helvetica Neue"/>
                <a:ea typeface="Helvetica Neue"/>
                <a:cs typeface="Helvetica Neue"/>
              </a:defRPr>
            </a:lvl6pPr>
            <a:lvl7pPr>
              <a:defRPr sz="2100">
                <a:solidFill>
                  <a:srgbClr val="13212D"/>
                </a:solidFill>
                <a:latin typeface="Helvetica Neue"/>
                <a:ea typeface="Helvetica Neue"/>
                <a:cs typeface="Helvetica Neue"/>
              </a:defRPr>
            </a:lvl7pPr>
            <a:lvl8pPr>
              <a:defRPr sz="2100">
                <a:solidFill>
                  <a:srgbClr val="13212D"/>
                </a:solidFill>
                <a:latin typeface="Helvetica Neue"/>
                <a:ea typeface="Helvetica Neue"/>
                <a:cs typeface="Helvetica Neue"/>
              </a:defRPr>
            </a:lvl8pPr>
            <a:lvl9pPr>
              <a:defRPr sz="2100">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Confirm patient identity with approved identifiers; review the order, indication, allergies, diagnosis, relevant laboratory results, vascular access, medication/solution, dose, route, rate, duration, compatibility, monitoring parameters, and emergency resources.</a:t>
            </a:r>
          </a:p>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Clarify incomplete, conflicting, illegible, or unsafe orders before proceeding.</a:t>
            </a:r>
          </a:p>
        </p:txBody>
      </p:sp>
      <p:sp>
        <p:nvSpPr>
          <p:cNvPr id="6" name="">
            <a:extLst xmlns:a="http://schemas.openxmlformats.org/drawingml/2006/main">
              <a:ext uri="{FF2B5EF4-FFF2-40B4-BE49-F238E27FC236}">
                <a16:creationId xmlns:a16="http://schemas.microsoft.com/office/drawing/2014/main" id="{9888C0B1-57B0-4579-AEA7-98E0E54F6813}"/>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Tree>
    <p:extLst>
      <p:ext uri="{BB962C8B-B14F-4D97-AF65-F5344CB8AC3E}">
        <p14:creationId xmlns:p14="http://schemas.microsoft.com/office/powerpoint/2010/main" val="869675972"/>
      </p:ext>
    </p:extLst>
  </p:cSld>
</p:sld>
</file>

<file path=ppt/slides/slide16.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F6449836-92BA-4E7B-868E-17167A52B61A}"/>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813C0A49-DBC1-42C4-84A0-E731DFC8D09D}"/>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Accountability</a:t>
            </a:r>
          </a:p>
        </p:txBody>
      </p:sp>
      <p:sp>
        <p:nvSpPr>
          <p:cNvPr id="3" name="">
            <a:extLst xmlns:a="http://schemas.openxmlformats.org/drawingml/2006/main">
              <a:ext uri="{FF2B5EF4-FFF2-40B4-BE49-F238E27FC236}">
                <a16:creationId xmlns:a16="http://schemas.microsoft.com/office/drawing/2014/main" id="{292AB389-263F-424D-ACA1-3CF5068A0F06}"/>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1</a:t>
            </a:r>
          </a:p>
        </p:txBody>
      </p:sp>
      <p:sp>
        <p:nvSpPr>
          <p:cNvPr id="4" name="">
            <a:extLst xmlns:a="http://schemas.openxmlformats.org/drawingml/2006/main">
              <a:ext uri="{FF2B5EF4-FFF2-40B4-BE49-F238E27FC236}">
                <a16:creationId xmlns:a16="http://schemas.microsoft.com/office/drawing/2014/main" id="{0A1D872A-FA8E-4776-96FD-2ED21C22E5A5}"/>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16</a:t>
            </a:r>
          </a:p>
        </p:txBody>
      </p:sp>
      <p:sp>
        <p:nvSpPr>
          <p:cNvPr id="5" name="">
            <a:extLst xmlns:a="http://schemas.openxmlformats.org/drawingml/2006/main">
              <a:ext uri="{FF2B5EF4-FFF2-40B4-BE49-F238E27FC236}">
                <a16:creationId xmlns:a16="http://schemas.microsoft.com/office/drawing/2014/main" id="{D04E3814-D844-4C01-A78F-472B9D6A9CDB}"/>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100">
                <a:solidFill>
                  <a:srgbClr val="13212D"/>
                </a:solidFill>
                <a:latin typeface="Helvetica Neue"/>
                <a:ea typeface="Helvetica Neue"/>
                <a:cs typeface="Helvetica Neue"/>
              </a:defRPr>
            </a:defPPr>
            <a:lvl1pPr>
              <a:defRPr sz="2100">
                <a:solidFill>
                  <a:srgbClr val="13212D"/>
                </a:solidFill>
                <a:latin typeface="Helvetica Neue"/>
                <a:ea typeface="Helvetica Neue"/>
                <a:cs typeface="Helvetica Neue"/>
              </a:defRPr>
            </a:lvl1pPr>
            <a:lvl2pPr>
              <a:defRPr sz="2100">
                <a:solidFill>
                  <a:srgbClr val="13212D"/>
                </a:solidFill>
                <a:latin typeface="Helvetica Neue"/>
                <a:ea typeface="Helvetica Neue"/>
                <a:cs typeface="Helvetica Neue"/>
              </a:defRPr>
            </a:lvl2pPr>
            <a:lvl3pPr>
              <a:defRPr sz="2100">
                <a:solidFill>
                  <a:srgbClr val="13212D"/>
                </a:solidFill>
                <a:latin typeface="Helvetica Neue"/>
                <a:ea typeface="Helvetica Neue"/>
                <a:cs typeface="Helvetica Neue"/>
              </a:defRPr>
            </a:lvl3pPr>
            <a:lvl4pPr>
              <a:defRPr sz="2100">
                <a:solidFill>
                  <a:srgbClr val="13212D"/>
                </a:solidFill>
                <a:latin typeface="Helvetica Neue"/>
                <a:ea typeface="Helvetica Neue"/>
                <a:cs typeface="Helvetica Neue"/>
              </a:defRPr>
            </a:lvl4pPr>
            <a:lvl5pPr>
              <a:defRPr sz="2100">
                <a:solidFill>
                  <a:srgbClr val="13212D"/>
                </a:solidFill>
                <a:latin typeface="Helvetica Neue"/>
                <a:ea typeface="Helvetica Neue"/>
                <a:cs typeface="Helvetica Neue"/>
              </a:defRPr>
            </a:lvl5pPr>
            <a:lvl6pPr>
              <a:defRPr sz="2100">
                <a:solidFill>
                  <a:srgbClr val="13212D"/>
                </a:solidFill>
                <a:latin typeface="Helvetica Neue"/>
                <a:ea typeface="Helvetica Neue"/>
                <a:cs typeface="Helvetica Neue"/>
              </a:defRPr>
            </a:lvl6pPr>
            <a:lvl7pPr>
              <a:defRPr sz="2100">
                <a:solidFill>
                  <a:srgbClr val="13212D"/>
                </a:solidFill>
                <a:latin typeface="Helvetica Neue"/>
                <a:ea typeface="Helvetica Neue"/>
                <a:cs typeface="Helvetica Neue"/>
              </a:defRPr>
            </a:lvl7pPr>
            <a:lvl8pPr>
              <a:defRPr sz="2100">
                <a:solidFill>
                  <a:srgbClr val="13212D"/>
                </a:solidFill>
                <a:latin typeface="Helvetica Neue"/>
                <a:ea typeface="Helvetica Neue"/>
                <a:cs typeface="Helvetica Neue"/>
              </a:defRPr>
            </a:lvl8pPr>
            <a:lvl9pPr>
              <a:defRPr sz="2100">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Use current drug information, follow the rights of medication administration, provide patient education, reassess the site and patient, document accurately, and report changes promptly.</a:t>
            </a:r>
          </a:p>
        </p:txBody>
      </p:sp>
      <p:sp>
        <p:nvSpPr>
          <p:cNvPr id="6" name="">
            <a:extLst xmlns:a="http://schemas.openxmlformats.org/drawingml/2006/main">
              <a:ext uri="{FF2B5EF4-FFF2-40B4-BE49-F238E27FC236}">
                <a16:creationId xmlns:a16="http://schemas.microsoft.com/office/drawing/2014/main" id="{BF52F73D-46AB-4A1E-AD45-EE0AD615EC95}"/>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Tree>
    <p:extLst>
      <p:ext uri="{BB962C8B-B14F-4D97-AF65-F5344CB8AC3E}">
        <p14:creationId xmlns:p14="http://schemas.microsoft.com/office/powerpoint/2010/main" val="1566008097"/>
      </p:ext>
    </p:extLst>
  </p:cSld>
</p:sld>
</file>

<file path=ppt/slides/slide17.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C9C083E4-B8FE-4A37-B168-7403F5F946F8}"/>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945B4738-A642-45F2-B2B6-F38D6EF473EF}"/>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Medication effects</a:t>
            </a:r>
          </a:p>
        </p:txBody>
      </p:sp>
      <p:sp>
        <p:nvSpPr>
          <p:cNvPr id="3" name="">
            <a:extLst xmlns:a="http://schemas.openxmlformats.org/drawingml/2006/main">
              <a:ext uri="{FF2B5EF4-FFF2-40B4-BE49-F238E27FC236}">
                <a16:creationId xmlns:a16="http://schemas.microsoft.com/office/drawing/2014/main" id="{242C8396-57DB-4C08-9BC0-A2E1E8FFCBBE}"/>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1</a:t>
            </a:r>
          </a:p>
        </p:txBody>
      </p:sp>
      <p:sp>
        <p:nvSpPr>
          <p:cNvPr id="4" name="">
            <a:extLst xmlns:a="http://schemas.openxmlformats.org/drawingml/2006/main">
              <a:ext uri="{FF2B5EF4-FFF2-40B4-BE49-F238E27FC236}">
                <a16:creationId xmlns:a16="http://schemas.microsoft.com/office/drawing/2014/main" id="{DBB3ED1C-056A-4535-81E0-89AAAC206E11}"/>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17</a:t>
            </a:r>
          </a:p>
        </p:txBody>
      </p:sp>
      <p:sp>
        <p:nvSpPr>
          <p:cNvPr id="5" name="">
            <a:extLst xmlns:a="http://schemas.openxmlformats.org/drawingml/2006/main">
              <a:ext uri="{FF2B5EF4-FFF2-40B4-BE49-F238E27FC236}">
                <a16:creationId xmlns:a16="http://schemas.microsoft.com/office/drawing/2014/main" id="{30901B1B-9D73-4985-A88D-FBD7CFE20778}"/>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875">
                <a:solidFill>
                  <a:srgbClr val="13212D"/>
                </a:solidFill>
                <a:latin typeface="Helvetica Neue"/>
                <a:ea typeface="Helvetica Neue"/>
                <a:cs typeface="Helvetica Neue"/>
              </a:defRPr>
            </a:defPPr>
            <a:lvl1pPr>
              <a:defRPr sz="1875">
                <a:solidFill>
                  <a:srgbClr val="13212D"/>
                </a:solidFill>
                <a:latin typeface="Helvetica Neue"/>
                <a:ea typeface="Helvetica Neue"/>
                <a:cs typeface="Helvetica Neue"/>
              </a:defRPr>
            </a:lvl1pPr>
            <a:lvl2pPr>
              <a:defRPr sz="1875">
                <a:solidFill>
                  <a:srgbClr val="13212D"/>
                </a:solidFill>
                <a:latin typeface="Helvetica Neue"/>
                <a:ea typeface="Helvetica Neue"/>
                <a:cs typeface="Helvetica Neue"/>
              </a:defRPr>
            </a:lvl2pPr>
            <a:lvl3pPr>
              <a:defRPr sz="1875">
                <a:solidFill>
                  <a:srgbClr val="13212D"/>
                </a:solidFill>
                <a:latin typeface="Helvetica Neue"/>
                <a:ea typeface="Helvetica Neue"/>
                <a:cs typeface="Helvetica Neue"/>
              </a:defRPr>
            </a:lvl3pPr>
            <a:lvl4pPr>
              <a:defRPr sz="1875">
                <a:solidFill>
                  <a:srgbClr val="13212D"/>
                </a:solidFill>
                <a:latin typeface="Helvetica Neue"/>
                <a:ea typeface="Helvetica Neue"/>
                <a:cs typeface="Helvetica Neue"/>
              </a:defRPr>
            </a:lvl4pPr>
            <a:lvl5pPr>
              <a:defRPr sz="1875">
                <a:solidFill>
                  <a:srgbClr val="13212D"/>
                </a:solidFill>
                <a:latin typeface="Helvetica Neue"/>
                <a:ea typeface="Helvetica Neue"/>
                <a:cs typeface="Helvetica Neue"/>
              </a:defRPr>
            </a:lvl5pPr>
            <a:lvl6pPr>
              <a:defRPr sz="1875">
                <a:solidFill>
                  <a:srgbClr val="13212D"/>
                </a:solidFill>
                <a:latin typeface="Helvetica Neue"/>
                <a:ea typeface="Helvetica Neue"/>
                <a:cs typeface="Helvetica Neue"/>
              </a:defRPr>
            </a:lvl6pPr>
            <a:lvl7pPr>
              <a:defRPr sz="1875">
                <a:solidFill>
                  <a:srgbClr val="13212D"/>
                </a:solidFill>
                <a:latin typeface="Helvetica Neue"/>
                <a:ea typeface="Helvetica Neue"/>
                <a:cs typeface="Helvetica Neue"/>
              </a:defRPr>
            </a:lvl7pPr>
            <a:lvl8pPr>
              <a:defRPr sz="1875">
                <a:solidFill>
                  <a:srgbClr val="13212D"/>
                </a:solidFill>
                <a:latin typeface="Helvetica Neue"/>
                <a:ea typeface="Helvetica Neue"/>
                <a:cs typeface="Helvetica Neue"/>
              </a:defRPr>
            </a:lvl8pPr>
            <a:lvl9pPr>
              <a:defRPr sz="187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Therapeutic effects are intended.</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Side effects are predictable but unintended.</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Toxic effects arise from harmful exposure.</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Idiosyncratic reactions are unusual and unpredictable.</a:t>
            </a:r>
          </a:p>
        </p:txBody>
      </p:sp>
      <p:sp>
        <p:nvSpPr>
          <p:cNvPr id="6" name="">
            <a:extLst xmlns:a="http://schemas.openxmlformats.org/drawingml/2006/main">
              <a:ext uri="{FF2B5EF4-FFF2-40B4-BE49-F238E27FC236}">
                <a16:creationId xmlns:a16="http://schemas.microsoft.com/office/drawing/2014/main" id="{7BC9B2EA-828C-44BA-8CA4-4F7613EA7CC0}"/>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Tree>
    <p:extLst>
      <p:ext uri="{BB962C8B-B14F-4D97-AF65-F5344CB8AC3E}">
        <p14:creationId xmlns:p14="http://schemas.microsoft.com/office/powerpoint/2010/main" val="1549222686"/>
      </p:ext>
    </p:extLst>
  </p:cSld>
</p:sld>
</file>

<file path=ppt/slides/slide18.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95C28984-C6E9-441D-B8E3-44102027ECD2}"/>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4FFC10CF-357B-4B6D-9F5A-39093CDD4DA4}"/>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Medication effects continued</a:t>
            </a:r>
          </a:p>
        </p:txBody>
      </p:sp>
      <p:sp>
        <p:nvSpPr>
          <p:cNvPr id="3" name="">
            <a:extLst xmlns:a="http://schemas.openxmlformats.org/drawingml/2006/main">
              <a:ext uri="{FF2B5EF4-FFF2-40B4-BE49-F238E27FC236}">
                <a16:creationId xmlns:a16="http://schemas.microsoft.com/office/drawing/2014/main" id="{59B89627-2183-4DB6-B848-0131C0F50D36}"/>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1</a:t>
            </a:r>
          </a:p>
        </p:txBody>
      </p:sp>
      <p:sp>
        <p:nvSpPr>
          <p:cNvPr id="4" name="">
            <a:extLst xmlns:a="http://schemas.openxmlformats.org/drawingml/2006/main">
              <a:ext uri="{FF2B5EF4-FFF2-40B4-BE49-F238E27FC236}">
                <a16:creationId xmlns:a16="http://schemas.microsoft.com/office/drawing/2014/main" id="{0A9C0046-73A1-483C-8EFA-EF0CF53DABAF}"/>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18</a:t>
            </a:r>
          </a:p>
        </p:txBody>
      </p:sp>
      <p:sp>
        <p:nvSpPr>
          <p:cNvPr id="5" name="">
            <a:extLst xmlns:a="http://schemas.openxmlformats.org/drawingml/2006/main">
              <a:ext uri="{FF2B5EF4-FFF2-40B4-BE49-F238E27FC236}">
                <a16:creationId xmlns:a16="http://schemas.microsoft.com/office/drawing/2014/main" id="{6878700D-5B8C-41BC-93AB-50CF50F3BAAC}"/>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100">
                <a:solidFill>
                  <a:srgbClr val="13212D"/>
                </a:solidFill>
                <a:latin typeface="Helvetica Neue"/>
                <a:ea typeface="Helvetica Neue"/>
                <a:cs typeface="Helvetica Neue"/>
              </a:defRPr>
            </a:defPPr>
            <a:lvl1pPr>
              <a:defRPr sz="2100">
                <a:solidFill>
                  <a:srgbClr val="13212D"/>
                </a:solidFill>
                <a:latin typeface="Helvetica Neue"/>
                <a:ea typeface="Helvetica Neue"/>
                <a:cs typeface="Helvetica Neue"/>
              </a:defRPr>
            </a:lvl1pPr>
            <a:lvl2pPr>
              <a:defRPr sz="2100">
                <a:solidFill>
                  <a:srgbClr val="13212D"/>
                </a:solidFill>
                <a:latin typeface="Helvetica Neue"/>
                <a:ea typeface="Helvetica Neue"/>
                <a:cs typeface="Helvetica Neue"/>
              </a:defRPr>
            </a:lvl2pPr>
            <a:lvl3pPr>
              <a:defRPr sz="2100">
                <a:solidFill>
                  <a:srgbClr val="13212D"/>
                </a:solidFill>
                <a:latin typeface="Helvetica Neue"/>
                <a:ea typeface="Helvetica Neue"/>
                <a:cs typeface="Helvetica Neue"/>
              </a:defRPr>
            </a:lvl3pPr>
            <a:lvl4pPr>
              <a:defRPr sz="2100">
                <a:solidFill>
                  <a:srgbClr val="13212D"/>
                </a:solidFill>
                <a:latin typeface="Helvetica Neue"/>
                <a:ea typeface="Helvetica Neue"/>
                <a:cs typeface="Helvetica Neue"/>
              </a:defRPr>
            </a:lvl4pPr>
            <a:lvl5pPr>
              <a:defRPr sz="2100">
                <a:solidFill>
                  <a:srgbClr val="13212D"/>
                </a:solidFill>
                <a:latin typeface="Helvetica Neue"/>
                <a:ea typeface="Helvetica Neue"/>
                <a:cs typeface="Helvetica Neue"/>
              </a:defRPr>
            </a:lvl5pPr>
            <a:lvl6pPr>
              <a:defRPr sz="2100">
                <a:solidFill>
                  <a:srgbClr val="13212D"/>
                </a:solidFill>
                <a:latin typeface="Helvetica Neue"/>
                <a:ea typeface="Helvetica Neue"/>
                <a:cs typeface="Helvetica Neue"/>
              </a:defRPr>
            </a:lvl6pPr>
            <a:lvl7pPr>
              <a:defRPr sz="2100">
                <a:solidFill>
                  <a:srgbClr val="13212D"/>
                </a:solidFill>
                <a:latin typeface="Helvetica Neue"/>
                <a:ea typeface="Helvetica Neue"/>
                <a:cs typeface="Helvetica Neue"/>
              </a:defRPr>
            </a:lvl7pPr>
            <a:lvl8pPr>
              <a:defRPr sz="2100">
                <a:solidFill>
                  <a:srgbClr val="13212D"/>
                </a:solidFill>
                <a:latin typeface="Helvetica Neue"/>
                <a:ea typeface="Helvetica Neue"/>
                <a:cs typeface="Helvetica Neue"/>
              </a:defRPr>
            </a:lvl8pPr>
            <a:lvl9pPr>
              <a:defRPr sz="2100">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Allergic responses range from rash to anaphylaxis.</a:t>
            </a:r>
          </a:p>
        </p:txBody>
      </p:sp>
      <p:sp>
        <p:nvSpPr>
          <p:cNvPr id="6" name="">
            <a:extLst xmlns:a="http://schemas.openxmlformats.org/drawingml/2006/main">
              <a:ext uri="{FF2B5EF4-FFF2-40B4-BE49-F238E27FC236}">
                <a16:creationId xmlns:a16="http://schemas.microsoft.com/office/drawing/2014/main" id="{4182CFE6-2D08-4DEA-8A45-D23E67BBA3D2}"/>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Tree>
    <p:extLst>
      <p:ext uri="{BB962C8B-B14F-4D97-AF65-F5344CB8AC3E}">
        <p14:creationId xmlns:p14="http://schemas.microsoft.com/office/powerpoint/2010/main" val="1216047250"/>
      </p:ext>
    </p:extLst>
  </p:cSld>
</p:sld>
</file>

<file path=ppt/slides/slide19.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F9FBA484-5EFA-4421-8BAB-34DD121ECA7B}"/>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572A49F5-D1C4-4919-861F-5FDA0D016AFB}"/>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Compatibility and stability</a:t>
            </a:r>
          </a:p>
        </p:txBody>
      </p:sp>
      <p:sp>
        <p:nvSpPr>
          <p:cNvPr id="3" name="">
            <a:extLst xmlns:a="http://schemas.openxmlformats.org/drawingml/2006/main">
              <a:ext uri="{FF2B5EF4-FFF2-40B4-BE49-F238E27FC236}">
                <a16:creationId xmlns:a16="http://schemas.microsoft.com/office/drawing/2014/main" id="{82011EAE-2140-4EE6-A888-300B53E8991A}"/>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1</a:t>
            </a:r>
          </a:p>
        </p:txBody>
      </p:sp>
      <p:sp>
        <p:nvSpPr>
          <p:cNvPr id="4" name="">
            <a:extLst xmlns:a="http://schemas.openxmlformats.org/drawingml/2006/main">
              <a:ext uri="{FF2B5EF4-FFF2-40B4-BE49-F238E27FC236}">
                <a16:creationId xmlns:a16="http://schemas.microsoft.com/office/drawing/2014/main" id="{9588219A-305E-4907-9992-1A83D3FD6758}"/>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19</a:t>
            </a:r>
          </a:p>
        </p:txBody>
      </p:sp>
      <p:sp>
        <p:nvSpPr>
          <p:cNvPr id="5" name="">
            <a:extLst xmlns:a="http://schemas.openxmlformats.org/drawingml/2006/main">
              <a:ext uri="{FF2B5EF4-FFF2-40B4-BE49-F238E27FC236}">
                <a16:creationId xmlns:a16="http://schemas.microsoft.com/office/drawing/2014/main" id="{0E0FB4ED-155D-4742-9CFE-B85F8999E5E6}"/>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875">
                <a:solidFill>
                  <a:srgbClr val="13212D"/>
                </a:solidFill>
                <a:latin typeface="Helvetica Neue"/>
                <a:ea typeface="Helvetica Neue"/>
                <a:cs typeface="Helvetica Neue"/>
              </a:defRPr>
            </a:defPPr>
            <a:lvl1pPr>
              <a:defRPr sz="1875">
                <a:solidFill>
                  <a:srgbClr val="13212D"/>
                </a:solidFill>
                <a:latin typeface="Helvetica Neue"/>
                <a:ea typeface="Helvetica Neue"/>
                <a:cs typeface="Helvetica Neue"/>
              </a:defRPr>
            </a:lvl1pPr>
            <a:lvl2pPr>
              <a:defRPr sz="1875">
                <a:solidFill>
                  <a:srgbClr val="13212D"/>
                </a:solidFill>
                <a:latin typeface="Helvetica Neue"/>
                <a:ea typeface="Helvetica Neue"/>
                <a:cs typeface="Helvetica Neue"/>
              </a:defRPr>
            </a:lvl2pPr>
            <a:lvl3pPr>
              <a:defRPr sz="1875">
                <a:solidFill>
                  <a:srgbClr val="13212D"/>
                </a:solidFill>
                <a:latin typeface="Helvetica Neue"/>
                <a:ea typeface="Helvetica Neue"/>
                <a:cs typeface="Helvetica Neue"/>
              </a:defRPr>
            </a:lvl3pPr>
            <a:lvl4pPr>
              <a:defRPr sz="1875">
                <a:solidFill>
                  <a:srgbClr val="13212D"/>
                </a:solidFill>
                <a:latin typeface="Helvetica Neue"/>
                <a:ea typeface="Helvetica Neue"/>
                <a:cs typeface="Helvetica Neue"/>
              </a:defRPr>
            </a:lvl4pPr>
            <a:lvl5pPr>
              <a:defRPr sz="1875">
                <a:solidFill>
                  <a:srgbClr val="13212D"/>
                </a:solidFill>
                <a:latin typeface="Helvetica Neue"/>
                <a:ea typeface="Helvetica Neue"/>
                <a:cs typeface="Helvetica Neue"/>
              </a:defRPr>
            </a:lvl5pPr>
            <a:lvl6pPr>
              <a:defRPr sz="1875">
                <a:solidFill>
                  <a:srgbClr val="13212D"/>
                </a:solidFill>
                <a:latin typeface="Helvetica Neue"/>
                <a:ea typeface="Helvetica Neue"/>
                <a:cs typeface="Helvetica Neue"/>
              </a:defRPr>
            </a:lvl6pPr>
            <a:lvl7pPr>
              <a:defRPr sz="1875">
                <a:solidFill>
                  <a:srgbClr val="13212D"/>
                </a:solidFill>
                <a:latin typeface="Helvetica Neue"/>
                <a:ea typeface="Helvetica Neue"/>
                <a:cs typeface="Helvetica Neue"/>
              </a:defRPr>
            </a:lvl7pPr>
            <a:lvl8pPr>
              <a:defRPr sz="1875">
                <a:solidFill>
                  <a:srgbClr val="13212D"/>
                </a:solidFill>
                <a:latin typeface="Helvetica Neue"/>
                <a:ea typeface="Helvetica Neue"/>
                <a:cs typeface="Helvetica Neue"/>
              </a:defRPr>
            </a:lvl8pPr>
            <a:lvl9pPr>
              <a:defRPr sz="187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Physical incompatibility may cause color change, haze, gas, or precipitate.</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Chemical incompatibility may not be visible.</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Therapeutic incompatibility changes the desired clinical effect.</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Stability can be affected by concentration, diluent, order of mixing, contact time, light, temperature, pH, and container material.</a:t>
            </a:r>
          </a:p>
        </p:txBody>
      </p:sp>
      <p:sp>
        <p:nvSpPr>
          <p:cNvPr id="6" name="">
            <a:extLst xmlns:a="http://schemas.openxmlformats.org/drawingml/2006/main">
              <a:ext uri="{FF2B5EF4-FFF2-40B4-BE49-F238E27FC236}">
                <a16:creationId xmlns:a16="http://schemas.microsoft.com/office/drawing/2014/main" id="{CB0DA7AD-5D52-4B3D-8D10-95CB7C123C78}"/>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Tree>
    <p:extLst>
      <p:ext uri="{BB962C8B-B14F-4D97-AF65-F5344CB8AC3E}">
        <p14:creationId xmlns:p14="http://schemas.microsoft.com/office/powerpoint/2010/main" val="114799909"/>
      </p:ext>
    </p:extLst>
  </p:cSld>
</p:sld>
</file>

<file path=ppt/slides/slide20.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72512CBC-A7A0-4EE6-9F3B-EBBF4991D19C}"/>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F54488A2-61F2-444B-A8D7-3BD1CD14D02F}"/>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Compatibility and stability continued</a:t>
            </a:r>
          </a:p>
        </p:txBody>
      </p:sp>
      <p:sp>
        <p:nvSpPr>
          <p:cNvPr id="3" name="">
            <a:extLst xmlns:a="http://schemas.openxmlformats.org/drawingml/2006/main">
              <a:ext uri="{FF2B5EF4-FFF2-40B4-BE49-F238E27FC236}">
                <a16:creationId xmlns:a16="http://schemas.microsoft.com/office/drawing/2014/main" id="{ECC34DAD-6390-4C09-92D6-25EE9519A57E}"/>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1</a:t>
            </a:r>
          </a:p>
        </p:txBody>
      </p:sp>
      <p:sp>
        <p:nvSpPr>
          <p:cNvPr id="4" name="">
            <a:extLst xmlns:a="http://schemas.openxmlformats.org/drawingml/2006/main">
              <a:ext uri="{FF2B5EF4-FFF2-40B4-BE49-F238E27FC236}">
                <a16:creationId xmlns:a16="http://schemas.microsoft.com/office/drawing/2014/main" id="{C2A2A316-7822-430D-AFF5-7970E91D46C7}"/>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20</a:t>
            </a:r>
          </a:p>
        </p:txBody>
      </p:sp>
      <p:sp>
        <p:nvSpPr>
          <p:cNvPr id="5" name="">
            <a:extLst xmlns:a="http://schemas.openxmlformats.org/drawingml/2006/main">
              <a:ext uri="{FF2B5EF4-FFF2-40B4-BE49-F238E27FC236}">
                <a16:creationId xmlns:a16="http://schemas.microsoft.com/office/drawing/2014/main" id="{E7F91883-93E3-4ADD-89AA-869C01880D88}"/>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100">
                <a:solidFill>
                  <a:srgbClr val="13212D"/>
                </a:solidFill>
                <a:latin typeface="Helvetica Neue"/>
                <a:ea typeface="Helvetica Neue"/>
                <a:cs typeface="Helvetica Neue"/>
              </a:defRPr>
            </a:defPPr>
            <a:lvl1pPr>
              <a:defRPr sz="2100">
                <a:solidFill>
                  <a:srgbClr val="13212D"/>
                </a:solidFill>
                <a:latin typeface="Helvetica Neue"/>
                <a:ea typeface="Helvetica Neue"/>
                <a:cs typeface="Helvetica Neue"/>
              </a:defRPr>
            </a:lvl1pPr>
            <a:lvl2pPr>
              <a:defRPr sz="2100">
                <a:solidFill>
                  <a:srgbClr val="13212D"/>
                </a:solidFill>
                <a:latin typeface="Helvetica Neue"/>
                <a:ea typeface="Helvetica Neue"/>
                <a:cs typeface="Helvetica Neue"/>
              </a:defRPr>
            </a:lvl2pPr>
            <a:lvl3pPr>
              <a:defRPr sz="2100">
                <a:solidFill>
                  <a:srgbClr val="13212D"/>
                </a:solidFill>
                <a:latin typeface="Helvetica Neue"/>
                <a:ea typeface="Helvetica Neue"/>
                <a:cs typeface="Helvetica Neue"/>
              </a:defRPr>
            </a:lvl3pPr>
            <a:lvl4pPr>
              <a:defRPr sz="2100">
                <a:solidFill>
                  <a:srgbClr val="13212D"/>
                </a:solidFill>
                <a:latin typeface="Helvetica Neue"/>
                <a:ea typeface="Helvetica Neue"/>
                <a:cs typeface="Helvetica Neue"/>
              </a:defRPr>
            </a:lvl4pPr>
            <a:lvl5pPr>
              <a:defRPr sz="2100">
                <a:solidFill>
                  <a:srgbClr val="13212D"/>
                </a:solidFill>
                <a:latin typeface="Helvetica Neue"/>
                <a:ea typeface="Helvetica Neue"/>
                <a:cs typeface="Helvetica Neue"/>
              </a:defRPr>
            </a:lvl5pPr>
            <a:lvl6pPr>
              <a:defRPr sz="2100">
                <a:solidFill>
                  <a:srgbClr val="13212D"/>
                </a:solidFill>
                <a:latin typeface="Helvetica Neue"/>
                <a:ea typeface="Helvetica Neue"/>
                <a:cs typeface="Helvetica Neue"/>
              </a:defRPr>
            </a:lvl6pPr>
            <a:lvl7pPr>
              <a:defRPr sz="2100">
                <a:solidFill>
                  <a:srgbClr val="13212D"/>
                </a:solidFill>
                <a:latin typeface="Helvetica Neue"/>
                <a:ea typeface="Helvetica Neue"/>
                <a:cs typeface="Helvetica Neue"/>
              </a:defRPr>
            </a:lvl7pPr>
            <a:lvl8pPr>
              <a:defRPr sz="2100">
                <a:solidFill>
                  <a:srgbClr val="13212D"/>
                </a:solidFill>
                <a:latin typeface="Helvetica Neue"/>
                <a:ea typeface="Helvetica Neue"/>
                <a:cs typeface="Helvetica Neue"/>
              </a:defRPr>
            </a:lvl8pPr>
            <a:lvl9pPr>
              <a:defRPr sz="2100">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Never assume compatibility; use a current approved reference or pharmacist.</a:t>
            </a:r>
          </a:p>
        </p:txBody>
      </p:sp>
      <p:sp>
        <p:nvSpPr>
          <p:cNvPr id="6" name="">
            <a:extLst xmlns:a="http://schemas.openxmlformats.org/drawingml/2006/main">
              <a:ext uri="{FF2B5EF4-FFF2-40B4-BE49-F238E27FC236}">
                <a16:creationId xmlns:a16="http://schemas.microsoft.com/office/drawing/2014/main" id="{678BDA49-57D8-4721-88DD-053133C2FB12}"/>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Tree>
    <p:extLst>
      <p:ext uri="{BB962C8B-B14F-4D97-AF65-F5344CB8AC3E}">
        <p14:creationId xmlns:p14="http://schemas.microsoft.com/office/powerpoint/2010/main" val="1069910242"/>
      </p:ext>
    </p:extLst>
  </p:cSld>
</p:sld>
</file>

<file path=ppt/slides/slide21.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FC15E558-3E89-43F1-9562-529A29FA2E73}"/>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E274E9CE-1B89-4926-9562-0A712B9E2DF4}"/>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Safe administration</a:t>
            </a:r>
          </a:p>
        </p:txBody>
      </p:sp>
      <p:sp>
        <p:nvSpPr>
          <p:cNvPr id="3" name="">
            <a:extLst xmlns:a="http://schemas.openxmlformats.org/drawingml/2006/main">
              <a:ext uri="{FF2B5EF4-FFF2-40B4-BE49-F238E27FC236}">
                <a16:creationId xmlns:a16="http://schemas.microsoft.com/office/drawing/2014/main" id="{1E1B0EFF-298E-4BD1-9B6C-BD8926DA369C}"/>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1</a:t>
            </a:r>
          </a:p>
        </p:txBody>
      </p:sp>
      <p:sp>
        <p:nvSpPr>
          <p:cNvPr id="4" name="">
            <a:extLst xmlns:a="http://schemas.openxmlformats.org/drawingml/2006/main">
              <a:ext uri="{FF2B5EF4-FFF2-40B4-BE49-F238E27FC236}">
                <a16:creationId xmlns:a16="http://schemas.microsoft.com/office/drawing/2014/main" id="{BABC41A5-A662-4C20-A757-4219E19832A0}"/>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21</a:t>
            </a:r>
          </a:p>
        </p:txBody>
      </p:sp>
      <p:sp>
        <p:nvSpPr>
          <p:cNvPr id="5" name="">
            <a:extLst xmlns:a="http://schemas.openxmlformats.org/drawingml/2006/main">
              <a:ext uri="{FF2B5EF4-FFF2-40B4-BE49-F238E27FC236}">
                <a16:creationId xmlns:a16="http://schemas.microsoft.com/office/drawing/2014/main" id="{09D2016C-B70D-4FAE-8C1E-A331FBD5E2F5}"/>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875">
                <a:solidFill>
                  <a:srgbClr val="13212D"/>
                </a:solidFill>
                <a:latin typeface="Helvetica Neue"/>
                <a:ea typeface="Helvetica Neue"/>
                <a:cs typeface="Helvetica Neue"/>
              </a:defRPr>
            </a:defPPr>
            <a:lvl1pPr>
              <a:defRPr sz="1875">
                <a:solidFill>
                  <a:srgbClr val="13212D"/>
                </a:solidFill>
                <a:latin typeface="Helvetica Neue"/>
                <a:ea typeface="Helvetica Neue"/>
                <a:cs typeface="Helvetica Neue"/>
              </a:defRPr>
            </a:lvl1pPr>
            <a:lvl2pPr>
              <a:defRPr sz="1875">
                <a:solidFill>
                  <a:srgbClr val="13212D"/>
                </a:solidFill>
                <a:latin typeface="Helvetica Neue"/>
                <a:ea typeface="Helvetica Neue"/>
                <a:cs typeface="Helvetica Neue"/>
              </a:defRPr>
            </a:lvl2pPr>
            <a:lvl3pPr>
              <a:defRPr sz="1875">
                <a:solidFill>
                  <a:srgbClr val="13212D"/>
                </a:solidFill>
                <a:latin typeface="Helvetica Neue"/>
                <a:ea typeface="Helvetica Neue"/>
                <a:cs typeface="Helvetica Neue"/>
              </a:defRPr>
            </a:lvl3pPr>
            <a:lvl4pPr>
              <a:defRPr sz="1875">
                <a:solidFill>
                  <a:srgbClr val="13212D"/>
                </a:solidFill>
                <a:latin typeface="Helvetica Neue"/>
                <a:ea typeface="Helvetica Neue"/>
                <a:cs typeface="Helvetica Neue"/>
              </a:defRPr>
            </a:lvl4pPr>
            <a:lvl5pPr>
              <a:defRPr sz="1875">
                <a:solidFill>
                  <a:srgbClr val="13212D"/>
                </a:solidFill>
                <a:latin typeface="Helvetica Neue"/>
                <a:ea typeface="Helvetica Neue"/>
                <a:cs typeface="Helvetica Neue"/>
              </a:defRPr>
            </a:lvl5pPr>
            <a:lvl6pPr>
              <a:defRPr sz="1875">
                <a:solidFill>
                  <a:srgbClr val="13212D"/>
                </a:solidFill>
                <a:latin typeface="Helvetica Neue"/>
                <a:ea typeface="Helvetica Neue"/>
                <a:cs typeface="Helvetica Neue"/>
              </a:defRPr>
            </a:lvl6pPr>
            <a:lvl7pPr>
              <a:defRPr sz="1875">
                <a:solidFill>
                  <a:srgbClr val="13212D"/>
                </a:solidFill>
                <a:latin typeface="Helvetica Neue"/>
                <a:ea typeface="Helvetica Neue"/>
                <a:cs typeface="Helvetica Neue"/>
              </a:defRPr>
            </a:lvl7pPr>
            <a:lvl8pPr>
              <a:defRPr sz="1875">
                <a:solidFill>
                  <a:srgbClr val="13212D"/>
                </a:solidFill>
                <a:latin typeface="Helvetica Neue"/>
                <a:ea typeface="Helvetica Neue"/>
                <a:cs typeface="Helvetica Neue"/>
              </a:defRPr>
            </a:lvl8pPr>
            <a:lvl9pPr>
              <a:defRPr sz="187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Compare the order, medication label, and electronic record at required checkpoints.</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Trace tubing from container to patient.</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Scrub access points using approved technique.</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Assess patency and the site.</a:t>
            </a:r>
          </a:p>
        </p:txBody>
      </p:sp>
      <p:sp>
        <p:nvSpPr>
          <p:cNvPr id="6" name="">
            <a:extLst xmlns:a="http://schemas.openxmlformats.org/drawingml/2006/main">
              <a:ext uri="{FF2B5EF4-FFF2-40B4-BE49-F238E27FC236}">
                <a16:creationId xmlns:a16="http://schemas.microsoft.com/office/drawing/2014/main" id="{F0F4541A-5D6C-44A8-B0BB-AA83D2CCB747}"/>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Tree>
    <p:extLst>
      <p:ext uri="{BB962C8B-B14F-4D97-AF65-F5344CB8AC3E}">
        <p14:creationId xmlns:p14="http://schemas.microsoft.com/office/powerpoint/2010/main" val="2017953409"/>
      </p:ext>
    </p:extLst>
  </p:cSld>
</p:sld>
</file>

<file path=ppt/slides/slide22.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514900C8-D4B9-4D94-BF58-5A9DA292BF48}"/>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F5707AA5-89F7-43BA-AAFA-539D935005F2}"/>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Safe administration continued</a:t>
            </a:r>
          </a:p>
        </p:txBody>
      </p:sp>
      <p:sp>
        <p:nvSpPr>
          <p:cNvPr id="3" name="">
            <a:extLst xmlns:a="http://schemas.openxmlformats.org/drawingml/2006/main">
              <a:ext uri="{FF2B5EF4-FFF2-40B4-BE49-F238E27FC236}">
                <a16:creationId xmlns:a16="http://schemas.microsoft.com/office/drawing/2014/main" id="{B68D285F-95B7-4DD0-83EA-5EA1AF16AC0A}"/>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1</a:t>
            </a:r>
          </a:p>
        </p:txBody>
      </p:sp>
      <p:sp>
        <p:nvSpPr>
          <p:cNvPr id="4" name="">
            <a:extLst xmlns:a="http://schemas.openxmlformats.org/drawingml/2006/main">
              <a:ext uri="{FF2B5EF4-FFF2-40B4-BE49-F238E27FC236}">
                <a16:creationId xmlns:a16="http://schemas.microsoft.com/office/drawing/2014/main" id="{509DD2E4-CF73-44D7-9EF4-D7A246E61DEA}"/>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22</a:t>
            </a:r>
          </a:p>
        </p:txBody>
      </p:sp>
      <p:sp>
        <p:nvSpPr>
          <p:cNvPr id="5" name="">
            <a:extLst xmlns:a="http://schemas.openxmlformats.org/drawingml/2006/main">
              <a:ext uri="{FF2B5EF4-FFF2-40B4-BE49-F238E27FC236}">
                <a16:creationId xmlns:a16="http://schemas.microsoft.com/office/drawing/2014/main" id="{03357497-AE7E-4FFB-A478-156AB400DB02}"/>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100">
                <a:solidFill>
                  <a:srgbClr val="13212D"/>
                </a:solidFill>
                <a:latin typeface="Helvetica Neue"/>
                <a:ea typeface="Helvetica Neue"/>
                <a:cs typeface="Helvetica Neue"/>
              </a:defRPr>
            </a:defPPr>
            <a:lvl1pPr>
              <a:defRPr sz="2100">
                <a:solidFill>
                  <a:srgbClr val="13212D"/>
                </a:solidFill>
                <a:latin typeface="Helvetica Neue"/>
                <a:ea typeface="Helvetica Neue"/>
                <a:cs typeface="Helvetica Neue"/>
              </a:defRPr>
            </a:lvl1pPr>
            <a:lvl2pPr>
              <a:defRPr sz="2100">
                <a:solidFill>
                  <a:srgbClr val="13212D"/>
                </a:solidFill>
                <a:latin typeface="Helvetica Neue"/>
                <a:ea typeface="Helvetica Neue"/>
                <a:cs typeface="Helvetica Neue"/>
              </a:defRPr>
            </a:lvl2pPr>
            <a:lvl3pPr>
              <a:defRPr sz="2100">
                <a:solidFill>
                  <a:srgbClr val="13212D"/>
                </a:solidFill>
                <a:latin typeface="Helvetica Neue"/>
                <a:ea typeface="Helvetica Neue"/>
                <a:cs typeface="Helvetica Neue"/>
              </a:defRPr>
            </a:lvl3pPr>
            <a:lvl4pPr>
              <a:defRPr sz="2100">
                <a:solidFill>
                  <a:srgbClr val="13212D"/>
                </a:solidFill>
                <a:latin typeface="Helvetica Neue"/>
                <a:ea typeface="Helvetica Neue"/>
                <a:cs typeface="Helvetica Neue"/>
              </a:defRPr>
            </a:lvl4pPr>
            <a:lvl5pPr>
              <a:defRPr sz="2100">
                <a:solidFill>
                  <a:srgbClr val="13212D"/>
                </a:solidFill>
                <a:latin typeface="Helvetica Neue"/>
                <a:ea typeface="Helvetica Neue"/>
                <a:cs typeface="Helvetica Neue"/>
              </a:defRPr>
            </a:lvl5pPr>
            <a:lvl6pPr>
              <a:defRPr sz="2100">
                <a:solidFill>
                  <a:srgbClr val="13212D"/>
                </a:solidFill>
                <a:latin typeface="Helvetica Neue"/>
                <a:ea typeface="Helvetica Neue"/>
                <a:cs typeface="Helvetica Neue"/>
              </a:defRPr>
            </a:lvl6pPr>
            <a:lvl7pPr>
              <a:defRPr sz="2100">
                <a:solidFill>
                  <a:srgbClr val="13212D"/>
                </a:solidFill>
                <a:latin typeface="Helvetica Neue"/>
                <a:ea typeface="Helvetica Neue"/>
                <a:cs typeface="Helvetica Neue"/>
              </a:defRPr>
            </a:lvl7pPr>
            <a:lvl8pPr>
              <a:defRPr sz="2100">
                <a:solidFill>
                  <a:srgbClr val="13212D"/>
                </a:solidFill>
                <a:latin typeface="Helvetica Neue"/>
                <a:ea typeface="Helvetica Neue"/>
                <a:cs typeface="Helvetica Neue"/>
              </a:defRPr>
            </a:lvl8pPr>
            <a:lvl9pPr>
              <a:defRPr sz="2100">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Program the pump independently and use an independent double check for high-alert therapy when required.</a:t>
            </a:r>
          </a:p>
        </p:txBody>
      </p:sp>
      <p:sp>
        <p:nvSpPr>
          <p:cNvPr id="6" name="">
            <a:extLst xmlns:a="http://schemas.openxmlformats.org/drawingml/2006/main">
              <a:ext uri="{FF2B5EF4-FFF2-40B4-BE49-F238E27FC236}">
                <a16:creationId xmlns:a16="http://schemas.microsoft.com/office/drawing/2014/main" id="{6D8FDCCA-C4C1-4A83-81F2-F37BF3A1440B}"/>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Tree>
    <p:extLst>
      <p:ext uri="{BB962C8B-B14F-4D97-AF65-F5344CB8AC3E}">
        <p14:creationId xmlns:p14="http://schemas.microsoft.com/office/powerpoint/2010/main" val="2139039600"/>
      </p:ext>
    </p:extLst>
  </p:cSld>
</p:sld>
</file>

<file path=ppt/slides/slide23.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870830ED-2E5F-4082-8E14-BB665E483C51}"/>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DDBEC269-2994-46EE-BBF5-C19AA9EE0FAA}"/>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Unit Objectives</a:t>
            </a:r>
          </a:p>
        </p:txBody>
      </p:sp>
      <p:sp>
        <p:nvSpPr>
          <p:cNvPr id="3" name="">
            <a:extLst xmlns:a="http://schemas.openxmlformats.org/drawingml/2006/main">
              <a:ext uri="{FF2B5EF4-FFF2-40B4-BE49-F238E27FC236}">
                <a16:creationId xmlns:a16="http://schemas.microsoft.com/office/drawing/2014/main" id="{2E79A587-28C1-412B-85F8-2AC7D9F91D93}"/>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1</a:t>
            </a:r>
          </a:p>
        </p:txBody>
      </p:sp>
      <p:sp>
        <p:nvSpPr>
          <p:cNvPr id="4" name="">
            <a:extLst xmlns:a="http://schemas.openxmlformats.org/drawingml/2006/main">
              <a:ext uri="{FF2B5EF4-FFF2-40B4-BE49-F238E27FC236}">
                <a16:creationId xmlns:a16="http://schemas.microsoft.com/office/drawing/2014/main" id="{9BC08DFD-0441-40B9-B3EE-D7B2B81DE780}"/>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23</a:t>
            </a:r>
          </a:p>
        </p:txBody>
      </p:sp>
      <p:sp>
        <p:nvSpPr>
          <p:cNvPr id="5" name="">
            <a:extLst xmlns:a="http://schemas.openxmlformats.org/drawingml/2006/main">
              <a:ext uri="{FF2B5EF4-FFF2-40B4-BE49-F238E27FC236}">
                <a16:creationId xmlns:a16="http://schemas.microsoft.com/office/drawing/2014/main" id="{86A76DFB-43D1-4C03-9880-96ABE3198246}"/>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875">
                <a:solidFill>
                  <a:srgbClr val="13212D"/>
                </a:solidFill>
                <a:latin typeface="Helvetica Neue"/>
                <a:ea typeface="Helvetica Neue"/>
                <a:cs typeface="Helvetica Neue"/>
              </a:defRPr>
            </a:defPPr>
            <a:lvl1pPr>
              <a:defRPr sz="1875">
                <a:solidFill>
                  <a:srgbClr val="13212D"/>
                </a:solidFill>
                <a:latin typeface="Helvetica Neue"/>
                <a:ea typeface="Helvetica Neue"/>
                <a:cs typeface="Helvetica Neue"/>
              </a:defRPr>
            </a:lvl1pPr>
            <a:lvl2pPr>
              <a:defRPr sz="1875">
                <a:solidFill>
                  <a:srgbClr val="13212D"/>
                </a:solidFill>
                <a:latin typeface="Helvetica Neue"/>
                <a:ea typeface="Helvetica Neue"/>
                <a:cs typeface="Helvetica Neue"/>
              </a:defRPr>
            </a:lvl2pPr>
            <a:lvl3pPr>
              <a:defRPr sz="1875">
                <a:solidFill>
                  <a:srgbClr val="13212D"/>
                </a:solidFill>
                <a:latin typeface="Helvetica Neue"/>
                <a:ea typeface="Helvetica Neue"/>
                <a:cs typeface="Helvetica Neue"/>
              </a:defRPr>
            </a:lvl3pPr>
            <a:lvl4pPr>
              <a:defRPr sz="1875">
                <a:solidFill>
                  <a:srgbClr val="13212D"/>
                </a:solidFill>
                <a:latin typeface="Helvetica Neue"/>
                <a:ea typeface="Helvetica Neue"/>
                <a:cs typeface="Helvetica Neue"/>
              </a:defRPr>
            </a:lvl4pPr>
            <a:lvl5pPr>
              <a:defRPr sz="1875">
                <a:solidFill>
                  <a:srgbClr val="13212D"/>
                </a:solidFill>
                <a:latin typeface="Helvetica Neue"/>
                <a:ea typeface="Helvetica Neue"/>
                <a:cs typeface="Helvetica Neue"/>
              </a:defRPr>
            </a:lvl5pPr>
            <a:lvl6pPr>
              <a:defRPr sz="1875">
                <a:solidFill>
                  <a:srgbClr val="13212D"/>
                </a:solidFill>
                <a:latin typeface="Helvetica Neue"/>
                <a:ea typeface="Helvetica Neue"/>
                <a:cs typeface="Helvetica Neue"/>
              </a:defRPr>
            </a:lvl6pPr>
            <a:lvl7pPr>
              <a:defRPr sz="1875">
                <a:solidFill>
                  <a:srgbClr val="13212D"/>
                </a:solidFill>
                <a:latin typeface="Helvetica Neue"/>
                <a:ea typeface="Helvetica Neue"/>
                <a:cs typeface="Helvetica Neue"/>
              </a:defRPr>
            </a:lvl7pPr>
            <a:lvl8pPr>
              <a:defRPr sz="1875">
                <a:solidFill>
                  <a:srgbClr val="13212D"/>
                </a:solidFill>
                <a:latin typeface="Helvetica Neue"/>
                <a:ea typeface="Helvetica Neue"/>
                <a:cs typeface="Helvetica Neue"/>
              </a:defRPr>
            </a:lvl8pPr>
            <a:lvl9pPr>
              <a:defRPr sz="187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Nurse Practice Act At the Conclusion of this self-learning module the learner will be able to: 1.</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Discuss the Nursing Practice Act and the regulation of nursing practices.</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Discuss the limited scope of therapy in the administration intravenous therapy as specified in Rule 64B9-12 of the Nurse Practice Act.</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State the responsibilities of the Licensed Practical Nurse in the administration of intravenous therapy.</a:t>
            </a:r>
          </a:p>
        </p:txBody>
      </p:sp>
      <p:sp>
        <p:nvSpPr>
          <p:cNvPr id="6" name="">
            <a:extLst xmlns:a="http://schemas.openxmlformats.org/drawingml/2006/main">
              <a:ext uri="{FF2B5EF4-FFF2-40B4-BE49-F238E27FC236}">
                <a16:creationId xmlns:a16="http://schemas.microsoft.com/office/drawing/2014/main" id="{89B68B29-8B15-4C25-AFCC-926D55FED8DB}"/>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1DD7CFDB-3016-4E88-92E8-8846595CD331}"/>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4</a:t>
            </a:r>
          </a:p>
        </p:txBody>
      </p:sp>
    </p:spTree>
    <p:extLst>
      <p:ext uri="{BB962C8B-B14F-4D97-AF65-F5344CB8AC3E}">
        <p14:creationId xmlns:p14="http://schemas.microsoft.com/office/powerpoint/2010/main" val="1430804388"/>
      </p:ext>
    </p:extLst>
  </p:cSld>
</p:sld>
</file>

<file path=ppt/slides/slide24.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B7ECA1EE-D93B-4F68-AAC9-7289A8901541}"/>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D742BD8E-4EB9-417C-A3B1-11EE54984A73}"/>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Unit Objectives — continued</a:t>
            </a:r>
          </a:p>
        </p:txBody>
      </p:sp>
      <p:sp>
        <p:nvSpPr>
          <p:cNvPr id="3" name="">
            <a:extLst xmlns:a="http://schemas.openxmlformats.org/drawingml/2006/main">
              <a:ext uri="{FF2B5EF4-FFF2-40B4-BE49-F238E27FC236}">
                <a16:creationId xmlns:a16="http://schemas.microsoft.com/office/drawing/2014/main" id="{F6B92EB5-43CC-4481-96A9-107AB165087A}"/>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1</a:t>
            </a:r>
          </a:p>
        </p:txBody>
      </p:sp>
      <p:sp>
        <p:nvSpPr>
          <p:cNvPr id="4" name="">
            <a:extLst xmlns:a="http://schemas.openxmlformats.org/drawingml/2006/main">
              <a:ext uri="{FF2B5EF4-FFF2-40B4-BE49-F238E27FC236}">
                <a16:creationId xmlns:a16="http://schemas.microsoft.com/office/drawing/2014/main" id="{74BF58A5-D697-411E-A093-203DD12F5163}"/>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24</a:t>
            </a:r>
          </a:p>
        </p:txBody>
      </p:sp>
      <p:sp>
        <p:nvSpPr>
          <p:cNvPr id="5" name="">
            <a:extLst xmlns:a="http://schemas.openxmlformats.org/drawingml/2006/main">
              <a:ext uri="{FF2B5EF4-FFF2-40B4-BE49-F238E27FC236}">
                <a16:creationId xmlns:a16="http://schemas.microsoft.com/office/drawing/2014/main" id="{38F02CA7-1B80-4448-BF4C-4905E3C87C43}"/>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875">
                <a:solidFill>
                  <a:srgbClr val="13212D"/>
                </a:solidFill>
                <a:latin typeface="Helvetica Neue"/>
                <a:ea typeface="Helvetica Neue"/>
                <a:cs typeface="Helvetica Neue"/>
              </a:defRPr>
            </a:defPPr>
            <a:lvl1pPr>
              <a:defRPr sz="1875">
                <a:solidFill>
                  <a:srgbClr val="13212D"/>
                </a:solidFill>
                <a:latin typeface="Helvetica Neue"/>
                <a:ea typeface="Helvetica Neue"/>
                <a:cs typeface="Helvetica Neue"/>
              </a:defRPr>
            </a:lvl1pPr>
            <a:lvl2pPr>
              <a:defRPr sz="1875">
                <a:solidFill>
                  <a:srgbClr val="13212D"/>
                </a:solidFill>
                <a:latin typeface="Helvetica Neue"/>
                <a:ea typeface="Helvetica Neue"/>
                <a:cs typeface="Helvetica Neue"/>
              </a:defRPr>
            </a:lvl2pPr>
            <a:lvl3pPr>
              <a:defRPr sz="1875">
                <a:solidFill>
                  <a:srgbClr val="13212D"/>
                </a:solidFill>
                <a:latin typeface="Helvetica Neue"/>
                <a:ea typeface="Helvetica Neue"/>
                <a:cs typeface="Helvetica Neue"/>
              </a:defRPr>
            </a:lvl3pPr>
            <a:lvl4pPr>
              <a:defRPr sz="1875">
                <a:solidFill>
                  <a:srgbClr val="13212D"/>
                </a:solidFill>
                <a:latin typeface="Helvetica Neue"/>
                <a:ea typeface="Helvetica Neue"/>
                <a:cs typeface="Helvetica Neue"/>
              </a:defRPr>
            </a:lvl4pPr>
            <a:lvl5pPr>
              <a:defRPr sz="1875">
                <a:solidFill>
                  <a:srgbClr val="13212D"/>
                </a:solidFill>
                <a:latin typeface="Helvetica Neue"/>
                <a:ea typeface="Helvetica Neue"/>
                <a:cs typeface="Helvetica Neue"/>
              </a:defRPr>
            </a:lvl5pPr>
            <a:lvl6pPr>
              <a:defRPr sz="1875">
                <a:solidFill>
                  <a:srgbClr val="13212D"/>
                </a:solidFill>
                <a:latin typeface="Helvetica Neue"/>
                <a:ea typeface="Helvetica Neue"/>
                <a:cs typeface="Helvetica Neue"/>
              </a:defRPr>
            </a:lvl6pPr>
            <a:lvl7pPr>
              <a:defRPr sz="1875">
                <a:solidFill>
                  <a:srgbClr val="13212D"/>
                </a:solidFill>
                <a:latin typeface="Helvetica Neue"/>
                <a:ea typeface="Helvetica Neue"/>
                <a:cs typeface="Helvetica Neue"/>
              </a:defRPr>
            </a:lvl7pPr>
            <a:lvl8pPr>
              <a:defRPr sz="1875">
                <a:solidFill>
                  <a:srgbClr val="13212D"/>
                </a:solidFill>
                <a:latin typeface="Helvetica Neue"/>
                <a:ea typeface="Helvetica Neue"/>
                <a:cs typeface="Helvetica Neue"/>
              </a:defRPr>
            </a:lvl8pPr>
            <a:lvl9pPr>
              <a:defRPr sz="187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State the requirements for the postgraduate course in intravenous therapy.</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Describe the process for obtaining clarification or interpretation of Rule 464.003(3) (b) of the Florida Statute from the Board of Nursing.</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State the information that should be included in documenting the administration of intravenous therapy Unit Outline 1.</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Introduction 2.</a:t>
            </a:r>
          </a:p>
        </p:txBody>
      </p:sp>
      <p:sp>
        <p:nvSpPr>
          <p:cNvPr id="6" name="">
            <a:extLst xmlns:a="http://schemas.openxmlformats.org/drawingml/2006/main">
              <a:ext uri="{FF2B5EF4-FFF2-40B4-BE49-F238E27FC236}">
                <a16:creationId xmlns:a16="http://schemas.microsoft.com/office/drawing/2014/main" id="{98F49634-11A5-4B23-8901-369615AFF7F4}"/>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7D61166E-8627-440D-94C9-AB921923394B}"/>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4</a:t>
            </a:r>
          </a:p>
        </p:txBody>
      </p:sp>
    </p:spTree>
    <p:extLst>
      <p:ext uri="{BB962C8B-B14F-4D97-AF65-F5344CB8AC3E}">
        <p14:creationId xmlns:p14="http://schemas.microsoft.com/office/powerpoint/2010/main" val="1337542346"/>
      </p:ext>
    </p:extLst>
  </p:cSld>
</p:sld>
</file>

<file path=ppt/slides/slide25.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FDBFF416-2BB4-4885-9F2E-1829E6898864}"/>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78BCFCC5-795E-43A6-836A-D25B5B09D599}"/>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Unit Objectives — continued</a:t>
            </a:r>
          </a:p>
        </p:txBody>
      </p:sp>
      <p:sp>
        <p:nvSpPr>
          <p:cNvPr id="3" name="">
            <a:extLst xmlns:a="http://schemas.openxmlformats.org/drawingml/2006/main">
              <a:ext uri="{FF2B5EF4-FFF2-40B4-BE49-F238E27FC236}">
                <a16:creationId xmlns:a16="http://schemas.microsoft.com/office/drawing/2014/main" id="{9ABE6321-972D-4A5C-B7D7-00602E177A9F}"/>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1</a:t>
            </a:r>
          </a:p>
        </p:txBody>
      </p:sp>
      <p:sp>
        <p:nvSpPr>
          <p:cNvPr id="4" name="">
            <a:extLst xmlns:a="http://schemas.openxmlformats.org/drawingml/2006/main">
              <a:ext uri="{FF2B5EF4-FFF2-40B4-BE49-F238E27FC236}">
                <a16:creationId xmlns:a16="http://schemas.microsoft.com/office/drawing/2014/main" id="{DE5A7023-02C4-427C-8607-08D6DC182D9D}"/>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25</a:t>
            </a:r>
          </a:p>
        </p:txBody>
      </p:sp>
      <p:sp>
        <p:nvSpPr>
          <p:cNvPr id="5" name="">
            <a:extLst xmlns:a="http://schemas.openxmlformats.org/drawingml/2006/main">
              <a:ext uri="{FF2B5EF4-FFF2-40B4-BE49-F238E27FC236}">
                <a16:creationId xmlns:a16="http://schemas.microsoft.com/office/drawing/2014/main" id="{872FFF8F-5020-4E43-905C-EB0FF0166B4C}"/>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875">
                <a:solidFill>
                  <a:srgbClr val="13212D"/>
                </a:solidFill>
                <a:latin typeface="Helvetica Neue"/>
                <a:ea typeface="Helvetica Neue"/>
                <a:cs typeface="Helvetica Neue"/>
              </a:defRPr>
            </a:defPPr>
            <a:lvl1pPr>
              <a:defRPr sz="1875">
                <a:solidFill>
                  <a:srgbClr val="13212D"/>
                </a:solidFill>
                <a:latin typeface="Helvetica Neue"/>
                <a:ea typeface="Helvetica Neue"/>
                <a:cs typeface="Helvetica Neue"/>
              </a:defRPr>
            </a:lvl1pPr>
            <a:lvl2pPr>
              <a:defRPr sz="1875">
                <a:solidFill>
                  <a:srgbClr val="13212D"/>
                </a:solidFill>
                <a:latin typeface="Helvetica Neue"/>
                <a:ea typeface="Helvetica Neue"/>
                <a:cs typeface="Helvetica Neue"/>
              </a:defRPr>
            </a:lvl2pPr>
            <a:lvl3pPr>
              <a:defRPr sz="1875">
                <a:solidFill>
                  <a:srgbClr val="13212D"/>
                </a:solidFill>
                <a:latin typeface="Helvetica Neue"/>
                <a:ea typeface="Helvetica Neue"/>
                <a:cs typeface="Helvetica Neue"/>
              </a:defRPr>
            </a:lvl3pPr>
            <a:lvl4pPr>
              <a:defRPr sz="1875">
                <a:solidFill>
                  <a:srgbClr val="13212D"/>
                </a:solidFill>
                <a:latin typeface="Helvetica Neue"/>
                <a:ea typeface="Helvetica Neue"/>
                <a:cs typeface="Helvetica Neue"/>
              </a:defRPr>
            </a:lvl4pPr>
            <a:lvl5pPr>
              <a:defRPr sz="1875">
                <a:solidFill>
                  <a:srgbClr val="13212D"/>
                </a:solidFill>
                <a:latin typeface="Helvetica Neue"/>
                <a:ea typeface="Helvetica Neue"/>
                <a:cs typeface="Helvetica Neue"/>
              </a:defRPr>
            </a:lvl5pPr>
            <a:lvl6pPr>
              <a:defRPr sz="1875">
                <a:solidFill>
                  <a:srgbClr val="13212D"/>
                </a:solidFill>
                <a:latin typeface="Helvetica Neue"/>
                <a:ea typeface="Helvetica Neue"/>
                <a:cs typeface="Helvetica Neue"/>
              </a:defRPr>
            </a:lvl6pPr>
            <a:lvl7pPr>
              <a:defRPr sz="1875">
                <a:solidFill>
                  <a:srgbClr val="13212D"/>
                </a:solidFill>
                <a:latin typeface="Helvetica Neue"/>
                <a:ea typeface="Helvetica Neue"/>
                <a:cs typeface="Helvetica Neue"/>
              </a:defRPr>
            </a:lvl7pPr>
            <a:lvl8pPr>
              <a:defRPr sz="1875">
                <a:solidFill>
                  <a:srgbClr val="13212D"/>
                </a:solidFill>
                <a:latin typeface="Helvetica Neue"/>
                <a:ea typeface="Helvetica Neue"/>
                <a:cs typeface="Helvetica Neue"/>
              </a:defRPr>
            </a:lvl8pPr>
            <a:lvl9pPr>
              <a:defRPr sz="187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Rules to implement the Law Statement of Intent and Purpose 4.</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Definitions i.</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Aspects of IV Therapy that are outside the scope of the practice of the Licensed Practical Nurse ii.</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Authority for the Licensed Practical Nurse to administer limited forms of IV Therapy 5.</a:t>
            </a:r>
          </a:p>
        </p:txBody>
      </p:sp>
      <p:sp>
        <p:nvSpPr>
          <p:cNvPr id="6" name="">
            <a:extLst xmlns:a="http://schemas.openxmlformats.org/drawingml/2006/main">
              <a:ext uri="{FF2B5EF4-FFF2-40B4-BE49-F238E27FC236}">
                <a16:creationId xmlns:a16="http://schemas.microsoft.com/office/drawing/2014/main" id="{A8C86619-B271-40FF-B4D0-EEFEF4C3A80C}"/>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12282E1E-4323-4B4E-B8C8-BDDC7EE498AF}"/>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4</a:t>
            </a:r>
          </a:p>
        </p:txBody>
      </p:sp>
    </p:spTree>
    <p:extLst>
      <p:ext uri="{BB962C8B-B14F-4D97-AF65-F5344CB8AC3E}">
        <p14:creationId xmlns:p14="http://schemas.microsoft.com/office/powerpoint/2010/main" val="98394942"/>
      </p:ext>
    </p:extLst>
  </p:cSld>
</p:sld>
</file>

<file path=ppt/slides/slide26.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5887F649-23E8-4F40-883D-03B8B951FF9B}"/>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4CDED682-FE8D-4CF6-9008-3B82CC421E87}"/>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Unit Objectives — continued</a:t>
            </a:r>
          </a:p>
        </p:txBody>
      </p:sp>
      <p:sp>
        <p:nvSpPr>
          <p:cNvPr id="3" name="">
            <a:extLst xmlns:a="http://schemas.openxmlformats.org/drawingml/2006/main">
              <a:ext uri="{FF2B5EF4-FFF2-40B4-BE49-F238E27FC236}">
                <a16:creationId xmlns:a16="http://schemas.microsoft.com/office/drawing/2014/main" id="{9B06D6EC-A75C-4ECA-AA25-C124FABF8A1A}"/>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1</a:t>
            </a:r>
          </a:p>
        </p:txBody>
      </p:sp>
      <p:sp>
        <p:nvSpPr>
          <p:cNvPr id="4" name="">
            <a:extLst xmlns:a="http://schemas.openxmlformats.org/drawingml/2006/main">
              <a:ext uri="{FF2B5EF4-FFF2-40B4-BE49-F238E27FC236}">
                <a16:creationId xmlns:a16="http://schemas.microsoft.com/office/drawing/2014/main" id="{C374C10D-85E4-4EE0-902E-B7BB5DC9EE4C}"/>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26</a:t>
            </a:r>
          </a:p>
        </p:txBody>
      </p:sp>
      <p:sp>
        <p:nvSpPr>
          <p:cNvPr id="5" name="">
            <a:extLst xmlns:a="http://schemas.openxmlformats.org/drawingml/2006/main">
              <a:ext uri="{FF2B5EF4-FFF2-40B4-BE49-F238E27FC236}">
                <a16:creationId xmlns:a16="http://schemas.microsoft.com/office/drawing/2014/main" id="{992E94A2-AF9A-45A4-AF48-06A93BE15608}"/>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100">
                <a:solidFill>
                  <a:srgbClr val="13212D"/>
                </a:solidFill>
                <a:latin typeface="Helvetica Neue"/>
                <a:ea typeface="Helvetica Neue"/>
                <a:cs typeface="Helvetica Neue"/>
              </a:defRPr>
            </a:defPPr>
            <a:lvl1pPr>
              <a:defRPr sz="2100">
                <a:solidFill>
                  <a:srgbClr val="13212D"/>
                </a:solidFill>
                <a:latin typeface="Helvetica Neue"/>
                <a:ea typeface="Helvetica Neue"/>
                <a:cs typeface="Helvetica Neue"/>
              </a:defRPr>
            </a:lvl1pPr>
            <a:lvl2pPr>
              <a:defRPr sz="2100">
                <a:solidFill>
                  <a:srgbClr val="13212D"/>
                </a:solidFill>
                <a:latin typeface="Helvetica Neue"/>
                <a:ea typeface="Helvetica Neue"/>
                <a:cs typeface="Helvetica Neue"/>
              </a:defRPr>
            </a:lvl2pPr>
            <a:lvl3pPr>
              <a:defRPr sz="2100">
                <a:solidFill>
                  <a:srgbClr val="13212D"/>
                </a:solidFill>
                <a:latin typeface="Helvetica Neue"/>
                <a:ea typeface="Helvetica Neue"/>
                <a:cs typeface="Helvetica Neue"/>
              </a:defRPr>
            </a:lvl3pPr>
            <a:lvl4pPr>
              <a:defRPr sz="2100">
                <a:solidFill>
                  <a:srgbClr val="13212D"/>
                </a:solidFill>
                <a:latin typeface="Helvetica Neue"/>
                <a:ea typeface="Helvetica Neue"/>
                <a:cs typeface="Helvetica Neue"/>
              </a:defRPr>
            </a:lvl4pPr>
            <a:lvl5pPr>
              <a:defRPr sz="2100">
                <a:solidFill>
                  <a:srgbClr val="13212D"/>
                </a:solidFill>
                <a:latin typeface="Helvetica Neue"/>
                <a:ea typeface="Helvetica Neue"/>
                <a:cs typeface="Helvetica Neue"/>
              </a:defRPr>
            </a:lvl5pPr>
            <a:lvl6pPr>
              <a:defRPr sz="2100">
                <a:solidFill>
                  <a:srgbClr val="13212D"/>
                </a:solidFill>
                <a:latin typeface="Helvetica Neue"/>
                <a:ea typeface="Helvetica Neue"/>
                <a:cs typeface="Helvetica Neue"/>
              </a:defRPr>
            </a:lvl6pPr>
            <a:lvl7pPr>
              <a:defRPr sz="2100">
                <a:solidFill>
                  <a:srgbClr val="13212D"/>
                </a:solidFill>
                <a:latin typeface="Helvetica Neue"/>
                <a:ea typeface="Helvetica Neue"/>
                <a:cs typeface="Helvetica Neue"/>
              </a:defRPr>
            </a:lvl7pPr>
            <a:lvl8pPr>
              <a:defRPr sz="2100">
                <a:solidFill>
                  <a:srgbClr val="13212D"/>
                </a:solidFill>
                <a:latin typeface="Helvetica Neue"/>
                <a:ea typeface="Helvetica Neue"/>
                <a:cs typeface="Helvetica Neue"/>
              </a:defRPr>
            </a:lvl8pPr>
            <a:lvl9pPr>
              <a:defRPr sz="2100">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Competency and Documentation requirements</a:t>
            </a:r>
          </a:p>
        </p:txBody>
      </p:sp>
      <p:sp>
        <p:nvSpPr>
          <p:cNvPr id="6" name="">
            <a:extLst xmlns:a="http://schemas.openxmlformats.org/drawingml/2006/main">
              <a:ext uri="{FF2B5EF4-FFF2-40B4-BE49-F238E27FC236}">
                <a16:creationId xmlns:a16="http://schemas.microsoft.com/office/drawing/2014/main" id="{0BB2AB67-83C3-4FBD-9094-211A6ACB4CD0}"/>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9D6FF846-D696-4E30-9641-17BF3C23CEBC}"/>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4</a:t>
            </a:r>
          </a:p>
        </p:txBody>
      </p:sp>
    </p:spTree>
    <p:extLst>
      <p:ext uri="{BB962C8B-B14F-4D97-AF65-F5344CB8AC3E}">
        <p14:creationId xmlns:p14="http://schemas.microsoft.com/office/powerpoint/2010/main" val="1241055494"/>
      </p:ext>
    </p:extLst>
  </p:cSld>
</p:sld>
</file>

<file path=ppt/slides/slide27.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5E422FD7-A792-4903-8CD4-C5D8D9E0C472}"/>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22AE3696-ABEA-4994-82DE-EA482440EC35}"/>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The Nurse Practice Act</a:t>
            </a:r>
          </a:p>
        </p:txBody>
      </p:sp>
      <p:sp>
        <p:nvSpPr>
          <p:cNvPr id="3" name="">
            <a:extLst xmlns:a="http://schemas.openxmlformats.org/drawingml/2006/main">
              <a:ext uri="{FF2B5EF4-FFF2-40B4-BE49-F238E27FC236}">
                <a16:creationId xmlns:a16="http://schemas.microsoft.com/office/drawing/2014/main" id="{EDEA32FB-CFE0-40AA-A669-2D033BC4A610}"/>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1</a:t>
            </a:r>
          </a:p>
        </p:txBody>
      </p:sp>
      <p:sp>
        <p:nvSpPr>
          <p:cNvPr id="4" name="">
            <a:extLst xmlns:a="http://schemas.openxmlformats.org/drawingml/2006/main">
              <a:ext uri="{FF2B5EF4-FFF2-40B4-BE49-F238E27FC236}">
                <a16:creationId xmlns:a16="http://schemas.microsoft.com/office/drawing/2014/main" id="{29A04BB2-DFAB-4093-9B44-049C90797B32}"/>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27</a:t>
            </a:r>
          </a:p>
        </p:txBody>
      </p:sp>
      <p:sp>
        <p:nvSpPr>
          <p:cNvPr id="5" name="">
            <a:extLst xmlns:a="http://schemas.openxmlformats.org/drawingml/2006/main">
              <a:ext uri="{FF2B5EF4-FFF2-40B4-BE49-F238E27FC236}">
                <a16:creationId xmlns:a16="http://schemas.microsoft.com/office/drawing/2014/main" id="{19F0D89C-6BC6-4C61-A1E5-7ACCE88105A6}"/>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875">
                <a:solidFill>
                  <a:srgbClr val="13212D"/>
                </a:solidFill>
                <a:latin typeface="Helvetica Neue"/>
                <a:ea typeface="Helvetica Neue"/>
                <a:cs typeface="Helvetica Neue"/>
              </a:defRPr>
            </a:defPPr>
            <a:lvl1pPr>
              <a:defRPr sz="1875">
                <a:solidFill>
                  <a:srgbClr val="13212D"/>
                </a:solidFill>
                <a:latin typeface="Helvetica Neue"/>
                <a:ea typeface="Helvetica Neue"/>
                <a:cs typeface="Helvetica Neue"/>
              </a:defRPr>
            </a:lvl1pPr>
            <a:lvl2pPr>
              <a:defRPr sz="1875">
                <a:solidFill>
                  <a:srgbClr val="13212D"/>
                </a:solidFill>
                <a:latin typeface="Helvetica Neue"/>
                <a:ea typeface="Helvetica Neue"/>
                <a:cs typeface="Helvetica Neue"/>
              </a:defRPr>
            </a:lvl2pPr>
            <a:lvl3pPr>
              <a:defRPr sz="1875">
                <a:solidFill>
                  <a:srgbClr val="13212D"/>
                </a:solidFill>
                <a:latin typeface="Helvetica Neue"/>
                <a:ea typeface="Helvetica Neue"/>
                <a:cs typeface="Helvetica Neue"/>
              </a:defRPr>
            </a:lvl3pPr>
            <a:lvl4pPr>
              <a:defRPr sz="1875">
                <a:solidFill>
                  <a:srgbClr val="13212D"/>
                </a:solidFill>
                <a:latin typeface="Helvetica Neue"/>
                <a:ea typeface="Helvetica Neue"/>
                <a:cs typeface="Helvetica Neue"/>
              </a:defRPr>
            </a:lvl4pPr>
            <a:lvl5pPr>
              <a:defRPr sz="1875">
                <a:solidFill>
                  <a:srgbClr val="13212D"/>
                </a:solidFill>
                <a:latin typeface="Helvetica Neue"/>
                <a:ea typeface="Helvetica Neue"/>
                <a:cs typeface="Helvetica Neue"/>
              </a:defRPr>
            </a:lvl5pPr>
            <a:lvl6pPr>
              <a:defRPr sz="1875">
                <a:solidFill>
                  <a:srgbClr val="13212D"/>
                </a:solidFill>
                <a:latin typeface="Helvetica Neue"/>
                <a:ea typeface="Helvetica Neue"/>
                <a:cs typeface="Helvetica Neue"/>
              </a:defRPr>
            </a:lvl6pPr>
            <a:lvl7pPr>
              <a:defRPr sz="1875">
                <a:solidFill>
                  <a:srgbClr val="13212D"/>
                </a:solidFill>
                <a:latin typeface="Helvetica Neue"/>
                <a:ea typeface="Helvetica Neue"/>
                <a:cs typeface="Helvetica Neue"/>
              </a:defRPr>
            </a:lvl7pPr>
            <a:lvl8pPr>
              <a:defRPr sz="1875">
                <a:solidFill>
                  <a:srgbClr val="13212D"/>
                </a:solidFill>
                <a:latin typeface="Helvetica Neue"/>
                <a:ea typeface="Helvetica Neue"/>
                <a:cs typeface="Helvetica Neue"/>
              </a:defRPr>
            </a:lvl8pPr>
            <a:lvl9pPr>
              <a:defRPr sz="187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Introduction The Florida State Board of Nursing serves to protect the public from "the incompetent and unauthorized practice of Nursing, and to ensure that the nursing needs of the</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people of Florida will be met".</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The Nurse Practice Act is the law that regulates nursing licensure and practice in the state of Florida.</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This law provides definitions, composition of the State Board of Nursing procedures for operating, disciplinary process, and the conduction of meetings.</a:t>
            </a:r>
          </a:p>
        </p:txBody>
      </p:sp>
      <p:sp>
        <p:nvSpPr>
          <p:cNvPr id="6" name="">
            <a:extLst xmlns:a="http://schemas.openxmlformats.org/drawingml/2006/main">
              <a:ext uri="{FF2B5EF4-FFF2-40B4-BE49-F238E27FC236}">
                <a16:creationId xmlns:a16="http://schemas.microsoft.com/office/drawing/2014/main" id="{AF390598-0BA5-4E5F-9839-A16055F7A100}"/>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AE3702D2-C41C-4DAA-BB26-9890565CF605}"/>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5</a:t>
            </a:r>
          </a:p>
        </p:txBody>
      </p:sp>
    </p:spTree>
    <p:extLst>
      <p:ext uri="{BB962C8B-B14F-4D97-AF65-F5344CB8AC3E}">
        <p14:creationId xmlns:p14="http://schemas.microsoft.com/office/powerpoint/2010/main" val="452646061"/>
      </p:ext>
    </p:extLst>
  </p:cSld>
</p:sld>
</file>

<file path=ppt/slides/slide28.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642778E0-3270-4800-BF1E-B99D464F235B}"/>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66DF861A-003C-406B-979A-91BABE2F5434}"/>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The Nurse Practice Act — continued</a:t>
            </a:r>
          </a:p>
        </p:txBody>
      </p:sp>
      <p:sp>
        <p:nvSpPr>
          <p:cNvPr id="3" name="">
            <a:extLst xmlns:a="http://schemas.openxmlformats.org/drawingml/2006/main">
              <a:ext uri="{FF2B5EF4-FFF2-40B4-BE49-F238E27FC236}">
                <a16:creationId xmlns:a16="http://schemas.microsoft.com/office/drawing/2014/main" id="{4F11BBD3-CC15-4F08-A6CD-D5038ACE333B}"/>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1</a:t>
            </a:r>
          </a:p>
        </p:txBody>
      </p:sp>
      <p:sp>
        <p:nvSpPr>
          <p:cNvPr id="4" name="">
            <a:extLst xmlns:a="http://schemas.openxmlformats.org/drawingml/2006/main">
              <a:ext uri="{FF2B5EF4-FFF2-40B4-BE49-F238E27FC236}">
                <a16:creationId xmlns:a16="http://schemas.microsoft.com/office/drawing/2014/main" id="{B6433A31-277B-49CF-B494-7DE0D5B389FF}"/>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28</a:t>
            </a:r>
          </a:p>
        </p:txBody>
      </p:sp>
      <p:sp>
        <p:nvSpPr>
          <p:cNvPr id="5" name="">
            <a:extLst xmlns:a="http://schemas.openxmlformats.org/drawingml/2006/main">
              <a:ext uri="{FF2B5EF4-FFF2-40B4-BE49-F238E27FC236}">
                <a16:creationId xmlns:a16="http://schemas.microsoft.com/office/drawing/2014/main" id="{6D3A762D-6308-4BC9-872B-18FAAB11A399}"/>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875">
                <a:solidFill>
                  <a:srgbClr val="13212D"/>
                </a:solidFill>
                <a:latin typeface="Helvetica Neue"/>
                <a:ea typeface="Helvetica Neue"/>
                <a:cs typeface="Helvetica Neue"/>
              </a:defRPr>
            </a:defPPr>
            <a:lvl1pPr>
              <a:defRPr sz="1875">
                <a:solidFill>
                  <a:srgbClr val="13212D"/>
                </a:solidFill>
                <a:latin typeface="Helvetica Neue"/>
                <a:ea typeface="Helvetica Neue"/>
                <a:cs typeface="Helvetica Neue"/>
              </a:defRPr>
            </a:lvl1pPr>
            <a:lvl2pPr>
              <a:defRPr sz="1875">
                <a:solidFill>
                  <a:srgbClr val="13212D"/>
                </a:solidFill>
                <a:latin typeface="Helvetica Neue"/>
                <a:ea typeface="Helvetica Neue"/>
                <a:cs typeface="Helvetica Neue"/>
              </a:defRPr>
            </a:lvl2pPr>
            <a:lvl3pPr>
              <a:defRPr sz="1875">
                <a:solidFill>
                  <a:srgbClr val="13212D"/>
                </a:solidFill>
                <a:latin typeface="Helvetica Neue"/>
                <a:ea typeface="Helvetica Neue"/>
                <a:cs typeface="Helvetica Neue"/>
              </a:defRPr>
            </a:lvl3pPr>
            <a:lvl4pPr>
              <a:defRPr sz="1875">
                <a:solidFill>
                  <a:srgbClr val="13212D"/>
                </a:solidFill>
                <a:latin typeface="Helvetica Neue"/>
                <a:ea typeface="Helvetica Neue"/>
                <a:cs typeface="Helvetica Neue"/>
              </a:defRPr>
            </a:lvl4pPr>
            <a:lvl5pPr>
              <a:defRPr sz="1875">
                <a:solidFill>
                  <a:srgbClr val="13212D"/>
                </a:solidFill>
                <a:latin typeface="Helvetica Neue"/>
                <a:ea typeface="Helvetica Neue"/>
                <a:cs typeface="Helvetica Neue"/>
              </a:defRPr>
            </a:lvl5pPr>
            <a:lvl6pPr>
              <a:defRPr sz="1875">
                <a:solidFill>
                  <a:srgbClr val="13212D"/>
                </a:solidFill>
                <a:latin typeface="Helvetica Neue"/>
                <a:ea typeface="Helvetica Neue"/>
                <a:cs typeface="Helvetica Neue"/>
              </a:defRPr>
            </a:lvl6pPr>
            <a:lvl7pPr>
              <a:defRPr sz="1875">
                <a:solidFill>
                  <a:srgbClr val="13212D"/>
                </a:solidFill>
                <a:latin typeface="Helvetica Neue"/>
                <a:ea typeface="Helvetica Neue"/>
                <a:cs typeface="Helvetica Neue"/>
              </a:defRPr>
            </a:lvl7pPr>
            <a:lvl8pPr>
              <a:defRPr sz="1875">
                <a:solidFill>
                  <a:srgbClr val="13212D"/>
                </a:solidFill>
                <a:latin typeface="Helvetica Neue"/>
                <a:ea typeface="Helvetica Neue"/>
                <a:cs typeface="Helvetica Neue"/>
              </a:defRPr>
            </a:lvl8pPr>
            <a:lvl9pPr>
              <a:defRPr sz="187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Rules to implement law Rule 64B9-12 was written by the Department of Professional Regulations to define the scope of practice of the Licensed Practical Nurse (LPN.) in the</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administration of intravenous therapy.</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The rules included in Chapter 64B9-12 specify how the Nurse Practice Act applies to nurses, institutions, agencies and the public.</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The area of intravenous therapy is so large and complex that numerous and repetitive requests came before the Board of Nursing to clarify this practice question.</a:t>
            </a:r>
          </a:p>
        </p:txBody>
      </p:sp>
      <p:sp>
        <p:nvSpPr>
          <p:cNvPr id="6" name="">
            <a:extLst xmlns:a="http://schemas.openxmlformats.org/drawingml/2006/main">
              <a:ext uri="{FF2B5EF4-FFF2-40B4-BE49-F238E27FC236}">
                <a16:creationId xmlns:a16="http://schemas.microsoft.com/office/drawing/2014/main" id="{A4308178-9A6F-4635-B642-0B7DA4A860BE}"/>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4B3C579A-4FC2-4DD6-BCE7-500BC59C1422}"/>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5</a:t>
            </a:r>
          </a:p>
        </p:txBody>
      </p:sp>
    </p:spTree>
    <p:extLst>
      <p:ext uri="{BB962C8B-B14F-4D97-AF65-F5344CB8AC3E}">
        <p14:creationId xmlns:p14="http://schemas.microsoft.com/office/powerpoint/2010/main" val="487513243"/>
      </p:ext>
    </p:extLst>
  </p:cSld>
</p:sld>
</file>

<file path=ppt/slides/slide29.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2C1CDEAA-BFD2-4B7A-9C95-AC855C647AE3}"/>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014BFA5B-BF68-4958-A68F-250FADD3B960}"/>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The Nurse Practice Act — continued</a:t>
            </a:r>
          </a:p>
        </p:txBody>
      </p:sp>
      <p:sp>
        <p:nvSpPr>
          <p:cNvPr id="3" name="">
            <a:extLst xmlns:a="http://schemas.openxmlformats.org/drawingml/2006/main">
              <a:ext uri="{FF2B5EF4-FFF2-40B4-BE49-F238E27FC236}">
                <a16:creationId xmlns:a16="http://schemas.microsoft.com/office/drawing/2014/main" id="{4E78B9B1-2443-4FF9-9762-4F12A6E3FF1C}"/>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1</a:t>
            </a:r>
          </a:p>
        </p:txBody>
      </p:sp>
      <p:sp>
        <p:nvSpPr>
          <p:cNvPr id="4" name="">
            <a:extLst xmlns:a="http://schemas.openxmlformats.org/drawingml/2006/main">
              <a:ext uri="{FF2B5EF4-FFF2-40B4-BE49-F238E27FC236}">
                <a16:creationId xmlns:a16="http://schemas.microsoft.com/office/drawing/2014/main" id="{D5BFCC11-0745-4579-8B83-4B805AA25A9A}"/>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29</a:t>
            </a:r>
          </a:p>
        </p:txBody>
      </p:sp>
      <p:sp>
        <p:nvSpPr>
          <p:cNvPr id="5" name="">
            <a:extLst xmlns:a="http://schemas.openxmlformats.org/drawingml/2006/main">
              <a:ext uri="{FF2B5EF4-FFF2-40B4-BE49-F238E27FC236}">
                <a16:creationId xmlns:a16="http://schemas.microsoft.com/office/drawing/2014/main" id="{12C20F7D-487E-41ED-9962-E6291BAFEE93}"/>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875">
                <a:solidFill>
                  <a:srgbClr val="13212D"/>
                </a:solidFill>
                <a:latin typeface="Helvetica Neue"/>
                <a:ea typeface="Helvetica Neue"/>
                <a:cs typeface="Helvetica Neue"/>
              </a:defRPr>
            </a:defPPr>
            <a:lvl1pPr>
              <a:defRPr sz="1875">
                <a:solidFill>
                  <a:srgbClr val="13212D"/>
                </a:solidFill>
                <a:latin typeface="Helvetica Neue"/>
                <a:ea typeface="Helvetica Neue"/>
                <a:cs typeface="Helvetica Neue"/>
              </a:defRPr>
            </a:lvl1pPr>
            <a:lvl2pPr>
              <a:defRPr sz="1875">
                <a:solidFill>
                  <a:srgbClr val="13212D"/>
                </a:solidFill>
                <a:latin typeface="Helvetica Neue"/>
                <a:ea typeface="Helvetica Neue"/>
                <a:cs typeface="Helvetica Neue"/>
              </a:defRPr>
            </a:lvl2pPr>
            <a:lvl3pPr>
              <a:defRPr sz="1875">
                <a:solidFill>
                  <a:srgbClr val="13212D"/>
                </a:solidFill>
                <a:latin typeface="Helvetica Neue"/>
                <a:ea typeface="Helvetica Neue"/>
                <a:cs typeface="Helvetica Neue"/>
              </a:defRPr>
            </a:lvl3pPr>
            <a:lvl4pPr>
              <a:defRPr sz="1875">
                <a:solidFill>
                  <a:srgbClr val="13212D"/>
                </a:solidFill>
                <a:latin typeface="Helvetica Neue"/>
                <a:ea typeface="Helvetica Neue"/>
                <a:cs typeface="Helvetica Neue"/>
              </a:defRPr>
            </a:lvl4pPr>
            <a:lvl5pPr>
              <a:defRPr sz="1875">
                <a:solidFill>
                  <a:srgbClr val="13212D"/>
                </a:solidFill>
                <a:latin typeface="Helvetica Neue"/>
                <a:ea typeface="Helvetica Neue"/>
                <a:cs typeface="Helvetica Neue"/>
              </a:defRPr>
            </a:lvl5pPr>
            <a:lvl6pPr>
              <a:defRPr sz="1875">
                <a:solidFill>
                  <a:srgbClr val="13212D"/>
                </a:solidFill>
                <a:latin typeface="Helvetica Neue"/>
                <a:ea typeface="Helvetica Neue"/>
                <a:cs typeface="Helvetica Neue"/>
              </a:defRPr>
            </a:lvl6pPr>
            <a:lvl7pPr>
              <a:defRPr sz="1875">
                <a:solidFill>
                  <a:srgbClr val="13212D"/>
                </a:solidFill>
                <a:latin typeface="Helvetica Neue"/>
                <a:ea typeface="Helvetica Neue"/>
                <a:cs typeface="Helvetica Neue"/>
              </a:defRPr>
            </a:lvl7pPr>
            <a:lvl8pPr>
              <a:defRPr sz="1875">
                <a:solidFill>
                  <a:srgbClr val="13212D"/>
                </a:solidFill>
                <a:latin typeface="Helvetica Neue"/>
                <a:ea typeface="Helvetica Neue"/>
                <a:cs typeface="Helvetica Neue"/>
              </a:defRPr>
            </a:lvl8pPr>
            <a:lvl9pPr>
              <a:defRPr sz="187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After several years of debate and public hearings, the Board expanded the scope of practice of the LN to include the limited administration of Intravenous (IV) Therapy.</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While it is not mandatory for the Licensed Practical Nurse to take the thirty (30) hour course or to administer IV therapy, it is the requirement and policy of the employing institution</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that he or she meet all requirements set forth in the rule in order to administer any IV therapy.</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Statements in the following section are taken directly from the new rule 64B912(Revised: August 1999).</a:t>
            </a:r>
          </a:p>
        </p:txBody>
      </p:sp>
      <p:sp>
        <p:nvSpPr>
          <p:cNvPr id="6" name="">
            <a:extLst xmlns:a="http://schemas.openxmlformats.org/drawingml/2006/main">
              <a:ext uri="{FF2B5EF4-FFF2-40B4-BE49-F238E27FC236}">
                <a16:creationId xmlns:a16="http://schemas.microsoft.com/office/drawing/2014/main" id="{77F5C301-640C-4586-ABE8-CD5A21F93CEE}"/>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1FC12972-5F72-4E55-B520-321310F572A4}"/>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5</a:t>
            </a:r>
          </a:p>
        </p:txBody>
      </p:sp>
    </p:spTree>
    <p:extLst>
      <p:ext uri="{BB962C8B-B14F-4D97-AF65-F5344CB8AC3E}">
        <p14:creationId xmlns:p14="http://schemas.microsoft.com/office/powerpoint/2010/main" val="650916674"/>
      </p:ext>
    </p:extLst>
  </p:cSld>
</p:sld>
</file>

<file path=ppt/slides/slide30.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46414035-72B8-487A-9E87-0BEFE9995826}"/>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1606F7BC-88C1-4603-B6D6-3EEC9FC9DD03}"/>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The Nurse Practice Act — continued</a:t>
            </a:r>
          </a:p>
        </p:txBody>
      </p:sp>
      <p:sp>
        <p:nvSpPr>
          <p:cNvPr id="3" name="">
            <a:extLst xmlns:a="http://schemas.openxmlformats.org/drawingml/2006/main">
              <a:ext uri="{FF2B5EF4-FFF2-40B4-BE49-F238E27FC236}">
                <a16:creationId xmlns:a16="http://schemas.microsoft.com/office/drawing/2014/main" id="{23D7BA54-8C1D-42D5-8FB8-50E9D8482AD3}"/>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1</a:t>
            </a:r>
          </a:p>
        </p:txBody>
      </p:sp>
      <p:sp>
        <p:nvSpPr>
          <p:cNvPr id="4" name="">
            <a:extLst xmlns:a="http://schemas.openxmlformats.org/drawingml/2006/main">
              <a:ext uri="{FF2B5EF4-FFF2-40B4-BE49-F238E27FC236}">
                <a16:creationId xmlns:a16="http://schemas.microsoft.com/office/drawing/2014/main" id="{3C65F328-281C-4B8E-AB0B-8DECE5D7F1E2}"/>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30</a:t>
            </a:r>
          </a:p>
        </p:txBody>
      </p:sp>
      <p:sp>
        <p:nvSpPr>
          <p:cNvPr id="5" name="">
            <a:extLst xmlns:a="http://schemas.openxmlformats.org/drawingml/2006/main">
              <a:ext uri="{FF2B5EF4-FFF2-40B4-BE49-F238E27FC236}">
                <a16:creationId xmlns:a16="http://schemas.microsoft.com/office/drawing/2014/main" id="{CF1C6627-C7B5-4E58-9775-2C0F52CE8F9A}"/>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875">
                <a:solidFill>
                  <a:srgbClr val="13212D"/>
                </a:solidFill>
                <a:latin typeface="Helvetica Neue"/>
                <a:ea typeface="Helvetica Neue"/>
                <a:cs typeface="Helvetica Neue"/>
              </a:defRPr>
            </a:defPPr>
            <a:lvl1pPr>
              <a:defRPr sz="1875">
                <a:solidFill>
                  <a:srgbClr val="13212D"/>
                </a:solidFill>
                <a:latin typeface="Helvetica Neue"/>
                <a:ea typeface="Helvetica Neue"/>
                <a:cs typeface="Helvetica Neue"/>
              </a:defRPr>
            </a:lvl1pPr>
            <a:lvl2pPr>
              <a:defRPr sz="1875">
                <a:solidFill>
                  <a:srgbClr val="13212D"/>
                </a:solidFill>
                <a:latin typeface="Helvetica Neue"/>
                <a:ea typeface="Helvetica Neue"/>
                <a:cs typeface="Helvetica Neue"/>
              </a:defRPr>
            </a:lvl2pPr>
            <a:lvl3pPr>
              <a:defRPr sz="1875">
                <a:solidFill>
                  <a:srgbClr val="13212D"/>
                </a:solidFill>
                <a:latin typeface="Helvetica Neue"/>
                <a:ea typeface="Helvetica Neue"/>
                <a:cs typeface="Helvetica Neue"/>
              </a:defRPr>
            </a:lvl3pPr>
            <a:lvl4pPr>
              <a:defRPr sz="1875">
                <a:solidFill>
                  <a:srgbClr val="13212D"/>
                </a:solidFill>
                <a:latin typeface="Helvetica Neue"/>
                <a:ea typeface="Helvetica Neue"/>
                <a:cs typeface="Helvetica Neue"/>
              </a:defRPr>
            </a:lvl4pPr>
            <a:lvl5pPr>
              <a:defRPr sz="1875">
                <a:solidFill>
                  <a:srgbClr val="13212D"/>
                </a:solidFill>
                <a:latin typeface="Helvetica Neue"/>
                <a:ea typeface="Helvetica Neue"/>
                <a:cs typeface="Helvetica Neue"/>
              </a:defRPr>
            </a:lvl5pPr>
            <a:lvl6pPr>
              <a:defRPr sz="1875">
                <a:solidFill>
                  <a:srgbClr val="13212D"/>
                </a:solidFill>
                <a:latin typeface="Helvetica Neue"/>
                <a:ea typeface="Helvetica Neue"/>
                <a:cs typeface="Helvetica Neue"/>
              </a:defRPr>
            </a:lvl6pPr>
            <a:lvl7pPr>
              <a:defRPr sz="1875">
                <a:solidFill>
                  <a:srgbClr val="13212D"/>
                </a:solidFill>
                <a:latin typeface="Helvetica Neue"/>
                <a:ea typeface="Helvetica Neue"/>
                <a:cs typeface="Helvetica Neue"/>
              </a:defRPr>
            </a:lvl7pPr>
            <a:lvl8pPr>
              <a:defRPr sz="1875">
                <a:solidFill>
                  <a:srgbClr val="13212D"/>
                </a:solidFill>
                <a:latin typeface="Helvetica Neue"/>
                <a:ea typeface="Helvetica Neue"/>
                <a:cs typeface="Helvetica Neue"/>
              </a:defRPr>
            </a:lvl8pPr>
            <a:lvl9pPr>
              <a:defRPr sz="187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The Board of Nursing must make any interpretation of the law.</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The Licensed Practical Nurse may contact, at any time, the Board to request a declaratory statement on a specific question.</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(Rule 64B9-1.006).</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Rule 64B9-12 Administration of IV Therapy by the Licensed Practical Nurse 64B9-12.001 Statements of Intent and Purpose The "Practice of Practical Nursing" as defined by Section</a:t>
            </a:r>
          </a:p>
        </p:txBody>
      </p:sp>
      <p:sp>
        <p:nvSpPr>
          <p:cNvPr id="6" name="">
            <a:extLst xmlns:a="http://schemas.openxmlformats.org/drawingml/2006/main">
              <a:ext uri="{FF2B5EF4-FFF2-40B4-BE49-F238E27FC236}">
                <a16:creationId xmlns:a16="http://schemas.microsoft.com/office/drawing/2014/main" id="{199A1F33-1DE3-4539-9798-5B6ACA079C41}"/>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245D317E-5A7C-438B-93C2-8F87D46AF7B1}"/>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5</a:t>
            </a:r>
          </a:p>
        </p:txBody>
      </p:sp>
    </p:spTree>
    <p:extLst>
      <p:ext uri="{BB962C8B-B14F-4D97-AF65-F5344CB8AC3E}">
        <p14:creationId xmlns:p14="http://schemas.microsoft.com/office/powerpoint/2010/main" val="1595359688"/>
      </p:ext>
    </p:extLst>
  </p:cSld>
</p:sld>
</file>

<file path=ppt/slides/slide31.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639E6959-6323-4F68-8FDE-F9C560CD3C4C}"/>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89C331B5-10D5-4DAD-8B4A-7778505CFEDD}"/>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The Nurse Practice Act — continued</a:t>
            </a:r>
          </a:p>
        </p:txBody>
      </p:sp>
      <p:sp>
        <p:nvSpPr>
          <p:cNvPr id="3" name="">
            <a:extLst xmlns:a="http://schemas.openxmlformats.org/drawingml/2006/main">
              <a:ext uri="{FF2B5EF4-FFF2-40B4-BE49-F238E27FC236}">
                <a16:creationId xmlns:a16="http://schemas.microsoft.com/office/drawing/2014/main" id="{D14AEB63-945E-4C96-9898-16E153D7AAEE}"/>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1</a:t>
            </a:r>
          </a:p>
        </p:txBody>
      </p:sp>
      <p:sp>
        <p:nvSpPr>
          <p:cNvPr id="4" name="">
            <a:extLst xmlns:a="http://schemas.openxmlformats.org/drawingml/2006/main">
              <a:ext uri="{FF2B5EF4-FFF2-40B4-BE49-F238E27FC236}">
                <a16:creationId xmlns:a16="http://schemas.microsoft.com/office/drawing/2014/main" id="{68568977-D502-4DAB-B40A-C2ED4F7662B4}"/>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31</a:t>
            </a:r>
          </a:p>
        </p:txBody>
      </p:sp>
      <p:sp>
        <p:nvSpPr>
          <p:cNvPr id="5" name="">
            <a:extLst xmlns:a="http://schemas.openxmlformats.org/drawingml/2006/main">
              <a:ext uri="{FF2B5EF4-FFF2-40B4-BE49-F238E27FC236}">
                <a16:creationId xmlns:a16="http://schemas.microsoft.com/office/drawing/2014/main" id="{FF973D79-A07A-4C74-AEB0-A314C887220D}"/>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875">
                <a:solidFill>
                  <a:srgbClr val="13212D"/>
                </a:solidFill>
                <a:latin typeface="Helvetica Neue"/>
                <a:ea typeface="Helvetica Neue"/>
                <a:cs typeface="Helvetica Neue"/>
              </a:defRPr>
            </a:defPPr>
            <a:lvl1pPr>
              <a:defRPr sz="1875">
                <a:solidFill>
                  <a:srgbClr val="13212D"/>
                </a:solidFill>
                <a:latin typeface="Helvetica Neue"/>
                <a:ea typeface="Helvetica Neue"/>
                <a:cs typeface="Helvetica Neue"/>
              </a:defRPr>
            </a:lvl1pPr>
            <a:lvl2pPr>
              <a:defRPr sz="1875">
                <a:solidFill>
                  <a:srgbClr val="13212D"/>
                </a:solidFill>
                <a:latin typeface="Helvetica Neue"/>
                <a:ea typeface="Helvetica Neue"/>
                <a:cs typeface="Helvetica Neue"/>
              </a:defRPr>
            </a:lvl2pPr>
            <a:lvl3pPr>
              <a:defRPr sz="1875">
                <a:solidFill>
                  <a:srgbClr val="13212D"/>
                </a:solidFill>
                <a:latin typeface="Helvetica Neue"/>
                <a:ea typeface="Helvetica Neue"/>
                <a:cs typeface="Helvetica Neue"/>
              </a:defRPr>
            </a:lvl3pPr>
            <a:lvl4pPr>
              <a:defRPr sz="1875">
                <a:solidFill>
                  <a:srgbClr val="13212D"/>
                </a:solidFill>
                <a:latin typeface="Helvetica Neue"/>
                <a:ea typeface="Helvetica Neue"/>
                <a:cs typeface="Helvetica Neue"/>
              </a:defRPr>
            </a:lvl4pPr>
            <a:lvl5pPr>
              <a:defRPr sz="1875">
                <a:solidFill>
                  <a:srgbClr val="13212D"/>
                </a:solidFill>
                <a:latin typeface="Helvetica Neue"/>
                <a:ea typeface="Helvetica Neue"/>
                <a:cs typeface="Helvetica Neue"/>
              </a:defRPr>
            </a:lvl5pPr>
            <a:lvl6pPr>
              <a:defRPr sz="1875">
                <a:solidFill>
                  <a:srgbClr val="13212D"/>
                </a:solidFill>
                <a:latin typeface="Helvetica Neue"/>
                <a:ea typeface="Helvetica Neue"/>
                <a:cs typeface="Helvetica Neue"/>
              </a:defRPr>
            </a:lvl6pPr>
            <a:lvl7pPr>
              <a:defRPr sz="1875">
                <a:solidFill>
                  <a:srgbClr val="13212D"/>
                </a:solidFill>
                <a:latin typeface="Helvetica Neue"/>
                <a:ea typeface="Helvetica Neue"/>
                <a:cs typeface="Helvetica Neue"/>
              </a:defRPr>
            </a:lvl7pPr>
            <a:lvl8pPr>
              <a:defRPr sz="1875">
                <a:solidFill>
                  <a:srgbClr val="13212D"/>
                </a:solidFill>
                <a:latin typeface="Helvetica Neue"/>
                <a:ea typeface="Helvetica Neue"/>
                <a:cs typeface="Helvetica Neue"/>
              </a:defRPr>
            </a:lvl8pPr>
            <a:lvl9pPr>
              <a:defRPr sz="187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464.003(3) (b)</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Florida Statutes, includes the "administration of treatments and medication." under direction, and holds the licensed practical nurse "responsible and accountable for making decisions</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based upon experience in nursing." As medical science advances and the demands for health care in Florida grow, the scope of nursing practice, in general, and of the practice of</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practical nursing, in particular, is expanding.</a:t>
            </a:r>
          </a:p>
        </p:txBody>
      </p:sp>
      <p:sp>
        <p:nvSpPr>
          <p:cNvPr id="6" name="">
            <a:extLst xmlns:a="http://schemas.openxmlformats.org/drawingml/2006/main">
              <a:ext uri="{FF2B5EF4-FFF2-40B4-BE49-F238E27FC236}">
                <a16:creationId xmlns:a16="http://schemas.microsoft.com/office/drawing/2014/main" id="{3DBE21CB-4D3B-4F8B-9EF4-C1425C50179B}"/>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47A2117A-A472-407A-A427-AB466D92BE79}"/>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5</a:t>
            </a:r>
          </a:p>
        </p:txBody>
      </p:sp>
    </p:spTree>
    <p:extLst>
      <p:ext uri="{BB962C8B-B14F-4D97-AF65-F5344CB8AC3E}">
        <p14:creationId xmlns:p14="http://schemas.microsoft.com/office/powerpoint/2010/main" val="1383059798"/>
      </p:ext>
    </p:extLst>
  </p:cSld>
</p:sld>
</file>

<file path=ppt/slides/slide32.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A6EB184D-D199-4098-98F6-EC5FC9FAE349}"/>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E29FE4AA-8FE6-4AC8-ADE2-1B3F70B2718D}"/>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The Nurse Practice Act — continued</a:t>
            </a:r>
          </a:p>
        </p:txBody>
      </p:sp>
      <p:sp>
        <p:nvSpPr>
          <p:cNvPr id="3" name="">
            <a:extLst xmlns:a="http://schemas.openxmlformats.org/drawingml/2006/main">
              <a:ext uri="{FF2B5EF4-FFF2-40B4-BE49-F238E27FC236}">
                <a16:creationId xmlns:a16="http://schemas.microsoft.com/office/drawing/2014/main" id="{8319C9C8-FDB0-4AB5-B0CB-8D2339138066}"/>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1</a:t>
            </a:r>
          </a:p>
        </p:txBody>
      </p:sp>
      <p:sp>
        <p:nvSpPr>
          <p:cNvPr id="4" name="">
            <a:extLst xmlns:a="http://schemas.openxmlformats.org/drawingml/2006/main">
              <a:ext uri="{FF2B5EF4-FFF2-40B4-BE49-F238E27FC236}">
                <a16:creationId xmlns:a16="http://schemas.microsoft.com/office/drawing/2014/main" id="{A274A5DC-15F0-42BC-B6D9-A48F2BEC396B}"/>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32</a:t>
            </a:r>
          </a:p>
        </p:txBody>
      </p:sp>
      <p:sp>
        <p:nvSpPr>
          <p:cNvPr id="5" name="">
            <a:extLst xmlns:a="http://schemas.openxmlformats.org/drawingml/2006/main">
              <a:ext uri="{FF2B5EF4-FFF2-40B4-BE49-F238E27FC236}">
                <a16:creationId xmlns:a16="http://schemas.microsoft.com/office/drawing/2014/main" id="{5F128391-509C-49AA-902D-1EEC8DCA8073}"/>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100">
                <a:solidFill>
                  <a:srgbClr val="13212D"/>
                </a:solidFill>
                <a:latin typeface="Helvetica Neue"/>
                <a:ea typeface="Helvetica Neue"/>
                <a:cs typeface="Helvetica Neue"/>
              </a:defRPr>
            </a:defPPr>
            <a:lvl1pPr>
              <a:defRPr sz="2100">
                <a:solidFill>
                  <a:srgbClr val="13212D"/>
                </a:solidFill>
                <a:latin typeface="Helvetica Neue"/>
                <a:ea typeface="Helvetica Neue"/>
                <a:cs typeface="Helvetica Neue"/>
              </a:defRPr>
            </a:lvl1pPr>
            <a:lvl2pPr>
              <a:defRPr sz="2100">
                <a:solidFill>
                  <a:srgbClr val="13212D"/>
                </a:solidFill>
                <a:latin typeface="Helvetica Neue"/>
                <a:ea typeface="Helvetica Neue"/>
                <a:cs typeface="Helvetica Neue"/>
              </a:defRPr>
            </a:lvl2pPr>
            <a:lvl3pPr>
              <a:defRPr sz="2100">
                <a:solidFill>
                  <a:srgbClr val="13212D"/>
                </a:solidFill>
                <a:latin typeface="Helvetica Neue"/>
                <a:ea typeface="Helvetica Neue"/>
                <a:cs typeface="Helvetica Neue"/>
              </a:defRPr>
            </a:lvl3pPr>
            <a:lvl4pPr>
              <a:defRPr sz="2100">
                <a:solidFill>
                  <a:srgbClr val="13212D"/>
                </a:solidFill>
                <a:latin typeface="Helvetica Neue"/>
                <a:ea typeface="Helvetica Neue"/>
                <a:cs typeface="Helvetica Neue"/>
              </a:defRPr>
            </a:lvl4pPr>
            <a:lvl5pPr>
              <a:defRPr sz="2100">
                <a:solidFill>
                  <a:srgbClr val="13212D"/>
                </a:solidFill>
                <a:latin typeface="Helvetica Neue"/>
                <a:ea typeface="Helvetica Neue"/>
                <a:cs typeface="Helvetica Neue"/>
              </a:defRPr>
            </a:lvl5pPr>
            <a:lvl6pPr>
              <a:defRPr sz="2100">
                <a:solidFill>
                  <a:srgbClr val="13212D"/>
                </a:solidFill>
                <a:latin typeface="Helvetica Neue"/>
                <a:ea typeface="Helvetica Neue"/>
                <a:cs typeface="Helvetica Neue"/>
              </a:defRPr>
            </a:lvl6pPr>
            <a:lvl7pPr>
              <a:defRPr sz="2100">
                <a:solidFill>
                  <a:srgbClr val="13212D"/>
                </a:solidFill>
                <a:latin typeface="Helvetica Neue"/>
                <a:ea typeface="Helvetica Neue"/>
                <a:cs typeface="Helvetica Neue"/>
              </a:defRPr>
            </a:lvl7pPr>
            <a:lvl8pPr>
              <a:defRPr sz="2100">
                <a:solidFill>
                  <a:srgbClr val="13212D"/>
                </a:solidFill>
                <a:latin typeface="Helvetica Neue"/>
                <a:ea typeface="Helvetica Neue"/>
                <a:cs typeface="Helvetica Neue"/>
              </a:defRPr>
            </a:lvl8pPr>
            <a:lvl9pPr>
              <a:defRPr sz="2100">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It has become necessary that the Licensed Practical Nurse, when qualified by training and education and when approved by the institution at which the Licensed Practical Nurse is</a:t>
            </a:r>
          </a:p>
        </p:txBody>
      </p:sp>
      <p:sp>
        <p:nvSpPr>
          <p:cNvPr id="6" name="">
            <a:extLst xmlns:a="http://schemas.openxmlformats.org/drawingml/2006/main">
              <a:ext uri="{FF2B5EF4-FFF2-40B4-BE49-F238E27FC236}">
                <a16:creationId xmlns:a16="http://schemas.microsoft.com/office/drawing/2014/main" id="{C5375016-667C-4587-972E-4E4FEAA9C96C}"/>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9E32702F-860F-406C-8A75-D7DC7463DAD5}"/>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5</a:t>
            </a:r>
          </a:p>
        </p:txBody>
      </p:sp>
    </p:spTree>
    <p:extLst>
      <p:ext uri="{BB962C8B-B14F-4D97-AF65-F5344CB8AC3E}">
        <p14:creationId xmlns:p14="http://schemas.microsoft.com/office/powerpoint/2010/main" val="767315265"/>
      </p:ext>
    </p:extLst>
  </p:cSld>
</p:sld>
</file>

<file path=ppt/slides/slide33.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6060C11A-B699-4C4F-A295-70AB5CF56BDE}"/>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CD71A16B-EA3D-415F-84C9-87975BF009C4}"/>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4096"/>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professional nursing specialized knowledge, judgment and skill.</a:t>
            </a:r>
          </a:p>
        </p:txBody>
      </p:sp>
      <p:sp>
        <p:nvSpPr>
          <p:cNvPr id="3" name="">
            <a:extLst xmlns:a="http://schemas.openxmlformats.org/drawingml/2006/main">
              <a:ext uri="{FF2B5EF4-FFF2-40B4-BE49-F238E27FC236}">
                <a16:creationId xmlns:a16="http://schemas.microsoft.com/office/drawing/2014/main" id="{D05E1FE9-14D2-469D-8500-CE9F8639C449}"/>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1</a:t>
            </a:r>
          </a:p>
        </p:txBody>
      </p:sp>
      <p:sp>
        <p:nvSpPr>
          <p:cNvPr id="4" name="">
            <a:extLst xmlns:a="http://schemas.openxmlformats.org/drawingml/2006/main">
              <a:ext uri="{FF2B5EF4-FFF2-40B4-BE49-F238E27FC236}">
                <a16:creationId xmlns:a16="http://schemas.microsoft.com/office/drawing/2014/main" id="{75FCD2EC-3FA4-4B80-AB13-3E050ECB46B5}"/>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33</a:t>
            </a:r>
          </a:p>
        </p:txBody>
      </p:sp>
      <p:sp>
        <p:nvSpPr>
          <p:cNvPr id="5" name="">
            <a:extLst xmlns:a="http://schemas.openxmlformats.org/drawingml/2006/main">
              <a:ext uri="{FF2B5EF4-FFF2-40B4-BE49-F238E27FC236}">
                <a16:creationId xmlns:a16="http://schemas.microsoft.com/office/drawing/2014/main" id="{A75174BA-EE0F-4E3B-B847-DCDABD095ECD}"/>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875">
                <a:solidFill>
                  <a:srgbClr val="13212D"/>
                </a:solidFill>
                <a:latin typeface="Helvetica Neue"/>
                <a:ea typeface="Helvetica Neue"/>
                <a:cs typeface="Helvetica Neue"/>
              </a:defRPr>
            </a:defPPr>
            <a:lvl1pPr>
              <a:defRPr sz="1875">
                <a:solidFill>
                  <a:srgbClr val="13212D"/>
                </a:solidFill>
                <a:latin typeface="Helvetica Neue"/>
                <a:ea typeface="Helvetica Neue"/>
                <a:cs typeface="Helvetica Neue"/>
              </a:defRPr>
            </a:lvl1pPr>
            <a:lvl2pPr>
              <a:defRPr sz="1875">
                <a:solidFill>
                  <a:srgbClr val="13212D"/>
                </a:solidFill>
                <a:latin typeface="Helvetica Neue"/>
                <a:ea typeface="Helvetica Neue"/>
                <a:cs typeface="Helvetica Neue"/>
              </a:defRPr>
            </a:lvl2pPr>
            <a:lvl3pPr>
              <a:defRPr sz="1875">
                <a:solidFill>
                  <a:srgbClr val="13212D"/>
                </a:solidFill>
                <a:latin typeface="Helvetica Neue"/>
                <a:ea typeface="Helvetica Neue"/>
                <a:cs typeface="Helvetica Neue"/>
              </a:defRPr>
            </a:lvl3pPr>
            <a:lvl4pPr>
              <a:defRPr sz="1875">
                <a:solidFill>
                  <a:srgbClr val="13212D"/>
                </a:solidFill>
                <a:latin typeface="Helvetica Neue"/>
                <a:ea typeface="Helvetica Neue"/>
                <a:cs typeface="Helvetica Neue"/>
              </a:defRPr>
            </a:lvl4pPr>
            <a:lvl5pPr>
              <a:defRPr sz="1875">
                <a:solidFill>
                  <a:srgbClr val="13212D"/>
                </a:solidFill>
                <a:latin typeface="Helvetica Neue"/>
                <a:ea typeface="Helvetica Neue"/>
                <a:cs typeface="Helvetica Neue"/>
              </a:defRPr>
            </a:lvl5pPr>
            <a:lvl6pPr>
              <a:defRPr sz="1875">
                <a:solidFill>
                  <a:srgbClr val="13212D"/>
                </a:solidFill>
                <a:latin typeface="Helvetica Neue"/>
                <a:ea typeface="Helvetica Neue"/>
                <a:cs typeface="Helvetica Neue"/>
              </a:defRPr>
            </a:lvl6pPr>
            <a:lvl7pPr>
              <a:defRPr sz="1875">
                <a:solidFill>
                  <a:srgbClr val="13212D"/>
                </a:solidFill>
                <a:latin typeface="Helvetica Neue"/>
                <a:ea typeface="Helvetica Neue"/>
                <a:cs typeface="Helvetica Neue"/>
              </a:defRPr>
            </a:lvl7pPr>
            <a:lvl8pPr>
              <a:defRPr sz="1875">
                <a:solidFill>
                  <a:srgbClr val="13212D"/>
                </a:solidFill>
                <a:latin typeface="Helvetica Neue"/>
                <a:ea typeface="Helvetica Neue"/>
                <a:cs typeface="Helvetica Neue"/>
              </a:defRPr>
            </a:lvl8pPr>
            <a:lvl9pPr>
              <a:defRPr sz="187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employed, engage in the limited administration of intravenous therapy both to serve the public and to allow the professional nurse to better perform those acts requiring The purpose of</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this rule is to protect the public by ensuring the availability of intravenous therapy and its competent administration in the care of the ill, injured or the infirm.</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In keeping with the purpose, this rule authorizes the qualified Licensed Practical Nurse to administer those aspects of intravenous therapy within the scope of practice of the licensed</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practical nurse, and sets out the educational and/or competency verification necessary to administer, under direction, limited forms of intravenous therapy.</a:t>
            </a:r>
          </a:p>
        </p:txBody>
      </p:sp>
      <p:sp>
        <p:nvSpPr>
          <p:cNvPr id="6" name="">
            <a:extLst xmlns:a="http://schemas.openxmlformats.org/drawingml/2006/main">
              <a:ext uri="{FF2B5EF4-FFF2-40B4-BE49-F238E27FC236}">
                <a16:creationId xmlns:a16="http://schemas.microsoft.com/office/drawing/2014/main" id="{3FA2D081-260B-4A37-B81C-0C089EC12192}"/>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92AF1006-D815-47A8-BF22-8103A0753371}"/>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6</a:t>
            </a:r>
          </a:p>
        </p:txBody>
      </p:sp>
    </p:spTree>
    <p:extLst>
      <p:ext uri="{BB962C8B-B14F-4D97-AF65-F5344CB8AC3E}">
        <p14:creationId xmlns:p14="http://schemas.microsoft.com/office/powerpoint/2010/main" val="1921897241"/>
      </p:ext>
    </p:extLst>
  </p:cSld>
</p:sld>
</file>

<file path=ppt/slides/slide34.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1739D725-89A2-41E5-997C-64EB5E324727}"/>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B6A7D5A5-C8B5-40B0-80E4-B7A0C84C2D5B}"/>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8426"/>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professional nursing specialized knowledge, judgment and skill. — continued</a:t>
            </a:r>
          </a:p>
        </p:txBody>
      </p:sp>
      <p:sp>
        <p:nvSpPr>
          <p:cNvPr id="3" name="">
            <a:extLst xmlns:a="http://schemas.openxmlformats.org/drawingml/2006/main">
              <a:ext uri="{FF2B5EF4-FFF2-40B4-BE49-F238E27FC236}">
                <a16:creationId xmlns:a16="http://schemas.microsoft.com/office/drawing/2014/main" id="{97D37AE7-DAF9-4856-B846-75D09C9EC223}"/>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1</a:t>
            </a:r>
          </a:p>
        </p:txBody>
      </p:sp>
      <p:sp>
        <p:nvSpPr>
          <p:cNvPr id="4" name="">
            <a:extLst xmlns:a="http://schemas.openxmlformats.org/drawingml/2006/main">
              <a:ext uri="{FF2B5EF4-FFF2-40B4-BE49-F238E27FC236}">
                <a16:creationId xmlns:a16="http://schemas.microsoft.com/office/drawing/2014/main" id="{99E7DDDD-80F7-46A7-8072-7FF62452B134}"/>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34</a:t>
            </a:r>
          </a:p>
        </p:txBody>
      </p:sp>
      <p:sp>
        <p:nvSpPr>
          <p:cNvPr id="5" name="">
            <a:extLst xmlns:a="http://schemas.openxmlformats.org/drawingml/2006/main">
              <a:ext uri="{FF2B5EF4-FFF2-40B4-BE49-F238E27FC236}">
                <a16:creationId xmlns:a16="http://schemas.microsoft.com/office/drawing/2014/main" id="{9C8019F3-1A44-42C0-AB2F-008A5B235A9E}"/>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875">
                <a:solidFill>
                  <a:srgbClr val="13212D"/>
                </a:solidFill>
                <a:latin typeface="Helvetica Neue"/>
                <a:ea typeface="Helvetica Neue"/>
                <a:cs typeface="Helvetica Neue"/>
              </a:defRPr>
            </a:defPPr>
            <a:lvl1pPr>
              <a:defRPr sz="1875">
                <a:solidFill>
                  <a:srgbClr val="13212D"/>
                </a:solidFill>
                <a:latin typeface="Helvetica Neue"/>
                <a:ea typeface="Helvetica Neue"/>
                <a:cs typeface="Helvetica Neue"/>
              </a:defRPr>
            </a:lvl1pPr>
            <a:lvl2pPr>
              <a:defRPr sz="1875">
                <a:solidFill>
                  <a:srgbClr val="13212D"/>
                </a:solidFill>
                <a:latin typeface="Helvetica Neue"/>
                <a:ea typeface="Helvetica Neue"/>
                <a:cs typeface="Helvetica Neue"/>
              </a:defRPr>
            </a:lvl2pPr>
            <a:lvl3pPr>
              <a:defRPr sz="1875">
                <a:solidFill>
                  <a:srgbClr val="13212D"/>
                </a:solidFill>
                <a:latin typeface="Helvetica Neue"/>
                <a:ea typeface="Helvetica Neue"/>
                <a:cs typeface="Helvetica Neue"/>
              </a:defRPr>
            </a:lvl3pPr>
            <a:lvl4pPr>
              <a:defRPr sz="1875">
                <a:solidFill>
                  <a:srgbClr val="13212D"/>
                </a:solidFill>
                <a:latin typeface="Helvetica Neue"/>
                <a:ea typeface="Helvetica Neue"/>
                <a:cs typeface="Helvetica Neue"/>
              </a:defRPr>
            </a:lvl4pPr>
            <a:lvl5pPr>
              <a:defRPr sz="1875">
                <a:solidFill>
                  <a:srgbClr val="13212D"/>
                </a:solidFill>
                <a:latin typeface="Helvetica Neue"/>
                <a:ea typeface="Helvetica Neue"/>
                <a:cs typeface="Helvetica Neue"/>
              </a:defRPr>
            </a:lvl5pPr>
            <a:lvl6pPr>
              <a:defRPr sz="1875">
                <a:solidFill>
                  <a:srgbClr val="13212D"/>
                </a:solidFill>
                <a:latin typeface="Helvetica Neue"/>
                <a:ea typeface="Helvetica Neue"/>
                <a:cs typeface="Helvetica Neue"/>
              </a:defRPr>
            </a:lvl6pPr>
            <a:lvl7pPr>
              <a:defRPr sz="1875">
                <a:solidFill>
                  <a:srgbClr val="13212D"/>
                </a:solidFill>
                <a:latin typeface="Helvetica Neue"/>
                <a:ea typeface="Helvetica Neue"/>
                <a:cs typeface="Helvetica Neue"/>
              </a:defRPr>
            </a:lvl7pPr>
            <a:lvl8pPr>
              <a:defRPr sz="1875">
                <a:solidFill>
                  <a:srgbClr val="13212D"/>
                </a:solidFill>
                <a:latin typeface="Helvetica Neue"/>
                <a:ea typeface="Helvetica Neue"/>
                <a:cs typeface="Helvetica Neue"/>
              </a:defRPr>
            </a:lvl8pPr>
            <a:lvl9pPr>
              <a:defRPr sz="187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64B9-12.002 Definitions (Specific Authority - Florida Statute 464.006) (1) "Administration of Intravenous Therapy" is the therapeutic infusion and/or injection of substances through the</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venous peripheral system, consisting of activity, which includes:</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observing, initiating, monitoring, discontinuing, planning, intervening and evaluating.</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(2) "Under the direction of a Registered Professional Nurse" means that the Registered Professional Nurse has delegated intravenous therapy functions to a qualified Licensed Practical</a:t>
            </a:r>
          </a:p>
        </p:txBody>
      </p:sp>
      <p:sp>
        <p:nvSpPr>
          <p:cNvPr id="6" name="">
            <a:extLst xmlns:a="http://schemas.openxmlformats.org/drawingml/2006/main">
              <a:ext uri="{FF2B5EF4-FFF2-40B4-BE49-F238E27FC236}">
                <a16:creationId xmlns:a16="http://schemas.microsoft.com/office/drawing/2014/main" id="{81C9AC3F-9D1E-4C3A-AAD7-A57D15B3C9AD}"/>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F80B1D60-258B-4178-BD75-7C2D39466B35}"/>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6</a:t>
            </a:r>
          </a:p>
        </p:txBody>
      </p:sp>
    </p:spTree>
    <p:extLst>
      <p:ext uri="{BB962C8B-B14F-4D97-AF65-F5344CB8AC3E}">
        <p14:creationId xmlns:p14="http://schemas.microsoft.com/office/powerpoint/2010/main" val="609769462"/>
      </p:ext>
    </p:extLst>
  </p:cSld>
</p:sld>
</file>

<file path=ppt/slides/slide35.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C78F74D4-6444-4BC2-9B69-B46A3FE34A10}"/>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31845BA6-1EEF-47EA-9F03-09E7AE0E0BA6}"/>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8426"/>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professional nursing specialized knowledge, judgment and skill. — continued</a:t>
            </a:r>
          </a:p>
        </p:txBody>
      </p:sp>
      <p:sp>
        <p:nvSpPr>
          <p:cNvPr id="3" name="">
            <a:extLst xmlns:a="http://schemas.openxmlformats.org/drawingml/2006/main">
              <a:ext uri="{FF2B5EF4-FFF2-40B4-BE49-F238E27FC236}">
                <a16:creationId xmlns:a16="http://schemas.microsoft.com/office/drawing/2014/main" id="{23F59ADA-678D-4BD2-962F-CA2440DF1E7F}"/>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1</a:t>
            </a:r>
          </a:p>
        </p:txBody>
      </p:sp>
      <p:sp>
        <p:nvSpPr>
          <p:cNvPr id="4" name="">
            <a:extLst xmlns:a="http://schemas.openxmlformats.org/drawingml/2006/main">
              <a:ext uri="{FF2B5EF4-FFF2-40B4-BE49-F238E27FC236}">
                <a16:creationId xmlns:a16="http://schemas.microsoft.com/office/drawing/2014/main" id="{BF9F62C1-62BF-4E18-AF47-B5EFD268AC25}"/>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35</a:t>
            </a:r>
          </a:p>
        </p:txBody>
      </p:sp>
      <p:sp>
        <p:nvSpPr>
          <p:cNvPr id="5" name="">
            <a:extLst xmlns:a="http://schemas.openxmlformats.org/drawingml/2006/main">
              <a:ext uri="{FF2B5EF4-FFF2-40B4-BE49-F238E27FC236}">
                <a16:creationId xmlns:a16="http://schemas.microsoft.com/office/drawing/2014/main" id="{EAC2F882-6CDA-4F24-9DCF-D945834B7B8D}"/>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875">
                <a:solidFill>
                  <a:srgbClr val="13212D"/>
                </a:solidFill>
                <a:latin typeface="Helvetica Neue"/>
                <a:ea typeface="Helvetica Neue"/>
                <a:cs typeface="Helvetica Neue"/>
              </a:defRPr>
            </a:defPPr>
            <a:lvl1pPr>
              <a:defRPr sz="1875">
                <a:solidFill>
                  <a:srgbClr val="13212D"/>
                </a:solidFill>
                <a:latin typeface="Helvetica Neue"/>
                <a:ea typeface="Helvetica Neue"/>
                <a:cs typeface="Helvetica Neue"/>
              </a:defRPr>
            </a:lvl1pPr>
            <a:lvl2pPr>
              <a:defRPr sz="1875">
                <a:solidFill>
                  <a:srgbClr val="13212D"/>
                </a:solidFill>
                <a:latin typeface="Helvetica Neue"/>
                <a:ea typeface="Helvetica Neue"/>
                <a:cs typeface="Helvetica Neue"/>
              </a:defRPr>
            </a:lvl2pPr>
            <a:lvl3pPr>
              <a:defRPr sz="1875">
                <a:solidFill>
                  <a:srgbClr val="13212D"/>
                </a:solidFill>
                <a:latin typeface="Helvetica Neue"/>
                <a:ea typeface="Helvetica Neue"/>
                <a:cs typeface="Helvetica Neue"/>
              </a:defRPr>
            </a:lvl3pPr>
            <a:lvl4pPr>
              <a:defRPr sz="1875">
                <a:solidFill>
                  <a:srgbClr val="13212D"/>
                </a:solidFill>
                <a:latin typeface="Helvetica Neue"/>
                <a:ea typeface="Helvetica Neue"/>
                <a:cs typeface="Helvetica Neue"/>
              </a:defRPr>
            </a:lvl4pPr>
            <a:lvl5pPr>
              <a:defRPr sz="1875">
                <a:solidFill>
                  <a:srgbClr val="13212D"/>
                </a:solidFill>
                <a:latin typeface="Helvetica Neue"/>
                <a:ea typeface="Helvetica Neue"/>
                <a:cs typeface="Helvetica Neue"/>
              </a:defRPr>
            </a:lvl5pPr>
            <a:lvl6pPr>
              <a:defRPr sz="1875">
                <a:solidFill>
                  <a:srgbClr val="13212D"/>
                </a:solidFill>
                <a:latin typeface="Helvetica Neue"/>
                <a:ea typeface="Helvetica Neue"/>
                <a:cs typeface="Helvetica Neue"/>
              </a:defRPr>
            </a:lvl6pPr>
            <a:lvl7pPr>
              <a:defRPr sz="1875">
                <a:solidFill>
                  <a:srgbClr val="13212D"/>
                </a:solidFill>
                <a:latin typeface="Helvetica Neue"/>
                <a:ea typeface="Helvetica Neue"/>
                <a:cs typeface="Helvetica Neue"/>
              </a:defRPr>
            </a:lvl7pPr>
            <a:lvl8pPr>
              <a:defRPr sz="1875">
                <a:solidFill>
                  <a:srgbClr val="13212D"/>
                </a:solidFill>
                <a:latin typeface="Helvetica Neue"/>
                <a:ea typeface="Helvetica Neue"/>
                <a:cs typeface="Helvetica Neue"/>
              </a:defRPr>
            </a:lvl8pPr>
            <a:lvl9pPr>
              <a:defRPr sz="187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Nurse.</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The Registered Professional Nurse does not in all instances have to be on the premises in order for the Licensed Practical Nurse to perform the delegated functions.</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(3) "Direct supervision" means on the premises and immediately physically available.</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64B9-12.003 Aspects of Intravenous Therapy outside the Scope of the Practice of the Licensed Practical Nurse (1) Aspects of intravenous therapy which are outside the scope of practice</a:t>
            </a:r>
          </a:p>
        </p:txBody>
      </p:sp>
      <p:sp>
        <p:nvSpPr>
          <p:cNvPr id="6" name="">
            <a:extLst xmlns:a="http://schemas.openxmlformats.org/drawingml/2006/main">
              <a:ext uri="{FF2B5EF4-FFF2-40B4-BE49-F238E27FC236}">
                <a16:creationId xmlns:a16="http://schemas.microsoft.com/office/drawing/2014/main" id="{C0D932DE-43A9-4994-95BA-B7FA3D88884F}"/>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CB1B7AFB-B889-4035-A63A-BF4720E3A5D4}"/>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6</a:t>
            </a:r>
          </a:p>
        </p:txBody>
      </p:sp>
    </p:spTree>
    <p:extLst>
      <p:ext uri="{BB962C8B-B14F-4D97-AF65-F5344CB8AC3E}">
        <p14:creationId xmlns:p14="http://schemas.microsoft.com/office/powerpoint/2010/main" val="2014302300"/>
      </p:ext>
    </p:extLst>
  </p:cSld>
</p:sld>
</file>

<file path=ppt/slides/slide36.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518AE36D-EC67-4002-8CC8-4F9EFD12E902}"/>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C1349315-1EAB-473C-8533-11E572447A22}"/>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8426"/>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professional nursing specialized knowledge, judgment and skill. — continued</a:t>
            </a:r>
          </a:p>
        </p:txBody>
      </p:sp>
      <p:sp>
        <p:nvSpPr>
          <p:cNvPr id="3" name="">
            <a:extLst xmlns:a="http://schemas.openxmlformats.org/drawingml/2006/main">
              <a:ext uri="{FF2B5EF4-FFF2-40B4-BE49-F238E27FC236}">
                <a16:creationId xmlns:a16="http://schemas.microsoft.com/office/drawing/2014/main" id="{05980355-33E6-4F84-8BFB-54154DA9D7E7}"/>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1</a:t>
            </a:r>
          </a:p>
        </p:txBody>
      </p:sp>
      <p:sp>
        <p:nvSpPr>
          <p:cNvPr id="4" name="">
            <a:extLst xmlns:a="http://schemas.openxmlformats.org/drawingml/2006/main">
              <a:ext uri="{FF2B5EF4-FFF2-40B4-BE49-F238E27FC236}">
                <a16:creationId xmlns:a16="http://schemas.microsoft.com/office/drawing/2014/main" id="{2BC4F3B3-E652-4DBF-A661-CA3F48478080}"/>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36</a:t>
            </a:r>
          </a:p>
        </p:txBody>
      </p:sp>
      <p:sp>
        <p:nvSpPr>
          <p:cNvPr id="5" name="">
            <a:extLst xmlns:a="http://schemas.openxmlformats.org/drawingml/2006/main">
              <a:ext uri="{FF2B5EF4-FFF2-40B4-BE49-F238E27FC236}">
                <a16:creationId xmlns:a16="http://schemas.microsoft.com/office/drawing/2014/main" id="{2DA79F0A-0209-4BF9-A490-7B3D0F4FD5DD}"/>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875">
                <a:solidFill>
                  <a:srgbClr val="13212D"/>
                </a:solidFill>
                <a:latin typeface="Helvetica Neue"/>
                <a:ea typeface="Helvetica Neue"/>
                <a:cs typeface="Helvetica Neue"/>
              </a:defRPr>
            </a:defPPr>
            <a:lvl1pPr>
              <a:defRPr sz="1875">
                <a:solidFill>
                  <a:srgbClr val="13212D"/>
                </a:solidFill>
                <a:latin typeface="Helvetica Neue"/>
                <a:ea typeface="Helvetica Neue"/>
                <a:cs typeface="Helvetica Neue"/>
              </a:defRPr>
            </a:lvl1pPr>
            <a:lvl2pPr>
              <a:defRPr sz="1875">
                <a:solidFill>
                  <a:srgbClr val="13212D"/>
                </a:solidFill>
                <a:latin typeface="Helvetica Neue"/>
                <a:ea typeface="Helvetica Neue"/>
                <a:cs typeface="Helvetica Neue"/>
              </a:defRPr>
            </a:lvl2pPr>
            <a:lvl3pPr>
              <a:defRPr sz="1875">
                <a:solidFill>
                  <a:srgbClr val="13212D"/>
                </a:solidFill>
                <a:latin typeface="Helvetica Neue"/>
                <a:ea typeface="Helvetica Neue"/>
                <a:cs typeface="Helvetica Neue"/>
              </a:defRPr>
            </a:lvl3pPr>
            <a:lvl4pPr>
              <a:defRPr sz="1875">
                <a:solidFill>
                  <a:srgbClr val="13212D"/>
                </a:solidFill>
                <a:latin typeface="Helvetica Neue"/>
                <a:ea typeface="Helvetica Neue"/>
                <a:cs typeface="Helvetica Neue"/>
              </a:defRPr>
            </a:lvl4pPr>
            <a:lvl5pPr>
              <a:defRPr sz="1875">
                <a:solidFill>
                  <a:srgbClr val="13212D"/>
                </a:solidFill>
                <a:latin typeface="Helvetica Neue"/>
                <a:ea typeface="Helvetica Neue"/>
                <a:cs typeface="Helvetica Neue"/>
              </a:defRPr>
            </a:lvl5pPr>
            <a:lvl6pPr>
              <a:defRPr sz="1875">
                <a:solidFill>
                  <a:srgbClr val="13212D"/>
                </a:solidFill>
                <a:latin typeface="Helvetica Neue"/>
                <a:ea typeface="Helvetica Neue"/>
                <a:cs typeface="Helvetica Neue"/>
              </a:defRPr>
            </a:lvl6pPr>
            <a:lvl7pPr>
              <a:defRPr sz="1875">
                <a:solidFill>
                  <a:srgbClr val="13212D"/>
                </a:solidFill>
                <a:latin typeface="Helvetica Neue"/>
                <a:ea typeface="Helvetica Neue"/>
                <a:cs typeface="Helvetica Neue"/>
              </a:defRPr>
            </a:lvl7pPr>
            <a:lvl8pPr>
              <a:defRPr sz="1875">
                <a:solidFill>
                  <a:srgbClr val="13212D"/>
                </a:solidFill>
                <a:latin typeface="Helvetica Neue"/>
                <a:ea typeface="Helvetica Neue"/>
                <a:cs typeface="Helvetica Neue"/>
              </a:defRPr>
            </a:lvl8pPr>
            <a:lvl9pPr>
              <a:defRPr sz="187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of the licensed practical nurse unless under the direct supervision of the registered professional nurse or physician and which shall not be performed or initiated by licensed practical</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nurses without direct supervision include the following:</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(a) Initiation of blood and blood products;</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(b) Initiation or administration of cancer chemotherapy;</a:t>
            </a:r>
          </a:p>
        </p:txBody>
      </p:sp>
      <p:sp>
        <p:nvSpPr>
          <p:cNvPr id="6" name="">
            <a:extLst xmlns:a="http://schemas.openxmlformats.org/drawingml/2006/main">
              <a:ext uri="{FF2B5EF4-FFF2-40B4-BE49-F238E27FC236}">
                <a16:creationId xmlns:a16="http://schemas.microsoft.com/office/drawing/2014/main" id="{6466B1EF-B6A4-4E7D-B803-70CD132AA422}"/>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F3A95315-EE2B-4E09-B24C-59940E095D9D}"/>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6</a:t>
            </a:r>
          </a:p>
        </p:txBody>
      </p:sp>
    </p:spTree>
    <p:extLst>
      <p:ext uri="{BB962C8B-B14F-4D97-AF65-F5344CB8AC3E}">
        <p14:creationId xmlns:p14="http://schemas.microsoft.com/office/powerpoint/2010/main" val="1024880066"/>
      </p:ext>
    </p:extLst>
  </p:cSld>
</p:sld>
</file>

<file path=ppt/slides/slide37.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368607DE-5E9A-4603-8968-23D98C8BE977}"/>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DE097514-7885-4A87-9AC4-E2EA99909370}"/>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8426"/>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professional nursing specialized knowledge, judgment and skill. — continued</a:t>
            </a:r>
          </a:p>
        </p:txBody>
      </p:sp>
      <p:sp>
        <p:nvSpPr>
          <p:cNvPr id="3" name="">
            <a:extLst xmlns:a="http://schemas.openxmlformats.org/drawingml/2006/main">
              <a:ext uri="{FF2B5EF4-FFF2-40B4-BE49-F238E27FC236}">
                <a16:creationId xmlns:a16="http://schemas.microsoft.com/office/drawing/2014/main" id="{B93B4C0E-19C7-420F-B60F-45B5AB76FB6A}"/>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1</a:t>
            </a:r>
          </a:p>
        </p:txBody>
      </p:sp>
      <p:sp>
        <p:nvSpPr>
          <p:cNvPr id="4" name="">
            <a:extLst xmlns:a="http://schemas.openxmlformats.org/drawingml/2006/main">
              <a:ext uri="{FF2B5EF4-FFF2-40B4-BE49-F238E27FC236}">
                <a16:creationId xmlns:a16="http://schemas.microsoft.com/office/drawing/2014/main" id="{B3CCA905-8BB9-431F-A711-2D2F8DCD01FD}"/>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37</a:t>
            </a:r>
          </a:p>
        </p:txBody>
      </p:sp>
      <p:sp>
        <p:nvSpPr>
          <p:cNvPr id="5" name="">
            <a:extLst xmlns:a="http://schemas.openxmlformats.org/drawingml/2006/main">
              <a:ext uri="{FF2B5EF4-FFF2-40B4-BE49-F238E27FC236}">
                <a16:creationId xmlns:a16="http://schemas.microsoft.com/office/drawing/2014/main" id="{5678B40F-B30E-4F4A-B9A1-F0DB96C1EC6D}"/>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875">
                <a:solidFill>
                  <a:srgbClr val="13212D"/>
                </a:solidFill>
                <a:latin typeface="Helvetica Neue"/>
                <a:ea typeface="Helvetica Neue"/>
                <a:cs typeface="Helvetica Neue"/>
              </a:defRPr>
            </a:defPPr>
            <a:lvl1pPr>
              <a:defRPr sz="1875">
                <a:solidFill>
                  <a:srgbClr val="13212D"/>
                </a:solidFill>
                <a:latin typeface="Helvetica Neue"/>
                <a:ea typeface="Helvetica Neue"/>
                <a:cs typeface="Helvetica Neue"/>
              </a:defRPr>
            </a:lvl1pPr>
            <a:lvl2pPr>
              <a:defRPr sz="1875">
                <a:solidFill>
                  <a:srgbClr val="13212D"/>
                </a:solidFill>
                <a:latin typeface="Helvetica Neue"/>
                <a:ea typeface="Helvetica Neue"/>
                <a:cs typeface="Helvetica Neue"/>
              </a:defRPr>
            </a:lvl2pPr>
            <a:lvl3pPr>
              <a:defRPr sz="1875">
                <a:solidFill>
                  <a:srgbClr val="13212D"/>
                </a:solidFill>
                <a:latin typeface="Helvetica Neue"/>
                <a:ea typeface="Helvetica Neue"/>
                <a:cs typeface="Helvetica Neue"/>
              </a:defRPr>
            </a:lvl3pPr>
            <a:lvl4pPr>
              <a:defRPr sz="1875">
                <a:solidFill>
                  <a:srgbClr val="13212D"/>
                </a:solidFill>
                <a:latin typeface="Helvetica Neue"/>
                <a:ea typeface="Helvetica Neue"/>
                <a:cs typeface="Helvetica Neue"/>
              </a:defRPr>
            </a:lvl4pPr>
            <a:lvl5pPr>
              <a:defRPr sz="1875">
                <a:solidFill>
                  <a:srgbClr val="13212D"/>
                </a:solidFill>
                <a:latin typeface="Helvetica Neue"/>
                <a:ea typeface="Helvetica Neue"/>
                <a:cs typeface="Helvetica Neue"/>
              </a:defRPr>
            </a:lvl5pPr>
            <a:lvl6pPr>
              <a:defRPr sz="1875">
                <a:solidFill>
                  <a:srgbClr val="13212D"/>
                </a:solidFill>
                <a:latin typeface="Helvetica Neue"/>
                <a:ea typeface="Helvetica Neue"/>
                <a:cs typeface="Helvetica Neue"/>
              </a:defRPr>
            </a:lvl6pPr>
            <a:lvl7pPr>
              <a:defRPr sz="1875">
                <a:solidFill>
                  <a:srgbClr val="13212D"/>
                </a:solidFill>
                <a:latin typeface="Helvetica Neue"/>
                <a:ea typeface="Helvetica Neue"/>
                <a:cs typeface="Helvetica Neue"/>
              </a:defRPr>
            </a:lvl7pPr>
            <a:lvl8pPr>
              <a:defRPr sz="1875">
                <a:solidFill>
                  <a:srgbClr val="13212D"/>
                </a:solidFill>
                <a:latin typeface="Helvetica Neue"/>
                <a:ea typeface="Helvetica Neue"/>
                <a:cs typeface="Helvetica Neue"/>
              </a:defRPr>
            </a:lvl8pPr>
            <a:lvl9pPr>
              <a:defRPr sz="187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(c) Initiation of plasma expanders;</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(d) Initiation or administration of investigational drugs;</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(c) IV flushes, except Heparin flushes and Saline flushes;</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(2) Although this rule limits the scope of Licensed Practical Nurse practice, it is appropriate for licensed practical nurses to care for patients perceiving such therapy.</a:t>
            </a:r>
          </a:p>
        </p:txBody>
      </p:sp>
      <p:sp>
        <p:nvSpPr>
          <p:cNvPr id="6" name="">
            <a:extLst xmlns:a="http://schemas.openxmlformats.org/drawingml/2006/main">
              <a:ext uri="{FF2B5EF4-FFF2-40B4-BE49-F238E27FC236}">
                <a16:creationId xmlns:a16="http://schemas.microsoft.com/office/drawing/2014/main" id="{00565FDE-8657-456D-8AD0-A9F96D60EDD3}"/>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D3A09CCD-47AE-439F-A26B-21A3DF901859}"/>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6</a:t>
            </a:r>
          </a:p>
        </p:txBody>
      </p:sp>
    </p:spTree>
    <p:extLst>
      <p:ext uri="{BB962C8B-B14F-4D97-AF65-F5344CB8AC3E}">
        <p14:creationId xmlns:p14="http://schemas.microsoft.com/office/powerpoint/2010/main" val="1205308933"/>
      </p:ext>
    </p:extLst>
  </p:cSld>
</p:sld>
</file>

<file path=ppt/slides/slide38.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CCE04E58-35BB-4114-B0C9-1A5539687F1D}"/>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440FFFB7-2B40-4B80-8639-CAA2FC9D5746}"/>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of Intravenous Therapy</a:t>
            </a:r>
          </a:p>
        </p:txBody>
      </p:sp>
      <p:sp>
        <p:nvSpPr>
          <p:cNvPr id="3" name="">
            <a:extLst xmlns:a="http://schemas.openxmlformats.org/drawingml/2006/main">
              <a:ext uri="{FF2B5EF4-FFF2-40B4-BE49-F238E27FC236}">
                <a16:creationId xmlns:a16="http://schemas.microsoft.com/office/drawing/2014/main" id="{D725030A-8B9C-4958-8420-A65AA71667C6}"/>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1</a:t>
            </a:r>
          </a:p>
        </p:txBody>
      </p:sp>
      <p:sp>
        <p:nvSpPr>
          <p:cNvPr id="4" name="">
            <a:extLst xmlns:a="http://schemas.openxmlformats.org/drawingml/2006/main">
              <a:ext uri="{FF2B5EF4-FFF2-40B4-BE49-F238E27FC236}">
                <a16:creationId xmlns:a16="http://schemas.microsoft.com/office/drawing/2014/main" id="{8066A795-A5F2-422D-A934-3B2A4105F24A}"/>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38</a:t>
            </a:r>
          </a:p>
        </p:txBody>
      </p:sp>
      <p:sp>
        <p:nvSpPr>
          <p:cNvPr id="5" name="">
            <a:extLst xmlns:a="http://schemas.openxmlformats.org/drawingml/2006/main">
              <a:ext uri="{FF2B5EF4-FFF2-40B4-BE49-F238E27FC236}">
                <a16:creationId xmlns:a16="http://schemas.microsoft.com/office/drawing/2014/main" id="{81683F42-3F08-483D-AA26-ED190CD373B9}"/>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875">
                <a:solidFill>
                  <a:srgbClr val="13212D"/>
                </a:solidFill>
                <a:latin typeface="Helvetica Neue"/>
                <a:ea typeface="Helvetica Neue"/>
                <a:cs typeface="Helvetica Neue"/>
              </a:defRPr>
            </a:defPPr>
            <a:lvl1pPr>
              <a:defRPr sz="1875">
                <a:solidFill>
                  <a:srgbClr val="13212D"/>
                </a:solidFill>
                <a:latin typeface="Helvetica Neue"/>
                <a:ea typeface="Helvetica Neue"/>
                <a:cs typeface="Helvetica Neue"/>
              </a:defRPr>
            </a:lvl1pPr>
            <a:lvl2pPr>
              <a:defRPr sz="1875">
                <a:solidFill>
                  <a:srgbClr val="13212D"/>
                </a:solidFill>
                <a:latin typeface="Helvetica Neue"/>
                <a:ea typeface="Helvetica Neue"/>
                <a:cs typeface="Helvetica Neue"/>
              </a:defRPr>
            </a:lvl2pPr>
            <a:lvl3pPr>
              <a:defRPr sz="1875">
                <a:solidFill>
                  <a:srgbClr val="13212D"/>
                </a:solidFill>
                <a:latin typeface="Helvetica Neue"/>
                <a:ea typeface="Helvetica Neue"/>
                <a:cs typeface="Helvetica Neue"/>
              </a:defRPr>
            </a:lvl3pPr>
            <a:lvl4pPr>
              <a:defRPr sz="1875">
                <a:solidFill>
                  <a:srgbClr val="13212D"/>
                </a:solidFill>
                <a:latin typeface="Helvetica Neue"/>
                <a:ea typeface="Helvetica Neue"/>
                <a:cs typeface="Helvetica Neue"/>
              </a:defRPr>
            </a:lvl4pPr>
            <a:lvl5pPr>
              <a:defRPr sz="1875">
                <a:solidFill>
                  <a:srgbClr val="13212D"/>
                </a:solidFill>
                <a:latin typeface="Helvetica Neue"/>
                <a:ea typeface="Helvetica Neue"/>
                <a:cs typeface="Helvetica Neue"/>
              </a:defRPr>
            </a:lvl5pPr>
            <a:lvl6pPr>
              <a:defRPr sz="1875">
                <a:solidFill>
                  <a:srgbClr val="13212D"/>
                </a:solidFill>
                <a:latin typeface="Helvetica Neue"/>
                <a:ea typeface="Helvetica Neue"/>
                <a:cs typeface="Helvetica Neue"/>
              </a:defRPr>
            </a:lvl6pPr>
            <a:lvl7pPr>
              <a:defRPr sz="1875">
                <a:solidFill>
                  <a:srgbClr val="13212D"/>
                </a:solidFill>
                <a:latin typeface="Helvetica Neue"/>
                <a:ea typeface="Helvetica Neue"/>
                <a:cs typeface="Helvetica Neue"/>
              </a:defRPr>
            </a:lvl7pPr>
            <a:lvl8pPr>
              <a:defRPr sz="1875">
                <a:solidFill>
                  <a:srgbClr val="13212D"/>
                </a:solidFill>
                <a:latin typeface="Helvetica Neue"/>
                <a:ea typeface="Helvetica Neue"/>
                <a:cs typeface="Helvetica Neue"/>
              </a:defRPr>
            </a:lvl8pPr>
            <a:lvl9pPr>
              <a:defRPr sz="187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64B9-12.004 Authorities for the Licensed Practical Nurse to Administer Limited Forms With the exception of those aspects of intravenous therapy deemed outside the scope of practice of</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the Licensed Practical Nurse by Rule 64B9-12.003, above, and subject to the approval of the institution at which the licensed practical nurse is employed, any Licensed Practical Nurse</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who meets the competency knowledge requirements of Rule 64B9-12-005, below, is authorized to administer intravenous therapy under the direction of a Registered Professional Nurse.</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Individuals who have completed a Board approved pre-licensure practical nursing education program, professional nursing students who qualify as graduate practical nurses, or Licensed</a:t>
            </a:r>
          </a:p>
        </p:txBody>
      </p:sp>
      <p:sp>
        <p:nvSpPr>
          <p:cNvPr id="6" name="">
            <a:extLst xmlns:a="http://schemas.openxmlformats.org/drawingml/2006/main">
              <a:ext uri="{FF2B5EF4-FFF2-40B4-BE49-F238E27FC236}">
                <a16:creationId xmlns:a16="http://schemas.microsoft.com/office/drawing/2014/main" id="{B8F3ADB5-D405-4166-8944-85EDDEAC4092}"/>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B20E638B-2788-4379-B4AE-06BC5D98648A}"/>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7</a:t>
            </a:r>
          </a:p>
        </p:txBody>
      </p:sp>
    </p:spTree>
    <p:extLst>
      <p:ext uri="{BB962C8B-B14F-4D97-AF65-F5344CB8AC3E}">
        <p14:creationId xmlns:p14="http://schemas.microsoft.com/office/powerpoint/2010/main" val="598849458"/>
      </p:ext>
    </p:extLst>
  </p:cSld>
</p:sld>
</file>

<file path=ppt/slides/slide39.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A49AD1D4-12E6-45A8-BB5E-5335ED140B02}"/>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C514E6A5-6D4D-4BDB-97C1-56BE915834D4}"/>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of Intravenous Therapy — continued</a:t>
            </a:r>
          </a:p>
        </p:txBody>
      </p:sp>
      <p:sp>
        <p:nvSpPr>
          <p:cNvPr id="3" name="">
            <a:extLst xmlns:a="http://schemas.openxmlformats.org/drawingml/2006/main">
              <a:ext uri="{FF2B5EF4-FFF2-40B4-BE49-F238E27FC236}">
                <a16:creationId xmlns:a16="http://schemas.microsoft.com/office/drawing/2014/main" id="{ED738E73-5E00-44CE-86FC-9E6FE964D213}"/>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1</a:t>
            </a:r>
          </a:p>
        </p:txBody>
      </p:sp>
      <p:sp>
        <p:nvSpPr>
          <p:cNvPr id="4" name="">
            <a:extLst xmlns:a="http://schemas.openxmlformats.org/drawingml/2006/main">
              <a:ext uri="{FF2B5EF4-FFF2-40B4-BE49-F238E27FC236}">
                <a16:creationId xmlns:a16="http://schemas.microsoft.com/office/drawing/2014/main" id="{F87468B5-7BEE-4659-A148-FB463ADBF5D8}"/>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39</a:t>
            </a:r>
          </a:p>
        </p:txBody>
      </p:sp>
      <p:sp>
        <p:nvSpPr>
          <p:cNvPr id="5" name="">
            <a:extLst xmlns:a="http://schemas.openxmlformats.org/drawingml/2006/main">
              <a:ext uri="{FF2B5EF4-FFF2-40B4-BE49-F238E27FC236}">
                <a16:creationId xmlns:a16="http://schemas.microsoft.com/office/drawing/2014/main" id="{62D0EF42-8FA2-427F-A817-2DC7387BC03D}"/>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875">
                <a:solidFill>
                  <a:srgbClr val="13212D"/>
                </a:solidFill>
                <a:latin typeface="Helvetica Neue"/>
                <a:ea typeface="Helvetica Neue"/>
                <a:cs typeface="Helvetica Neue"/>
              </a:defRPr>
            </a:defPPr>
            <a:lvl1pPr>
              <a:defRPr sz="1875">
                <a:solidFill>
                  <a:srgbClr val="13212D"/>
                </a:solidFill>
                <a:latin typeface="Helvetica Neue"/>
                <a:ea typeface="Helvetica Neue"/>
                <a:cs typeface="Helvetica Neue"/>
              </a:defRPr>
            </a:lvl1pPr>
            <a:lvl2pPr>
              <a:defRPr sz="1875">
                <a:solidFill>
                  <a:srgbClr val="13212D"/>
                </a:solidFill>
                <a:latin typeface="Helvetica Neue"/>
                <a:ea typeface="Helvetica Neue"/>
                <a:cs typeface="Helvetica Neue"/>
              </a:defRPr>
            </a:lvl2pPr>
            <a:lvl3pPr>
              <a:defRPr sz="1875">
                <a:solidFill>
                  <a:srgbClr val="13212D"/>
                </a:solidFill>
                <a:latin typeface="Helvetica Neue"/>
                <a:ea typeface="Helvetica Neue"/>
                <a:cs typeface="Helvetica Neue"/>
              </a:defRPr>
            </a:lvl3pPr>
            <a:lvl4pPr>
              <a:defRPr sz="1875">
                <a:solidFill>
                  <a:srgbClr val="13212D"/>
                </a:solidFill>
                <a:latin typeface="Helvetica Neue"/>
                <a:ea typeface="Helvetica Neue"/>
                <a:cs typeface="Helvetica Neue"/>
              </a:defRPr>
            </a:lvl4pPr>
            <a:lvl5pPr>
              <a:defRPr sz="1875">
                <a:solidFill>
                  <a:srgbClr val="13212D"/>
                </a:solidFill>
                <a:latin typeface="Helvetica Neue"/>
                <a:ea typeface="Helvetica Neue"/>
                <a:cs typeface="Helvetica Neue"/>
              </a:defRPr>
            </a:lvl5pPr>
            <a:lvl6pPr>
              <a:defRPr sz="1875">
                <a:solidFill>
                  <a:srgbClr val="13212D"/>
                </a:solidFill>
                <a:latin typeface="Helvetica Neue"/>
                <a:ea typeface="Helvetica Neue"/>
                <a:cs typeface="Helvetica Neue"/>
              </a:defRPr>
            </a:lvl6pPr>
            <a:lvl7pPr>
              <a:defRPr sz="1875">
                <a:solidFill>
                  <a:srgbClr val="13212D"/>
                </a:solidFill>
                <a:latin typeface="Helvetica Neue"/>
                <a:ea typeface="Helvetica Neue"/>
                <a:cs typeface="Helvetica Neue"/>
              </a:defRPr>
            </a:lvl7pPr>
            <a:lvl8pPr>
              <a:defRPr sz="1875">
                <a:solidFill>
                  <a:srgbClr val="13212D"/>
                </a:solidFill>
                <a:latin typeface="Helvetica Neue"/>
                <a:ea typeface="Helvetica Neue"/>
                <a:cs typeface="Helvetica Neue"/>
              </a:defRPr>
            </a:lvl8pPr>
            <a:lvl9pPr>
              <a:defRPr sz="187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Practical Nurses who have not completed the specified course under Rule 64B9-12.005, may engage in a limited scope of intravenous therapy under the direction of a Registered Nurse</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Physician, or Dentist.</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This scope includes: 1.</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Perform calculations and adjust flow rate 2.</a:t>
            </a:r>
          </a:p>
        </p:txBody>
      </p:sp>
      <p:sp>
        <p:nvSpPr>
          <p:cNvPr id="6" name="">
            <a:extLst xmlns:a="http://schemas.openxmlformats.org/drawingml/2006/main">
              <a:ext uri="{FF2B5EF4-FFF2-40B4-BE49-F238E27FC236}">
                <a16:creationId xmlns:a16="http://schemas.microsoft.com/office/drawing/2014/main" id="{D31F680C-154D-48F7-9170-6A0E63C17DCA}"/>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BE2E5881-40B0-4225-9699-E46B7B4F1005}"/>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7</a:t>
            </a:r>
          </a:p>
        </p:txBody>
      </p:sp>
    </p:spTree>
    <p:extLst>
      <p:ext uri="{BB962C8B-B14F-4D97-AF65-F5344CB8AC3E}">
        <p14:creationId xmlns:p14="http://schemas.microsoft.com/office/powerpoint/2010/main" val="1162577473"/>
      </p:ext>
    </p:extLst>
  </p:cSld>
</p:sld>
</file>

<file path=ppt/slides/slide40.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2580ECA3-A74C-4199-B62B-1197BD43E25A}"/>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1F065E08-A85E-4C14-9BEB-B0621E3AA453}"/>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of Intravenous Therapy — continued</a:t>
            </a:r>
          </a:p>
        </p:txBody>
      </p:sp>
      <p:sp>
        <p:nvSpPr>
          <p:cNvPr id="3" name="">
            <a:extLst xmlns:a="http://schemas.openxmlformats.org/drawingml/2006/main">
              <a:ext uri="{FF2B5EF4-FFF2-40B4-BE49-F238E27FC236}">
                <a16:creationId xmlns:a16="http://schemas.microsoft.com/office/drawing/2014/main" id="{EC5DF3D6-1C7F-4153-BF8E-FBFC5D841198}"/>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1</a:t>
            </a:r>
          </a:p>
        </p:txBody>
      </p:sp>
      <p:sp>
        <p:nvSpPr>
          <p:cNvPr id="4" name="">
            <a:extLst xmlns:a="http://schemas.openxmlformats.org/drawingml/2006/main">
              <a:ext uri="{FF2B5EF4-FFF2-40B4-BE49-F238E27FC236}">
                <a16:creationId xmlns:a16="http://schemas.microsoft.com/office/drawing/2014/main" id="{CF444FB1-6FD4-4B38-B70F-E4B53FD5B4F8}"/>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40</a:t>
            </a:r>
          </a:p>
        </p:txBody>
      </p:sp>
      <p:sp>
        <p:nvSpPr>
          <p:cNvPr id="5" name="">
            <a:extLst xmlns:a="http://schemas.openxmlformats.org/drawingml/2006/main">
              <a:ext uri="{FF2B5EF4-FFF2-40B4-BE49-F238E27FC236}">
                <a16:creationId xmlns:a16="http://schemas.microsoft.com/office/drawing/2014/main" id="{6A81BF08-4CE3-496A-BF59-0763971B8AED}"/>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875">
                <a:solidFill>
                  <a:srgbClr val="13212D"/>
                </a:solidFill>
                <a:latin typeface="Helvetica Neue"/>
                <a:ea typeface="Helvetica Neue"/>
                <a:cs typeface="Helvetica Neue"/>
              </a:defRPr>
            </a:defPPr>
            <a:lvl1pPr>
              <a:defRPr sz="1875">
                <a:solidFill>
                  <a:srgbClr val="13212D"/>
                </a:solidFill>
                <a:latin typeface="Helvetica Neue"/>
                <a:ea typeface="Helvetica Neue"/>
                <a:cs typeface="Helvetica Neue"/>
              </a:defRPr>
            </a:lvl1pPr>
            <a:lvl2pPr>
              <a:defRPr sz="1875">
                <a:solidFill>
                  <a:srgbClr val="13212D"/>
                </a:solidFill>
                <a:latin typeface="Helvetica Neue"/>
                <a:ea typeface="Helvetica Neue"/>
                <a:cs typeface="Helvetica Neue"/>
              </a:defRPr>
            </a:lvl2pPr>
            <a:lvl3pPr>
              <a:defRPr sz="1875">
                <a:solidFill>
                  <a:srgbClr val="13212D"/>
                </a:solidFill>
                <a:latin typeface="Helvetica Neue"/>
                <a:ea typeface="Helvetica Neue"/>
                <a:cs typeface="Helvetica Neue"/>
              </a:defRPr>
            </a:lvl3pPr>
            <a:lvl4pPr>
              <a:defRPr sz="1875">
                <a:solidFill>
                  <a:srgbClr val="13212D"/>
                </a:solidFill>
                <a:latin typeface="Helvetica Neue"/>
                <a:ea typeface="Helvetica Neue"/>
                <a:cs typeface="Helvetica Neue"/>
              </a:defRPr>
            </a:lvl4pPr>
            <a:lvl5pPr>
              <a:defRPr sz="1875">
                <a:solidFill>
                  <a:srgbClr val="13212D"/>
                </a:solidFill>
                <a:latin typeface="Helvetica Neue"/>
                <a:ea typeface="Helvetica Neue"/>
                <a:cs typeface="Helvetica Neue"/>
              </a:defRPr>
            </a:lvl5pPr>
            <a:lvl6pPr>
              <a:defRPr sz="1875">
                <a:solidFill>
                  <a:srgbClr val="13212D"/>
                </a:solidFill>
                <a:latin typeface="Helvetica Neue"/>
                <a:ea typeface="Helvetica Neue"/>
                <a:cs typeface="Helvetica Neue"/>
              </a:defRPr>
            </a:lvl6pPr>
            <a:lvl7pPr>
              <a:defRPr sz="1875">
                <a:solidFill>
                  <a:srgbClr val="13212D"/>
                </a:solidFill>
                <a:latin typeface="Helvetica Neue"/>
                <a:ea typeface="Helvetica Neue"/>
                <a:cs typeface="Helvetica Neue"/>
              </a:defRPr>
            </a:lvl7pPr>
            <a:lvl8pPr>
              <a:defRPr sz="1875">
                <a:solidFill>
                  <a:srgbClr val="13212D"/>
                </a:solidFill>
                <a:latin typeface="Helvetica Neue"/>
                <a:ea typeface="Helvetica Neue"/>
                <a:cs typeface="Helvetica Neue"/>
              </a:defRPr>
            </a:lvl8pPr>
            <a:lvl9pPr>
              <a:defRPr sz="187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Observe and report subjective and objective signs of adverse reactions 3.</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Inspect insertion site, change dressing, and remove intravenous needle or catheter from peripheral veins 4.</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Hanging bags or bottles of hydrating fluid 5.</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64B9-12.005 Competency and Knowledge Requirements Necessary to Qualify the LN to Administer IV Therapy Course Contents The board endorses the Intravenous Therapy Course Guidelines</a:t>
            </a:r>
          </a:p>
        </p:txBody>
      </p:sp>
      <p:sp>
        <p:nvSpPr>
          <p:cNvPr id="6" name="">
            <a:extLst xmlns:a="http://schemas.openxmlformats.org/drawingml/2006/main">
              <a:ext uri="{FF2B5EF4-FFF2-40B4-BE49-F238E27FC236}">
                <a16:creationId xmlns:a16="http://schemas.microsoft.com/office/drawing/2014/main" id="{083C1246-5ED6-4EC3-B6B9-812139A39189}"/>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165AA8D2-CED5-4352-8A6F-72EAE6739E05}"/>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7</a:t>
            </a:r>
          </a:p>
        </p:txBody>
      </p:sp>
    </p:spTree>
    <p:extLst>
      <p:ext uri="{BB962C8B-B14F-4D97-AF65-F5344CB8AC3E}">
        <p14:creationId xmlns:p14="http://schemas.microsoft.com/office/powerpoint/2010/main" val="884117924"/>
      </p:ext>
    </p:extLst>
  </p:cSld>
</p:sld>
</file>

<file path=ppt/slides/slide41.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846DECBE-ECC1-4D2F-8A07-8FB66A3843D6}"/>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9FD84D10-17D0-4FCA-A851-6C907AE7888B}"/>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of Intravenous Therapy — continued</a:t>
            </a:r>
          </a:p>
        </p:txBody>
      </p:sp>
      <p:sp>
        <p:nvSpPr>
          <p:cNvPr id="3" name="">
            <a:extLst xmlns:a="http://schemas.openxmlformats.org/drawingml/2006/main">
              <a:ext uri="{FF2B5EF4-FFF2-40B4-BE49-F238E27FC236}">
                <a16:creationId xmlns:a16="http://schemas.microsoft.com/office/drawing/2014/main" id="{D66B90C6-4F5A-44BD-9159-EAC8F5D867B6}"/>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1</a:t>
            </a:r>
          </a:p>
        </p:txBody>
      </p:sp>
      <p:sp>
        <p:nvSpPr>
          <p:cNvPr id="4" name="">
            <a:extLst xmlns:a="http://schemas.openxmlformats.org/drawingml/2006/main">
              <a:ext uri="{FF2B5EF4-FFF2-40B4-BE49-F238E27FC236}">
                <a16:creationId xmlns:a16="http://schemas.microsoft.com/office/drawing/2014/main" id="{BA897C60-D762-4B47-85ED-24DCB2F246CE}"/>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41</a:t>
            </a:r>
          </a:p>
        </p:txBody>
      </p:sp>
      <p:sp>
        <p:nvSpPr>
          <p:cNvPr id="5" name="">
            <a:extLst xmlns:a="http://schemas.openxmlformats.org/drawingml/2006/main">
              <a:ext uri="{FF2B5EF4-FFF2-40B4-BE49-F238E27FC236}">
                <a16:creationId xmlns:a16="http://schemas.microsoft.com/office/drawing/2014/main" id="{2A2E53E9-44C3-4F29-9329-E494BE984168}"/>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875">
                <a:solidFill>
                  <a:srgbClr val="13212D"/>
                </a:solidFill>
                <a:latin typeface="Helvetica Neue"/>
                <a:ea typeface="Helvetica Neue"/>
                <a:cs typeface="Helvetica Neue"/>
              </a:defRPr>
            </a:defPPr>
            <a:lvl1pPr>
              <a:defRPr sz="1875">
                <a:solidFill>
                  <a:srgbClr val="13212D"/>
                </a:solidFill>
                <a:latin typeface="Helvetica Neue"/>
                <a:ea typeface="Helvetica Neue"/>
                <a:cs typeface="Helvetica Neue"/>
              </a:defRPr>
            </a:lvl1pPr>
            <a:lvl2pPr>
              <a:defRPr sz="1875">
                <a:solidFill>
                  <a:srgbClr val="13212D"/>
                </a:solidFill>
                <a:latin typeface="Helvetica Neue"/>
                <a:ea typeface="Helvetica Neue"/>
                <a:cs typeface="Helvetica Neue"/>
              </a:defRPr>
            </a:lvl2pPr>
            <a:lvl3pPr>
              <a:defRPr sz="1875">
                <a:solidFill>
                  <a:srgbClr val="13212D"/>
                </a:solidFill>
                <a:latin typeface="Helvetica Neue"/>
                <a:ea typeface="Helvetica Neue"/>
                <a:cs typeface="Helvetica Neue"/>
              </a:defRPr>
            </a:lvl3pPr>
            <a:lvl4pPr>
              <a:defRPr sz="1875">
                <a:solidFill>
                  <a:srgbClr val="13212D"/>
                </a:solidFill>
                <a:latin typeface="Helvetica Neue"/>
                <a:ea typeface="Helvetica Neue"/>
                <a:cs typeface="Helvetica Neue"/>
              </a:defRPr>
            </a:lvl4pPr>
            <a:lvl5pPr>
              <a:defRPr sz="1875">
                <a:solidFill>
                  <a:srgbClr val="13212D"/>
                </a:solidFill>
                <a:latin typeface="Helvetica Neue"/>
                <a:ea typeface="Helvetica Neue"/>
                <a:cs typeface="Helvetica Neue"/>
              </a:defRPr>
            </a:lvl5pPr>
            <a:lvl6pPr>
              <a:defRPr sz="1875">
                <a:solidFill>
                  <a:srgbClr val="13212D"/>
                </a:solidFill>
                <a:latin typeface="Helvetica Neue"/>
                <a:ea typeface="Helvetica Neue"/>
                <a:cs typeface="Helvetica Neue"/>
              </a:defRPr>
            </a:lvl6pPr>
            <a:lvl7pPr>
              <a:defRPr sz="1875">
                <a:solidFill>
                  <a:srgbClr val="13212D"/>
                </a:solidFill>
                <a:latin typeface="Helvetica Neue"/>
                <a:ea typeface="Helvetica Neue"/>
                <a:cs typeface="Helvetica Neue"/>
              </a:defRPr>
            </a:lvl7pPr>
            <a:lvl8pPr>
              <a:defRPr sz="1875">
                <a:solidFill>
                  <a:srgbClr val="13212D"/>
                </a:solidFill>
                <a:latin typeface="Helvetica Neue"/>
                <a:ea typeface="Helvetica Neue"/>
                <a:cs typeface="Helvetica Neue"/>
              </a:defRPr>
            </a:lvl8pPr>
            <a:lvl9pPr>
              <a:defRPr sz="187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issued by the Education Department of the National Federation of Licensed Practical Nurses</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November 1983.</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The intravenous therapy education must contain the following components:</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(a) Policies and procedures of both the Nurse Practice Act and the employing agency in regard to intravenous therapy.</a:t>
            </a:r>
          </a:p>
        </p:txBody>
      </p:sp>
      <p:sp>
        <p:nvSpPr>
          <p:cNvPr id="6" name="">
            <a:extLst xmlns:a="http://schemas.openxmlformats.org/drawingml/2006/main">
              <a:ext uri="{FF2B5EF4-FFF2-40B4-BE49-F238E27FC236}">
                <a16:creationId xmlns:a16="http://schemas.microsoft.com/office/drawing/2014/main" id="{7E883B02-BEFB-4E42-81A2-10D60B658D47}"/>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4ADA01CF-414D-4749-931C-9B3027ACDC57}"/>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7</a:t>
            </a:r>
          </a:p>
        </p:txBody>
      </p:sp>
    </p:spTree>
    <p:extLst>
      <p:ext uri="{BB962C8B-B14F-4D97-AF65-F5344CB8AC3E}">
        <p14:creationId xmlns:p14="http://schemas.microsoft.com/office/powerpoint/2010/main" val="1970365960"/>
      </p:ext>
    </p:extLst>
  </p:cSld>
</p:sld>
</file>

<file path=ppt/slides/slide42.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F2774F2D-6500-49EB-960B-BFEE516A8CD7}"/>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B73537AA-686A-4B60-A876-F0C35D7CAA5E}"/>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of Intravenous Therapy — continued</a:t>
            </a:r>
          </a:p>
        </p:txBody>
      </p:sp>
      <p:sp>
        <p:nvSpPr>
          <p:cNvPr id="3" name="">
            <a:extLst xmlns:a="http://schemas.openxmlformats.org/drawingml/2006/main">
              <a:ext uri="{FF2B5EF4-FFF2-40B4-BE49-F238E27FC236}">
                <a16:creationId xmlns:a16="http://schemas.microsoft.com/office/drawing/2014/main" id="{10CB806A-FF64-452C-8640-280D667CA1FB}"/>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1</a:t>
            </a:r>
          </a:p>
        </p:txBody>
      </p:sp>
      <p:sp>
        <p:nvSpPr>
          <p:cNvPr id="4" name="">
            <a:extLst xmlns:a="http://schemas.openxmlformats.org/drawingml/2006/main">
              <a:ext uri="{FF2B5EF4-FFF2-40B4-BE49-F238E27FC236}">
                <a16:creationId xmlns:a16="http://schemas.microsoft.com/office/drawing/2014/main" id="{C90C80A6-EBD3-4DCA-9482-4623B0BFA88E}"/>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42</a:t>
            </a:r>
          </a:p>
        </p:txBody>
      </p:sp>
      <p:sp>
        <p:nvSpPr>
          <p:cNvPr id="5" name="">
            <a:extLst xmlns:a="http://schemas.openxmlformats.org/drawingml/2006/main">
              <a:ext uri="{FF2B5EF4-FFF2-40B4-BE49-F238E27FC236}">
                <a16:creationId xmlns:a16="http://schemas.microsoft.com/office/drawing/2014/main" id="{49F62065-5437-4034-B554-FCEBCA183D95}"/>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875">
                <a:solidFill>
                  <a:srgbClr val="13212D"/>
                </a:solidFill>
                <a:latin typeface="Helvetica Neue"/>
                <a:ea typeface="Helvetica Neue"/>
                <a:cs typeface="Helvetica Neue"/>
              </a:defRPr>
            </a:defPPr>
            <a:lvl1pPr>
              <a:defRPr sz="1875">
                <a:solidFill>
                  <a:srgbClr val="13212D"/>
                </a:solidFill>
                <a:latin typeface="Helvetica Neue"/>
                <a:ea typeface="Helvetica Neue"/>
                <a:cs typeface="Helvetica Neue"/>
              </a:defRPr>
            </a:lvl1pPr>
            <a:lvl2pPr>
              <a:defRPr sz="1875">
                <a:solidFill>
                  <a:srgbClr val="13212D"/>
                </a:solidFill>
                <a:latin typeface="Helvetica Neue"/>
                <a:ea typeface="Helvetica Neue"/>
                <a:cs typeface="Helvetica Neue"/>
              </a:defRPr>
            </a:lvl2pPr>
            <a:lvl3pPr>
              <a:defRPr sz="1875">
                <a:solidFill>
                  <a:srgbClr val="13212D"/>
                </a:solidFill>
                <a:latin typeface="Helvetica Neue"/>
                <a:ea typeface="Helvetica Neue"/>
                <a:cs typeface="Helvetica Neue"/>
              </a:defRPr>
            </a:lvl3pPr>
            <a:lvl4pPr>
              <a:defRPr sz="1875">
                <a:solidFill>
                  <a:srgbClr val="13212D"/>
                </a:solidFill>
                <a:latin typeface="Helvetica Neue"/>
                <a:ea typeface="Helvetica Neue"/>
                <a:cs typeface="Helvetica Neue"/>
              </a:defRPr>
            </a:lvl4pPr>
            <a:lvl5pPr>
              <a:defRPr sz="1875">
                <a:solidFill>
                  <a:srgbClr val="13212D"/>
                </a:solidFill>
                <a:latin typeface="Helvetica Neue"/>
                <a:ea typeface="Helvetica Neue"/>
                <a:cs typeface="Helvetica Neue"/>
              </a:defRPr>
            </a:lvl5pPr>
            <a:lvl6pPr>
              <a:defRPr sz="1875">
                <a:solidFill>
                  <a:srgbClr val="13212D"/>
                </a:solidFill>
                <a:latin typeface="Helvetica Neue"/>
                <a:ea typeface="Helvetica Neue"/>
                <a:cs typeface="Helvetica Neue"/>
              </a:defRPr>
            </a:lvl6pPr>
            <a:lvl7pPr>
              <a:defRPr sz="1875">
                <a:solidFill>
                  <a:srgbClr val="13212D"/>
                </a:solidFill>
                <a:latin typeface="Helvetica Neue"/>
                <a:ea typeface="Helvetica Neue"/>
                <a:cs typeface="Helvetica Neue"/>
              </a:defRPr>
            </a:lvl7pPr>
            <a:lvl8pPr>
              <a:defRPr sz="1875">
                <a:solidFill>
                  <a:srgbClr val="13212D"/>
                </a:solidFill>
                <a:latin typeface="Helvetica Neue"/>
                <a:ea typeface="Helvetica Neue"/>
                <a:cs typeface="Helvetica Neue"/>
              </a:defRPr>
            </a:lvl8pPr>
            <a:lvl9pPr>
              <a:defRPr sz="187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This includes legalities of both the Licensed Practical Nurse role and the administration of safe care.</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Principles of charting are included.</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(b) Psychological preparation and support for the patient receiving IV therapy as well as the appropriate family members; significant others.</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(c) Site and function of the peripheral veins used for venipuncture.</a:t>
            </a:r>
          </a:p>
        </p:txBody>
      </p:sp>
      <p:sp>
        <p:nvSpPr>
          <p:cNvPr id="6" name="">
            <a:extLst xmlns:a="http://schemas.openxmlformats.org/drawingml/2006/main">
              <a:ext uri="{FF2B5EF4-FFF2-40B4-BE49-F238E27FC236}">
                <a16:creationId xmlns:a16="http://schemas.microsoft.com/office/drawing/2014/main" id="{FF586E67-EBBE-4886-910B-DB73A69D7873}"/>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BF8951C2-21DD-4CCB-B237-60C61AE6135B}"/>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7</a:t>
            </a:r>
          </a:p>
        </p:txBody>
      </p:sp>
    </p:spTree>
    <p:extLst>
      <p:ext uri="{BB962C8B-B14F-4D97-AF65-F5344CB8AC3E}">
        <p14:creationId xmlns:p14="http://schemas.microsoft.com/office/powerpoint/2010/main" val="1007498747"/>
      </p:ext>
    </p:extLst>
  </p:cSld>
</p:sld>
</file>

<file path=ppt/slides/slide43.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C6990EBC-1177-43B7-8913-9B2F90E6C567}"/>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F71B4FC9-FC72-4D97-8E38-F0850698BCD4}"/>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of Intravenous Therapy — continued</a:t>
            </a:r>
          </a:p>
        </p:txBody>
      </p:sp>
      <p:sp>
        <p:nvSpPr>
          <p:cNvPr id="3" name="">
            <a:extLst xmlns:a="http://schemas.openxmlformats.org/drawingml/2006/main">
              <a:ext uri="{FF2B5EF4-FFF2-40B4-BE49-F238E27FC236}">
                <a16:creationId xmlns:a16="http://schemas.microsoft.com/office/drawing/2014/main" id="{2DF4984D-5188-4BEA-A50D-4C4D1FAFE63A}"/>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1</a:t>
            </a:r>
          </a:p>
        </p:txBody>
      </p:sp>
      <p:sp>
        <p:nvSpPr>
          <p:cNvPr id="4" name="">
            <a:extLst xmlns:a="http://schemas.openxmlformats.org/drawingml/2006/main">
              <a:ext uri="{FF2B5EF4-FFF2-40B4-BE49-F238E27FC236}">
                <a16:creationId xmlns:a16="http://schemas.microsoft.com/office/drawing/2014/main" id="{4C0C745D-1423-496C-A99D-042D32A352AD}"/>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43</a:t>
            </a:r>
          </a:p>
        </p:txBody>
      </p:sp>
      <p:sp>
        <p:nvSpPr>
          <p:cNvPr id="5" name="">
            <a:extLst xmlns:a="http://schemas.openxmlformats.org/drawingml/2006/main">
              <a:ext uri="{FF2B5EF4-FFF2-40B4-BE49-F238E27FC236}">
                <a16:creationId xmlns:a16="http://schemas.microsoft.com/office/drawing/2014/main" id="{CD35C7F7-BD81-4D05-9B9B-BE069CB2E302}"/>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100">
                <a:solidFill>
                  <a:srgbClr val="13212D"/>
                </a:solidFill>
                <a:latin typeface="Helvetica Neue"/>
                <a:ea typeface="Helvetica Neue"/>
                <a:cs typeface="Helvetica Neue"/>
              </a:defRPr>
            </a:defPPr>
            <a:lvl1pPr>
              <a:defRPr sz="2100">
                <a:solidFill>
                  <a:srgbClr val="13212D"/>
                </a:solidFill>
                <a:latin typeface="Helvetica Neue"/>
                <a:ea typeface="Helvetica Neue"/>
                <a:cs typeface="Helvetica Neue"/>
              </a:defRPr>
            </a:lvl1pPr>
            <a:lvl2pPr>
              <a:defRPr sz="2100">
                <a:solidFill>
                  <a:srgbClr val="13212D"/>
                </a:solidFill>
                <a:latin typeface="Helvetica Neue"/>
                <a:ea typeface="Helvetica Neue"/>
                <a:cs typeface="Helvetica Neue"/>
              </a:defRPr>
            </a:lvl2pPr>
            <a:lvl3pPr>
              <a:defRPr sz="2100">
                <a:solidFill>
                  <a:srgbClr val="13212D"/>
                </a:solidFill>
                <a:latin typeface="Helvetica Neue"/>
                <a:ea typeface="Helvetica Neue"/>
                <a:cs typeface="Helvetica Neue"/>
              </a:defRPr>
            </a:lvl3pPr>
            <a:lvl4pPr>
              <a:defRPr sz="2100">
                <a:solidFill>
                  <a:srgbClr val="13212D"/>
                </a:solidFill>
                <a:latin typeface="Helvetica Neue"/>
                <a:ea typeface="Helvetica Neue"/>
                <a:cs typeface="Helvetica Neue"/>
              </a:defRPr>
            </a:lvl4pPr>
            <a:lvl5pPr>
              <a:defRPr sz="2100">
                <a:solidFill>
                  <a:srgbClr val="13212D"/>
                </a:solidFill>
                <a:latin typeface="Helvetica Neue"/>
                <a:ea typeface="Helvetica Neue"/>
                <a:cs typeface="Helvetica Neue"/>
              </a:defRPr>
            </a:lvl5pPr>
            <a:lvl6pPr>
              <a:defRPr sz="2100">
                <a:solidFill>
                  <a:srgbClr val="13212D"/>
                </a:solidFill>
                <a:latin typeface="Helvetica Neue"/>
                <a:ea typeface="Helvetica Neue"/>
                <a:cs typeface="Helvetica Neue"/>
              </a:defRPr>
            </a:lvl6pPr>
            <a:lvl7pPr>
              <a:defRPr sz="2100">
                <a:solidFill>
                  <a:srgbClr val="13212D"/>
                </a:solidFill>
                <a:latin typeface="Helvetica Neue"/>
                <a:ea typeface="Helvetica Neue"/>
                <a:cs typeface="Helvetica Neue"/>
              </a:defRPr>
            </a:lvl7pPr>
            <a:lvl8pPr>
              <a:defRPr sz="2100">
                <a:solidFill>
                  <a:srgbClr val="13212D"/>
                </a:solidFill>
                <a:latin typeface="Helvetica Neue"/>
                <a:ea typeface="Helvetica Neue"/>
                <a:cs typeface="Helvetica Neue"/>
              </a:defRPr>
            </a:lvl8pPr>
            <a:lvl9pPr>
              <a:defRPr sz="2100">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(d) Procedure for venipuncture, including physical and psychological preparation, site selection, skin preparation, palpation of veins, and collection of equipment.</a:t>
            </a:r>
          </a:p>
        </p:txBody>
      </p:sp>
      <p:sp>
        <p:nvSpPr>
          <p:cNvPr id="6" name="">
            <a:extLst xmlns:a="http://schemas.openxmlformats.org/drawingml/2006/main">
              <a:ext uri="{FF2B5EF4-FFF2-40B4-BE49-F238E27FC236}">
                <a16:creationId xmlns:a16="http://schemas.microsoft.com/office/drawing/2014/main" id="{9CFA2EC3-DE84-4F8A-8D32-A736DF3C6405}"/>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146DF14B-7ACE-410D-A1F1-A9AC5B59A4FE}"/>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7</a:t>
            </a:r>
          </a:p>
        </p:txBody>
      </p:sp>
    </p:spTree>
    <p:extLst>
      <p:ext uri="{BB962C8B-B14F-4D97-AF65-F5344CB8AC3E}">
        <p14:creationId xmlns:p14="http://schemas.microsoft.com/office/powerpoint/2010/main" val="466422437"/>
      </p:ext>
    </p:extLst>
  </p:cSld>
</p:sld>
</file>

<file path=ppt/slides/slide44.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DBA59220-5590-4682-A030-256DC0682DDA}"/>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519AFA5A-01AC-4814-91DB-54131BF43B61}"/>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8426"/>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(e) Relationship between intravenous therapy and the body's homeostatic and</a:t>
            </a:r>
          </a:p>
        </p:txBody>
      </p:sp>
      <p:sp>
        <p:nvSpPr>
          <p:cNvPr id="3" name="">
            <a:extLst xmlns:a="http://schemas.openxmlformats.org/drawingml/2006/main">
              <a:ext uri="{FF2B5EF4-FFF2-40B4-BE49-F238E27FC236}">
                <a16:creationId xmlns:a16="http://schemas.microsoft.com/office/drawing/2014/main" id="{AB7C1C97-18BA-4214-AE95-525B21B0BFCB}"/>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1</a:t>
            </a:r>
          </a:p>
        </p:txBody>
      </p:sp>
      <p:sp>
        <p:nvSpPr>
          <p:cNvPr id="4" name="">
            <a:extLst xmlns:a="http://schemas.openxmlformats.org/drawingml/2006/main">
              <a:ext uri="{FF2B5EF4-FFF2-40B4-BE49-F238E27FC236}">
                <a16:creationId xmlns:a16="http://schemas.microsoft.com/office/drawing/2014/main" id="{10C7B1BF-06E0-4B2D-8EE1-DB25BA8B0272}"/>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44</a:t>
            </a:r>
          </a:p>
        </p:txBody>
      </p:sp>
      <p:sp>
        <p:nvSpPr>
          <p:cNvPr id="5" name="">
            <a:extLst xmlns:a="http://schemas.openxmlformats.org/drawingml/2006/main">
              <a:ext uri="{FF2B5EF4-FFF2-40B4-BE49-F238E27FC236}">
                <a16:creationId xmlns:a16="http://schemas.microsoft.com/office/drawing/2014/main" id="{92A6F4A6-193A-47FE-883A-0B085FD00900}"/>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875">
                <a:solidFill>
                  <a:srgbClr val="13212D"/>
                </a:solidFill>
                <a:latin typeface="Helvetica Neue"/>
                <a:ea typeface="Helvetica Neue"/>
                <a:cs typeface="Helvetica Neue"/>
              </a:defRPr>
            </a:defPPr>
            <a:lvl1pPr>
              <a:defRPr sz="1875">
                <a:solidFill>
                  <a:srgbClr val="13212D"/>
                </a:solidFill>
                <a:latin typeface="Helvetica Neue"/>
                <a:ea typeface="Helvetica Neue"/>
                <a:cs typeface="Helvetica Neue"/>
              </a:defRPr>
            </a:lvl1pPr>
            <a:lvl2pPr>
              <a:defRPr sz="1875">
                <a:solidFill>
                  <a:srgbClr val="13212D"/>
                </a:solidFill>
                <a:latin typeface="Helvetica Neue"/>
                <a:ea typeface="Helvetica Neue"/>
                <a:cs typeface="Helvetica Neue"/>
              </a:defRPr>
            </a:lvl2pPr>
            <a:lvl3pPr>
              <a:defRPr sz="1875">
                <a:solidFill>
                  <a:srgbClr val="13212D"/>
                </a:solidFill>
                <a:latin typeface="Helvetica Neue"/>
                <a:ea typeface="Helvetica Neue"/>
                <a:cs typeface="Helvetica Neue"/>
              </a:defRPr>
            </a:lvl3pPr>
            <a:lvl4pPr>
              <a:defRPr sz="1875">
                <a:solidFill>
                  <a:srgbClr val="13212D"/>
                </a:solidFill>
                <a:latin typeface="Helvetica Neue"/>
                <a:ea typeface="Helvetica Neue"/>
                <a:cs typeface="Helvetica Neue"/>
              </a:defRPr>
            </a:lvl4pPr>
            <a:lvl5pPr>
              <a:defRPr sz="1875">
                <a:solidFill>
                  <a:srgbClr val="13212D"/>
                </a:solidFill>
                <a:latin typeface="Helvetica Neue"/>
                <a:ea typeface="Helvetica Neue"/>
                <a:cs typeface="Helvetica Neue"/>
              </a:defRPr>
            </a:lvl5pPr>
            <a:lvl6pPr>
              <a:defRPr sz="1875">
                <a:solidFill>
                  <a:srgbClr val="13212D"/>
                </a:solidFill>
                <a:latin typeface="Helvetica Neue"/>
                <a:ea typeface="Helvetica Neue"/>
                <a:cs typeface="Helvetica Neue"/>
              </a:defRPr>
            </a:lvl6pPr>
            <a:lvl7pPr>
              <a:defRPr sz="1875">
                <a:solidFill>
                  <a:srgbClr val="13212D"/>
                </a:solidFill>
                <a:latin typeface="Helvetica Neue"/>
                <a:ea typeface="Helvetica Neue"/>
                <a:cs typeface="Helvetica Neue"/>
              </a:defRPr>
            </a:lvl7pPr>
            <a:lvl8pPr>
              <a:defRPr sz="1875">
                <a:solidFill>
                  <a:srgbClr val="13212D"/>
                </a:solidFill>
                <a:latin typeface="Helvetica Neue"/>
                <a:ea typeface="Helvetica Neue"/>
                <a:cs typeface="Helvetica Neue"/>
              </a:defRPr>
            </a:lvl8pPr>
            <a:lvl9pPr>
              <a:defRPr sz="187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regulatory functions, with attention to the clinical manifestations of fluid and electrolyte imbalance.</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(f) Signs and symptoms of local and systemic complications in the delivery of fluids and medications and the preventive and treatment measures for these complications.</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(g) Identification of various types of equipment used in administering intravenous therapy with content related to criteria for use of each and means of troubleshooting for malfunction.</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(h) Formulas used to calculate fluid and drug administration rate.</a:t>
            </a:r>
          </a:p>
        </p:txBody>
      </p:sp>
      <p:sp>
        <p:nvSpPr>
          <p:cNvPr id="6" name="">
            <a:extLst xmlns:a="http://schemas.openxmlformats.org/drawingml/2006/main">
              <a:ext uri="{FF2B5EF4-FFF2-40B4-BE49-F238E27FC236}">
                <a16:creationId xmlns:a16="http://schemas.microsoft.com/office/drawing/2014/main" id="{88EA05D8-B13B-493B-AA93-482EFA146E87}"/>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003EEA27-B82F-4065-AAA3-167C0167490B}"/>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8</a:t>
            </a:r>
          </a:p>
        </p:txBody>
      </p:sp>
    </p:spTree>
    <p:extLst>
      <p:ext uri="{BB962C8B-B14F-4D97-AF65-F5344CB8AC3E}">
        <p14:creationId xmlns:p14="http://schemas.microsoft.com/office/powerpoint/2010/main" val="1960934565"/>
      </p:ext>
    </p:extLst>
  </p:cSld>
</p:sld>
</file>

<file path=ppt/slides/slide45.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E0C8F8A4-0F9A-4E4A-9309-8332CBD50A18}"/>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CBDB5915-23E3-42B8-A089-F8DC779603BC}"/>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8426"/>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(e) Relationship between intravenous therapy and the body's homeostatic and — continued</a:t>
            </a:r>
          </a:p>
        </p:txBody>
      </p:sp>
      <p:sp>
        <p:nvSpPr>
          <p:cNvPr id="3" name="">
            <a:extLst xmlns:a="http://schemas.openxmlformats.org/drawingml/2006/main">
              <a:ext uri="{FF2B5EF4-FFF2-40B4-BE49-F238E27FC236}">
                <a16:creationId xmlns:a16="http://schemas.microsoft.com/office/drawing/2014/main" id="{6D67BFB2-D9D5-47EE-9261-2F98D7857ED6}"/>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1</a:t>
            </a:r>
          </a:p>
        </p:txBody>
      </p:sp>
      <p:sp>
        <p:nvSpPr>
          <p:cNvPr id="4" name="">
            <a:extLst xmlns:a="http://schemas.openxmlformats.org/drawingml/2006/main">
              <a:ext uri="{FF2B5EF4-FFF2-40B4-BE49-F238E27FC236}">
                <a16:creationId xmlns:a16="http://schemas.microsoft.com/office/drawing/2014/main" id="{E88428D0-B742-4084-8097-3146D7A19D1E}"/>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45</a:t>
            </a:r>
          </a:p>
        </p:txBody>
      </p:sp>
      <p:sp>
        <p:nvSpPr>
          <p:cNvPr id="5" name="">
            <a:extLst xmlns:a="http://schemas.openxmlformats.org/drawingml/2006/main">
              <a:ext uri="{FF2B5EF4-FFF2-40B4-BE49-F238E27FC236}">
                <a16:creationId xmlns:a16="http://schemas.microsoft.com/office/drawing/2014/main" id="{6C2038C1-E88D-4C3A-9181-AED45330D976}"/>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875">
                <a:solidFill>
                  <a:srgbClr val="13212D"/>
                </a:solidFill>
                <a:latin typeface="Helvetica Neue"/>
                <a:ea typeface="Helvetica Neue"/>
                <a:cs typeface="Helvetica Neue"/>
              </a:defRPr>
            </a:defPPr>
            <a:lvl1pPr>
              <a:defRPr sz="1875">
                <a:solidFill>
                  <a:srgbClr val="13212D"/>
                </a:solidFill>
                <a:latin typeface="Helvetica Neue"/>
                <a:ea typeface="Helvetica Neue"/>
                <a:cs typeface="Helvetica Neue"/>
              </a:defRPr>
            </a:lvl1pPr>
            <a:lvl2pPr>
              <a:defRPr sz="1875">
                <a:solidFill>
                  <a:srgbClr val="13212D"/>
                </a:solidFill>
                <a:latin typeface="Helvetica Neue"/>
                <a:ea typeface="Helvetica Neue"/>
                <a:cs typeface="Helvetica Neue"/>
              </a:defRPr>
            </a:lvl2pPr>
            <a:lvl3pPr>
              <a:defRPr sz="1875">
                <a:solidFill>
                  <a:srgbClr val="13212D"/>
                </a:solidFill>
                <a:latin typeface="Helvetica Neue"/>
                <a:ea typeface="Helvetica Neue"/>
                <a:cs typeface="Helvetica Neue"/>
              </a:defRPr>
            </a:lvl3pPr>
            <a:lvl4pPr>
              <a:defRPr sz="1875">
                <a:solidFill>
                  <a:srgbClr val="13212D"/>
                </a:solidFill>
                <a:latin typeface="Helvetica Neue"/>
                <a:ea typeface="Helvetica Neue"/>
                <a:cs typeface="Helvetica Neue"/>
              </a:defRPr>
            </a:lvl4pPr>
            <a:lvl5pPr>
              <a:defRPr sz="1875">
                <a:solidFill>
                  <a:srgbClr val="13212D"/>
                </a:solidFill>
                <a:latin typeface="Helvetica Neue"/>
                <a:ea typeface="Helvetica Neue"/>
                <a:cs typeface="Helvetica Neue"/>
              </a:defRPr>
            </a:lvl5pPr>
            <a:lvl6pPr>
              <a:defRPr sz="1875">
                <a:solidFill>
                  <a:srgbClr val="13212D"/>
                </a:solidFill>
                <a:latin typeface="Helvetica Neue"/>
                <a:ea typeface="Helvetica Neue"/>
                <a:cs typeface="Helvetica Neue"/>
              </a:defRPr>
            </a:lvl6pPr>
            <a:lvl7pPr>
              <a:defRPr sz="1875">
                <a:solidFill>
                  <a:srgbClr val="13212D"/>
                </a:solidFill>
                <a:latin typeface="Helvetica Neue"/>
                <a:ea typeface="Helvetica Neue"/>
                <a:cs typeface="Helvetica Neue"/>
              </a:defRPr>
            </a:lvl7pPr>
            <a:lvl8pPr>
              <a:defRPr sz="1875">
                <a:solidFill>
                  <a:srgbClr val="13212D"/>
                </a:solidFill>
                <a:latin typeface="Helvetica Neue"/>
                <a:ea typeface="Helvetica Neue"/>
                <a:cs typeface="Helvetica Neue"/>
              </a:defRPr>
            </a:lvl8pPr>
            <a:lvl9pPr>
              <a:defRPr sz="187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(i) Methods of administering drugs intravenously and advantages and disadvantages of each.</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(j) Principles of compatibility and incompatibility of drugs and solutions.</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(k) Nursing management of the patient receiving drug therapy, including principles of chemotherapy, protocols, actions, and solutions.</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(1) Nursing management of the patient receiving blood and blood components, following institutional protocol.</a:t>
            </a:r>
          </a:p>
        </p:txBody>
      </p:sp>
      <p:sp>
        <p:nvSpPr>
          <p:cNvPr id="6" name="">
            <a:extLst xmlns:a="http://schemas.openxmlformats.org/drawingml/2006/main">
              <a:ext uri="{FF2B5EF4-FFF2-40B4-BE49-F238E27FC236}">
                <a16:creationId xmlns:a16="http://schemas.microsoft.com/office/drawing/2014/main" id="{D465D8C3-CFDC-49B6-8108-774EFA8315D3}"/>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A3AFD807-B985-427B-96BF-2AFAD5C02B6F}"/>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8</a:t>
            </a:r>
          </a:p>
        </p:txBody>
      </p:sp>
    </p:spTree>
    <p:extLst>
      <p:ext uri="{BB962C8B-B14F-4D97-AF65-F5344CB8AC3E}">
        <p14:creationId xmlns:p14="http://schemas.microsoft.com/office/powerpoint/2010/main" val="436986346"/>
      </p:ext>
    </p:extLst>
  </p:cSld>
</p:sld>
</file>

<file path=ppt/slides/slide46.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C7199D4B-9396-4437-8E64-CBE774C00023}"/>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3D81A4BD-9058-4605-8A63-0DD33E6958A5}"/>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8426"/>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(e) Relationship between intravenous therapy and the body's homeostatic and — continued</a:t>
            </a:r>
          </a:p>
        </p:txBody>
      </p:sp>
      <p:sp>
        <p:nvSpPr>
          <p:cNvPr id="3" name="">
            <a:extLst xmlns:a="http://schemas.openxmlformats.org/drawingml/2006/main">
              <a:ext uri="{FF2B5EF4-FFF2-40B4-BE49-F238E27FC236}">
                <a16:creationId xmlns:a16="http://schemas.microsoft.com/office/drawing/2014/main" id="{6BC7AAFE-08DA-422B-890A-96ED8B48745A}"/>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1</a:t>
            </a:r>
          </a:p>
        </p:txBody>
      </p:sp>
      <p:sp>
        <p:nvSpPr>
          <p:cNvPr id="4" name="">
            <a:extLst xmlns:a="http://schemas.openxmlformats.org/drawingml/2006/main">
              <a:ext uri="{FF2B5EF4-FFF2-40B4-BE49-F238E27FC236}">
                <a16:creationId xmlns:a16="http://schemas.microsoft.com/office/drawing/2014/main" id="{162C0E9D-BC10-4597-8DA8-F00279531501}"/>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46</a:t>
            </a:r>
          </a:p>
        </p:txBody>
      </p:sp>
      <p:sp>
        <p:nvSpPr>
          <p:cNvPr id="5" name="">
            <a:extLst xmlns:a="http://schemas.openxmlformats.org/drawingml/2006/main">
              <a:ext uri="{FF2B5EF4-FFF2-40B4-BE49-F238E27FC236}">
                <a16:creationId xmlns:a16="http://schemas.microsoft.com/office/drawing/2014/main" id="{10343D40-B3F4-403A-BB8A-216A6B3B6CBA}"/>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875">
                <a:solidFill>
                  <a:srgbClr val="13212D"/>
                </a:solidFill>
                <a:latin typeface="Helvetica Neue"/>
                <a:ea typeface="Helvetica Neue"/>
                <a:cs typeface="Helvetica Neue"/>
              </a:defRPr>
            </a:defPPr>
            <a:lvl1pPr>
              <a:defRPr sz="1875">
                <a:solidFill>
                  <a:srgbClr val="13212D"/>
                </a:solidFill>
                <a:latin typeface="Helvetica Neue"/>
                <a:ea typeface="Helvetica Neue"/>
                <a:cs typeface="Helvetica Neue"/>
              </a:defRPr>
            </a:lvl1pPr>
            <a:lvl2pPr>
              <a:defRPr sz="1875">
                <a:solidFill>
                  <a:srgbClr val="13212D"/>
                </a:solidFill>
                <a:latin typeface="Helvetica Neue"/>
                <a:ea typeface="Helvetica Neue"/>
                <a:cs typeface="Helvetica Neue"/>
              </a:defRPr>
            </a:lvl2pPr>
            <a:lvl3pPr>
              <a:defRPr sz="1875">
                <a:solidFill>
                  <a:srgbClr val="13212D"/>
                </a:solidFill>
                <a:latin typeface="Helvetica Neue"/>
                <a:ea typeface="Helvetica Neue"/>
                <a:cs typeface="Helvetica Neue"/>
              </a:defRPr>
            </a:lvl3pPr>
            <a:lvl4pPr>
              <a:defRPr sz="1875">
                <a:solidFill>
                  <a:srgbClr val="13212D"/>
                </a:solidFill>
                <a:latin typeface="Helvetica Neue"/>
                <a:ea typeface="Helvetica Neue"/>
                <a:cs typeface="Helvetica Neue"/>
              </a:defRPr>
            </a:lvl4pPr>
            <a:lvl5pPr>
              <a:defRPr sz="1875">
                <a:solidFill>
                  <a:srgbClr val="13212D"/>
                </a:solidFill>
                <a:latin typeface="Helvetica Neue"/>
                <a:ea typeface="Helvetica Neue"/>
                <a:cs typeface="Helvetica Neue"/>
              </a:defRPr>
            </a:lvl5pPr>
            <a:lvl6pPr>
              <a:defRPr sz="1875">
                <a:solidFill>
                  <a:srgbClr val="13212D"/>
                </a:solidFill>
                <a:latin typeface="Helvetica Neue"/>
                <a:ea typeface="Helvetica Neue"/>
                <a:cs typeface="Helvetica Neue"/>
              </a:defRPr>
            </a:lvl6pPr>
            <a:lvl7pPr>
              <a:defRPr sz="1875">
                <a:solidFill>
                  <a:srgbClr val="13212D"/>
                </a:solidFill>
                <a:latin typeface="Helvetica Neue"/>
                <a:ea typeface="Helvetica Neue"/>
                <a:cs typeface="Helvetica Neue"/>
              </a:defRPr>
            </a:lvl7pPr>
            <a:lvl8pPr>
              <a:defRPr sz="1875">
                <a:solidFill>
                  <a:srgbClr val="13212D"/>
                </a:solidFill>
                <a:latin typeface="Helvetica Neue"/>
                <a:ea typeface="Helvetica Neue"/>
                <a:cs typeface="Helvetica Neue"/>
              </a:defRPr>
            </a:lvl8pPr>
            <a:lvl9pPr>
              <a:defRPr sz="187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Include indications and contraindications for use; identification of adverse reactions.</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(m) Nursing management of the patient receiving parenteral nutrition, including principles of metabolism, potential complications, and physical and psychological measures to ensure the</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desired therapeutic effect.</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(n) Principles of infection control in IV therapy, including aseptic technique and prevention and treatment of iatrogenic infections (o) Nursing management of special IV therapy</a:t>
            </a:r>
          </a:p>
        </p:txBody>
      </p:sp>
      <p:sp>
        <p:nvSpPr>
          <p:cNvPr id="6" name="">
            <a:extLst xmlns:a="http://schemas.openxmlformats.org/drawingml/2006/main">
              <a:ext uri="{FF2B5EF4-FFF2-40B4-BE49-F238E27FC236}">
                <a16:creationId xmlns:a16="http://schemas.microsoft.com/office/drawing/2014/main" id="{7FDB8233-23CA-4B4F-BD1D-1C2281CEC6E6}"/>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643A2E20-459F-4B51-8028-A99C5E80A4F1}"/>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8</a:t>
            </a:r>
          </a:p>
        </p:txBody>
      </p:sp>
    </p:spTree>
    <p:extLst>
      <p:ext uri="{BB962C8B-B14F-4D97-AF65-F5344CB8AC3E}">
        <p14:creationId xmlns:p14="http://schemas.microsoft.com/office/powerpoint/2010/main" val="720644487"/>
      </p:ext>
    </p:extLst>
  </p:cSld>
</p:sld>
</file>

<file path=ppt/slides/slide47.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1CA8075E-F715-4B27-B672-A1CE54B812B6}"/>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901F950C-83CF-4093-A3EE-0E758ECFA1E4}"/>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8426"/>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(e) Relationship between intravenous therapy and the body's homeostatic and — continued</a:t>
            </a:r>
          </a:p>
        </p:txBody>
      </p:sp>
      <p:sp>
        <p:nvSpPr>
          <p:cNvPr id="3" name="">
            <a:extLst xmlns:a="http://schemas.openxmlformats.org/drawingml/2006/main">
              <a:ext uri="{FF2B5EF4-FFF2-40B4-BE49-F238E27FC236}">
                <a16:creationId xmlns:a16="http://schemas.microsoft.com/office/drawing/2014/main" id="{C9FE093E-686D-45E6-81C0-DCC6F08D5DC9}"/>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1</a:t>
            </a:r>
          </a:p>
        </p:txBody>
      </p:sp>
      <p:sp>
        <p:nvSpPr>
          <p:cNvPr id="4" name="">
            <a:extLst xmlns:a="http://schemas.openxmlformats.org/drawingml/2006/main">
              <a:ext uri="{FF2B5EF4-FFF2-40B4-BE49-F238E27FC236}">
                <a16:creationId xmlns:a16="http://schemas.microsoft.com/office/drawing/2014/main" id="{3AD320BB-3056-475E-BE7E-C9F3CDE71F30}"/>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47</a:t>
            </a:r>
          </a:p>
        </p:txBody>
      </p:sp>
      <p:sp>
        <p:nvSpPr>
          <p:cNvPr id="5" name="">
            <a:extLst xmlns:a="http://schemas.openxmlformats.org/drawingml/2006/main">
              <a:ext uri="{FF2B5EF4-FFF2-40B4-BE49-F238E27FC236}">
                <a16:creationId xmlns:a16="http://schemas.microsoft.com/office/drawing/2014/main" id="{76CAC082-EBC8-4031-9C5B-933BF5284117}"/>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100">
                <a:solidFill>
                  <a:srgbClr val="13212D"/>
                </a:solidFill>
                <a:latin typeface="Helvetica Neue"/>
                <a:ea typeface="Helvetica Neue"/>
                <a:cs typeface="Helvetica Neue"/>
              </a:defRPr>
            </a:defPPr>
            <a:lvl1pPr>
              <a:defRPr sz="2100">
                <a:solidFill>
                  <a:srgbClr val="13212D"/>
                </a:solidFill>
                <a:latin typeface="Helvetica Neue"/>
                <a:ea typeface="Helvetica Neue"/>
                <a:cs typeface="Helvetica Neue"/>
              </a:defRPr>
            </a:lvl1pPr>
            <a:lvl2pPr>
              <a:defRPr sz="2100">
                <a:solidFill>
                  <a:srgbClr val="13212D"/>
                </a:solidFill>
                <a:latin typeface="Helvetica Neue"/>
                <a:ea typeface="Helvetica Neue"/>
                <a:cs typeface="Helvetica Neue"/>
              </a:defRPr>
            </a:lvl2pPr>
            <a:lvl3pPr>
              <a:defRPr sz="2100">
                <a:solidFill>
                  <a:srgbClr val="13212D"/>
                </a:solidFill>
                <a:latin typeface="Helvetica Neue"/>
                <a:ea typeface="Helvetica Neue"/>
                <a:cs typeface="Helvetica Neue"/>
              </a:defRPr>
            </a:lvl3pPr>
            <a:lvl4pPr>
              <a:defRPr sz="2100">
                <a:solidFill>
                  <a:srgbClr val="13212D"/>
                </a:solidFill>
                <a:latin typeface="Helvetica Neue"/>
                <a:ea typeface="Helvetica Neue"/>
                <a:cs typeface="Helvetica Neue"/>
              </a:defRPr>
            </a:lvl4pPr>
            <a:lvl5pPr>
              <a:defRPr sz="2100">
                <a:solidFill>
                  <a:srgbClr val="13212D"/>
                </a:solidFill>
                <a:latin typeface="Helvetica Neue"/>
                <a:ea typeface="Helvetica Neue"/>
                <a:cs typeface="Helvetica Neue"/>
              </a:defRPr>
            </a:lvl5pPr>
            <a:lvl6pPr>
              <a:defRPr sz="2100">
                <a:solidFill>
                  <a:srgbClr val="13212D"/>
                </a:solidFill>
                <a:latin typeface="Helvetica Neue"/>
                <a:ea typeface="Helvetica Neue"/>
                <a:cs typeface="Helvetica Neue"/>
              </a:defRPr>
            </a:lvl6pPr>
            <a:lvl7pPr>
              <a:defRPr sz="2100">
                <a:solidFill>
                  <a:srgbClr val="13212D"/>
                </a:solidFill>
                <a:latin typeface="Helvetica Neue"/>
                <a:ea typeface="Helvetica Neue"/>
                <a:cs typeface="Helvetica Neue"/>
              </a:defRPr>
            </a:lvl7pPr>
            <a:lvl8pPr>
              <a:defRPr sz="2100">
                <a:solidFill>
                  <a:srgbClr val="13212D"/>
                </a:solidFill>
                <a:latin typeface="Helvetica Neue"/>
                <a:ea typeface="Helvetica Neue"/>
                <a:cs typeface="Helvetica Neue"/>
              </a:defRPr>
            </a:lvl8pPr>
            <a:lvl9pPr>
              <a:defRPr sz="2100">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procedures that are commonly used in the clinical setting, such as heparin lock, central lines and arterial lines.</a:t>
            </a:r>
          </a:p>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(p) Glossary of common terminology pertinent to IV fluid therapy.</a:t>
            </a:r>
          </a:p>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(9) Performance checklist by which to evaluate clinical application of knowledge and skills.</a:t>
            </a:r>
          </a:p>
        </p:txBody>
      </p:sp>
      <p:sp>
        <p:nvSpPr>
          <p:cNvPr id="6" name="">
            <a:extLst xmlns:a="http://schemas.openxmlformats.org/drawingml/2006/main">
              <a:ext uri="{FF2B5EF4-FFF2-40B4-BE49-F238E27FC236}">
                <a16:creationId xmlns:a16="http://schemas.microsoft.com/office/drawing/2014/main" id="{539D9C06-352F-4F3F-9CD7-C3B4786F08E0}"/>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ED69D8C8-F3D0-4C52-867A-DA29C76A279A}"/>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8</a:t>
            </a:r>
          </a:p>
        </p:txBody>
      </p:sp>
    </p:spTree>
    <p:extLst>
      <p:ext uri="{BB962C8B-B14F-4D97-AF65-F5344CB8AC3E}">
        <p14:creationId xmlns:p14="http://schemas.microsoft.com/office/powerpoint/2010/main" val="768553786"/>
      </p:ext>
    </p:extLst>
  </p:cSld>
</p:sld>
</file>

<file path=ppt/slides/slide48.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146D8892-A52C-4723-8720-92B3A4CE393A}"/>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D9115D3B-8304-4208-8D26-CD4525ACB4A2}"/>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8426"/>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Central Lines. The Board recognizes that through appropriate education and</a:t>
            </a:r>
          </a:p>
        </p:txBody>
      </p:sp>
      <p:sp>
        <p:nvSpPr>
          <p:cNvPr id="3" name="">
            <a:extLst xmlns:a="http://schemas.openxmlformats.org/drawingml/2006/main">
              <a:ext uri="{FF2B5EF4-FFF2-40B4-BE49-F238E27FC236}">
                <a16:creationId xmlns:a16="http://schemas.microsoft.com/office/drawing/2014/main" id="{BD2DA12B-79ED-4F00-8C2C-5DCA7BC7D319}"/>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1</a:t>
            </a:r>
          </a:p>
        </p:txBody>
      </p:sp>
      <p:sp>
        <p:nvSpPr>
          <p:cNvPr id="4" name="">
            <a:extLst xmlns:a="http://schemas.openxmlformats.org/drawingml/2006/main">
              <a:ext uri="{FF2B5EF4-FFF2-40B4-BE49-F238E27FC236}">
                <a16:creationId xmlns:a16="http://schemas.microsoft.com/office/drawing/2014/main" id="{7D1119E2-A545-4A4C-93F0-6D6926466FF6}"/>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48</a:t>
            </a:r>
          </a:p>
        </p:txBody>
      </p:sp>
      <p:sp>
        <p:nvSpPr>
          <p:cNvPr id="5" name="">
            <a:extLst xmlns:a="http://schemas.openxmlformats.org/drawingml/2006/main">
              <a:ext uri="{FF2B5EF4-FFF2-40B4-BE49-F238E27FC236}">
                <a16:creationId xmlns:a16="http://schemas.microsoft.com/office/drawing/2014/main" id="{B6D74291-5159-44E3-BD15-5963D968AD9D}"/>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875">
                <a:solidFill>
                  <a:srgbClr val="13212D"/>
                </a:solidFill>
                <a:latin typeface="Helvetica Neue"/>
                <a:ea typeface="Helvetica Neue"/>
                <a:cs typeface="Helvetica Neue"/>
              </a:defRPr>
            </a:defPPr>
            <a:lvl1pPr>
              <a:defRPr sz="1875">
                <a:solidFill>
                  <a:srgbClr val="13212D"/>
                </a:solidFill>
                <a:latin typeface="Helvetica Neue"/>
                <a:ea typeface="Helvetica Neue"/>
                <a:cs typeface="Helvetica Neue"/>
              </a:defRPr>
            </a:lvl1pPr>
            <a:lvl2pPr>
              <a:defRPr sz="1875">
                <a:solidFill>
                  <a:srgbClr val="13212D"/>
                </a:solidFill>
                <a:latin typeface="Helvetica Neue"/>
                <a:ea typeface="Helvetica Neue"/>
                <a:cs typeface="Helvetica Neue"/>
              </a:defRPr>
            </a:lvl2pPr>
            <a:lvl3pPr>
              <a:defRPr sz="1875">
                <a:solidFill>
                  <a:srgbClr val="13212D"/>
                </a:solidFill>
                <a:latin typeface="Helvetica Neue"/>
                <a:ea typeface="Helvetica Neue"/>
                <a:cs typeface="Helvetica Neue"/>
              </a:defRPr>
            </a:lvl3pPr>
            <a:lvl4pPr>
              <a:defRPr sz="1875">
                <a:solidFill>
                  <a:srgbClr val="13212D"/>
                </a:solidFill>
                <a:latin typeface="Helvetica Neue"/>
                <a:ea typeface="Helvetica Neue"/>
                <a:cs typeface="Helvetica Neue"/>
              </a:defRPr>
            </a:lvl4pPr>
            <a:lvl5pPr>
              <a:defRPr sz="1875">
                <a:solidFill>
                  <a:srgbClr val="13212D"/>
                </a:solidFill>
                <a:latin typeface="Helvetica Neue"/>
                <a:ea typeface="Helvetica Neue"/>
                <a:cs typeface="Helvetica Neue"/>
              </a:defRPr>
            </a:lvl5pPr>
            <a:lvl6pPr>
              <a:defRPr sz="1875">
                <a:solidFill>
                  <a:srgbClr val="13212D"/>
                </a:solidFill>
                <a:latin typeface="Helvetica Neue"/>
                <a:ea typeface="Helvetica Neue"/>
                <a:cs typeface="Helvetica Neue"/>
              </a:defRPr>
            </a:lvl6pPr>
            <a:lvl7pPr>
              <a:defRPr sz="1875">
                <a:solidFill>
                  <a:srgbClr val="13212D"/>
                </a:solidFill>
                <a:latin typeface="Helvetica Neue"/>
                <a:ea typeface="Helvetica Neue"/>
                <a:cs typeface="Helvetica Neue"/>
              </a:defRPr>
            </a:lvl7pPr>
            <a:lvl8pPr>
              <a:defRPr sz="1875">
                <a:solidFill>
                  <a:srgbClr val="13212D"/>
                </a:solidFill>
                <a:latin typeface="Helvetica Neue"/>
                <a:ea typeface="Helvetica Neue"/>
                <a:cs typeface="Helvetica Neue"/>
              </a:defRPr>
            </a:lvl8pPr>
            <a:lvl9pPr>
              <a:defRPr sz="187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training, a Licensed Practical Nurse is capable of performing intravenous therapy via central lines under the direction of a registered professional nurse as defined in Rule</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64B9-12.002(2)</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F.A.C.</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Appropriate education and training requires a minimum of four (4) hours of instruction.</a:t>
            </a:r>
          </a:p>
        </p:txBody>
      </p:sp>
      <p:sp>
        <p:nvSpPr>
          <p:cNvPr id="6" name="">
            <a:extLst xmlns:a="http://schemas.openxmlformats.org/drawingml/2006/main">
              <a:ext uri="{FF2B5EF4-FFF2-40B4-BE49-F238E27FC236}">
                <a16:creationId xmlns:a16="http://schemas.microsoft.com/office/drawing/2014/main" id="{194C1F49-9FA1-4BC4-BE89-2B8AAFC131D1}"/>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76261662-58E7-4E29-B980-DBB03DCDA0C5}"/>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9</a:t>
            </a:r>
          </a:p>
        </p:txBody>
      </p:sp>
    </p:spTree>
    <p:extLst>
      <p:ext uri="{BB962C8B-B14F-4D97-AF65-F5344CB8AC3E}">
        <p14:creationId xmlns:p14="http://schemas.microsoft.com/office/powerpoint/2010/main" val="2146432752"/>
      </p:ext>
    </p:extLst>
  </p:cSld>
</p:sld>
</file>

<file path=ppt/slides/slide49.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45BE36C2-2626-443D-8F29-58045AC0DD96}"/>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67718AE7-B47D-455C-A372-023475C14887}"/>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8426"/>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Central Lines. The Board recognizes that through appropriate education and — continued</a:t>
            </a:r>
          </a:p>
        </p:txBody>
      </p:sp>
      <p:sp>
        <p:nvSpPr>
          <p:cNvPr id="3" name="">
            <a:extLst xmlns:a="http://schemas.openxmlformats.org/drawingml/2006/main">
              <a:ext uri="{FF2B5EF4-FFF2-40B4-BE49-F238E27FC236}">
                <a16:creationId xmlns:a16="http://schemas.microsoft.com/office/drawing/2014/main" id="{BEAD551D-9B64-4DB4-A709-21C9860C4878}"/>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1</a:t>
            </a:r>
          </a:p>
        </p:txBody>
      </p:sp>
      <p:sp>
        <p:nvSpPr>
          <p:cNvPr id="4" name="">
            <a:extLst xmlns:a="http://schemas.openxmlformats.org/drawingml/2006/main">
              <a:ext uri="{FF2B5EF4-FFF2-40B4-BE49-F238E27FC236}">
                <a16:creationId xmlns:a16="http://schemas.microsoft.com/office/drawing/2014/main" id="{6DD656F1-D09B-44D7-B6BE-614AA1D5D83C}"/>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49</a:t>
            </a:r>
          </a:p>
        </p:txBody>
      </p:sp>
      <p:sp>
        <p:nvSpPr>
          <p:cNvPr id="5" name="">
            <a:extLst xmlns:a="http://schemas.openxmlformats.org/drawingml/2006/main">
              <a:ext uri="{FF2B5EF4-FFF2-40B4-BE49-F238E27FC236}">
                <a16:creationId xmlns:a16="http://schemas.microsoft.com/office/drawing/2014/main" id="{28E8556C-EF35-4F9C-AC6C-2687AC5F13E5}"/>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875">
                <a:solidFill>
                  <a:srgbClr val="13212D"/>
                </a:solidFill>
                <a:latin typeface="Helvetica Neue"/>
                <a:ea typeface="Helvetica Neue"/>
                <a:cs typeface="Helvetica Neue"/>
              </a:defRPr>
            </a:defPPr>
            <a:lvl1pPr>
              <a:defRPr sz="1875">
                <a:solidFill>
                  <a:srgbClr val="13212D"/>
                </a:solidFill>
                <a:latin typeface="Helvetica Neue"/>
                <a:ea typeface="Helvetica Neue"/>
                <a:cs typeface="Helvetica Neue"/>
              </a:defRPr>
            </a:lvl1pPr>
            <a:lvl2pPr>
              <a:defRPr sz="1875">
                <a:solidFill>
                  <a:srgbClr val="13212D"/>
                </a:solidFill>
                <a:latin typeface="Helvetica Neue"/>
                <a:ea typeface="Helvetica Neue"/>
                <a:cs typeface="Helvetica Neue"/>
              </a:defRPr>
            </a:lvl2pPr>
            <a:lvl3pPr>
              <a:defRPr sz="1875">
                <a:solidFill>
                  <a:srgbClr val="13212D"/>
                </a:solidFill>
                <a:latin typeface="Helvetica Neue"/>
                <a:ea typeface="Helvetica Neue"/>
                <a:cs typeface="Helvetica Neue"/>
              </a:defRPr>
            </a:lvl3pPr>
            <a:lvl4pPr>
              <a:defRPr sz="1875">
                <a:solidFill>
                  <a:srgbClr val="13212D"/>
                </a:solidFill>
                <a:latin typeface="Helvetica Neue"/>
                <a:ea typeface="Helvetica Neue"/>
                <a:cs typeface="Helvetica Neue"/>
              </a:defRPr>
            </a:lvl4pPr>
            <a:lvl5pPr>
              <a:defRPr sz="1875">
                <a:solidFill>
                  <a:srgbClr val="13212D"/>
                </a:solidFill>
                <a:latin typeface="Helvetica Neue"/>
                <a:ea typeface="Helvetica Neue"/>
                <a:cs typeface="Helvetica Neue"/>
              </a:defRPr>
            </a:lvl5pPr>
            <a:lvl6pPr>
              <a:defRPr sz="1875">
                <a:solidFill>
                  <a:srgbClr val="13212D"/>
                </a:solidFill>
                <a:latin typeface="Helvetica Neue"/>
                <a:ea typeface="Helvetica Neue"/>
                <a:cs typeface="Helvetica Neue"/>
              </a:defRPr>
            </a:lvl6pPr>
            <a:lvl7pPr>
              <a:defRPr sz="1875">
                <a:solidFill>
                  <a:srgbClr val="13212D"/>
                </a:solidFill>
                <a:latin typeface="Helvetica Neue"/>
                <a:ea typeface="Helvetica Neue"/>
                <a:cs typeface="Helvetica Neue"/>
              </a:defRPr>
            </a:lvl7pPr>
            <a:lvl8pPr>
              <a:defRPr sz="1875">
                <a:solidFill>
                  <a:srgbClr val="13212D"/>
                </a:solidFill>
                <a:latin typeface="Helvetica Neue"/>
                <a:ea typeface="Helvetica Neue"/>
                <a:cs typeface="Helvetica Neue"/>
              </a:defRPr>
            </a:lvl8pPr>
            <a:lvl9pPr>
              <a:defRPr sz="187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The requisite four (4) hours of instruction may be - included as part of the thirty (30) hours required for intravenous therapy education specified in subsection (4) of this rule.</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The education and training required in this subsection shall include, at a minimum, didactic and clinical practicum instruction in the following areas:</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(a) Central venous anatomy and physiology;</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(b) CVL site assessment;</a:t>
            </a:r>
          </a:p>
        </p:txBody>
      </p:sp>
      <p:sp>
        <p:nvSpPr>
          <p:cNvPr id="6" name="">
            <a:extLst xmlns:a="http://schemas.openxmlformats.org/drawingml/2006/main">
              <a:ext uri="{FF2B5EF4-FFF2-40B4-BE49-F238E27FC236}">
                <a16:creationId xmlns:a16="http://schemas.microsoft.com/office/drawing/2014/main" id="{4D8C3C13-D35D-4A3E-84D9-B1A018AE9982}"/>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63234DAF-E92A-4051-8FED-C9539578E019}"/>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9</a:t>
            </a:r>
          </a:p>
        </p:txBody>
      </p:sp>
    </p:spTree>
    <p:extLst>
      <p:ext uri="{BB962C8B-B14F-4D97-AF65-F5344CB8AC3E}">
        <p14:creationId xmlns:p14="http://schemas.microsoft.com/office/powerpoint/2010/main" val="730730483"/>
      </p:ext>
    </p:extLst>
  </p:cSld>
</p:sld>
</file>

<file path=ppt/slides/slide50.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FE43E1FE-4BAA-46F7-ACC1-D2534B659838}"/>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4D18F7D7-0E7A-45BA-8824-DF83A885EDDF}"/>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8426"/>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Central Lines. The Board recognizes that through appropriate education and — continued</a:t>
            </a:r>
          </a:p>
        </p:txBody>
      </p:sp>
      <p:sp>
        <p:nvSpPr>
          <p:cNvPr id="3" name="">
            <a:extLst xmlns:a="http://schemas.openxmlformats.org/drawingml/2006/main">
              <a:ext uri="{FF2B5EF4-FFF2-40B4-BE49-F238E27FC236}">
                <a16:creationId xmlns:a16="http://schemas.microsoft.com/office/drawing/2014/main" id="{65EE59CA-9A7C-44F7-B159-5A9E457AC793}"/>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1</a:t>
            </a:r>
          </a:p>
        </p:txBody>
      </p:sp>
      <p:sp>
        <p:nvSpPr>
          <p:cNvPr id="4" name="">
            <a:extLst xmlns:a="http://schemas.openxmlformats.org/drawingml/2006/main">
              <a:ext uri="{FF2B5EF4-FFF2-40B4-BE49-F238E27FC236}">
                <a16:creationId xmlns:a16="http://schemas.microsoft.com/office/drawing/2014/main" id="{2E9842DA-754E-4913-BC49-4E7F8FEBEEBB}"/>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50</a:t>
            </a:r>
          </a:p>
        </p:txBody>
      </p:sp>
      <p:sp>
        <p:nvSpPr>
          <p:cNvPr id="5" name="">
            <a:extLst xmlns:a="http://schemas.openxmlformats.org/drawingml/2006/main">
              <a:ext uri="{FF2B5EF4-FFF2-40B4-BE49-F238E27FC236}">
                <a16:creationId xmlns:a16="http://schemas.microsoft.com/office/drawing/2014/main" id="{6A3B6DEE-4802-4F59-9618-559D70C72B10}"/>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875">
                <a:solidFill>
                  <a:srgbClr val="13212D"/>
                </a:solidFill>
                <a:latin typeface="Helvetica Neue"/>
                <a:ea typeface="Helvetica Neue"/>
                <a:cs typeface="Helvetica Neue"/>
              </a:defRPr>
            </a:defPPr>
            <a:lvl1pPr>
              <a:defRPr sz="1875">
                <a:solidFill>
                  <a:srgbClr val="13212D"/>
                </a:solidFill>
                <a:latin typeface="Helvetica Neue"/>
                <a:ea typeface="Helvetica Neue"/>
                <a:cs typeface="Helvetica Neue"/>
              </a:defRPr>
            </a:lvl1pPr>
            <a:lvl2pPr>
              <a:defRPr sz="1875">
                <a:solidFill>
                  <a:srgbClr val="13212D"/>
                </a:solidFill>
                <a:latin typeface="Helvetica Neue"/>
                <a:ea typeface="Helvetica Neue"/>
                <a:cs typeface="Helvetica Neue"/>
              </a:defRPr>
            </a:lvl2pPr>
            <a:lvl3pPr>
              <a:defRPr sz="1875">
                <a:solidFill>
                  <a:srgbClr val="13212D"/>
                </a:solidFill>
                <a:latin typeface="Helvetica Neue"/>
                <a:ea typeface="Helvetica Neue"/>
                <a:cs typeface="Helvetica Neue"/>
              </a:defRPr>
            </a:lvl3pPr>
            <a:lvl4pPr>
              <a:defRPr sz="1875">
                <a:solidFill>
                  <a:srgbClr val="13212D"/>
                </a:solidFill>
                <a:latin typeface="Helvetica Neue"/>
                <a:ea typeface="Helvetica Neue"/>
                <a:cs typeface="Helvetica Neue"/>
              </a:defRPr>
            </a:lvl4pPr>
            <a:lvl5pPr>
              <a:defRPr sz="1875">
                <a:solidFill>
                  <a:srgbClr val="13212D"/>
                </a:solidFill>
                <a:latin typeface="Helvetica Neue"/>
                <a:ea typeface="Helvetica Neue"/>
                <a:cs typeface="Helvetica Neue"/>
              </a:defRPr>
            </a:lvl5pPr>
            <a:lvl6pPr>
              <a:defRPr sz="1875">
                <a:solidFill>
                  <a:srgbClr val="13212D"/>
                </a:solidFill>
                <a:latin typeface="Helvetica Neue"/>
                <a:ea typeface="Helvetica Neue"/>
                <a:cs typeface="Helvetica Neue"/>
              </a:defRPr>
            </a:lvl6pPr>
            <a:lvl7pPr>
              <a:defRPr sz="1875">
                <a:solidFill>
                  <a:srgbClr val="13212D"/>
                </a:solidFill>
                <a:latin typeface="Helvetica Neue"/>
                <a:ea typeface="Helvetica Neue"/>
                <a:cs typeface="Helvetica Neue"/>
              </a:defRPr>
            </a:lvl7pPr>
            <a:lvl8pPr>
              <a:defRPr sz="1875">
                <a:solidFill>
                  <a:srgbClr val="13212D"/>
                </a:solidFill>
                <a:latin typeface="Helvetica Neue"/>
                <a:ea typeface="Helvetica Neue"/>
                <a:cs typeface="Helvetica Neue"/>
              </a:defRPr>
            </a:lvl8pPr>
            <a:lvl9pPr>
              <a:defRPr sz="187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(c) CVL dressing and cap changes;</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(d) CVL flushing;</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(e) CVL medication and fluid administration' (f) CVL blood drawing (g) CVL complications and remedial measures.</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Upon completion of the intravenous therapy training via central lines, the Licensed Practical Nurse shall be assessed on theoretical knowledge and practice, as well as clinical practice</a:t>
            </a:r>
          </a:p>
        </p:txBody>
      </p:sp>
      <p:sp>
        <p:nvSpPr>
          <p:cNvPr id="6" name="">
            <a:extLst xmlns:a="http://schemas.openxmlformats.org/drawingml/2006/main">
              <a:ext uri="{FF2B5EF4-FFF2-40B4-BE49-F238E27FC236}">
                <a16:creationId xmlns:a16="http://schemas.microsoft.com/office/drawing/2014/main" id="{E408FF07-538A-4F32-9B14-A76064B1F166}"/>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AF7B3C6E-7519-46A1-957D-19A8DC0AC2F2}"/>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9</a:t>
            </a:r>
          </a:p>
        </p:txBody>
      </p:sp>
    </p:spTree>
    <p:extLst>
      <p:ext uri="{BB962C8B-B14F-4D97-AF65-F5344CB8AC3E}">
        <p14:creationId xmlns:p14="http://schemas.microsoft.com/office/powerpoint/2010/main" val="1508036634"/>
      </p:ext>
    </p:extLst>
  </p:cSld>
</p:sld>
</file>

<file path=ppt/slides/slide51.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03AE49F6-5977-4FCB-81E9-20534CC79C3F}"/>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932C5B95-D25E-474E-BC10-C01CA4B7B109}"/>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8426"/>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Central Lines. The Board recognizes that through appropriate education and — continued</a:t>
            </a:r>
          </a:p>
        </p:txBody>
      </p:sp>
      <p:sp>
        <p:nvSpPr>
          <p:cNvPr id="3" name="">
            <a:extLst xmlns:a="http://schemas.openxmlformats.org/drawingml/2006/main">
              <a:ext uri="{FF2B5EF4-FFF2-40B4-BE49-F238E27FC236}">
                <a16:creationId xmlns:a16="http://schemas.microsoft.com/office/drawing/2014/main" id="{91F99870-20E0-4594-9D59-A6367C928DD9}"/>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1</a:t>
            </a:r>
          </a:p>
        </p:txBody>
      </p:sp>
      <p:sp>
        <p:nvSpPr>
          <p:cNvPr id="4" name="">
            <a:extLst xmlns:a="http://schemas.openxmlformats.org/drawingml/2006/main">
              <a:ext uri="{FF2B5EF4-FFF2-40B4-BE49-F238E27FC236}">
                <a16:creationId xmlns:a16="http://schemas.microsoft.com/office/drawing/2014/main" id="{1616CDBB-991D-4174-9946-83F089552F2F}"/>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51</a:t>
            </a:r>
          </a:p>
        </p:txBody>
      </p:sp>
      <p:sp>
        <p:nvSpPr>
          <p:cNvPr id="5" name="">
            <a:extLst xmlns:a="http://schemas.openxmlformats.org/drawingml/2006/main">
              <a:ext uri="{FF2B5EF4-FFF2-40B4-BE49-F238E27FC236}">
                <a16:creationId xmlns:a16="http://schemas.microsoft.com/office/drawing/2014/main" id="{23493BC5-CD44-412A-B4C3-5F5CD9057AB9}"/>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875">
                <a:solidFill>
                  <a:srgbClr val="13212D"/>
                </a:solidFill>
                <a:latin typeface="Helvetica Neue"/>
                <a:ea typeface="Helvetica Neue"/>
                <a:cs typeface="Helvetica Neue"/>
              </a:defRPr>
            </a:defPPr>
            <a:lvl1pPr>
              <a:defRPr sz="1875">
                <a:solidFill>
                  <a:srgbClr val="13212D"/>
                </a:solidFill>
                <a:latin typeface="Helvetica Neue"/>
                <a:ea typeface="Helvetica Neue"/>
                <a:cs typeface="Helvetica Neue"/>
              </a:defRPr>
            </a:lvl1pPr>
            <a:lvl2pPr>
              <a:defRPr sz="1875">
                <a:solidFill>
                  <a:srgbClr val="13212D"/>
                </a:solidFill>
                <a:latin typeface="Helvetica Neue"/>
                <a:ea typeface="Helvetica Neue"/>
                <a:cs typeface="Helvetica Neue"/>
              </a:defRPr>
            </a:lvl2pPr>
            <a:lvl3pPr>
              <a:defRPr sz="1875">
                <a:solidFill>
                  <a:srgbClr val="13212D"/>
                </a:solidFill>
                <a:latin typeface="Helvetica Neue"/>
                <a:ea typeface="Helvetica Neue"/>
                <a:cs typeface="Helvetica Neue"/>
              </a:defRPr>
            </a:lvl3pPr>
            <a:lvl4pPr>
              <a:defRPr sz="1875">
                <a:solidFill>
                  <a:srgbClr val="13212D"/>
                </a:solidFill>
                <a:latin typeface="Helvetica Neue"/>
                <a:ea typeface="Helvetica Neue"/>
                <a:cs typeface="Helvetica Neue"/>
              </a:defRPr>
            </a:lvl4pPr>
            <a:lvl5pPr>
              <a:defRPr sz="1875">
                <a:solidFill>
                  <a:srgbClr val="13212D"/>
                </a:solidFill>
                <a:latin typeface="Helvetica Neue"/>
                <a:ea typeface="Helvetica Neue"/>
                <a:cs typeface="Helvetica Neue"/>
              </a:defRPr>
            </a:lvl5pPr>
            <a:lvl6pPr>
              <a:defRPr sz="1875">
                <a:solidFill>
                  <a:srgbClr val="13212D"/>
                </a:solidFill>
                <a:latin typeface="Helvetica Neue"/>
                <a:ea typeface="Helvetica Neue"/>
                <a:cs typeface="Helvetica Neue"/>
              </a:defRPr>
            </a:lvl6pPr>
            <a:lvl7pPr>
              <a:defRPr sz="1875">
                <a:solidFill>
                  <a:srgbClr val="13212D"/>
                </a:solidFill>
                <a:latin typeface="Helvetica Neue"/>
                <a:ea typeface="Helvetica Neue"/>
                <a:cs typeface="Helvetica Neue"/>
              </a:defRPr>
            </a:lvl7pPr>
            <a:lvl8pPr>
              <a:defRPr sz="1875">
                <a:solidFill>
                  <a:srgbClr val="13212D"/>
                </a:solidFill>
                <a:latin typeface="Helvetica Neue"/>
                <a:ea typeface="Helvetica Neue"/>
                <a:cs typeface="Helvetica Neue"/>
              </a:defRPr>
            </a:lvl8pPr>
            <a:lvl9pPr>
              <a:defRPr sz="187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and competence.</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The clinical practice assessment must be witnessed by a Registered Nurse who shall file a proficiency statement regarding the Licensed Practical Nurse's ability to perform intravenous</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therapy via central lines.</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The proficiency statement shall be kept in the Licensed Practical Nurse's personnel file.</a:t>
            </a:r>
          </a:p>
        </p:txBody>
      </p:sp>
      <p:sp>
        <p:nvSpPr>
          <p:cNvPr id="6" name="">
            <a:extLst xmlns:a="http://schemas.openxmlformats.org/drawingml/2006/main">
              <a:ext uri="{FF2B5EF4-FFF2-40B4-BE49-F238E27FC236}">
                <a16:creationId xmlns:a16="http://schemas.microsoft.com/office/drawing/2014/main" id="{579F6407-E3A9-434B-A5C1-DCA9D3A47AA8}"/>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85D670EC-8F5C-4B80-A6CF-5D81BFC2CD1F}"/>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9</a:t>
            </a:r>
          </a:p>
        </p:txBody>
      </p:sp>
    </p:spTree>
    <p:extLst>
      <p:ext uri="{BB962C8B-B14F-4D97-AF65-F5344CB8AC3E}">
        <p14:creationId xmlns:p14="http://schemas.microsoft.com/office/powerpoint/2010/main" val="394702539"/>
      </p:ext>
    </p:extLst>
  </p:cSld>
</p:sld>
</file>

<file path=ppt/slides/slide52.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BE4CF28E-8989-4B50-806A-ABF2CB7D0F07}"/>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64E647F1-09A9-4541-B441-A59B67FFFDBD}"/>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8426"/>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Central Lines. The Board recognizes that through appropriate education and — continued</a:t>
            </a:r>
          </a:p>
        </p:txBody>
      </p:sp>
      <p:sp>
        <p:nvSpPr>
          <p:cNvPr id="3" name="">
            <a:extLst xmlns:a="http://schemas.openxmlformats.org/drawingml/2006/main">
              <a:ext uri="{FF2B5EF4-FFF2-40B4-BE49-F238E27FC236}">
                <a16:creationId xmlns:a16="http://schemas.microsoft.com/office/drawing/2014/main" id="{6D0F44CA-5D22-4E29-B2B3-3C4B367CA821}"/>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1</a:t>
            </a:r>
          </a:p>
        </p:txBody>
      </p:sp>
      <p:sp>
        <p:nvSpPr>
          <p:cNvPr id="4" name="">
            <a:extLst xmlns:a="http://schemas.openxmlformats.org/drawingml/2006/main">
              <a:ext uri="{FF2B5EF4-FFF2-40B4-BE49-F238E27FC236}">
                <a16:creationId xmlns:a16="http://schemas.microsoft.com/office/drawing/2014/main" id="{D107F5E4-A997-46B3-9509-A05EDA67E510}"/>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52</a:t>
            </a:r>
          </a:p>
        </p:txBody>
      </p:sp>
      <p:sp>
        <p:nvSpPr>
          <p:cNvPr id="5" name="">
            <a:extLst xmlns:a="http://schemas.openxmlformats.org/drawingml/2006/main">
              <a:ext uri="{FF2B5EF4-FFF2-40B4-BE49-F238E27FC236}">
                <a16:creationId xmlns:a16="http://schemas.microsoft.com/office/drawing/2014/main" id="{08820E47-E985-4E81-8D6B-A7D1337F9676}"/>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100">
                <a:solidFill>
                  <a:srgbClr val="13212D"/>
                </a:solidFill>
                <a:latin typeface="Helvetica Neue"/>
                <a:ea typeface="Helvetica Neue"/>
                <a:cs typeface="Helvetica Neue"/>
              </a:defRPr>
            </a:defPPr>
            <a:lvl1pPr>
              <a:defRPr sz="2100">
                <a:solidFill>
                  <a:srgbClr val="13212D"/>
                </a:solidFill>
                <a:latin typeface="Helvetica Neue"/>
                <a:ea typeface="Helvetica Neue"/>
                <a:cs typeface="Helvetica Neue"/>
              </a:defRPr>
            </a:lvl1pPr>
            <a:lvl2pPr>
              <a:defRPr sz="2100">
                <a:solidFill>
                  <a:srgbClr val="13212D"/>
                </a:solidFill>
                <a:latin typeface="Helvetica Neue"/>
                <a:ea typeface="Helvetica Neue"/>
                <a:cs typeface="Helvetica Neue"/>
              </a:defRPr>
            </a:lvl2pPr>
            <a:lvl3pPr>
              <a:defRPr sz="2100">
                <a:solidFill>
                  <a:srgbClr val="13212D"/>
                </a:solidFill>
                <a:latin typeface="Helvetica Neue"/>
                <a:ea typeface="Helvetica Neue"/>
                <a:cs typeface="Helvetica Neue"/>
              </a:defRPr>
            </a:lvl3pPr>
            <a:lvl4pPr>
              <a:defRPr sz="2100">
                <a:solidFill>
                  <a:srgbClr val="13212D"/>
                </a:solidFill>
                <a:latin typeface="Helvetica Neue"/>
                <a:ea typeface="Helvetica Neue"/>
                <a:cs typeface="Helvetica Neue"/>
              </a:defRPr>
            </a:lvl4pPr>
            <a:lvl5pPr>
              <a:defRPr sz="2100">
                <a:solidFill>
                  <a:srgbClr val="13212D"/>
                </a:solidFill>
                <a:latin typeface="Helvetica Neue"/>
                <a:ea typeface="Helvetica Neue"/>
                <a:cs typeface="Helvetica Neue"/>
              </a:defRPr>
            </a:lvl5pPr>
            <a:lvl6pPr>
              <a:defRPr sz="2100">
                <a:solidFill>
                  <a:srgbClr val="13212D"/>
                </a:solidFill>
                <a:latin typeface="Helvetica Neue"/>
                <a:ea typeface="Helvetica Neue"/>
                <a:cs typeface="Helvetica Neue"/>
              </a:defRPr>
            </a:lvl6pPr>
            <a:lvl7pPr>
              <a:defRPr sz="2100">
                <a:solidFill>
                  <a:srgbClr val="13212D"/>
                </a:solidFill>
                <a:latin typeface="Helvetica Neue"/>
                <a:ea typeface="Helvetica Neue"/>
                <a:cs typeface="Helvetica Neue"/>
              </a:defRPr>
            </a:lvl7pPr>
            <a:lvl8pPr>
              <a:defRPr sz="2100">
                <a:solidFill>
                  <a:srgbClr val="13212D"/>
                </a:solidFill>
                <a:latin typeface="Helvetica Neue"/>
                <a:ea typeface="Helvetica Neue"/>
                <a:cs typeface="Helvetica Neue"/>
              </a:defRPr>
            </a:lvl8pPr>
            <a:lvl9pPr>
              <a:defRPr sz="2100">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Providers: The LPN IV education must be sponsored by a provider of continuing education courses approved by the Board pursuant to Rule 64B9-5.005.</a:t>
            </a:r>
          </a:p>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To be qualified to teach any such course, the instructor must be a currently licensed registered nurse in good standing in this state, have teaching experience, including IV therapy.</a:t>
            </a:r>
          </a:p>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The provider will be responsible for issuing a certificate verifying completion of the requisite number of hours and course content.</a:t>
            </a:r>
          </a:p>
        </p:txBody>
      </p:sp>
      <p:sp>
        <p:nvSpPr>
          <p:cNvPr id="6" name="">
            <a:extLst xmlns:a="http://schemas.openxmlformats.org/drawingml/2006/main">
              <a:ext uri="{FF2B5EF4-FFF2-40B4-BE49-F238E27FC236}">
                <a16:creationId xmlns:a16="http://schemas.microsoft.com/office/drawing/2014/main" id="{C6E26727-A4BE-4D91-B511-306701CDC722}"/>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78BD0BA9-168D-4EB4-B774-8BF73FD87013}"/>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9</a:t>
            </a:r>
          </a:p>
        </p:txBody>
      </p:sp>
    </p:spTree>
    <p:extLst>
      <p:ext uri="{BB962C8B-B14F-4D97-AF65-F5344CB8AC3E}">
        <p14:creationId xmlns:p14="http://schemas.microsoft.com/office/powerpoint/2010/main" val="579960537"/>
      </p:ext>
    </p:extLst>
  </p:cSld>
</p:sld>
</file>

<file path=ppt/slides/slide53.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A2E042EA-7795-4C13-8817-B30A3E0FB753}"/>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A977A46C-D75C-425A-ADBC-D31B61D0C1CF}"/>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8426"/>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that every Licensed Practical Nurse will not administer IV Therapy, the course</a:t>
            </a:r>
          </a:p>
        </p:txBody>
      </p:sp>
      <p:sp>
        <p:nvSpPr>
          <p:cNvPr id="3" name="">
            <a:extLst xmlns:a="http://schemas.openxmlformats.org/drawingml/2006/main">
              <a:ext uri="{FF2B5EF4-FFF2-40B4-BE49-F238E27FC236}">
                <a16:creationId xmlns:a16="http://schemas.microsoft.com/office/drawing/2014/main" id="{079FE9A7-00CD-4A9A-96A9-2800A6BB56A2}"/>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1</a:t>
            </a:r>
          </a:p>
        </p:txBody>
      </p:sp>
      <p:sp>
        <p:nvSpPr>
          <p:cNvPr id="4" name="">
            <a:extLst xmlns:a="http://schemas.openxmlformats.org/drawingml/2006/main">
              <a:ext uri="{FF2B5EF4-FFF2-40B4-BE49-F238E27FC236}">
                <a16:creationId xmlns:a16="http://schemas.microsoft.com/office/drawing/2014/main" id="{60E07795-28D5-429A-80C7-E2B00CD120E1}"/>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53</a:t>
            </a:r>
          </a:p>
        </p:txBody>
      </p:sp>
      <p:sp>
        <p:nvSpPr>
          <p:cNvPr id="5" name="">
            <a:extLst xmlns:a="http://schemas.openxmlformats.org/drawingml/2006/main">
              <a:ext uri="{FF2B5EF4-FFF2-40B4-BE49-F238E27FC236}">
                <a16:creationId xmlns:a16="http://schemas.microsoft.com/office/drawing/2014/main" id="{7814C0F6-5D29-4A76-AF0D-09C72980D763}"/>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875">
                <a:solidFill>
                  <a:srgbClr val="13212D"/>
                </a:solidFill>
                <a:latin typeface="Helvetica Neue"/>
                <a:ea typeface="Helvetica Neue"/>
                <a:cs typeface="Helvetica Neue"/>
              </a:defRPr>
            </a:defPPr>
            <a:lvl1pPr>
              <a:defRPr sz="1875">
                <a:solidFill>
                  <a:srgbClr val="13212D"/>
                </a:solidFill>
                <a:latin typeface="Helvetica Neue"/>
                <a:ea typeface="Helvetica Neue"/>
                <a:cs typeface="Helvetica Neue"/>
              </a:defRPr>
            </a:lvl1pPr>
            <a:lvl2pPr>
              <a:defRPr sz="1875">
                <a:solidFill>
                  <a:srgbClr val="13212D"/>
                </a:solidFill>
                <a:latin typeface="Helvetica Neue"/>
                <a:ea typeface="Helvetica Neue"/>
                <a:cs typeface="Helvetica Neue"/>
              </a:defRPr>
            </a:lvl2pPr>
            <a:lvl3pPr>
              <a:defRPr sz="1875">
                <a:solidFill>
                  <a:srgbClr val="13212D"/>
                </a:solidFill>
                <a:latin typeface="Helvetica Neue"/>
                <a:ea typeface="Helvetica Neue"/>
                <a:cs typeface="Helvetica Neue"/>
              </a:defRPr>
            </a:lvl3pPr>
            <a:lvl4pPr>
              <a:defRPr sz="1875">
                <a:solidFill>
                  <a:srgbClr val="13212D"/>
                </a:solidFill>
                <a:latin typeface="Helvetica Neue"/>
                <a:ea typeface="Helvetica Neue"/>
                <a:cs typeface="Helvetica Neue"/>
              </a:defRPr>
            </a:lvl4pPr>
            <a:lvl5pPr>
              <a:defRPr sz="1875">
                <a:solidFill>
                  <a:srgbClr val="13212D"/>
                </a:solidFill>
                <a:latin typeface="Helvetica Neue"/>
                <a:ea typeface="Helvetica Neue"/>
                <a:cs typeface="Helvetica Neue"/>
              </a:defRPr>
            </a:lvl5pPr>
            <a:lvl6pPr>
              <a:defRPr sz="1875">
                <a:solidFill>
                  <a:srgbClr val="13212D"/>
                </a:solidFill>
                <a:latin typeface="Helvetica Neue"/>
                <a:ea typeface="Helvetica Neue"/>
                <a:cs typeface="Helvetica Neue"/>
              </a:defRPr>
            </a:lvl6pPr>
            <a:lvl7pPr>
              <a:defRPr sz="1875">
                <a:solidFill>
                  <a:srgbClr val="13212D"/>
                </a:solidFill>
                <a:latin typeface="Helvetica Neue"/>
                <a:ea typeface="Helvetica Neue"/>
                <a:cs typeface="Helvetica Neue"/>
              </a:defRPr>
            </a:lvl7pPr>
            <a:lvl8pPr>
              <a:defRPr sz="1875">
                <a:solidFill>
                  <a:srgbClr val="13212D"/>
                </a:solidFill>
                <a:latin typeface="Helvetica Neue"/>
                <a:ea typeface="Helvetica Neue"/>
                <a:cs typeface="Helvetica Neue"/>
              </a:defRPr>
            </a:lvl8pPr>
            <a:lvl9pPr>
              <a:defRPr sz="187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Education Alternatives The cognitive training shall include one or more of the following: Post-Graduate Level Course.</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In recognition that the curriculum requirements mandated by Rule 64B9-2.006(3) for practical nursing programs are extensive and that every Licensed Practical Nurse will not administer</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IV Therapy, the course necessary to qualify a Licensed Practical Nurse to administer IV therapy shall be not lass that a thirty (30) hour post-graduate level course teaching aspects of</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IV therapy containing the components enumerated in 64B9-12.005(1).</a:t>
            </a:r>
          </a:p>
        </p:txBody>
      </p:sp>
      <p:sp>
        <p:nvSpPr>
          <p:cNvPr id="6" name="">
            <a:extLst xmlns:a="http://schemas.openxmlformats.org/drawingml/2006/main">
              <a:ext uri="{FF2B5EF4-FFF2-40B4-BE49-F238E27FC236}">
                <a16:creationId xmlns:a16="http://schemas.microsoft.com/office/drawing/2014/main" id="{ADC265C2-3AF7-4293-B8A7-A04CF21C45F0}"/>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944D496A-E127-4B04-8342-E4F297AF94E3}"/>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10</a:t>
            </a:r>
          </a:p>
        </p:txBody>
      </p:sp>
    </p:spTree>
    <p:extLst>
      <p:ext uri="{BB962C8B-B14F-4D97-AF65-F5344CB8AC3E}">
        <p14:creationId xmlns:p14="http://schemas.microsoft.com/office/powerpoint/2010/main" val="561458728"/>
      </p:ext>
    </p:extLst>
  </p:cSld>
</p:sld>
</file>

<file path=ppt/slides/slide54.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8E5B68E5-38C6-40EE-9072-47BBF082B338}"/>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A00FB236-1FB0-461C-A051-100AE5828DC7}"/>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8426"/>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that every Licensed Practical Nurse will not administer IV Therapy, the course — continued</a:t>
            </a:r>
          </a:p>
        </p:txBody>
      </p:sp>
      <p:sp>
        <p:nvSpPr>
          <p:cNvPr id="3" name="">
            <a:extLst xmlns:a="http://schemas.openxmlformats.org/drawingml/2006/main">
              <a:ext uri="{FF2B5EF4-FFF2-40B4-BE49-F238E27FC236}">
                <a16:creationId xmlns:a16="http://schemas.microsoft.com/office/drawing/2014/main" id="{01271328-1CCC-4573-BD70-D04DC2734E34}"/>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1</a:t>
            </a:r>
          </a:p>
        </p:txBody>
      </p:sp>
      <p:sp>
        <p:nvSpPr>
          <p:cNvPr id="4" name="">
            <a:extLst xmlns:a="http://schemas.openxmlformats.org/drawingml/2006/main">
              <a:ext uri="{FF2B5EF4-FFF2-40B4-BE49-F238E27FC236}">
                <a16:creationId xmlns:a16="http://schemas.microsoft.com/office/drawing/2014/main" id="{5706B163-E219-411D-87D5-9C8E37DC8BC1}"/>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54</a:t>
            </a:r>
          </a:p>
        </p:txBody>
      </p:sp>
      <p:sp>
        <p:nvSpPr>
          <p:cNvPr id="5" name="">
            <a:extLst xmlns:a="http://schemas.openxmlformats.org/drawingml/2006/main">
              <a:ext uri="{FF2B5EF4-FFF2-40B4-BE49-F238E27FC236}">
                <a16:creationId xmlns:a16="http://schemas.microsoft.com/office/drawing/2014/main" id="{859DA8D0-8636-4045-82AE-73265CF9CDF7}"/>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875">
                <a:solidFill>
                  <a:srgbClr val="13212D"/>
                </a:solidFill>
                <a:latin typeface="Helvetica Neue"/>
                <a:ea typeface="Helvetica Neue"/>
                <a:cs typeface="Helvetica Neue"/>
              </a:defRPr>
            </a:defPPr>
            <a:lvl1pPr>
              <a:defRPr sz="1875">
                <a:solidFill>
                  <a:srgbClr val="13212D"/>
                </a:solidFill>
                <a:latin typeface="Helvetica Neue"/>
                <a:ea typeface="Helvetica Neue"/>
                <a:cs typeface="Helvetica Neue"/>
              </a:defRPr>
            </a:lvl1pPr>
            <a:lvl2pPr>
              <a:defRPr sz="1875">
                <a:solidFill>
                  <a:srgbClr val="13212D"/>
                </a:solidFill>
                <a:latin typeface="Helvetica Neue"/>
                <a:ea typeface="Helvetica Neue"/>
                <a:cs typeface="Helvetica Neue"/>
              </a:defRPr>
            </a:lvl2pPr>
            <a:lvl3pPr>
              <a:defRPr sz="1875">
                <a:solidFill>
                  <a:srgbClr val="13212D"/>
                </a:solidFill>
                <a:latin typeface="Helvetica Neue"/>
                <a:ea typeface="Helvetica Neue"/>
                <a:cs typeface="Helvetica Neue"/>
              </a:defRPr>
            </a:lvl3pPr>
            <a:lvl4pPr>
              <a:defRPr sz="1875">
                <a:solidFill>
                  <a:srgbClr val="13212D"/>
                </a:solidFill>
                <a:latin typeface="Helvetica Neue"/>
                <a:ea typeface="Helvetica Neue"/>
                <a:cs typeface="Helvetica Neue"/>
              </a:defRPr>
            </a:lvl4pPr>
            <a:lvl5pPr>
              <a:defRPr sz="1875">
                <a:solidFill>
                  <a:srgbClr val="13212D"/>
                </a:solidFill>
                <a:latin typeface="Helvetica Neue"/>
                <a:ea typeface="Helvetica Neue"/>
                <a:cs typeface="Helvetica Neue"/>
              </a:defRPr>
            </a:lvl5pPr>
            <a:lvl6pPr>
              <a:defRPr sz="1875">
                <a:solidFill>
                  <a:srgbClr val="13212D"/>
                </a:solidFill>
                <a:latin typeface="Helvetica Neue"/>
                <a:ea typeface="Helvetica Neue"/>
                <a:cs typeface="Helvetica Neue"/>
              </a:defRPr>
            </a:lvl6pPr>
            <a:lvl7pPr>
              <a:defRPr sz="1875">
                <a:solidFill>
                  <a:srgbClr val="13212D"/>
                </a:solidFill>
                <a:latin typeface="Helvetica Neue"/>
                <a:ea typeface="Helvetica Neue"/>
                <a:cs typeface="Helvetica Neue"/>
              </a:defRPr>
            </a:lvl7pPr>
            <a:lvl8pPr>
              <a:defRPr sz="1875">
                <a:solidFill>
                  <a:srgbClr val="13212D"/>
                </a:solidFill>
                <a:latin typeface="Helvetica Neue"/>
                <a:ea typeface="Helvetica Neue"/>
                <a:cs typeface="Helvetica Neue"/>
              </a:defRPr>
            </a:lvl8pPr>
            <a:lvl9pPr>
              <a:defRPr sz="187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Credit for Previous Education.</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The continuing education provider may credit the licensed practical nurse for previous IV therapy education on a post-graduate level, providing each component of the course content of</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64B9-12.005(1) is tested by and competency demonstrated to the provider.</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Nontraditional Education.</a:t>
            </a:r>
          </a:p>
        </p:txBody>
      </p:sp>
      <p:sp>
        <p:nvSpPr>
          <p:cNvPr id="6" name="">
            <a:extLst xmlns:a="http://schemas.openxmlformats.org/drawingml/2006/main">
              <a:ext uri="{FF2B5EF4-FFF2-40B4-BE49-F238E27FC236}">
                <a16:creationId xmlns:a16="http://schemas.microsoft.com/office/drawing/2014/main" id="{427DF40D-5E64-4E69-8C4B-641E728DC7EE}"/>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091970BD-9434-437D-9DF5-18DDF52988A5}"/>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10</a:t>
            </a:r>
          </a:p>
        </p:txBody>
      </p:sp>
    </p:spTree>
    <p:extLst>
      <p:ext uri="{BB962C8B-B14F-4D97-AF65-F5344CB8AC3E}">
        <p14:creationId xmlns:p14="http://schemas.microsoft.com/office/powerpoint/2010/main" val="1815729630"/>
      </p:ext>
    </p:extLst>
  </p:cSld>
</p:sld>
</file>

<file path=ppt/slides/slide55.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28E90ABD-5513-44F4-9C06-5926840C64FB}"/>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89F12CEB-FA83-4040-AED4-AFE8450A6E26}"/>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8426"/>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that every Licensed Practical Nurse will not administer IV Therapy, the course — continued</a:t>
            </a:r>
          </a:p>
        </p:txBody>
      </p:sp>
      <p:sp>
        <p:nvSpPr>
          <p:cNvPr id="3" name="">
            <a:extLst xmlns:a="http://schemas.openxmlformats.org/drawingml/2006/main">
              <a:ext uri="{FF2B5EF4-FFF2-40B4-BE49-F238E27FC236}">
                <a16:creationId xmlns:a16="http://schemas.microsoft.com/office/drawing/2014/main" id="{0EB894DB-55E9-436B-A0D4-6C7F2761A414}"/>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1</a:t>
            </a:r>
          </a:p>
        </p:txBody>
      </p:sp>
      <p:sp>
        <p:nvSpPr>
          <p:cNvPr id="4" name="">
            <a:extLst xmlns:a="http://schemas.openxmlformats.org/drawingml/2006/main">
              <a:ext uri="{FF2B5EF4-FFF2-40B4-BE49-F238E27FC236}">
                <a16:creationId xmlns:a16="http://schemas.microsoft.com/office/drawing/2014/main" id="{2636238F-82BB-4766-9C8A-74099A159A12}"/>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55</a:t>
            </a:r>
          </a:p>
        </p:txBody>
      </p:sp>
      <p:sp>
        <p:nvSpPr>
          <p:cNvPr id="5" name="">
            <a:extLst xmlns:a="http://schemas.openxmlformats.org/drawingml/2006/main">
              <a:ext uri="{FF2B5EF4-FFF2-40B4-BE49-F238E27FC236}">
                <a16:creationId xmlns:a16="http://schemas.microsoft.com/office/drawing/2014/main" id="{F224CDE7-67C4-4873-BDD8-D0C095C37F1E}"/>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875">
                <a:solidFill>
                  <a:srgbClr val="13212D"/>
                </a:solidFill>
                <a:latin typeface="Helvetica Neue"/>
                <a:ea typeface="Helvetica Neue"/>
                <a:cs typeface="Helvetica Neue"/>
              </a:defRPr>
            </a:defPPr>
            <a:lvl1pPr>
              <a:defRPr sz="1875">
                <a:solidFill>
                  <a:srgbClr val="13212D"/>
                </a:solidFill>
                <a:latin typeface="Helvetica Neue"/>
                <a:ea typeface="Helvetica Neue"/>
                <a:cs typeface="Helvetica Neue"/>
              </a:defRPr>
            </a:lvl1pPr>
            <a:lvl2pPr>
              <a:defRPr sz="1875">
                <a:solidFill>
                  <a:srgbClr val="13212D"/>
                </a:solidFill>
                <a:latin typeface="Helvetica Neue"/>
                <a:ea typeface="Helvetica Neue"/>
                <a:cs typeface="Helvetica Neue"/>
              </a:defRPr>
            </a:lvl2pPr>
            <a:lvl3pPr>
              <a:defRPr sz="1875">
                <a:solidFill>
                  <a:srgbClr val="13212D"/>
                </a:solidFill>
                <a:latin typeface="Helvetica Neue"/>
                <a:ea typeface="Helvetica Neue"/>
                <a:cs typeface="Helvetica Neue"/>
              </a:defRPr>
            </a:lvl3pPr>
            <a:lvl4pPr>
              <a:defRPr sz="1875">
                <a:solidFill>
                  <a:srgbClr val="13212D"/>
                </a:solidFill>
                <a:latin typeface="Helvetica Neue"/>
                <a:ea typeface="Helvetica Neue"/>
                <a:cs typeface="Helvetica Neue"/>
              </a:defRPr>
            </a:lvl4pPr>
            <a:lvl5pPr>
              <a:defRPr sz="1875">
                <a:solidFill>
                  <a:srgbClr val="13212D"/>
                </a:solidFill>
                <a:latin typeface="Helvetica Neue"/>
                <a:ea typeface="Helvetica Neue"/>
                <a:cs typeface="Helvetica Neue"/>
              </a:defRPr>
            </a:lvl5pPr>
            <a:lvl6pPr>
              <a:defRPr sz="1875">
                <a:solidFill>
                  <a:srgbClr val="13212D"/>
                </a:solidFill>
                <a:latin typeface="Helvetica Neue"/>
                <a:ea typeface="Helvetica Neue"/>
                <a:cs typeface="Helvetica Neue"/>
              </a:defRPr>
            </a:lvl6pPr>
            <a:lvl7pPr>
              <a:defRPr sz="1875">
                <a:solidFill>
                  <a:srgbClr val="13212D"/>
                </a:solidFill>
                <a:latin typeface="Helvetica Neue"/>
                <a:ea typeface="Helvetica Neue"/>
                <a:cs typeface="Helvetica Neue"/>
              </a:defRPr>
            </a:lvl7pPr>
            <a:lvl8pPr>
              <a:defRPr sz="1875">
                <a:solidFill>
                  <a:srgbClr val="13212D"/>
                </a:solidFill>
                <a:latin typeface="Helvetica Neue"/>
                <a:ea typeface="Helvetica Neue"/>
                <a:cs typeface="Helvetica Neue"/>
              </a:defRPr>
            </a:lvl8pPr>
            <a:lvl9pPr>
              <a:defRPr sz="187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Continuing education providers may select nontraditional education alternatives for acquisition of cognitive content outlined in 64B9-12.005.</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Such alternatives include: 1.</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Interactive videos 2.</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Self study 3.</a:t>
            </a:r>
          </a:p>
        </p:txBody>
      </p:sp>
      <p:sp>
        <p:nvSpPr>
          <p:cNvPr id="6" name="">
            <a:extLst xmlns:a="http://schemas.openxmlformats.org/drawingml/2006/main">
              <a:ext uri="{FF2B5EF4-FFF2-40B4-BE49-F238E27FC236}">
                <a16:creationId xmlns:a16="http://schemas.microsoft.com/office/drawing/2014/main" id="{C36D19EF-45DE-4759-92B0-2E283F4C1134}"/>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8BD785E7-4BE0-4611-B731-0F268F6A8480}"/>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10</a:t>
            </a:r>
          </a:p>
        </p:txBody>
      </p:sp>
    </p:spTree>
    <p:extLst>
      <p:ext uri="{BB962C8B-B14F-4D97-AF65-F5344CB8AC3E}">
        <p14:creationId xmlns:p14="http://schemas.microsoft.com/office/powerpoint/2010/main" val="1624757594"/>
      </p:ext>
    </p:extLst>
  </p:cSld>
</p:sld>
</file>

<file path=ppt/slides/slide56.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1046710F-D068-437F-A81C-2AC4E1AC98C3}"/>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B166986A-6035-4408-8192-0DC7A079E99E}"/>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8426"/>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that every Licensed Practical Nurse will not administer IV Therapy, the course — continued</a:t>
            </a:r>
          </a:p>
        </p:txBody>
      </p:sp>
      <p:sp>
        <p:nvSpPr>
          <p:cNvPr id="3" name="">
            <a:extLst xmlns:a="http://schemas.openxmlformats.org/drawingml/2006/main">
              <a:ext uri="{FF2B5EF4-FFF2-40B4-BE49-F238E27FC236}">
                <a16:creationId xmlns:a16="http://schemas.microsoft.com/office/drawing/2014/main" id="{02DAC63A-7D60-4E5B-8B80-8689B4C1BFA0}"/>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1</a:t>
            </a:r>
          </a:p>
        </p:txBody>
      </p:sp>
      <p:sp>
        <p:nvSpPr>
          <p:cNvPr id="4" name="">
            <a:extLst xmlns:a="http://schemas.openxmlformats.org/drawingml/2006/main">
              <a:ext uri="{FF2B5EF4-FFF2-40B4-BE49-F238E27FC236}">
                <a16:creationId xmlns:a16="http://schemas.microsoft.com/office/drawing/2014/main" id="{203E84E7-E16B-4076-A1B8-39A77ADABC5D}"/>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56</a:t>
            </a:r>
          </a:p>
        </p:txBody>
      </p:sp>
      <p:sp>
        <p:nvSpPr>
          <p:cNvPr id="5" name="">
            <a:extLst xmlns:a="http://schemas.openxmlformats.org/drawingml/2006/main">
              <a:ext uri="{FF2B5EF4-FFF2-40B4-BE49-F238E27FC236}">
                <a16:creationId xmlns:a16="http://schemas.microsoft.com/office/drawing/2014/main" id="{892778AB-A5D0-459C-B696-C34C28B421CC}"/>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875">
                <a:solidFill>
                  <a:srgbClr val="13212D"/>
                </a:solidFill>
                <a:latin typeface="Helvetica Neue"/>
                <a:ea typeface="Helvetica Neue"/>
                <a:cs typeface="Helvetica Neue"/>
              </a:defRPr>
            </a:defPPr>
            <a:lvl1pPr>
              <a:defRPr sz="1875">
                <a:solidFill>
                  <a:srgbClr val="13212D"/>
                </a:solidFill>
                <a:latin typeface="Helvetica Neue"/>
                <a:ea typeface="Helvetica Neue"/>
                <a:cs typeface="Helvetica Neue"/>
              </a:defRPr>
            </a:lvl1pPr>
            <a:lvl2pPr>
              <a:defRPr sz="1875">
                <a:solidFill>
                  <a:srgbClr val="13212D"/>
                </a:solidFill>
                <a:latin typeface="Helvetica Neue"/>
                <a:ea typeface="Helvetica Neue"/>
                <a:cs typeface="Helvetica Neue"/>
              </a:defRPr>
            </a:lvl2pPr>
            <a:lvl3pPr>
              <a:defRPr sz="1875">
                <a:solidFill>
                  <a:srgbClr val="13212D"/>
                </a:solidFill>
                <a:latin typeface="Helvetica Neue"/>
                <a:ea typeface="Helvetica Neue"/>
                <a:cs typeface="Helvetica Neue"/>
              </a:defRPr>
            </a:lvl3pPr>
            <a:lvl4pPr>
              <a:defRPr sz="1875">
                <a:solidFill>
                  <a:srgbClr val="13212D"/>
                </a:solidFill>
                <a:latin typeface="Helvetica Neue"/>
                <a:ea typeface="Helvetica Neue"/>
                <a:cs typeface="Helvetica Neue"/>
              </a:defRPr>
            </a:lvl4pPr>
            <a:lvl5pPr>
              <a:defRPr sz="1875">
                <a:solidFill>
                  <a:srgbClr val="13212D"/>
                </a:solidFill>
                <a:latin typeface="Helvetica Neue"/>
                <a:ea typeface="Helvetica Neue"/>
                <a:cs typeface="Helvetica Neue"/>
              </a:defRPr>
            </a:lvl5pPr>
            <a:lvl6pPr>
              <a:defRPr sz="1875">
                <a:solidFill>
                  <a:srgbClr val="13212D"/>
                </a:solidFill>
                <a:latin typeface="Helvetica Neue"/>
                <a:ea typeface="Helvetica Neue"/>
                <a:cs typeface="Helvetica Neue"/>
              </a:defRPr>
            </a:lvl6pPr>
            <a:lvl7pPr>
              <a:defRPr sz="1875">
                <a:solidFill>
                  <a:srgbClr val="13212D"/>
                </a:solidFill>
                <a:latin typeface="Helvetica Neue"/>
                <a:ea typeface="Helvetica Neue"/>
                <a:cs typeface="Helvetica Neue"/>
              </a:defRPr>
            </a:lvl7pPr>
            <a:lvl8pPr>
              <a:defRPr sz="1875">
                <a:solidFill>
                  <a:srgbClr val="13212D"/>
                </a:solidFill>
                <a:latin typeface="Helvetica Neue"/>
                <a:ea typeface="Helvetica Neue"/>
                <a:cs typeface="Helvetica Neue"/>
              </a:defRPr>
            </a:lvl8pPr>
            <a:lvl9pPr>
              <a:defRPr sz="187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Other nontraditional education that may be submitted to the Board for consideration and possible approval.</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Any continuing education providers using nontraditional education must make provisions for demonstration of and verification of knowledge.</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Clinical Competence.</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The course must be followed by supervised clinical practice in intravenous therapy as needed to demonstrate clinical competence.</a:t>
            </a:r>
          </a:p>
        </p:txBody>
      </p:sp>
      <p:sp>
        <p:nvSpPr>
          <p:cNvPr id="6" name="">
            <a:extLst xmlns:a="http://schemas.openxmlformats.org/drawingml/2006/main">
              <a:ext uri="{FF2B5EF4-FFF2-40B4-BE49-F238E27FC236}">
                <a16:creationId xmlns:a16="http://schemas.microsoft.com/office/drawing/2014/main" id="{241454C4-65F6-4720-8AD4-862274D82B5F}"/>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A00AF367-5378-4897-AF4A-23000C0F098D}"/>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10</a:t>
            </a:r>
          </a:p>
        </p:txBody>
      </p:sp>
    </p:spTree>
    <p:extLst>
      <p:ext uri="{BB962C8B-B14F-4D97-AF65-F5344CB8AC3E}">
        <p14:creationId xmlns:p14="http://schemas.microsoft.com/office/powerpoint/2010/main" val="957688427"/>
      </p:ext>
    </p:extLst>
  </p:cSld>
</p:sld>
</file>

<file path=ppt/slides/slide57.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8AEE1F7C-F43D-401A-8312-6E7851A82C10}"/>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1DCD1138-EB6D-48E9-88D5-E365B1C95F51}"/>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8426"/>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that every Licensed Practical Nurse will not administer IV Therapy, the course — continued</a:t>
            </a:r>
          </a:p>
        </p:txBody>
      </p:sp>
      <p:sp>
        <p:nvSpPr>
          <p:cNvPr id="3" name="">
            <a:extLst xmlns:a="http://schemas.openxmlformats.org/drawingml/2006/main">
              <a:ext uri="{FF2B5EF4-FFF2-40B4-BE49-F238E27FC236}">
                <a16:creationId xmlns:a16="http://schemas.microsoft.com/office/drawing/2014/main" id="{707099F4-C2A4-4D76-9CD7-935028A624F2}"/>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1</a:t>
            </a:r>
          </a:p>
        </p:txBody>
      </p:sp>
      <p:sp>
        <p:nvSpPr>
          <p:cNvPr id="4" name="">
            <a:extLst xmlns:a="http://schemas.openxmlformats.org/drawingml/2006/main">
              <a:ext uri="{FF2B5EF4-FFF2-40B4-BE49-F238E27FC236}">
                <a16:creationId xmlns:a16="http://schemas.microsoft.com/office/drawing/2014/main" id="{3C70D0B4-ECDC-481C-AF0A-9C3E4713C26D}"/>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57</a:t>
            </a:r>
          </a:p>
        </p:txBody>
      </p:sp>
      <p:sp>
        <p:nvSpPr>
          <p:cNvPr id="5" name="">
            <a:extLst xmlns:a="http://schemas.openxmlformats.org/drawingml/2006/main">
              <a:ext uri="{FF2B5EF4-FFF2-40B4-BE49-F238E27FC236}">
                <a16:creationId xmlns:a16="http://schemas.microsoft.com/office/drawing/2014/main" id="{57372CCB-3833-4DDA-8CBA-69916A502887}"/>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875">
                <a:solidFill>
                  <a:srgbClr val="13212D"/>
                </a:solidFill>
                <a:latin typeface="Helvetica Neue"/>
                <a:ea typeface="Helvetica Neue"/>
                <a:cs typeface="Helvetica Neue"/>
              </a:defRPr>
            </a:defPPr>
            <a:lvl1pPr>
              <a:defRPr sz="1875">
                <a:solidFill>
                  <a:srgbClr val="13212D"/>
                </a:solidFill>
                <a:latin typeface="Helvetica Neue"/>
                <a:ea typeface="Helvetica Neue"/>
                <a:cs typeface="Helvetica Neue"/>
              </a:defRPr>
            </a:lvl1pPr>
            <a:lvl2pPr>
              <a:defRPr sz="1875">
                <a:solidFill>
                  <a:srgbClr val="13212D"/>
                </a:solidFill>
                <a:latin typeface="Helvetica Neue"/>
                <a:ea typeface="Helvetica Neue"/>
                <a:cs typeface="Helvetica Neue"/>
              </a:defRPr>
            </a:lvl2pPr>
            <a:lvl3pPr>
              <a:defRPr sz="1875">
                <a:solidFill>
                  <a:srgbClr val="13212D"/>
                </a:solidFill>
                <a:latin typeface="Helvetica Neue"/>
                <a:ea typeface="Helvetica Neue"/>
                <a:cs typeface="Helvetica Neue"/>
              </a:defRPr>
            </a:lvl3pPr>
            <a:lvl4pPr>
              <a:defRPr sz="1875">
                <a:solidFill>
                  <a:srgbClr val="13212D"/>
                </a:solidFill>
                <a:latin typeface="Helvetica Neue"/>
                <a:ea typeface="Helvetica Neue"/>
                <a:cs typeface="Helvetica Neue"/>
              </a:defRPr>
            </a:lvl4pPr>
            <a:lvl5pPr>
              <a:defRPr sz="1875">
                <a:solidFill>
                  <a:srgbClr val="13212D"/>
                </a:solidFill>
                <a:latin typeface="Helvetica Neue"/>
                <a:ea typeface="Helvetica Neue"/>
                <a:cs typeface="Helvetica Neue"/>
              </a:defRPr>
            </a:lvl5pPr>
            <a:lvl6pPr>
              <a:defRPr sz="1875">
                <a:solidFill>
                  <a:srgbClr val="13212D"/>
                </a:solidFill>
                <a:latin typeface="Helvetica Neue"/>
                <a:ea typeface="Helvetica Neue"/>
                <a:cs typeface="Helvetica Neue"/>
              </a:defRPr>
            </a:lvl6pPr>
            <a:lvl7pPr>
              <a:defRPr sz="1875">
                <a:solidFill>
                  <a:srgbClr val="13212D"/>
                </a:solidFill>
                <a:latin typeface="Helvetica Neue"/>
                <a:ea typeface="Helvetica Neue"/>
                <a:cs typeface="Helvetica Neue"/>
              </a:defRPr>
            </a:lvl7pPr>
            <a:lvl8pPr>
              <a:defRPr sz="1875">
                <a:solidFill>
                  <a:srgbClr val="13212D"/>
                </a:solidFill>
                <a:latin typeface="Helvetica Neue"/>
                <a:ea typeface="Helvetica Neue"/>
                <a:cs typeface="Helvetica Neue"/>
              </a:defRPr>
            </a:lvl8pPr>
            <a:lvl9pPr>
              <a:defRPr sz="187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Verification of clinical competence shall be the responsibility of each institution employing a Licensed Practical Nurse based or institutional protocol.</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Such verification shall be given through a signed statement of a Florida licensed Registered Nurse.</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64B9-12.006 Effective Date of this Chapter.</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To allow institutions time to evaluate the competency and knowledge of or to train the Licensed Practical Nurses who may want to engage in intravenous therapy, the provisions of this</a:t>
            </a:r>
          </a:p>
        </p:txBody>
      </p:sp>
      <p:sp>
        <p:nvSpPr>
          <p:cNvPr id="6" name="">
            <a:extLst xmlns:a="http://schemas.openxmlformats.org/drawingml/2006/main">
              <a:ext uri="{FF2B5EF4-FFF2-40B4-BE49-F238E27FC236}">
                <a16:creationId xmlns:a16="http://schemas.microsoft.com/office/drawing/2014/main" id="{7F477804-4B75-43E9-BBB0-C18993A02D7C}"/>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BE4F580A-7A4E-40CB-8693-61D7C18DE236}"/>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10</a:t>
            </a:r>
          </a:p>
        </p:txBody>
      </p:sp>
    </p:spTree>
    <p:extLst>
      <p:ext uri="{BB962C8B-B14F-4D97-AF65-F5344CB8AC3E}">
        <p14:creationId xmlns:p14="http://schemas.microsoft.com/office/powerpoint/2010/main" val="631547384"/>
      </p:ext>
    </p:extLst>
  </p:cSld>
</p:sld>
</file>

<file path=ppt/slides/slide58.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B4A255C3-CD8A-4FCD-A48E-A2F99BFBBF6E}"/>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871CC3B8-17D6-423C-A182-0401095E0D59}"/>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8426"/>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that every Licensed Practical Nurse will not administer IV Therapy, the course — continued</a:t>
            </a:r>
          </a:p>
        </p:txBody>
      </p:sp>
      <p:sp>
        <p:nvSpPr>
          <p:cNvPr id="3" name="">
            <a:extLst xmlns:a="http://schemas.openxmlformats.org/drawingml/2006/main">
              <a:ext uri="{FF2B5EF4-FFF2-40B4-BE49-F238E27FC236}">
                <a16:creationId xmlns:a16="http://schemas.microsoft.com/office/drawing/2014/main" id="{5A41049F-7D8F-4E8B-ACB4-C32998AED97C}"/>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1</a:t>
            </a:r>
          </a:p>
        </p:txBody>
      </p:sp>
      <p:sp>
        <p:nvSpPr>
          <p:cNvPr id="4" name="">
            <a:extLst xmlns:a="http://schemas.openxmlformats.org/drawingml/2006/main">
              <a:ext uri="{FF2B5EF4-FFF2-40B4-BE49-F238E27FC236}">
                <a16:creationId xmlns:a16="http://schemas.microsoft.com/office/drawing/2014/main" id="{0C6C76ED-F25C-471D-A5B8-6FF0737799E2}"/>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58</a:t>
            </a:r>
          </a:p>
        </p:txBody>
      </p:sp>
      <p:sp>
        <p:nvSpPr>
          <p:cNvPr id="5" name="">
            <a:extLst xmlns:a="http://schemas.openxmlformats.org/drawingml/2006/main">
              <a:ext uri="{FF2B5EF4-FFF2-40B4-BE49-F238E27FC236}">
                <a16:creationId xmlns:a16="http://schemas.microsoft.com/office/drawing/2014/main" id="{70CD4624-F050-405D-8D56-666116C30B36}"/>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875">
                <a:solidFill>
                  <a:srgbClr val="13212D"/>
                </a:solidFill>
                <a:latin typeface="Helvetica Neue"/>
                <a:ea typeface="Helvetica Neue"/>
                <a:cs typeface="Helvetica Neue"/>
              </a:defRPr>
            </a:defPPr>
            <a:lvl1pPr>
              <a:defRPr sz="1875">
                <a:solidFill>
                  <a:srgbClr val="13212D"/>
                </a:solidFill>
                <a:latin typeface="Helvetica Neue"/>
                <a:ea typeface="Helvetica Neue"/>
                <a:cs typeface="Helvetica Neue"/>
              </a:defRPr>
            </a:lvl1pPr>
            <a:lvl2pPr>
              <a:defRPr sz="1875">
                <a:solidFill>
                  <a:srgbClr val="13212D"/>
                </a:solidFill>
                <a:latin typeface="Helvetica Neue"/>
                <a:ea typeface="Helvetica Neue"/>
                <a:cs typeface="Helvetica Neue"/>
              </a:defRPr>
            </a:lvl2pPr>
            <a:lvl3pPr>
              <a:defRPr sz="1875">
                <a:solidFill>
                  <a:srgbClr val="13212D"/>
                </a:solidFill>
                <a:latin typeface="Helvetica Neue"/>
                <a:ea typeface="Helvetica Neue"/>
                <a:cs typeface="Helvetica Neue"/>
              </a:defRPr>
            </a:lvl3pPr>
            <a:lvl4pPr>
              <a:defRPr sz="1875">
                <a:solidFill>
                  <a:srgbClr val="13212D"/>
                </a:solidFill>
                <a:latin typeface="Helvetica Neue"/>
                <a:ea typeface="Helvetica Neue"/>
                <a:cs typeface="Helvetica Neue"/>
              </a:defRPr>
            </a:lvl4pPr>
            <a:lvl5pPr>
              <a:defRPr sz="1875">
                <a:solidFill>
                  <a:srgbClr val="13212D"/>
                </a:solidFill>
                <a:latin typeface="Helvetica Neue"/>
                <a:ea typeface="Helvetica Neue"/>
                <a:cs typeface="Helvetica Neue"/>
              </a:defRPr>
            </a:lvl5pPr>
            <a:lvl6pPr>
              <a:defRPr sz="1875">
                <a:solidFill>
                  <a:srgbClr val="13212D"/>
                </a:solidFill>
                <a:latin typeface="Helvetica Neue"/>
                <a:ea typeface="Helvetica Neue"/>
                <a:cs typeface="Helvetica Neue"/>
              </a:defRPr>
            </a:lvl6pPr>
            <a:lvl7pPr>
              <a:defRPr sz="1875">
                <a:solidFill>
                  <a:srgbClr val="13212D"/>
                </a:solidFill>
                <a:latin typeface="Helvetica Neue"/>
                <a:ea typeface="Helvetica Neue"/>
                <a:cs typeface="Helvetica Neue"/>
              </a:defRPr>
            </a:lvl7pPr>
            <a:lvl8pPr>
              <a:defRPr sz="1875">
                <a:solidFill>
                  <a:srgbClr val="13212D"/>
                </a:solidFill>
                <a:latin typeface="Helvetica Neue"/>
                <a:ea typeface="Helvetica Neue"/>
                <a:cs typeface="Helvetica Neue"/>
              </a:defRPr>
            </a:lvl8pPr>
            <a:lvl9pPr>
              <a:defRPr sz="187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rule chapter shall become operable in 180 days from the date this rule chapter is effective.</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Nothing shall prohibit those individuals who meet the requirements specified in this rule chapter at the time of its adoption from engaging in the intravenous therapy as delineated in</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this rule chapter.</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An Institution or agency may choose to limit the Licensed Practical Nurse practice to less than but not more than that stated in Rule 64B9-12.</a:t>
            </a:r>
          </a:p>
        </p:txBody>
      </p:sp>
      <p:sp>
        <p:nvSpPr>
          <p:cNvPr id="6" name="">
            <a:extLst xmlns:a="http://schemas.openxmlformats.org/drawingml/2006/main">
              <a:ext uri="{FF2B5EF4-FFF2-40B4-BE49-F238E27FC236}">
                <a16:creationId xmlns:a16="http://schemas.microsoft.com/office/drawing/2014/main" id="{7CB5FA0F-4C7D-4858-A6EF-94C1B66D91B7}"/>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BEE7C6EE-24A9-4B04-9788-A89373A9D1CB}"/>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10</a:t>
            </a:r>
          </a:p>
        </p:txBody>
      </p:sp>
    </p:spTree>
    <p:extLst>
      <p:ext uri="{BB962C8B-B14F-4D97-AF65-F5344CB8AC3E}">
        <p14:creationId xmlns:p14="http://schemas.microsoft.com/office/powerpoint/2010/main" val="598720381"/>
      </p:ext>
    </p:extLst>
  </p:cSld>
</p:sld>
</file>

<file path=ppt/slides/slide59.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930601D5-DF48-4238-94FE-84EFEC27F47C}"/>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89119251-6FB7-4BED-85CC-084322C4AB4A}"/>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8426"/>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that every Licensed Practical Nurse will not administer IV Therapy, the course — continued</a:t>
            </a:r>
          </a:p>
        </p:txBody>
      </p:sp>
      <p:sp>
        <p:nvSpPr>
          <p:cNvPr id="3" name="">
            <a:extLst xmlns:a="http://schemas.openxmlformats.org/drawingml/2006/main">
              <a:ext uri="{FF2B5EF4-FFF2-40B4-BE49-F238E27FC236}">
                <a16:creationId xmlns:a16="http://schemas.microsoft.com/office/drawing/2014/main" id="{C0DF8477-D83E-438E-9EAD-48DA6153A2A8}"/>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1</a:t>
            </a:r>
          </a:p>
        </p:txBody>
      </p:sp>
      <p:sp>
        <p:nvSpPr>
          <p:cNvPr id="4" name="">
            <a:extLst xmlns:a="http://schemas.openxmlformats.org/drawingml/2006/main">
              <a:ext uri="{FF2B5EF4-FFF2-40B4-BE49-F238E27FC236}">
                <a16:creationId xmlns:a16="http://schemas.microsoft.com/office/drawing/2014/main" id="{4B010B81-DD7D-41DE-9486-18AA79DF133E}"/>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59</a:t>
            </a:r>
          </a:p>
        </p:txBody>
      </p:sp>
      <p:sp>
        <p:nvSpPr>
          <p:cNvPr id="5" name="">
            <a:extLst xmlns:a="http://schemas.openxmlformats.org/drawingml/2006/main">
              <a:ext uri="{FF2B5EF4-FFF2-40B4-BE49-F238E27FC236}">
                <a16:creationId xmlns:a16="http://schemas.microsoft.com/office/drawing/2014/main" id="{CE3EA202-29B2-4C2F-A929-AD8067C47EBF}"/>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100">
                <a:solidFill>
                  <a:srgbClr val="13212D"/>
                </a:solidFill>
                <a:latin typeface="Helvetica Neue"/>
                <a:ea typeface="Helvetica Neue"/>
                <a:cs typeface="Helvetica Neue"/>
              </a:defRPr>
            </a:defPPr>
            <a:lvl1pPr>
              <a:defRPr sz="2100">
                <a:solidFill>
                  <a:srgbClr val="13212D"/>
                </a:solidFill>
                <a:latin typeface="Helvetica Neue"/>
                <a:ea typeface="Helvetica Neue"/>
                <a:cs typeface="Helvetica Neue"/>
              </a:defRPr>
            </a:lvl1pPr>
            <a:lvl2pPr>
              <a:defRPr sz="2100">
                <a:solidFill>
                  <a:srgbClr val="13212D"/>
                </a:solidFill>
                <a:latin typeface="Helvetica Neue"/>
                <a:ea typeface="Helvetica Neue"/>
                <a:cs typeface="Helvetica Neue"/>
              </a:defRPr>
            </a:lvl2pPr>
            <a:lvl3pPr>
              <a:defRPr sz="2100">
                <a:solidFill>
                  <a:srgbClr val="13212D"/>
                </a:solidFill>
                <a:latin typeface="Helvetica Neue"/>
                <a:ea typeface="Helvetica Neue"/>
                <a:cs typeface="Helvetica Neue"/>
              </a:defRPr>
            </a:lvl3pPr>
            <a:lvl4pPr>
              <a:defRPr sz="2100">
                <a:solidFill>
                  <a:srgbClr val="13212D"/>
                </a:solidFill>
                <a:latin typeface="Helvetica Neue"/>
                <a:ea typeface="Helvetica Neue"/>
                <a:cs typeface="Helvetica Neue"/>
              </a:defRPr>
            </a:lvl4pPr>
            <a:lvl5pPr>
              <a:defRPr sz="2100">
                <a:solidFill>
                  <a:srgbClr val="13212D"/>
                </a:solidFill>
                <a:latin typeface="Helvetica Neue"/>
                <a:ea typeface="Helvetica Neue"/>
                <a:cs typeface="Helvetica Neue"/>
              </a:defRPr>
            </a:lvl5pPr>
            <a:lvl6pPr>
              <a:defRPr sz="2100">
                <a:solidFill>
                  <a:srgbClr val="13212D"/>
                </a:solidFill>
                <a:latin typeface="Helvetica Neue"/>
                <a:ea typeface="Helvetica Neue"/>
                <a:cs typeface="Helvetica Neue"/>
              </a:defRPr>
            </a:lvl6pPr>
            <a:lvl7pPr>
              <a:defRPr sz="2100">
                <a:solidFill>
                  <a:srgbClr val="13212D"/>
                </a:solidFill>
                <a:latin typeface="Helvetica Neue"/>
                <a:ea typeface="Helvetica Neue"/>
                <a:cs typeface="Helvetica Neue"/>
              </a:defRPr>
            </a:lvl7pPr>
            <a:lvl8pPr>
              <a:defRPr sz="2100">
                <a:solidFill>
                  <a:srgbClr val="13212D"/>
                </a:solidFill>
                <a:latin typeface="Helvetica Neue"/>
                <a:ea typeface="Helvetica Neue"/>
                <a:cs typeface="Helvetica Neue"/>
              </a:defRPr>
            </a:lvl8pPr>
            <a:lvl9pPr>
              <a:defRPr sz="2100">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The Licensed Practical Nurse is responsible for knowing and following individual institution or agency policy regarding the administration of IV therapy.</a:t>
            </a:r>
          </a:p>
        </p:txBody>
      </p:sp>
      <p:sp>
        <p:nvSpPr>
          <p:cNvPr id="6" name="">
            <a:extLst xmlns:a="http://schemas.openxmlformats.org/drawingml/2006/main">
              <a:ext uri="{FF2B5EF4-FFF2-40B4-BE49-F238E27FC236}">
                <a16:creationId xmlns:a16="http://schemas.microsoft.com/office/drawing/2014/main" id="{541192DD-B256-44AB-90F3-3F3FD2F914FD}"/>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2D4BB44D-8594-47FB-B0AA-249043781B47}"/>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10</a:t>
            </a:r>
          </a:p>
        </p:txBody>
      </p:sp>
    </p:spTree>
    <p:extLst>
      <p:ext uri="{BB962C8B-B14F-4D97-AF65-F5344CB8AC3E}">
        <p14:creationId xmlns:p14="http://schemas.microsoft.com/office/powerpoint/2010/main" val="185721882"/>
      </p:ext>
    </p:extLst>
  </p:cSld>
</p:sld>
</file>

<file path=ppt/slides/slide60.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CD456B4A-04A1-4B10-B70A-45E36AC5BAD0}"/>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FC906070-68CE-43CA-933A-2868E095F5B8}"/>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*Provide an account of the patient's progress and treatment</a:t>
            </a:r>
          </a:p>
        </p:txBody>
      </p:sp>
      <p:sp>
        <p:nvSpPr>
          <p:cNvPr id="3" name="">
            <a:extLst xmlns:a="http://schemas.openxmlformats.org/drawingml/2006/main">
              <a:ext uri="{FF2B5EF4-FFF2-40B4-BE49-F238E27FC236}">
                <a16:creationId xmlns:a16="http://schemas.microsoft.com/office/drawing/2014/main" id="{DD15725A-EAA7-4D38-8447-D69F18D4FCC0}"/>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1</a:t>
            </a:r>
          </a:p>
        </p:txBody>
      </p:sp>
      <p:sp>
        <p:nvSpPr>
          <p:cNvPr id="4" name="">
            <a:extLst xmlns:a="http://schemas.openxmlformats.org/drawingml/2006/main">
              <a:ext uri="{FF2B5EF4-FFF2-40B4-BE49-F238E27FC236}">
                <a16:creationId xmlns:a16="http://schemas.microsoft.com/office/drawing/2014/main" id="{390F1C40-EDB1-4A73-B976-C83C4F3DAAD0}"/>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60</a:t>
            </a:r>
          </a:p>
        </p:txBody>
      </p:sp>
      <p:sp>
        <p:nvSpPr>
          <p:cNvPr id="5" name="">
            <a:extLst xmlns:a="http://schemas.openxmlformats.org/drawingml/2006/main">
              <a:ext uri="{FF2B5EF4-FFF2-40B4-BE49-F238E27FC236}">
                <a16:creationId xmlns:a16="http://schemas.microsoft.com/office/drawing/2014/main" id="{96D2DA86-1C7E-4773-A251-445DBE85BEA3}"/>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875">
                <a:solidFill>
                  <a:srgbClr val="13212D"/>
                </a:solidFill>
                <a:latin typeface="Helvetica Neue"/>
                <a:ea typeface="Helvetica Neue"/>
                <a:cs typeface="Helvetica Neue"/>
              </a:defRPr>
            </a:defPPr>
            <a:lvl1pPr>
              <a:defRPr sz="1875">
                <a:solidFill>
                  <a:srgbClr val="13212D"/>
                </a:solidFill>
                <a:latin typeface="Helvetica Neue"/>
                <a:ea typeface="Helvetica Neue"/>
                <a:cs typeface="Helvetica Neue"/>
              </a:defRPr>
            </a:lvl1pPr>
            <a:lvl2pPr>
              <a:defRPr sz="1875">
                <a:solidFill>
                  <a:srgbClr val="13212D"/>
                </a:solidFill>
                <a:latin typeface="Helvetica Neue"/>
                <a:ea typeface="Helvetica Neue"/>
                <a:cs typeface="Helvetica Neue"/>
              </a:defRPr>
            </a:lvl2pPr>
            <a:lvl3pPr>
              <a:defRPr sz="1875">
                <a:solidFill>
                  <a:srgbClr val="13212D"/>
                </a:solidFill>
                <a:latin typeface="Helvetica Neue"/>
                <a:ea typeface="Helvetica Neue"/>
                <a:cs typeface="Helvetica Neue"/>
              </a:defRPr>
            </a:lvl3pPr>
            <a:lvl4pPr>
              <a:defRPr sz="1875">
                <a:solidFill>
                  <a:srgbClr val="13212D"/>
                </a:solidFill>
                <a:latin typeface="Helvetica Neue"/>
                <a:ea typeface="Helvetica Neue"/>
                <a:cs typeface="Helvetica Neue"/>
              </a:defRPr>
            </a:lvl4pPr>
            <a:lvl5pPr>
              <a:defRPr sz="1875">
                <a:solidFill>
                  <a:srgbClr val="13212D"/>
                </a:solidFill>
                <a:latin typeface="Helvetica Neue"/>
                <a:ea typeface="Helvetica Neue"/>
                <a:cs typeface="Helvetica Neue"/>
              </a:defRPr>
            </a:lvl5pPr>
            <a:lvl6pPr>
              <a:defRPr sz="1875">
                <a:solidFill>
                  <a:srgbClr val="13212D"/>
                </a:solidFill>
                <a:latin typeface="Helvetica Neue"/>
                <a:ea typeface="Helvetica Neue"/>
                <a:cs typeface="Helvetica Neue"/>
              </a:defRPr>
            </a:lvl6pPr>
            <a:lvl7pPr>
              <a:defRPr sz="1875">
                <a:solidFill>
                  <a:srgbClr val="13212D"/>
                </a:solidFill>
                <a:latin typeface="Helvetica Neue"/>
                <a:ea typeface="Helvetica Neue"/>
                <a:cs typeface="Helvetica Neue"/>
              </a:defRPr>
            </a:lvl7pPr>
            <a:lvl8pPr>
              <a:defRPr sz="1875">
                <a:solidFill>
                  <a:srgbClr val="13212D"/>
                </a:solidFill>
                <a:latin typeface="Helvetica Neue"/>
                <a:ea typeface="Helvetica Neue"/>
                <a:cs typeface="Helvetica Neue"/>
              </a:defRPr>
            </a:lvl8pPr>
            <a:lvl9pPr>
              <a:defRPr sz="187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Documentation Complete and accurate medical records are necessary to:</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*Serve as a legal account of all care given *Provide a means of communication for all disciplines involved in the patient's care Chart forms and policies and procedures vary between</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institutions, but all entries on the medical record should include:</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*Date *Time *Nurse's signature The information which is essential for inclusion in the medical record when IV therapy is administered includes:</a:t>
            </a:r>
          </a:p>
        </p:txBody>
      </p:sp>
      <p:sp>
        <p:nvSpPr>
          <p:cNvPr id="6" name="">
            <a:extLst xmlns:a="http://schemas.openxmlformats.org/drawingml/2006/main">
              <a:ext uri="{FF2B5EF4-FFF2-40B4-BE49-F238E27FC236}">
                <a16:creationId xmlns:a16="http://schemas.microsoft.com/office/drawing/2014/main" id="{87C17B37-B8B4-4DD4-8B96-170178E1BB98}"/>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396A8C37-C430-4278-8165-E317285655C8}"/>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11</a:t>
            </a:r>
          </a:p>
        </p:txBody>
      </p:sp>
    </p:spTree>
    <p:extLst>
      <p:ext uri="{BB962C8B-B14F-4D97-AF65-F5344CB8AC3E}">
        <p14:creationId xmlns:p14="http://schemas.microsoft.com/office/powerpoint/2010/main" val="1579351788"/>
      </p:ext>
    </p:extLst>
  </p:cSld>
</p:sld>
</file>

<file path=ppt/slides/slide61.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2F3CF028-3D68-4CB4-9C50-A383716E0D2B}"/>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69C2A0CB-FA6F-4AC7-9937-A69B301D3CD9}"/>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8426"/>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*Provide an account of the patient's progress and treatment — continued</a:t>
            </a:r>
          </a:p>
        </p:txBody>
      </p:sp>
      <p:sp>
        <p:nvSpPr>
          <p:cNvPr id="3" name="">
            <a:extLst xmlns:a="http://schemas.openxmlformats.org/drawingml/2006/main">
              <a:ext uri="{FF2B5EF4-FFF2-40B4-BE49-F238E27FC236}">
                <a16:creationId xmlns:a16="http://schemas.microsoft.com/office/drawing/2014/main" id="{6AB10AC2-414A-4117-83FD-C84CC1662820}"/>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1</a:t>
            </a:r>
          </a:p>
        </p:txBody>
      </p:sp>
      <p:sp>
        <p:nvSpPr>
          <p:cNvPr id="4" name="">
            <a:extLst xmlns:a="http://schemas.openxmlformats.org/drawingml/2006/main">
              <a:ext uri="{FF2B5EF4-FFF2-40B4-BE49-F238E27FC236}">
                <a16:creationId xmlns:a16="http://schemas.microsoft.com/office/drawing/2014/main" id="{1C815548-1C19-44FF-8B9F-D330E9201BC1}"/>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61</a:t>
            </a:r>
          </a:p>
        </p:txBody>
      </p:sp>
      <p:sp>
        <p:nvSpPr>
          <p:cNvPr id="5" name="">
            <a:extLst xmlns:a="http://schemas.openxmlformats.org/drawingml/2006/main">
              <a:ext uri="{FF2B5EF4-FFF2-40B4-BE49-F238E27FC236}">
                <a16:creationId xmlns:a16="http://schemas.microsoft.com/office/drawing/2014/main" id="{1DA88C13-4607-45D3-AD70-06CDEFE66C2B}"/>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875">
                <a:solidFill>
                  <a:srgbClr val="13212D"/>
                </a:solidFill>
                <a:latin typeface="Helvetica Neue"/>
                <a:ea typeface="Helvetica Neue"/>
                <a:cs typeface="Helvetica Neue"/>
              </a:defRPr>
            </a:defPPr>
            <a:lvl1pPr>
              <a:defRPr sz="1875">
                <a:solidFill>
                  <a:srgbClr val="13212D"/>
                </a:solidFill>
                <a:latin typeface="Helvetica Neue"/>
                <a:ea typeface="Helvetica Neue"/>
                <a:cs typeface="Helvetica Neue"/>
              </a:defRPr>
            </a:lvl1pPr>
            <a:lvl2pPr>
              <a:defRPr sz="1875">
                <a:solidFill>
                  <a:srgbClr val="13212D"/>
                </a:solidFill>
                <a:latin typeface="Helvetica Neue"/>
                <a:ea typeface="Helvetica Neue"/>
                <a:cs typeface="Helvetica Neue"/>
              </a:defRPr>
            </a:lvl2pPr>
            <a:lvl3pPr>
              <a:defRPr sz="1875">
                <a:solidFill>
                  <a:srgbClr val="13212D"/>
                </a:solidFill>
                <a:latin typeface="Helvetica Neue"/>
                <a:ea typeface="Helvetica Neue"/>
                <a:cs typeface="Helvetica Neue"/>
              </a:defRPr>
            </a:lvl3pPr>
            <a:lvl4pPr>
              <a:defRPr sz="1875">
                <a:solidFill>
                  <a:srgbClr val="13212D"/>
                </a:solidFill>
                <a:latin typeface="Helvetica Neue"/>
                <a:ea typeface="Helvetica Neue"/>
                <a:cs typeface="Helvetica Neue"/>
              </a:defRPr>
            </a:lvl4pPr>
            <a:lvl5pPr>
              <a:defRPr sz="1875">
                <a:solidFill>
                  <a:srgbClr val="13212D"/>
                </a:solidFill>
                <a:latin typeface="Helvetica Neue"/>
                <a:ea typeface="Helvetica Neue"/>
                <a:cs typeface="Helvetica Neue"/>
              </a:defRPr>
            </a:lvl5pPr>
            <a:lvl6pPr>
              <a:defRPr sz="1875">
                <a:solidFill>
                  <a:srgbClr val="13212D"/>
                </a:solidFill>
                <a:latin typeface="Helvetica Neue"/>
                <a:ea typeface="Helvetica Neue"/>
                <a:cs typeface="Helvetica Neue"/>
              </a:defRPr>
            </a:lvl6pPr>
            <a:lvl7pPr>
              <a:defRPr sz="1875">
                <a:solidFill>
                  <a:srgbClr val="13212D"/>
                </a:solidFill>
                <a:latin typeface="Helvetica Neue"/>
                <a:ea typeface="Helvetica Neue"/>
                <a:cs typeface="Helvetica Neue"/>
              </a:defRPr>
            </a:lvl7pPr>
            <a:lvl8pPr>
              <a:defRPr sz="1875">
                <a:solidFill>
                  <a:srgbClr val="13212D"/>
                </a:solidFill>
                <a:latin typeface="Helvetica Neue"/>
                <a:ea typeface="Helvetica Neue"/>
                <a:cs typeface="Helvetica Neue"/>
              </a:defRPr>
            </a:lvl8pPr>
            <a:lvl9pPr>
              <a:defRPr sz="187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*Size and type of catheter used *Peripheral vein site *Status of IV site immediately after start Adding primary solution bag:</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*Type of solution (basic solution, volume amount of solution and any additive) * Method of delivery (type of infusion set, location of IV to which connected, pump, or controller) Adding</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secondary (piggyback) solution or medication:</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*Medication and dosage *Solution type *Volume of solution or medication Tubing change:</a:t>
            </a:r>
          </a:p>
        </p:txBody>
      </p:sp>
      <p:sp>
        <p:nvSpPr>
          <p:cNvPr id="6" name="">
            <a:extLst xmlns:a="http://schemas.openxmlformats.org/drawingml/2006/main">
              <a:ext uri="{FF2B5EF4-FFF2-40B4-BE49-F238E27FC236}">
                <a16:creationId xmlns:a16="http://schemas.microsoft.com/office/drawing/2014/main" id="{6EBB0589-7FFE-4B41-A073-CAEC6E831AF4}"/>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BE390C9D-6ACC-43F5-8685-1CF90E19B124}"/>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11</a:t>
            </a:r>
          </a:p>
        </p:txBody>
      </p:sp>
    </p:spTree>
    <p:extLst>
      <p:ext uri="{BB962C8B-B14F-4D97-AF65-F5344CB8AC3E}">
        <p14:creationId xmlns:p14="http://schemas.microsoft.com/office/powerpoint/2010/main" val="106266022"/>
      </p:ext>
    </p:extLst>
  </p:cSld>
</p:sld>
</file>

<file path=ppt/slides/slide62.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DAE202F4-130C-4F6C-A4E3-62708D78316E}"/>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56BB79D8-B17F-4938-85D2-11015C97F6FA}"/>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8426"/>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*Provide an account of the patient's progress and treatment — continued</a:t>
            </a:r>
          </a:p>
        </p:txBody>
      </p:sp>
      <p:sp>
        <p:nvSpPr>
          <p:cNvPr id="3" name="">
            <a:extLst xmlns:a="http://schemas.openxmlformats.org/drawingml/2006/main">
              <a:ext uri="{FF2B5EF4-FFF2-40B4-BE49-F238E27FC236}">
                <a16:creationId xmlns:a16="http://schemas.microsoft.com/office/drawing/2014/main" id="{5E5B20EA-5A4B-40EA-BF91-D999FDDEA948}"/>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1</a:t>
            </a:r>
          </a:p>
        </p:txBody>
      </p:sp>
      <p:sp>
        <p:nvSpPr>
          <p:cNvPr id="4" name="">
            <a:extLst xmlns:a="http://schemas.openxmlformats.org/drawingml/2006/main">
              <a:ext uri="{FF2B5EF4-FFF2-40B4-BE49-F238E27FC236}">
                <a16:creationId xmlns:a16="http://schemas.microsoft.com/office/drawing/2014/main" id="{F0E5F733-24DE-432A-8F8D-AE5FEAB8726A}"/>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62</a:t>
            </a:r>
          </a:p>
        </p:txBody>
      </p:sp>
      <p:sp>
        <p:nvSpPr>
          <p:cNvPr id="5" name="">
            <a:extLst xmlns:a="http://schemas.openxmlformats.org/drawingml/2006/main">
              <a:ext uri="{FF2B5EF4-FFF2-40B4-BE49-F238E27FC236}">
                <a16:creationId xmlns:a16="http://schemas.microsoft.com/office/drawing/2014/main" id="{0C0009DE-B8D3-4147-89B0-B1108ED89DF1}"/>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100">
                <a:solidFill>
                  <a:srgbClr val="13212D"/>
                </a:solidFill>
                <a:latin typeface="Helvetica Neue"/>
                <a:ea typeface="Helvetica Neue"/>
                <a:cs typeface="Helvetica Neue"/>
              </a:defRPr>
            </a:defPPr>
            <a:lvl1pPr>
              <a:defRPr sz="2100">
                <a:solidFill>
                  <a:srgbClr val="13212D"/>
                </a:solidFill>
                <a:latin typeface="Helvetica Neue"/>
                <a:ea typeface="Helvetica Neue"/>
                <a:cs typeface="Helvetica Neue"/>
              </a:defRPr>
            </a:lvl1pPr>
            <a:lvl2pPr>
              <a:defRPr sz="2100">
                <a:solidFill>
                  <a:srgbClr val="13212D"/>
                </a:solidFill>
                <a:latin typeface="Helvetica Neue"/>
                <a:ea typeface="Helvetica Neue"/>
                <a:cs typeface="Helvetica Neue"/>
              </a:defRPr>
            </a:lvl2pPr>
            <a:lvl3pPr>
              <a:defRPr sz="2100">
                <a:solidFill>
                  <a:srgbClr val="13212D"/>
                </a:solidFill>
                <a:latin typeface="Helvetica Neue"/>
                <a:ea typeface="Helvetica Neue"/>
                <a:cs typeface="Helvetica Neue"/>
              </a:defRPr>
            </a:lvl3pPr>
            <a:lvl4pPr>
              <a:defRPr sz="2100">
                <a:solidFill>
                  <a:srgbClr val="13212D"/>
                </a:solidFill>
                <a:latin typeface="Helvetica Neue"/>
                <a:ea typeface="Helvetica Neue"/>
                <a:cs typeface="Helvetica Neue"/>
              </a:defRPr>
            </a:lvl4pPr>
            <a:lvl5pPr>
              <a:defRPr sz="2100">
                <a:solidFill>
                  <a:srgbClr val="13212D"/>
                </a:solidFill>
                <a:latin typeface="Helvetica Neue"/>
                <a:ea typeface="Helvetica Neue"/>
                <a:cs typeface="Helvetica Neue"/>
              </a:defRPr>
            </a:lvl5pPr>
            <a:lvl6pPr>
              <a:defRPr sz="2100">
                <a:solidFill>
                  <a:srgbClr val="13212D"/>
                </a:solidFill>
                <a:latin typeface="Helvetica Neue"/>
                <a:ea typeface="Helvetica Neue"/>
                <a:cs typeface="Helvetica Neue"/>
              </a:defRPr>
            </a:lvl6pPr>
            <a:lvl7pPr>
              <a:defRPr sz="2100">
                <a:solidFill>
                  <a:srgbClr val="13212D"/>
                </a:solidFill>
                <a:latin typeface="Helvetica Neue"/>
                <a:ea typeface="Helvetica Neue"/>
                <a:cs typeface="Helvetica Neue"/>
              </a:defRPr>
            </a:lvl7pPr>
            <a:lvl8pPr>
              <a:defRPr sz="2100">
                <a:solidFill>
                  <a:srgbClr val="13212D"/>
                </a:solidFill>
                <a:latin typeface="Helvetica Neue"/>
                <a:ea typeface="Helvetica Neue"/>
                <a:cs typeface="Helvetica Neue"/>
              </a:defRPr>
            </a:lvl8pPr>
            <a:lvl9pPr>
              <a:defRPr sz="2100">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*Date to be changed or date changed</a:t>
            </a:r>
          </a:p>
        </p:txBody>
      </p:sp>
      <p:sp>
        <p:nvSpPr>
          <p:cNvPr id="6" name="">
            <a:extLst xmlns:a="http://schemas.openxmlformats.org/drawingml/2006/main">
              <a:ext uri="{FF2B5EF4-FFF2-40B4-BE49-F238E27FC236}">
                <a16:creationId xmlns:a16="http://schemas.microsoft.com/office/drawing/2014/main" id="{F261EE3C-0F9B-42EA-9C90-D78C51BAC3C3}"/>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BA4B5575-9822-4DA6-9AC3-75D0F9D61949}"/>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11</a:t>
            </a:r>
          </a:p>
        </p:txBody>
      </p:sp>
    </p:spTree>
    <p:extLst>
      <p:ext uri="{BB962C8B-B14F-4D97-AF65-F5344CB8AC3E}">
        <p14:creationId xmlns:p14="http://schemas.microsoft.com/office/powerpoint/2010/main" val="161661091"/>
      </p:ext>
    </p:extLst>
  </p:cSld>
</p:sld>
</file>

<file path=ppt/slides/slide63.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85E949AA-390C-4144-AF54-54CBAC331444}"/>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56342171-5DB9-4142-AE2D-5FACC27124B3}"/>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 Patient response to solution and/or medication</a:t>
            </a:r>
          </a:p>
        </p:txBody>
      </p:sp>
      <p:sp>
        <p:nvSpPr>
          <p:cNvPr id="3" name="">
            <a:extLst xmlns:a="http://schemas.openxmlformats.org/drawingml/2006/main">
              <a:ext uri="{FF2B5EF4-FFF2-40B4-BE49-F238E27FC236}">
                <a16:creationId xmlns:a16="http://schemas.microsoft.com/office/drawing/2014/main" id="{C2D41A6D-48D2-44D0-8CE7-7DBC1902BE8E}"/>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1</a:t>
            </a:r>
          </a:p>
        </p:txBody>
      </p:sp>
      <p:sp>
        <p:nvSpPr>
          <p:cNvPr id="4" name="">
            <a:extLst xmlns:a="http://schemas.openxmlformats.org/drawingml/2006/main">
              <a:ext uri="{FF2B5EF4-FFF2-40B4-BE49-F238E27FC236}">
                <a16:creationId xmlns:a16="http://schemas.microsoft.com/office/drawing/2014/main" id="{EA0DBED5-84E8-4542-B376-5A8B7B260576}"/>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63</a:t>
            </a:r>
          </a:p>
        </p:txBody>
      </p:sp>
      <p:sp>
        <p:nvSpPr>
          <p:cNvPr id="5" name="">
            <a:extLst xmlns:a="http://schemas.openxmlformats.org/drawingml/2006/main">
              <a:ext uri="{FF2B5EF4-FFF2-40B4-BE49-F238E27FC236}">
                <a16:creationId xmlns:a16="http://schemas.microsoft.com/office/drawing/2014/main" id="{4C200AC8-8F18-42FA-B6FB-CF040FCC6D4A}"/>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875">
                <a:solidFill>
                  <a:srgbClr val="13212D"/>
                </a:solidFill>
                <a:latin typeface="Helvetica Neue"/>
                <a:ea typeface="Helvetica Neue"/>
                <a:cs typeface="Helvetica Neue"/>
              </a:defRPr>
            </a:defPPr>
            <a:lvl1pPr>
              <a:defRPr sz="1875">
                <a:solidFill>
                  <a:srgbClr val="13212D"/>
                </a:solidFill>
                <a:latin typeface="Helvetica Neue"/>
                <a:ea typeface="Helvetica Neue"/>
                <a:cs typeface="Helvetica Neue"/>
              </a:defRPr>
            </a:lvl1pPr>
            <a:lvl2pPr>
              <a:defRPr sz="1875">
                <a:solidFill>
                  <a:srgbClr val="13212D"/>
                </a:solidFill>
                <a:latin typeface="Helvetica Neue"/>
                <a:ea typeface="Helvetica Neue"/>
                <a:cs typeface="Helvetica Neue"/>
              </a:defRPr>
            </a:lvl2pPr>
            <a:lvl3pPr>
              <a:defRPr sz="1875">
                <a:solidFill>
                  <a:srgbClr val="13212D"/>
                </a:solidFill>
                <a:latin typeface="Helvetica Neue"/>
                <a:ea typeface="Helvetica Neue"/>
                <a:cs typeface="Helvetica Neue"/>
              </a:defRPr>
            </a:lvl3pPr>
            <a:lvl4pPr>
              <a:defRPr sz="1875">
                <a:solidFill>
                  <a:srgbClr val="13212D"/>
                </a:solidFill>
                <a:latin typeface="Helvetica Neue"/>
                <a:ea typeface="Helvetica Neue"/>
                <a:cs typeface="Helvetica Neue"/>
              </a:defRPr>
            </a:lvl4pPr>
            <a:lvl5pPr>
              <a:defRPr sz="1875">
                <a:solidFill>
                  <a:srgbClr val="13212D"/>
                </a:solidFill>
                <a:latin typeface="Helvetica Neue"/>
                <a:ea typeface="Helvetica Neue"/>
                <a:cs typeface="Helvetica Neue"/>
              </a:defRPr>
            </a:lvl5pPr>
            <a:lvl6pPr>
              <a:defRPr sz="1875">
                <a:solidFill>
                  <a:srgbClr val="13212D"/>
                </a:solidFill>
                <a:latin typeface="Helvetica Neue"/>
                <a:ea typeface="Helvetica Neue"/>
                <a:cs typeface="Helvetica Neue"/>
              </a:defRPr>
            </a:lvl6pPr>
            <a:lvl7pPr>
              <a:defRPr sz="1875">
                <a:solidFill>
                  <a:srgbClr val="13212D"/>
                </a:solidFill>
                <a:latin typeface="Helvetica Neue"/>
                <a:ea typeface="Helvetica Neue"/>
                <a:cs typeface="Helvetica Neue"/>
              </a:defRPr>
            </a:lvl7pPr>
            <a:lvl8pPr>
              <a:defRPr sz="1875">
                <a:solidFill>
                  <a:srgbClr val="13212D"/>
                </a:solidFill>
                <a:latin typeface="Helvetica Neue"/>
                <a:ea typeface="Helvetica Neue"/>
                <a:cs typeface="Helvetica Neue"/>
              </a:defRPr>
            </a:lvl8pPr>
            <a:lvl9pPr>
              <a:defRPr sz="187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Monitoring and Reporting:</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*Condition of peripheral IV sites *Mechanical status of all equipment (tubing, extension sets, secondary connections, and pump connections) *Notification of RN of any problems observed</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 Amount of IV fluid and/or medication solution absorbed (intake and output records) Side effects and complications:</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*Patient response (subjective and objective) *Physical descriptions of infiltrations or phlebitis *Descriptions of tubing disconnections or other mechanical problems *Descriptions of</a:t>
            </a:r>
          </a:p>
        </p:txBody>
      </p:sp>
      <p:sp>
        <p:nvSpPr>
          <p:cNvPr id="6" name="">
            <a:extLst xmlns:a="http://schemas.openxmlformats.org/drawingml/2006/main">
              <a:ext uri="{FF2B5EF4-FFF2-40B4-BE49-F238E27FC236}">
                <a16:creationId xmlns:a16="http://schemas.microsoft.com/office/drawing/2014/main" id="{A58A63D2-90B5-480B-AB6E-66BF52C67D30}"/>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C3B0D0CC-0E5E-4E15-B2FA-060249D1B84A}"/>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12</a:t>
            </a:r>
          </a:p>
        </p:txBody>
      </p:sp>
    </p:spTree>
    <p:extLst>
      <p:ext uri="{BB962C8B-B14F-4D97-AF65-F5344CB8AC3E}">
        <p14:creationId xmlns:p14="http://schemas.microsoft.com/office/powerpoint/2010/main" val="1731411920"/>
      </p:ext>
    </p:extLst>
  </p:cSld>
</p:sld>
</file>

<file path=ppt/slides/slide64.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ED5A7121-ED6E-4C07-B2A9-9ED270241F1C}"/>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EF4A0E87-12BD-4DBF-9E43-54149DB06896}"/>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36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 Patient response to solution and/or medication — continued</a:t>
            </a:r>
          </a:p>
        </p:txBody>
      </p:sp>
      <p:sp>
        <p:nvSpPr>
          <p:cNvPr id="3" name="">
            <a:extLst xmlns:a="http://schemas.openxmlformats.org/drawingml/2006/main">
              <a:ext uri="{FF2B5EF4-FFF2-40B4-BE49-F238E27FC236}">
                <a16:creationId xmlns:a16="http://schemas.microsoft.com/office/drawing/2014/main" id="{29CDEF24-1942-4298-AF7B-03913F533102}"/>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1</a:t>
            </a:r>
          </a:p>
        </p:txBody>
      </p:sp>
      <p:sp>
        <p:nvSpPr>
          <p:cNvPr id="4" name="">
            <a:extLst xmlns:a="http://schemas.openxmlformats.org/drawingml/2006/main">
              <a:ext uri="{FF2B5EF4-FFF2-40B4-BE49-F238E27FC236}">
                <a16:creationId xmlns:a16="http://schemas.microsoft.com/office/drawing/2014/main" id="{4AC99FB1-756C-48EE-BF93-7B745E724F92}"/>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64</a:t>
            </a:r>
          </a:p>
        </p:txBody>
      </p:sp>
      <p:sp>
        <p:nvSpPr>
          <p:cNvPr id="5" name="">
            <a:extLst xmlns:a="http://schemas.openxmlformats.org/drawingml/2006/main">
              <a:ext uri="{FF2B5EF4-FFF2-40B4-BE49-F238E27FC236}">
                <a16:creationId xmlns:a16="http://schemas.microsoft.com/office/drawing/2014/main" id="{EF62340B-1951-448C-B8E9-291BE7AC010C}"/>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100">
                <a:solidFill>
                  <a:srgbClr val="13212D"/>
                </a:solidFill>
                <a:latin typeface="Helvetica Neue"/>
                <a:ea typeface="Helvetica Neue"/>
                <a:cs typeface="Helvetica Neue"/>
              </a:defRPr>
            </a:defPPr>
            <a:lvl1pPr>
              <a:defRPr sz="2100">
                <a:solidFill>
                  <a:srgbClr val="13212D"/>
                </a:solidFill>
                <a:latin typeface="Helvetica Neue"/>
                <a:ea typeface="Helvetica Neue"/>
                <a:cs typeface="Helvetica Neue"/>
              </a:defRPr>
            </a:lvl1pPr>
            <a:lvl2pPr>
              <a:defRPr sz="2100">
                <a:solidFill>
                  <a:srgbClr val="13212D"/>
                </a:solidFill>
                <a:latin typeface="Helvetica Neue"/>
                <a:ea typeface="Helvetica Neue"/>
                <a:cs typeface="Helvetica Neue"/>
              </a:defRPr>
            </a:lvl2pPr>
            <a:lvl3pPr>
              <a:defRPr sz="2100">
                <a:solidFill>
                  <a:srgbClr val="13212D"/>
                </a:solidFill>
                <a:latin typeface="Helvetica Neue"/>
                <a:ea typeface="Helvetica Neue"/>
                <a:cs typeface="Helvetica Neue"/>
              </a:defRPr>
            </a:lvl3pPr>
            <a:lvl4pPr>
              <a:defRPr sz="2100">
                <a:solidFill>
                  <a:srgbClr val="13212D"/>
                </a:solidFill>
                <a:latin typeface="Helvetica Neue"/>
                <a:ea typeface="Helvetica Neue"/>
                <a:cs typeface="Helvetica Neue"/>
              </a:defRPr>
            </a:lvl4pPr>
            <a:lvl5pPr>
              <a:defRPr sz="2100">
                <a:solidFill>
                  <a:srgbClr val="13212D"/>
                </a:solidFill>
                <a:latin typeface="Helvetica Neue"/>
                <a:ea typeface="Helvetica Neue"/>
                <a:cs typeface="Helvetica Neue"/>
              </a:defRPr>
            </a:lvl5pPr>
            <a:lvl6pPr>
              <a:defRPr sz="2100">
                <a:solidFill>
                  <a:srgbClr val="13212D"/>
                </a:solidFill>
                <a:latin typeface="Helvetica Neue"/>
                <a:ea typeface="Helvetica Neue"/>
                <a:cs typeface="Helvetica Neue"/>
              </a:defRPr>
            </a:lvl6pPr>
            <a:lvl7pPr>
              <a:defRPr sz="2100">
                <a:solidFill>
                  <a:srgbClr val="13212D"/>
                </a:solidFill>
                <a:latin typeface="Helvetica Neue"/>
                <a:ea typeface="Helvetica Neue"/>
                <a:cs typeface="Helvetica Neue"/>
              </a:defRPr>
            </a:lvl7pPr>
            <a:lvl8pPr>
              <a:defRPr sz="2100">
                <a:solidFill>
                  <a:srgbClr val="13212D"/>
                </a:solidFill>
                <a:latin typeface="Helvetica Neue"/>
                <a:ea typeface="Helvetica Neue"/>
                <a:cs typeface="Helvetica Neue"/>
              </a:defRPr>
            </a:lvl8pPr>
            <a:lvl9pPr>
              <a:defRPr sz="2100">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equipment malfunctions pumps, etc.) * Descriptions of the effects of too rapid or too slow infusion rates * Description of any adverse drug reaction * Description of incorrect dosages</a:t>
            </a:r>
          </a:p>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and times given</a:t>
            </a:r>
          </a:p>
        </p:txBody>
      </p:sp>
      <p:sp>
        <p:nvSpPr>
          <p:cNvPr id="6" name="">
            <a:extLst xmlns:a="http://schemas.openxmlformats.org/drawingml/2006/main">
              <a:ext uri="{FF2B5EF4-FFF2-40B4-BE49-F238E27FC236}">
                <a16:creationId xmlns:a16="http://schemas.microsoft.com/office/drawing/2014/main" id="{31E70E91-0C77-4500-83D1-BA8A94F2A3F2}"/>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9E70874D-12A9-47AD-A795-D0A27CD8A066}"/>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12</a:t>
            </a:r>
          </a:p>
        </p:txBody>
      </p:sp>
    </p:spTree>
    <p:extLst>
      <p:ext uri="{BB962C8B-B14F-4D97-AF65-F5344CB8AC3E}">
        <p14:creationId xmlns:p14="http://schemas.microsoft.com/office/powerpoint/2010/main" val="483266020"/>
      </p:ext>
    </p:extLst>
  </p:cSld>
</p:sld>
</file>

<file path=ppt/slides/slide65.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B72154DD-1E9F-4FE3-99DC-1171484C95BA}"/>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8821D27E-FA7B-43D2-A6FA-57E48EB318A0}"/>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Practice and competency check</a:t>
            </a:r>
          </a:p>
        </p:txBody>
      </p:sp>
      <p:sp>
        <p:nvSpPr>
          <p:cNvPr id="3" name="">
            <a:extLst xmlns:a="http://schemas.openxmlformats.org/drawingml/2006/main">
              <a:ext uri="{FF2B5EF4-FFF2-40B4-BE49-F238E27FC236}">
                <a16:creationId xmlns:a16="http://schemas.microsoft.com/office/drawing/2014/main" id="{1CA0DDFD-3ED9-45AB-B147-71C835313C18}"/>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1</a:t>
            </a:r>
          </a:p>
        </p:txBody>
      </p:sp>
      <p:sp>
        <p:nvSpPr>
          <p:cNvPr id="4" name="">
            <a:extLst xmlns:a="http://schemas.openxmlformats.org/drawingml/2006/main">
              <a:ext uri="{FF2B5EF4-FFF2-40B4-BE49-F238E27FC236}">
                <a16:creationId xmlns:a16="http://schemas.microsoft.com/office/drawing/2014/main" id="{9990FC3E-EF89-4AD0-B96B-4AA9E9229D01}"/>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65</a:t>
            </a:r>
          </a:p>
        </p:txBody>
      </p:sp>
      <p:sp>
        <p:nvSpPr>
          <p:cNvPr id="5" name="">
            <a:extLst xmlns:a="http://schemas.openxmlformats.org/drawingml/2006/main">
              <a:ext uri="{FF2B5EF4-FFF2-40B4-BE49-F238E27FC236}">
                <a16:creationId xmlns:a16="http://schemas.microsoft.com/office/drawing/2014/main" id="{E80B9D80-74FF-4231-88D2-E73F6DFC156E}"/>
              </a:ext>
            </a:extLst>
          </p:cNvPr>
          <p:cNvSpPr>
            <a:spLocks xmlns:a="http://schemas.openxmlformats.org/drawingml/2006/main" noGrp="1"/>
          </p:cNvSpPr>
          <p:nvPr/>
        </p:nvSpPr>
        <p:spPr>
          <a:xfrm xmlns:a="http://schemas.openxmlformats.org/drawingml/2006/main">
            <a:off x="895350" y="1809750"/>
            <a:ext cx="10191750" cy="3143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175">
                <a:solidFill>
                  <a:srgbClr val="13212D"/>
                </a:solidFill>
                <a:latin typeface="Helvetica Neue"/>
                <a:ea typeface="Helvetica Neue"/>
                <a:cs typeface="Helvetica Neue"/>
              </a:defRPr>
            </a:defPPr>
            <a:lvl1pPr>
              <a:defRPr sz="2175">
                <a:solidFill>
                  <a:srgbClr val="13212D"/>
                </a:solidFill>
                <a:latin typeface="Helvetica Neue"/>
                <a:ea typeface="Helvetica Neue"/>
                <a:cs typeface="Helvetica Neue"/>
              </a:defRPr>
            </a:lvl1pPr>
            <a:lvl2pPr>
              <a:defRPr sz="2175">
                <a:solidFill>
                  <a:srgbClr val="13212D"/>
                </a:solidFill>
                <a:latin typeface="Helvetica Neue"/>
                <a:ea typeface="Helvetica Neue"/>
                <a:cs typeface="Helvetica Neue"/>
              </a:defRPr>
            </a:lvl2pPr>
            <a:lvl3pPr>
              <a:defRPr sz="2175">
                <a:solidFill>
                  <a:srgbClr val="13212D"/>
                </a:solidFill>
                <a:latin typeface="Helvetica Neue"/>
                <a:ea typeface="Helvetica Neue"/>
                <a:cs typeface="Helvetica Neue"/>
              </a:defRPr>
            </a:lvl3pPr>
            <a:lvl4pPr>
              <a:defRPr sz="2175">
                <a:solidFill>
                  <a:srgbClr val="13212D"/>
                </a:solidFill>
                <a:latin typeface="Helvetica Neue"/>
                <a:ea typeface="Helvetica Neue"/>
                <a:cs typeface="Helvetica Neue"/>
              </a:defRPr>
            </a:lvl4pPr>
            <a:lvl5pPr>
              <a:defRPr sz="2175">
                <a:solidFill>
                  <a:srgbClr val="13212D"/>
                </a:solidFill>
                <a:latin typeface="Helvetica Neue"/>
                <a:ea typeface="Helvetica Neue"/>
                <a:cs typeface="Helvetica Neue"/>
              </a:defRPr>
            </a:lvl5pPr>
            <a:lvl6pPr>
              <a:defRPr sz="2175">
                <a:solidFill>
                  <a:srgbClr val="13212D"/>
                </a:solidFill>
                <a:latin typeface="Helvetica Neue"/>
                <a:ea typeface="Helvetica Neue"/>
                <a:cs typeface="Helvetica Neue"/>
              </a:defRPr>
            </a:lvl6pPr>
            <a:lvl7pPr>
              <a:defRPr sz="2175">
                <a:solidFill>
                  <a:srgbClr val="13212D"/>
                </a:solidFill>
                <a:latin typeface="Helvetica Neue"/>
                <a:ea typeface="Helvetica Neue"/>
                <a:cs typeface="Helvetica Neue"/>
              </a:defRPr>
            </a:lvl7pPr>
            <a:lvl8pPr>
              <a:defRPr sz="2175">
                <a:solidFill>
                  <a:srgbClr val="13212D"/>
                </a:solidFill>
                <a:latin typeface="Helvetica Neue"/>
                <a:ea typeface="Helvetica Neue"/>
                <a:cs typeface="Helvetica Neue"/>
              </a:defRPr>
            </a:lvl8pPr>
            <a:lvl9pPr>
              <a:defRPr sz="217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2175">
                <a:solidFill>
                  <a:srgbClr val="13212D"/>
                </a:solidFill>
                <a:latin typeface="Helvetica Neue"/>
                <a:ea typeface="Helvetica Neue"/>
                <a:cs typeface="Helvetica Neue"/>
              </a:defRPr>
            </a:pPr>
            <a:r>
              <a:rPr sz="2175">
                <a:solidFill>
                  <a:srgbClr val="13212D"/>
                </a:solidFill>
                <a:latin typeface="Helvetica Neue"/>
                <a:ea typeface="Helvetica Neue"/>
                <a:cs typeface="Helvetica Neue"/>
              </a:rPr>
              <a:t>Classify five IV tasks as permitted, restricted, or requiring direct supervision</a:t>
            </a:r>
          </a:p>
          <a:p xmlns:a="http://schemas.openxmlformats.org/drawingml/2006/main">
            <a:pPr marL="279400" indent="-127000">
              <a:spcAft>
                <a:spcPts val="1300"/>
              </a:spcAft>
              <a:buChar char="•"/>
              <a:defRPr sz="2175">
                <a:solidFill>
                  <a:srgbClr val="13212D"/>
                </a:solidFill>
                <a:latin typeface="Helvetica Neue"/>
                <a:ea typeface="Helvetica Neue"/>
                <a:cs typeface="Helvetica Neue"/>
              </a:defRPr>
            </a:pPr>
            <a:r>
              <a:rPr sz="2175">
                <a:solidFill>
                  <a:srgbClr val="13212D"/>
                </a:solidFill>
                <a:latin typeface="Helvetica Neue"/>
                <a:ea typeface="Helvetica Neue"/>
                <a:cs typeface="Helvetica Neue"/>
              </a:rPr>
              <a:t>Review an incomplete order and identify the clarification needed</a:t>
            </a:r>
          </a:p>
          <a:p xmlns:a="http://schemas.openxmlformats.org/drawingml/2006/main">
            <a:pPr marL="279400" indent="-127000">
              <a:spcAft>
                <a:spcPts val="1300"/>
              </a:spcAft>
              <a:buChar char="•"/>
              <a:defRPr sz="2175">
                <a:solidFill>
                  <a:srgbClr val="13212D"/>
                </a:solidFill>
                <a:latin typeface="Helvetica Neue"/>
                <a:ea typeface="Helvetica Neue"/>
                <a:cs typeface="Helvetica Neue"/>
              </a:defRPr>
            </a:pPr>
            <a:r>
              <a:rPr sz="2175">
                <a:solidFill>
                  <a:srgbClr val="13212D"/>
                </a:solidFill>
                <a:latin typeface="Helvetica Neue"/>
                <a:ea typeface="Helvetica Neue"/>
                <a:cs typeface="Helvetica Neue"/>
              </a:rPr>
              <a:t>Write a complete peripheral IV documentation entry</a:t>
            </a:r>
          </a:p>
        </p:txBody>
      </p:sp>
      <p:sp>
        <p:nvSpPr>
          <p:cNvPr id="6" name="">
            <a:extLst xmlns:a="http://schemas.openxmlformats.org/drawingml/2006/main">
              <a:ext uri="{FF2B5EF4-FFF2-40B4-BE49-F238E27FC236}">
                <a16:creationId xmlns:a16="http://schemas.microsoft.com/office/drawing/2014/main" id="{0B589E05-7AF1-49A4-A462-7D5F1B7624E7}"/>
              </a:ext>
            </a:extLst>
          </p:cNvPr>
          <p:cNvSpPr>
            <a:spLocks xmlns:a="http://schemas.openxmlformats.org/drawingml/2006/main" noGrp="1"/>
          </p:cNvSpPr>
          <p:nvPr/>
        </p:nvSpPr>
        <p:spPr>
          <a:xfrm xmlns:a="http://schemas.openxmlformats.org/drawingml/2006/main">
            <a:off x="895350" y="5334000"/>
            <a:ext cx="101917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650" b="1">
                <a:solidFill>
                  <a:srgbClr val="B94F3D"/>
                </a:solidFill>
                <a:latin typeface="Helvetica Neue"/>
                <a:ea typeface="Helvetica Neue"/>
                <a:cs typeface="Helvetica Neue"/>
              </a:defRPr>
            </a:defPPr>
            <a:lvl1pPr>
              <a:defRPr sz="1650" b="1">
                <a:solidFill>
                  <a:srgbClr val="B94F3D"/>
                </a:solidFill>
                <a:latin typeface="Helvetica Neue"/>
                <a:ea typeface="Helvetica Neue"/>
                <a:cs typeface="Helvetica Neue"/>
              </a:defRPr>
            </a:lvl1pPr>
            <a:lvl2pPr>
              <a:defRPr sz="1650" b="1">
                <a:solidFill>
                  <a:srgbClr val="B94F3D"/>
                </a:solidFill>
                <a:latin typeface="Helvetica Neue"/>
                <a:ea typeface="Helvetica Neue"/>
                <a:cs typeface="Helvetica Neue"/>
              </a:defRPr>
            </a:lvl2pPr>
            <a:lvl3pPr>
              <a:defRPr sz="1650" b="1">
                <a:solidFill>
                  <a:srgbClr val="B94F3D"/>
                </a:solidFill>
                <a:latin typeface="Helvetica Neue"/>
                <a:ea typeface="Helvetica Neue"/>
                <a:cs typeface="Helvetica Neue"/>
              </a:defRPr>
            </a:lvl3pPr>
            <a:lvl4pPr>
              <a:defRPr sz="1650" b="1">
                <a:solidFill>
                  <a:srgbClr val="B94F3D"/>
                </a:solidFill>
                <a:latin typeface="Helvetica Neue"/>
                <a:ea typeface="Helvetica Neue"/>
                <a:cs typeface="Helvetica Neue"/>
              </a:defRPr>
            </a:lvl4pPr>
            <a:lvl5pPr>
              <a:defRPr sz="1650" b="1">
                <a:solidFill>
                  <a:srgbClr val="B94F3D"/>
                </a:solidFill>
                <a:latin typeface="Helvetica Neue"/>
                <a:ea typeface="Helvetica Neue"/>
                <a:cs typeface="Helvetica Neue"/>
              </a:defRPr>
            </a:lvl5pPr>
            <a:lvl6pPr>
              <a:defRPr sz="1650" b="1">
                <a:solidFill>
                  <a:srgbClr val="B94F3D"/>
                </a:solidFill>
                <a:latin typeface="Helvetica Neue"/>
                <a:ea typeface="Helvetica Neue"/>
                <a:cs typeface="Helvetica Neue"/>
              </a:defRPr>
            </a:lvl6pPr>
            <a:lvl7pPr>
              <a:defRPr sz="1650" b="1">
                <a:solidFill>
                  <a:srgbClr val="B94F3D"/>
                </a:solidFill>
                <a:latin typeface="Helvetica Neue"/>
                <a:ea typeface="Helvetica Neue"/>
                <a:cs typeface="Helvetica Neue"/>
              </a:defRPr>
            </a:lvl7pPr>
            <a:lvl8pPr>
              <a:defRPr sz="1650" b="1">
                <a:solidFill>
                  <a:srgbClr val="B94F3D"/>
                </a:solidFill>
                <a:latin typeface="Helvetica Neue"/>
                <a:ea typeface="Helvetica Neue"/>
                <a:cs typeface="Helvetica Neue"/>
              </a:defRPr>
            </a:lvl8pPr>
            <a:lvl9pPr>
              <a:defRPr sz="1650" b="1">
                <a:solidFill>
                  <a:srgbClr val="B94F3D"/>
                </a:solidFill>
                <a:latin typeface="Helvetica Neue"/>
                <a:ea typeface="Helvetica Neue"/>
                <a:cs typeface="Helvetica Neue"/>
              </a:defRPr>
            </a:lvl9pPr>
          </a:lstStyle>
          <a:p xmlns:a="http://schemas.openxmlformats.org/drawingml/2006/main">
            <a:pPr>
              <a:defRPr sz="1650" b="1">
                <a:solidFill>
                  <a:srgbClr val="B94F3D"/>
                </a:solidFill>
                <a:latin typeface="Helvetica Neue"/>
                <a:ea typeface="Helvetica Neue"/>
                <a:cs typeface="Helvetica Neue"/>
              </a:defRPr>
            </a:pPr>
            <a:r>
              <a:rPr sz="1650" b="1">
                <a:solidFill>
                  <a:srgbClr val="B94F3D"/>
                </a:solidFill>
                <a:latin typeface="Helvetica Neue"/>
                <a:ea typeface="Helvetica Neue"/>
                <a:cs typeface="Helvetica Neue"/>
              </a:rPr>
              <a:t>Complete the matching online lesson and assessment before the in-person laboratory.</a:t>
            </a:r>
          </a:p>
        </p:txBody>
      </p:sp>
    </p:spTree>
    <p:extLst>
      <p:ext uri="{BB962C8B-B14F-4D97-AF65-F5344CB8AC3E}">
        <p14:creationId xmlns:p14="http://schemas.microsoft.com/office/powerpoint/2010/main" val="651959737"/>
      </p:ext>
    </p:extLst>
  </p:cSld>
</p:sld>
</file>

<file path=ppt/slides/slide66.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54EE73A3-EFBB-4C2B-B050-9665CF00DA5E}"/>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1C51FA6D-ACD5-4ED7-8C3F-179405EA24D8}"/>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Key points</a:t>
            </a:r>
          </a:p>
        </p:txBody>
      </p:sp>
      <p:sp>
        <p:nvSpPr>
          <p:cNvPr id="3" name="">
            <a:extLst xmlns:a="http://schemas.openxmlformats.org/drawingml/2006/main">
              <a:ext uri="{FF2B5EF4-FFF2-40B4-BE49-F238E27FC236}">
                <a16:creationId xmlns:a16="http://schemas.microsoft.com/office/drawing/2014/main" id="{A5EA0B66-D3A0-41A0-8BCF-C5F6B451E438}"/>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1</a:t>
            </a:r>
          </a:p>
        </p:txBody>
      </p:sp>
      <p:sp>
        <p:nvSpPr>
          <p:cNvPr id="4" name="">
            <a:extLst xmlns:a="http://schemas.openxmlformats.org/drawingml/2006/main">
              <a:ext uri="{FF2B5EF4-FFF2-40B4-BE49-F238E27FC236}">
                <a16:creationId xmlns:a16="http://schemas.microsoft.com/office/drawing/2014/main" id="{8D3EB276-5636-4608-9EF4-969CD409F9CE}"/>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66</a:t>
            </a:r>
          </a:p>
        </p:txBody>
      </p:sp>
      <p:sp>
        <p:nvSpPr>
          <p:cNvPr id="5" name="">
            <a:extLst xmlns:a="http://schemas.openxmlformats.org/drawingml/2006/main">
              <a:ext uri="{FF2B5EF4-FFF2-40B4-BE49-F238E27FC236}">
                <a16:creationId xmlns:a16="http://schemas.microsoft.com/office/drawing/2014/main" id="{AE0B2E98-7214-4952-9EE4-8DD87FA3E044}"/>
              </a:ext>
            </a:extLst>
          </p:cNvPr>
          <p:cNvSpPr>
            <a:spLocks xmlns:a="http://schemas.openxmlformats.org/drawingml/2006/main" noGrp="1"/>
          </p:cNvSpPr>
          <p:nvPr/>
        </p:nvSpPr>
        <p:spPr>
          <a:xfrm xmlns:a="http://schemas.openxmlformats.org/drawingml/2006/main">
            <a:off x="895350" y="1809750"/>
            <a:ext cx="10191750" cy="3619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025">
                <a:solidFill>
                  <a:srgbClr val="13212D"/>
                </a:solidFill>
                <a:latin typeface="Helvetica Neue"/>
                <a:ea typeface="Helvetica Neue"/>
                <a:cs typeface="Helvetica Neue"/>
              </a:defRPr>
            </a:defPPr>
            <a:lvl1pPr>
              <a:defRPr sz="2025">
                <a:solidFill>
                  <a:srgbClr val="13212D"/>
                </a:solidFill>
                <a:latin typeface="Helvetica Neue"/>
                <a:ea typeface="Helvetica Neue"/>
                <a:cs typeface="Helvetica Neue"/>
              </a:defRPr>
            </a:lvl1pPr>
            <a:lvl2pPr>
              <a:defRPr sz="2025">
                <a:solidFill>
                  <a:srgbClr val="13212D"/>
                </a:solidFill>
                <a:latin typeface="Helvetica Neue"/>
                <a:ea typeface="Helvetica Neue"/>
                <a:cs typeface="Helvetica Neue"/>
              </a:defRPr>
            </a:lvl2pPr>
            <a:lvl3pPr>
              <a:defRPr sz="2025">
                <a:solidFill>
                  <a:srgbClr val="13212D"/>
                </a:solidFill>
                <a:latin typeface="Helvetica Neue"/>
                <a:ea typeface="Helvetica Neue"/>
                <a:cs typeface="Helvetica Neue"/>
              </a:defRPr>
            </a:lvl3pPr>
            <a:lvl4pPr>
              <a:defRPr sz="2025">
                <a:solidFill>
                  <a:srgbClr val="13212D"/>
                </a:solidFill>
                <a:latin typeface="Helvetica Neue"/>
                <a:ea typeface="Helvetica Neue"/>
                <a:cs typeface="Helvetica Neue"/>
              </a:defRPr>
            </a:lvl4pPr>
            <a:lvl5pPr>
              <a:defRPr sz="2025">
                <a:solidFill>
                  <a:srgbClr val="13212D"/>
                </a:solidFill>
                <a:latin typeface="Helvetica Neue"/>
                <a:ea typeface="Helvetica Neue"/>
                <a:cs typeface="Helvetica Neue"/>
              </a:defRPr>
            </a:lvl5pPr>
            <a:lvl6pPr>
              <a:defRPr sz="2025">
                <a:solidFill>
                  <a:srgbClr val="13212D"/>
                </a:solidFill>
                <a:latin typeface="Helvetica Neue"/>
                <a:ea typeface="Helvetica Neue"/>
                <a:cs typeface="Helvetica Neue"/>
              </a:defRPr>
            </a:lvl6pPr>
            <a:lvl7pPr>
              <a:defRPr sz="2025">
                <a:solidFill>
                  <a:srgbClr val="13212D"/>
                </a:solidFill>
                <a:latin typeface="Helvetica Neue"/>
                <a:ea typeface="Helvetica Neue"/>
                <a:cs typeface="Helvetica Neue"/>
              </a:defRPr>
            </a:lvl7pPr>
            <a:lvl8pPr>
              <a:defRPr sz="2025">
                <a:solidFill>
                  <a:srgbClr val="13212D"/>
                </a:solidFill>
                <a:latin typeface="Helvetica Neue"/>
                <a:ea typeface="Helvetica Neue"/>
                <a:cs typeface="Helvetica Neue"/>
              </a:defRPr>
            </a:lvl8pPr>
            <a:lvl9pPr>
              <a:defRPr sz="202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2025">
                <a:solidFill>
                  <a:srgbClr val="13212D"/>
                </a:solidFill>
                <a:latin typeface="Helvetica Neue"/>
                <a:ea typeface="Helvetica Neue"/>
                <a:cs typeface="Helvetica Neue"/>
              </a:defRPr>
            </a:pPr>
            <a:r>
              <a:rPr sz="2025">
                <a:solidFill>
                  <a:srgbClr val="13212D"/>
                </a:solidFill>
                <a:latin typeface="Helvetica Neue"/>
                <a:ea typeface="Helvetica Neue"/>
                <a:cs typeface="Helvetica Neue"/>
              </a:rPr>
              <a:t>Explain how Florida law and Board rules govern practical nursing</a:t>
            </a:r>
          </a:p>
          <a:p xmlns:a="http://schemas.openxmlformats.org/drawingml/2006/main">
            <a:pPr marL="279400" indent="-127000">
              <a:spcAft>
                <a:spcPts val="1300"/>
              </a:spcAft>
              <a:buChar char="•"/>
              <a:defRPr sz="2025">
                <a:solidFill>
                  <a:srgbClr val="13212D"/>
                </a:solidFill>
                <a:latin typeface="Helvetica Neue"/>
                <a:ea typeface="Helvetica Neue"/>
                <a:cs typeface="Helvetica Neue"/>
              </a:defRPr>
            </a:pPr>
            <a:r>
              <a:rPr sz="2025">
                <a:solidFill>
                  <a:srgbClr val="13212D"/>
                </a:solidFill>
                <a:latin typeface="Helvetica Neue"/>
                <a:ea typeface="Helvetica Neue"/>
                <a:cs typeface="Helvetica Neue"/>
              </a:rPr>
              <a:t>Florida Administrative Code Rule 64B9-12.005 requires at least 30 hours of post-graduate IV education for an LPN or graduate practical nurse who needs this qualification. Course content must cover the required cognitive and clinical areas.</a:t>
            </a:r>
          </a:p>
          <a:p xmlns:a="http://schemas.openxmlformats.org/drawingml/2006/main">
            <a:pPr marL="279400" indent="-127000">
              <a:spcAft>
                <a:spcPts val="1300"/>
              </a:spcAft>
              <a:buChar char="•"/>
              <a:defRPr sz="2025">
                <a:solidFill>
                  <a:srgbClr val="13212D"/>
                </a:solidFill>
                <a:latin typeface="Helvetica Neue"/>
                <a:ea typeface="Helvetica Neue"/>
                <a:cs typeface="Helvetica Neue"/>
              </a:defRPr>
            </a:pPr>
            <a:r>
              <a:rPr sz="2025">
                <a:solidFill>
                  <a:srgbClr val="13212D"/>
                </a:solidFill>
                <a:latin typeface="Helvetica Neue"/>
                <a:ea typeface="Helvetica Neue"/>
                <a:cs typeface="Helvetica Neue"/>
              </a:rPr>
              <a:t>A Florida-licensed RN witnesses clinical practice and files a proficiency statement. The employing institution verifies competence under its protocol. Documentation identifies the device, site, solution, delivery method, assessment, response, and complications.</a:t>
            </a:r>
          </a:p>
        </p:txBody>
      </p:sp>
      <p:sp>
        <p:nvSpPr>
          <p:cNvPr id="6" name="">
            <a:extLst xmlns:a="http://schemas.openxmlformats.org/drawingml/2006/main">
              <a:ext uri="{FF2B5EF4-FFF2-40B4-BE49-F238E27FC236}">
                <a16:creationId xmlns:a16="http://schemas.microsoft.com/office/drawing/2014/main" id="{6681EEC1-6CBA-4A4E-B520-35BCEE2EF39D}"/>
              </a:ext>
            </a:extLst>
          </p:cNvPr>
          <p:cNvSpPr>
            <a:spLocks xmlns:a="http://schemas.openxmlformats.org/drawingml/2006/main" noGrp="1"/>
          </p:cNvSpPr>
          <p:nvPr/>
        </p:nvSpPr>
        <p:spPr>
          <a:xfrm xmlns:a="http://schemas.openxmlformats.org/drawingml/2006/main">
            <a:off x="895350" y="5467350"/>
            <a:ext cx="101917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650" b="1">
                <a:solidFill>
                  <a:srgbClr val="237B82"/>
                </a:solidFill>
                <a:latin typeface="Helvetica Neue"/>
                <a:ea typeface="Helvetica Neue"/>
                <a:cs typeface="Helvetica Neue"/>
              </a:defRPr>
            </a:defPPr>
            <a:lvl1pPr>
              <a:defRPr sz="1650" b="1">
                <a:solidFill>
                  <a:srgbClr val="237B82"/>
                </a:solidFill>
                <a:latin typeface="Helvetica Neue"/>
                <a:ea typeface="Helvetica Neue"/>
                <a:cs typeface="Helvetica Neue"/>
              </a:defRPr>
            </a:lvl1pPr>
            <a:lvl2pPr>
              <a:defRPr sz="1650" b="1">
                <a:solidFill>
                  <a:srgbClr val="237B82"/>
                </a:solidFill>
                <a:latin typeface="Helvetica Neue"/>
                <a:ea typeface="Helvetica Neue"/>
                <a:cs typeface="Helvetica Neue"/>
              </a:defRPr>
            </a:lvl2pPr>
            <a:lvl3pPr>
              <a:defRPr sz="1650" b="1">
                <a:solidFill>
                  <a:srgbClr val="237B82"/>
                </a:solidFill>
                <a:latin typeface="Helvetica Neue"/>
                <a:ea typeface="Helvetica Neue"/>
                <a:cs typeface="Helvetica Neue"/>
              </a:defRPr>
            </a:lvl3pPr>
            <a:lvl4pPr>
              <a:defRPr sz="1650" b="1">
                <a:solidFill>
                  <a:srgbClr val="237B82"/>
                </a:solidFill>
                <a:latin typeface="Helvetica Neue"/>
                <a:ea typeface="Helvetica Neue"/>
                <a:cs typeface="Helvetica Neue"/>
              </a:defRPr>
            </a:lvl4pPr>
            <a:lvl5pPr>
              <a:defRPr sz="1650" b="1">
                <a:solidFill>
                  <a:srgbClr val="237B82"/>
                </a:solidFill>
                <a:latin typeface="Helvetica Neue"/>
                <a:ea typeface="Helvetica Neue"/>
                <a:cs typeface="Helvetica Neue"/>
              </a:defRPr>
            </a:lvl5pPr>
            <a:lvl6pPr>
              <a:defRPr sz="1650" b="1">
                <a:solidFill>
                  <a:srgbClr val="237B82"/>
                </a:solidFill>
                <a:latin typeface="Helvetica Neue"/>
                <a:ea typeface="Helvetica Neue"/>
                <a:cs typeface="Helvetica Neue"/>
              </a:defRPr>
            </a:lvl6pPr>
            <a:lvl7pPr>
              <a:defRPr sz="1650" b="1">
                <a:solidFill>
                  <a:srgbClr val="237B82"/>
                </a:solidFill>
                <a:latin typeface="Helvetica Neue"/>
                <a:ea typeface="Helvetica Neue"/>
                <a:cs typeface="Helvetica Neue"/>
              </a:defRPr>
            </a:lvl7pPr>
            <a:lvl8pPr>
              <a:defRPr sz="1650" b="1">
                <a:solidFill>
                  <a:srgbClr val="237B82"/>
                </a:solidFill>
                <a:latin typeface="Helvetica Neue"/>
                <a:ea typeface="Helvetica Neue"/>
                <a:cs typeface="Helvetica Neue"/>
              </a:defRPr>
            </a:lvl8pPr>
            <a:lvl9pPr>
              <a:defRPr sz="1650" b="1">
                <a:solidFill>
                  <a:srgbClr val="237B82"/>
                </a:solidFill>
                <a:latin typeface="Helvetica Neue"/>
                <a:ea typeface="Helvetica Neue"/>
                <a:cs typeface="Helvetica Neue"/>
              </a:defRPr>
            </a:lvl9pPr>
          </a:lstStyle>
          <a:p xmlns:a="http://schemas.openxmlformats.org/drawingml/2006/main">
            <a:pPr>
              <a:defRPr sz="1650" b="1">
                <a:solidFill>
                  <a:srgbClr val="237B82"/>
                </a:solidFill>
                <a:latin typeface="Helvetica Neue"/>
                <a:ea typeface="Helvetica Neue"/>
                <a:cs typeface="Helvetica Neue"/>
              </a:defRPr>
            </a:pPr>
            <a:r>
              <a:rPr sz="1650" b="1">
                <a:solidFill>
                  <a:srgbClr val="237B82"/>
                </a:solidFill>
                <a:latin typeface="Helvetica Neue"/>
                <a:ea typeface="Helvetica Neue"/>
                <a:cs typeface="Helvetica Neue"/>
              </a:rPr>
              <a:t>Review the course lesson, complete the assessment, and bring questions to the live session.</a:t>
            </a:r>
          </a:p>
        </p:txBody>
      </p:sp>
    </p:spTree>
    <p:extLst>
      <p:ext uri="{BB962C8B-B14F-4D97-AF65-F5344CB8AC3E}">
        <p14:creationId xmlns:p14="http://schemas.microsoft.com/office/powerpoint/2010/main" val="1605037770"/>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2026-10-21T01:34:20.8580000Z</dcterms:created>
  <dcterms:modified xsi:type="dcterms:W3CDTF">2026-10-21T01:34:20.8580000Z</dcterms:modified>
</coreProperties>
</file>