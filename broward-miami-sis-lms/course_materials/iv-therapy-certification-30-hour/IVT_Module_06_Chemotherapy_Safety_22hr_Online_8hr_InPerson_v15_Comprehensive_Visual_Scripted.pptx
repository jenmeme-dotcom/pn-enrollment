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ed842b64ac041ef" /><Relationship Type="http://schemas.openxmlformats.org/officeDocument/2006/relationships/extended-properties" Target="/docProps/app.xml" Id="Raedf70738da94bc9" /><Relationship Type="http://schemas.openxmlformats.org/officeDocument/2006/relationships/officeDocument" Target="/ppt/presentation.xml" Id="R6efaf414865c4f64" /></Relationships>
</file>

<file path=ppt/presentation.xml><?xml version="1.0" encoding="utf-8"?>
<p:presentation xmlns:p="http://schemas.openxmlformats.org/presentationml/2006/main">
  <p:sldMasterIdLst>
    <p:sldMasterId xmlns:r="http://schemas.openxmlformats.org/officeDocument/2006/relationships" id="2147483648" r:id="Rb6f3145dc75f44dc"/>
  </p:sldMasterIdLst>
  <p:notesMasterIdLst>
    <p:notesMasterId xmlns:r="http://schemas.openxmlformats.org/officeDocument/2006/relationships" r:id="Rf4c38274ec4b48b7"/>
  </p:notesMasterIdLst>
  <p:sldIdLst>
    <p:sldId xmlns:r="http://schemas.openxmlformats.org/officeDocument/2006/relationships" id="256" r:id="R81569d2bee284f3d"/>
    <p:sldId xmlns:r="http://schemas.openxmlformats.org/officeDocument/2006/relationships" id="257" r:id="Ra2f87b5bb7a842d0"/>
    <p:sldId xmlns:r="http://schemas.openxmlformats.org/officeDocument/2006/relationships" id="258" r:id="R611c19a4a905469c"/>
    <p:sldId xmlns:r="http://schemas.openxmlformats.org/officeDocument/2006/relationships" id="259" r:id="Rc256a090a3e64fc6"/>
    <p:sldId xmlns:r="http://schemas.openxmlformats.org/officeDocument/2006/relationships" id="260" r:id="R4a8a2377deab4f84"/>
    <p:sldId xmlns:r="http://schemas.openxmlformats.org/officeDocument/2006/relationships" id="261" r:id="R1aae831809004b4d"/>
    <p:sldId xmlns:r="http://schemas.openxmlformats.org/officeDocument/2006/relationships" id="262" r:id="R1f991ba974164814"/>
    <p:sldId xmlns:r="http://schemas.openxmlformats.org/officeDocument/2006/relationships" id="263" r:id="R8b58e7b8d98347a7"/>
    <p:sldId xmlns:r="http://schemas.openxmlformats.org/officeDocument/2006/relationships" id="264" r:id="R7ff114f7e5b94d02"/>
    <p:sldId xmlns:r="http://schemas.openxmlformats.org/officeDocument/2006/relationships" id="265" r:id="R3a9644627da14cf5"/>
    <p:sldId xmlns:r="http://schemas.openxmlformats.org/officeDocument/2006/relationships" id="266" r:id="Rcfcd77843f2349e7"/>
    <p:sldId xmlns:r="http://schemas.openxmlformats.org/officeDocument/2006/relationships" id="267" r:id="Raf8b82f98920480a"/>
    <p:sldId xmlns:r="http://schemas.openxmlformats.org/officeDocument/2006/relationships" id="268" r:id="Rd736a77eabc34e94"/>
    <p:sldId xmlns:r="http://schemas.openxmlformats.org/officeDocument/2006/relationships" id="269" r:id="R191bc4d3cbeb48d4"/>
    <p:sldId xmlns:r="http://schemas.openxmlformats.org/officeDocument/2006/relationships" id="270" r:id="R2cba9e3b0ed94e9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bf378000b524c43" /><Relationship Type="http://schemas.openxmlformats.org/officeDocument/2006/relationships/slideMaster" Target="/ppt/slideMasters/slideMaster1.xml" Id="Rb6f3145dc75f44dc" /><Relationship Type="http://schemas.openxmlformats.org/officeDocument/2006/relationships/notesMaster" Target="/ppt/notesMasters/notesMaster1.xml" Id="Rf4c38274ec4b48b7" /><Relationship Type="http://schemas.openxmlformats.org/officeDocument/2006/relationships/presProps" Target="/ppt/presProps.xml" Id="Rda123b02959e4cc9" /><Relationship Type="http://schemas.openxmlformats.org/officeDocument/2006/relationships/tableStyles" Target="/ppt/tableStyles.xml" Id="R21d32910ec81402a" /><Relationship Type="http://schemas.openxmlformats.org/officeDocument/2006/relationships/slide" Target="/ppt/slides/slide1.xml" Id="R81569d2bee284f3d" /><Relationship Type="http://schemas.openxmlformats.org/officeDocument/2006/relationships/slide" Target="/ppt/slides/slide2.xml" Id="Ra2f87b5bb7a842d0" /><Relationship Type="http://schemas.openxmlformats.org/officeDocument/2006/relationships/slide" Target="/ppt/slides/slide3.xml" Id="R611c19a4a905469c" /><Relationship Type="http://schemas.openxmlformats.org/officeDocument/2006/relationships/slide" Target="/ppt/slides/slide4.xml" Id="Rc256a090a3e64fc6" /><Relationship Type="http://schemas.openxmlformats.org/officeDocument/2006/relationships/slide" Target="/ppt/slides/slide5.xml" Id="R4a8a2377deab4f84" /><Relationship Type="http://schemas.openxmlformats.org/officeDocument/2006/relationships/slide" Target="/ppt/slides/slide6.xml" Id="R1aae831809004b4d" /><Relationship Type="http://schemas.openxmlformats.org/officeDocument/2006/relationships/slide" Target="/ppt/slides/slide7.xml" Id="R1f991ba974164814" /><Relationship Type="http://schemas.openxmlformats.org/officeDocument/2006/relationships/slide" Target="/ppt/slides/slide8.xml" Id="R8b58e7b8d98347a7" /><Relationship Type="http://schemas.openxmlformats.org/officeDocument/2006/relationships/slide" Target="/ppt/slides/slide9.xml" Id="R7ff114f7e5b94d02" /><Relationship Type="http://schemas.openxmlformats.org/officeDocument/2006/relationships/slide" Target="/ppt/slides/slide10.xml" Id="R3a9644627da14cf5" /><Relationship Type="http://schemas.openxmlformats.org/officeDocument/2006/relationships/slide" Target="/ppt/slides/slide11.xml" Id="Rcfcd77843f2349e7" /><Relationship Type="http://schemas.openxmlformats.org/officeDocument/2006/relationships/slide" Target="/ppt/slides/slide12.xml" Id="Raf8b82f98920480a" /><Relationship Type="http://schemas.openxmlformats.org/officeDocument/2006/relationships/slide" Target="/ppt/slides/slide13.xml" Id="Rd736a77eabc34e94" /><Relationship Type="http://schemas.openxmlformats.org/officeDocument/2006/relationships/slide" Target="/ppt/slides/slide14.xml" Id="R191bc4d3cbeb48d4" /><Relationship Type="http://schemas.openxmlformats.org/officeDocument/2006/relationships/slide" Target="/ppt/slides/slide15.xml" Id="R2cba9e3b0ed94e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ebfce18b9294b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5d1c634eccf44a4" /><Relationship Type="http://schemas.openxmlformats.org/officeDocument/2006/relationships/notesMaster" Target="/ppt/notesMasters/notesMaster1.xml" Id="Rdea15dbd111947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6d9690cf33c424c" /><Relationship Type="http://schemas.openxmlformats.org/officeDocument/2006/relationships/notesMaster" Target="/ppt/notesMasters/notesMaster1.xml" Id="R02ac0dbfafdb49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2c5f97499a451f" /><Relationship Type="http://schemas.openxmlformats.org/officeDocument/2006/relationships/notesMaster" Target="/ppt/notesMasters/notesMaster1.xml" Id="Rcb9dc6fafcbb46c2" /></Relationships>
</file>

<file path=ppt/notesSlides/_rels/notesSlide4.xml.rels>&#65279;<?xml version="1.0" encoding="utf-8"?><Relationships xmlns="http://schemas.openxmlformats.org/package/2006/relationships"><Relationship Type="http://schemas.openxmlformats.org/officeDocument/2006/relationships/slide" Target="/ppt/slides/slide4.xml" Id="Rcb428e5465a24ca5" /><Relationship Type="http://schemas.openxmlformats.org/officeDocument/2006/relationships/notesMaster" Target="/ppt/notesMasters/notesMaster1.xml" Id="Re7a2ae9ca6a84722" /></Relationships>
</file>

<file path=ppt/notesSlides/_rels/notesSlide5.xml.rels>&#65279;<?xml version="1.0" encoding="utf-8"?><Relationships xmlns="http://schemas.openxmlformats.org/package/2006/relationships"><Relationship Type="http://schemas.openxmlformats.org/officeDocument/2006/relationships/slide" Target="/ppt/slides/slide5.xml" Id="Rece3a9e04e62411d" /><Relationship Type="http://schemas.openxmlformats.org/officeDocument/2006/relationships/notesMaster" Target="/ppt/notesMasters/notesMaster1.xml" Id="R918a2671648b49f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12e379a7e18402e" /><Relationship Type="http://schemas.openxmlformats.org/officeDocument/2006/relationships/notesMaster" Target="/ppt/notesMasters/notesMaster1.xml" Id="R5a73e53597ec4850" /></Relationships>
</file>

<file path=ppt/notesSlides/_rels/notesSlide7.xml.rels>&#65279;<?xml version="1.0" encoding="utf-8"?><Relationships xmlns="http://schemas.openxmlformats.org/package/2006/relationships"><Relationship Type="http://schemas.openxmlformats.org/officeDocument/2006/relationships/slide" Target="/ppt/slides/slide7.xml" Id="R9b0bd896623342e9" /><Relationship Type="http://schemas.openxmlformats.org/officeDocument/2006/relationships/notesMaster" Target="/ppt/notesMasters/notesMaster1.xml" Id="Rdb2a438338d6425b" /></Relationships>
</file>

<file path=ppt/notesSlides/_rels/notesSlide8.xml.rels>&#65279;<?xml version="1.0" encoding="utf-8"?><Relationships xmlns="http://schemas.openxmlformats.org/package/2006/relationships"><Relationship Type="http://schemas.openxmlformats.org/officeDocument/2006/relationships/slide" Target="/ppt/slides/slide8.xml" Id="R25d882c29ce24cb9" /><Relationship Type="http://schemas.openxmlformats.org/officeDocument/2006/relationships/notesMaster" Target="/ppt/notesMasters/notesMaster1.xml" Id="R5445c36c81144e6b" /></Relationships>
</file>

<file path=ppt/notesSlides/_rels/notesSlide9.xml.rels>&#65279;<?xml version="1.0" encoding="utf-8"?><Relationships xmlns="http://schemas.openxmlformats.org/package/2006/relationships"><Relationship Type="http://schemas.openxmlformats.org/officeDocument/2006/relationships/slide" Target="/ppt/slides/slide9.xml" Id="Rbc50e20731684204" /><Relationship Type="http://schemas.openxmlformats.org/officeDocument/2006/relationships/notesMaster" Target="/ppt/notesMasters/notesMaster1.xml" Id="R5fa597ad6547422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27df2f11b224475" /><Relationship Type="http://schemas.openxmlformats.org/officeDocument/2006/relationships/notesMaster" Target="/ppt/notesMasters/notesMaster1.xml" Id="Rfacd1716b6de455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9caca1a82a3447f" /><Relationship Type="http://schemas.openxmlformats.org/officeDocument/2006/relationships/notesMaster" Target="/ppt/notesMasters/notesMaster1.xml" Id="R11648f899c13424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15fe5fbedf84a72" /><Relationship Type="http://schemas.openxmlformats.org/officeDocument/2006/relationships/notesMaster" Target="/ppt/notesMasters/notesMaster1.xml" Id="Rd592ce32cbbe45d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010d25c296f4e8d" /><Relationship Type="http://schemas.openxmlformats.org/officeDocument/2006/relationships/notesMaster" Target="/ppt/notesMasters/notesMaster1.xml" Id="Red50a8785bb04d2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07f7ecebcb44dbd" /><Relationship Type="http://schemas.openxmlformats.org/officeDocument/2006/relationships/notesMaster" Target="/ppt/notesMasters/notesMaster1.xml" Id="Rb0625fc28292413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647f09bcffa45d5" /><Relationship Type="http://schemas.openxmlformats.org/officeDocument/2006/relationships/notesMaster" Target="/ppt/notesMasters/notesMaster1.xml" Id="R740b3224038e4d4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Chemotherapy Safety, Module 6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 BMHI IVT 030 course content. Cover media: Pexels photo by Roman Muntean, https://www.pexels.com/photo/medical-professionals-wearing-personal-protective-equipment-14513020/,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Explain major treatment concepts and common adverse effects Next, Describe safe handling and exposure precautions Next, Recognize extravasation and other urgent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Role and limits. First, Cancer therapy may use multiple agents and routes. Next, LPN participation must stay within current Florida rules, direct-supervision requirements, validated competency, and institutional policy.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Patient assessment. First, Review the regimen, laboratory results, allergies, access device, premedications, hydration, current symptoms, and emergency plan. Next, Verify the protocol and independent checks required for high-alert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Exposure prevention. First, Use chemotherapy-rated PPE and closed or secure connections according to policy. Next, Keep required spill materials available. Next, Dispose of contaminated supplies and bodily waste using hazardous-drug procedures.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Extravasation. First, Pain, burning, swelling, resistance, leakage, or loss of blood return can signal extravasation. Next, Stop the drug, leave access in place when the agent-specific protocol requires aspiration or antidote, notify the qualified clinician, and follow the exact drug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Chemotherapy goals and treatment cycles. First, Chemotherapy may cure disease, control progression, reduce tumor burden, or relieve symptoms depending on the treatment plan. Next, Regimens use specific drugs, routes, doses, schedules, and rest periods. Next, The current cycle, day, body-size calculation, laboratory criteria, organ function, and dose modifications must match the protocol. Next, Prior tolerance does not replace verification for the current treatment.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Source: 30 Hour IV Certification Study Guide, revised March 2013, PDF page 56.</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Common adverse-effect patterns. First, Bone marrow: Neutropenia, anemia, thrombocytopenia; Infection, fatigue, bleeding, laboratory thresholds Next, Gastrointestinal: Nausea, vomiting, diarrhea, mucositis; Hydration, nutrition, oral care, medication response Next, Skin and hair: Alopecia, rash, photosensitivity, tissue injury; Protection, education, assessment Next, Organ-specific: Renal, hepatic, cardiac, pulmonary, neurologic, reproductive; Protocol-specific laboratory and symptom monitoring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Source: 30 Hour IV Certification Study Guide, revised March 2013, PDF pages 56-57.</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Hazardous-drug spill and exposure response. First, Stop the activity and restrict the area when a spill or leak occurs. Next, Use the designated chemotherapy spill kit and required PPE. Next, Follow the facility sequence for containment, cleanup, waste disposal, exposure washing or irrigation, and reporting. Next, Obtain medical evaluation after an occupational exposure and document the event according to policy.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Source: 30 Hour IV Certification Study Guide, revised March 2013, PDF pages 56-57. Current hazardous-drug policy controls.</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Chemotherapy is a high-alert workflow. First, Confirm the protocol, current cycle and day, dose basis, laboratory criteria, premedications, route, and access device. Next, Use every required independent check and never assume a prior cycle makes the current order correct. Next, Participate only within legal scope, validated competency, and direct-supervision requirements.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Hazardous-drug exposure routes. First, Skin or eye contact: Chemotherapy-rated gloves, gown, face and eye protection as indicated Next, Inhalation: Avoid aerosol generation and use required engineering controls Next, Sharps injury: Use safety devices and never recap Next, Contaminated waste or body fluids: Follow hazardous-waste and excreta precautions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Extravasation warning signs. First, Pain, burning, stinging, swelling, blanching, redness, leakage, resistance, or absent blood return may signal extravasation. Next, Stop the infusion immediately; do not flush. Next, Leave the catheter in place when the agent-specific protocol calls for aspiration or antidote. Next, Notify the qualified clinician and follow the exact drug-specific protocol for aspiration, antidote, compress, elevation, documentation, and follow-up.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Systemic findings that require escalation. First, Airway symptoms, hypotension, severe dyspnea, or rapidly worsening reaction. Next, Fever or infection symptoms in an immunocompromised patient. Next, Unexpected bleeding, severe vomiting or diarrhea, altered mental status, or critical laboratory results. Next, Assess, stop or hold therapy as authorized, and activate the emergency pathway.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Identify findings that require an immediate stop Next, Select PPE for preparation, administration, and spill response Next, Rehearse the facility extravasation algorithm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Explain major treatment concepts and common adverse effects Next, Review the regimen, laboratory results, allergies, access device, premedications, hydration, current symptoms, and emergency plan. Verify the protocol and independent checks required for high-alert therapy. Next, Pain, burning, swelling, resistance, leakage, or loss of blood return can signal extravasation. Stop the drug, leave access in place when the agent-specific protocol requires aspiration or antidote, notify the qualified clinician, and follow the exact drug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f3286e28b0c443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4e2731a1a4c43a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5beeadea8054af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a7144bdfa4b45b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3bb3225d8cb4d4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f54712434fc45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A2987D5-5A2E-426E-BAA6-C229F843D4E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459A74E-5C47-4C96-BC82-BAF7A8C2A64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68AF0B-174F-489B-BD7F-5DF016881C4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36B8B5-E0F3-4671-A60A-24E9CEAF32C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93FD1DC-8368-4210-8B33-41EADE9292E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4B450A0-8D27-4C63-89F9-ABC92ED4979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6794972-121B-4E79-B0C1-B2E6010340D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3204A7B-4E50-4A03-9D9F-2FE17DF9DC4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5457FC-DB83-4FE5-9153-38144F87313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51E253-49E4-4B15-A01B-3150D81F20D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0bb7233af724353" /><Relationship Type="http://schemas.openxmlformats.org/officeDocument/2006/relationships/slideLayout" Target="/ppt/slideLayouts/slideLayout1.xml" Id="R7c6bea0c5a46421c" /><Relationship Type="http://schemas.openxmlformats.org/officeDocument/2006/relationships/slideLayout" Target="/ppt/slideLayouts/slideLayout2.xml" Id="R05ef6de2414745e4" /><Relationship Type="http://schemas.openxmlformats.org/officeDocument/2006/relationships/slideLayout" Target="/ppt/slideLayouts/slideLayout3.xml" Id="Raf26af4ec1f04900" /><Relationship Type="http://schemas.openxmlformats.org/officeDocument/2006/relationships/slideLayout" Target="/ppt/slideLayouts/slideLayout4.xml" Id="R257d18666a9640e7" /><Relationship Type="http://schemas.openxmlformats.org/officeDocument/2006/relationships/slideLayout" Target="/ppt/slideLayouts/slideLayout5.xml" Id="R423f28fa3cd74831" /><Relationship Type="http://schemas.openxmlformats.org/officeDocument/2006/relationships/slideLayout" Target="/ppt/slideLayouts/slideLayout6.xml" Id="Re9ba78ad3f534a8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c6bea0c5a46421c"/>
    <p:sldLayoutId xmlns:r="http://schemas.openxmlformats.org/officeDocument/2006/relationships" id="2147483650" r:id="R05ef6de2414745e4"/>
    <p:sldLayoutId xmlns:r="http://schemas.openxmlformats.org/officeDocument/2006/relationships" id="2147483651" r:id="Raf26af4ec1f04900"/>
    <p:sldLayoutId xmlns:r="http://schemas.openxmlformats.org/officeDocument/2006/relationships" id="2147483652" r:id="R257d18666a9640e7"/>
    <p:sldLayoutId xmlns:r="http://schemas.openxmlformats.org/officeDocument/2006/relationships" id="2147483653" r:id="R423f28fa3cd74831"/>
    <p:sldLayoutId xmlns:r="http://schemas.openxmlformats.org/officeDocument/2006/relationships" id="2147483654" r:id="Re9ba78ad3f534a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353402c313c4650" /><Relationship Type="http://schemas.openxmlformats.org/officeDocument/2006/relationships/image" Target="/ppt/media/image.jpeg" Id="R9e0758131e6741c4" /><Relationship Type="http://schemas.openxmlformats.org/officeDocument/2006/relationships/notesSlide" Target="/ppt/notesSlides/notesSlide1.xml" Id="R1d3521b7052d470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02bac662c79402a" /><Relationship Type="http://schemas.openxmlformats.org/officeDocument/2006/relationships/notesSlide" Target="/ppt/notesSlides/notesSlide2.xml" Id="R8a4ac5584f87464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021729c8e7b44f9" /><Relationship Type="http://schemas.openxmlformats.org/officeDocument/2006/relationships/notesSlide" Target="/ppt/notesSlides/notesSlide3.xml" Id="Rf215589d0a674a9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6616340140044fd" /><Relationship Type="http://schemas.openxmlformats.org/officeDocument/2006/relationships/notesSlide" Target="/ppt/notesSlides/notesSlide4.xml" Id="Ra4084273140a4a6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c72940ce17e420d" /><Relationship Type="http://schemas.openxmlformats.org/officeDocument/2006/relationships/notesSlide" Target="/ppt/notesSlides/notesSlide5.xml" Id="R167a14db14a744a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f44e124b0134d9a" /><Relationship Type="http://schemas.openxmlformats.org/officeDocument/2006/relationships/notesSlide" Target="/ppt/notesSlides/notesSlide6.xml" Id="R890ccc1e888241d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a55d485d6b24d01" /><Relationship Type="http://schemas.openxmlformats.org/officeDocument/2006/relationships/notesSlide" Target="/ppt/notesSlides/notesSlide7.xml" Id="Ra989b9e8813a4f0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fbc20f8aa66499c" /><Relationship Type="http://schemas.openxmlformats.org/officeDocument/2006/relationships/notesSlide" Target="/ppt/notesSlides/notesSlide8.xml" Id="Rba01113494d7441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d8f9ad49d184150" /><Relationship Type="http://schemas.openxmlformats.org/officeDocument/2006/relationships/notesSlide" Target="/ppt/notesSlides/notesSlide9.xml" Id="Rfbab0b026f73410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d2414834b604efd" /><Relationship Type="http://schemas.openxmlformats.org/officeDocument/2006/relationships/notesSlide" Target="/ppt/notesSlides/notesSlide10.xml" Id="Ra462eab38dc141a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d76825049544752" /><Relationship Type="http://schemas.openxmlformats.org/officeDocument/2006/relationships/notesSlide" Target="/ppt/notesSlides/notesSlide11.xml" Id="Rf9770dcb43cf4e4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117adf9c4854a6b" /><Relationship Type="http://schemas.openxmlformats.org/officeDocument/2006/relationships/notesSlide" Target="/ppt/notesSlides/notesSlide12.xml" Id="Re33d250fc52b42a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6041e5a852f426a" /><Relationship Type="http://schemas.openxmlformats.org/officeDocument/2006/relationships/notesSlide" Target="/ppt/notesSlides/notesSlide13.xml" Id="Rd21a0ca28b04471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5d078029ae44962" /><Relationship Type="http://schemas.openxmlformats.org/officeDocument/2006/relationships/notesSlide" Target="/ppt/notesSlides/notesSlide14.xml" Id="R5b7a2baba1fa4c4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27f5eb1419048ce" /><Relationship Type="http://schemas.openxmlformats.org/officeDocument/2006/relationships/notesSlide" Target="/ppt/notesSlides/notesSlide15.xml" Id="R32e6213141a34f80"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C314B0D1-B32A-4026-9380-D127965DB033}"/>
              </a:ext>
            </a:extLst>
          </p:cNvPr>
          <p:cNvPicPr>
            <a:picLocks xmlns:a="http://schemas.openxmlformats.org/drawingml/2006/main" noChangeAspect="1"/>
          </p:cNvPicPr>
          <p:nvPr/>
        </p:nvPicPr>
        <p:blipFill>
          <a:blip xmlns:r="http://schemas.openxmlformats.org/officeDocument/2006/relationships" xmlns:a="http://schemas.openxmlformats.org/drawingml/2006/main" r:embed="R9e0758131e6741c4"/>
          <a:srcRect xmlns:a="http://schemas.openxmlformats.org/drawingml/2006/main" l="2189" t="0" r="2189"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652CACF-CE50-4D0D-90B9-3FA31C3A0D1D}"/>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6E9061EB-63B5-4B61-9B5F-0F6581198268}"/>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4DDEA218-9243-4D4E-8ED6-900DD27CC8AB}"/>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3240CC14-F2A2-4684-B264-DEC253A9D6F7}"/>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Chemotherapy Safety</a:t>
            </a:r>
          </a:p>
        </p:txBody>
      </p:sp>
      <p:sp>
        <p:nvSpPr>
          <p:cNvPr id="6" name="">
            <a:extLst xmlns:a="http://schemas.openxmlformats.org/drawingml/2006/main">
              <a:ext uri="{FF2B5EF4-FFF2-40B4-BE49-F238E27FC236}">
                <a16:creationId xmlns:a16="http://schemas.microsoft.com/office/drawing/2014/main" id="{59D5F9CC-77D2-45AF-A4BF-C6395C7E671D}"/>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6  |  30-Hour Basic Intravenous Therapy</a:t>
            </a:r>
          </a:p>
        </p:txBody>
      </p:sp>
      <p:sp>
        <p:nvSpPr>
          <p:cNvPr id="7" name="">
            <a:extLst xmlns:a="http://schemas.openxmlformats.org/drawingml/2006/main">
              <a:ext uri="{FF2B5EF4-FFF2-40B4-BE49-F238E27FC236}">
                <a16:creationId xmlns:a16="http://schemas.microsoft.com/office/drawing/2014/main" id="{255FBB06-5A42-475A-BD4E-7199FFA7D0AC}"/>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1896889695"/>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2AA5A63-105E-499A-A1E3-324CF536B7A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25DDB88-303E-4E13-9DA0-65A1EF8061C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7449AD14-941E-4D75-B5D9-FE5283D1C42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25A6CB38-C1CB-489A-8FD1-62A8085C6A4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BACF6C36-CB6A-4856-A0AD-ACB34A575274}"/>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major treatment concepts and common adverse effects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Describe safe handling and exposure precautions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extravasation and other urgent complications</a:t>
            </a:r>
          </a:p>
        </p:txBody>
      </p:sp>
    </p:spTree>
    <p:extLst>
      <p:ext uri="{BB962C8B-B14F-4D97-AF65-F5344CB8AC3E}">
        <p14:creationId xmlns:p14="http://schemas.microsoft.com/office/powerpoint/2010/main" val="545583461"/>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F99A395-9751-4318-80AD-C8E90BB4FAD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FDAF071-28AC-4EE9-B1B3-90FA3D58BF6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Role and limits</a:t>
            </a:r>
          </a:p>
        </p:txBody>
      </p:sp>
      <p:sp>
        <p:nvSpPr>
          <p:cNvPr id="3" name="">
            <a:extLst xmlns:a="http://schemas.openxmlformats.org/drawingml/2006/main">
              <a:ext uri="{FF2B5EF4-FFF2-40B4-BE49-F238E27FC236}">
                <a16:creationId xmlns:a16="http://schemas.microsoft.com/office/drawing/2014/main" id="{8FE01335-6E3B-4236-8B64-DB2D32EC5D8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AED7EDED-FDA2-4E0D-A8DD-0F09A464AE7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1E714229-5489-4D9D-81DB-93DCAC2320F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Cancer therapy may use multiple agents and routes.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LPN participation must stay within current Florida rules, direct-supervision requirements, validated competency, and institutional policy.</a:t>
            </a:r>
          </a:p>
        </p:txBody>
      </p:sp>
      <p:sp>
        <p:nvSpPr>
          <p:cNvPr id="6" name="">
            <a:extLst xmlns:a="http://schemas.openxmlformats.org/drawingml/2006/main">
              <a:ext uri="{FF2B5EF4-FFF2-40B4-BE49-F238E27FC236}">
                <a16:creationId xmlns:a16="http://schemas.microsoft.com/office/drawing/2014/main" id="{B043BAB6-6282-43AD-95B7-7C1BF796702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11838028"/>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CD0FB05-C48E-4E96-A0B5-7A1F611171D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73164AF-EDB1-4E5E-98DC-014220E5DBF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assessment</a:t>
            </a:r>
          </a:p>
        </p:txBody>
      </p:sp>
      <p:sp>
        <p:nvSpPr>
          <p:cNvPr id="3" name="">
            <a:extLst xmlns:a="http://schemas.openxmlformats.org/drawingml/2006/main">
              <a:ext uri="{FF2B5EF4-FFF2-40B4-BE49-F238E27FC236}">
                <a16:creationId xmlns:a16="http://schemas.microsoft.com/office/drawing/2014/main" id="{EDCB0253-311A-4F9E-9B77-776248C2CE0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73A64264-8799-4410-9BD4-FEC0CA34D4D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80A3E146-9DE7-49B5-9A49-BCB06BED5FE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Review the regimen, laboratory results, allergies, access device, premedications, hydration, current symptoms, and emergency plan.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the protocol and independent checks required for high-alert therapy.</a:t>
            </a:r>
          </a:p>
        </p:txBody>
      </p:sp>
      <p:sp>
        <p:nvSpPr>
          <p:cNvPr id="6" name="">
            <a:extLst xmlns:a="http://schemas.openxmlformats.org/drawingml/2006/main">
              <a:ext uri="{FF2B5EF4-FFF2-40B4-BE49-F238E27FC236}">
                <a16:creationId xmlns:a16="http://schemas.microsoft.com/office/drawing/2014/main" id="{52DE8091-4696-41AC-8F42-0F2EAA942B0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498303125"/>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AF34D2C-BFB6-491E-96E8-67B3E9FAC74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E79BE1B-B1A0-487B-81C0-51741FF30D3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Exposure prevention</a:t>
            </a:r>
          </a:p>
        </p:txBody>
      </p:sp>
      <p:sp>
        <p:nvSpPr>
          <p:cNvPr id="3" name="">
            <a:extLst xmlns:a="http://schemas.openxmlformats.org/drawingml/2006/main">
              <a:ext uri="{FF2B5EF4-FFF2-40B4-BE49-F238E27FC236}">
                <a16:creationId xmlns:a16="http://schemas.microsoft.com/office/drawing/2014/main" id="{F339D129-5FDA-454E-BA10-B45209DE114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53DB5AC9-C0B4-4A73-B839-4EFB1DEED21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D164F15E-E494-4413-A58D-C77733A64EE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chemotherapy-rated PPE and closed or secure connections according to policy.</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Keep required spill materials available.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Dispose of contaminated supplies and bodily waste using hazardous-drug procedures.</a:t>
            </a:r>
          </a:p>
        </p:txBody>
      </p:sp>
      <p:sp>
        <p:nvSpPr>
          <p:cNvPr id="6" name="">
            <a:extLst xmlns:a="http://schemas.openxmlformats.org/drawingml/2006/main">
              <a:ext uri="{FF2B5EF4-FFF2-40B4-BE49-F238E27FC236}">
                <a16:creationId xmlns:a16="http://schemas.microsoft.com/office/drawing/2014/main" id="{157B1FDC-B96D-48AC-8D4A-74010713E69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1649095"/>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F591799-5BCC-4AAE-A5C4-7D824BE196E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24E81A2-DBCE-4B10-B18C-1F9E018400C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Extravasation</a:t>
            </a:r>
          </a:p>
        </p:txBody>
      </p:sp>
      <p:sp>
        <p:nvSpPr>
          <p:cNvPr id="3" name="">
            <a:extLst xmlns:a="http://schemas.openxmlformats.org/drawingml/2006/main">
              <a:ext uri="{FF2B5EF4-FFF2-40B4-BE49-F238E27FC236}">
                <a16:creationId xmlns:a16="http://schemas.microsoft.com/office/drawing/2014/main" id="{BACFE02F-3E9F-45E0-9FF7-C2F3028414B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29C2ADE0-1F1B-4516-83F9-AC11E31E94C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A92B218B-DF6C-4535-91E4-9699624C13E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Pain, burning, swelling, resistance, leakage, or loss of blood return can signal extravasation.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the drug, leave access in place when the agent-specific protocol requires aspiration or antidote, notify the qualified clinician, and follow the exact drug protocol.</a:t>
            </a:r>
          </a:p>
        </p:txBody>
      </p:sp>
      <p:sp>
        <p:nvSpPr>
          <p:cNvPr id="6" name="">
            <a:extLst xmlns:a="http://schemas.openxmlformats.org/drawingml/2006/main">
              <a:ext uri="{FF2B5EF4-FFF2-40B4-BE49-F238E27FC236}">
                <a16:creationId xmlns:a16="http://schemas.microsoft.com/office/drawing/2014/main" id="{A7A0F708-90D3-4A7A-824C-33FCAAB0F85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60882026"/>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1E85A7B-48BD-45B0-A923-A941A9CAEC8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69BF2D7-C61C-409D-BD00-F1B340C5670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goals and treatment cycles</a:t>
            </a:r>
          </a:p>
        </p:txBody>
      </p:sp>
      <p:sp>
        <p:nvSpPr>
          <p:cNvPr id="3" name="">
            <a:extLst xmlns:a="http://schemas.openxmlformats.org/drawingml/2006/main">
              <a:ext uri="{FF2B5EF4-FFF2-40B4-BE49-F238E27FC236}">
                <a16:creationId xmlns:a16="http://schemas.microsoft.com/office/drawing/2014/main" id="{85876085-0148-4903-9564-33B0FC58D25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87D313F9-7E33-4834-B8D6-6314E81DAC8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C7E18CB1-44AA-4380-9BAE-F67301F40A8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Chemotherapy may cure disease, control progression, reduce tumor burden, or relieve symptoms depending on the treatment plan.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Regimens use specific drugs, routes, doses, schedules, and rest periods.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current cycle, day, body-size calculation, laboratory criteria, organ function, and dose modifications must match the protocol.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Prior tolerance does not replace verification for the current treatment.</a:t>
            </a:r>
          </a:p>
        </p:txBody>
      </p:sp>
      <p:sp>
        <p:nvSpPr>
          <p:cNvPr id="6" name="">
            <a:extLst xmlns:a="http://schemas.openxmlformats.org/drawingml/2006/main">
              <a:ext uri="{FF2B5EF4-FFF2-40B4-BE49-F238E27FC236}">
                <a16:creationId xmlns:a16="http://schemas.microsoft.com/office/drawing/2014/main" id="{DEA1DB21-9FC0-4A9A-99E5-2A3EB618B98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947064865"/>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F58F9FC8-C9DA-4D1A-B92C-0B00CB6F017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E52BE98-3DF2-4E0C-A6A0-CFB0191AE81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Common adverse-effect patterns</a:t>
            </a:r>
          </a:p>
        </p:txBody>
      </p:sp>
      <p:sp>
        <p:nvSpPr>
          <p:cNvPr id="3" name="">
            <a:extLst xmlns:a="http://schemas.openxmlformats.org/drawingml/2006/main">
              <a:ext uri="{FF2B5EF4-FFF2-40B4-BE49-F238E27FC236}">
                <a16:creationId xmlns:a16="http://schemas.microsoft.com/office/drawing/2014/main" id="{B8E1DBFE-9D41-4B8B-AC75-15AD1BDA97E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5A0457B8-66E3-4FC0-B5A1-9B86AF95E86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080FD4B7-E190-4B93-85FD-CC4B21415143}"/>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F4CDAF17-9D4B-4588-B78A-997BB54BE8EB}"/>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System</a:t>
            </a:r>
          </a:p>
        </p:txBody>
      </p:sp>
      <p:sp>
        <p:nvSpPr>
          <p:cNvPr id="7" name="">
            <a:extLst xmlns:a="http://schemas.openxmlformats.org/drawingml/2006/main">
              <a:ext uri="{FF2B5EF4-FFF2-40B4-BE49-F238E27FC236}">
                <a16:creationId xmlns:a16="http://schemas.microsoft.com/office/drawing/2014/main" id="{2175C9F0-16E5-46B8-9A2C-129FED40A18A}"/>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E4CD6CEE-ACC2-457C-B287-24BDB60076E9}"/>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Possible effects</a:t>
            </a:r>
          </a:p>
        </p:txBody>
      </p:sp>
      <p:sp>
        <p:nvSpPr>
          <p:cNvPr id="9" name="">
            <a:extLst xmlns:a="http://schemas.openxmlformats.org/drawingml/2006/main">
              <a:ext uri="{FF2B5EF4-FFF2-40B4-BE49-F238E27FC236}">
                <a16:creationId xmlns:a16="http://schemas.microsoft.com/office/drawing/2014/main" id="{0774108E-3471-44E8-A74A-3204229426CB}"/>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19EB7F17-BB6C-4292-A975-23AE95D90839}"/>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Nursing focus</a:t>
            </a:r>
          </a:p>
        </p:txBody>
      </p:sp>
      <p:sp>
        <p:nvSpPr>
          <p:cNvPr id="11" name="">
            <a:extLst xmlns:a="http://schemas.openxmlformats.org/drawingml/2006/main">
              <a:ext uri="{FF2B5EF4-FFF2-40B4-BE49-F238E27FC236}">
                <a16:creationId xmlns:a16="http://schemas.microsoft.com/office/drawing/2014/main" id="{06255023-4D35-499F-A64D-195D500E32B9}"/>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67925CC1-07BB-46F7-8AB5-38949373E101}"/>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Bone marrow</a:t>
            </a:r>
          </a:p>
        </p:txBody>
      </p:sp>
      <p:sp>
        <p:nvSpPr>
          <p:cNvPr id="13" name="">
            <a:extLst xmlns:a="http://schemas.openxmlformats.org/drawingml/2006/main">
              <a:ext uri="{FF2B5EF4-FFF2-40B4-BE49-F238E27FC236}">
                <a16:creationId xmlns:a16="http://schemas.microsoft.com/office/drawing/2014/main" id="{90BBD558-9153-4069-8FD5-8B7D383D1E2D}"/>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4C9CA6B4-8787-40BC-9D4D-B4D5BACEDD61}"/>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Neutropenia, anemia, thrombocytopenia</a:t>
            </a:r>
          </a:p>
        </p:txBody>
      </p:sp>
      <p:sp>
        <p:nvSpPr>
          <p:cNvPr id="15" name="">
            <a:extLst xmlns:a="http://schemas.openxmlformats.org/drawingml/2006/main">
              <a:ext uri="{FF2B5EF4-FFF2-40B4-BE49-F238E27FC236}">
                <a16:creationId xmlns:a16="http://schemas.microsoft.com/office/drawing/2014/main" id="{4C60C569-2311-40AB-A08C-0195F382D278}"/>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4F402A24-6244-4D8C-915F-6CC2D96AE50F}"/>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Infection, fatigue, bleeding, laboratory thresholds</a:t>
            </a:r>
          </a:p>
        </p:txBody>
      </p:sp>
      <p:sp>
        <p:nvSpPr>
          <p:cNvPr id="17" name="">
            <a:extLst xmlns:a="http://schemas.openxmlformats.org/drawingml/2006/main">
              <a:ext uri="{FF2B5EF4-FFF2-40B4-BE49-F238E27FC236}">
                <a16:creationId xmlns:a16="http://schemas.microsoft.com/office/drawing/2014/main" id="{82B73AE7-807B-4731-AEF9-0B786478774D}"/>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3D9DD906-D31F-40B3-9B63-C3FD23F8267D}"/>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Gastrointestinal</a:t>
            </a:r>
          </a:p>
        </p:txBody>
      </p:sp>
      <p:sp>
        <p:nvSpPr>
          <p:cNvPr id="19" name="">
            <a:extLst xmlns:a="http://schemas.openxmlformats.org/drawingml/2006/main">
              <a:ext uri="{FF2B5EF4-FFF2-40B4-BE49-F238E27FC236}">
                <a16:creationId xmlns:a16="http://schemas.microsoft.com/office/drawing/2014/main" id="{BC1D5DB8-5BA6-4A79-868B-D4982E1FFF93}"/>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8D7BDEA8-EE35-4008-9863-A1D83BA59D4C}"/>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Nausea, vomiting, diarrhea, mucositis</a:t>
            </a:r>
          </a:p>
        </p:txBody>
      </p:sp>
      <p:sp>
        <p:nvSpPr>
          <p:cNvPr id="21" name="">
            <a:extLst xmlns:a="http://schemas.openxmlformats.org/drawingml/2006/main">
              <a:ext uri="{FF2B5EF4-FFF2-40B4-BE49-F238E27FC236}">
                <a16:creationId xmlns:a16="http://schemas.microsoft.com/office/drawing/2014/main" id="{B8791C06-BE06-49B4-82B8-5FB0B93C48CC}"/>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43466858-B266-4634-8F7E-13BDAD6BF3BF}"/>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Hydration, nutrition, oral care, medication response</a:t>
            </a:r>
          </a:p>
        </p:txBody>
      </p:sp>
      <p:sp>
        <p:nvSpPr>
          <p:cNvPr id="23" name="">
            <a:extLst xmlns:a="http://schemas.openxmlformats.org/drawingml/2006/main">
              <a:ext uri="{FF2B5EF4-FFF2-40B4-BE49-F238E27FC236}">
                <a16:creationId xmlns:a16="http://schemas.microsoft.com/office/drawing/2014/main" id="{D6365AC6-ECE5-44E9-83AF-9CA26326BD55}"/>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8B44301E-52C4-4D19-893C-34EEDE917DB5}"/>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Skin and hair</a:t>
            </a:r>
          </a:p>
        </p:txBody>
      </p:sp>
      <p:sp>
        <p:nvSpPr>
          <p:cNvPr id="25" name="">
            <a:extLst xmlns:a="http://schemas.openxmlformats.org/drawingml/2006/main">
              <a:ext uri="{FF2B5EF4-FFF2-40B4-BE49-F238E27FC236}">
                <a16:creationId xmlns:a16="http://schemas.microsoft.com/office/drawing/2014/main" id="{09EDAFF6-AF65-4C70-ABC5-74365569D140}"/>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10CC1F3D-6F87-4709-A268-C2AF1CC04E32}"/>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Alopecia, rash, photosensitivity, tissue injury</a:t>
            </a:r>
          </a:p>
        </p:txBody>
      </p:sp>
      <p:sp>
        <p:nvSpPr>
          <p:cNvPr id="27" name="">
            <a:extLst xmlns:a="http://schemas.openxmlformats.org/drawingml/2006/main">
              <a:ext uri="{FF2B5EF4-FFF2-40B4-BE49-F238E27FC236}">
                <a16:creationId xmlns:a16="http://schemas.microsoft.com/office/drawing/2014/main" id="{04EC3AAD-FBBA-4DC9-89C5-0ED579D6A4A3}"/>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E88D297F-B29A-41B3-BC9D-B161A3239943}"/>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Protection, education, assessment</a:t>
            </a:r>
          </a:p>
        </p:txBody>
      </p:sp>
      <p:sp>
        <p:nvSpPr>
          <p:cNvPr id="29" name="">
            <a:extLst xmlns:a="http://schemas.openxmlformats.org/drawingml/2006/main">
              <a:ext uri="{FF2B5EF4-FFF2-40B4-BE49-F238E27FC236}">
                <a16:creationId xmlns:a16="http://schemas.microsoft.com/office/drawing/2014/main" id="{D3CC4331-9E8B-4B4F-A975-EA7224E815FD}"/>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180B8718-FFCF-4F57-A777-77939AA7A739}"/>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Organ-specific</a:t>
            </a:r>
          </a:p>
        </p:txBody>
      </p:sp>
      <p:sp>
        <p:nvSpPr>
          <p:cNvPr id="31" name="">
            <a:extLst xmlns:a="http://schemas.openxmlformats.org/drawingml/2006/main">
              <a:ext uri="{FF2B5EF4-FFF2-40B4-BE49-F238E27FC236}">
                <a16:creationId xmlns:a16="http://schemas.microsoft.com/office/drawing/2014/main" id="{48106FA6-86B9-49A9-AA26-862C05D49957}"/>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7FE289B7-98DE-46D2-9998-D77102070911}"/>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Renal, hepatic, cardiac, pulmonary, neurologic, reproductive</a:t>
            </a:r>
          </a:p>
        </p:txBody>
      </p:sp>
      <p:sp>
        <p:nvSpPr>
          <p:cNvPr id="33" name="">
            <a:extLst xmlns:a="http://schemas.openxmlformats.org/drawingml/2006/main">
              <a:ext uri="{FF2B5EF4-FFF2-40B4-BE49-F238E27FC236}">
                <a16:creationId xmlns:a16="http://schemas.microsoft.com/office/drawing/2014/main" id="{63213D80-EAA9-430A-AC3F-D7ED1D3F609C}"/>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37FD10EF-231D-401E-ABD8-591B46FFB562}"/>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Protocol-specific laboratory and symptom monitoring</a:t>
            </a:r>
          </a:p>
        </p:txBody>
      </p:sp>
    </p:spTree>
    <p:extLst>
      <p:ext uri="{BB962C8B-B14F-4D97-AF65-F5344CB8AC3E}">
        <p14:creationId xmlns:p14="http://schemas.microsoft.com/office/powerpoint/2010/main" val="1928881110"/>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17FFC69-8F7D-4E30-B130-36C9680D13E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AA7F94E-A2E2-443C-986D-2651908FC0E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Hazardous-drug spill and exposure response</a:t>
            </a:r>
          </a:p>
        </p:txBody>
      </p:sp>
      <p:sp>
        <p:nvSpPr>
          <p:cNvPr id="3" name="">
            <a:extLst xmlns:a="http://schemas.openxmlformats.org/drawingml/2006/main">
              <a:ext uri="{FF2B5EF4-FFF2-40B4-BE49-F238E27FC236}">
                <a16:creationId xmlns:a16="http://schemas.microsoft.com/office/drawing/2014/main" id="{1CC30AE3-249A-4E60-8EFB-118E9D63DD0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2C35F2BE-09EC-497C-9601-BFB291747FA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E4552487-C686-47A3-9072-56B0ABD0C7E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the activity and restrict the area when a spill or leak occurs.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Use the designated chemotherapy spill kit and required PPE.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Follow the facility sequence for containment, cleanup, waste disposal, exposure washing or irrigation, and reporting.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Obtain medical evaluation after an occupational exposure and document the event according to policy.</a:t>
            </a:r>
          </a:p>
        </p:txBody>
      </p:sp>
      <p:sp>
        <p:nvSpPr>
          <p:cNvPr id="6" name="">
            <a:extLst xmlns:a="http://schemas.openxmlformats.org/drawingml/2006/main">
              <a:ext uri="{FF2B5EF4-FFF2-40B4-BE49-F238E27FC236}">
                <a16:creationId xmlns:a16="http://schemas.microsoft.com/office/drawing/2014/main" id="{63817BF7-C2A7-4330-8324-950666AD510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28701891"/>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C6277AF-0EFD-49ED-83A6-CF49719E783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F4B1877-1FBF-476A-B590-793165A5FA4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is a high-alert workflow</a:t>
            </a:r>
          </a:p>
        </p:txBody>
      </p:sp>
      <p:sp>
        <p:nvSpPr>
          <p:cNvPr id="3" name="">
            <a:extLst xmlns:a="http://schemas.openxmlformats.org/drawingml/2006/main">
              <a:ext uri="{FF2B5EF4-FFF2-40B4-BE49-F238E27FC236}">
                <a16:creationId xmlns:a16="http://schemas.microsoft.com/office/drawing/2014/main" id="{D7C09CBB-F063-4FD9-8FCC-6E1730C7B6E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8470097E-CF4C-4BE2-A8CF-79C45BA5B6B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BFB055BF-AC83-4BFB-8736-E896FC47666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Confirm the protocol, current cycle and day, dose basis, laboratory criteria, premedications, route, and access device.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every required independent check and never assume a prior cycle makes the current order correct.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Participate only within legal scope, validated competency, and direct-supervision requirements.</a:t>
            </a:r>
          </a:p>
        </p:txBody>
      </p:sp>
      <p:sp>
        <p:nvSpPr>
          <p:cNvPr id="6" name="">
            <a:extLst xmlns:a="http://schemas.openxmlformats.org/drawingml/2006/main">
              <a:ext uri="{FF2B5EF4-FFF2-40B4-BE49-F238E27FC236}">
                <a16:creationId xmlns:a16="http://schemas.microsoft.com/office/drawing/2014/main" id="{797E4A5C-5F6B-45B8-876C-0A52816FE63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422809985"/>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D6BE17EC-1F74-4178-82CB-B44FE32FD4F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61A5FC5-9B5E-4293-8AF4-0E078D25874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Hazardous-drug exposure routes</a:t>
            </a:r>
          </a:p>
        </p:txBody>
      </p:sp>
      <p:sp>
        <p:nvSpPr>
          <p:cNvPr id="3" name="">
            <a:extLst xmlns:a="http://schemas.openxmlformats.org/drawingml/2006/main">
              <a:ext uri="{FF2B5EF4-FFF2-40B4-BE49-F238E27FC236}">
                <a16:creationId xmlns:a16="http://schemas.microsoft.com/office/drawing/2014/main" id="{279D6AE9-5411-49B4-BCFC-C00F00EDC52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B0E6C17F-7C7F-48C9-A499-45C36DD9D86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2650E53C-E630-498B-BEED-24C13AD30AB3}"/>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C8116252-8A66-4B81-99BB-EB8EA1D4BB64}"/>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Route</a:t>
            </a:r>
          </a:p>
        </p:txBody>
      </p:sp>
      <p:sp>
        <p:nvSpPr>
          <p:cNvPr id="7" name="">
            <a:extLst xmlns:a="http://schemas.openxmlformats.org/drawingml/2006/main">
              <a:ext uri="{FF2B5EF4-FFF2-40B4-BE49-F238E27FC236}">
                <a16:creationId xmlns:a16="http://schemas.microsoft.com/office/drawing/2014/main" id="{21844445-3B51-4AA4-BADB-A6DD0DF3B023}"/>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6FFE464E-CB8B-4970-8C4E-87095A0298F5}"/>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Prevention</a:t>
            </a:r>
          </a:p>
        </p:txBody>
      </p:sp>
      <p:sp>
        <p:nvSpPr>
          <p:cNvPr id="9" name="">
            <a:extLst xmlns:a="http://schemas.openxmlformats.org/drawingml/2006/main">
              <a:ext uri="{FF2B5EF4-FFF2-40B4-BE49-F238E27FC236}">
                <a16:creationId xmlns:a16="http://schemas.microsoft.com/office/drawing/2014/main" id="{A085F89D-195D-410B-81D3-E08A031C1EEE}"/>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DA2836AD-481F-47DC-895A-02E78747016A}"/>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Skin or eye contact</a:t>
            </a:r>
          </a:p>
        </p:txBody>
      </p:sp>
      <p:sp>
        <p:nvSpPr>
          <p:cNvPr id="11" name="">
            <a:extLst xmlns:a="http://schemas.openxmlformats.org/drawingml/2006/main">
              <a:ext uri="{FF2B5EF4-FFF2-40B4-BE49-F238E27FC236}">
                <a16:creationId xmlns:a16="http://schemas.microsoft.com/office/drawing/2014/main" id="{23C6CDB8-1BCB-4528-8D81-E72264F45FC5}"/>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61AD1D8C-7605-4F6C-9D13-B5B8B4D534A7}"/>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Chemotherapy-rated gloves, gown, face and eye protection as indicated</a:t>
            </a:r>
          </a:p>
        </p:txBody>
      </p:sp>
      <p:sp>
        <p:nvSpPr>
          <p:cNvPr id="13" name="">
            <a:extLst xmlns:a="http://schemas.openxmlformats.org/drawingml/2006/main">
              <a:ext uri="{FF2B5EF4-FFF2-40B4-BE49-F238E27FC236}">
                <a16:creationId xmlns:a16="http://schemas.microsoft.com/office/drawing/2014/main" id="{136B9F36-B1D4-48C4-8F42-ED5D60A707FC}"/>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87FA3D6D-168E-4D86-8BBD-0CFC50926123}"/>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Inhalation</a:t>
            </a:r>
          </a:p>
        </p:txBody>
      </p:sp>
      <p:sp>
        <p:nvSpPr>
          <p:cNvPr id="15" name="">
            <a:extLst xmlns:a="http://schemas.openxmlformats.org/drawingml/2006/main">
              <a:ext uri="{FF2B5EF4-FFF2-40B4-BE49-F238E27FC236}">
                <a16:creationId xmlns:a16="http://schemas.microsoft.com/office/drawing/2014/main" id="{704D90A7-363E-4F5D-B109-0355989351EC}"/>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7E0B1E73-4357-4EAE-8D1E-49B28A67A3D3}"/>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Avoid aerosol generation and use required engineering controls</a:t>
            </a:r>
          </a:p>
        </p:txBody>
      </p:sp>
      <p:sp>
        <p:nvSpPr>
          <p:cNvPr id="17" name="">
            <a:extLst xmlns:a="http://schemas.openxmlformats.org/drawingml/2006/main">
              <a:ext uri="{FF2B5EF4-FFF2-40B4-BE49-F238E27FC236}">
                <a16:creationId xmlns:a16="http://schemas.microsoft.com/office/drawing/2014/main" id="{C398ECD2-B355-4D7F-97F6-388DF94420E2}"/>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E4B3B257-AC3F-4120-AF65-566F9FDB63E7}"/>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Sharps injury</a:t>
            </a:r>
          </a:p>
        </p:txBody>
      </p:sp>
      <p:sp>
        <p:nvSpPr>
          <p:cNvPr id="19" name="">
            <a:extLst xmlns:a="http://schemas.openxmlformats.org/drawingml/2006/main">
              <a:ext uri="{FF2B5EF4-FFF2-40B4-BE49-F238E27FC236}">
                <a16:creationId xmlns:a16="http://schemas.microsoft.com/office/drawing/2014/main" id="{F19CFCE7-F8DC-4CFE-AF6E-7C30BFC62486}"/>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792FF5AA-EF95-465C-AAB9-A1CA94ED7B47}"/>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safety devices and never recap</a:t>
            </a:r>
          </a:p>
        </p:txBody>
      </p:sp>
      <p:sp>
        <p:nvSpPr>
          <p:cNvPr id="21" name="">
            <a:extLst xmlns:a="http://schemas.openxmlformats.org/drawingml/2006/main">
              <a:ext uri="{FF2B5EF4-FFF2-40B4-BE49-F238E27FC236}">
                <a16:creationId xmlns:a16="http://schemas.microsoft.com/office/drawing/2014/main" id="{BD3CEBF0-37F5-4090-A774-F5C85D17CD58}"/>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90824DA0-9733-4F71-BBE5-9EA537D85C95}"/>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Contaminated waste or body fluids</a:t>
            </a:r>
          </a:p>
        </p:txBody>
      </p:sp>
      <p:sp>
        <p:nvSpPr>
          <p:cNvPr id="23" name="">
            <a:extLst xmlns:a="http://schemas.openxmlformats.org/drawingml/2006/main">
              <a:ext uri="{FF2B5EF4-FFF2-40B4-BE49-F238E27FC236}">
                <a16:creationId xmlns:a16="http://schemas.microsoft.com/office/drawing/2014/main" id="{A2A728BF-7EA1-4B3A-8572-DFB792F554C7}"/>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EF27468F-771C-4084-A753-57FF963D5871}"/>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Follow hazardous-waste and excreta precautions</a:t>
            </a:r>
          </a:p>
        </p:txBody>
      </p:sp>
    </p:spTree>
    <p:extLst>
      <p:ext uri="{BB962C8B-B14F-4D97-AF65-F5344CB8AC3E}">
        <p14:creationId xmlns:p14="http://schemas.microsoft.com/office/powerpoint/2010/main" val="1403737027"/>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107E553-171A-4932-9199-06D7E90E158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9F1CFE4-497A-4F4F-A751-C60CA8513FF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Extravasation warning signs</a:t>
            </a:r>
          </a:p>
        </p:txBody>
      </p:sp>
      <p:sp>
        <p:nvSpPr>
          <p:cNvPr id="3" name="">
            <a:extLst xmlns:a="http://schemas.openxmlformats.org/drawingml/2006/main">
              <a:ext uri="{FF2B5EF4-FFF2-40B4-BE49-F238E27FC236}">
                <a16:creationId xmlns:a16="http://schemas.microsoft.com/office/drawing/2014/main" id="{9125A897-24B7-4141-BDAC-00739A3C553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6A6AE740-9A9D-4285-BD40-A5AE447053D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B10768CE-A042-4C77-A4A7-EC73761E77E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Pain, burning, stinging, swelling, blanching, redness, leakage, resistance, or absent blood return may signal extravasation.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the infusion immediately; do not flush.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Leave the catheter in place when the agent-specific protocol calls for aspiration or antidote.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Notify the qualified clinician and follow the exact drug-specific protocol for aspiration, antidote, compress, elevation, documentation, and follow-up.</a:t>
            </a:r>
          </a:p>
        </p:txBody>
      </p:sp>
      <p:sp>
        <p:nvSpPr>
          <p:cNvPr id="6" name="">
            <a:extLst xmlns:a="http://schemas.openxmlformats.org/drawingml/2006/main">
              <a:ext uri="{FF2B5EF4-FFF2-40B4-BE49-F238E27FC236}">
                <a16:creationId xmlns:a16="http://schemas.microsoft.com/office/drawing/2014/main" id="{804BDE5E-62BA-4024-A376-49A3BB2D477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23765776"/>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58A0F3C-91E6-4A24-A7A9-D4EBD6284CC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80458E4-53AF-410A-BA69-DFDB2665AD5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Systemic findings that require escalation</a:t>
            </a:r>
          </a:p>
        </p:txBody>
      </p:sp>
      <p:sp>
        <p:nvSpPr>
          <p:cNvPr id="3" name="">
            <a:extLst xmlns:a="http://schemas.openxmlformats.org/drawingml/2006/main">
              <a:ext uri="{FF2B5EF4-FFF2-40B4-BE49-F238E27FC236}">
                <a16:creationId xmlns:a16="http://schemas.microsoft.com/office/drawing/2014/main" id="{9DEBF6CC-7D4B-4AE9-8AFE-13771971642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772A5A3A-68F7-4E38-AEBB-A8F4D8812B2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0D3C89A8-2CD7-4BA2-99E0-40BE7FA3C18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Airway symptoms, hypotension, severe dyspnea, or rapidly worsening reaction.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Fever or infection symptoms in an immunocompromised patient.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Unexpected bleeding, severe vomiting or diarrhea, altered mental status, or critical laboratory results.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stop or hold therapy as authorized, and activate the emergency pathway.</a:t>
            </a:r>
          </a:p>
        </p:txBody>
      </p:sp>
      <p:sp>
        <p:nvSpPr>
          <p:cNvPr id="6" name="">
            <a:extLst xmlns:a="http://schemas.openxmlformats.org/drawingml/2006/main">
              <a:ext uri="{FF2B5EF4-FFF2-40B4-BE49-F238E27FC236}">
                <a16:creationId xmlns:a16="http://schemas.microsoft.com/office/drawing/2014/main" id="{DB5C4666-3F2A-4E3E-9775-56CE2934E32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741516780"/>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D195D60-D775-4C46-9974-95E94C8E242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69654CB-A1F6-4C37-88EE-9D7D9701888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05BA08E7-0D46-426C-8D37-29102E81874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ACCB9C3E-7035-480F-B881-30E56218F5A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EBBA04F0-AE30-4BE3-98F8-89675F6D7584}"/>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Identify findings that require an immediate stop</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Select PPE for preparation, administration, and spill response</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Rehearse the facility extravasation algorithm</a:t>
            </a:r>
          </a:p>
        </p:txBody>
      </p:sp>
      <p:sp>
        <p:nvSpPr>
          <p:cNvPr id="6" name="">
            <a:extLst xmlns:a="http://schemas.openxmlformats.org/drawingml/2006/main">
              <a:ext uri="{FF2B5EF4-FFF2-40B4-BE49-F238E27FC236}">
                <a16:creationId xmlns:a16="http://schemas.microsoft.com/office/drawing/2014/main" id="{7717B3DA-784F-4237-8BB1-570572CE92D9}"/>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1084846794"/>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5EB7551-56B2-4D02-81E8-B22FA48CF50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8F6CCF7-FD41-4576-B673-54D79B6E414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2DB68C64-EBD7-40C3-A163-97148FE056D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FB4C4E9F-B5EA-4BC0-8B8E-E4FF150E962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530D3665-DF2C-4BED-8820-1B96B073A8C8}"/>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major treatment concepts and common adverse effects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Review the regimen, laboratory results, allergies, access device, premedications, hydration, current symptoms, and emergency plan. Verify the protocol and independent checks required for high-alert therapy.</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Pain, burning, swelling, resistance, leakage, or loss of blood return can signal extravasation. Stop the drug, leave access in place when the agent-specific protocol requires aspiration or antidote, notify the qualified clinician, and follow the exact drug protocol.</a:t>
            </a:r>
          </a:p>
        </p:txBody>
      </p:sp>
      <p:sp>
        <p:nvSpPr>
          <p:cNvPr id="6" name="">
            <a:extLst xmlns:a="http://schemas.openxmlformats.org/drawingml/2006/main">
              <a:ext uri="{FF2B5EF4-FFF2-40B4-BE49-F238E27FC236}">
                <a16:creationId xmlns:a16="http://schemas.microsoft.com/office/drawing/2014/main" id="{DB65338D-0D85-48C8-851E-D76B3A2DD91C}"/>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4371785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2026-10-23T09:51:08.4090000Z</dcterms:created>
  <dcterms:modified xsi:type="dcterms:W3CDTF">2026-10-23T09:51:08.4090000Z</dcterms:modified>
</coreProperties>
</file>