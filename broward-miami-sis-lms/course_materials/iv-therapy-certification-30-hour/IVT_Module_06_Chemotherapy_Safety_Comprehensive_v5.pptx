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f109cdf94a44f5" /><Relationship Type="http://schemas.openxmlformats.org/officeDocument/2006/relationships/extended-properties" Target="/docProps/app.xml" Id="Rbc38790e87fa47cf" /><Relationship Type="http://schemas.openxmlformats.org/officeDocument/2006/relationships/officeDocument" Target="/ppt/presentation.xml" Id="R7fac5a35dd7d415e" /></Relationships>
</file>

<file path=ppt/presentation.xml><?xml version="1.0" encoding="utf-8"?>
<p:presentation xmlns:p="http://schemas.openxmlformats.org/presentationml/2006/main">
  <p:sldMasterIdLst>
    <p:sldMasterId xmlns:r="http://schemas.openxmlformats.org/officeDocument/2006/relationships" id="2147483648" r:id="R765d83eccf9346c6"/>
  </p:sldMasterIdLst>
  <p:notesMasterIdLst>
    <p:notesMasterId xmlns:r="http://schemas.openxmlformats.org/officeDocument/2006/relationships" r:id="Rb34909c3edf2422d"/>
  </p:notesMasterIdLst>
  <p:sldIdLst>
    <p:sldId xmlns:r="http://schemas.openxmlformats.org/officeDocument/2006/relationships" id="256" r:id="R4ce46837eb674bf2"/>
    <p:sldId xmlns:r="http://schemas.openxmlformats.org/officeDocument/2006/relationships" id="257" r:id="Rf6d45ec0f8e04987"/>
    <p:sldId xmlns:r="http://schemas.openxmlformats.org/officeDocument/2006/relationships" id="258" r:id="R682e526a465c4e7d"/>
    <p:sldId xmlns:r="http://schemas.openxmlformats.org/officeDocument/2006/relationships" id="259" r:id="R90714399d8af4708"/>
    <p:sldId xmlns:r="http://schemas.openxmlformats.org/officeDocument/2006/relationships" id="260" r:id="Rc9e5b8720d10481e"/>
    <p:sldId xmlns:r="http://schemas.openxmlformats.org/officeDocument/2006/relationships" id="261" r:id="R09ea6ca46f2c4a90"/>
    <p:sldId xmlns:r="http://schemas.openxmlformats.org/officeDocument/2006/relationships" id="262" r:id="R9eddd3a9927c4bbe"/>
    <p:sldId xmlns:r="http://schemas.openxmlformats.org/officeDocument/2006/relationships" id="263" r:id="Redc955bd815f4f5d"/>
    <p:sldId xmlns:r="http://schemas.openxmlformats.org/officeDocument/2006/relationships" id="264" r:id="R634bcd304281427b"/>
    <p:sldId xmlns:r="http://schemas.openxmlformats.org/officeDocument/2006/relationships" id="265" r:id="Rf649cf2764dd4460"/>
    <p:sldId xmlns:r="http://schemas.openxmlformats.org/officeDocument/2006/relationships" id="266" r:id="R65369dfaf36d4148"/>
    <p:sldId xmlns:r="http://schemas.openxmlformats.org/officeDocument/2006/relationships" id="267" r:id="R136aecdcf4ce4ad1"/>
    <p:sldId xmlns:r="http://schemas.openxmlformats.org/officeDocument/2006/relationships" id="268" r:id="Rb2d61bf63ca24997"/>
    <p:sldId xmlns:r="http://schemas.openxmlformats.org/officeDocument/2006/relationships" id="269" r:id="Rf439d31288384817"/>
    <p:sldId xmlns:r="http://schemas.openxmlformats.org/officeDocument/2006/relationships" id="270" r:id="R5bf1d4a174854491"/>
    <p:sldId xmlns:r="http://schemas.openxmlformats.org/officeDocument/2006/relationships" id="271" r:id="Rfca11f3875a34d0d"/>
    <p:sldId xmlns:r="http://schemas.openxmlformats.org/officeDocument/2006/relationships" id="272" r:id="Rc426efd8a9a24c7e"/>
    <p:sldId xmlns:r="http://schemas.openxmlformats.org/officeDocument/2006/relationships" id="273" r:id="Ra52c9c38c2d0468c"/>
    <p:sldId xmlns:r="http://schemas.openxmlformats.org/officeDocument/2006/relationships" id="274" r:id="Rb6e3194eb06248bf"/>
    <p:sldId xmlns:r="http://schemas.openxmlformats.org/officeDocument/2006/relationships" id="275" r:id="R8d61d9fe45974422"/>
    <p:sldId xmlns:r="http://schemas.openxmlformats.org/officeDocument/2006/relationships" id="276" r:id="Rd86ae8a9ddbc4899"/>
    <p:sldId xmlns:r="http://schemas.openxmlformats.org/officeDocument/2006/relationships" id="277" r:id="R6bf5940e70af4348"/>
    <p:sldId xmlns:r="http://schemas.openxmlformats.org/officeDocument/2006/relationships" id="278" r:id="Rc38c117303984238"/>
    <p:sldId xmlns:r="http://schemas.openxmlformats.org/officeDocument/2006/relationships" id="279" r:id="R4f51e308dbc74bc8"/>
    <p:sldId xmlns:r="http://schemas.openxmlformats.org/officeDocument/2006/relationships" id="280" r:id="Rbbc53ccf6e054eab"/>
    <p:sldId xmlns:r="http://schemas.openxmlformats.org/officeDocument/2006/relationships" id="281" r:id="Rc69ba3c98268482e"/>
    <p:sldId xmlns:r="http://schemas.openxmlformats.org/officeDocument/2006/relationships" id="282" r:id="R3723fea498aa4df4"/>
    <p:sldId xmlns:r="http://schemas.openxmlformats.org/officeDocument/2006/relationships" id="283" r:id="R127645e238674d2d"/>
    <p:sldId xmlns:r="http://schemas.openxmlformats.org/officeDocument/2006/relationships" id="284" r:id="R16c5025a9daa48a2"/>
    <p:sldId xmlns:r="http://schemas.openxmlformats.org/officeDocument/2006/relationships" id="285" r:id="R01be998979b240b7"/>
    <p:sldId xmlns:r="http://schemas.openxmlformats.org/officeDocument/2006/relationships" id="286" r:id="R8b50b9689e60474b"/>
    <p:sldId xmlns:r="http://schemas.openxmlformats.org/officeDocument/2006/relationships" id="287" r:id="R34dcc75f341c487b"/>
    <p:sldId xmlns:r="http://schemas.openxmlformats.org/officeDocument/2006/relationships" id="288" r:id="R5c42aa52a80d4874"/>
    <p:sldId xmlns:r="http://schemas.openxmlformats.org/officeDocument/2006/relationships" id="289" r:id="R40b02868915442ea"/>
    <p:sldId xmlns:r="http://schemas.openxmlformats.org/officeDocument/2006/relationships" id="290" r:id="Rf46694a29cf34e8f"/>
    <p:sldId xmlns:r="http://schemas.openxmlformats.org/officeDocument/2006/relationships" id="291" r:id="R58842f0310e64969"/>
    <p:sldId xmlns:r="http://schemas.openxmlformats.org/officeDocument/2006/relationships" id="292" r:id="Rffc29ce6576d49d9"/>
    <p:sldId xmlns:r="http://schemas.openxmlformats.org/officeDocument/2006/relationships" id="293" r:id="Rc922458367944f99"/>
    <p:sldId xmlns:r="http://schemas.openxmlformats.org/officeDocument/2006/relationships" id="294" r:id="R763bf451221d4dfd"/>
    <p:sldId xmlns:r="http://schemas.openxmlformats.org/officeDocument/2006/relationships" id="295" r:id="Re736615ca6a942a6"/>
    <p:sldId xmlns:r="http://schemas.openxmlformats.org/officeDocument/2006/relationships" id="296" r:id="Rd857012e939a454f"/>
    <p:sldId xmlns:r="http://schemas.openxmlformats.org/officeDocument/2006/relationships" id="297" r:id="Rfa4b27ea78874ebd"/>
    <p:sldId xmlns:r="http://schemas.openxmlformats.org/officeDocument/2006/relationships" id="298" r:id="R1aaaed269eeb43c5"/>
    <p:sldId xmlns:r="http://schemas.openxmlformats.org/officeDocument/2006/relationships" id="299" r:id="R7a5cf4fa74aa4f4d"/>
    <p:sldId xmlns:r="http://schemas.openxmlformats.org/officeDocument/2006/relationships" id="300" r:id="R1a75c6be5d3f4947"/>
    <p:sldId xmlns:r="http://schemas.openxmlformats.org/officeDocument/2006/relationships" id="301" r:id="R3f018991716c4837"/>
    <p:sldId xmlns:r="http://schemas.openxmlformats.org/officeDocument/2006/relationships" id="302" r:id="R0f51821307804532"/>
    <p:sldId xmlns:r="http://schemas.openxmlformats.org/officeDocument/2006/relationships" id="303" r:id="Rb1708ba7c6054807"/>
    <p:sldId xmlns:r="http://schemas.openxmlformats.org/officeDocument/2006/relationships" id="304" r:id="R7e7309dd736a4411"/>
    <p:sldId xmlns:r="http://schemas.openxmlformats.org/officeDocument/2006/relationships" id="305" r:id="Re548f560910846e7"/>
    <p:sldId xmlns:r="http://schemas.openxmlformats.org/officeDocument/2006/relationships" id="306" r:id="Rf055dab86dad490b"/>
    <p:sldId xmlns:r="http://schemas.openxmlformats.org/officeDocument/2006/relationships" id="307" r:id="Rd1cdc818fe864cab"/>
    <p:sldId xmlns:r="http://schemas.openxmlformats.org/officeDocument/2006/relationships" id="308" r:id="R87b13306ba03430a"/>
    <p:sldId xmlns:r="http://schemas.openxmlformats.org/officeDocument/2006/relationships" id="309" r:id="R7ded5b8ba60b4794"/>
    <p:sldId xmlns:r="http://schemas.openxmlformats.org/officeDocument/2006/relationships" id="310" r:id="R0c9cd51870ba41f5"/>
    <p:sldId xmlns:r="http://schemas.openxmlformats.org/officeDocument/2006/relationships" id="311" r:id="Rc7a8b2c1693b427d"/>
    <p:sldId xmlns:r="http://schemas.openxmlformats.org/officeDocument/2006/relationships" id="312" r:id="R0a16aa8841f04ea8"/>
    <p:sldId xmlns:r="http://schemas.openxmlformats.org/officeDocument/2006/relationships" id="313" r:id="Rb31ce3c4d5b14e45"/>
    <p:sldId xmlns:r="http://schemas.openxmlformats.org/officeDocument/2006/relationships" id="314" r:id="Rf8f46d17ce084ad6"/>
    <p:sldId xmlns:r="http://schemas.openxmlformats.org/officeDocument/2006/relationships" id="315" r:id="R932f9e758b464de0"/>
    <p:sldId xmlns:r="http://schemas.openxmlformats.org/officeDocument/2006/relationships" id="316" r:id="R17f3d47ccdb0497b"/>
    <p:sldId xmlns:r="http://schemas.openxmlformats.org/officeDocument/2006/relationships" id="317" r:id="R068a15a0d8ca4fdb"/>
    <p:sldId xmlns:r="http://schemas.openxmlformats.org/officeDocument/2006/relationships" id="318" r:id="Rb704a36f2b004e7f"/>
    <p:sldId xmlns:r="http://schemas.openxmlformats.org/officeDocument/2006/relationships" id="319" r:id="R482d2adc8fa04e6e"/>
    <p:sldId xmlns:r="http://schemas.openxmlformats.org/officeDocument/2006/relationships" id="320" r:id="Rd9535a0335114e24"/>
    <p:sldId xmlns:r="http://schemas.openxmlformats.org/officeDocument/2006/relationships" id="321" r:id="R97290bdeab9b4d1b"/>
    <p:sldId xmlns:r="http://schemas.openxmlformats.org/officeDocument/2006/relationships" id="322" r:id="Ra647857e1b8b47f5"/>
    <p:sldId xmlns:r="http://schemas.openxmlformats.org/officeDocument/2006/relationships" id="323" r:id="R495e68130f804740"/>
    <p:sldId xmlns:r="http://schemas.openxmlformats.org/officeDocument/2006/relationships" id="324" r:id="R297371e3528e4997"/>
    <p:sldId xmlns:r="http://schemas.openxmlformats.org/officeDocument/2006/relationships" id="325" r:id="Rce894663b92243fa"/>
    <p:sldId xmlns:r="http://schemas.openxmlformats.org/officeDocument/2006/relationships" id="326" r:id="R2eb08a4185524f93"/>
    <p:sldId xmlns:r="http://schemas.openxmlformats.org/officeDocument/2006/relationships" id="327" r:id="R2b757f184766439f"/>
    <p:sldId xmlns:r="http://schemas.openxmlformats.org/officeDocument/2006/relationships" id="328" r:id="R566fb2821a944300"/>
    <p:sldId xmlns:r="http://schemas.openxmlformats.org/officeDocument/2006/relationships" id="329" r:id="R94bd7e0dbb3e4371"/>
    <p:sldId xmlns:r="http://schemas.openxmlformats.org/officeDocument/2006/relationships" id="330" r:id="R4cd51f456b9c4d45"/>
    <p:sldId xmlns:r="http://schemas.openxmlformats.org/officeDocument/2006/relationships" id="331" r:id="R097a98fd7c534a7f"/>
    <p:sldId xmlns:r="http://schemas.openxmlformats.org/officeDocument/2006/relationships" id="332" r:id="R9f7d9c2c050740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e0920cbf244343" /><Relationship Type="http://schemas.openxmlformats.org/officeDocument/2006/relationships/slideMaster" Target="/ppt/slideMasters/slideMaster1.xml" Id="R765d83eccf9346c6" /><Relationship Type="http://schemas.openxmlformats.org/officeDocument/2006/relationships/notesMaster" Target="/ppt/notesMasters/notesMaster1.xml" Id="Rb34909c3edf2422d" /><Relationship Type="http://schemas.openxmlformats.org/officeDocument/2006/relationships/presProps" Target="/ppt/presProps.xml" Id="R4c4bee843a08420a" /><Relationship Type="http://schemas.openxmlformats.org/officeDocument/2006/relationships/tableStyles" Target="/ppt/tableStyles.xml" Id="R93d2f2a052a54ab1" /><Relationship Type="http://schemas.openxmlformats.org/officeDocument/2006/relationships/slide" Target="/ppt/slides/slide1.xml" Id="R4ce46837eb674bf2" /><Relationship Type="http://schemas.openxmlformats.org/officeDocument/2006/relationships/slide" Target="/ppt/slides/slide2.xml" Id="Rf6d45ec0f8e04987" /><Relationship Type="http://schemas.openxmlformats.org/officeDocument/2006/relationships/slide" Target="/ppt/slides/slide3.xml" Id="R682e526a465c4e7d" /><Relationship Type="http://schemas.openxmlformats.org/officeDocument/2006/relationships/slide" Target="/ppt/slides/slide4.xml" Id="R90714399d8af4708" /><Relationship Type="http://schemas.openxmlformats.org/officeDocument/2006/relationships/slide" Target="/ppt/slides/slide5.xml" Id="Rc9e5b8720d10481e" /><Relationship Type="http://schemas.openxmlformats.org/officeDocument/2006/relationships/slide" Target="/ppt/slides/slide6.xml" Id="R09ea6ca46f2c4a90" /><Relationship Type="http://schemas.openxmlformats.org/officeDocument/2006/relationships/slide" Target="/ppt/slides/slide7.xml" Id="R9eddd3a9927c4bbe" /><Relationship Type="http://schemas.openxmlformats.org/officeDocument/2006/relationships/slide" Target="/ppt/slides/slide8.xml" Id="Redc955bd815f4f5d" /><Relationship Type="http://schemas.openxmlformats.org/officeDocument/2006/relationships/slide" Target="/ppt/slides/slide9.xml" Id="R634bcd304281427b" /><Relationship Type="http://schemas.openxmlformats.org/officeDocument/2006/relationships/slide" Target="/ppt/slides/slide10.xml" Id="Rf649cf2764dd4460" /><Relationship Type="http://schemas.openxmlformats.org/officeDocument/2006/relationships/slide" Target="/ppt/slides/slide11.xml" Id="R65369dfaf36d4148" /><Relationship Type="http://schemas.openxmlformats.org/officeDocument/2006/relationships/slide" Target="/ppt/slides/slide12.xml" Id="R136aecdcf4ce4ad1" /><Relationship Type="http://schemas.openxmlformats.org/officeDocument/2006/relationships/slide" Target="/ppt/slides/slide13.xml" Id="Rb2d61bf63ca24997" /><Relationship Type="http://schemas.openxmlformats.org/officeDocument/2006/relationships/slide" Target="/ppt/slides/slide14.xml" Id="Rf439d31288384817" /><Relationship Type="http://schemas.openxmlformats.org/officeDocument/2006/relationships/slide" Target="/ppt/slides/slide15.xml" Id="R5bf1d4a174854491" /><Relationship Type="http://schemas.openxmlformats.org/officeDocument/2006/relationships/slide" Target="/ppt/slides/slide16.xml" Id="Rfca11f3875a34d0d" /><Relationship Type="http://schemas.openxmlformats.org/officeDocument/2006/relationships/slide" Target="/ppt/slides/slide17.xml" Id="Rc426efd8a9a24c7e" /><Relationship Type="http://schemas.openxmlformats.org/officeDocument/2006/relationships/slide" Target="/ppt/slides/slide18.xml" Id="Ra52c9c38c2d0468c" /><Relationship Type="http://schemas.openxmlformats.org/officeDocument/2006/relationships/slide" Target="/ppt/slides/slide19.xml" Id="Rb6e3194eb06248bf" /><Relationship Type="http://schemas.openxmlformats.org/officeDocument/2006/relationships/slide" Target="/ppt/slides/slide20.xml" Id="R8d61d9fe45974422" /><Relationship Type="http://schemas.openxmlformats.org/officeDocument/2006/relationships/slide" Target="/ppt/slides/slide21.xml" Id="Rd86ae8a9ddbc4899" /><Relationship Type="http://schemas.openxmlformats.org/officeDocument/2006/relationships/slide" Target="/ppt/slides/slide22.xml" Id="R6bf5940e70af4348" /><Relationship Type="http://schemas.openxmlformats.org/officeDocument/2006/relationships/slide" Target="/ppt/slides/slide23.xml" Id="Rc38c117303984238" /><Relationship Type="http://schemas.openxmlformats.org/officeDocument/2006/relationships/slide" Target="/ppt/slides/slide24.xml" Id="R4f51e308dbc74bc8" /><Relationship Type="http://schemas.openxmlformats.org/officeDocument/2006/relationships/slide" Target="/ppt/slides/slide25.xml" Id="Rbbc53ccf6e054eab" /><Relationship Type="http://schemas.openxmlformats.org/officeDocument/2006/relationships/slide" Target="/ppt/slides/slide26.xml" Id="Rc69ba3c98268482e" /><Relationship Type="http://schemas.openxmlformats.org/officeDocument/2006/relationships/slide" Target="/ppt/slides/slide27.xml" Id="R3723fea498aa4df4" /><Relationship Type="http://schemas.openxmlformats.org/officeDocument/2006/relationships/slide" Target="/ppt/slides/slide28.xml" Id="R127645e238674d2d" /><Relationship Type="http://schemas.openxmlformats.org/officeDocument/2006/relationships/slide" Target="/ppt/slides/slide29.xml" Id="R16c5025a9daa48a2" /><Relationship Type="http://schemas.openxmlformats.org/officeDocument/2006/relationships/slide" Target="/ppt/slides/slide30.xml" Id="R01be998979b240b7" /><Relationship Type="http://schemas.openxmlformats.org/officeDocument/2006/relationships/slide" Target="/ppt/slides/slide31.xml" Id="R8b50b9689e60474b" /><Relationship Type="http://schemas.openxmlformats.org/officeDocument/2006/relationships/slide" Target="/ppt/slides/slide32.xml" Id="R34dcc75f341c487b" /><Relationship Type="http://schemas.openxmlformats.org/officeDocument/2006/relationships/slide" Target="/ppt/slides/slide33.xml" Id="R5c42aa52a80d4874" /><Relationship Type="http://schemas.openxmlformats.org/officeDocument/2006/relationships/slide" Target="/ppt/slides/slide34.xml" Id="R40b02868915442ea" /><Relationship Type="http://schemas.openxmlformats.org/officeDocument/2006/relationships/slide" Target="/ppt/slides/slide35.xml" Id="Rf46694a29cf34e8f" /><Relationship Type="http://schemas.openxmlformats.org/officeDocument/2006/relationships/slide" Target="/ppt/slides/slide36.xml" Id="R58842f0310e64969" /><Relationship Type="http://schemas.openxmlformats.org/officeDocument/2006/relationships/slide" Target="/ppt/slides/slide37.xml" Id="Rffc29ce6576d49d9" /><Relationship Type="http://schemas.openxmlformats.org/officeDocument/2006/relationships/slide" Target="/ppt/slides/slide38.xml" Id="Rc922458367944f99" /><Relationship Type="http://schemas.openxmlformats.org/officeDocument/2006/relationships/slide" Target="/ppt/slides/slide39.xml" Id="R763bf451221d4dfd" /><Relationship Type="http://schemas.openxmlformats.org/officeDocument/2006/relationships/slide" Target="/ppt/slides/slide40.xml" Id="Re736615ca6a942a6" /><Relationship Type="http://schemas.openxmlformats.org/officeDocument/2006/relationships/slide" Target="/ppt/slides/slide41.xml" Id="Rd857012e939a454f" /><Relationship Type="http://schemas.openxmlformats.org/officeDocument/2006/relationships/slide" Target="/ppt/slides/slide42.xml" Id="Rfa4b27ea78874ebd" /><Relationship Type="http://schemas.openxmlformats.org/officeDocument/2006/relationships/slide" Target="/ppt/slides/slide43.xml" Id="R1aaaed269eeb43c5" /><Relationship Type="http://schemas.openxmlformats.org/officeDocument/2006/relationships/slide" Target="/ppt/slides/slide44.xml" Id="R7a5cf4fa74aa4f4d" /><Relationship Type="http://schemas.openxmlformats.org/officeDocument/2006/relationships/slide" Target="/ppt/slides/slide45.xml" Id="R1a75c6be5d3f4947" /><Relationship Type="http://schemas.openxmlformats.org/officeDocument/2006/relationships/slide" Target="/ppt/slides/slide46.xml" Id="R3f018991716c4837" /><Relationship Type="http://schemas.openxmlformats.org/officeDocument/2006/relationships/slide" Target="/ppt/slides/slide47.xml" Id="R0f51821307804532" /><Relationship Type="http://schemas.openxmlformats.org/officeDocument/2006/relationships/slide" Target="/ppt/slides/slide48.xml" Id="Rb1708ba7c6054807" /><Relationship Type="http://schemas.openxmlformats.org/officeDocument/2006/relationships/slide" Target="/ppt/slides/slide49.xml" Id="R7e7309dd736a4411" /><Relationship Type="http://schemas.openxmlformats.org/officeDocument/2006/relationships/slide" Target="/ppt/slides/slide50.xml" Id="Re548f560910846e7" /><Relationship Type="http://schemas.openxmlformats.org/officeDocument/2006/relationships/slide" Target="/ppt/slides/slide51.xml" Id="Rf055dab86dad490b" /><Relationship Type="http://schemas.openxmlformats.org/officeDocument/2006/relationships/slide" Target="/ppt/slides/slide52.xml" Id="Rd1cdc818fe864cab" /><Relationship Type="http://schemas.openxmlformats.org/officeDocument/2006/relationships/slide" Target="/ppt/slides/slide53.xml" Id="R87b13306ba03430a" /><Relationship Type="http://schemas.openxmlformats.org/officeDocument/2006/relationships/slide" Target="/ppt/slides/slide54.xml" Id="R7ded5b8ba60b4794" /><Relationship Type="http://schemas.openxmlformats.org/officeDocument/2006/relationships/slide" Target="/ppt/slides/slide55.xml" Id="R0c9cd51870ba41f5" /><Relationship Type="http://schemas.openxmlformats.org/officeDocument/2006/relationships/slide" Target="/ppt/slides/slide56.xml" Id="Rc7a8b2c1693b427d" /><Relationship Type="http://schemas.openxmlformats.org/officeDocument/2006/relationships/slide" Target="/ppt/slides/slide57.xml" Id="R0a16aa8841f04ea8" /><Relationship Type="http://schemas.openxmlformats.org/officeDocument/2006/relationships/slide" Target="/ppt/slides/slide58.xml" Id="Rb31ce3c4d5b14e45" /><Relationship Type="http://schemas.openxmlformats.org/officeDocument/2006/relationships/slide" Target="/ppt/slides/slide59.xml" Id="Rf8f46d17ce084ad6" /><Relationship Type="http://schemas.openxmlformats.org/officeDocument/2006/relationships/slide" Target="/ppt/slides/slide60.xml" Id="R932f9e758b464de0" /><Relationship Type="http://schemas.openxmlformats.org/officeDocument/2006/relationships/slide" Target="/ppt/slides/slide61.xml" Id="R17f3d47ccdb0497b" /><Relationship Type="http://schemas.openxmlformats.org/officeDocument/2006/relationships/slide" Target="/ppt/slides/slide62.xml" Id="R068a15a0d8ca4fdb" /><Relationship Type="http://schemas.openxmlformats.org/officeDocument/2006/relationships/slide" Target="/ppt/slides/slide63.xml" Id="Rb704a36f2b004e7f" /><Relationship Type="http://schemas.openxmlformats.org/officeDocument/2006/relationships/slide" Target="/ppt/slides/slide64.xml" Id="R482d2adc8fa04e6e" /><Relationship Type="http://schemas.openxmlformats.org/officeDocument/2006/relationships/slide" Target="/ppt/slides/slide65.xml" Id="Rd9535a0335114e24" /><Relationship Type="http://schemas.openxmlformats.org/officeDocument/2006/relationships/slide" Target="/ppt/slides/slide66.xml" Id="R97290bdeab9b4d1b" /><Relationship Type="http://schemas.openxmlformats.org/officeDocument/2006/relationships/slide" Target="/ppt/slides/slide67.xml" Id="Ra647857e1b8b47f5" /><Relationship Type="http://schemas.openxmlformats.org/officeDocument/2006/relationships/slide" Target="/ppt/slides/slide68.xml" Id="R495e68130f804740" /><Relationship Type="http://schemas.openxmlformats.org/officeDocument/2006/relationships/slide" Target="/ppt/slides/slide69.xml" Id="R297371e3528e4997" /><Relationship Type="http://schemas.openxmlformats.org/officeDocument/2006/relationships/slide" Target="/ppt/slides/slide70.xml" Id="Rce894663b92243fa" /><Relationship Type="http://schemas.openxmlformats.org/officeDocument/2006/relationships/slide" Target="/ppt/slides/slide71.xml" Id="R2eb08a4185524f93" /><Relationship Type="http://schemas.openxmlformats.org/officeDocument/2006/relationships/slide" Target="/ppt/slides/slide72.xml" Id="R2b757f184766439f" /><Relationship Type="http://schemas.openxmlformats.org/officeDocument/2006/relationships/slide" Target="/ppt/slides/slide73.xml" Id="R566fb2821a944300" /><Relationship Type="http://schemas.openxmlformats.org/officeDocument/2006/relationships/slide" Target="/ppt/slides/slide74.xml" Id="R94bd7e0dbb3e4371" /><Relationship Type="http://schemas.openxmlformats.org/officeDocument/2006/relationships/slide" Target="/ppt/slides/slide75.xml" Id="R4cd51f456b9c4d45" /><Relationship Type="http://schemas.openxmlformats.org/officeDocument/2006/relationships/slide" Target="/ppt/slides/slide76.xml" Id="R097a98fd7c534a7f" /><Relationship Type="http://schemas.openxmlformats.org/officeDocument/2006/relationships/slide" Target="/ppt/slides/slide77.xml" Id="R9f7d9c2c050740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34f4f48c9b4f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bc9be6479947ab" /><Relationship Type="http://schemas.openxmlformats.org/officeDocument/2006/relationships/notesMaster" Target="/ppt/notesMasters/notesMaster1.xml" Id="R71cd819bcd0c40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de01a642204bd5" /><Relationship Type="http://schemas.openxmlformats.org/officeDocument/2006/relationships/notesMaster" Target="/ppt/notesMasters/notesMaster1.xml" Id="Rc60372546bb84d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7d2228cec1416a" /><Relationship Type="http://schemas.openxmlformats.org/officeDocument/2006/relationships/notesMaster" Target="/ppt/notesMasters/notesMaster1.xml" Id="Rbb85e3a83e1144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cb22978fa4493d" /><Relationship Type="http://schemas.openxmlformats.org/officeDocument/2006/relationships/notesMaster" Target="/ppt/notesMasters/notesMaster1.xml" Id="R5d5ebeac6b5b4b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209004b5cc4fd1" /><Relationship Type="http://schemas.openxmlformats.org/officeDocument/2006/relationships/notesMaster" Target="/ppt/notesMasters/notesMaster1.xml" Id="Ra3e2fc53c3ac44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641386fd204cba" /><Relationship Type="http://schemas.openxmlformats.org/officeDocument/2006/relationships/notesMaster" Target="/ppt/notesMasters/notesMaster1.xml" Id="R769459ed3ce244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2ddbee1dd04804" /><Relationship Type="http://schemas.openxmlformats.org/officeDocument/2006/relationships/notesMaster" Target="/ppt/notesMasters/notesMaster1.xml" Id="R4970f4d72839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110a3754e54828" /><Relationship Type="http://schemas.openxmlformats.org/officeDocument/2006/relationships/notesMaster" Target="/ppt/notesMasters/notesMaster1.xml" Id="R82c6943fc3cb4c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e978b189d742c5" /><Relationship Type="http://schemas.openxmlformats.org/officeDocument/2006/relationships/notesMaster" Target="/ppt/notesMasters/notesMaster1.xml" Id="R57fe6a19505041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966179bfd14279" /><Relationship Type="http://schemas.openxmlformats.org/officeDocument/2006/relationships/notesMaster" Target="/ppt/notesMasters/notesMaster1.xml" Id="R02db56327b194c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a11efc95c148ac" /><Relationship Type="http://schemas.openxmlformats.org/officeDocument/2006/relationships/notesMaster" Target="/ppt/notesMasters/notesMaster1.xml" Id="R3e76b1a2d87647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22b3f3c8774ec7" /><Relationship Type="http://schemas.openxmlformats.org/officeDocument/2006/relationships/notesMaster" Target="/ppt/notesMasters/notesMaster1.xml" Id="R9b6a2b52092a48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72c4617ef148f1" /><Relationship Type="http://schemas.openxmlformats.org/officeDocument/2006/relationships/notesMaster" Target="/ppt/notesMasters/notesMaster1.xml" Id="R5793276dab394a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a876a56fc14af3" /><Relationship Type="http://schemas.openxmlformats.org/officeDocument/2006/relationships/notesMaster" Target="/ppt/notesMasters/notesMaster1.xml" Id="Rc619cb196dce46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c1aca85876478b" /><Relationship Type="http://schemas.openxmlformats.org/officeDocument/2006/relationships/notesMaster" Target="/ppt/notesMasters/notesMaster1.xml" Id="Re438f10992d845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8700ef18684c96" /><Relationship Type="http://schemas.openxmlformats.org/officeDocument/2006/relationships/notesMaster" Target="/ppt/notesMasters/notesMaster1.xml" Id="R320c3cea469546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a8cfe8c1824b65" /><Relationship Type="http://schemas.openxmlformats.org/officeDocument/2006/relationships/notesMaster" Target="/ppt/notesMasters/notesMaster1.xml" Id="R133062f54c8848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64a9be0b3e49ef" /><Relationship Type="http://schemas.openxmlformats.org/officeDocument/2006/relationships/notesMaster" Target="/ppt/notesMasters/notesMaster1.xml" Id="R3a0efaf9ffe944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78bb43418f4c23" /><Relationship Type="http://schemas.openxmlformats.org/officeDocument/2006/relationships/notesMaster" Target="/ppt/notesMasters/notesMaster1.xml" Id="R5bb7a121d68e4e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98e03bb96d4c60" /><Relationship Type="http://schemas.openxmlformats.org/officeDocument/2006/relationships/notesMaster" Target="/ppt/notesMasters/notesMaster1.xml" Id="Rcb4b6ee8da0744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f48a263d1a442b" /><Relationship Type="http://schemas.openxmlformats.org/officeDocument/2006/relationships/notesMaster" Target="/ppt/notesMasters/notesMaster1.xml" Id="R5db7e2bb783646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fc85dfa38e4eb7" /><Relationship Type="http://schemas.openxmlformats.org/officeDocument/2006/relationships/notesMaster" Target="/ppt/notesMasters/notesMaster1.xml" Id="Rb36dfacea31641a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bfcfccd1f3245f1" /><Relationship Type="http://schemas.openxmlformats.org/officeDocument/2006/relationships/notesMaster" Target="/ppt/notesMasters/notesMaster1.xml" Id="Redf1bd18d7be4d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07ed65e464c463a" /><Relationship Type="http://schemas.openxmlformats.org/officeDocument/2006/relationships/notesMaster" Target="/ppt/notesMasters/notesMaster1.xml" Id="R0a0a69ab4a1b47c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9947ba3d0e4df6" /><Relationship Type="http://schemas.openxmlformats.org/officeDocument/2006/relationships/notesMaster" Target="/ppt/notesMasters/notesMaster1.xml" Id="Rc423d8aae8f04cc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15739d9fed94902" /><Relationship Type="http://schemas.openxmlformats.org/officeDocument/2006/relationships/notesMaster" Target="/ppt/notesMasters/notesMaster1.xml" Id="R19a38befd40e4a0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399e30fbf5463f" /><Relationship Type="http://schemas.openxmlformats.org/officeDocument/2006/relationships/notesMaster" Target="/ppt/notesMasters/notesMaster1.xml" Id="R6db6698ae5194ca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56f4eca43d74157" /><Relationship Type="http://schemas.openxmlformats.org/officeDocument/2006/relationships/notesMaster" Target="/ppt/notesMasters/notesMaster1.xml" Id="Rfe9f8897974341b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a0f62c760e14a5e" /><Relationship Type="http://schemas.openxmlformats.org/officeDocument/2006/relationships/notesMaster" Target="/ppt/notesMasters/notesMaster1.xml" Id="R31706e618dce4fb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ac08c11b134aa5" /><Relationship Type="http://schemas.openxmlformats.org/officeDocument/2006/relationships/notesMaster" Target="/ppt/notesMasters/notesMaster1.xml" Id="R20153a3fed554df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2cb538b1e3f4383" /><Relationship Type="http://schemas.openxmlformats.org/officeDocument/2006/relationships/notesMaster" Target="/ppt/notesMasters/notesMaster1.xml" Id="Rb0f366cc255348b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682b66fcc294a11" /><Relationship Type="http://schemas.openxmlformats.org/officeDocument/2006/relationships/notesMaster" Target="/ppt/notesMasters/notesMaster1.xml" Id="R44efeed57f1641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b4ce6cf29584111" /><Relationship Type="http://schemas.openxmlformats.org/officeDocument/2006/relationships/notesMaster" Target="/ppt/notesMasters/notesMaster1.xml" Id="Rfd4d576f4ecc44f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f31e29c46e44e1f" /><Relationship Type="http://schemas.openxmlformats.org/officeDocument/2006/relationships/notesMaster" Target="/ppt/notesMasters/notesMaster1.xml" Id="Rcce5d76ed743416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e7c580da7e74dc0" /><Relationship Type="http://schemas.openxmlformats.org/officeDocument/2006/relationships/notesMaster" Target="/ppt/notesMasters/notesMaster1.xml" Id="Rd8698c6cca3d454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ebecf43c44b4343" /><Relationship Type="http://schemas.openxmlformats.org/officeDocument/2006/relationships/notesMaster" Target="/ppt/notesMasters/notesMaster1.xml" Id="R4ced5c898ac942e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aa129ffb244454f" /><Relationship Type="http://schemas.openxmlformats.org/officeDocument/2006/relationships/notesMaster" Target="/ppt/notesMasters/notesMaster1.xml" Id="Rccf0043050c0406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286887dc61b48d7" /><Relationship Type="http://schemas.openxmlformats.org/officeDocument/2006/relationships/notesMaster" Target="/ppt/notesMasters/notesMaster1.xml" Id="Rba77e609727b440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90ebb1a63f4491a" /><Relationship Type="http://schemas.openxmlformats.org/officeDocument/2006/relationships/notesMaster" Target="/ppt/notesMasters/notesMaster1.xml" Id="Rb7afa1be500241c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8184344d1e9497a" /><Relationship Type="http://schemas.openxmlformats.org/officeDocument/2006/relationships/notesMaster" Target="/ppt/notesMasters/notesMaster1.xml" Id="Rf142452b721e40a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e96ca53df474f79" /><Relationship Type="http://schemas.openxmlformats.org/officeDocument/2006/relationships/notesMaster" Target="/ppt/notesMasters/notesMaster1.xml" Id="R4600dacaf61e449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eec82f3e92b4848" /><Relationship Type="http://schemas.openxmlformats.org/officeDocument/2006/relationships/notesMaster" Target="/ppt/notesMasters/notesMaster1.xml" Id="Ra00a3b9ac022428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cfcf8fcdf324359" /><Relationship Type="http://schemas.openxmlformats.org/officeDocument/2006/relationships/notesMaster" Target="/ppt/notesMasters/notesMaster1.xml" Id="Rd9d121e995a0483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73b201732884227" /><Relationship Type="http://schemas.openxmlformats.org/officeDocument/2006/relationships/notesMaster" Target="/ppt/notesMasters/notesMaster1.xml" Id="R4a62658fcb3743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7c6cdbac6d24cdc" /><Relationship Type="http://schemas.openxmlformats.org/officeDocument/2006/relationships/notesMaster" Target="/ppt/notesMasters/notesMaster1.xml" Id="R95db626295b3478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5027403eb23433d" /><Relationship Type="http://schemas.openxmlformats.org/officeDocument/2006/relationships/notesMaster" Target="/ppt/notesMasters/notesMaster1.xml" Id="R1c0786ab2f4b4e2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eeb325a9f8b4f53" /><Relationship Type="http://schemas.openxmlformats.org/officeDocument/2006/relationships/notesMaster" Target="/ppt/notesMasters/notesMaster1.xml" Id="R749c8ef9b0094b1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25a2876d6ef4c10" /><Relationship Type="http://schemas.openxmlformats.org/officeDocument/2006/relationships/notesMaster" Target="/ppt/notesMasters/notesMaster1.xml" Id="R649cf9aee69a4ce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d06f6bd2a5345c6" /><Relationship Type="http://schemas.openxmlformats.org/officeDocument/2006/relationships/notesMaster" Target="/ppt/notesMasters/notesMaster1.xml" Id="R4bb0ee28f9a4456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43d54a7215f47c2" /><Relationship Type="http://schemas.openxmlformats.org/officeDocument/2006/relationships/notesMaster" Target="/ppt/notesMasters/notesMaster1.xml" Id="R7b1bbe6785ea4e2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c8da7f7cb7d41ea" /><Relationship Type="http://schemas.openxmlformats.org/officeDocument/2006/relationships/notesMaster" Target="/ppt/notesMasters/notesMaster1.xml" Id="Radba17dc4c4c4cf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7764a7327b3464b" /><Relationship Type="http://schemas.openxmlformats.org/officeDocument/2006/relationships/notesMaster" Target="/ppt/notesMasters/notesMaster1.xml" Id="R19898c681964460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91413ec70a3488c" /><Relationship Type="http://schemas.openxmlformats.org/officeDocument/2006/relationships/notesMaster" Target="/ppt/notesMasters/notesMaster1.xml" Id="R864e430faa1b487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40a998efe5b465e" /><Relationship Type="http://schemas.openxmlformats.org/officeDocument/2006/relationships/notesMaster" Target="/ppt/notesMasters/notesMaster1.xml" Id="Rfe0399b4c99a4ba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b6c28abf82547b8" /><Relationship Type="http://schemas.openxmlformats.org/officeDocument/2006/relationships/notesMaster" Target="/ppt/notesMasters/notesMaster1.xml" Id="R8f008bc855584f0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bf1a59a87544bbb" /><Relationship Type="http://schemas.openxmlformats.org/officeDocument/2006/relationships/notesMaster" Target="/ppt/notesMasters/notesMaster1.xml" Id="R7478b13d682d4ef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bab0a6d5caf454e" /><Relationship Type="http://schemas.openxmlformats.org/officeDocument/2006/relationships/notesMaster" Target="/ppt/notesMasters/notesMaster1.xml" Id="R8241984949f0454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f6f27a8d650458b" /><Relationship Type="http://schemas.openxmlformats.org/officeDocument/2006/relationships/notesMaster" Target="/ppt/notesMasters/notesMaster1.xml" Id="R8c23ed1d770f441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a4e2710ff7b4bce" /><Relationship Type="http://schemas.openxmlformats.org/officeDocument/2006/relationships/notesMaster" Target="/ppt/notesMasters/notesMaster1.xml" Id="R6e803579d91a434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2f5365d59f74b35" /><Relationship Type="http://schemas.openxmlformats.org/officeDocument/2006/relationships/notesMaster" Target="/ppt/notesMasters/notesMaster1.xml" Id="Rfee89cab40fd43e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ad833f4dbc04672" /><Relationship Type="http://schemas.openxmlformats.org/officeDocument/2006/relationships/notesMaster" Target="/ppt/notesMasters/notesMaster1.xml" Id="R824a74a7440f4cc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5e5b212a44642e3" /><Relationship Type="http://schemas.openxmlformats.org/officeDocument/2006/relationships/notesMaster" Target="/ppt/notesMasters/notesMaster1.xml" Id="R4440d6bd6bed465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40e5a0b0190424d" /><Relationship Type="http://schemas.openxmlformats.org/officeDocument/2006/relationships/notesMaster" Target="/ppt/notesMasters/notesMaster1.xml" Id="R25ecb223487942b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3f8dbffe0694fda" /><Relationship Type="http://schemas.openxmlformats.org/officeDocument/2006/relationships/notesMaster" Target="/ppt/notesMasters/notesMaster1.xml" Id="Rc3fded4f2378423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bfcbafe9b7147c1" /><Relationship Type="http://schemas.openxmlformats.org/officeDocument/2006/relationships/notesMaster" Target="/ppt/notesMasters/notesMaster1.xml" Id="Rc24095eb9fc94e2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3f8df7edf404de6" /><Relationship Type="http://schemas.openxmlformats.org/officeDocument/2006/relationships/notesMaster" Target="/ppt/notesMasters/notesMaster1.xml" Id="R152d2abaf750464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556f36d34314be8" /><Relationship Type="http://schemas.openxmlformats.org/officeDocument/2006/relationships/notesMaster" Target="/ppt/notesMasters/notesMaster1.xml" Id="R09d512403c32434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607268597494cbf" /><Relationship Type="http://schemas.openxmlformats.org/officeDocument/2006/relationships/notesMaster" Target="/ppt/notesMasters/notesMaster1.xml" Id="R0755546d60b545b3"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c19f5adac59d46b4" /><Relationship Type="http://schemas.openxmlformats.org/officeDocument/2006/relationships/notesMaster" Target="/ppt/notesMasters/notesMaster1.xml" Id="R90fbfed1933d4e7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5fb9e32803a4985" /><Relationship Type="http://schemas.openxmlformats.org/officeDocument/2006/relationships/notesMaster" Target="/ppt/notesMasters/notesMaster1.xml" Id="R712572a3ecdf4ad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dd4880a78dd4e07" /><Relationship Type="http://schemas.openxmlformats.org/officeDocument/2006/relationships/notesMaster" Target="/ppt/notesMasters/notesMaster1.xml" Id="R5abfec6dfe01424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b1672861989433c" /><Relationship Type="http://schemas.openxmlformats.org/officeDocument/2006/relationships/notesMaster" Target="/ppt/notesMasters/notesMaster1.xml" Id="Rb7e2986c5792475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0e4fe06c606454d" /><Relationship Type="http://schemas.openxmlformats.org/officeDocument/2006/relationships/notesMaster" Target="/ppt/notesMasters/notesMaster1.xml" Id="Re08f0f409f09441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bc800cac17d433d" /><Relationship Type="http://schemas.openxmlformats.org/officeDocument/2006/relationships/notesMaster" Target="/ppt/notesMasters/notesMaster1.xml" Id="R43bb283e91d746e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7e7a5f4e1a34ccf" /><Relationship Type="http://schemas.openxmlformats.org/officeDocument/2006/relationships/notesMaster" Target="/ppt/notesMasters/notesMaster1.xml" Id="R46b5d9bdc83f41b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7b72d9085b74bc6" /><Relationship Type="http://schemas.openxmlformats.org/officeDocument/2006/relationships/notesMaster" Target="/ppt/notesMasters/notesMaster1.xml" Id="R77146f1cf3a248c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390d978d8c724e17" /><Relationship Type="http://schemas.openxmlformats.org/officeDocument/2006/relationships/notesMaster" Target="/ppt/notesMasters/notesMaster1.xml" Id="R0a552c0b65c14e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898b880b5249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b59bdda77145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c900809d2843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4070ef0b0148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b4f3f82e834e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cc86e4f72f44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4CCF0C-C4B8-4F7E-A578-B63222031B4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14B81D-280C-429D-BCF4-62E0F9DF0F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3F6619-8CA8-4BC5-BC99-C0740CC6D7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D0E48B-13D3-4E7F-A78F-890C1BFA6F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F01D7B-2F0D-4A3C-959C-83F4B2702D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15216D-C503-49B7-A096-017D12B5A7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445117-60C7-4AFD-8523-A1F0F66204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EE9C74-3E95-4CD2-A0D1-EB7592195D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E481BC-781D-4083-897B-6E51B64EFD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8BD321-C268-4F44-905C-F737FF5406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67cb56485c4f89" /><Relationship Type="http://schemas.openxmlformats.org/officeDocument/2006/relationships/slideLayout" Target="/ppt/slideLayouts/slideLayout1.xml" Id="R463085398238402a" /><Relationship Type="http://schemas.openxmlformats.org/officeDocument/2006/relationships/slideLayout" Target="/ppt/slideLayouts/slideLayout2.xml" Id="R8c07503e404844df" /><Relationship Type="http://schemas.openxmlformats.org/officeDocument/2006/relationships/slideLayout" Target="/ppt/slideLayouts/slideLayout3.xml" Id="R306702a9b66947b8" /><Relationship Type="http://schemas.openxmlformats.org/officeDocument/2006/relationships/slideLayout" Target="/ppt/slideLayouts/slideLayout4.xml" Id="R84c84d10e6cb4f01" /><Relationship Type="http://schemas.openxmlformats.org/officeDocument/2006/relationships/slideLayout" Target="/ppt/slideLayouts/slideLayout5.xml" Id="R020c4a9caede44cd" /><Relationship Type="http://schemas.openxmlformats.org/officeDocument/2006/relationships/slideLayout" Target="/ppt/slideLayouts/slideLayout6.xml" Id="Rb94d8401f4cc4b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3085398238402a"/>
    <p:sldLayoutId xmlns:r="http://schemas.openxmlformats.org/officeDocument/2006/relationships" id="2147483650" r:id="R8c07503e404844df"/>
    <p:sldLayoutId xmlns:r="http://schemas.openxmlformats.org/officeDocument/2006/relationships" id="2147483651" r:id="R306702a9b66947b8"/>
    <p:sldLayoutId xmlns:r="http://schemas.openxmlformats.org/officeDocument/2006/relationships" id="2147483652" r:id="R84c84d10e6cb4f01"/>
    <p:sldLayoutId xmlns:r="http://schemas.openxmlformats.org/officeDocument/2006/relationships" id="2147483653" r:id="R020c4a9caede44cd"/>
    <p:sldLayoutId xmlns:r="http://schemas.openxmlformats.org/officeDocument/2006/relationships" id="2147483654" r:id="Rb94d8401f4cc4b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09244b971b490e" /><Relationship Type="http://schemas.openxmlformats.org/officeDocument/2006/relationships/notesSlide" Target="/ppt/notesSlides/notesSlide1.xml" Id="R43992625503f4b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43cf82f26a48be" /><Relationship Type="http://schemas.openxmlformats.org/officeDocument/2006/relationships/notesSlide" Target="/ppt/notesSlides/notesSlide2.xml" Id="R8b1ffc4c903e43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d53173db32a4b31" /><Relationship Type="http://schemas.openxmlformats.org/officeDocument/2006/relationships/notesSlide" Target="/ppt/notesSlides/notesSlide3.xml" Id="Raeafbae11f2d4a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cde7c9f36e43ef" /><Relationship Type="http://schemas.openxmlformats.org/officeDocument/2006/relationships/notesSlide" Target="/ppt/notesSlides/notesSlide4.xml" Id="R49c6f1f2cadf45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15f05762de42d5" /><Relationship Type="http://schemas.openxmlformats.org/officeDocument/2006/relationships/notesSlide" Target="/ppt/notesSlides/notesSlide5.xml" Id="R999fca2391274b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d214a52f1f4e78" /><Relationship Type="http://schemas.openxmlformats.org/officeDocument/2006/relationships/notesSlide" Target="/ppt/notesSlides/notesSlide6.xml" Id="R4f79658e2be24a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28d5dc5491c4b73" /><Relationship Type="http://schemas.openxmlformats.org/officeDocument/2006/relationships/notesSlide" Target="/ppt/notesSlides/notesSlide7.xml" Id="R75d1c7417cc045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4f2093bed04ff2" /><Relationship Type="http://schemas.openxmlformats.org/officeDocument/2006/relationships/notesSlide" Target="/ppt/notesSlides/notesSlide8.xml" Id="Rb302a145509b42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93b5de4ef640e4" /><Relationship Type="http://schemas.openxmlformats.org/officeDocument/2006/relationships/notesSlide" Target="/ppt/notesSlides/notesSlide9.xml" Id="R31e5abd43d7c45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4550be068a48ad" /><Relationship Type="http://schemas.openxmlformats.org/officeDocument/2006/relationships/notesSlide" Target="/ppt/notesSlides/notesSlide10.xml" Id="Rad9890ddcf5241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b59e4e958fd464d" /><Relationship Type="http://schemas.openxmlformats.org/officeDocument/2006/relationships/notesSlide" Target="/ppt/notesSlides/notesSlide11.xml" Id="Rc9622fe19b8a42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06ef132bcd4ec1" /><Relationship Type="http://schemas.openxmlformats.org/officeDocument/2006/relationships/notesSlide" Target="/ppt/notesSlides/notesSlide12.xml" Id="R7e32af57939f42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2b2c458a2c425e" /><Relationship Type="http://schemas.openxmlformats.org/officeDocument/2006/relationships/notesSlide" Target="/ppt/notesSlides/notesSlide13.xml" Id="R2413fb76358d4a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b14aa2142bc4131" /><Relationship Type="http://schemas.openxmlformats.org/officeDocument/2006/relationships/notesSlide" Target="/ppt/notesSlides/notesSlide14.xml" Id="R496fe2e0e5834e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1fae225471d4d0f" /><Relationship Type="http://schemas.openxmlformats.org/officeDocument/2006/relationships/notesSlide" Target="/ppt/notesSlides/notesSlide15.xml" Id="R9a32699e84714e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211d18eed84c29" /><Relationship Type="http://schemas.openxmlformats.org/officeDocument/2006/relationships/notesSlide" Target="/ppt/notesSlides/notesSlide16.xml" Id="Ree0844dc1e2246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0fc51060f334804" /><Relationship Type="http://schemas.openxmlformats.org/officeDocument/2006/relationships/notesSlide" Target="/ppt/notesSlides/notesSlide17.xml" Id="R5433a203319148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b1d783f54d44c1" /><Relationship Type="http://schemas.openxmlformats.org/officeDocument/2006/relationships/notesSlide" Target="/ppt/notesSlides/notesSlide18.xml" Id="R7c844253b54647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b8092087bbf4328" /><Relationship Type="http://schemas.openxmlformats.org/officeDocument/2006/relationships/notesSlide" Target="/ppt/notesSlides/notesSlide19.xml" Id="R31ce1fa6ff3645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cc12716678a4000" /><Relationship Type="http://schemas.openxmlformats.org/officeDocument/2006/relationships/notesSlide" Target="/ppt/notesSlides/notesSlide20.xml" Id="Rb93bea085a5847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cdf74e5978448ec" /><Relationship Type="http://schemas.openxmlformats.org/officeDocument/2006/relationships/notesSlide" Target="/ppt/notesSlides/notesSlide21.xml" Id="R4bc1a885ad5a4b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7294b5ad9cf4479" /><Relationship Type="http://schemas.openxmlformats.org/officeDocument/2006/relationships/notesSlide" Target="/ppt/notesSlides/notesSlide22.xml" Id="Rb435bc66aace428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a01c60102724658" /><Relationship Type="http://schemas.openxmlformats.org/officeDocument/2006/relationships/notesSlide" Target="/ppt/notesSlides/notesSlide23.xml" Id="R7812a2a632da46e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0d83ed87ca54e13" /><Relationship Type="http://schemas.openxmlformats.org/officeDocument/2006/relationships/notesSlide" Target="/ppt/notesSlides/notesSlide24.xml" Id="Rd75df8787c6e48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d559560d1f44bf0" /><Relationship Type="http://schemas.openxmlformats.org/officeDocument/2006/relationships/notesSlide" Target="/ppt/notesSlides/notesSlide25.xml" Id="Rd9c7b094c204450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7fc0969b6ab433f" /><Relationship Type="http://schemas.openxmlformats.org/officeDocument/2006/relationships/notesSlide" Target="/ppt/notesSlides/notesSlide26.xml" Id="Re2bc8f288d4a49a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00886a033074520" /><Relationship Type="http://schemas.openxmlformats.org/officeDocument/2006/relationships/notesSlide" Target="/ppt/notesSlides/notesSlide27.xml" Id="R01b758231000457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d1c33a5286d4c80" /><Relationship Type="http://schemas.openxmlformats.org/officeDocument/2006/relationships/notesSlide" Target="/ppt/notesSlides/notesSlide28.xml" Id="R00105c03f0614ae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0f4e4d2dab547f0" /><Relationship Type="http://schemas.openxmlformats.org/officeDocument/2006/relationships/notesSlide" Target="/ppt/notesSlides/notesSlide29.xml" Id="Reba06fd47e754f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7943f7dd8764912" /><Relationship Type="http://schemas.openxmlformats.org/officeDocument/2006/relationships/notesSlide" Target="/ppt/notesSlides/notesSlide30.xml" Id="R80a941f7c49b4b0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f86988d5707416c" /><Relationship Type="http://schemas.openxmlformats.org/officeDocument/2006/relationships/notesSlide" Target="/ppt/notesSlides/notesSlide31.xml" Id="R40672106c27f438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87f70908ea34f2f" /><Relationship Type="http://schemas.openxmlformats.org/officeDocument/2006/relationships/notesSlide" Target="/ppt/notesSlides/notesSlide32.xml" Id="Ree94f2704c5a48e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5291da2981c458b" /><Relationship Type="http://schemas.openxmlformats.org/officeDocument/2006/relationships/notesSlide" Target="/ppt/notesSlides/notesSlide33.xml" Id="R2dba92ceed99406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0d06253d5e54766" /><Relationship Type="http://schemas.openxmlformats.org/officeDocument/2006/relationships/notesSlide" Target="/ppt/notesSlides/notesSlide34.xml" Id="R7816b58cd575412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acd759dead8484c" /><Relationship Type="http://schemas.openxmlformats.org/officeDocument/2006/relationships/notesSlide" Target="/ppt/notesSlides/notesSlide35.xml" Id="Rb85b99565b3249e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182ea822f2f436d" /><Relationship Type="http://schemas.openxmlformats.org/officeDocument/2006/relationships/notesSlide" Target="/ppt/notesSlides/notesSlide36.xml" Id="Re3536763bbe1400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5ecc80f9c38432d" /><Relationship Type="http://schemas.openxmlformats.org/officeDocument/2006/relationships/notesSlide" Target="/ppt/notesSlides/notesSlide37.xml" Id="R49c1d3de3d3f4ca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fc3ed31fb7f4a07" /><Relationship Type="http://schemas.openxmlformats.org/officeDocument/2006/relationships/notesSlide" Target="/ppt/notesSlides/notesSlide38.xml" Id="R033af24c42ae436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a204499ad0947a5" /><Relationship Type="http://schemas.openxmlformats.org/officeDocument/2006/relationships/notesSlide" Target="/ppt/notesSlides/notesSlide39.xml" Id="R69a242de7f3c4d4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1a45da6e2024fab" /><Relationship Type="http://schemas.openxmlformats.org/officeDocument/2006/relationships/notesSlide" Target="/ppt/notesSlides/notesSlide40.xml" Id="Rd8872326ca014e9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5788e47089c4486" /><Relationship Type="http://schemas.openxmlformats.org/officeDocument/2006/relationships/notesSlide" Target="/ppt/notesSlides/notesSlide41.xml" Id="R40813394f026453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72eacfc90d04be7" /><Relationship Type="http://schemas.openxmlformats.org/officeDocument/2006/relationships/notesSlide" Target="/ppt/notesSlides/notesSlide42.xml" Id="R23366ce16d23441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ffec58fc6ed4157" /><Relationship Type="http://schemas.openxmlformats.org/officeDocument/2006/relationships/notesSlide" Target="/ppt/notesSlides/notesSlide43.xml" Id="R500c9ca4aff5417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1753eac60274954" /><Relationship Type="http://schemas.openxmlformats.org/officeDocument/2006/relationships/notesSlide" Target="/ppt/notesSlides/notesSlide44.xml" Id="R47a80229278444d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577e05199474cfb" /><Relationship Type="http://schemas.openxmlformats.org/officeDocument/2006/relationships/notesSlide" Target="/ppt/notesSlides/notesSlide45.xml" Id="R3d40b8b562b346e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0cc0bb9dbce49c3" /><Relationship Type="http://schemas.openxmlformats.org/officeDocument/2006/relationships/notesSlide" Target="/ppt/notesSlides/notesSlide46.xml" Id="R64af716045a14f5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d75a98d74504988" /><Relationship Type="http://schemas.openxmlformats.org/officeDocument/2006/relationships/notesSlide" Target="/ppt/notesSlides/notesSlide47.xml" Id="R2ed54425e593404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57791bb3274400f" /><Relationship Type="http://schemas.openxmlformats.org/officeDocument/2006/relationships/notesSlide" Target="/ppt/notesSlides/notesSlide48.xml" Id="Ra79e8a9415c94ee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525df5305d14d9a" /><Relationship Type="http://schemas.openxmlformats.org/officeDocument/2006/relationships/notesSlide" Target="/ppt/notesSlides/notesSlide49.xml" Id="R359e490a9e664c2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b1fe12987ff4c41" /><Relationship Type="http://schemas.openxmlformats.org/officeDocument/2006/relationships/notesSlide" Target="/ppt/notesSlides/notesSlide50.xml" Id="Rf7821de6b19c47e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30e42fdf5394da8" /><Relationship Type="http://schemas.openxmlformats.org/officeDocument/2006/relationships/notesSlide" Target="/ppt/notesSlides/notesSlide51.xml" Id="R0bd8d34a3e30416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272b07c632c4d87" /><Relationship Type="http://schemas.openxmlformats.org/officeDocument/2006/relationships/notesSlide" Target="/ppt/notesSlides/notesSlide52.xml" Id="Re2816e1cf8ef4e3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9bfc297de52e4007" /><Relationship Type="http://schemas.openxmlformats.org/officeDocument/2006/relationships/notesSlide" Target="/ppt/notesSlides/notesSlide53.xml" Id="R4808f321a320494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76554f6133764d3d" /><Relationship Type="http://schemas.openxmlformats.org/officeDocument/2006/relationships/notesSlide" Target="/ppt/notesSlides/notesSlide54.xml" Id="R631a6efc1a3e404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45739dcf8b28416e" /><Relationship Type="http://schemas.openxmlformats.org/officeDocument/2006/relationships/notesSlide" Target="/ppt/notesSlides/notesSlide55.xml" Id="R0a2bff94a3534bf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9500d84227084b75" /><Relationship Type="http://schemas.openxmlformats.org/officeDocument/2006/relationships/notesSlide" Target="/ppt/notesSlides/notesSlide56.xml" Id="Rf840989c39bb4f2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5523d1f88f184e65" /><Relationship Type="http://schemas.openxmlformats.org/officeDocument/2006/relationships/notesSlide" Target="/ppt/notesSlides/notesSlide57.xml" Id="Red70c77c313e4a5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88cd71fe9c544e1" /><Relationship Type="http://schemas.openxmlformats.org/officeDocument/2006/relationships/notesSlide" Target="/ppt/notesSlides/notesSlide58.xml" Id="R90bdf340680845f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e6d1f01cec8f409b" /><Relationship Type="http://schemas.openxmlformats.org/officeDocument/2006/relationships/notesSlide" Target="/ppt/notesSlides/notesSlide59.xml" Id="R985bb7cff812404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6973c91c6b7949d5" /><Relationship Type="http://schemas.openxmlformats.org/officeDocument/2006/relationships/notesSlide" Target="/ppt/notesSlides/notesSlide60.xml" Id="Rf2bf7ffe7f6b44c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9e377a6f7027457c" /><Relationship Type="http://schemas.openxmlformats.org/officeDocument/2006/relationships/notesSlide" Target="/ppt/notesSlides/notesSlide61.xml" Id="R2649692ebd1d4b0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f4e667da1b6e4a4f" /><Relationship Type="http://schemas.openxmlformats.org/officeDocument/2006/relationships/notesSlide" Target="/ppt/notesSlides/notesSlide62.xml" Id="R4ee17aa22b3440f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cb01cf7f815547cc" /><Relationship Type="http://schemas.openxmlformats.org/officeDocument/2006/relationships/notesSlide" Target="/ppt/notesSlides/notesSlide63.xml" Id="R3f10993b3067434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f26cb5923562433f" /><Relationship Type="http://schemas.openxmlformats.org/officeDocument/2006/relationships/notesSlide" Target="/ppt/notesSlides/notesSlide64.xml" Id="R2abf799d745f423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66f0fa51ea914257" /><Relationship Type="http://schemas.openxmlformats.org/officeDocument/2006/relationships/notesSlide" Target="/ppt/notesSlides/notesSlide65.xml" Id="Rd4ffd5409a244a6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a446fdddb955474f" /><Relationship Type="http://schemas.openxmlformats.org/officeDocument/2006/relationships/notesSlide" Target="/ppt/notesSlides/notesSlide66.xml" Id="R5c20f6c2a5bb44e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1c56db56b1004c84" /><Relationship Type="http://schemas.openxmlformats.org/officeDocument/2006/relationships/notesSlide" Target="/ppt/notesSlides/notesSlide67.xml" Id="Refe7b1c84856490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763457e0c25b486f" /><Relationship Type="http://schemas.openxmlformats.org/officeDocument/2006/relationships/notesSlide" Target="/ppt/notesSlides/notesSlide68.xml" Id="R0ad414cb073a453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d5358e9bbcb84660" /><Relationship Type="http://schemas.openxmlformats.org/officeDocument/2006/relationships/notesSlide" Target="/ppt/notesSlides/notesSlide69.xml" Id="R5903b34a38464b0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d88d9fae76a94d7d" /><Relationship Type="http://schemas.openxmlformats.org/officeDocument/2006/relationships/notesSlide" Target="/ppt/notesSlides/notesSlide70.xml" Id="R2b0af5a47585401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fcba295ee369467b" /><Relationship Type="http://schemas.openxmlformats.org/officeDocument/2006/relationships/notesSlide" Target="/ppt/notesSlides/notesSlide71.xml" Id="R0a98290f291d45b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6ed1849a053747c6" /><Relationship Type="http://schemas.openxmlformats.org/officeDocument/2006/relationships/notesSlide" Target="/ppt/notesSlides/notesSlide72.xml" Id="Rfeff227fb55641c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7d50cdffb3e04a8c" /><Relationship Type="http://schemas.openxmlformats.org/officeDocument/2006/relationships/notesSlide" Target="/ppt/notesSlides/notesSlide73.xml" Id="R9a4260d9c65544e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f8dd5cb8111e449a" /><Relationship Type="http://schemas.openxmlformats.org/officeDocument/2006/relationships/notesSlide" Target="/ppt/notesSlides/notesSlide74.xml" Id="R84cc88b28dfa4e4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a31be4f20e3c49df" /><Relationship Type="http://schemas.openxmlformats.org/officeDocument/2006/relationships/notesSlide" Target="/ppt/notesSlides/notesSlide75.xml" Id="R793a357827cf467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d2fc13090e3d4f5b" /><Relationship Type="http://schemas.openxmlformats.org/officeDocument/2006/relationships/notesSlide" Target="/ppt/notesSlides/notesSlide76.xml" Id="R65aea52b654543f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30433328bb0e454d" /><Relationship Type="http://schemas.openxmlformats.org/officeDocument/2006/relationships/notesSlide" Target="/ppt/notesSlides/notesSlide77.xml" Id="R8b48e74e8afb400d"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B5D563-5CE0-467A-BD06-63CE4C8409A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9D2A05-571C-4AE3-A142-99B2F9F8CCED}"/>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52986609-0A69-4FBA-8DFE-D7D5E5AEE3BB}"/>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Chemotherapy Safety</a:t>
            </a:r>
          </a:p>
        </p:txBody>
      </p:sp>
      <p:sp>
        <p:nvSpPr>
          <p:cNvPr id="4" name="">
            <a:extLst xmlns:a="http://schemas.openxmlformats.org/drawingml/2006/main">
              <a:ext uri="{FF2B5EF4-FFF2-40B4-BE49-F238E27FC236}">
                <a16:creationId xmlns:a16="http://schemas.microsoft.com/office/drawing/2014/main" id="{914E8562-DD59-4D08-9D67-4E8D33C8BBC5}"/>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6  |  30-Hour Basic Intravenous Therapy</a:t>
            </a:r>
          </a:p>
        </p:txBody>
      </p:sp>
      <p:sp>
        <p:nvSpPr>
          <p:cNvPr id="5" name="">
            <a:extLst xmlns:a="http://schemas.openxmlformats.org/drawingml/2006/main">
              <a:ext uri="{FF2B5EF4-FFF2-40B4-BE49-F238E27FC236}">
                <a16:creationId xmlns:a16="http://schemas.microsoft.com/office/drawing/2014/main" id="{DCAAFB8C-D862-4A9E-BD7C-BF25CB2C2BC2}"/>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68503479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306470-D528-4FAF-A5A2-E1507CE9E3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F4EDB9-7F5E-418E-A800-FCCF8F3FDE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E505A30D-5BA4-470E-9AC6-255038789C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8824121-9593-4B7A-90DE-71ED3C9902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86F5FD8-28E2-4993-BB2A-1F1623820443}"/>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1598441488"/>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2673D0-0DF2-4C66-93BC-90145184DA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F4DBD24-D519-46E0-A015-E42EDEAD49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B668A32A-630C-4778-BE2C-BE29EEFB36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85DFAB3-3DAF-478D-823E-AA34EBD7D5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4BCFAF62-97F8-4C0F-BFA1-E707C812F3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77177A86-BDC3-49A4-9D56-AFDC918B07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492147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AD3F8F-DCC8-4B45-9183-A199F3B493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C5D56DD-D4F9-48F9-AC1B-0C5E50D7F31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C788FC85-C091-44CD-9CBC-72FF89633C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90644D7-064E-46E8-92ED-EA09A38348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98DFC76-9275-427C-88EB-4009EAABCB2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63358042-C419-435A-9BBB-6DA49FB18D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4761224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DFD160-343D-4B97-9AD9-285124460D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B6C86B-0EC0-4502-826D-7C23C10BB8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B7E96060-A2F7-41AB-9AAD-36E7F8A462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5C4F7CE-449D-4F0A-B974-10569E9045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0FD7160-0589-403B-BC73-E588B042E2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210EFEFE-0B8A-473B-B11F-E0B6C066BE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0601096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1A12D1-DAC7-4D3F-A42E-F0324CB105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4432EE-AF85-4070-8B71-E1EA377731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59786EB8-CD35-4633-B229-CB826C1683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C8976D7-02A7-4313-9BF9-A35B40BA68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A0791E61-E5B1-4DB8-AD14-AF20F007C7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EA3C69C0-1EF0-4855-99FA-442BEFF401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2984749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CF37D4-317F-475E-A60A-F89C69BEC1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FE8718-FA70-4BDB-BDB1-C51393C542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1</a:t>
            </a:r>
          </a:p>
        </p:txBody>
      </p:sp>
      <p:sp>
        <p:nvSpPr>
          <p:cNvPr id="3" name="">
            <a:extLst xmlns:a="http://schemas.openxmlformats.org/drawingml/2006/main">
              <a:ext uri="{FF2B5EF4-FFF2-40B4-BE49-F238E27FC236}">
                <a16:creationId xmlns:a16="http://schemas.microsoft.com/office/drawing/2014/main" id="{6FBC6549-D603-4FFA-9812-489F67C546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3E61BE4-DC92-4A2D-B4F0-44AE61C50C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6970D05D-D633-4349-ABBB-1C56C866A4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administration requires specific authorization, patient identification, consent verification, baseline assessment, product verification by qualified staff, dedicated compatible tubing/solution, close early monitoring, and prompt response to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 reaction is suspected, stop the transfusion, maintain access as policy directs with compatible solution/new tubing, assess and support the patient, notify required personnel, recheck identification, and complete ordered specimens/documentation.</a:t>
            </a:r>
          </a:p>
        </p:txBody>
      </p:sp>
      <p:sp>
        <p:nvSpPr>
          <p:cNvPr id="6" name="">
            <a:extLst xmlns:a="http://schemas.openxmlformats.org/drawingml/2006/main">
              <a:ext uri="{FF2B5EF4-FFF2-40B4-BE49-F238E27FC236}">
                <a16:creationId xmlns:a16="http://schemas.microsoft.com/office/drawing/2014/main" id="{A891FAF6-C0EC-40C2-A68A-2BDEEC67AE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7192245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DD88D9-62C0-4E01-B718-AE57137A03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A1D94E-9DD7-4B7A-A7B8-18310775E9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2</a:t>
            </a:r>
          </a:p>
        </p:txBody>
      </p:sp>
      <p:sp>
        <p:nvSpPr>
          <p:cNvPr id="3" name="">
            <a:extLst xmlns:a="http://schemas.openxmlformats.org/drawingml/2006/main">
              <a:ext uri="{FF2B5EF4-FFF2-40B4-BE49-F238E27FC236}">
                <a16:creationId xmlns:a16="http://schemas.microsoft.com/office/drawing/2014/main" id="{81CE8D05-857E-4509-BE70-756C579CB0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A638F92-2D0D-4BD9-AA20-89B6388B7B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2982520-12AB-4F62-AFC1-4B77DA831E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contains concentrated nutrients and carries metabolic, infection, and line risks.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formulation and rate, use the required central or peripheral route, dedicated lumen and filter when ordered, strict asepsis, glucose/electrolyte monitoring, and never abruptly change therapy without direction.</a:t>
            </a:r>
          </a:p>
        </p:txBody>
      </p:sp>
      <p:sp>
        <p:nvSpPr>
          <p:cNvPr id="6" name="">
            <a:extLst xmlns:a="http://schemas.openxmlformats.org/drawingml/2006/main">
              <a:ext uri="{FF2B5EF4-FFF2-40B4-BE49-F238E27FC236}">
                <a16:creationId xmlns:a16="http://schemas.microsoft.com/office/drawing/2014/main" id="{693267D0-5678-46F4-B0CF-3095995E2B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391903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649E08-08D3-4D01-9177-A8D4294838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9C190EA-A6BD-4A14-A300-A693D97967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3</a:t>
            </a:r>
          </a:p>
        </p:txBody>
      </p:sp>
      <p:sp>
        <p:nvSpPr>
          <p:cNvPr id="3" name="">
            <a:extLst xmlns:a="http://schemas.openxmlformats.org/drawingml/2006/main">
              <a:ext uri="{FF2B5EF4-FFF2-40B4-BE49-F238E27FC236}">
                <a16:creationId xmlns:a16="http://schemas.microsoft.com/office/drawing/2014/main" id="{0D2EFEE8-A264-460D-B240-FA08DAAF51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CC2B782-58C4-49A1-B108-45C4DC04C1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6FCD4F7E-1EBF-49CA-AB5E-04AD7FD82D6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High-alert and vesicant medications require current drug-specific guidance, appropriate access, blood return/patency checks when indicated, close monitoring, and immediate use of the facility extravasation or emergency protocol.</a:t>
            </a:r>
          </a:p>
        </p:txBody>
      </p:sp>
      <p:sp>
        <p:nvSpPr>
          <p:cNvPr id="6" name="">
            <a:extLst xmlns:a="http://schemas.openxmlformats.org/drawingml/2006/main">
              <a:ext uri="{FF2B5EF4-FFF2-40B4-BE49-F238E27FC236}">
                <a16:creationId xmlns:a16="http://schemas.microsoft.com/office/drawing/2014/main" id="{F9E378FD-F573-4D35-B94F-80C1174CF5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5963341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7EA172-C310-4F34-B484-5C2CF790D1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8914A6-2097-4330-BD59-E377293CD8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04534FA4-43E3-4BFB-97DD-8EAAED8FA5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9FB700F-012E-414F-A8F3-C48DE1318B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44450831-ED32-4090-B5C1-FB975DFE82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D8DD9866-823D-441F-BC49-4C4E163AB1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8345545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2D1136-CAFF-4B9B-882F-98D527B74B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D1E4E2-E7D1-49A1-84F8-CAE698B677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D1505ADC-91DE-48F8-8396-81748029F7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628CF9C-AA34-4C83-B382-7B50B6077C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4872A79-22F6-449A-A55E-CB0B0A4B78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DBEEFF39-B9AE-4A88-911E-07EFC06496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6440523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46C088-F51D-453D-9458-E3B03EA71E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1B66F5-A66D-4E3F-A99D-9CA15AB0C7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2E4F82F0-CC31-4452-9117-6C8EDD210B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A94B4A5-49FB-4EE8-9143-D895553E60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44CDA926-EE37-444A-956F-EB4B065F6ED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0194CC28-A322-404B-86A4-026E98E9757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7583605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471469-A01B-45B3-A07C-73891E844F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76692B-93E0-455F-96BA-ADA39ADDCF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a:t>
            </a:r>
          </a:p>
        </p:txBody>
      </p:sp>
      <p:sp>
        <p:nvSpPr>
          <p:cNvPr id="3" name="">
            <a:extLst xmlns:a="http://schemas.openxmlformats.org/drawingml/2006/main">
              <a:ext uri="{FF2B5EF4-FFF2-40B4-BE49-F238E27FC236}">
                <a16:creationId xmlns:a16="http://schemas.microsoft.com/office/drawing/2014/main" id="{78A75FEA-F676-478F-A2B8-7C44D46CD9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1679719-0C0A-4FD2-817A-C37203DCC2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CB4B1EC-B602-4AA4-A0DB-C4906EC5A5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MODULE SIX MODULE OBJECTIVES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Answer written and verbal questions on the role of Chemotherapy as a treatment modality Discuss the need for and benefits of patient / family teaching before the initiation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List the various chemotherapeutic agents used in the treatment of different types of cancer and the nursing interventions appropriate for specific complications Name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routes of administration for chemotherapeutic agents.</a:t>
            </a:r>
          </a:p>
        </p:txBody>
      </p:sp>
      <p:sp>
        <p:nvSpPr>
          <p:cNvPr id="6" name="">
            <a:extLst xmlns:a="http://schemas.openxmlformats.org/drawingml/2006/main">
              <a:ext uri="{FF2B5EF4-FFF2-40B4-BE49-F238E27FC236}">
                <a16:creationId xmlns:a16="http://schemas.microsoft.com/office/drawing/2014/main" id="{7EE6896B-1423-432C-9101-A08755AB1E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17577E0-1C87-4330-9183-5E6347027B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209976070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3CED5A-1E5B-4247-A39A-807B66968C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D2C2E6-B524-4915-8971-C3C7E09843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1EDECC0B-6764-456B-A200-DFC1E9365A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4FBFF30-8B1A-4275-9D9A-DF09F97BF6B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4EFFFCC0-FE3A-4861-963B-0E369DEBD2C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psychosocial effects of chemotherapy on the patient and family and interventions to assist in this crisis Answer written and verbal questions about the actions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chemotherapeutic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side effects of these different agents and their corresponding nursing actions.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SECTION OUTLINE Overview and definition.</a:t>
            </a:r>
          </a:p>
        </p:txBody>
      </p:sp>
      <p:sp>
        <p:nvSpPr>
          <p:cNvPr id="6" name="">
            <a:extLst xmlns:a="http://schemas.openxmlformats.org/drawingml/2006/main">
              <a:ext uri="{FF2B5EF4-FFF2-40B4-BE49-F238E27FC236}">
                <a16:creationId xmlns:a16="http://schemas.microsoft.com/office/drawing/2014/main" id="{79F91C7D-AD2B-46BB-B416-C79CE4E84B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F70067-14C2-4863-A739-73DFE24BF75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2016001453"/>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3E3E97-6ADF-4E01-A949-9454C66617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40B19A-474B-499E-A379-C764801620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97FCEA26-565C-418D-9863-1F8FDC5554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22A633E-4387-4BEF-AE0B-665EEAB6133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5EA40A13-A2A5-4865-8596-D0703B7F41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Cellular reproduction 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Healthy cell cycle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Difference between healthy cell and cancer cell cycle.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Preparation and handling of chemotherapeutic agents.</a:t>
            </a:r>
          </a:p>
        </p:txBody>
      </p:sp>
      <p:sp>
        <p:nvSpPr>
          <p:cNvPr id="6" name="">
            <a:extLst xmlns:a="http://schemas.openxmlformats.org/drawingml/2006/main">
              <a:ext uri="{FF2B5EF4-FFF2-40B4-BE49-F238E27FC236}">
                <a16:creationId xmlns:a16="http://schemas.microsoft.com/office/drawing/2014/main" id="{0C1ED0F3-C983-4B99-B341-A53BBC1633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5C95F03-7F8E-4EFC-9A44-74CAD17DF1A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612294466"/>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B0168C-DD4B-40C3-B51E-15C9E530F8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9E33EA-1D58-43B4-B213-B0B8FE7BB1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72223DE1-3F48-4C84-B6AA-B484EAE32A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937D204-3209-4E65-87C3-4B00E35BA7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C13D2639-718D-42FB-B098-056CFBB6EEE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Administration Classification of chemotherapeutic agents.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Side effects of agents Nursing interventions 8.</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 Teaching Alternative Routes</a:t>
            </a:r>
          </a:p>
        </p:txBody>
      </p:sp>
      <p:sp>
        <p:nvSpPr>
          <p:cNvPr id="6" name="">
            <a:extLst xmlns:a="http://schemas.openxmlformats.org/drawingml/2006/main">
              <a:ext uri="{FF2B5EF4-FFF2-40B4-BE49-F238E27FC236}">
                <a16:creationId xmlns:a16="http://schemas.microsoft.com/office/drawing/2014/main" id="{0A1611BF-1D1E-464F-B95B-E41757AF1AC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7E91C47-8AF1-4231-81AC-7873969E62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173547352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D1C14D-6B5A-4A1F-8399-18875FAEF5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F8D5C0-15C6-4B7F-B671-271F613CE4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a:t>
            </a:r>
          </a:p>
        </p:txBody>
      </p:sp>
      <p:sp>
        <p:nvSpPr>
          <p:cNvPr id="3" name="">
            <a:extLst xmlns:a="http://schemas.openxmlformats.org/drawingml/2006/main">
              <a:ext uri="{FF2B5EF4-FFF2-40B4-BE49-F238E27FC236}">
                <a16:creationId xmlns:a16="http://schemas.microsoft.com/office/drawing/2014/main" id="{059DF174-6ED3-4D6A-9C75-330FF985066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D8DEB41-61C9-4043-9C19-985DD57F73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13315059-2BEF-4FC2-8686-30625524A4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word "Chemotherapy" comes from two words that mean chemical and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today's use the word Chemotherapy refers to the specific group of drugs that are used to treat the many forms of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Combination Chemotherapy - Cancer chemotherapy involves the use of several specialized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Adjuvant Chemotherapy - refers to the use of surgery and or radiation therapy to increase the probability of a successful treatment.</a:t>
            </a:r>
          </a:p>
        </p:txBody>
      </p:sp>
      <p:sp>
        <p:nvSpPr>
          <p:cNvPr id="6" name="">
            <a:extLst xmlns:a="http://schemas.openxmlformats.org/drawingml/2006/main">
              <a:ext uri="{FF2B5EF4-FFF2-40B4-BE49-F238E27FC236}">
                <a16:creationId xmlns:a16="http://schemas.microsoft.com/office/drawing/2014/main" id="{0A030B36-3D22-4038-A51A-9FB2734E9A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1D8E61-CEC2-4743-A5D3-17B6AF8CF47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35865028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B62DD6-56F8-40CB-945B-26EEDEE92D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0A0457-56AA-4F00-B5CD-0ED68E2323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2D94777C-1256-4556-8A7F-492EB75AAA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C0A8281-CAF8-4F02-A547-4A15DF84ED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2A1639D4-FD33-456E-B8B3-7D5AA3881D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Adjuvant Chemotherapy may be added to the drug therapy to destroy any remaining cancerous cells that were not eliminated by chemotherapy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Cellular Reproduction The reproductive cycle of an individual cell can provide the basic information for understanding how chemotherapy works.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cell cycle includes the preparation that occurs before the cell divides, as well as the actual division itself.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is as follows: G 1 Phase, S Phase, G 2 Phase, M Phase, and Go Phase.</a:t>
            </a:r>
          </a:p>
        </p:txBody>
      </p:sp>
      <p:sp>
        <p:nvSpPr>
          <p:cNvPr id="6" name="">
            <a:extLst xmlns:a="http://schemas.openxmlformats.org/drawingml/2006/main">
              <a:ext uri="{FF2B5EF4-FFF2-40B4-BE49-F238E27FC236}">
                <a16:creationId xmlns:a16="http://schemas.microsoft.com/office/drawing/2014/main" id="{8471BCD7-6ABF-4E40-A6BD-ACB6C6948CE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8E1B3DB-0FA7-4731-8C35-C698C9F53A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009759644"/>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5A734E-20E9-478B-A857-68A0BEC1D0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3D44AA-43A9-4575-8333-677E10AB5A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42A48A30-29C0-437D-9263-9DFEB1F751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D7C116F-9156-454E-8902-DB7B5A3EAE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8B2979E8-1257-4C2D-A961-A5C39218BB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Different cells have a different rate of reproduction.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mucous cells reproduce very rapidly compared to nerve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you read the descriptions below think of' the goal of chemotherapy in destroying cancerous cells and the side effects of damaging normal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 Phase (Gap 1) - Formation of protein and RNA.</a:t>
            </a:r>
          </a:p>
        </p:txBody>
      </p:sp>
      <p:sp>
        <p:nvSpPr>
          <p:cNvPr id="6" name="">
            <a:extLst xmlns:a="http://schemas.openxmlformats.org/drawingml/2006/main">
              <a:ext uri="{FF2B5EF4-FFF2-40B4-BE49-F238E27FC236}">
                <a16:creationId xmlns:a16="http://schemas.microsoft.com/office/drawing/2014/main" id="{AEF2375C-26CF-41C6-A6F2-BE56AA039E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53E2A8B-C7BF-4B89-A8E9-0396174A236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471978602"/>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E0DB48-508B-4FB0-AA4E-6F26DC48E6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1CCDFC-F088-433A-B82C-626E341705B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CA693A34-A1F2-415F-9DEB-F83A51447E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4C0C2B2-AE7C-4D1A-8078-7D1F7A7786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11FCAE8B-36FE-4A63-8478-D38DACB7ADE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May take minutes to years.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 Phase (Synthesis) - Cell prepares for division, DNA is duplicated.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Time of preparation is 6 minutes to 50 years.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G-2 Phase (Gap 11) - The second period of RNA and protein synthesis, taking an average time of less than 6 hours.</a:t>
            </a:r>
          </a:p>
        </p:txBody>
      </p:sp>
      <p:sp>
        <p:nvSpPr>
          <p:cNvPr id="6" name="">
            <a:extLst xmlns:a="http://schemas.openxmlformats.org/drawingml/2006/main">
              <a:ext uri="{FF2B5EF4-FFF2-40B4-BE49-F238E27FC236}">
                <a16:creationId xmlns:a16="http://schemas.microsoft.com/office/drawing/2014/main" id="{3A7BC3AD-ACF9-4FE1-BEBE-1A267D3D16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2024AC-8E11-4532-B181-C83B2E4F4E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93592285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066244-5E9F-4876-8A99-E44E41F0D4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900D62-AF73-4D2D-B9CB-8FC3170A99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2949AEAC-4834-45A8-8A1D-D10C631BE9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895D430-DF34-4957-958E-63E41FE1EC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046494DF-D890-4214-9E22-4EEDA8E94B5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 Phase (Mitosis) - Actual cell division takes place in this phase, the parent cell divides into two complete sibling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sibling cell contains the exact amount and type of chromosomes as the parent.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takes about one hour.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*Prophase - The nuclear membrane breaks down and the chromosomes are dumped.</a:t>
            </a:r>
          </a:p>
        </p:txBody>
      </p:sp>
      <p:sp>
        <p:nvSpPr>
          <p:cNvPr id="6" name="">
            <a:extLst xmlns:a="http://schemas.openxmlformats.org/drawingml/2006/main">
              <a:ext uri="{FF2B5EF4-FFF2-40B4-BE49-F238E27FC236}">
                <a16:creationId xmlns:a16="http://schemas.microsoft.com/office/drawing/2014/main" id="{39EE70A4-08E6-4D1B-BE35-8C9C8C869B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681D6C-2B08-4180-83EB-7753AAE75F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416091253"/>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49DED1-6CC9-4C1F-9330-B266CB3F58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40229C-72AF-49C4-A355-A438A83928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5DAFAC77-21CA-4769-8D3A-BDE61F9958D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8F2CB25-E08B-441A-84FF-2862263340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C469ACB0-AD08-4A9E-84FF-392DD86D07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*Metaphase - The chromosomes line up in the middle of the cell *Anaphase - The chromosomes move to the poles of the cell (centrioles).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*Telophase- The actual cell division and production of two new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Go Phase - The resting stage for the cell.</a:t>
            </a:r>
          </a:p>
        </p:txBody>
      </p:sp>
      <p:sp>
        <p:nvSpPr>
          <p:cNvPr id="6" name="">
            <a:extLst xmlns:a="http://schemas.openxmlformats.org/drawingml/2006/main">
              <a:ext uri="{FF2B5EF4-FFF2-40B4-BE49-F238E27FC236}">
                <a16:creationId xmlns:a16="http://schemas.microsoft.com/office/drawing/2014/main" id="{EB77F954-59AC-4722-BF1D-9F9220C719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1DAD2B-94C0-4CA8-B161-19E00952E3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94540499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02F5B7-FCB6-4E82-8FFC-809868038A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08C2E72-9213-4574-85A9-AECF556922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a:t>
            </a:r>
          </a:p>
        </p:txBody>
      </p:sp>
      <p:sp>
        <p:nvSpPr>
          <p:cNvPr id="3" name="">
            <a:extLst xmlns:a="http://schemas.openxmlformats.org/drawingml/2006/main">
              <a:ext uri="{FF2B5EF4-FFF2-40B4-BE49-F238E27FC236}">
                <a16:creationId xmlns:a16="http://schemas.microsoft.com/office/drawing/2014/main" id="{96D8028D-684B-49FB-B9D0-417624B70B9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0E5DEAD-DF92-42BC-9A78-64E2E783F7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96437E2D-097B-49B5-88B1-6F6F29373DD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differences and similarities between the divisions of cancer cells and the bodies "normal"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First the differences...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has a feedback mechanism for feedback signals and reproduce in an uncontrolled manner without regard for the bodies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instead of dividing into two cells, they may divide into several new cells at a time.</a:t>
            </a:r>
          </a:p>
        </p:txBody>
      </p:sp>
      <p:sp>
        <p:nvSpPr>
          <p:cNvPr id="6" name="">
            <a:extLst xmlns:a="http://schemas.openxmlformats.org/drawingml/2006/main">
              <a:ext uri="{FF2B5EF4-FFF2-40B4-BE49-F238E27FC236}">
                <a16:creationId xmlns:a16="http://schemas.microsoft.com/office/drawing/2014/main" id="{27DFFD29-470F-4E37-A143-6BD62E1B7D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39E2CA2-2F92-4A6B-8DD3-21C08A4F6C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91273170"/>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CD16EA-E5AA-4CDC-9FAD-988DBBC826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CB76E9-B95E-458D-9647-A884C85341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C4EE08A1-8CCB-448F-83D1-173DA3711C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540ECA8-66FC-46C7-9F97-D765B84E5B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64FAD4FD-F3EB-4C3A-A471-C3430D0BE9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rapidly growing cell masses soon begin pushing their way into the surrounding normal tissues.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Cancer cells lack cohesiveness as well.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may fragment or metastasize, and be carried to other parts of the body by the blood or lymph systems, where their growth may continue in an uncontrolled fashion at a new location.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Most of the similarities are in the process of the "cell cycle" itself.</a:t>
            </a:r>
          </a:p>
        </p:txBody>
      </p:sp>
      <p:sp>
        <p:nvSpPr>
          <p:cNvPr id="6" name="">
            <a:extLst xmlns:a="http://schemas.openxmlformats.org/drawingml/2006/main">
              <a:ext uri="{FF2B5EF4-FFF2-40B4-BE49-F238E27FC236}">
                <a16:creationId xmlns:a16="http://schemas.microsoft.com/office/drawing/2014/main" id="{F3918042-78DB-42C4-BEDB-80C0A0E5AA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D9AA44-2E3F-4EFF-849A-DCC056AE7A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003264269"/>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9B1990-0532-42A6-BFF4-0BB8BE41C5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0FD68D-FB5E-480C-943D-930E1FC1BD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40FD51C3-4A6E-41F0-B09C-8203A64661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79775A3-4380-41F8-A39B-05F6639C95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07DD04A2-1F98-42B7-8618-6998BFCB0E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 types of cells, normal and cancerous, go through the cell cycle.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 of chemotherapy is to kill cancerous cells and minimize the harm done to normal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 destroy the greatest number of cancer cells, chemotherapy agents are often given in combination.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also given at certain times and in precise doses to attack the cancerous cells either at specific phases of the cell cycle, or throughout the cell cycle.</a:t>
            </a:r>
          </a:p>
        </p:txBody>
      </p:sp>
      <p:sp>
        <p:nvSpPr>
          <p:cNvPr id="6" name="">
            <a:extLst xmlns:a="http://schemas.openxmlformats.org/drawingml/2006/main">
              <a:ext uri="{FF2B5EF4-FFF2-40B4-BE49-F238E27FC236}">
                <a16:creationId xmlns:a16="http://schemas.microsoft.com/office/drawing/2014/main" id="{E222924E-E13D-4BA0-B7A8-3D01328F1C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6761CE-FACF-40C6-8A12-98FED3FD2B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638713021"/>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050327-A317-4D91-AB80-06354CF9F9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5EF903-C95B-49FF-A2C8-9F2D4EC41B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F7FCCC3D-5B7F-46FC-B7EC-2FCEF7780A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3840332-B1B7-4217-812C-1BC833765E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D26144E7-F672-4B1B-940F-068B30A8BE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agents are very strong and damage to normal cells is inevitable.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Healthy cells that reproduce quickly are the ones that are most prone to injury, and result in the greatest severity of experienced side effects (i.e.: hair, mucous membranes).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is a large variety of chemotherapeutic agents now in 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more are being discovered each year, as well as new uses for present agents.</a:t>
            </a:r>
          </a:p>
        </p:txBody>
      </p:sp>
      <p:sp>
        <p:nvSpPr>
          <p:cNvPr id="6" name="">
            <a:extLst xmlns:a="http://schemas.openxmlformats.org/drawingml/2006/main">
              <a:ext uri="{FF2B5EF4-FFF2-40B4-BE49-F238E27FC236}">
                <a16:creationId xmlns:a16="http://schemas.microsoft.com/office/drawing/2014/main" id="{BA5C1E4E-3504-45B7-8F49-DA2A5697AC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D1E4E2D-582A-4A8A-9AF6-ECD4580404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698128359"/>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CF07D-578B-4BAE-9D53-A96EF2D024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2210AC-AE9A-4856-9EB9-7EFC70B3DD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294F57E5-AADC-4E2E-B931-8B6E75EC85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6E573B8-03B4-4CEB-A26F-7502992141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718E6E40-AF83-4C29-9865-AE90D9CE6C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to the high level of toxicity of these medications, knowing their method of action, dosages, side effects, mode of delivery, and methods to treat emergency reactions and side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effects is essential.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simple medication error can have disastrous consequences.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Preparation and Handling Everyone who comes in contact with chemotherapy drugs must be careful in their handling.</a:t>
            </a:r>
          </a:p>
        </p:txBody>
      </p:sp>
      <p:sp>
        <p:nvSpPr>
          <p:cNvPr id="6" name="">
            <a:extLst xmlns:a="http://schemas.openxmlformats.org/drawingml/2006/main">
              <a:ext uri="{FF2B5EF4-FFF2-40B4-BE49-F238E27FC236}">
                <a16:creationId xmlns:a16="http://schemas.microsoft.com/office/drawing/2014/main" id="{4C3B3BC6-6D17-4C6F-8CEC-43E6EB11FF3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B71A05-7930-40E9-8D92-8C1AC25547A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171744539"/>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BFEBC9-F5B8-42EA-80C0-BB83972B2B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6B07D1-3305-4F6E-8AE6-B42B60CA3F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52129082-14D8-4333-9765-A08274BCE2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BBF4676-845E-4601-8192-23BFA89E2F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905544BA-B36D-4A46-80DE-68FFE15FAF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Mutagenic and carcinogenic reactions have been noted in people with prolonged or repeated exposure.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Precautions to take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drawing and mixing these agents under a special air flow hood, wearing a protective gown, gloves and mask, and adhering to strict biohazardous waste disposal procedures.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wastes which are collected in biohazard secure containers, and then must be disposed of in accordance with city, state and federal regulations.</a:t>
            </a:r>
          </a:p>
        </p:txBody>
      </p:sp>
      <p:sp>
        <p:nvSpPr>
          <p:cNvPr id="6" name="">
            <a:extLst xmlns:a="http://schemas.openxmlformats.org/drawingml/2006/main">
              <a:ext uri="{FF2B5EF4-FFF2-40B4-BE49-F238E27FC236}">
                <a16:creationId xmlns:a16="http://schemas.microsoft.com/office/drawing/2014/main" id="{DF119036-D66F-4EC5-A2B7-619E1F8B0E2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73F7BAA-C04E-47F6-B547-C84B9CBDEB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2072547118"/>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AB8A47-AAE8-41AD-89B4-085646DC63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7290FB-7D7D-4D2F-A03D-7AB6575443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5E249E2D-1914-4877-B9CD-9A7FABB005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DAF36F2-14A0-4A7A-808C-8500186BF5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2020262A-AAF1-46A7-B883-CA41FBFB1C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Administration Parental drugs, of which chemotherapy agents are but one type, are classified as vesicants, nonvesicants, and irritants.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classification depends upon their potential to damage the body's tissues if they leave the vein (extravasate).</a:t>
            </a:r>
          </a:p>
        </p:txBody>
      </p:sp>
      <p:sp>
        <p:nvSpPr>
          <p:cNvPr id="6" name="">
            <a:extLst xmlns:a="http://schemas.openxmlformats.org/drawingml/2006/main">
              <a:ext uri="{FF2B5EF4-FFF2-40B4-BE49-F238E27FC236}">
                <a16:creationId xmlns:a16="http://schemas.microsoft.com/office/drawing/2014/main" id="{0D202F2A-FF25-4417-BB4E-4654ECFAAC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257C8F-C981-4768-911C-6CCCF477445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067187203"/>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02F75B-06C4-4C98-AC25-B31C6E5DC5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A0E0DF-5B1D-46FF-81D1-1DDDEC8913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82"/>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a:t>
            </a:r>
          </a:p>
        </p:txBody>
      </p:sp>
      <p:sp>
        <p:nvSpPr>
          <p:cNvPr id="3" name="">
            <a:extLst xmlns:a="http://schemas.openxmlformats.org/drawingml/2006/main">
              <a:ext uri="{FF2B5EF4-FFF2-40B4-BE49-F238E27FC236}">
                <a16:creationId xmlns:a16="http://schemas.microsoft.com/office/drawing/2014/main" id="{35FDC1DA-226C-4B87-9D7A-FC90837399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D492A4E-0F65-49AB-B232-9C50C36017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8054638F-B2AB-48BE-AC87-EC7132DADA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Vesicants are extremely toxic to skin, subcutaneous tissue, and muscles and may cause necrosis with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of these agents requires careful selection of the venous access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the site is obtained, the catheter requires strict observation and care to prevent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Hourly site evaluations and blood return checks are necessary when vesicants are given as a continuous drip.</a:t>
            </a:r>
          </a:p>
        </p:txBody>
      </p:sp>
      <p:sp>
        <p:nvSpPr>
          <p:cNvPr id="6" name="">
            <a:extLst xmlns:a="http://schemas.openxmlformats.org/drawingml/2006/main">
              <a:ext uri="{FF2B5EF4-FFF2-40B4-BE49-F238E27FC236}">
                <a16:creationId xmlns:a16="http://schemas.microsoft.com/office/drawing/2014/main" id="{2EA7900A-CA08-438B-91C4-48FED62BF5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D4FFD16-F0A9-4C58-B5C0-EC39A46C271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703145691"/>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678ECC-E782-430F-9D2E-AD9D93462D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4CA224A-CC95-4E0C-BEFB-D51D823382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ABF44DD0-91C1-4AD7-B38B-2B7E259CFB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DDE4DB3-D6D1-443E-A61E-34A7C5452BF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020F79B3-EDC9-4504-AC32-9797660971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must notify the staff of any abnormal feelings in the area if the IV catheter (i.e., pain, burning, itching, etc.).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Nonvesicants have little toxic effects on the soft tissue.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drugs may be safely given by peripheral IV catheters in a continuous drip or with a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Irritants are less toxic than vesicants and may only cause burning or minimal inflammation in the area near the catheter.</a:t>
            </a:r>
          </a:p>
        </p:txBody>
      </p:sp>
      <p:sp>
        <p:nvSpPr>
          <p:cNvPr id="6" name="">
            <a:extLst xmlns:a="http://schemas.openxmlformats.org/drawingml/2006/main">
              <a:ext uri="{FF2B5EF4-FFF2-40B4-BE49-F238E27FC236}">
                <a16:creationId xmlns:a16="http://schemas.microsoft.com/office/drawing/2014/main" id="{3A2FEDE7-82E5-4A71-A752-C6D08CF5ED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EB17957-62F6-41DE-AEEA-D39815ACD73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402952988"/>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D1B744-7391-441B-B3F5-300F344D43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4221BA5-8A3A-46E0-A725-0321CFF2DB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D1781DFB-9C00-4B3B-9B34-4792063D30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6196BDD-C768-4E1B-8A19-70E1B576E4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64F6E13D-1477-4667-A6A0-F1A78312A4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may be safely given by continuous infusion or by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to the irritating effect of all chemotherapy agents on the inner lining of veins, a long course of treatment will leave them very fragile.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will increase the chance of extravasation and may necessitate the use of a central venous catheter or infusion port.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Even with a central line the need for careful evaluation of the catheter and surrounding tissue for extravasation remains.</a:t>
            </a:r>
          </a:p>
        </p:txBody>
      </p:sp>
      <p:sp>
        <p:nvSpPr>
          <p:cNvPr id="6" name="">
            <a:extLst xmlns:a="http://schemas.openxmlformats.org/drawingml/2006/main">
              <a:ext uri="{FF2B5EF4-FFF2-40B4-BE49-F238E27FC236}">
                <a16:creationId xmlns:a16="http://schemas.microsoft.com/office/drawing/2014/main" id="{A99DB56B-DC82-43DA-9E62-227D0B0CA7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3D121B-0850-483D-A8FD-F6EC7AA1DB2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629833120"/>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05F479-0D7E-47BE-AF47-72465CB5A9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A6662B6-9D5E-4442-A66C-2E66800D9F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690D0A0C-8FD6-4B57-A7C8-5E2A150B15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1C46939-18CC-428B-925D-1C2AEEC694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57CB34E2-2A9B-4737-8C7C-6D942FA9CC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Those who are predisposed to these problems are the elderly, patients on long-term chemotherapy, and diabetics.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administration of chemotherapy always requires the three C's: Caution with handling, Careful administration technique, and Continuous observation of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CLASSIFICATION OF CHEMOTHERAPY AGENTS (From Cancer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Reference Guide by Linda Tenenbaum) Alkylating Agents Busulfan (Myleran) Chlorambucil (Leukeran) Cispolatin (Platinol) Cyclophosphamide (Cytoxan) Mechlorethamine (Mustargen) Melphalan</a:t>
            </a:r>
          </a:p>
        </p:txBody>
      </p:sp>
      <p:sp>
        <p:nvSpPr>
          <p:cNvPr id="6" name="">
            <a:extLst xmlns:a="http://schemas.openxmlformats.org/drawingml/2006/main">
              <a:ext uri="{FF2B5EF4-FFF2-40B4-BE49-F238E27FC236}">
                <a16:creationId xmlns:a16="http://schemas.microsoft.com/office/drawing/2014/main" id="{612404DA-478E-43DD-8A77-4628917B00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D5273C0-FE18-4664-B682-FD596CEAAA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288744912"/>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753E0C-7266-4A61-A907-37F651B01D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B5EEC9-2304-4F90-9C7A-C59E2031B4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DC5D9D3F-C1DC-4710-927F-8BECB44B8A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E0BDFD3-E6D7-43B4-95BB-676EE7C0E2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E547CAD7-316D-4EAA-BEE3-9A50BEECB1F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(Alkeran) Dacarbazine (DTIC) Ifosfamide (Ifex) Uracil Antibiotics Bleomycin (Blenoxane) Dactinomycin (Actinomycin) Daunorubicin (Cerubidin) Doxorubicin (Adriamycin) Mitomycin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(Mutamycin)</a:t>
            </a:r>
          </a:p>
        </p:txBody>
      </p:sp>
      <p:sp>
        <p:nvSpPr>
          <p:cNvPr id="6" name="">
            <a:extLst xmlns:a="http://schemas.openxmlformats.org/drawingml/2006/main">
              <a:ext uri="{FF2B5EF4-FFF2-40B4-BE49-F238E27FC236}">
                <a16:creationId xmlns:a16="http://schemas.microsoft.com/office/drawing/2014/main" id="{5B2AE25C-B39A-4AD8-9E6D-96FF021CF9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551BD5-7DD2-4EEA-B868-EE1739DAD8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488963802"/>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2B20F2-6B3B-46C7-AC6B-E77FE73B4E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8573A7-8D4B-4E52-9D40-85718E1B55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a:t>
            </a:r>
          </a:p>
        </p:txBody>
      </p:sp>
      <p:sp>
        <p:nvSpPr>
          <p:cNvPr id="3" name="">
            <a:extLst xmlns:a="http://schemas.openxmlformats.org/drawingml/2006/main">
              <a:ext uri="{FF2B5EF4-FFF2-40B4-BE49-F238E27FC236}">
                <a16:creationId xmlns:a16="http://schemas.microsoft.com/office/drawing/2014/main" id="{DDE03EE5-7A82-4310-AB0F-9F280D7636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2C579F7-EE9B-424E-93BF-CE24EDF0E0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4AC8DE16-3CB3-4424-82A7-565493F80D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Cytarabine (Cytosar) 5-flurouracil (5-FU) - Methotrexate (Mexate) Nitroureas Agents Cormustine (BCNU) Lomustine (CCNU) Strep toxocin (Zanosar) Hormonal Agents Estrogens Glucocorticoids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Progestational Agents Antiestrogens Androgens Gonadotropin-releasing hormone analogs Common Side Effects Cancer chemotherapy agents cause a wide variety of side effects, minor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severe, that involve all of the major organ groups.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use of combination and adjuvant therapies increases the probability of untoward side effects.</a:t>
            </a:r>
          </a:p>
        </p:txBody>
      </p:sp>
      <p:sp>
        <p:nvSpPr>
          <p:cNvPr id="6" name="">
            <a:extLst xmlns:a="http://schemas.openxmlformats.org/drawingml/2006/main">
              <a:ext uri="{FF2B5EF4-FFF2-40B4-BE49-F238E27FC236}">
                <a16:creationId xmlns:a16="http://schemas.microsoft.com/office/drawing/2014/main" id="{2AAFBC29-A605-4DBA-AC2F-855B7593AB3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BFB6612-41D6-45D5-904D-B1470B401B0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1921346300"/>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6F51B-7453-4EB5-9B47-C90FDA6F643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9BBE73-EFB8-464D-9BFC-A0A47BA871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 — continued</a:t>
            </a:r>
          </a:p>
        </p:txBody>
      </p:sp>
      <p:sp>
        <p:nvSpPr>
          <p:cNvPr id="3" name="">
            <a:extLst xmlns:a="http://schemas.openxmlformats.org/drawingml/2006/main">
              <a:ext uri="{FF2B5EF4-FFF2-40B4-BE49-F238E27FC236}">
                <a16:creationId xmlns:a16="http://schemas.microsoft.com/office/drawing/2014/main" id="{F5AE3239-A13C-4835-AE3E-E79A1938D5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5B34E82-AAA7-4F42-BD51-92304E4CD0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2A823843-F5A0-4D7F-9F82-903DF96A195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Several of the major side effects of chemotherapy in general, are described below.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you are the nurse responsible for giving these agents, you need to know the specific negative actions of each individual drug, and combination of drugs.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discussion of different nursing interventions that will assist your patients and families through some of the difficult side effects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Neurological Sensory changes, headaches, neuropathies HEEN T Oral thrush, headaches, photophobia Respiratory Decreased immunity to upper respiratory infections and pneumonia Cardiac</a:t>
            </a:r>
          </a:p>
        </p:txBody>
      </p:sp>
      <p:sp>
        <p:nvSpPr>
          <p:cNvPr id="6" name="">
            <a:extLst xmlns:a="http://schemas.openxmlformats.org/drawingml/2006/main">
              <a:ext uri="{FF2B5EF4-FFF2-40B4-BE49-F238E27FC236}">
                <a16:creationId xmlns:a16="http://schemas.microsoft.com/office/drawing/2014/main" id="{086AF028-8460-4B0D-A440-32B1076BE8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334762D-3454-4E64-9469-FFD33C975B7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2084906790"/>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46B4E4-700D-426C-AA9B-E9A5732FC9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1BCF94-DE20-4483-A65C-CE34FD29EF9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 — continued</a:t>
            </a:r>
          </a:p>
        </p:txBody>
      </p:sp>
      <p:sp>
        <p:nvSpPr>
          <p:cNvPr id="3" name="">
            <a:extLst xmlns:a="http://schemas.openxmlformats.org/drawingml/2006/main">
              <a:ext uri="{FF2B5EF4-FFF2-40B4-BE49-F238E27FC236}">
                <a16:creationId xmlns:a16="http://schemas.microsoft.com/office/drawing/2014/main" id="{2A66FD3D-1BD0-4BC8-86C4-98DE0715F2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84DA284-5BB2-44D3-9D3F-ADEBDB1336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F5E59388-F7F1-4466-9DCF-F46A20C53A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Dehydration, fluid imbalances, cardiac toxicity GI Nausea, vomiting, diarrhea, stomatitis, reduced appetite, changes in food taste, constipation GU Hematuria, increased chance of</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infection, urine discoloration, renal failure GYN Dysmennorhia, yeast infections</a:t>
            </a:r>
          </a:p>
        </p:txBody>
      </p:sp>
      <p:sp>
        <p:nvSpPr>
          <p:cNvPr id="6" name="">
            <a:extLst xmlns:a="http://schemas.openxmlformats.org/drawingml/2006/main">
              <a:ext uri="{FF2B5EF4-FFF2-40B4-BE49-F238E27FC236}">
                <a16:creationId xmlns:a16="http://schemas.microsoft.com/office/drawing/2014/main" id="{DC485C4F-C975-4A7A-A240-63BB050D33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60E2E34-A138-4D9A-BB4B-F68A7C329C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247632895"/>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F11C2C-F2BB-448E-9BDC-EF5A687147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B99B4C-4AF7-447C-84F3-AB3A5ECE35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2"/>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a:t>
            </a:r>
          </a:p>
        </p:txBody>
      </p:sp>
      <p:sp>
        <p:nvSpPr>
          <p:cNvPr id="3" name="">
            <a:extLst xmlns:a="http://schemas.openxmlformats.org/drawingml/2006/main">
              <a:ext uri="{FF2B5EF4-FFF2-40B4-BE49-F238E27FC236}">
                <a16:creationId xmlns:a16="http://schemas.microsoft.com/office/drawing/2014/main" id="{91307038-611C-4EC6-AE23-25DF38E527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FC57A1C-AE97-4D78-A661-9C270A445B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33613855-FCEB-4DDE-BFA8-709F0DADBA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Extremities Muscles mass loss (due to decreased food intake), weakness, and decreased mobility Skin Decreased turgor, bruising, redness, itching, increased pigmentation, and yeast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infection, alopecia.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of chemotherapy agents with pain, swelling, and possible necrosis Hematopoetic Myelosuppression (inhibition of the bone marrow, which produces blood cells, resulting 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anemia, bleeding disorders, and increased risk of infection) Psychosocial Withdrawal, regression, depression, possible suicidal.</a:t>
            </a:r>
          </a:p>
        </p:txBody>
      </p:sp>
      <p:sp>
        <p:nvSpPr>
          <p:cNvPr id="6" name="">
            <a:extLst xmlns:a="http://schemas.openxmlformats.org/drawingml/2006/main">
              <a:ext uri="{FF2B5EF4-FFF2-40B4-BE49-F238E27FC236}">
                <a16:creationId xmlns:a16="http://schemas.microsoft.com/office/drawing/2014/main" id="{2DF93202-1807-4ECF-9D77-515F997381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CFB53B4-B28D-40BB-8CEE-D50293F8212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112276156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20781A-D3DE-4175-9D28-DA0DBFEB1A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E6C1782-F8F1-4A52-ACB4-17384A9CC7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43AC6739-EBFB-4267-A77B-76EE6C2B28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F3506C6-B317-499D-A9D0-354460D9F4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49FEC5DF-4AE3-43EB-88AF-E36BDEC60A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Increased stress on family unit.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Damaged self-concept.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Loss of sexual drive.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Interventions Nausea &amp; Vomiting Foods served cold or at room temperature are better tolerated.</a:t>
            </a:r>
          </a:p>
        </p:txBody>
      </p:sp>
      <p:sp>
        <p:nvSpPr>
          <p:cNvPr id="6" name="">
            <a:extLst xmlns:a="http://schemas.openxmlformats.org/drawingml/2006/main">
              <a:ext uri="{FF2B5EF4-FFF2-40B4-BE49-F238E27FC236}">
                <a16:creationId xmlns:a16="http://schemas.microsoft.com/office/drawing/2014/main" id="{6B73EF1A-93BB-4C09-85C5-4F85A23CD9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DBEBB80-7387-4070-91F0-25ADA623FB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25157786"/>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A98C84-1B29-4C3D-B34C-0C48A13243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DA50C6-D232-4DB4-A645-6962F9C3F3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7C6ACCE8-DFF3-4D79-932F-2F125E47A25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70315BE-83C1-43F9-ADDE-452099E678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06C6177F-0D20-4F29-B5BB-254DFBFAE1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sweet, salty, spicy, and odiferous foods A clear liquid diet for times of nausea, before and after every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Eat smaller meals in greater frequency Decrease unpleasant surroundings Do not bring food to nauseated patients, wait until they are ready to eat Provide distractions when possible, 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games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TV, reading Give anti-emetics as ordered, and as soon as needed Myelosuppression Use isolation techniques that protect patient form exposure to communicable pathogens Use universal</a:t>
            </a:r>
          </a:p>
        </p:txBody>
      </p:sp>
      <p:sp>
        <p:nvSpPr>
          <p:cNvPr id="6" name="">
            <a:extLst xmlns:a="http://schemas.openxmlformats.org/drawingml/2006/main">
              <a:ext uri="{FF2B5EF4-FFF2-40B4-BE49-F238E27FC236}">
                <a16:creationId xmlns:a16="http://schemas.microsoft.com/office/drawing/2014/main" id="{2DA5F5BE-18C7-4041-B1E9-DE969AA07A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9EB54D-3A06-498D-98EE-0CFB7197DCB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675853015"/>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FB2B9D-B452-429E-8F24-20AABCDD0A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EA00B9-1A73-40CD-B5A0-A2B873DC2C7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A38E0C7F-3776-458D-88B3-676C8C323D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291B2B1-8409-4E2C-95ED-025828A781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23D48161-A3AC-490F-A3AE-562D6CF2BC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precautions Support pre and post treatment hydration (IV or PO) Assess for and report signs of anemia or bleeding Stomatitis Assess the oral cavity at least BID, and report infection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Encourage oral intake Avoid wearing ill-fitting dentures Avoid alcohol, tobacco, and foods that are hot or cold Use a soft toothbrush or sponge brush and stop flossing with bleeding or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Use topical anesthetics if ordered prior to oral hygiene and eating to increase comfort</a:t>
            </a:r>
          </a:p>
        </p:txBody>
      </p:sp>
      <p:sp>
        <p:nvSpPr>
          <p:cNvPr id="6" name="">
            <a:extLst xmlns:a="http://schemas.openxmlformats.org/drawingml/2006/main">
              <a:ext uri="{FF2B5EF4-FFF2-40B4-BE49-F238E27FC236}">
                <a16:creationId xmlns:a16="http://schemas.microsoft.com/office/drawing/2014/main" id="{DF5E98E6-24FF-4046-81E8-CADD3A02FA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DCB16D-1361-4DF0-B2E9-CC1818D694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1917732534"/>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B34DDC-1C15-44AA-AF86-FDBDECECC8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0E95E8-3377-41C3-AF32-DDB1CE41D5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a:t>
            </a:r>
          </a:p>
        </p:txBody>
      </p:sp>
      <p:sp>
        <p:nvSpPr>
          <p:cNvPr id="3" name="">
            <a:extLst xmlns:a="http://schemas.openxmlformats.org/drawingml/2006/main">
              <a:ext uri="{FF2B5EF4-FFF2-40B4-BE49-F238E27FC236}">
                <a16:creationId xmlns:a16="http://schemas.microsoft.com/office/drawing/2014/main" id="{6A34968B-1080-4832-86D6-C56BC836B6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4B778B4-F006-4567-96AE-49164D119C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3FF01CE4-FB28-4971-B3DE-5A3DFE4470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Report quantity and quality of diarrhea and give anti-diarrhea medications as ordered (at regular intervals, not PRN) Extravasation Monitor insertion site frequently and carefully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 Encourage the patient to report any discomfort, swelling, or discoloration at the site If extravasation is suspected, stop the IV, do not remove the catheter, and notify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charge nurse immediately List of Common Vesicant / Irritant Drugs 1 Nitrogen Mustard (Mechlorethamine)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Mutamycin (Mitomycin C) Velban (Binblastine) Oncovin (Vincristine) Eldisine (Vindesine) VM-26 (Teniposide) Adriamycine (Doxorubicin) Cerubidine (Daunomycin, Daunorubicin, Rubidomycin 9.</a:t>
            </a:r>
          </a:p>
        </p:txBody>
      </p:sp>
      <p:sp>
        <p:nvSpPr>
          <p:cNvPr id="6" name="">
            <a:extLst xmlns:a="http://schemas.openxmlformats.org/drawingml/2006/main">
              <a:ext uri="{FF2B5EF4-FFF2-40B4-BE49-F238E27FC236}">
                <a16:creationId xmlns:a16="http://schemas.microsoft.com/office/drawing/2014/main" id="{D448BD9C-2F0B-4B0F-9D7B-805D7F30C5A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605B43D-61DC-448A-8110-7C28692949D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509126280"/>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1B4836-EF48-4186-9EE8-1913516F19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F27C5E-C45E-4AB3-93C5-B16A0D8F3FD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 — continued</a:t>
            </a:r>
          </a:p>
        </p:txBody>
      </p:sp>
      <p:sp>
        <p:nvSpPr>
          <p:cNvPr id="3" name="">
            <a:extLst xmlns:a="http://schemas.openxmlformats.org/drawingml/2006/main">
              <a:ext uri="{FF2B5EF4-FFF2-40B4-BE49-F238E27FC236}">
                <a16:creationId xmlns:a16="http://schemas.microsoft.com/office/drawing/2014/main" id="{972270D5-7DC3-4D2D-9A3A-C08FEC489F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C856251-D5C0-4E92-A187-3BD8444384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056590AA-31A8-477D-B6A3-E2A649FA72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Cosmegen(Dactinomycin, Actinomycin D) 10.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Bisantrene 11 Mithramycin (Mithracin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Plicamycin) 12 Dacarbazine (DTIC) Specific Drug Side Effects Adriamycin: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Urine turns reddish in color (not from blood)</a:t>
            </a:r>
          </a:p>
        </p:txBody>
      </p:sp>
      <p:sp>
        <p:nvSpPr>
          <p:cNvPr id="6" name="">
            <a:extLst xmlns:a="http://schemas.openxmlformats.org/drawingml/2006/main">
              <a:ext uri="{FF2B5EF4-FFF2-40B4-BE49-F238E27FC236}">
                <a16:creationId xmlns:a16="http://schemas.microsoft.com/office/drawing/2014/main" id="{8B18DF15-9D43-4EB3-8CB3-4261DC96F5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1F57AB-334E-4E54-BC81-008E265831D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93516242"/>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934792-D0A3-4A7F-8CA3-E0836802E9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52013A-F89C-499B-ADBC-5FC36CCD77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 — continued</a:t>
            </a:r>
          </a:p>
        </p:txBody>
      </p:sp>
      <p:sp>
        <p:nvSpPr>
          <p:cNvPr id="3" name="">
            <a:extLst xmlns:a="http://schemas.openxmlformats.org/drawingml/2006/main">
              <a:ext uri="{FF2B5EF4-FFF2-40B4-BE49-F238E27FC236}">
                <a16:creationId xmlns:a16="http://schemas.microsoft.com/office/drawing/2014/main" id="{4FE14B0A-6E16-4D15-ADDF-7A1225BBB5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6B053C6-88D4-4E48-AEB3-6CB2DF6C9D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81417990-00F8-465A-9460-BE9A21E892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Lasts one to two days after medication is given Bleomycin: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Adverse reactions include shaking, chills and febrile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test dose is normally given</a:t>
            </a:r>
          </a:p>
        </p:txBody>
      </p:sp>
      <p:sp>
        <p:nvSpPr>
          <p:cNvPr id="6" name="">
            <a:extLst xmlns:a="http://schemas.openxmlformats.org/drawingml/2006/main">
              <a:ext uri="{FF2B5EF4-FFF2-40B4-BE49-F238E27FC236}">
                <a16:creationId xmlns:a16="http://schemas.microsoft.com/office/drawing/2014/main" id="{FD425F7F-714E-4BA8-A0B6-CE74868907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D6E4D1-A73F-4B38-BA44-C8CFF125832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762819437"/>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440BAB-209E-417C-9475-CD2CF1AF43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685F3C-3B9C-4948-A4EB-7DFFF743AD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a:t>
            </a:r>
          </a:p>
        </p:txBody>
      </p:sp>
      <p:sp>
        <p:nvSpPr>
          <p:cNvPr id="3" name="">
            <a:extLst xmlns:a="http://schemas.openxmlformats.org/drawingml/2006/main">
              <a:ext uri="{FF2B5EF4-FFF2-40B4-BE49-F238E27FC236}">
                <a16:creationId xmlns:a16="http://schemas.microsoft.com/office/drawing/2014/main" id="{F8FA6A12-20F0-4D3F-AFBA-9417559460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6E877A2-20F6-498E-8EF9-E08BC69B73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371CA0A7-A6F1-477C-816A-51DDD5758F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fears exist in our society about cancer and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Your patient and their family will be very apprehensive about the disease as well as the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Whether those fears are grounded in fact, or based on misinformation, they must be addressed.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a caring and compassionate demeanor is required in oncology nursing, the single most effective tool for reducing apprehension is information.</a:t>
            </a:r>
          </a:p>
        </p:txBody>
      </p:sp>
      <p:sp>
        <p:nvSpPr>
          <p:cNvPr id="6" name="">
            <a:extLst xmlns:a="http://schemas.openxmlformats.org/drawingml/2006/main">
              <a:ext uri="{FF2B5EF4-FFF2-40B4-BE49-F238E27FC236}">
                <a16:creationId xmlns:a16="http://schemas.microsoft.com/office/drawing/2014/main" id="{1A12D5D5-3AC6-4D0A-8CC9-41DD1880B1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91FA50-EB7F-4AA3-BCE0-DB6D27FA79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34895448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69A87F-D10A-4F7B-B7A5-928A05E48E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65F88E-1B26-4238-AA53-31D0A0C084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8E252A62-8EAD-4C0E-967F-654E7FE0ED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ED156FA-9AFE-4D88-9E7A-9A73FF572F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F911C6DB-041F-4F16-903B-34CDD909EC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Knowledge about the disease, the treatment, and expected outcomes will alleviate anxieties and aid in the formation of a cooperative and successful relationship with your patient 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changes and challenges that occur during the course of cancer and treatment affect all areas of an individuals' life: psychological, social, sexual, spiritual, and physical.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Nothing is left untouched.</a:t>
            </a:r>
          </a:p>
        </p:txBody>
      </p:sp>
      <p:sp>
        <p:nvSpPr>
          <p:cNvPr id="6" name="">
            <a:extLst xmlns:a="http://schemas.openxmlformats.org/drawingml/2006/main">
              <a:ext uri="{FF2B5EF4-FFF2-40B4-BE49-F238E27FC236}">
                <a16:creationId xmlns:a16="http://schemas.microsoft.com/office/drawing/2014/main" id="{17780C40-4B06-4889-91FF-6735C392C9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7BA04B9-71DB-4CB8-ACE5-7AE0981A8E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77540151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06EC8B-39AC-4747-9DFE-A693A5E866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6D3D8E-A2F0-4F55-A5E0-9280EB56FE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9252CC6A-9508-4CFA-B83C-D8AE396C9C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DFFB34B-E59C-46B9-91E7-04CB2E91AF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3E38C368-99E3-4AB0-ABC9-405D1AD6696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education you provide should encompass all of these areas.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question and answer examples only touch briefly on some of the issues that you will encounter: 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Will the Chemotherapy be painful?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Taking chemotherapeutic agents is no more painful than any other medication.</a:t>
            </a:r>
          </a:p>
        </p:txBody>
      </p:sp>
      <p:sp>
        <p:nvSpPr>
          <p:cNvPr id="6" name="">
            <a:extLst xmlns:a="http://schemas.openxmlformats.org/drawingml/2006/main">
              <a:ext uri="{FF2B5EF4-FFF2-40B4-BE49-F238E27FC236}">
                <a16:creationId xmlns:a16="http://schemas.microsoft.com/office/drawing/2014/main" id="{32CAB469-3AC4-40C6-9CC1-41BD6E90D0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326E9B7-AD7A-4354-822F-769387A7EB5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768476462"/>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F08D64-FD54-4F92-BABD-382FE3E76D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EEB89A-6672-4285-8C1D-51F0E5A831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F8F451A8-1D37-407B-B00E-3367FAAB5D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6BB49E3-D73F-4845-AFDF-F25F8D6EE3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064AE921-10ED-49C8-8037-B72130FBB9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pills are no worse, the injections hurt just like a normal injection, and the only discomfort you feel form the IV medications is from the insertion of the needle itself.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Will I lose my hair from having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Hair cells grow more rapidly than most of the bodies other cells and this makes them similar to cancer cells which also reproduce rapidly.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attacks fast growing cells more than slow ones, which is why the hair follicle is sometimes damaged.</a:t>
            </a:r>
          </a:p>
        </p:txBody>
      </p:sp>
      <p:sp>
        <p:nvSpPr>
          <p:cNvPr id="6" name="">
            <a:extLst xmlns:a="http://schemas.openxmlformats.org/drawingml/2006/main">
              <a:ext uri="{FF2B5EF4-FFF2-40B4-BE49-F238E27FC236}">
                <a16:creationId xmlns:a16="http://schemas.microsoft.com/office/drawing/2014/main" id="{5E4F1C92-7CB0-43D1-AE68-699B26099D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AA1B5C-91CE-4423-9235-31E4B6A051A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33692936"/>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7B7245-0CE7-44C5-BA7B-9EC265960D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CCCAA9-59DF-44E5-B8E8-1259BC1440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4501E60D-6699-40BF-84EC-16CD28D2BC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2AA013A-1FA2-413F-855F-1F4AE62B49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89267F2E-0BCF-47EA-8103-14AD40D756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a number of interventions available to reduce this problem.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What can I do about the problems with my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individual reacts differently to the medication.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Redness, itching, and dryness are possibilities that may occur.</a:t>
            </a:r>
          </a:p>
        </p:txBody>
      </p:sp>
      <p:sp>
        <p:nvSpPr>
          <p:cNvPr id="6" name="">
            <a:extLst xmlns:a="http://schemas.openxmlformats.org/drawingml/2006/main">
              <a:ext uri="{FF2B5EF4-FFF2-40B4-BE49-F238E27FC236}">
                <a16:creationId xmlns:a16="http://schemas.microsoft.com/office/drawing/2014/main" id="{825542BB-1122-41C3-869B-3332524DDB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23C58F-172F-47B8-9EF8-D5C571C4C0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081869012"/>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8E909B-EAAE-44C7-9196-49B758D068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CAF97E-FFF4-4100-BC14-2722F3A1ED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5B7D9E34-A8A4-4B8C-92AA-3F47D851A2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D9E0309-33DF-4AD2-AD08-5CB9015D46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473D7F4F-AB95-4797-8A69-26BB42C029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Most skin problems can be treated with a variety of creams and lotions for comfort.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 will I know if I'm getting an infection?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you develop a new pain or discomfort, fever, temperature, chills, cough, urinary or gynecological problems, or other unusual symptoms, contact the physician or nurse.</a:t>
            </a:r>
          </a:p>
        </p:txBody>
      </p:sp>
      <p:sp>
        <p:nvSpPr>
          <p:cNvPr id="6" name="">
            <a:extLst xmlns:a="http://schemas.openxmlformats.org/drawingml/2006/main">
              <a:ext uri="{FF2B5EF4-FFF2-40B4-BE49-F238E27FC236}">
                <a16:creationId xmlns:a16="http://schemas.microsoft.com/office/drawing/2014/main" id="{0D8BDEC2-B3E3-405A-AEFE-E3C2AC3C00B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F87D85F-E114-4280-BEB0-C6863BD460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242659610"/>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789017-C51A-4B27-9C19-9A4B64C92A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8648C7-BCF1-42E9-BC49-0320F9FFC1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a:t>
            </a:r>
          </a:p>
        </p:txBody>
      </p:sp>
      <p:sp>
        <p:nvSpPr>
          <p:cNvPr id="3" name="">
            <a:extLst xmlns:a="http://schemas.openxmlformats.org/drawingml/2006/main">
              <a:ext uri="{FF2B5EF4-FFF2-40B4-BE49-F238E27FC236}">
                <a16:creationId xmlns:a16="http://schemas.microsoft.com/office/drawing/2014/main" id="{8A16B971-C65F-4CA9-92CF-CB7E76B8A0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C212E30-C192-4227-A7A2-909804E92BF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8B7D8ED1-E4D9-4CC0-88D3-62461D4A53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 important is drinking liquids?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Due to the action of some agents on the kidneys, it is very important to drink a greater amount of liquid than normal.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Why do I need to eat when I don't even want to look at food?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puts a great stress on the body and increases its nutritional needs.</a:t>
            </a:r>
          </a:p>
        </p:txBody>
      </p:sp>
      <p:sp>
        <p:nvSpPr>
          <p:cNvPr id="6" name="">
            <a:extLst xmlns:a="http://schemas.openxmlformats.org/drawingml/2006/main">
              <a:ext uri="{FF2B5EF4-FFF2-40B4-BE49-F238E27FC236}">
                <a16:creationId xmlns:a16="http://schemas.microsoft.com/office/drawing/2014/main" id="{3529F9BE-60FA-4A9F-AC00-C5B55CB4C5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6E6C50-E665-4038-BC16-CB73C6ECD06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079607699"/>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9A140C-520B-4D15-8177-29E7334962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946A4B-60D2-4915-8A7A-EFE9DA2793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D2677051-8184-4E6A-95D7-C11DFCE87C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74EF1AD-E75E-4574-A591-03AE0B01A8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9EE9CDFB-8988-4C40-8886-612C0C24F5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Fueling your body during this time is extremely important to your current sense of well being and to the success of the treatments.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agents may increase of decrease your appetite, change your tastes, or affect it in other ways.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your appetite decreases do things that help it, such as eat small frequent meals, make the meal a special event, reward yourself for eating, etc.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only a sampling of the questions that will arise.</a:t>
            </a:r>
          </a:p>
        </p:txBody>
      </p:sp>
      <p:sp>
        <p:nvSpPr>
          <p:cNvPr id="6" name="">
            <a:extLst xmlns:a="http://schemas.openxmlformats.org/drawingml/2006/main">
              <a:ext uri="{FF2B5EF4-FFF2-40B4-BE49-F238E27FC236}">
                <a16:creationId xmlns:a16="http://schemas.microsoft.com/office/drawing/2014/main" id="{258ADB2D-0B81-4989-A7AC-8C2C3CAB98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D0466CC-4A09-4918-801B-CA9F2EA52B5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518715433"/>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2D3099-2DE0-425C-8210-7B2AE71609A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8B9D84-594B-459B-9241-14A6680685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DCF10066-7400-49A9-947D-387EAF20A1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6DDE003-6A3D-4BDC-88FB-3D1A6383E4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86FB708C-6DB6-4559-B3B8-6EEF16C216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Prepare yourself for this specialty area by making use of the number of written materials and educational opportunities that are available.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Alopecia is one of the more traumatic side effects of chemotherapy because of the damage it does to a person's body image.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problem alone may discourage people from initiating or continuing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Here is a list of considerations when this issue arises</a:t>
            </a:r>
          </a:p>
        </p:txBody>
      </p:sp>
      <p:sp>
        <p:nvSpPr>
          <p:cNvPr id="6" name="">
            <a:extLst xmlns:a="http://schemas.openxmlformats.org/drawingml/2006/main">
              <a:ext uri="{FF2B5EF4-FFF2-40B4-BE49-F238E27FC236}">
                <a16:creationId xmlns:a16="http://schemas.microsoft.com/office/drawing/2014/main" id="{8839A93F-2F24-46E6-A3A3-052DF7AD7CB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56B0F4-AEEF-44F4-9910-33DA108E88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022389188"/>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F4590A-C3C2-4659-BA1F-D5B6D81CEF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A36B00-7150-4CFE-BA82-095F0A7008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21907755-672E-47F7-9665-BB089B03C1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B1DFE4E-69F5-4451-B67F-7C911CE983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A9F89164-B391-4D2C-9DE5-3FA47F6EFC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may want to purchase a "hair prosthesis" before treatment to match their actual hair and wear it occasionally to get use to 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Insurance may cover this cost.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may want to shave their hair and get an earring to identify with an athletic person or other star and make that a positive change in their image.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 that hair loss is usually temporary and differs in degree and duration.</a:t>
            </a:r>
          </a:p>
        </p:txBody>
      </p:sp>
      <p:sp>
        <p:nvSpPr>
          <p:cNvPr id="6" name="">
            <a:extLst xmlns:a="http://schemas.openxmlformats.org/drawingml/2006/main">
              <a:ext uri="{FF2B5EF4-FFF2-40B4-BE49-F238E27FC236}">
                <a16:creationId xmlns:a16="http://schemas.microsoft.com/office/drawing/2014/main" id="{29448135-C208-46AD-ADBA-7E67985662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3F9E488-4E02-4A30-8742-E12986D3FF0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150013132"/>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F88255-B948-4CED-96B1-6B83DC8CD2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23FBC8-DD84-447C-9CB0-ADE7D133ED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4CB607CD-FA8C-452E-B931-94AE1F9264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84C6F1A-B593-4B1D-AC9B-BAE9551562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74060ED3-91F4-44E0-B0DF-05ED5D2E4E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loss of other body hair is generally less severe, and hair often returns during or right after the completion of therapy though it may change slightly in color or texture.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the following which may add to hair damage: excessive brushing, hair dryers, hair sprays, coloring and bleaching, harsh shampoos.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mild protein based shampoos and conditioners.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the person to talk about this important part of their self-image.</a:t>
            </a:r>
          </a:p>
        </p:txBody>
      </p:sp>
      <p:sp>
        <p:nvSpPr>
          <p:cNvPr id="6" name="">
            <a:extLst xmlns:a="http://schemas.openxmlformats.org/drawingml/2006/main">
              <a:ext uri="{FF2B5EF4-FFF2-40B4-BE49-F238E27FC236}">
                <a16:creationId xmlns:a16="http://schemas.microsoft.com/office/drawing/2014/main" id="{84946445-DEDE-43AD-8932-A4C72197AF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0D9BE37-6BE7-4382-89FE-8B026ABACF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768571563"/>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1FE3C2-D8A6-4524-BD43-B3D55E6ED0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6A0B96-A6A3-4C89-AB91-B9E37B7383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02E93394-1D26-4425-A189-0A3173ED8A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7F19B03-9452-424A-A8C3-8F42748C56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816C5108-1902-4385-8D67-74D3B9E647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Alternative Routes There are a number of potential routes of administration for the different chemotherapy agents.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Though you may not be responsible for actually giving the medication, you will need to know about the specific agent, its action, method of delivery, side effects, and accompanying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 education factors.</a:t>
            </a:r>
          </a:p>
        </p:txBody>
      </p:sp>
      <p:sp>
        <p:nvSpPr>
          <p:cNvPr id="6" name="">
            <a:extLst xmlns:a="http://schemas.openxmlformats.org/drawingml/2006/main">
              <a:ext uri="{FF2B5EF4-FFF2-40B4-BE49-F238E27FC236}">
                <a16:creationId xmlns:a16="http://schemas.microsoft.com/office/drawing/2014/main" id="{7F5D90FF-7DFB-46E8-9505-4D36C57069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C4B20DD-7C8F-4D49-9B93-00FC112BAA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026413480"/>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5796F4-CE46-4CA5-83C8-7D9700C3BA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CCE8BA-68F7-4BD9-BC9E-92731C63EC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a:t>
            </a:r>
          </a:p>
        </p:txBody>
      </p:sp>
      <p:sp>
        <p:nvSpPr>
          <p:cNvPr id="3" name="">
            <a:extLst xmlns:a="http://schemas.openxmlformats.org/drawingml/2006/main">
              <a:ext uri="{FF2B5EF4-FFF2-40B4-BE49-F238E27FC236}">
                <a16:creationId xmlns:a16="http://schemas.microsoft.com/office/drawing/2014/main" id="{504010D2-1EB3-4A7C-8224-0AA211C71C1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511A7AC-7A32-40E4-A7F5-D27E4818B7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8CE66F7E-E6AE-4347-B36F-CBE4A1BF4C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Commonly used for certain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Intramuscular or Subcutaneous Route Used infrequently.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Irritants and especially vesicants are avoided by this route.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route is used for other agents, note swelling, pain, discoloration, and bleeding at the puncture site.</a:t>
            </a:r>
          </a:p>
        </p:txBody>
      </p:sp>
      <p:sp>
        <p:nvSpPr>
          <p:cNvPr id="6" name="">
            <a:extLst xmlns:a="http://schemas.openxmlformats.org/drawingml/2006/main">
              <a:ext uri="{FF2B5EF4-FFF2-40B4-BE49-F238E27FC236}">
                <a16:creationId xmlns:a16="http://schemas.microsoft.com/office/drawing/2014/main" id="{50CD9563-D398-4B6B-BE50-93376CB116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C017067-D1B4-4917-928C-59F3A917BB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1414411912"/>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05A885-8288-43EB-B0FA-7960300350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7D9AEA-5F1A-4E59-91F3-D19A2AD2E4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D2075436-BC2C-4C03-BCCD-63B396FE61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3B8D13A-1C0C-4A23-947B-7CB16ED17E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51391E56-3D83-4109-BCC1-E4A74B3D6C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Route This is the most common route used due to the superior absorption of the agent.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complications are local irritation and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Observing and maintaining the IV site are critical, especially with vesicants.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use of aseptic technique in changing solution</a:t>
            </a:r>
          </a:p>
        </p:txBody>
      </p:sp>
      <p:sp>
        <p:nvSpPr>
          <p:cNvPr id="6" name="">
            <a:extLst xmlns:a="http://schemas.openxmlformats.org/drawingml/2006/main">
              <a:ext uri="{FF2B5EF4-FFF2-40B4-BE49-F238E27FC236}">
                <a16:creationId xmlns:a16="http://schemas.microsoft.com/office/drawing/2014/main" id="{22FD91A7-A995-4891-87BA-4587C68116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62D26A-1DD1-4DA5-865E-6F2BFCF6FE6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302169826"/>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8B64FB-AABB-436F-85DE-D22687DFBB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4AC897-394E-4FC1-9C75-3E9353A6EC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F82F2A9B-3FFC-46D2-96B0-5E22649005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A98F870-F7C5-474F-8A17-871355A219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F6AE4CD0-313B-4565-A691-55882A21DB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IV bags, adding medications, and changing tubing is essential as these persons may be immuno-compromised and extremely susceptible to the introduction of any bacteria.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Venous system access may be accomplished through a peripheral catheter, a central venous catheter (CVP or an Infusaport), or a peripherally inserted central venous catheter (PICC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Site care is even more critical with central 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Intra-Arterial Route An agent injected into an artery proximal to a tumor or affected organ travels directly to that area before spreading to the rest of the body.</a:t>
            </a:r>
          </a:p>
        </p:txBody>
      </p:sp>
      <p:sp>
        <p:nvSpPr>
          <p:cNvPr id="6" name="">
            <a:extLst xmlns:a="http://schemas.openxmlformats.org/drawingml/2006/main">
              <a:ext uri="{FF2B5EF4-FFF2-40B4-BE49-F238E27FC236}">
                <a16:creationId xmlns:a16="http://schemas.microsoft.com/office/drawing/2014/main" id="{A72B99A8-BA54-455B-B181-6C7A832A503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545F04D-B678-459A-A6E3-4A5EE780C40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53500412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87A3AC-5997-45D1-A2F2-8B9A403914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02BE90-C18A-46DF-B04B-0E801E8FDE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D2427CA4-3430-4E80-BCC6-CE649F8619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9736B54-B16D-4185-98C0-B81F2B0478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A56B8FFC-938B-4084-9119-9F84C81038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Higher concentrations are then achieved at the target area, with fewer side effects to the rest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insertion is chosen careful and care includes maintaining catheter patency, bleeding, and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Routes Intraperitoneal therapy is often used for ovarian and colon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small catheter is inserted into the intraperitoneal cavity through an incision just below the umbilicus, and the agent then instilled.</a:t>
            </a:r>
          </a:p>
        </p:txBody>
      </p:sp>
      <p:sp>
        <p:nvSpPr>
          <p:cNvPr id="6" name="">
            <a:extLst xmlns:a="http://schemas.openxmlformats.org/drawingml/2006/main">
              <a:ext uri="{FF2B5EF4-FFF2-40B4-BE49-F238E27FC236}">
                <a16:creationId xmlns:a16="http://schemas.microsoft.com/office/drawing/2014/main" id="{2255B6CF-70B0-4C94-87F7-CCF6A2BA16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32AFA7-F553-4D48-93D6-13BA4D95DE8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349535538"/>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679031-930C-46EA-81F6-61439AEEF5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2C43EB-9D4D-488C-8588-DB47500819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2F74D460-BD86-483E-A935-7F2C55A0E3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C0A0D3C-DF6E-4E6D-826E-70BF9C3294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8F736144-CF3F-414A-97D2-78663E2646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intrapieural route is used for some forms of lung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small tube is inserted, in a manner not unlike a chest tube, into the intrapicural space where the chemotherapy is then injected.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Intrathecal chemotherapy is injected into cerebrospinal fluid through a lumbar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more directly focuses the agent to central nervous system cancers.</a:t>
            </a:r>
          </a:p>
        </p:txBody>
      </p:sp>
      <p:sp>
        <p:nvSpPr>
          <p:cNvPr id="6" name="">
            <a:extLst xmlns:a="http://schemas.openxmlformats.org/drawingml/2006/main">
              <a:ext uri="{FF2B5EF4-FFF2-40B4-BE49-F238E27FC236}">
                <a16:creationId xmlns:a16="http://schemas.microsoft.com/office/drawing/2014/main" id="{07ACB04D-C021-4FEF-9BB6-21661F9DBAF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2EB348-01F8-43FB-83C6-22476109119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1351205814"/>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5ED1E8-8FDF-4759-BFD5-4860F22E6A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60597E-DB89-4639-B9DD-7C8197BF99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a:t>
            </a:r>
          </a:p>
        </p:txBody>
      </p:sp>
      <p:sp>
        <p:nvSpPr>
          <p:cNvPr id="3" name="">
            <a:extLst xmlns:a="http://schemas.openxmlformats.org/drawingml/2006/main">
              <a:ext uri="{FF2B5EF4-FFF2-40B4-BE49-F238E27FC236}">
                <a16:creationId xmlns:a16="http://schemas.microsoft.com/office/drawing/2014/main" id="{0A11B244-0AAB-47C0-9885-6FEB96D00A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C6418E1-06E3-49E4-9C57-1073A42A60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D57D5288-C793-4F14-BD14-2B20F3F896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of these approaches carries its' own risks for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Site maintenance is similar for each method, but the nurse needs to be knowledgeable of the problems and specific care associated with each.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GLOSSARY Adjuvant Chemotherapy Using drugs in combination with surgery and/or radiation to treat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Akylating Agent Agents that interfere with the DNA replication process Alopecia The loss of hair from the scalp and body.</a:t>
            </a:r>
          </a:p>
        </p:txBody>
      </p:sp>
      <p:sp>
        <p:nvSpPr>
          <p:cNvPr id="6" name="">
            <a:extLst xmlns:a="http://schemas.openxmlformats.org/drawingml/2006/main">
              <a:ext uri="{FF2B5EF4-FFF2-40B4-BE49-F238E27FC236}">
                <a16:creationId xmlns:a16="http://schemas.microsoft.com/office/drawing/2014/main" id="{B9FD0889-E5D5-4A8A-88D0-5F4B5FF684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D72AF0C-33EC-481E-AC44-97AEE1ADC1B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1367717163"/>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63A097-A996-4502-AA80-881F41F497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12FF8F-A81D-4F03-BCBE-3CD7F22A40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195CE216-8C4D-415A-B4C9-8A8A44670A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E9DFF49-A59A-4EC7-9E9E-2CA39A6F66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F30499D9-00E1-4962-A5B8-7524F67C6F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Anorexia The reduction or loss of appetite for food.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Anticipatory Nausea The nausea and/or vomiting that precedes the receiving of chemotherapy.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Antiemetic A drug that reduces or eliminates nausea and vomiting.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Antimetabolites Medications that act on the S Phase of the cell cycle by blocking the metabolic pathways or by replacing the essential metabolites.</a:t>
            </a:r>
          </a:p>
        </p:txBody>
      </p:sp>
      <p:sp>
        <p:nvSpPr>
          <p:cNvPr id="6" name="">
            <a:extLst xmlns:a="http://schemas.openxmlformats.org/drawingml/2006/main">
              <a:ext uri="{FF2B5EF4-FFF2-40B4-BE49-F238E27FC236}">
                <a16:creationId xmlns:a16="http://schemas.microsoft.com/office/drawing/2014/main" id="{74638209-7B4E-4481-B122-7B40507F33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F60695-24CE-4730-B5AB-730EE4AF2E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827167328"/>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2012E4-1E56-4C85-AD43-205F6EEB1A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59FC3C1-703C-4315-ACF4-75A3D56956D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23A903DF-F336-4477-BBDA-A2304C5862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511BF95-EF4D-4E15-8A62-EB22316769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54881348-DB3D-4A91-B036-520672FD02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Antitumor Antibiotics Agents that work by binding with DNA to inhibit the synthesis of both DNA and RNA.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Benign A tumor that is non-cancerous.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Cancer A broad term to indicate over 1 00 diseases in which abnormal cells reproduce at an uncontrollable rate.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malignant tumor.</a:t>
            </a:r>
          </a:p>
        </p:txBody>
      </p:sp>
      <p:sp>
        <p:nvSpPr>
          <p:cNvPr id="6" name="">
            <a:extLst xmlns:a="http://schemas.openxmlformats.org/drawingml/2006/main">
              <a:ext uri="{FF2B5EF4-FFF2-40B4-BE49-F238E27FC236}">
                <a16:creationId xmlns:a16="http://schemas.microsoft.com/office/drawing/2014/main" id="{CA511412-912A-4EE3-81D9-7B3C2157E4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08EB77-2527-4525-9057-5B037E98F2F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1194836047"/>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E67314-1C7C-4311-8F57-E1DFE7A0C8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935A7DF-DC99-43FA-96D4-7170A1C22B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405BD118-3475-4181-BF30-AF75CA942E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E8ADB9A-AECF-4AD6-A352-4BFB7C8D0D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F7463F89-2327-4F2F-9BF6-DA2836F037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Cardiomyopathy An acute or chronic disease of the cardiac muscle.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Chemotherapy The use of chemicals or drugs to treat diseases.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Combination Therapy The use of more than one drug at the same time, or in a sequence to treat a specific type of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An infiltration into the surrounding tissue due to the needle going through the vein site.</a:t>
            </a:r>
          </a:p>
        </p:txBody>
      </p:sp>
      <p:sp>
        <p:nvSpPr>
          <p:cNvPr id="6" name="">
            <a:extLst xmlns:a="http://schemas.openxmlformats.org/drawingml/2006/main">
              <a:ext uri="{FF2B5EF4-FFF2-40B4-BE49-F238E27FC236}">
                <a16:creationId xmlns:a16="http://schemas.microsoft.com/office/drawing/2014/main" id="{202D793C-CA9A-472E-BE51-25FC2536FF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F6C14C-A778-4FE1-B4E9-1968F3234E6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44319465"/>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9A8E77-B2EC-4B31-B8C1-8B2A15B7B1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69C85F-5F39-4E0A-A340-6BB7E7D78F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8FF1E774-523E-4DA2-B3D8-E09753A9DB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D47C439-E3F7-4217-AEAB-0E0199A6AA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643D67D0-C330-4091-B2A3-831BD3D737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(symptoms much like an infiltration)</a:t>
            </a:r>
          </a:p>
        </p:txBody>
      </p:sp>
      <p:sp>
        <p:nvSpPr>
          <p:cNvPr id="6" name="">
            <a:extLst xmlns:a="http://schemas.openxmlformats.org/drawingml/2006/main">
              <a:ext uri="{FF2B5EF4-FFF2-40B4-BE49-F238E27FC236}">
                <a16:creationId xmlns:a16="http://schemas.microsoft.com/office/drawing/2014/main" id="{FA38CC70-CFD3-4CF2-BB85-F0F22E7A02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49DBAD6-31F3-43EA-B57C-44D11996884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2023296889"/>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60B42F-959C-430E-BAE9-0A0EAFA7A5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5BAB752-E13B-4F8E-8FFF-9A9E18A1CE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a:t>
            </a:r>
          </a:p>
        </p:txBody>
      </p:sp>
      <p:sp>
        <p:nvSpPr>
          <p:cNvPr id="3" name="">
            <a:extLst xmlns:a="http://schemas.openxmlformats.org/drawingml/2006/main">
              <a:ext uri="{FF2B5EF4-FFF2-40B4-BE49-F238E27FC236}">
                <a16:creationId xmlns:a16="http://schemas.microsoft.com/office/drawing/2014/main" id="{643BF260-E1FD-4E8C-BD65-02926AE775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BFF3C52-9C14-4033-B806-3105E0BB4D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B467CB07-057B-46F7-B7A5-C3C55071F0E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Intra-arterial Chemotherapy arterial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Intraperitoneal Placement of chemotherapy into the peritoneal space Chemotherapy Intrathecal Chemotherapy Injection of chemotherapy into the cerebrospinal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Irritant An agent that causes irritation in the vein during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Leukopenia A reduction in the bodies leukocyte count.</a:t>
            </a:r>
          </a:p>
        </p:txBody>
      </p:sp>
      <p:sp>
        <p:nvSpPr>
          <p:cNvPr id="6" name="">
            <a:extLst xmlns:a="http://schemas.openxmlformats.org/drawingml/2006/main">
              <a:ext uri="{FF2B5EF4-FFF2-40B4-BE49-F238E27FC236}">
                <a16:creationId xmlns:a16="http://schemas.microsoft.com/office/drawing/2014/main" id="{31D03A25-4478-4137-9E8B-F1D8DDFA9CD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6BE525B-AE2B-4D05-AA59-AC2ED8D358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567404365"/>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43BD4D-9143-4747-8609-86FAF354D7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1D80DF-D248-47B5-8FB6-FE8008F9E2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D6943AE4-128F-4BEA-BB0A-94652020C5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875FD38-9377-4DFF-A016-05B06E433F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84682BEA-816A-465A-9FEA-27002FDD999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Malignant A tumor that is made of cancerous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Metastasis The process of a tumor fragmenting, traveling through the lymphatic or vascular system, and then establishing itself in a different location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Mitosis The last stage of the cell cycle where the cell actually splits into two sibling cells, each having the same number and type of chromosomes as the parent.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Myelosuppression A decrease in the number of red blood cells.</a:t>
            </a:r>
          </a:p>
        </p:txBody>
      </p:sp>
      <p:sp>
        <p:nvSpPr>
          <p:cNvPr id="6" name="">
            <a:extLst xmlns:a="http://schemas.openxmlformats.org/drawingml/2006/main">
              <a:ext uri="{FF2B5EF4-FFF2-40B4-BE49-F238E27FC236}">
                <a16:creationId xmlns:a16="http://schemas.microsoft.com/office/drawing/2014/main" id="{14EA7CD4-D226-4890-B3D3-6F9DCF83EA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A1F8E78-948A-46F3-BC06-5803301B0B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514613878"/>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DDA6A9-EC67-469E-85BD-161677C7CF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58499D-CD84-4129-9E56-1EBAC324B1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65A6B0CC-B8CD-4AB6-B8A1-FAEB9C940A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5631838-FBDF-4E30-8D99-9E246F3B97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D7922984-F0C7-4147-9AB6-80FA89F696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Nitrisureas Chemotherapeutic agents that attack cancer cells by inhibiting the formation of DNA.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The inflammation of a vein, often due to IV drug irritation.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Plant Alkaloid (Vinca) A chemotherapy agent that attacks cancerous cells by the inhibition of mitosis.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Radiation Therapy The treatment of cancer with radiation (high energy X-rays).</a:t>
            </a:r>
          </a:p>
        </p:txBody>
      </p:sp>
      <p:sp>
        <p:nvSpPr>
          <p:cNvPr id="6" name="">
            <a:extLst xmlns:a="http://schemas.openxmlformats.org/drawingml/2006/main">
              <a:ext uri="{FF2B5EF4-FFF2-40B4-BE49-F238E27FC236}">
                <a16:creationId xmlns:a16="http://schemas.microsoft.com/office/drawing/2014/main" id="{5C28C672-E80E-480F-80A6-9C710C76C9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EC45131-1AAA-46E6-8FAF-32017EB7A84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242138130"/>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389841-0804-4C2B-A3F2-2C9DD1770B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C19A78-7E24-4ACA-9732-8F8A21D3EB9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B7763D31-830E-4F0A-83CC-5D95EA9B80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96626CB-CC31-4C11-AA57-A28734CF12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B5F5FF43-C83D-4BBE-A228-194281C936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Stomatitis The inflammation of the mucous membrane of the oral cavity and upper GI tract.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Vesicant An agent that causes tissue damage and necrosis with infiltration into the tissues outside of the vein.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Tumor A physically distinct, abnormal growth of cells; may be benign or malignant.</a:t>
            </a:r>
          </a:p>
        </p:txBody>
      </p:sp>
      <p:sp>
        <p:nvSpPr>
          <p:cNvPr id="6" name="">
            <a:extLst xmlns:a="http://schemas.openxmlformats.org/drawingml/2006/main">
              <a:ext uri="{FF2B5EF4-FFF2-40B4-BE49-F238E27FC236}">
                <a16:creationId xmlns:a16="http://schemas.microsoft.com/office/drawing/2014/main" id="{0390FF13-AE59-48B2-871A-A095D978D6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E0D8C2A-808E-4B7D-A762-51F66FC4FC4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045581269"/>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6C6BD2-CCC7-4D6E-8C3D-4F899A7A0D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9AE75B-D49C-4AAF-80E0-A15ADF6C83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69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a:t>
            </a:r>
          </a:p>
        </p:txBody>
      </p:sp>
      <p:sp>
        <p:nvSpPr>
          <p:cNvPr id="3" name="">
            <a:extLst xmlns:a="http://schemas.openxmlformats.org/drawingml/2006/main">
              <a:ext uri="{FF2B5EF4-FFF2-40B4-BE49-F238E27FC236}">
                <a16:creationId xmlns:a16="http://schemas.microsoft.com/office/drawing/2014/main" id="{5CCCD6CB-9B60-4B97-92D8-2C9B1EB070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4DB104F-AEF4-4A31-A741-EBAA17AF93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14E0DD3E-A6CB-4368-BB6A-7DF7F3A269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Bready,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 Anderson, 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(1 990) Guide for the Administration and Use of Cancer Chemotherapeutic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Pharmacy Practice News Casciato</a:t>
            </a:r>
          </a:p>
        </p:txBody>
      </p:sp>
      <p:sp>
        <p:nvSpPr>
          <p:cNvPr id="6" name="">
            <a:extLst xmlns:a="http://schemas.openxmlformats.org/drawingml/2006/main">
              <a:ext uri="{FF2B5EF4-FFF2-40B4-BE49-F238E27FC236}">
                <a16:creationId xmlns:a16="http://schemas.microsoft.com/office/drawing/2014/main" id="{6FC5A75F-8BB2-4C4E-9D06-B507F743C5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2DEDBE-F289-404F-8B71-C87AB3DB427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1195505253"/>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A3CF1E-3052-4D10-9D8F-CD9F4D4529C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D32F6C-AFB0-4885-B949-FD728462F3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B37E6560-7872-43A5-9F6C-D6CFC6EE8A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3DAAFA2-C49A-413E-B327-A494309681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7E2F5268-3B6F-4781-832A-E42DA7243B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Lawitz.</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B.B." (1988) Manual of Clinical Oncology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Little</a:t>
            </a:r>
          </a:p>
        </p:txBody>
      </p:sp>
      <p:sp>
        <p:nvSpPr>
          <p:cNvPr id="6" name="">
            <a:extLst xmlns:a="http://schemas.openxmlformats.org/drawingml/2006/main">
              <a:ext uri="{FF2B5EF4-FFF2-40B4-BE49-F238E27FC236}">
                <a16:creationId xmlns:a16="http://schemas.microsoft.com/office/drawing/2014/main" id="{60D47741-B093-4861-895F-0F42620167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00C330-23CA-49C6-B0C4-BC80E3273AA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1255143271"/>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A2C9F4-6640-4B65-AEE6-25D00988CF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2D50D6-E2D2-4D54-8E86-E97C83C9DD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8FB1AAAE-72A2-41BE-BDC4-0AEDECA187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3ACC1FB-2F81-4D0F-B160-720E1C2ECD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63462248-8733-42BA-AEE9-C5F149E1C2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Brown and Company.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Goodman, M.D.: (1 988) Chemotherapy and Care, Bristol-Meyers Miller, 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Keane, C.: (1 986) Encyclopedia and Dictionary of Medicine and Nursing, W.B.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Saunders Nentwick</a:t>
            </a:r>
          </a:p>
        </p:txBody>
      </p:sp>
      <p:sp>
        <p:nvSpPr>
          <p:cNvPr id="6" name="">
            <a:extLst xmlns:a="http://schemas.openxmlformats.org/drawingml/2006/main">
              <a:ext uri="{FF2B5EF4-FFF2-40B4-BE49-F238E27FC236}">
                <a16:creationId xmlns:a16="http://schemas.microsoft.com/office/drawing/2014/main" id="{49EB1680-A884-46DB-A67C-5F4FC2276E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56481B-56E6-434A-B2F1-D025611B78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1902001144"/>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40E39A-78E8-4EF1-A1CB-379B91962E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47E6AB-50AF-44E7-B2C0-1D1DE55111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86753EAA-75AE-4935-BF90-B4A2CD870C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A5BC6B0-9D6B-4610-8EE5-565DB367ED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BB69B015-6766-4614-B535-72F108E507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(1 991) 1991-1992 Handbook of Intravenous Medications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Jones &amp; Bartlett Reyman 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(1989) The Cancer Chemotherapy Administration Program Manual Tenenbaum</a:t>
            </a:r>
          </a:p>
        </p:txBody>
      </p:sp>
      <p:sp>
        <p:nvSpPr>
          <p:cNvPr id="6" name="">
            <a:extLst xmlns:a="http://schemas.openxmlformats.org/drawingml/2006/main">
              <a:ext uri="{FF2B5EF4-FFF2-40B4-BE49-F238E27FC236}">
                <a16:creationId xmlns:a16="http://schemas.microsoft.com/office/drawing/2014/main" id="{5F1A4AFD-FA6C-4649-82D2-2769AFB847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8D1438-5E51-4DC3-8EF8-9C3266F1A5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1163405565"/>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DDDDFF-E055-464F-B078-C4B380CE34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FCCF80-3DE0-427D-92E2-3F4D426A38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2DBF6095-64F0-4A5E-86B9-276C5F0BC8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C061BFE-D4BA-47C9-84BB-FEB5F7E3AB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E3B77EB7-0BD7-460B-952E-EDB8AFC7AA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(1 989) A Reference Guide - Cancer Chemotherapy.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Saunders, Philadelphia Yasko, J.M.: (1 986) Nursing Management of Symptoms Associated with Chemotherapy, Adria Laboratories</a:t>
            </a:r>
          </a:p>
        </p:txBody>
      </p:sp>
      <p:sp>
        <p:nvSpPr>
          <p:cNvPr id="6" name="">
            <a:extLst xmlns:a="http://schemas.openxmlformats.org/drawingml/2006/main">
              <a:ext uri="{FF2B5EF4-FFF2-40B4-BE49-F238E27FC236}">
                <a16:creationId xmlns:a16="http://schemas.microsoft.com/office/drawing/2014/main" id="{860C0207-61F9-416B-8C0F-646334FB67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C9BE28-BA93-4474-91BC-F31E73C48C4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832211978"/>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435DDA-9F4B-4C70-ABDD-0177EBD12A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3ACE71-34B1-4C44-938E-DC02A9504B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67BEB3E-E1BC-4ED6-8604-256ADFF898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939A552-A614-407C-9139-6891963C3F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A58E8FC7-D833-400A-A355-EA13426DDCE7}"/>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98942E57-E753-4E93-88BE-DFD73802A3CC}"/>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558467919"/>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D558B7-A9A5-4345-9826-14D0F3C5E6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5121853-4776-4601-8105-3E0EB8984B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E85F2D68-9025-4AD8-A991-8FCD0C9AFD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B427B95-F178-4FE0-AFC3-AE8966E81F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7FBF23CF-632B-433E-B359-1F7CFE7E4278}"/>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8F6D05E0-B304-4E6D-B003-95CC8FE406D1}"/>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3066872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2026-10-21T01:34:39.1200000Z</dcterms:created>
  <dcterms:modified xsi:type="dcterms:W3CDTF">2026-10-21T01:34:39.1200000Z</dcterms:modified>
</coreProperties>
</file>