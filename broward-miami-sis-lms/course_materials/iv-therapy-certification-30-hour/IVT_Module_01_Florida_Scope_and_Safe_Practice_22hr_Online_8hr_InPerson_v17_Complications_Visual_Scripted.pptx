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d431c29ee4f482c" /><Relationship Type="http://schemas.openxmlformats.org/officeDocument/2006/relationships/extended-properties" Target="/docProps/app.xml" Id="R7ba7720990ac488f" /><Relationship Type="http://schemas.openxmlformats.org/officeDocument/2006/relationships/officeDocument" Target="/ppt/presentation.xml" Id="R03e37707c0664513" /></Relationships>
</file>

<file path=ppt/presentation.xml><?xml version="1.0" encoding="utf-8"?>
<p:presentation xmlns:p="http://schemas.openxmlformats.org/presentationml/2006/main">
  <p:sldMasterIdLst>
    <p:sldMasterId xmlns:r="http://schemas.openxmlformats.org/officeDocument/2006/relationships" id="2147483648" r:id="R8043c70736ab4889"/>
  </p:sldMasterIdLst>
  <p:notesMasterIdLst>
    <p:notesMasterId xmlns:r="http://schemas.openxmlformats.org/officeDocument/2006/relationships" r:id="Rb92682dee1d14a95"/>
  </p:notesMasterIdLst>
  <p:sldIdLst>
    <p:sldId xmlns:r="http://schemas.openxmlformats.org/officeDocument/2006/relationships" id="256" r:id="R9ee45cd7978a4501"/>
    <p:sldId xmlns:r="http://schemas.openxmlformats.org/officeDocument/2006/relationships" id="257" r:id="R33dd596743fe4ba3"/>
    <p:sldId xmlns:r="http://schemas.openxmlformats.org/officeDocument/2006/relationships" id="258" r:id="R63128c9c6220492a"/>
    <p:sldId xmlns:r="http://schemas.openxmlformats.org/officeDocument/2006/relationships" id="259" r:id="Rdc70f8c0ad114a2f"/>
    <p:sldId xmlns:r="http://schemas.openxmlformats.org/officeDocument/2006/relationships" id="260" r:id="R73f8942031f54067"/>
    <p:sldId xmlns:r="http://schemas.openxmlformats.org/officeDocument/2006/relationships" id="261" r:id="R6c0d64df697c45f2"/>
    <p:sldId xmlns:r="http://schemas.openxmlformats.org/officeDocument/2006/relationships" id="262" r:id="Rcb1afe9e239c4722"/>
    <p:sldId xmlns:r="http://schemas.openxmlformats.org/officeDocument/2006/relationships" id="263" r:id="R7780bf39da8948b9"/>
    <p:sldId xmlns:r="http://schemas.openxmlformats.org/officeDocument/2006/relationships" id="264" r:id="R31d1376e92434abd"/>
    <p:sldId xmlns:r="http://schemas.openxmlformats.org/officeDocument/2006/relationships" id="265" r:id="R250be116a8734ed1"/>
    <p:sldId xmlns:r="http://schemas.openxmlformats.org/officeDocument/2006/relationships" id="266" r:id="R2bc9ec75080d43a9"/>
    <p:sldId xmlns:r="http://schemas.openxmlformats.org/officeDocument/2006/relationships" id="267" r:id="R49bf0088b919418e"/>
    <p:sldId xmlns:r="http://schemas.openxmlformats.org/officeDocument/2006/relationships" id="268" r:id="Rc68feb971e004262"/>
    <p:sldId xmlns:r="http://schemas.openxmlformats.org/officeDocument/2006/relationships" id="269" r:id="R32b70480caaa43c1"/>
    <p:sldId xmlns:r="http://schemas.openxmlformats.org/officeDocument/2006/relationships" id="270" r:id="R3942c282f47e4a8d"/>
    <p:sldId xmlns:r="http://schemas.openxmlformats.org/officeDocument/2006/relationships" id="271" r:id="R122b265a8b654f54"/>
    <p:sldId xmlns:r="http://schemas.openxmlformats.org/officeDocument/2006/relationships" id="272" r:id="R5aa575ba5a43417d"/>
    <p:sldId xmlns:r="http://schemas.openxmlformats.org/officeDocument/2006/relationships" id="273" r:id="R5084d3896ddc437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368edb079064eb5" /><Relationship Type="http://schemas.openxmlformats.org/officeDocument/2006/relationships/slideMaster" Target="/ppt/slideMasters/slideMaster1.xml" Id="R8043c70736ab4889" /><Relationship Type="http://schemas.openxmlformats.org/officeDocument/2006/relationships/notesMaster" Target="/ppt/notesMasters/notesMaster1.xml" Id="Rb92682dee1d14a95" /><Relationship Type="http://schemas.openxmlformats.org/officeDocument/2006/relationships/presProps" Target="/ppt/presProps.xml" Id="R1249ebb9fd384c3f" /><Relationship Type="http://schemas.openxmlformats.org/officeDocument/2006/relationships/tableStyles" Target="/ppt/tableStyles.xml" Id="R9bb8a16a580d44f4" /><Relationship Type="http://schemas.openxmlformats.org/officeDocument/2006/relationships/slide" Target="/ppt/slides/slide1.xml" Id="R9ee45cd7978a4501" /><Relationship Type="http://schemas.openxmlformats.org/officeDocument/2006/relationships/slide" Target="/ppt/slides/slide2.xml" Id="R33dd596743fe4ba3" /><Relationship Type="http://schemas.openxmlformats.org/officeDocument/2006/relationships/slide" Target="/ppt/slides/slide3.xml" Id="R63128c9c6220492a" /><Relationship Type="http://schemas.openxmlformats.org/officeDocument/2006/relationships/slide" Target="/ppt/slides/slide4.xml" Id="Rdc70f8c0ad114a2f" /><Relationship Type="http://schemas.openxmlformats.org/officeDocument/2006/relationships/slide" Target="/ppt/slides/slide5.xml" Id="R73f8942031f54067" /><Relationship Type="http://schemas.openxmlformats.org/officeDocument/2006/relationships/slide" Target="/ppt/slides/slide6.xml" Id="R6c0d64df697c45f2" /><Relationship Type="http://schemas.openxmlformats.org/officeDocument/2006/relationships/slide" Target="/ppt/slides/slide7.xml" Id="Rcb1afe9e239c4722" /><Relationship Type="http://schemas.openxmlformats.org/officeDocument/2006/relationships/slide" Target="/ppt/slides/slide8.xml" Id="R7780bf39da8948b9" /><Relationship Type="http://schemas.openxmlformats.org/officeDocument/2006/relationships/slide" Target="/ppt/slides/slide9.xml" Id="R31d1376e92434abd" /><Relationship Type="http://schemas.openxmlformats.org/officeDocument/2006/relationships/slide" Target="/ppt/slides/slide10.xml" Id="R250be116a8734ed1" /><Relationship Type="http://schemas.openxmlformats.org/officeDocument/2006/relationships/slide" Target="/ppt/slides/slide11.xml" Id="R2bc9ec75080d43a9" /><Relationship Type="http://schemas.openxmlformats.org/officeDocument/2006/relationships/slide" Target="/ppt/slides/slide12.xml" Id="R49bf0088b919418e" /><Relationship Type="http://schemas.openxmlformats.org/officeDocument/2006/relationships/slide" Target="/ppt/slides/slide13.xml" Id="Rc68feb971e004262" /><Relationship Type="http://schemas.openxmlformats.org/officeDocument/2006/relationships/slide" Target="/ppt/slides/slide14.xml" Id="R32b70480caaa43c1" /><Relationship Type="http://schemas.openxmlformats.org/officeDocument/2006/relationships/slide" Target="/ppt/slides/slide15.xml" Id="R3942c282f47e4a8d" /><Relationship Type="http://schemas.openxmlformats.org/officeDocument/2006/relationships/slide" Target="/ppt/slides/slide16.xml" Id="R122b265a8b654f54" /><Relationship Type="http://schemas.openxmlformats.org/officeDocument/2006/relationships/slide" Target="/ppt/slides/slide17.xml" Id="R5aa575ba5a43417d" /><Relationship Type="http://schemas.openxmlformats.org/officeDocument/2006/relationships/slide" Target="/ppt/slides/slide18.xml" Id="R5084d3896ddc437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261603e879047b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aa69e5188514622" /><Relationship Type="http://schemas.openxmlformats.org/officeDocument/2006/relationships/notesMaster" Target="/ppt/notesMasters/notesMaster1.xml" Id="Rcb2353e2a3194009" /></Relationships>
</file>

<file path=ppt/notesSlides/_rels/notesSlide2.xml.rels>&#65279;<?xml version="1.0" encoding="utf-8"?><Relationships xmlns="http://schemas.openxmlformats.org/package/2006/relationships"><Relationship Type="http://schemas.openxmlformats.org/officeDocument/2006/relationships/slide" Target="/ppt/slides/slide2.xml" Id="R73d47d9f50f249fa" /><Relationship Type="http://schemas.openxmlformats.org/officeDocument/2006/relationships/notesMaster" Target="/ppt/notesMasters/notesMaster1.xml" Id="Rd603754854534dd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e24b222826c4155" /><Relationship Type="http://schemas.openxmlformats.org/officeDocument/2006/relationships/notesMaster" Target="/ppt/notesMasters/notesMaster1.xml" Id="R23f1ddc8c81048c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6e8a7ca0bc1412f" /><Relationship Type="http://schemas.openxmlformats.org/officeDocument/2006/relationships/notesMaster" Target="/ppt/notesMasters/notesMaster1.xml" Id="R1711ee50b45e4bc2"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cf0e1186a948a7" /><Relationship Type="http://schemas.openxmlformats.org/officeDocument/2006/relationships/notesMaster" Target="/ppt/notesMasters/notesMaster1.xml" Id="R9b57ba6b6f4546c2" /></Relationships>
</file>

<file path=ppt/notesSlides/_rels/notesSlide6.xml.rels>&#65279;<?xml version="1.0" encoding="utf-8"?><Relationships xmlns="http://schemas.openxmlformats.org/package/2006/relationships"><Relationship Type="http://schemas.openxmlformats.org/officeDocument/2006/relationships/slide" Target="/ppt/slides/slide6.xml" Id="Ra7fdbfb8d1db45f0" /><Relationship Type="http://schemas.openxmlformats.org/officeDocument/2006/relationships/notesMaster" Target="/ppt/notesMasters/notesMaster1.xml" Id="R76bcb500c3da4e89" /></Relationships>
</file>

<file path=ppt/notesSlides/_rels/notesSlide7.xml.rels>&#65279;<?xml version="1.0" encoding="utf-8"?><Relationships xmlns="http://schemas.openxmlformats.org/package/2006/relationships"><Relationship Type="http://schemas.openxmlformats.org/officeDocument/2006/relationships/slide" Target="/ppt/slides/slide7.xml" Id="Ra1346837fcb941d8" /><Relationship Type="http://schemas.openxmlformats.org/officeDocument/2006/relationships/notesMaster" Target="/ppt/notesMasters/notesMaster1.xml" Id="Rf53fbfb69dfd4c95" /></Relationships>
</file>

<file path=ppt/notesSlides/_rels/notesSlide8.xml.rels>&#65279;<?xml version="1.0" encoding="utf-8"?><Relationships xmlns="http://schemas.openxmlformats.org/package/2006/relationships"><Relationship Type="http://schemas.openxmlformats.org/officeDocument/2006/relationships/slide" Target="/ppt/slides/slide8.xml" Id="R2e565c010e654cdd" /><Relationship Type="http://schemas.openxmlformats.org/officeDocument/2006/relationships/notesMaster" Target="/ppt/notesMasters/notesMaster1.xml" Id="R35789d79f6e7412d" /></Relationships>
</file>

<file path=ppt/notesSlides/_rels/notesSlide9.xml.rels>&#65279;<?xml version="1.0" encoding="utf-8"?><Relationships xmlns="http://schemas.openxmlformats.org/package/2006/relationships"><Relationship Type="http://schemas.openxmlformats.org/officeDocument/2006/relationships/slide" Target="/ppt/slides/slide9.xml" Id="Rfd2ce02c5d69474f" /><Relationship Type="http://schemas.openxmlformats.org/officeDocument/2006/relationships/notesMaster" Target="/ppt/notesMasters/notesMaster1.xml" Id="R46457a23457a452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68d0354a7284237" /><Relationship Type="http://schemas.openxmlformats.org/officeDocument/2006/relationships/notesMaster" Target="/ppt/notesMasters/notesMaster1.xml" Id="R2c1f1b14c28f40c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662e5a226584709" /><Relationship Type="http://schemas.openxmlformats.org/officeDocument/2006/relationships/notesMaster" Target="/ppt/notesMasters/notesMaster1.xml" Id="Rc679a760b54f45a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36ca58959eb4ae9" /><Relationship Type="http://schemas.openxmlformats.org/officeDocument/2006/relationships/notesMaster" Target="/ppt/notesMasters/notesMaster1.xml" Id="R013bf108472b40a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19e9d9a470c4469" /><Relationship Type="http://schemas.openxmlformats.org/officeDocument/2006/relationships/notesMaster" Target="/ppt/notesMasters/notesMaster1.xml" Id="R2afd3b53fc0e451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d7f1bbd218f45ac" /><Relationship Type="http://schemas.openxmlformats.org/officeDocument/2006/relationships/notesMaster" Target="/ppt/notesMasters/notesMaster1.xml" Id="Rf485d55f793f4a2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6779f2fb130421e" /><Relationship Type="http://schemas.openxmlformats.org/officeDocument/2006/relationships/notesMaster" Target="/ppt/notesMasters/notesMaster1.xml" Id="R82348e62db1b4a5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06d8b3c230d4ffc" /><Relationship Type="http://schemas.openxmlformats.org/officeDocument/2006/relationships/notesMaster" Target="/ppt/notesMasters/notesMaster1.xml" Id="Rac64433f5d91492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a62fff467b04845" /><Relationship Type="http://schemas.openxmlformats.org/officeDocument/2006/relationships/notesMaster" Target="/ppt/notesMasters/notesMaster1.xml" Id="R16e3000c6102448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80e48210fd84489" /><Relationship Type="http://schemas.openxmlformats.org/officeDocument/2006/relationships/notesMaster" Target="/ppt/notesMasters/notesMaster1.xml" Id="R2e87e86c67344b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Florida Scope and Safe IV Practice, Module 1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 BMHI IVT 030 course content. Cover media: Pexels photo by RDNE Stock project, https://www.pexels.com/photo/doctor-reading-a-medical-chart-held-by-a-nurse-6129154/,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Explain how Florida law and Board rules govern practical nursing Next, Identify IV activities that require direction or direct supervision Next, Describe education, competency verification, and documentation duties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Scope begins with current authority. First, Florida Statutes define practical nursing as selected nursing acts performed under authorized direction. Next, Education and experience set personal limits. Next, Employer policy may narrow the permitted role.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30-hour qualification. First, Florida Administrative Code Rule 64B9-12.005 requires at least 30 hours of post-graduate IV education for an LPN or graduate practical nurse who needs this qualification. Next, Course content must cover the required cognitive and clinical areas.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Central-line preparation. First, Central-line practice requires at least four hours of instruction that may count within the 30 hours. Next, Training includes anatomy, site assessment, dressing and cap changes, flushing, administration, blood collection, and complication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Clinical competence and records. First, A Florida-licensed RN witnesses clinical practice and files a proficiency statement. Next, The employing institution verifies competence under its protocol. Next, Documentation identifies the device, site, solution, delivery method, assessment, response, and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Why IV therapy is used. First, Restore or maintain volume: Hydration, resuscitation, or replacement of ongoing losses Next, Correct electrolyte or acid-base disturbance: Ordered sodium, potassium, magnesium, calcium, or buffer therapy Next, Deliver medication: Continuous, intermittent, secondary, or time-critical infusion Next, Provide blood components: Red cells, platelets, plasma, or cryoprecipitate for a defined indication Next, Provide nutrition or diagnostic therapy: Parenteral nutrition, contrast, or other prescribed agents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Source: 30 Hour IV Certification Study Guide, revised March 2013, PDF page 10.</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IV therapy benefits and risks. First, Rapid and predictable effect: An error reaches the circulation immediately Next, Accurate titration: Wrong concentration or pump setting can cause serious harm Next, Access when oral therapy is unavailable: Catheter creates an infection and vessel-injury risk Next, Multiple therapy options: Incompatibility, fluid overload, infiltration, or allergic reaction may occur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Source: 30 Hour IV Certification Study Guide, revised March 2013, PDF page 10.</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Legal accountability in every phase. First, Before: Verify authority, competency, policy, patient, order, allergies, access, calculations, and compatibility Next, During: Maintain asepsis, use the correct device and pump, monitor the site and patient, and respond to changes Next, After: Evaluate the outcome, document completely, report complications, and preserve required records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Source topics: 30 Hour IV Certification Study Guide, revised March 2013, PDF pages 3-6 and 13. Current Florida law controls.</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Seven rights of IV medication and fluid administration. First, Patient: Do two approved identifiers match the order and medication record? Next, Medication or solution: Is this the exact product and formulation ordered? Next, Dose: Does the concentration and calculation produce the ordered dose? Next, Route: Is IV administration appropriate for this device, lumen, and site? Next, Time: Are the start time, interval, duration, and rate correct? Next, Reason: Does the indication match the patient's condition and current assessment? Next, Documentation: Can another clinician see exactly what was given and how the patient responded?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Source: 30 Hour IV Certification Study Guide, revised March 2013, PDF page 24. BMHI teaches response monitoring as an additional safety obligation.</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rights continue after the pump starts. First, Trace the line from the patient to the correct container and pump channel. Next, Confirm the site remains patent and free of pain, swelling, leaking, redness, or temperature change. Next, Evaluate the intended response and watch for adverse effects. Next, Reconcile the actual volume infused with the order and intake record. Next, Document assessment, administration, patient education, response, and any corrective action.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Teaching expansion from 30 Hour IV Certification Study Guide, revised March 2013, PDF pages 24-27.</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Essential IV terminology. First, Patency: The access device permits appropriate flow without evidence of complication Next, Infiltration: Nonvesicant solution enters surrounding tissue Next, Extravasation: Vesicant solution enters surrounding tissue and may cause injury Next, Phlebitis: Inflammation of a vein Next, Occlusion: Partial or complete blockage of flow Next, Compatibility: Two or more products can contact each other without unacceptable physical, chemical, or therapeutic interaction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Source: 30 Hour IV Certification Study Guide, revised March 2013, glossary PDF pages 61-62.</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Authority, competency, and policy are three separate checks. First, Authority asks whether the law and license permit the activity. Next, Competency asks whether the nurse has current education, supervised practice, and validated skill. Next, Policy asks whether the employer permits the activity in this setting. Next, Safe practice requires all three—not just a course certificate.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Before starting any infusion. First, Confirm the patient with two approved identifiers. Next, Read the complete order: solution or medication, concentration, route, dose, rate, duration, and indication. Next, Check allergies, compatibility, access-device suitability, and required laboratory results. Next, Stop and clarify any missing, conflicting, or unsafe information before preparing the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medication-rights safety pause. First, Patient: Do both identifiers match the order and medication record? Next, Medication and dose: Is this the exact product, concentration, and calculated dose? Next, Route and access: Is the ordered route appropriate for this device and site? Next, Time and rate: Are timing, pump settings, and duration correct? Next, Response: What assessment and monitoring are required before, during, and after?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When the correct action is to stop. First, Stop for a questionable order, unexpected patient change, loss of device patency, incompatibility, contamination, or pump setting that cannot be verified. Next, Protect the patient first, maintain access only as directed, notify the supervising RN or prescriber, and document objective findings and actions. Next, Never continue simply because a medication has already been prepared or a schedule is running late.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Classify five IV tasks as permitted, restricted, or requiring direct supervision Next, Review an incomplete order and identify the clarification needed Next, Write a complete peripheral IV documentation entry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Explain how Florida law and Board rules govern practical nursing Next, Florida Administrative Code Rule 64B9-12.005 requires at least 30 hours of post-graduate IV education for an LPN or graduate practical nurse who needs this qualification. Course content must cover the required cognitive and clinical areas. Next, A Florida-licensed RN witnesses clinical practice and files a proficiency statement. The employing institution verifies competence under its protocol. Documentation identifies the device, site, solution, delivery method, assessment, response, and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9e2965d178f494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aff12a24543482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d9f04d177aa478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37859765e5f444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631d3f0649346f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95fe73a2b954cc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11EEC2-EB4C-4E1E-A3AB-AA86574F898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F139CD3-D986-4D15-9BDE-C21CD3C9FDD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97790C1-0CF2-48B1-9432-E8EB72468BF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F908FE-D2A2-4694-8BD9-605AE5A09A3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D60CA63-FF74-4F6C-B2E4-172B3333A1C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E0E1F9C-4DDC-4CDC-8D5D-E8DBC1F5641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9C32725-861E-4DC3-BB97-164F6652766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4E78F86-1D11-44CC-9D70-A7160E98F58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8D6BDEA-1C8E-4B94-807C-5609EF4F6AE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981C126-ADC7-4EB2-A4D8-D38770A4DB2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1917650cea48be" /><Relationship Type="http://schemas.openxmlformats.org/officeDocument/2006/relationships/slideLayout" Target="/ppt/slideLayouts/slideLayout1.xml" Id="R9b0743f623ad4aa6" /><Relationship Type="http://schemas.openxmlformats.org/officeDocument/2006/relationships/slideLayout" Target="/ppt/slideLayouts/slideLayout2.xml" Id="R8e8b4562c9e6427d" /><Relationship Type="http://schemas.openxmlformats.org/officeDocument/2006/relationships/slideLayout" Target="/ppt/slideLayouts/slideLayout3.xml" Id="R8517ed5e3b934d85" /><Relationship Type="http://schemas.openxmlformats.org/officeDocument/2006/relationships/slideLayout" Target="/ppt/slideLayouts/slideLayout4.xml" Id="R443ad0c75ba745dc" /><Relationship Type="http://schemas.openxmlformats.org/officeDocument/2006/relationships/slideLayout" Target="/ppt/slideLayouts/slideLayout5.xml" Id="R5d47db3a62c043b4" /><Relationship Type="http://schemas.openxmlformats.org/officeDocument/2006/relationships/slideLayout" Target="/ppt/slideLayouts/slideLayout6.xml" Id="Reaa79e5ba9f7402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b0743f623ad4aa6"/>
    <p:sldLayoutId xmlns:r="http://schemas.openxmlformats.org/officeDocument/2006/relationships" id="2147483650" r:id="R8e8b4562c9e6427d"/>
    <p:sldLayoutId xmlns:r="http://schemas.openxmlformats.org/officeDocument/2006/relationships" id="2147483651" r:id="R8517ed5e3b934d85"/>
    <p:sldLayoutId xmlns:r="http://schemas.openxmlformats.org/officeDocument/2006/relationships" id="2147483652" r:id="R443ad0c75ba745dc"/>
    <p:sldLayoutId xmlns:r="http://schemas.openxmlformats.org/officeDocument/2006/relationships" id="2147483653" r:id="R5d47db3a62c043b4"/>
    <p:sldLayoutId xmlns:r="http://schemas.openxmlformats.org/officeDocument/2006/relationships" id="2147483654" r:id="Reaa79e5ba9f7402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cabf7e4a4b246e7" /><Relationship Type="http://schemas.openxmlformats.org/officeDocument/2006/relationships/image" Target="/ppt/media/image.jpeg" Id="R232b6e30cc774dcf" /><Relationship Type="http://schemas.openxmlformats.org/officeDocument/2006/relationships/notesSlide" Target="/ppt/notesSlides/notesSlide1.xml" Id="R39d1e23434374f7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d582fab42654a72" /><Relationship Type="http://schemas.openxmlformats.org/officeDocument/2006/relationships/notesSlide" Target="/ppt/notesSlides/notesSlide2.xml" Id="R2a0d5849ac9c40b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da451952bbb45fb" /><Relationship Type="http://schemas.openxmlformats.org/officeDocument/2006/relationships/notesSlide" Target="/ppt/notesSlides/notesSlide3.xml" Id="Rcced75d8d1c34f6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a4b9bdd0f964d6a" /><Relationship Type="http://schemas.openxmlformats.org/officeDocument/2006/relationships/notesSlide" Target="/ppt/notesSlides/notesSlide4.xml" Id="R7fa82bff8a4144a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55afba64f524caf" /><Relationship Type="http://schemas.openxmlformats.org/officeDocument/2006/relationships/notesSlide" Target="/ppt/notesSlides/notesSlide5.xml" Id="Rb9463afa2a994b8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e7b4bf6eac44c71" /><Relationship Type="http://schemas.openxmlformats.org/officeDocument/2006/relationships/notesSlide" Target="/ppt/notesSlides/notesSlide6.xml" Id="R7de599106c94449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46c0a7d4cbc4d40" /><Relationship Type="http://schemas.openxmlformats.org/officeDocument/2006/relationships/notesSlide" Target="/ppt/notesSlides/notesSlide7.xml" Id="R0b59ad08f1d1468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a55fe2f76ae4c63" /><Relationship Type="http://schemas.openxmlformats.org/officeDocument/2006/relationships/notesSlide" Target="/ppt/notesSlides/notesSlide8.xml" Id="R398f1f9f24f049a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406247174c3418e" /><Relationship Type="http://schemas.openxmlformats.org/officeDocument/2006/relationships/notesSlide" Target="/ppt/notesSlides/notesSlide9.xml" Id="Rdd47c59e0c4d4d3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4778d9c23484bd4" /><Relationship Type="http://schemas.openxmlformats.org/officeDocument/2006/relationships/notesSlide" Target="/ppt/notesSlides/notesSlide10.xml" Id="Re36badc2ac034ca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bf23260e90849b5" /><Relationship Type="http://schemas.openxmlformats.org/officeDocument/2006/relationships/notesSlide" Target="/ppt/notesSlides/notesSlide11.xml" Id="R1c89b48967c945e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8c79f91fea44ad5" /><Relationship Type="http://schemas.openxmlformats.org/officeDocument/2006/relationships/notesSlide" Target="/ppt/notesSlides/notesSlide12.xml" Id="R818690e11a0546c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9f862b984094ba1" /><Relationship Type="http://schemas.openxmlformats.org/officeDocument/2006/relationships/notesSlide" Target="/ppt/notesSlides/notesSlide13.xml" Id="Ra150748d607643c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0300922ae5f4aa5" /><Relationship Type="http://schemas.openxmlformats.org/officeDocument/2006/relationships/notesSlide" Target="/ppt/notesSlides/notesSlide14.xml" Id="R003e82543a584bb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4ad0b4559dd412d" /><Relationship Type="http://schemas.openxmlformats.org/officeDocument/2006/relationships/notesSlide" Target="/ppt/notesSlides/notesSlide15.xml" Id="R658061492b76478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25e478bfa564b6f" /><Relationship Type="http://schemas.openxmlformats.org/officeDocument/2006/relationships/notesSlide" Target="/ppt/notesSlides/notesSlide16.xml" Id="R7db6a6003e344dc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ab74eddb64743cf" /><Relationship Type="http://schemas.openxmlformats.org/officeDocument/2006/relationships/notesSlide" Target="/ppt/notesSlides/notesSlide17.xml" Id="R464f0364b28743e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64b776fa02a4f93" /><Relationship Type="http://schemas.openxmlformats.org/officeDocument/2006/relationships/notesSlide" Target="/ppt/notesSlides/notesSlide18.xml" Id="Redb3da0988fd466f"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2F8777E2-8371-40CC-9E9C-79F0E09D1F64}"/>
              </a:ext>
            </a:extLst>
          </p:cNvPr>
          <p:cNvPicPr>
            <a:picLocks xmlns:a="http://schemas.openxmlformats.org/drawingml/2006/main" noChangeAspect="1"/>
          </p:cNvPicPr>
          <p:nvPr/>
        </p:nvPicPr>
        <p:blipFill>
          <a:blip xmlns:r="http://schemas.openxmlformats.org/officeDocument/2006/relationships" xmlns:a="http://schemas.openxmlformats.org/drawingml/2006/main" r:embed="R232b6e30cc774dcf"/>
          <a:srcRect xmlns:a="http://schemas.openxmlformats.org/drawingml/2006/main" l="28929" t="0" r="28929"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1E7FBB7-488A-4EF3-BB9E-F7688E4932B1}"/>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8C319811-22BD-43DB-B535-B14659EBA96E}"/>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55D5DBFD-7703-4866-BB6B-6BDB0B5EA0DA}"/>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A4BA79AA-A3E5-464B-946B-BFEE22803B4F}"/>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Florida Scope and Safe IV Practice</a:t>
            </a:r>
          </a:p>
        </p:txBody>
      </p:sp>
      <p:sp>
        <p:nvSpPr>
          <p:cNvPr id="6" name="">
            <a:extLst xmlns:a="http://schemas.openxmlformats.org/drawingml/2006/main">
              <a:ext uri="{FF2B5EF4-FFF2-40B4-BE49-F238E27FC236}">
                <a16:creationId xmlns:a16="http://schemas.microsoft.com/office/drawing/2014/main" id="{C855DFBB-3469-43A2-BC95-2BCA122C8364}"/>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1  |  30-Hour Basic Intravenous Therapy</a:t>
            </a:r>
          </a:p>
        </p:txBody>
      </p:sp>
      <p:sp>
        <p:nvSpPr>
          <p:cNvPr id="7" name="">
            <a:extLst xmlns:a="http://schemas.openxmlformats.org/drawingml/2006/main">
              <a:ext uri="{FF2B5EF4-FFF2-40B4-BE49-F238E27FC236}">
                <a16:creationId xmlns:a16="http://schemas.microsoft.com/office/drawing/2014/main" id="{783BA022-0E96-4AB3-8099-FC13A8C42B3D}"/>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1737967936"/>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6833861-4E97-48D9-B952-FA87745C638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A3D9FF61-660F-481A-BB86-B728541468E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CA66514F-4F5A-406C-B49B-F7B76EFCD527}"/>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A1901408-4127-4F47-92D4-0B491994F8C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5" name="">
            <a:extLst xmlns:a="http://schemas.openxmlformats.org/drawingml/2006/main">
              <a:ext uri="{FF2B5EF4-FFF2-40B4-BE49-F238E27FC236}">
                <a16:creationId xmlns:a16="http://schemas.microsoft.com/office/drawing/2014/main" id="{FA6D4154-B0F8-42DA-B253-2C209D1751C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6" name="">
            <a:extLst xmlns:a="http://schemas.openxmlformats.org/drawingml/2006/main">
              <a:ext uri="{FF2B5EF4-FFF2-40B4-BE49-F238E27FC236}">
                <a16:creationId xmlns:a16="http://schemas.microsoft.com/office/drawing/2014/main" id="{E9A09960-20F1-4AB1-80E7-13B4057162C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301FD2FD-CC47-4282-8958-CE62D76FCAEE}"/>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Explain how Florida law and Board rules govern practical nursing</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Identify IV activities that require direction or direct supervision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Describe education, competency verification, and documentation duties</a:t>
            </a:r>
          </a:p>
        </p:txBody>
      </p:sp>
    </p:spTree>
    <p:extLst>
      <p:ext uri="{BB962C8B-B14F-4D97-AF65-F5344CB8AC3E}">
        <p14:creationId xmlns:p14="http://schemas.microsoft.com/office/powerpoint/2010/main" val="1090382228"/>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7C91B3D-04A1-4129-9260-D6B1F34A88B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F67A14A0-939E-4A16-8B07-83FA1F301BA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15E430D3-CB2F-43A9-AE7D-349733ABD191}"/>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40103504-A205-4317-83A4-60D0EED161E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Scope begins with current authority</a:t>
            </a:r>
          </a:p>
        </p:txBody>
      </p:sp>
      <p:sp>
        <p:nvSpPr>
          <p:cNvPr id="5" name="">
            <a:extLst xmlns:a="http://schemas.openxmlformats.org/drawingml/2006/main">
              <a:ext uri="{FF2B5EF4-FFF2-40B4-BE49-F238E27FC236}">
                <a16:creationId xmlns:a16="http://schemas.microsoft.com/office/drawing/2014/main" id="{6C4CC92A-FE08-434D-8957-961DC299E49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6" name="">
            <a:extLst xmlns:a="http://schemas.openxmlformats.org/drawingml/2006/main">
              <a:ext uri="{FF2B5EF4-FFF2-40B4-BE49-F238E27FC236}">
                <a16:creationId xmlns:a16="http://schemas.microsoft.com/office/drawing/2014/main" id="{84EB7C3E-EAEF-441A-9483-E2FA9DCFFB8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980FB47B-8F36-475F-8E0D-815DB45F735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Florida Statutes define practical nursing as selected nursing acts performed under authorized direction.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Education and experience set personal limits.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Employer policy may narrow the permitted role.</a:t>
            </a:r>
          </a:p>
        </p:txBody>
      </p:sp>
      <p:sp>
        <p:nvSpPr>
          <p:cNvPr id="8" name="">
            <a:extLst xmlns:a="http://schemas.openxmlformats.org/drawingml/2006/main">
              <a:ext uri="{FF2B5EF4-FFF2-40B4-BE49-F238E27FC236}">
                <a16:creationId xmlns:a16="http://schemas.microsoft.com/office/drawing/2014/main" id="{800F3FE5-6662-4133-B096-393BB839578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913706922"/>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F6C3446-2775-4090-821D-75A20B08E8B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2B478B2A-B2E5-4867-A035-AD8F761B0D5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19E897CF-E762-4900-86AA-F4A13D4ECA39}"/>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8427DC02-9015-4BF3-833B-60F28B3C3D4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30-hour qualification</a:t>
            </a:r>
          </a:p>
        </p:txBody>
      </p:sp>
      <p:sp>
        <p:nvSpPr>
          <p:cNvPr id="5" name="">
            <a:extLst xmlns:a="http://schemas.openxmlformats.org/drawingml/2006/main">
              <a:ext uri="{FF2B5EF4-FFF2-40B4-BE49-F238E27FC236}">
                <a16:creationId xmlns:a16="http://schemas.microsoft.com/office/drawing/2014/main" id="{52C6C04A-A285-4554-8520-D9CF1A60422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6" name="">
            <a:extLst xmlns:a="http://schemas.openxmlformats.org/drawingml/2006/main">
              <a:ext uri="{FF2B5EF4-FFF2-40B4-BE49-F238E27FC236}">
                <a16:creationId xmlns:a16="http://schemas.microsoft.com/office/drawing/2014/main" id="{00E27FB4-51F5-4EB1-AC01-3B4B88BE4A2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7" name="">
            <a:extLst xmlns:a="http://schemas.openxmlformats.org/drawingml/2006/main">
              <a:ext uri="{FF2B5EF4-FFF2-40B4-BE49-F238E27FC236}">
                <a16:creationId xmlns:a16="http://schemas.microsoft.com/office/drawing/2014/main" id="{09C8EA42-70C7-4F70-BD59-41601D7121E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Florida Administrative Code Rule 64B9-12.005 requires at least 30 hours of post-graduate IV education for an LPN or graduate practical nurse who needs this qualification.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Course content must cover the required cognitive and clinical areas.</a:t>
            </a:r>
          </a:p>
        </p:txBody>
      </p:sp>
      <p:sp>
        <p:nvSpPr>
          <p:cNvPr id="8" name="">
            <a:extLst xmlns:a="http://schemas.openxmlformats.org/drawingml/2006/main">
              <a:ext uri="{FF2B5EF4-FFF2-40B4-BE49-F238E27FC236}">
                <a16:creationId xmlns:a16="http://schemas.microsoft.com/office/drawing/2014/main" id="{FCC84B5D-814D-420C-97C1-751A4F81161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713638448"/>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73EB6CC-E93B-4A59-A07F-67304F21B85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4F56E252-9350-4ED8-9E9C-A22A0B98641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CA43AB5D-AF0F-4BAD-94DA-5D15F9AF347B}"/>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9E5F7FA4-1857-4FCE-A325-94A55FC23A0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Central-line preparation</a:t>
            </a:r>
          </a:p>
        </p:txBody>
      </p:sp>
      <p:sp>
        <p:nvSpPr>
          <p:cNvPr id="5" name="">
            <a:extLst xmlns:a="http://schemas.openxmlformats.org/drawingml/2006/main">
              <a:ext uri="{FF2B5EF4-FFF2-40B4-BE49-F238E27FC236}">
                <a16:creationId xmlns:a16="http://schemas.microsoft.com/office/drawing/2014/main" id="{6EA07CFC-2239-4AA0-80BC-6442E9EADDA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6" name="">
            <a:extLst xmlns:a="http://schemas.openxmlformats.org/drawingml/2006/main">
              <a:ext uri="{FF2B5EF4-FFF2-40B4-BE49-F238E27FC236}">
                <a16:creationId xmlns:a16="http://schemas.microsoft.com/office/drawing/2014/main" id="{4BF43DE3-C421-421C-AC70-A9B239BE093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7" name="">
            <a:extLst xmlns:a="http://schemas.openxmlformats.org/drawingml/2006/main">
              <a:ext uri="{FF2B5EF4-FFF2-40B4-BE49-F238E27FC236}">
                <a16:creationId xmlns:a16="http://schemas.microsoft.com/office/drawing/2014/main" id="{52E94A77-C6EE-4C70-8E85-292EAFA4AF9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Central-line practice requires at least four hours of instruction that may count within the 30 hours.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Training includes anatomy, site assessment, dressing and cap changes, flushing, administration, blood collection, and complication response.</a:t>
            </a:r>
          </a:p>
        </p:txBody>
      </p:sp>
      <p:sp>
        <p:nvSpPr>
          <p:cNvPr id="8" name="">
            <a:extLst xmlns:a="http://schemas.openxmlformats.org/drawingml/2006/main">
              <a:ext uri="{FF2B5EF4-FFF2-40B4-BE49-F238E27FC236}">
                <a16:creationId xmlns:a16="http://schemas.microsoft.com/office/drawing/2014/main" id="{2AA35029-08D6-4742-9964-953C8A555AA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08977972"/>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C4A95BC-83D6-49DB-8EF1-E879D38DB7F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687B1E3D-53F3-4E03-A8B9-0417B12D922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2F74BDE1-2636-4DBD-AA93-91EC66DE2001}"/>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008A936A-3DC9-455F-A08B-0896DEC30B4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Clinical competence and records</a:t>
            </a:r>
          </a:p>
        </p:txBody>
      </p:sp>
      <p:sp>
        <p:nvSpPr>
          <p:cNvPr id="5" name="">
            <a:extLst xmlns:a="http://schemas.openxmlformats.org/drawingml/2006/main">
              <a:ext uri="{FF2B5EF4-FFF2-40B4-BE49-F238E27FC236}">
                <a16:creationId xmlns:a16="http://schemas.microsoft.com/office/drawing/2014/main" id="{AFBD11DA-2A38-4F31-A26D-B2F3E087633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6" name="">
            <a:extLst xmlns:a="http://schemas.openxmlformats.org/drawingml/2006/main">
              <a:ext uri="{FF2B5EF4-FFF2-40B4-BE49-F238E27FC236}">
                <a16:creationId xmlns:a16="http://schemas.microsoft.com/office/drawing/2014/main" id="{F350D489-5EB3-48EB-A609-31FF34441F1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7" name="">
            <a:extLst xmlns:a="http://schemas.openxmlformats.org/drawingml/2006/main">
              <a:ext uri="{FF2B5EF4-FFF2-40B4-BE49-F238E27FC236}">
                <a16:creationId xmlns:a16="http://schemas.microsoft.com/office/drawing/2014/main" id="{207E87E3-9053-4E2D-8046-488F5AC47DB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 Florida-licensed RN witnesses clinical practice and files a proficiency statement.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employing institution verifies competence under its protocol.</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Documentation identifies the device, site, solution, delivery method, assessment, response, and complications.</a:t>
            </a:r>
          </a:p>
        </p:txBody>
      </p:sp>
      <p:sp>
        <p:nvSpPr>
          <p:cNvPr id="8" name="">
            <a:extLst xmlns:a="http://schemas.openxmlformats.org/drawingml/2006/main">
              <a:ext uri="{FF2B5EF4-FFF2-40B4-BE49-F238E27FC236}">
                <a16:creationId xmlns:a16="http://schemas.microsoft.com/office/drawing/2014/main" id="{8AD998B7-9F7A-4E84-9B1B-0A8F3A6001F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934873277"/>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29DFB68E-BC59-47BD-9E4E-C305E17587A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DA54F8F5-0788-4F8E-A201-B8DD438E882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F05970DD-DF07-420D-86D1-F17E23EA996A}"/>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B106760E-BF0B-4730-8B58-741C39AA185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Why IV therapy is used</a:t>
            </a:r>
          </a:p>
        </p:txBody>
      </p:sp>
      <p:sp>
        <p:nvSpPr>
          <p:cNvPr id="5" name="">
            <a:extLst xmlns:a="http://schemas.openxmlformats.org/drawingml/2006/main">
              <a:ext uri="{FF2B5EF4-FFF2-40B4-BE49-F238E27FC236}">
                <a16:creationId xmlns:a16="http://schemas.microsoft.com/office/drawing/2014/main" id="{EB6B07B0-C273-4F94-BD66-6B4B1C2E689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6" name="">
            <a:extLst xmlns:a="http://schemas.openxmlformats.org/drawingml/2006/main">
              <a:ext uri="{FF2B5EF4-FFF2-40B4-BE49-F238E27FC236}">
                <a16:creationId xmlns:a16="http://schemas.microsoft.com/office/drawing/2014/main" id="{5C56A168-BE04-4F8D-A62C-D6DA7869ADA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7" name="">
            <a:extLst xmlns:a="http://schemas.openxmlformats.org/drawingml/2006/main">
              <a:ext uri="{FF2B5EF4-FFF2-40B4-BE49-F238E27FC236}">
                <a16:creationId xmlns:a16="http://schemas.microsoft.com/office/drawing/2014/main" id="{D0495AFE-42A4-400A-9F5C-62EAAB9B5062}"/>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671BC38F-D158-421E-A4DB-8EAAEE2DB312}"/>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Clinical purpose</a:t>
            </a:r>
          </a:p>
        </p:txBody>
      </p:sp>
      <p:sp>
        <p:nvSpPr>
          <p:cNvPr id="9" name="">
            <a:extLst xmlns:a="http://schemas.openxmlformats.org/drawingml/2006/main">
              <a:ext uri="{FF2B5EF4-FFF2-40B4-BE49-F238E27FC236}">
                <a16:creationId xmlns:a16="http://schemas.microsoft.com/office/drawing/2014/main" id="{EB3CE229-9FED-404B-9E08-11BE1EF88AA5}"/>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43C0C907-49D1-4AC2-A448-8063F12A1584}"/>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Example</a:t>
            </a:r>
          </a:p>
        </p:txBody>
      </p:sp>
      <p:sp>
        <p:nvSpPr>
          <p:cNvPr id="11" name="">
            <a:extLst xmlns:a="http://schemas.openxmlformats.org/drawingml/2006/main">
              <a:ext uri="{FF2B5EF4-FFF2-40B4-BE49-F238E27FC236}">
                <a16:creationId xmlns:a16="http://schemas.microsoft.com/office/drawing/2014/main" id="{54DAB138-5074-44AE-8135-FCA8C8F66F9C}"/>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36942CAB-7F20-439C-9019-388BDA172E11}"/>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Restore or maintain volume</a:t>
            </a:r>
          </a:p>
        </p:txBody>
      </p:sp>
      <p:sp>
        <p:nvSpPr>
          <p:cNvPr id="13" name="">
            <a:extLst xmlns:a="http://schemas.openxmlformats.org/drawingml/2006/main">
              <a:ext uri="{FF2B5EF4-FFF2-40B4-BE49-F238E27FC236}">
                <a16:creationId xmlns:a16="http://schemas.microsoft.com/office/drawing/2014/main" id="{93468936-C584-4B68-A9FF-37CBD61A5473}"/>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DEBB13BC-9DB1-4BAE-8E42-B82F99A2E97A}"/>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Hydration, resuscitation, or replacement of ongoing losses</a:t>
            </a:r>
          </a:p>
        </p:txBody>
      </p:sp>
      <p:sp>
        <p:nvSpPr>
          <p:cNvPr id="15" name="">
            <a:extLst xmlns:a="http://schemas.openxmlformats.org/drawingml/2006/main">
              <a:ext uri="{FF2B5EF4-FFF2-40B4-BE49-F238E27FC236}">
                <a16:creationId xmlns:a16="http://schemas.microsoft.com/office/drawing/2014/main" id="{2D4C155E-920A-4528-B820-1860AB8A07EB}"/>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3676E01F-F634-40B4-A05C-4A6C5CB186BA}"/>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Correct electrolyte or acid-base disturbance</a:t>
            </a:r>
          </a:p>
        </p:txBody>
      </p:sp>
      <p:sp>
        <p:nvSpPr>
          <p:cNvPr id="17" name="">
            <a:extLst xmlns:a="http://schemas.openxmlformats.org/drawingml/2006/main">
              <a:ext uri="{FF2B5EF4-FFF2-40B4-BE49-F238E27FC236}">
                <a16:creationId xmlns:a16="http://schemas.microsoft.com/office/drawing/2014/main" id="{A75185F0-20F1-4BA3-AF5D-839DF82BA763}"/>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FBCB7D12-0B33-4195-8ACF-0CE822B07F93}"/>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Ordered sodium, potassium, magnesium, calcium, or buffer therapy</a:t>
            </a:r>
          </a:p>
        </p:txBody>
      </p:sp>
      <p:sp>
        <p:nvSpPr>
          <p:cNvPr id="19" name="">
            <a:extLst xmlns:a="http://schemas.openxmlformats.org/drawingml/2006/main">
              <a:ext uri="{FF2B5EF4-FFF2-40B4-BE49-F238E27FC236}">
                <a16:creationId xmlns:a16="http://schemas.microsoft.com/office/drawing/2014/main" id="{E845A55B-7690-45E8-92D7-B4C2E06214B1}"/>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F68675A1-AC17-4F3D-BB7E-1E5D698DFC70}"/>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Deliver medication</a:t>
            </a:r>
          </a:p>
        </p:txBody>
      </p:sp>
      <p:sp>
        <p:nvSpPr>
          <p:cNvPr id="21" name="">
            <a:extLst xmlns:a="http://schemas.openxmlformats.org/drawingml/2006/main">
              <a:ext uri="{FF2B5EF4-FFF2-40B4-BE49-F238E27FC236}">
                <a16:creationId xmlns:a16="http://schemas.microsoft.com/office/drawing/2014/main" id="{2F12A6FB-0FAC-45E9-B104-A6FC4CCB712B}"/>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1D7585BC-FF0E-4FD1-9880-090D0AC3884C}"/>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Continuous, intermittent, secondary, or time-critical infusion</a:t>
            </a:r>
          </a:p>
        </p:txBody>
      </p:sp>
      <p:sp>
        <p:nvSpPr>
          <p:cNvPr id="23" name="">
            <a:extLst xmlns:a="http://schemas.openxmlformats.org/drawingml/2006/main">
              <a:ext uri="{FF2B5EF4-FFF2-40B4-BE49-F238E27FC236}">
                <a16:creationId xmlns:a16="http://schemas.microsoft.com/office/drawing/2014/main" id="{38171C9C-2297-4DD5-AB91-07A59BA59C42}"/>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175B78FD-0F4E-4B88-9A0D-947A5A5C75F2}"/>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Provide blood components</a:t>
            </a:r>
          </a:p>
        </p:txBody>
      </p:sp>
      <p:sp>
        <p:nvSpPr>
          <p:cNvPr id="25" name="">
            <a:extLst xmlns:a="http://schemas.openxmlformats.org/drawingml/2006/main">
              <a:ext uri="{FF2B5EF4-FFF2-40B4-BE49-F238E27FC236}">
                <a16:creationId xmlns:a16="http://schemas.microsoft.com/office/drawing/2014/main" id="{80FE1C9E-A4C3-4107-AF62-9AFD0965236C}"/>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94A41C20-F6F5-4121-B77D-D6BFBE6A09FD}"/>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Red cells, platelets, plasma, or cryoprecipitate for a defined indication</a:t>
            </a:r>
          </a:p>
        </p:txBody>
      </p:sp>
      <p:sp>
        <p:nvSpPr>
          <p:cNvPr id="27" name="">
            <a:extLst xmlns:a="http://schemas.openxmlformats.org/drawingml/2006/main">
              <a:ext uri="{FF2B5EF4-FFF2-40B4-BE49-F238E27FC236}">
                <a16:creationId xmlns:a16="http://schemas.microsoft.com/office/drawing/2014/main" id="{40AE299D-2A4A-4BD4-90FC-5C3394EBC139}"/>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8900E18B-89BB-4CA4-A8B1-80ADC360AC8A}"/>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Provide nutrition or diagnostic therapy</a:t>
            </a:r>
          </a:p>
        </p:txBody>
      </p:sp>
      <p:sp>
        <p:nvSpPr>
          <p:cNvPr id="29" name="">
            <a:extLst xmlns:a="http://schemas.openxmlformats.org/drawingml/2006/main">
              <a:ext uri="{FF2B5EF4-FFF2-40B4-BE49-F238E27FC236}">
                <a16:creationId xmlns:a16="http://schemas.microsoft.com/office/drawing/2014/main" id="{7DB22386-0F21-4DDF-A983-5E7352333207}"/>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771FD1DA-3D3A-4E2C-AF83-9EEF3AB7CC81}"/>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Parenteral nutrition, contrast, or other prescribed agents</a:t>
            </a:r>
          </a:p>
        </p:txBody>
      </p:sp>
    </p:spTree>
    <p:extLst>
      <p:ext uri="{BB962C8B-B14F-4D97-AF65-F5344CB8AC3E}">
        <p14:creationId xmlns:p14="http://schemas.microsoft.com/office/powerpoint/2010/main" val="237594358"/>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758E579-50B1-4EDE-926A-1746D07E9E7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245E3F07-EC57-4FA9-A61E-D3066D6954D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684212EB-2360-45AD-A725-846B6BED0FA7}"/>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F7678070-32B4-4CA7-BA46-B3E5D2124C5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IV therapy benefits and risks</a:t>
            </a:r>
          </a:p>
        </p:txBody>
      </p:sp>
      <p:sp>
        <p:nvSpPr>
          <p:cNvPr id="5" name="">
            <a:extLst xmlns:a="http://schemas.openxmlformats.org/drawingml/2006/main">
              <a:ext uri="{FF2B5EF4-FFF2-40B4-BE49-F238E27FC236}">
                <a16:creationId xmlns:a16="http://schemas.microsoft.com/office/drawing/2014/main" id="{4669050B-828F-426D-9505-C678E9EB93D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6" name="">
            <a:extLst xmlns:a="http://schemas.openxmlformats.org/drawingml/2006/main">
              <a:ext uri="{FF2B5EF4-FFF2-40B4-BE49-F238E27FC236}">
                <a16:creationId xmlns:a16="http://schemas.microsoft.com/office/drawing/2014/main" id="{B1B4C6B4-593B-4B1F-8BD9-8E8C74C8747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7" name="">
            <a:extLst xmlns:a="http://schemas.openxmlformats.org/drawingml/2006/main">
              <a:ext uri="{FF2B5EF4-FFF2-40B4-BE49-F238E27FC236}">
                <a16:creationId xmlns:a16="http://schemas.microsoft.com/office/drawing/2014/main" id="{5636AF29-9742-458B-8474-569F19B36DE0}"/>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01106394-DC8B-48A2-8EBC-8ECB0551F25C}"/>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Benefit</a:t>
            </a:r>
          </a:p>
        </p:txBody>
      </p:sp>
      <p:sp>
        <p:nvSpPr>
          <p:cNvPr id="9" name="">
            <a:extLst xmlns:a="http://schemas.openxmlformats.org/drawingml/2006/main">
              <a:ext uri="{FF2B5EF4-FFF2-40B4-BE49-F238E27FC236}">
                <a16:creationId xmlns:a16="http://schemas.microsoft.com/office/drawing/2014/main" id="{2627399C-D3EF-47A3-8BDF-AABC3AC68014}"/>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0F769D32-1803-48D0-B73B-D0E76C08B592}"/>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Corresponding risk</a:t>
            </a:r>
          </a:p>
        </p:txBody>
      </p:sp>
      <p:sp>
        <p:nvSpPr>
          <p:cNvPr id="11" name="">
            <a:extLst xmlns:a="http://schemas.openxmlformats.org/drawingml/2006/main">
              <a:ext uri="{FF2B5EF4-FFF2-40B4-BE49-F238E27FC236}">
                <a16:creationId xmlns:a16="http://schemas.microsoft.com/office/drawing/2014/main" id="{196FCA59-6A8D-4AB0-ABFF-FC58917B45EE}"/>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7E38B409-5E7E-4005-835C-BB73F8046DF1}"/>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Rapid and predictable effect</a:t>
            </a:r>
          </a:p>
        </p:txBody>
      </p:sp>
      <p:sp>
        <p:nvSpPr>
          <p:cNvPr id="13" name="">
            <a:extLst xmlns:a="http://schemas.openxmlformats.org/drawingml/2006/main">
              <a:ext uri="{FF2B5EF4-FFF2-40B4-BE49-F238E27FC236}">
                <a16:creationId xmlns:a16="http://schemas.microsoft.com/office/drawing/2014/main" id="{AAE6BFE3-FBEA-4F44-A499-8D04EDCE7E50}"/>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5237CEE8-B704-4264-9A9E-0784C5D26291}"/>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An error reaches the circulation immediately</a:t>
            </a:r>
          </a:p>
        </p:txBody>
      </p:sp>
      <p:sp>
        <p:nvSpPr>
          <p:cNvPr id="15" name="">
            <a:extLst xmlns:a="http://schemas.openxmlformats.org/drawingml/2006/main">
              <a:ext uri="{FF2B5EF4-FFF2-40B4-BE49-F238E27FC236}">
                <a16:creationId xmlns:a16="http://schemas.microsoft.com/office/drawing/2014/main" id="{55324222-7FFF-45DC-9176-C2BD4808236B}"/>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C4868D64-C68F-4452-916D-24CA6B556999}"/>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Accurate titration</a:t>
            </a:r>
          </a:p>
        </p:txBody>
      </p:sp>
      <p:sp>
        <p:nvSpPr>
          <p:cNvPr id="17" name="">
            <a:extLst xmlns:a="http://schemas.openxmlformats.org/drawingml/2006/main">
              <a:ext uri="{FF2B5EF4-FFF2-40B4-BE49-F238E27FC236}">
                <a16:creationId xmlns:a16="http://schemas.microsoft.com/office/drawing/2014/main" id="{6423D4BE-4325-425F-BF0F-39F1DB9CAF59}"/>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2ACFF31E-3A05-47EF-8131-61CBC57B7234}"/>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Wrong concentration or pump setting can cause serious harm</a:t>
            </a:r>
          </a:p>
        </p:txBody>
      </p:sp>
      <p:sp>
        <p:nvSpPr>
          <p:cNvPr id="19" name="">
            <a:extLst xmlns:a="http://schemas.openxmlformats.org/drawingml/2006/main">
              <a:ext uri="{FF2B5EF4-FFF2-40B4-BE49-F238E27FC236}">
                <a16:creationId xmlns:a16="http://schemas.microsoft.com/office/drawing/2014/main" id="{A3441EFC-4D5A-48E7-A112-2B12A81A8B3A}"/>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12961989-359D-4879-ABBE-64EC1A3A7863}"/>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Access when oral therapy is unavailable</a:t>
            </a:r>
          </a:p>
        </p:txBody>
      </p:sp>
      <p:sp>
        <p:nvSpPr>
          <p:cNvPr id="21" name="">
            <a:extLst xmlns:a="http://schemas.openxmlformats.org/drawingml/2006/main">
              <a:ext uri="{FF2B5EF4-FFF2-40B4-BE49-F238E27FC236}">
                <a16:creationId xmlns:a16="http://schemas.microsoft.com/office/drawing/2014/main" id="{8F60EF37-1037-4B17-94AE-E67D89D4AFE3}"/>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60F7DBC8-DE69-488D-B6EE-75445F28475E}"/>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Catheter creates an infection and vessel-injury risk</a:t>
            </a:r>
          </a:p>
        </p:txBody>
      </p:sp>
      <p:sp>
        <p:nvSpPr>
          <p:cNvPr id="23" name="">
            <a:extLst xmlns:a="http://schemas.openxmlformats.org/drawingml/2006/main">
              <a:ext uri="{FF2B5EF4-FFF2-40B4-BE49-F238E27FC236}">
                <a16:creationId xmlns:a16="http://schemas.microsoft.com/office/drawing/2014/main" id="{E5635963-F099-4141-B136-7E3DC249164B}"/>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79E0D3C3-40A6-4459-B933-C84DB762DBEF}"/>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Multiple therapy options</a:t>
            </a:r>
          </a:p>
        </p:txBody>
      </p:sp>
      <p:sp>
        <p:nvSpPr>
          <p:cNvPr id="25" name="">
            <a:extLst xmlns:a="http://schemas.openxmlformats.org/drawingml/2006/main">
              <a:ext uri="{FF2B5EF4-FFF2-40B4-BE49-F238E27FC236}">
                <a16:creationId xmlns:a16="http://schemas.microsoft.com/office/drawing/2014/main" id="{7A7F4C93-E963-40D6-BF09-291E84E337D0}"/>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809CC9E6-45BB-4EC3-AF74-808B05925E55}"/>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Incompatibility, fluid overload, infiltration, or allergic reaction may occur</a:t>
            </a:r>
          </a:p>
        </p:txBody>
      </p:sp>
    </p:spTree>
    <p:extLst>
      <p:ext uri="{BB962C8B-B14F-4D97-AF65-F5344CB8AC3E}">
        <p14:creationId xmlns:p14="http://schemas.microsoft.com/office/powerpoint/2010/main" val="1757017249"/>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2B5678F-5C9C-4137-953C-56B0C219239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169A41B5-07EB-44A2-8C91-80B753BF502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40550F94-7A86-45FC-B96C-A4938130F061}"/>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873A2B4C-4B63-4C17-A0B9-08FB935C95A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Legal accountability in every phase</a:t>
            </a:r>
          </a:p>
        </p:txBody>
      </p:sp>
      <p:sp>
        <p:nvSpPr>
          <p:cNvPr id="5" name="">
            <a:extLst xmlns:a="http://schemas.openxmlformats.org/drawingml/2006/main">
              <a:ext uri="{FF2B5EF4-FFF2-40B4-BE49-F238E27FC236}">
                <a16:creationId xmlns:a16="http://schemas.microsoft.com/office/drawing/2014/main" id="{FD5548FE-5DB4-47B6-8146-D91C130772A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6" name="">
            <a:extLst xmlns:a="http://schemas.openxmlformats.org/drawingml/2006/main">
              <a:ext uri="{FF2B5EF4-FFF2-40B4-BE49-F238E27FC236}">
                <a16:creationId xmlns:a16="http://schemas.microsoft.com/office/drawing/2014/main" id="{51614BB5-EEE3-4DDE-B5C6-42BD2F72211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7" name="">
            <a:extLst xmlns:a="http://schemas.openxmlformats.org/drawingml/2006/main">
              <a:ext uri="{FF2B5EF4-FFF2-40B4-BE49-F238E27FC236}">
                <a16:creationId xmlns:a16="http://schemas.microsoft.com/office/drawing/2014/main" id="{E2EA9D95-62ED-448D-B5F3-BAFDF107B0F6}"/>
              </a:ext>
            </a:extLst>
          </p:cNvPr>
          <p:cNvSpPr>
            <a:spLocks xmlns:a="http://schemas.openxmlformats.org/drawingml/2006/main" noGrp="1"/>
          </p:cNvSpPr>
          <p:nvPr/>
        </p:nvSpPr>
        <p:spPr>
          <a:xfrm xmlns:a="http://schemas.openxmlformats.org/drawingml/2006/main">
            <a:off x="781050" y="1695450"/>
            <a:ext cx="5286375"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A6F515D6-4A19-437F-B1F0-44145E0E6779}"/>
              </a:ext>
            </a:extLst>
          </p:cNvPr>
          <p:cNvSpPr>
            <a:spLocks xmlns:a="http://schemas.openxmlformats.org/drawingml/2006/main" noGrp="1"/>
          </p:cNvSpPr>
          <p:nvPr/>
        </p:nvSpPr>
        <p:spPr>
          <a:xfrm xmlns:a="http://schemas.openxmlformats.org/drawingml/2006/main">
            <a:off x="876300" y="1762125"/>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Phase</a:t>
            </a:r>
          </a:p>
        </p:txBody>
      </p:sp>
      <p:sp>
        <p:nvSpPr>
          <p:cNvPr id="9" name="">
            <a:extLst xmlns:a="http://schemas.openxmlformats.org/drawingml/2006/main">
              <a:ext uri="{FF2B5EF4-FFF2-40B4-BE49-F238E27FC236}">
                <a16:creationId xmlns:a16="http://schemas.microsoft.com/office/drawing/2014/main" id="{9AF70D46-EEE8-44BC-8761-AB38AFDAB01C}"/>
              </a:ext>
            </a:extLst>
          </p:cNvPr>
          <p:cNvSpPr>
            <a:spLocks xmlns:a="http://schemas.openxmlformats.org/drawingml/2006/main" noGrp="1"/>
          </p:cNvSpPr>
          <p:nvPr/>
        </p:nvSpPr>
        <p:spPr>
          <a:xfrm xmlns:a="http://schemas.openxmlformats.org/drawingml/2006/main">
            <a:off x="6067425" y="1695450"/>
            <a:ext cx="5286375"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F99D54FE-228D-455A-8DB5-A1FC88ED48DB}"/>
              </a:ext>
            </a:extLst>
          </p:cNvPr>
          <p:cNvSpPr>
            <a:spLocks xmlns:a="http://schemas.openxmlformats.org/drawingml/2006/main" noGrp="1"/>
          </p:cNvSpPr>
          <p:nvPr/>
        </p:nvSpPr>
        <p:spPr>
          <a:xfrm xmlns:a="http://schemas.openxmlformats.org/drawingml/2006/main">
            <a:off x="6162675" y="1762125"/>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Accountability</a:t>
            </a:r>
          </a:p>
        </p:txBody>
      </p:sp>
      <p:sp>
        <p:nvSpPr>
          <p:cNvPr id="11" name="">
            <a:extLst xmlns:a="http://schemas.openxmlformats.org/drawingml/2006/main">
              <a:ext uri="{FF2B5EF4-FFF2-40B4-BE49-F238E27FC236}">
                <a16:creationId xmlns:a16="http://schemas.microsoft.com/office/drawing/2014/main" id="{3E4B2D43-DA6D-4C66-8E18-DC52C9439040}"/>
              </a:ext>
            </a:extLst>
          </p:cNvPr>
          <p:cNvSpPr>
            <a:spLocks xmlns:a="http://schemas.openxmlformats.org/drawingml/2006/main" noGrp="1"/>
          </p:cNvSpPr>
          <p:nvPr/>
        </p:nvSpPr>
        <p:spPr>
          <a:xfrm xmlns:a="http://schemas.openxmlformats.org/drawingml/2006/main">
            <a:off x="781050" y="2767013"/>
            <a:ext cx="5286375"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B1340762-0EE5-4D60-B533-2E018B04C9C9}"/>
              </a:ext>
            </a:extLst>
          </p:cNvPr>
          <p:cNvSpPr>
            <a:spLocks xmlns:a="http://schemas.openxmlformats.org/drawingml/2006/main" noGrp="1"/>
          </p:cNvSpPr>
          <p:nvPr/>
        </p:nvSpPr>
        <p:spPr>
          <a:xfrm xmlns:a="http://schemas.openxmlformats.org/drawingml/2006/main">
            <a:off x="876300" y="2833688"/>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Before</a:t>
            </a:r>
          </a:p>
        </p:txBody>
      </p:sp>
      <p:sp>
        <p:nvSpPr>
          <p:cNvPr id="13" name="">
            <a:extLst xmlns:a="http://schemas.openxmlformats.org/drawingml/2006/main">
              <a:ext uri="{FF2B5EF4-FFF2-40B4-BE49-F238E27FC236}">
                <a16:creationId xmlns:a16="http://schemas.microsoft.com/office/drawing/2014/main" id="{145A5DFE-F9F9-41EA-B223-DE73163CE548}"/>
              </a:ext>
            </a:extLst>
          </p:cNvPr>
          <p:cNvSpPr>
            <a:spLocks xmlns:a="http://schemas.openxmlformats.org/drawingml/2006/main" noGrp="1"/>
          </p:cNvSpPr>
          <p:nvPr/>
        </p:nvSpPr>
        <p:spPr>
          <a:xfrm xmlns:a="http://schemas.openxmlformats.org/drawingml/2006/main">
            <a:off x="6067425" y="2767013"/>
            <a:ext cx="5286375"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5D072DF3-D797-481E-B3A2-2CFE51C6858A}"/>
              </a:ext>
            </a:extLst>
          </p:cNvPr>
          <p:cNvSpPr>
            <a:spLocks xmlns:a="http://schemas.openxmlformats.org/drawingml/2006/main" noGrp="1"/>
          </p:cNvSpPr>
          <p:nvPr/>
        </p:nvSpPr>
        <p:spPr>
          <a:xfrm xmlns:a="http://schemas.openxmlformats.org/drawingml/2006/main">
            <a:off x="6162675" y="2833688"/>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Verify authority, competency, policy, patient, order, allergies, access, calculations, and compatibility</a:t>
            </a:r>
          </a:p>
        </p:txBody>
      </p:sp>
      <p:sp>
        <p:nvSpPr>
          <p:cNvPr id="15" name="">
            <a:extLst xmlns:a="http://schemas.openxmlformats.org/drawingml/2006/main">
              <a:ext uri="{FF2B5EF4-FFF2-40B4-BE49-F238E27FC236}">
                <a16:creationId xmlns:a16="http://schemas.microsoft.com/office/drawing/2014/main" id="{4CBB699A-1BCE-4B5D-A60E-57A02EE266E0}"/>
              </a:ext>
            </a:extLst>
          </p:cNvPr>
          <p:cNvSpPr>
            <a:spLocks xmlns:a="http://schemas.openxmlformats.org/drawingml/2006/main" noGrp="1"/>
          </p:cNvSpPr>
          <p:nvPr/>
        </p:nvSpPr>
        <p:spPr>
          <a:xfrm xmlns:a="http://schemas.openxmlformats.org/drawingml/2006/main">
            <a:off x="781050" y="3838575"/>
            <a:ext cx="5286375"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C33F4999-356C-4303-8A0E-7409F2E350F0}"/>
              </a:ext>
            </a:extLst>
          </p:cNvPr>
          <p:cNvSpPr>
            <a:spLocks xmlns:a="http://schemas.openxmlformats.org/drawingml/2006/main" noGrp="1"/>
          </p:cNvSpPr>
          <p:nvPr/>
        </p:nvSpPr>
        <p:spPr>
          <a:xfrm xmlns:a="http://schemas.openxmlformats.org/drawingml/2006/main">
            <a:off x="876300" y="3905250"/>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During</a:t>
            </a:r>
          </a:p>
        </p:txBody>
      </p:sp>
      <p:sp>
        <p:nvSpPr>
          <p:cNvPr id="17" name="">
            <a:extLst xmlns:a="http://schemas.openxmlformats.org/drawingml/2006/main">
              <a:ext uri="{FF2B5EF4-FFF2-40B4-BE49-F238E27FC236}">
                <a16:creationId xmlns:a16="http://schemas.microsoft.com/office/drawing/2014/main" id="{E97B5F25-7B67-42B8-B93C-6897C54110AC}"/>
              </a:ext>
            </a:extLst>
          </p:cNvPr>
          <p:cNvSpPr>
            <a:spLocks xmlns:a="http://schemas.openxmlformats.org/drawingml/2006/main" noGrp="1"/>
          </p:cNvSpPr>
          <p:nvPr/>
        </p:nvSpPr>
        <p:spPr>
          <a:xfrm xmlns:a="http://schemas.openxmlformats.org/drawingml/2006/main">
            <a:off x="6067425" y="3838575"/>
            <a:ext cx="5286375"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2BC4D879-776F-4557-AD92-3C37CC394230}"/>
              </a:ext>
            </a:extLst>
          </p:cNvPr>
          <p:cNvSpPr>
            <a:spLocks xmlns:a="http://schemas.openxmlformats.org/drawingml/2006/main" noGrp="1"/>
          </p:cNvSpPr>
          <p:nvPr/>
        </p:nvSpPr>
        <p:spPr>
          <a:xfrm xmlns:a="http://schemas.openxmlformats.org/drawingml/2006/main">
            <a:off x="6162675" y="3905250"/>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Maintain asepsis, use the correct device and pump, monitor the site and patient, and respond to changes</a:t>
            </a:r>
          </a:p>
        </p:txBody>
      </p:sp>
      <p:sp>
        <p:nvSpPr>
          <p:cNvPr id="19" name="">
            <a:extLst xmlns:a="http://schemas.openxmlformats.org/drawingml/2006/main">
              <a:ext uri="{FF2B5EF4-FFF2-40B4-BE49-F238E27FC236}">
                <a16:creationId xmlns:a16="http://schemas.microsoft.com/office/drawing/2014/main" id="{783AB159-75D9-4788-93D5-86C3C6BEF59B}"/>
              </a:ext>
            </a:extLst>
          </p:cNvPr>
          <p:cNvSpPr>
            <a:spLocks xmlns:a="http://schemas.openxmlformats.org/drawingml/2006/main" noGrp="1"/>
          </p:cNvSpPr>
          <p:nvPr/>
        </p:nvSpPr>
        <p:spPr>
          <a:xfrm xmlns:a="http://schemas.openxmlformats.org/drawingml/2006/main">
            <a:off x="781050" y="4910138"/>
            <a:ext cx="5286375"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A4336294-4115-4054-99C3-3C07053B60F3}"/>
              </a:ext>
            </a:extLst>
          </p:cNvPr>
          <p:cNvSpPr>
            <a:spLocks xmlns:a="http://schemas.openxmlformats.org/drawingml/2006/main" noGrp="1"/>
          </p:cNvSpPr>
          <p:nvPr/>
        </p:nvSpPr>
        <p:spPr>
          <a:xfrm xmlns:a="http://schemas.openxmlformats.org/drawingml/2006/main">
            <a:off x="876300" y="4976813"/>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After</a:t>
            </a:r>
          </a:p>
        </p:txBody>
      </p:sp>
      <p:sp>
        <p:nvSpPr>
          <p:cNvPr id="21" name="">
            <a:extLst xmlns:a="http://schemas.openxmlformats.org/drawingml/2006/main">
              <a:ext uri="{FF2B5EF4-FFF2-40B4-BE49-F238E27FC236}">
                <a16:creationId xmlns:a16="http://schemas.microsoft.com/office/drawing/2014/main" id="{0E2A5DC1-33C0-41AC-81C6-DAC358D2E493}"/>
              </a:ext>
            </a:extLst>
          </p:cNvPr>
          <p:cNvSpPr>
            <a:spLocks xmlns:a="http://schemas.openxmlformats.org/drawingml/2006/main" noGrp="1"/>
          </p:cNvSpPr>
          <p:nvPr/>
        </p:nvSpPr>
        <p:spPr>
          <a:xfrm xmlns:a="http://schemas.openxmlformats.org/drawingml/2006/main">
            <a:off x="6067425" y="4910138"/>
            <a:ext cx="5286375"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6E00884A-16A4-4345-A596-7E3A69FDB878}"/>
              </a:ext>
            </a:extLst>
          </p:cNvPr>
          <p:cNvSpPr>
            <a:spLocks xmlns:a="http://schemas.openxmlformats.org/drawingml/2006/main" noGrp="1"/>
          </p:cNvSpPr>
          <p:nvPr/>
        </p:nvSpPr>
        <p:spPr>
          <a:xfrm xmlns:a="http://schemas.openxmlformats.org/drawingml/2006/main">
            <a:off x="6162675" y="4976813"/>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Evaluate the outcome, document completely, report complications, and preserve required records</a:t>
            </a:r>
          </a:p>
        </p:txBody>
      </p:sp>
    </p:spTree>
    <p:extLst>
      <p:ext uri="{BB962C8B-B14F-4D97-AF65-F5344CB8AC3E}">
        <p14:creationId xmlns:p14="http://schemas.microsoft.com/office/powerpoint/2010/main" val="139085277"/>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E5BE771D-2BB4-4F32-993D-22E63B3DCD8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0E687139-CE92-466E-8800-E01D0D5A26B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B1ED7646-BB50-41B3-94EE-469E9B339D5B}"/>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1F1DFEBC-0431-43D1-A3D5-A59FB8373BB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Seven rights of IV medication and fluid administration</a:t>
            </a:r>
          </a:p>
        </p:txBody>
      </p:sp>
      <p:sp>
        <p:nvSpPr>
          <p:cNvPr id="5" name="">
            <a:extLst xmlns:a="http://schemas.openxmlformats.org/drawingml/2006/main">
              <a:ext uri="{FF2B5EF4-FFF2-40B4-BE49-F238E27FC236}">
                <a16:creationId xmlns:a16="http://schemas.microsoft.com/office/drawing/2014/main" id="{D0C42FC2-2CE2-45A1-AB02-FE9E1AFC2B9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6" name="">
            <a:extLst xmlns:a="http://schemas.openxmlformats.org/drawingml/2006/main">
              <a:ext uri="{FF2B5EF4-FFF2-40B4-BE49-F238E27FC236}">
                <a16:creationId xmlns:a16="http://schemas.microsoft.com/office/drawing/2014/main" id="{691AB98F-CCCB-4902-8B5B-47707E13044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7" name="">
            <a:extLst xmlns:a="http://schemas.openxmlformats.org/drawingml/2006/main">
              <a:ext uri="{FF2B5EF4-FFF2-40B4-BE49-F238E27FC236}">
                <a16:creationId xmlns:a16="http://schemas.microsoft.com/office/drawing/2014/main" id="{7DE11F1B-7864-41CA-B8B9-0ADB84264148}"/>
              </a:ext>
            </a:extLst>
          </p:cNvPr>
          <p:cNvSpPr>
            <a:spLocks xmlns:a="http://schemas.openxmlformats.org/drawingml/2006/main" noGrp="1"/>
          </p:cNvSpPr>
          <p:nvPr/>
        </p:nvSpPr>
        <p:spPr>
          <a:xfrm xmlns:a="http://schemas.openxmlformats.org/drawingml/2006/main">
            <a:off x="781050" y="1695450"/>
            <a:ext cx="5286375" cy="535781"/>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9E65E652-1812-49B6-ABC9-6DE2F68F272B}"/>
              </a:ext>
            </a:extLst>
          </p:cNvPr>
          <p:cNvSpPr>
            <a:spLocks xmlns:a="http://schemas.openxmlformats.org/drawingml/2006/main" noGrp="1"/>
          </p:cNvSpPr>
          <p:nvPr/>
        </p:nvSpPr>
        <p:spPr>
          <a:xfrm xmlns:a="http://schemas.openxmlformats.org/drawingml/2006/main">
            <a:off x="876300" y="1762125"/>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Right</a:t>
            </a:r>
          </a:p>
        </p:txBody>
      </p:sp>
      <p:sp>
        <p:nvSpPr>
          <p:cNvPr id="9" name="">
            <a:extLst xmlns:a="http://schemas.openxmlformats.org/drawingml/2006/main">
              <a:ext uri="{FF2B5EF4-FFF2-40B4-BE49-F238E27FC236}">
                <a16:creationId xmlns:a16="http://schemas.microsoft.com/office/drawing/2014/main" id="{50F167FF-DA4A-4619-A889-182777C0065A}"/>
              </a:ext>
            </a:extLst>
          </p:cNvPr>
          <p:cNvSpPr>
            <a:spLocks xmlns:a="http://schemas.openxmlformats.org/drawingml/2006/main" noGrp="1"/>
          </p:cNvSpPr>
          <p:nvPr/>
        </p:nvSpPr>
        <p:spPr>
          <a:xfrm xmlns:a="http://schemas.openxmlformats.org/drawingml/2006/main">
            <a:off x="6067425" y="1695450"/>
            <a:ext cx="5286375" cy="535781"/>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4F20CA03-C841-481D-8799-B615565131A2}"/>
              </a:ext>
            </a:extLst>
          </p:cNvPr>
          <p:cNvSpPr>
            <a:spLocks xmlns:a="http://schemas.openxmlformats.org/drawingml/2006/main" noGrp="1"/>
          </p:cNvSpPr>
          <p:nvPr/>
        </p:nvSpPr>
        <p:spPr>
          <a:xfrm xmlns:a="http://schemas.openxmlformats.org/drawingml/2006/main">
            <a:off x="6162675" y="1762125"/>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Safety question</a:t>
            </a:r>
          </a:p>
        </p:txBody>
      </p:sp>
      <p:sp>
        <p:nvSpPr>
          <p:cNvPr id="11" name="">
            <a:extLst xmlns:a="http://schemas.openxmlformats.org/drawingml/2006/main">
              <a:ext uri="{FF2B5EF4-FFF2-40B4-BE49-F238E27FC236}">
                <a16:creationId xmlns:a16="http://schemas.microsoft.com/office/drawing/2014/main" id="{969E5DCE-C958-4DBE-885E-63155304734E}"/>
              </a:ext>
            </a:extLst>
          </p:cNvPr>
          <p:cNvSpPr>
            <a:spLocks xmlns:a="http://schemas.openxmlformats.org/drawingml/2006/main" noGrp="1"/>
          </p:cNvSpPr>
          <p:nvPr/>
        </p:nvSpPr>
        <p:spPr>
          <a:xfrm xmlns:a="http://schemas.openxmlformats.org/drawingml/2006/main">
            <a:off x="781050" y="2231231"/>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C4ADCCC8-2928-4148-8EAA-DF17002471A0}"/>
              </a:ext>
            </a:extLst>
          </p:cNvPr>
          <p:cNvSpPr>
            <a:spLocks xmlns:a="http://schemas.openxmlformats.org/drawingml/2006/main" noGrp="1"/>
          </p:cNvSpPr>
          <p:nvPr/>
        </p:nvSpPr>
        <p:spPr>
          <a:xfrm xmlns:a="http://schemas.openxmlformats.org/drawingml/2006/main">
            <a:off x="876300" y="2297906"/>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Patient</a:t>
            </a:r>
          </a:p>
        </p:txBody>
      </p:sp>
      <p:sp>
        <p:nvSpPr>
          <p:cNvPr id="13" name="">
            <a:extLst xmlns:a="http://schemas.openxmlformats.org/drawingml/2006/main">
              <a:ext uri="{FF2B5EF4-FFF2-40B4-BE49-F238E27FC236}">
                <a16:creationId xmlns:a16="http://schemas.microsoft.com/office/drawing/2014/main" id="{960C376B-CCBD-4C40-B267-193768606ECC}"/>
              </a:ext>
            </a:extLst>
          </p:cNvPr>
          <p:cNvSpPr>
            <a:spLocks xmlns:a="http://schemas.openxmlformats.org/drawingml/2006/main" noGrp="1"/>
          </p:cNvSpPr>
          <p:nvPr/>
        </p:nvSpPr>
        <p:spPr>
          <a:xfrm xmlns:a="http://schemas.openxmlformats.org/drawingml/2006/main">
            <a:off x="6067425" y="2231231"/>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9F300617-F687-4E7D-BA7D-0A4DCBC8F22C}"/>
              </a:ext>
            </a:extLst>
          </p:cNvPr>
          <p:cNvSpPr>
            <a:spLocks xmlns:a="http://schemas.openxmlformats.org/drawingml/2006/main" noGrp="1"/>
          </p:cNvSpPr>
          <p:nvPr/>
        </p:nvSpPr>
        <p:spPr>
          <a:xfrm xmlns:a="http://schemas.openxmlformats.org/drawingml/2006/main">
            <a:off x="6162675" y="2297906"/>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 two approved identifiers match the order and medication record?</a:t>
            </a:r>
          </a:p>
        </p:txBody>
      </p:sp>
      <p:sp>
        <p:nvSpPr>
          <p:cNvPr id="15" name="">
            <a:extLst xmlns:a="http://schemas.openxmlformats.org/drawingml/2006/main">
              <a:ext uri="{FF2B5EF4-FFF2-40B4-BE49-F238E27FC236}">
                <a16:creationId xmlns:a16="http://schemas.microsoft.com/office/drawing/2014/main" id="{0EBD997C-F950-44AC-B0BA-42F642EB3EBF}"/>
              </a:ext>
            </a:extLst>
          </p:cNvPr>
          <p:cNvSpPr>
            <a:spLocks xmlns:a="http://schemas.openxmlformats.org/drawingml/2006/main" noGrp="1"/>
          </p:cNvSpPr>
          <p:nvPr/>
        </p:nvSpPr>
        <p:spPr>
          <a:xfrm xmlns:a="http://schemas.openxmlformats.org/drawingml/2006/main">
            <a:off x="781050" y="2767013"/>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DA115AD8-51FD-414F-85E9-1335B67B3261}"/>
              </a:ext>
            </a:extLst>
          </p:cNvPr>
          <p:cNvSpPr>
            <a:spLocks xmlns:a="http://schemas.openxmlformats.org/drawingml/2006/main" noGrp="1"/>
          </p:cNvSpPr>
          <p:nvPr/>
        </p:nvSpPr>
        <p:spPr>
          <a:xfrm xmlns:a="http://schemas.openxmlformats.org/drawingml/2006/main">
            <a:off x="876300" y="2833688"/>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Medication or solution</a:t>
            </a:r>
          </a:p>
        </p:txBody>
      </p:sp>
      <p:sp>
        <p:nvSpPr>
          <p:cNvPr id="17" name="">
            <a:extLst xmlns:a="http://schemas.openxmlformats.org/drawingml/2006/main">
              <a:ext uri="{FF2B5EF4-FFF2-40B4-BE49-F238E27FC236}">
                <a16:creationId xmlns:a16="http://schemas.microsoft.com/office/drawing/2014/main" id="{127441DF-9EB4-4E06-9AC9-8E1B31B3583C}"/>
              </a:ext>
            </a:extLst>
          </p:cNvPr>
          <p:cNvSpPr>
            <a:spLocks xmlns:a="http://schemas.openxmlformats.org/drawingml/2006/main" noGrp="1"/>
          </p:cNvSpPr>
          <p:nvPr/>
        </p:nvSpPr>
        <p:spPr>
          <a:xfrm xmlns:a="http://schemas.openxmlformats.org/drawingml/2006/main">
            <a:off x="6067425" y="2767013"/>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FE28F941-F1E6-48AC-88DA-6F59A7F801B5}"/>
              </a:ext>
            </a:extLst>
          </p:cNvPr>
          <p:cNvSpPr>
            <a:spLocks xmlns:a="http://schemas.openxmlformats.org/drawingml/2006/main" noGrp="1"/>
          </p:cNvSpPr>
          <p:nvPr/>
        </p:nvSpPr>
        <p:spPr>
          <a:xfrm xmlns:a="http://schemas.openxmlformats.org/drawingml/2006/main">
            <a:off x="6162675" y="2833688"/>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Is this the exact product and formulation ordered?</a:t>
            </a:r>
          </a:p>
        </p:txBody>
      </p:sp>
      <p:sp>
        <p:nvSpPr>
          <p:cNvPr id="19" name="">
            <a:extLst xmlns:a="http://schemas.openxmlformats.org/drawingml/2006/main">
              <a:ext uri="{FF2B5EF4-FFF2-40B4-BE49-F238E27FC236}">
                <a16:creationId xmlns:a16="http://schemas.microsoft.com/office/drawing/2014/main" id="{E2238615-A3F7-4973-80B2-9E4DAB62BBBB}"/>
              </a:ext>
            </a:extLst>
          </p:cNvPr>
          <p:cNvSpPr>
            <a:spLocks xmlns:a="http://schemas.openxmlformats.org/drawingml/2006/main" noGrp="1"/>
          </p:cNvSpPr>
          <p:nvPr/>
        </p:nvSpPr>
        <p:spPr>
          <a:xfrm xmlns:a="http://schemas.openxmlformats.org/drawingml/2006/main">
            <a:off x="781050" y="3302794"/>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C5ABB8EF-92B9-45C1-BF2B-871A8EB28CBE}"/>
              </a:ext>
            </a:extLst>
          </p:cNvPr>
          <p:cNvSpPr>
            <a:spLocks xmlns:a="http://schemas.openxmlformats.org/drawingml/2006/main" noGrp="1"/>
          </p:cNvSpPr>
          <p:nvPr/>
        </p:nvSpPr>
        <p:spPr>
          <a:xfrm xmlns:a="http://schemas.openxmlformats.org/drawingml/2006/main">
            <a:off x="876300" y="3369469"/>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Dose</a:t>
            </a:r>
          </a:p>
        </p:txBody>
      </p:sp>
      <p:sp>
        <p:nvSpPr>
          <p:cNvPr id="21" name="">
            <a:extLst xmlns:a="http://schemas.openxmlformats.org/drawingml/2006/main">
              <a:ext uri="{FF2B5EF4-FFF2-40B4-BE49-F238E27FC236}">
                <a16:creationId xmlns:a16="http://schemas.microsoft.com/office/drawing/2014/main" id="{EB584EF1-A009-4F60-B698-3C6C67943C22}"/>
              </a:ext>
            </a:extLst>
          </p:cNvPr>
          <p:cNvSpPr>
            <a:spLocks xmlns:a="http://schemas.openxmlformats.org/drawingml/2006/main" noGrp="1"/>
          </p:cNvSpPr>
          <p:nvPr/>
        </p:nvSpPr>
        <p:spPr>
          <a:xfrm xmlns:a="http://schemas.openxmlformats.org/drawingml/2006/main">
            <a:off x="6067425" y="3302794"/>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4E37FB82-82D9-4881-ADA1-B0F81A468AF6}"/>
              </a:ext>
            </a:extLst>
          </p:cNvPr>
          <p:cNvSpPr>
            <a:spLocks xmlns:a="http://schemas.openxmlformats.org/drawingml/2006/main" noGrp="1"/>
          </p:cNvSpPr>
          <p:nvPr/>
        </p:nvSpPr>
        <p:spPr>
          <a:xfrm xmlns:a="http://schemas.openxmlformats.org/drawingml/2006/main">
            <a:off x="6162675" y="3369469"/>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Does the concentration and calculation produce the ordered dose?</a:t>
            </a:r>
          </a:p>
        </p:txBody>
      </p:sp>
      <p:sp>
        <p:nvSpPr>
          <p:cNvPr id="23" name="">
            <a:extLst xmlns:a="http://schemas.openxmlformats.org/drawingml/2006/main">
              <a:ext uri="{FF2B5EF4-FFF2-40B4-BE49-F238E27FC236}">
                <a16:creationId xmlns:a16="http://schemas.microsoft.com/office/drawing/2014/main" id="{6143DF09-9356-47C1-896F-258BAB85DFD9}"/>
              </a:ext>
            </a:extLst>
          </p:cNvPr>
          <p:cNvSpPr>
            <a:spLocks xmlns:a="http://schemas.openxmlformats.org/drawingml/2006/main" noGrp="1"/>
          </p:cNvSpPr>
          <p:nvPr/>
        </p:nvSpPr>
        <p:spPr>
          <a:xfrm xmlns:a="http://schemas.openxmlformats.org/drawingml/2006/main">
            <a:off x="781050" y="3838575"/>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62A81A89-ED1E-451A-A1A5-31D3DCCD5E32}"/>
              </a:ext>
            </a:extLst>
          </p:cNvPr>
          <p:cNvSpPr>
            <a:spLocks xmlns:a="http://schemas.openxmlformats.org/drawingml/2006/main" noGrp="1"/>
          </p:cNvSpPr>
          <p:nvPr/>
        </p:nvSpPr>
        <p:spPr>
          <a:xfrm xmlns:a="http://schemas.openxmlformats.org/drawingml/2006/main">
            <a:off x="876300" y="3905250"/>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Route</a:t>
            </a:r>
          </a:p>
        </p:txBody>
      </p:sp>
      <p:sp>
        <p:nvSpPr>
          <p:cNvPr id="25" name="">
            <a:extLst xmlns:a="http://schemas.openxmlformats.org/drawingml/2006/main">
              <a:ext uri="{FF2B5EF4-FFF2-40B4-BE49-F238E27FC236}">
                <a16:creationId xmlns:a16="http://schemas.microsoft.com/office/drawing/2014/main" id="{46CD4A4C-E9F8-4220-A88C-4DD88D527146}"/>
              </a:ext>
            </a:extLst>
          </p:cNvPr>
          <p:cNvSpPr>
            <a:spLocks xmlns:a="http://schemas.openxmlformats.org/drawingml/2006/main" noGrp="1"/>
          </p:cNvSpPr>
          <p:nvPr/>
        </p:nvSpPr>
        <p:spPr>
          <a:xfrm xmlns:a="http://schemas.openxmlformats.org/drawingml/2006/main">
            <a:off x="6067425" y="3838575"/>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BCB1D593-5DC8-4A5E-9EDC-3960F4535D85}"/>
              </a:ext>
            </a:extLst>
          </p:cNvPr>
          <p:cNvSpPr>
            <a:spLocks xmlns:a="http://schemas.openxmlformats.org/drawingml/2006/main" noGrp="1"/>
          </p:cNvSpPr>
          <p:nvPr/>
        </p:nvSpPr>
        <p:spPr>
          <a:xfrm xmlns:a="http://schemas.openxmlformats.org/drawingml/2006/main">
            <a:off x="6162675" y="3905250"/>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Is IV administration appropriate for this device, lumen, and site?</a:t>
            </a:r>
          </a:p>
        </p:txBody>
      </p:sp>
      <p:sp>
        <p:nvSpPr>
          <p:cNvPr id="27" name="">
            <a:extLst xmlns:a="http://schemas.openxmlformats.org/drawingml/2006/main">
              <a:ext uri="{FF2B5EF4-FFF2-40B4-BE49-F238E27FC236}">
                <a16:creationId xmlns:a16="http://schemas.microsoft.com/office/drawing/2014/main" id="{0EFB82EE-33BE-4F08-A0BE-E1023124FA8D}"/>
              </a:ext>
            </a:extLst>
          </p:cNvPr>
          <p:cNvSpPr>
            <a:spLocks xmlns:a="http://schemas.openxmlformats.org/drawingml/2006/main" noGrp="1"/>
          </p:cNvSpPr>
          <p:nvPr/>
        </p:nvSpPr>
        <p:spPr>
          <a:xfrm xmlns:a="http://schemas.openxmlformats.org/drawingml/2006/main">
            <a:off x="781050" y="4374356"/>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5A548DF0-5E28-4421-B583-26C97F0AC707}"/>
              </a:ext>
            </a:extLst>
          </p:cNvPr>
          <p:cNvSpPr>
            <a:spLocks xmlns:a="http://schemas.openxmlformats.org/drawingml/2006/main" noGrp="1"/>
          </p:cNvSpPr>
          <p:nvPr/>
        </p:nvSpPr>
        <p:spPr>
          <a:xfrm xmlns:a="http://schemas.openxmlformats.org/drawingml/2006/main">
            <a:off x="876300" y="4441031"/>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Time</a:t>
            </a:r>
          </a:p>
        </p:txBody>
      </p:sp>
      <p:sp>
        <p:nvSpPr>
          <p:cNvPr id="29" name="">
            <a:extLst xmlns:a="http://schemas.openxmlformats.org/drawingml/2006/main">
              <a:ext uri="{FF2B5EF4-FFF2-40B4-BE49-F238E27FC236}">
                <a16:creationId xmlns:a16="http://schemas.microsoft.com/office/drawing/2014/main" id="{E1CCE5B4-4E7F-4C07-951E-4F0EE1FFFD5D}"/>
              </a:ext>
            </a:extLst>
          </p:cNvPr>
          <p:cNvSpPr>
            <a:spLocks xmlns:a="http://schemas.openxmlformats.org/drawingml/2006/main" noGrp="1"/>
          </p:cNvSpPr>
          <p:nvPr/>
        </p:nvSpPr>
        <p:spPr>
          <a:xfrm xmlns:a="http://schemas.openxmlformats.org/drawingml/2006/main">
            <a:off x="6067425" y="4374356"/>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81C71BA1-7177-4FAC-92BC-8E12B50A3E4B}"/>
              </a:ext>
            </a:extLst>
          </p:cNvPr>
          <p:cNvSpPr>
            <a:spLocks xmlns:a="http://schemas.openxmlformats.org/drawingml/2006/main" noGrp="1"/>
          </p:cNvSpPr>
          <p:nvPr/>
        </p:nvSpPr>
        <p:spPr>
          <a:xfrm xmlns:a="http://schemas.openxmlformats.org/drawingml/2006/main">
            <a:off x="6162675" y="4441031"/>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Are the start time, interval, duration, and rate correct?</a:t>
            </a:r>
          </a:p>
        </p:txBody>
      </p:sp>
      <p:sp>
        <p:nvSpPr>
          <p:cNvPr id="31" name="">
            <a:extLst xmlns:a="http://schemas.openxmlformats.org/drawingml/2006/main">
              <a:ext uri="{FF2B5EF4-FFF2-40B4-BE49-F238E27FC236}">
                <a16:creationId xmlns:a16="http://schemas.microsoft.com/office/drawing/2014/main" id="{49BD7474-1442-4CC3-87E7-78D7471A391A}"/>
              </a:ext>
            </a:extLst>
          </p:cNvPr>
          <p:cNvSpPr>
            <a:spLocks xmlns:a="http://schemas.openxmlformats.org/drawingml/2006/main" noGrp="1"/>
          </p:cNvSpPr>
          <p:nvPr/>
        </p:nvSpPr>
        <p:spPr>
          <a:xfrm xmlns:a="http://schemas.openxmlformats.org/drawingml/2006/main">
            <a:off x="781050" y="4910138"/>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544FD874-6F99-40FC-A5F8-55C35737145D}"/>
              </a:ext>
            </a:extLst>
          </p:cNvPr>
          <p:cNvSpPr>
            <a:spLocks xmlns:a="http://schemas.openxmlformats.org/drawingml/2006/main" noGrp="1"/>
          </p:cNvSpPr>
          <p:nvPr/>
        </p:nvSpPr>
        <p:spPr>
          <a:xfrm xmlns:a="http://schemas.openxmlformats.org/drawingml/2006/main">
            <a:off x="876300" y="4976813"/>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Reason</a:t>
            </a:r>
          </a:p>
        </p:txBody>
      </p:sp>
      <p:sp>
        <p:nvSpPr>
          <p:cNvPr id="33" name="">
            <a:extLst xmlns:a="http://schemas.openxmlformats.org/drawingml/2006/main">
              <a:ext uri="{FF2B5EF4-FFF2-40B4-BE49-F238E27FC236}">
                <a16:creationId xmlns:a16="http://schemas.microsoft.com/office/drawing/2014/main" id="{9AF63D01-4430-4249-9302-CD72D56B31A6}"/>
              </a:ext>
            </a:extLst>
          </p:cNvPr>
          <p:cNvSpPr>
            <a:spLocks xmlns:a="http://schemas.openxmlformats.org/drawingml/2006/main" noGrp="1"/>
          </p:cNvSpPr>
          <p:nvPr/>
        </p:nvSpPr>
        <p:spPr>
          <a:xfrm xmlns:a="http://schemas.openxmlformats.org/drawingml/2006/main">
            <a:off x="6067425" y="4910138"/>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A8796EC6-C2B7-4930-8084-4C662A15A2CD}"/>
              </a:ext>
            </a:extLst>
          </p:cNvPr>
          <p:cNvSpPr>
            <a:spLocks xmlns:a="http://schemas.openxmlformats.org/drawingml/2006/main" noGrp="1"/>
          </p:cNvSpPr>
          <p:nvPr/>
        </p:nvSpPr>
        <p:spPr>
          <a:xfrm xmlns:a="http://schemas.openxmlformats.org/drawingml/2006/main">
            <a:off x="6162675" y="4976813"/>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997"/>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Does the indication match the patient's condition and current assessment?</a:t>
            </a:r>
          </a:p>
        </p:txBody>
      </p:sp>
      <p:sp>
        <p:nvSpPr>
          <p:cNvPr id="35" name="">
            <a:extLst xmlns:a="http://schemas.openxmlformats.org/drawingml/2006/main">
              <a:ext uri="{FF2B5EF4-FFF2-40B4-BE49-F238E27FC236}">
                <a16:creationId xmlns:a16="http://schemas.microsoft.com/office/drawing/2014/main" id="{D28152D9-88AF-4919-8BEB-84A86F30832A}"/>
              </a:ext>
            </a:extLst>
          </p:cNvPr>
          <p:cNvSpPr>
            <a:spLocks xmlns:a="http://schemas.openxmlformats.org/drawingml/2006/main" noGrp="1"/>
          </p:cNvSpPr>
          <p:nvPr/>
        </p:nvSpPr>
        <p:spPr>
          <a:xfrm xmlns:a="http://schemas.openxmlformats.org/drawingml/2006/main">
            <a:off x="781050" y="5445919"/>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F11DF60C-3872-4F36-B4C9-7A24B4618879}"/>
              </a:ext>
            </a:extLst>
          </p:cNvPr>
          <p:cNvSpPr>
            <a:spLocks xmlns:a="http://schemas.openxmlformats.org/drawingml/2006/main" noGrp="1"/>
          </p:cNvSpPr>
          <p:nvPr/>
        </p:nvSpPr>
        <p:spPr>
          <a:xfrm xmlns:a="http://schemas.openxmlformats.org/drawingml/2006/main">
            <a:off x="876300" y="5512594"/>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Documentation</a:t>
            </a:r>
          </a:p>
        </p:txBody>
      </p:sp>
      <p:sp>
        <p:nvSpPr>
          <p:cNvPr id="37" name="">
            <a:extLst xmlns:a="http://schemas.openxmlformats.org/drawingml/2006/main">
              <a:ext uri="{FF2B5EF4-FFF2-40B4-BE49-F238E27FC236}">
                <a16:creationId xmlns:a16="http://schemas.microsoft.com/office/drawing/2014/main" id="{B831163E-81CF-41F1-8D48-4EC0ECE22CC6}"/>
              </a:ext>
            </a:extLst>
          </p:cNvPr>
          <p:cNvSpPr>
            <a:spLocks xmlns:a="http://schemas.openxmlformats.org/drawingml/2006/main" noGrp="1"/>
          </p:cNvSpPr>
          <p:nvPr/>
        </p:nvSpPr>
        <p:spPr>
          <a:xfrm xmlns:a="http://schemas.openxmlformats.org/drawingml/2006/main">
            <a:off x="6067425" y="5445919"/>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8" name="">
            <a:extLst xmlns:a="http://schemas.openxmlformats.org/drawingml/2006/main">
              <a:ext uri="{FF2B5EF4-FFF2-40B4-BE49-F238E27FC236}">
                <a16:creationId xmlns:a16="http://schemas.microsoft.com/office/drawing/2014/main" id="{A3FB7791-55E5-497C-9BA9-F508800906DC}"/>
              </a:ext>
            </a:extLst>
          </p:cNvPr>
          <p:cNvSpPr>
            <a:spLocks xmlns:a="http://schemas.openxmlformats.org/drawingml/2006/main" noGrp="1"/>
          </p:cNvSpPr>
          <p:nvPr/>
        </p:nvSpPr>
        <p:spPr>
          <a:xfrm xmlns:a="http://schemas.openxmlformats.org/drawingml/2006/main">
            <a:off x="6162675" y="5512594"/>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016"/>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Can another clinician see exactly what was given and how the patient responded?</a:t>
            </a:r>
          </a:p>
        </p:txBody>
      </p:sp>
    </p:spTree>
    <p:extLst>
      <p:ext uri="{BB962C8B-B14F-4D97-AF65-F5344CB8AC3E}">
        <p14:creationId xmlns:p14="http://schemas.microsoft.com/office/powerpoint/2010/main" val="1153280584"/>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B08CAC6-B52E-4CF1-963D-BD2D8C10C73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B8E8524A-C2AD-478D-B29C-F08AE30446B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EB4CBD7F-A57C-40C0-8EA2-7D06CE068238}"/>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EFF28A8E-1B69-4124-97C1-C1BAB69E4C8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rights continue after the pump starts</a:t>
            </a:r>
          </a:p>
        </p:txBody>
      </p:sp>
      <p:sp>
        <p:nvSpPr>
          <p:cNvPr id="5" name="">
            <a:extLst xmlns:a="http://schemas.openxmlformats.org/drawingml/2006/main">
              <a:ext uri="{FF2B5EF4-FFF2-40B4-BE49-F238E27FC236}">
                <a16:creationId xmlns:a16="http://schemas.microsoft.com/office/drawing/2014/main" id="{D7FC3F05-8235-4891-A69A-8A0DA693EE5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6" name="">
            <a:extLst xmlns:a="http://schemas.openxmlformats.org/drawingml/2006/main">
              <a:ext uri="{FF2B5EF4-FFF2-40B4-BE49-F238E27FC236}">
                <a16:creationId xmlns:a16="http://schemas.microsoft.com/office/drawing/2014/main" id="{2CD59C1E-4C3C-4481-9CC6-32B221BE666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7" name="">
            <a:extLst xmlns:a="http://schemas.openxmlformats.org/drawingml/2006/main">
              <a:ext uri="{FF2B5EF4-FFF2-40B4-BE49-F238E27FC236}">
                <a16:creationId xmlns:a16="http://schemas.microsoft.com/office/drawing/2014/main" id="{AAEB66FE-4C78-4AE2-BF75-773575A123A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Trace the line from the patient to the correct container and pump channel.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Confirm the site remains patent and free of pain, swelling, leaking, redness, or temperature change.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Evaluate the intended response and watch for adverse effects.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Reconcile the actual volume infused with the order and intake record.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Document assessment, administration, patient education, response, and any corrective action.</a:t>
            </a:r>
          </a:p>
        </p:txBody>
      </p:sp>
      <p:sp>
        <p:nvSpPr>
          <p:cNvPr id="8" name="">
            <a:extLst xmlns:a="http://schemas.openxmlformats.org/drawingml/2006/main">
              <a:ext uri="{FF2B5EF4-FFF2-40B4-BE49-F238E27FC236}">
                <a16:creationId xmlns:a16="http://schemas.microsoft.com/office/drawing/2014/main" id="{09A9125C-3BAD-4FFD-A412-81D44974126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51546072"/>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AF511CCB-3928-4A09-B90E-25983710B87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64605818-632E-4C48-A417-FB29F75A4E2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ADCE737F-DAA5-4792-AE53-2E2DC1FB353C}"/>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3D8ABBF3-A8AF-45F1-9D2B-484E7631D31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Essential IV terminology</a:t>
            </a:r>
          </a:p>
        </p:txBody>
      </p:sp>
      <p:sp>
        <p:nvSpPr>
          <p:cNvPr id="5" name="">
            <a:extLst xmlns:a="http://schemas.openxmlformats.org/drawingml/2006/main">
              <a:ext uri="{FF2B5EF4-FFF2-40B4-BE49-F238E27FC236}">
                <a16:creationId xmlns:a16="http://schemas.microsoft.com/office/drawing/2014/main" id="{0D9E9880-4228-4224-99C6-67934E381EE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6" name="">
            <a:extLst xmlns:a="http://schemas.openxmlformats.org/drawingml/2006/main">
              <a:ext uri="{FF2B5EF4-FFF2-40B4-BE49-F238E27FC236}">
                <a16:creationId xmlns:a16="http://schemas.microsoft.com/office/drawing/2014/main" id="{FEA17E3D-3F49-4BAB-89D0-EFCD41F723F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7" name="">
            <a:extLst xmlns:a="http://schemas.openxmlformats.org/drawingml/2006/main">
              <a:ext uri="{FF2B5EF4-FFF2-40B4-BE49-F238E27FC236}">
                <a16:creationId xmlns:a16="http://schemas.microsoft.com/office/drawing/2014/main" id="{DAAA52A1-0DE9-44EB-B46C-13EFB1A35B8C}"/>
              </a:ext>
            </a:extLst>
          </p:cNvPr>
          <p:cNvSpPr>
            <a:spLocks xmlns:a="http://schemas.openxmlformats.org/drawingml/2006/main" noGrp="1"/>
          </p:cNvSpPr>
          <p:nvPr/>
        </p:nvSpPr>
        <p:spPr>
          <a:xfrm xmlns:a="http://schemas.openxmlformats.org/drawingml/2006/main">
            <a:off x="781050" y="1695450"/>
            <a:ext cx="5286375" cy="612321"/>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1D7A0CF9-EAFE-4059-98A2-2B0D0AF66811}"/>
              </a:ext>
            </a:extLst>
          </p:cNvPr>
          <p:cNvSpPr>
            <a:spLocks xmlns:a="http://schemas.openxmlformats.org/drawingml/2006/main" noGrp="1"/>
          </p:cNvSpPr>
          <p:nvPr/>
        </p:nvSpPr>
        <p:spPr>
          <a:xfrm xmlns:a="http://schemas.openxmlformats.org/drawingml/2006/main">
            <a:off x="876300" y="1762125"/>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Term</a:t>
            </a:r>
          </a:p>
        </p:txBody>
      </p:sp>
      <p:sp>
        <p:nvSpPr>
          <p:cNvPr id="9" name="">
            <a:extLst xmlns:a="http://schemas.openxmlformats.org/drawingml/2006/main">
              <a:ext uri="{FF2B5EF4-FFF2-40B4-BE49-F238E27FC236}">
                <a16:creationId xmlns:a16="http://schemas.microsoft.com/office/drawing/2014/main" id="{0CEDF7F2-B511-4C42-A3A6-C7FA31F5B580}"/>
              </a:ext>
            </a:extLst>
          </p:cNvPr>
          <p:cNvSpPr>
            <a:spLocks xmlns:a="http://schemas.openxmlformats.org/drawingml/2006/main" noGrp="1"/>
          </p:cNvSpPr>
          <p:nvPr/>
        </p:nvSpPr>
        <p:spPr>
          <a:xfrm xmlns:a="http://schemas.openxmlformats.org/drawingml/2006/main">
            <a:off x="6067425" y="1695450"/>
            <a:ext cx="5286375" cy="612321"/>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99AD9867-ACA3-4596-B1B5-1D8B3B29A397}"/>
              </a:ext>
            </a:extLst>
          </p:cNvPr>
          <p:cNvSpPr>
            <a:spLocks xmlns:a="http://schemas.openxmlformats.org/drawingml/2006/main" noGrp="1"/>
          </p:cNvSpPr>
          <p:nvPr/>
        </p:nvSpPr>
        <p:spPr>
          <a:xfrm xmlns:a="http://schemas.openxmlformats.org/drawingml/2006/main">
            <a:off x="6162675" y="1762125"/>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Meaning</a:t>
            </a:r>
          </a:p>
        </p:txBody>
      </p:sp>
      <p:sp>
        <p:nvSpPr>
          <p:cNvPr id="11" name="">
            <a:extLst xmlns:a="http://schemas.openxmlformats.org/drawingml/2006/main">
              <a:ext uri="{FF2B5EF4-FFF2-40B4-BE49-F238E27FC236}">
                <a16:creationId xmlns:a16="http://schemas.microsoft.com/office/drawing/2014/main" id="{729A8AE6-8EFC-4E6E-8E7B-53EE00A3DF99}"/>
              </a:ext>
            </a:extLst>
          </p:cNvPr>
          <p:cNvSpPr>
            <a:spLocks xmlns:a="http://schemas.openxmlformats.org/drawingml/2006/main" noGrp="1"/>
          </p:cNvSpPr>
          <p:nvPr/>
        </p:nvSpPr>
        <p:spPr>
          <a:xfrm xmlns:a="http://schemas.openxmlformats.org/drawingml/2006/main">
            <a:off x="781050" y="2307771"/>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F71749E1-601B-440B-9716-37A385694BC2}"/>
              </a:ext>
            </a:extLst>
          </p:cNvPr>
          <p:cNvSpPr>
            <a:spLocks xmlns:a="http://schemas.openxmlformats.org/drawingml/2006/main" noGrp="1"/>
          </p:cNvSpPr>
          <p:nvPr/>
        </p:nvSpPr>
        <p:spPr>
          <a:xfrm xmlns:a="http://schemas.openxmlformats.org/drawingml/2006/main">
            <a:off x="876300" y="2374446"/>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Patency</a:t>
            </a:r>
          </a:p>
        </p:txBody>
      </p:sp>
      <p:sp>
        <p:nvSpPr>
          <p:cNvPr id="13" name="">
            <a:extLst xmlns:a="http://schemas.openxmlformats.org/drawingml/2006/main">
              <a:ext uri="{FF2B5EF4-FFF2-40B4-BE49-F238E27FC236}">
                <a16:creationId xmlns:a16="http://schemas.microsoft.com/office/drawing/2014/main" id="{37D6A045-542E-4714-A096-D34DBEF24A81}"/>
              </a:ext>
            </a:extLst>
          </p:cNvPr>
          <p:cNvSpPr>
            <a:spLocks xmlns:a="http://schemas.openxmlformats.org/drawingml/2006/main" noGrp="1"/>
          </p:cNvSpPr>
          <p:nvPr/>
        </p:nvSpPr>
        <p:spPr>
          <a:xfrm xmlns:a="http://schemas.openxmlformats.org/drawingml/2006/main">
            <a:off x="6067425" y="2307771"/>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BE7947CD-B3A9-41DA-AF23-82C59C1EAFE2}"/>
              </a:ext>
            </a:extLst>
          </p:cNvPr>
          <p:cNvSpPr>
            <a:spLocks xmlns:a="http://schemas.openxmlformats.org/drawingml/2006/main" noGrp="1"/>
          </p:cNvSpPr>
          <p:nvPr/>
        </p:nvSpPr>
        <p:spPr>
          <a:xfrm xmlns:a="http://schemas.openxmlformats.org/drawingml/2006/main">
            <a:off x="6162675" y="2374446"/>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The access device permits appropriate flow without evidence of complication</a:t>
            </a:r>
          </a:p>
        </p:txBody>
      </p:sp>
      <p:sp>
        <p:nvSpPr>
          <p:cNvPr id="15" name="">
            <a:extLst xmlns:a="http://schemas.openxmlformats.org/drawingml/2006/main">
              <a:ext uri="{FF2B5EF4-FFF2-40B4-BE49-F238E27FC236}">
                <a16:creationId xmlns:a16="http://schemas.microsoft.com/office/drawing/2014/main" id="{19174688-9861-49CF-9E79-2F7AE3B778A6}"/>
              </a:ext>
            </a:extLst>
          </p:cNvPr>
          <p:cNvSpPr>
            <a:spLocks xmlns:a="http://schemas.openxmlformats.org/drawingml/2006/main" noGrp="1"/>
          </p:cNvSpPr>
          <p:nvPr/>
        </p:nvSpPr>
        <p:spPr>
          <a:xfrm xmlns:a="http://schemas.openxmlformats.org/drawingml/2006/main">
            <a:off x="781050" y="2920093"/>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1CA1279C-8AE1-478E-881F-330A7A35E967}"/>
              </a:ext>
            </a:extLst>
          </p:cNvPr>
          <p:cNvSpPr>
            <a:spLocks xmlns:a="http://schemas.openxmlformats.org/drawingml/2006/main" noGrp="1"/>
          </p:cNvSpPr>
          <p:nvPr/>
        </p:nvSpPr>
        <p:spPr>
          <a:xfrm xmlns:a="http://schemas.openxmlformats.org/drawingml/2006/main">
            <a:off x="876300" y="2986768"/>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Infiltration</a:t>
            </a:r>
          </a:p>
        </p:txBody>
      </p:sp>
      <p:sp>
        <p:nvSpPr>
          <p:cNvPr id="17" name="">
            <a:extLst xmlns:a="http://schemas.openxmlformats.org/drawingml/2006/main">
              <a:ext uri="{FF2B5EF4-FFF2-40B4-BE49-F238E27FC236}">
                <a16:creationId xmlns:a16="http://schemas.microsoft.com/office/drawing/2014/main" id="{6FB5DC5B-16EC-415B-82FF-01698512848E}"/>
              </a:ext>
            </a:extLst>
          </p:cNvPr>
          <p:cNvSpPr>
            <a:spLocks xmlns:a="http://schemas.openxmlformats.org/drawingml/2006/main" noGrp="1"/>
          </p:cNvSpPr>
          <p:nvPr/>
        </p:nvSpPr>
        <p:spPr>
          <a:xfrm xmlns:a="http://schemas.openxmlformats.org/drawingml/2006/main">
            <a:off x="6067425" y="2920093"/>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5A93B7C8-8BC4-49B6-9D8C-D7188B5CBE76}"/>
              </a:ext>
            </a:extLst>
          </p:cNvPr>
          <p:cNvSpPr>
            <a:spLocks xmlns:a="http://schemas.openxmlformats.org/drawingml/2006/main" noGrp="1"/>
          </p:cNvSpPr>
          <p:nvPr/>
        </p:nvSpPr>
        <p:spPr>
          <a:xfrm xmlns:a="http://schemas.openxmlformats.org/drawingml/2006/main">
            <a:off x="6162675" y="2986768"/>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Nonvesicant solution enters surrounding tissue</a:t>
            </a:r>
          </a:p>
        </p:txBody>
      </p:sp>
      <p:sp>
        <p:nvSpPr>
          <p:cNvPr id="19" name="">
            <a:extLst xmlns:a="http://schemas.openxmlformats.org/drawingml/2006/main">
              <a:ext uri="{FF2B5EF4-FFF2-40B4-BE49-F238E27FC236}">
                <a16:creationId xmlns:a16="http://schemas.microsoft.com/office/drawing/2014/main" id="{6EB931A1-07F1-43E4-B826-3882585F8B70}"/>
              </a:ext>
            </a:extLst>
          </p:cNvPr>
          <p:cNvSpPr>
            <a:spLocks xmlns:a="http://schemas.openxmlformats.org/drawingml/2006/main" noGrp="1"/>
          </p:cNvSpPr>
          <p:nvPr/>
        </p:nvSpPr>
        <p:spPr>
          <a:xfrm xmlns:a="http://schemas.openxmlformats.org/drawingml/2006/main">
            <a:off x="781050" y="3532414"/>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D8D02A72-5FDC-43EF-84C7-7FFE18EC1A1C}"/>
              </a:ext>
            </a:extLst>
          </p:cNvPr>
          <p:cNvSpPr>
            <a:spLocks xmlns:a="http://schemas.openxmlformats.org/drawingml/2006/main" noGrp="1"/>
          </p:cNvSpPr>
          <p:nvPr/>
        </p:nvSpPr>
        <p:spPr>
          <a:xfrm xmlns:a="http://schemas.openxmlformats.org/drawingml/2006/main">
            <a:off x="876300" y="3599089"/>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Extravasation</a:t>
            </a:r>
          </a:p>
        </p:txBody>
      </p:sp>
      <p:sp>
        <p:nvSpPr>
          <p:cNvPr id="21" name="">
            <a:extLst xmlns:a="http://schemas.openxmlformats.org/drawingml/2006/main">
              <a:ext uri="{FF2B5EF4-FFF2-40B4-BE49-F238E27FC236}">
                <a16:creationId xmlns:a16="http://schemas.microsoft.com/office/drawing/2014/main" id="{A217AC1E-21B8-403F-9256-06FE5EC7322A}"/>
              </a:ext>
            </a:extLst>
          </p:cNvPr>
          <p:cNvSpPr>
            <a:spLocks xmlns:a="http://schemas.openxmlformats.org/drawingml/2006/main" noGrp="1"/>
          </p:cNvSpPr>
          <p:nvPr/>
        </p:nvSpPr>
        <p:spPr>
          <a:xfrm xmlns:a="http://schemas.openxmlformats.org/drawingml/2006/main">
            <a:off x="6067425" y="3532414"/>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B7645417-5256-4317-8F88-B0543EDB6509}"/>
              </a:ext>
            </a:extLst>
          </p:cNvPr>
          <p:cNvSpPr>
            <a:spLocks xmlns:a="http://schemas.openxmlformats.org/drawingml/2006/main" noGrp="1"/>
          </p:cNvSpPr>
          <p:nvPr/>
        </p:nvSpPr>
        <p:spPr>
          <a:xfrm xmlns:a="http://schemas.openxmlformats.org/drawingml/2006/main">
            <a:off x="6162675" y="3599089"/>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Vesicant solution enters surrounding tissue and may cause injury</a:t>
            </a:r>
          </a:p>
        </p:txBody>
      </p:sp>
      <p:sp>
        <p:nvSpPr>
          <p:cNvPr id="23" name="">
            <a:extLst xmlns:a="http://schemas.openxmlformats.org/drawingml/2006/main">
              <a:ext uri="{FF2B5EF4-FFF2-40B4-BE49-F238E27FC236}">
                <a16:creationId xmlns:a16="http://schemas.microsoft.com/office/drawing/2014/main" id="{3CD67B74-1192-47B2-BFB9-8D07043664DD}"/>
              </a:ext>
            </a:extLst>
          </p:cNvPr>
          <p:cNvSpPr>
            <a:spLocks xmlns:a="http://schemas.openxmlformats.org/drawingml/2006/main" noGrp="1"/>
          </p:cNvSpPr>
          <p:nvPr/>
        </p:nvSpPr>
        <p:spPr>
          <a:xfrm xmlns:a="http://schemas.openxmlformats.org/drawingml/2006/main">
            <a:off x="781050" y="4144736"/>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2E7AD1FF-0549-4A6E-BC84-A27820985D08}"/>
              </a:ext>
            </a:extLst>
          </p:cNvPr>
          <p:cNvSpPr>
            <a:spLocks xmlns:a="http://schemas.openxmlformats.org/drawingml/2006/main" noGrp="1"/>
          </p:cNvSpPr>
          <p:nvPr/>
        </p:nvSpPr>
        <p:spPr>
          <a:xfrm xmlns:a="http://schemas.openxmlformats.org/drawingml/2006/main">
            <a:off x="876300" y="4211411"/>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Phlebitis</a:t>
            </a:r>
          </a:p>
        </p:txBody>
      </p:sp>
      <p:sp>
        <p:nvSpPr>
          <p:cNvPr id="25" name="">
            <a:extLst xmlns:a="http://schemas.openxmlformats.org/drawingml/2006/main">
              <a:ext uri="{FF2B5EF4-FFF2-40B4-BE49-F238E27FC236}">
                <a16:creationId xmlns:a16="http://schemas.microsoft.com/office/drawing/2014/main" id="{2FE1C0DE-841E-4A52-86C1-93794A438FC3}"/>
              </a:ext>
            </a:extLst>
          </p:cNvPr>
          <p:cNvSpPr>
            <a:spLocks xmlns:a="http://schemas.openxmlformats.org/drawingml/2006/main" noGrp="1"/>
          </p:cNvSpPr>
          <p:nvPr/>
        </p:nvSpPr>
        <p:spPr>
          <a:xfrm xmlns:a="http://schemas.openxmlformats.org/drawingml/2006/main">
            <a:off x="6067425" y="4144736"/>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F7EAC0F5-A255-47F2-A24C-C2FE4EA35064}"/>
              </a:ext>
            </a:extLst>
          </p:cNvPr>
          <p:cNvSpPr>
            <a:spLocks xmlns:a="http://schemas.openxmlformats.org/drawingml/2006/main" noGrp="1"/>
          </p:cNvSpPr>
          <p:nvPr/>
        </p:nvSpPr>
        <p:spPr>
          <a:xfrm xmlns:a="http://schemas.openxmlformats.org/drawingml/2006/main">
            <a:off x="6162675" y="4211411"/>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Inflammation of a vein</a:t>
            </a:r>
          </a:p>
        </p:txBody>
      </p:sp>
      <p:sp>
        <p:nvSpPr>
          <p:cNvPr id="27" name="">
            <a:extLst xmlns:a="http://schemas.openxmlformats.org/drawingml/2006/main">
              <a:ext uri="{FF2B5EF4-FFF2-40B4-BE49-F238E27FC236}">
                <a16:creationId xmlns:a16="http://schemas.microsoft.com/office/drawing/2014/main" id="{6D896543-2796-4DAA-B2C7-76A4CE674C40}"/>
              </a:ext>
            </a:extLst>
          </p:cNvPr>
          <p:cNvSpPr>
            <a:spLocks xmlns:a="http://schemas.openxmlformats.org/drawingml/2006/main" noGrp="1"/>
          </p:cNvSpPr>
          <p:nvPr/>
        </p:nvSpPr>
        <p:spPr>
          <a:xfrm xmlns:a="http://schemas.openxmlformats.org/drawingml/2006/main">
            <a:off x="781050" y="4757057"/>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E74484A8-9D53-45AE-BF71-D1B70CD4275E}"/>
              </a:ext>
            </a:extLst>
          </p:cNvPr>
          <p:cNvSpPr>
            <a:spLocks xmlns:a="http://schemas.openxmlformats.org/drawingml/2006/main" noGrp="1"/>
          </p:cNvSpPr>
          <p:nvPr/>
        </p:nvSpPr>
        <p:spPr>
          <a:xfrm xmlns:a="http://schemas.openxmlformats.org/drawingml/2006/main">
            <a:off x="876300" y="4823732"/>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Occlusion</a:t>
            </a:r>
          </a:p>
        </p:txBody>
      </p:sp>
      <p:sp>
        <p:nvSpPr>
          <p:cNvPr id="29" name="">
            <a:extLst xmlns:a="http://schemas.openxmlformats.org/drawingml/2006/main">
              <a:ext uri="{FF2B5EF4-FFF2-40B4-BE49-F238E27FC236}">
                <a16:creationId xmlns:a16="http://schemas.microsoft.com/office/drawing/2014/main" id="{F5297BF9-8FE0-4326-953D-89603A118BF6}"/>
              </a:ext>
            </a:extLst>
          </p:cNvPr>
          <p:cNvSpPr>
            <a:spLocks xmlns:a="http://schemas.openxmlformats.org/drawingml/2006/main" noGrp="1"/>
          </p:cNvSpPr>
          <p:nvPr/>
        </p:nvSpPr>
        <p:spPr>
          <a:xfrm xmlns:a="http://schemas.openxmlformats.org/drawingml/2006/main">
            <a:off x="6067425" y="4757057"/>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4DBC41BA-A94A-435E-A8CF-CFA4D0A0DEF9}"/>
              </a:ext>
            </a:extLst>
          </p:cNvPr>
          <p:cNvSpPr>
            <a:spLocks xmlns:a="http://schemas.openxmlformats.org/drawingml/2006/main" noGrp="1"/>
          </p:cNvSpPr>
          <p:nvPr/>
        </p:nvSpPr>
        <p:spPr>
          <a:xfrm xmlns:a="http://schemas.openxmlformats.org/drawingml/2006/main">
            <a:off x="6162675" y="4823732"/>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Partial or complete blockage of flow</a:t>
            </a:r>
          </a:p>
        </p:txBody>
      </p:sp>
      <p:sp>
        <p:nvSpPr>
          <p:cNvPr id="31" name="">
            <a:extLst xmlns:a="http://schemas.openxmlformats.org/drawingml/2006/main">
              <a:ext uri="{FF2B5EF4-FFF2-40B4-BE49-F238E27FC236}">
                <a16:creationId xmlns:a16="http://schemas.microsoft.com/office/drawing/2014/main" id="{A1BA3D46-BD03-42DD-9C34-305B62D9598F}"/>
              </a:ext>
            </a:extLst>
          </p:cNvPr>
          <p:cNvSpPr>
            <a:spLocks xmlns:a="http://schemas.openxmlformats.org/drawingml/2006/main" noGrp="1"/>
          </p:cNvSpPr>
          <p:nvPr/>
        </p:nvSpPr>
        <p:spPr>
          <a:xfrm xmlns:a="http://schemas.openxmlformats.org/drawingml/2006/main">
            <a:off x="781050" y="5369379"/>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0062F306-08F6-4CD3-9A56-3E1229AF42DA}"/>
              </a:ext>
            </a:extLst>
          </p:cNvPr>
          <p:cNvSpPr>
            <a:spLocks xmlns:a="http://schemas.openxmlformats.org/drawingml/2006/main" noGrp="1"/>
          </p:cNvSpPr>
          <p:nvPr/>
        </p:nvSpPr>
        <p:spPr>
          <a:xfrm xmlns:a="http://schemas.openxmlformats.org/drawingml/2006/main">
            <a:off x="876300" y="5436054"/>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Compatibility</a:t>
            </a:r>
          </a:p>
        </p:txBody>
      </p:sp>
      <p:sp>
        <p:nvSpPr>
          <p:cNvPr id="33" name="">
            <a:extLst xmlns:a="http://schemas.openxmlformats.org/drawingml/2006/main">
              <a:ext uri="{FF2B5EF4-FFF2-40B4-BE49-F238E27FC236}">
                <a16:creationId xmlns:a16="http://schemas.microsoft.com/office/drawing/2014/main" id="{8D33F587-E7BE-4C9D-81E6-A6BBF0E5457C}"/>
              </a:ext>
            </a:extLst>
          </p:cNvPr>
          <p:cNvSpPr>
            <a:spLocks xmlns:a="http://schemas.openxmlformats.org/drawingml/2006/main" noGrp="1"/>
          </p:cNvSpPr>
          <p:nvPr/>
        </p:nvSpPr>
        <p:spPr>
          <a:xfrm xmlns:a="http://schemas.openxmlformats.org/drawingml/2006/main">
            <a:off x="6067425" y="5369379"/>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DAA86045-AA52-4069-BACD-5EBF6C9CD4F4}"/>
              </a:ext>
            </a:extLst>
          </p:cNvPr>
          <p:cNvSpPr>
            <a:spLocks xmlns:a="http://schemas.openxmlformats.org/drawingml/2006/main" noGrp="1"/>
          </p:cNvSpPr>
          <p:nvPr/>
        </p:nvSpPr>
        <p:spPr>
          <a:xfrm xmlns:a="http://schemas.openxmlformats.org/drawingml/2006/main">
            <a:off x="6162675" y="5436054"/>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Two or more products can contact each other without unacceptable physical, chemical, or therapeutic interaction</a:t>
            </a:r>
          </a:p>
        </p:txBody>
      </p:sp>
    </p:spTree>
    <p:extLst>
      <p:ext uri="{BB962C8B-B14F-4D97-AF65-F5344CB8AC3E}">
        <p14:creationId xmlns:p14="http://schemas.microsoft.com/office/powerpoint/2010/main" val="1891413288"/>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C33727B-7DD4-4901-952C-7A54AC93910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BBED6DE7-F055-42BB-9EF0-0CF4D4ED030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8F875329-93BC-4F5A-9D23-42F782851331}"/>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5A7345B7-1429-402F-85FF-6E9B3E67901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51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Authority, competency, and policy are three separate checks</a:t>
            </a:r>
          </a:p>
        </p:txBody>
      </p:sp>
      <p:sp>
        <p:nvSpPr>
          <p:cNvPr id="5" name="">
            <a:extLst xmlns:a="http://schemas.openxmlformats.org/drawingml/2006/main">
              <a:ext uri="{FF2B5EF4-FFF2-40B4-BE49-F238E27FC236}">
                <a16:creationId xmlns:a16="http://schemas.microsoft.com/office/drawing/2014/main" id="{946CB0D3-BF04-4DE2-BDDB-1085B8DE3AE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6" name="">
            <a:extLst xmlns:a="http://schemas.openxmlformats.org/drawingml/2006/main">
              <a:ext uri="{FF2B5EF4-FFF2-40B4-BE49-F238E27FC236}">
                <a16:creationId xmlns:a16="http://schemas.microsoft.com/office/drawing/2014/main" id="{37CDCCCD-B5A4-41B5-B324-8F71FC6891F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7" name="">
            <a:extLst xmlns:a="http://schemas.openxmlformats.org/drawingml/2006/main">
              <a:ext uri="{FF2B5EF4-FFF2-40B4-BE49-F238E27FC236}">
                <a16:creationId xmlns:a16="http://schemas.microsoft.com/office/drawing/2014/main" id="{07F3E6AC-D217-4C23-9E2D-0B66DD6EBF8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Authority asks whether the law and license permit the activity.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Competency asks whether the nurse has current education, supervised practice, and validated skill.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Policy asks whether the employer permits the activity in this setting.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Safe practice requires all three—not just a course certificate.</a:t>
            </a:r>
          </a:p>
        </p:txBody>
      </p:sp>
      <p:sp>
        <p:nvSpPr>
          <p:cNvPr id="8" name="">
            <a:extLst xmlns:a="http://schemas.openxmlformats.org/drawingml/2006/main">
              <a:ext uri="{FF2B5EF4-FFF2-40B4-BE49-F238E27FC236}">
                <a16:creationId xmlns:a16="http://schemas.microsoft.com/office/drawing/2014/main" id="{6EBCA8B0-7574-49ED-87C6-36D16B22FFF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836966338"/>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0F2B230-2212-427B-B6F2-867679FE880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DD0831EA-7E81-4488-B216-0CF34D354ED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80F3BE46-96BA-43A4-86E1-27AC855540FB}"/>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43E8EB1A-ADC2-4574-9DC3-A079180696C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Before starting any infusion</a:t>
            </a:r>
          </a:p>
        </p:txBody>
      </p:sp>
      <p:sp>
        <p:nvSpPr>
          <p:cNvPr id="5" name="">
            <a:extLst xmlns:a="http://schemas.openxmlformats.org/drawingml/2006/main">
              <a:ext uri="{FF2B5EF4-FFF2-40B4-BE49-F238E27FC236}">
                <a16:creationId xmlns:a16="http://schemas.microsoft.com/office/drawing/2014/main" id="{6B13C51C-4134-4346-AA22-8BC8206D9F1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6" name="">
            <a:extLst xmlns:a="http://schemas.openxmlformats.org/drawingml/2006/main">
              <a:ext uri="{FF2B5EF4-FFF2-40B4-BE49-F238E27FC236}">
                <a16:creationId xmlns:a16="http://schemas.microsoft.com/office/drawing/2014/main" id="{63D1A2DC-4B18-4BE1-BD7B-69FC28CBB9C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7" name="">
            <a:extLst xmlns:a="http://schemas.openxmlformats.org/drawingml/2006/main">
              <a:ext uri="{FF2B5EF4-FFF2-40B4-BE49-F238E27FC236}">
                <a16:creationId xmlns:a16="http://schemas.microsoft.com/office/drawing/2014/main" id="{B22C255A-4C34-466F-B171-34D60D66771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Confirm the patient with two approved identifiers.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Read the complete order: solution or medication, concentration, route, dose, rate, duration, and indication.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Check allergies, compatibility, access-device suitability, and required laboratory results.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and clarify any missing, conflicting, or unsafe information before preparing the therapy.</a:t>
            </a:r>
          </a:p>
        </p:txBody>
      </p:sp>
      <p:sp>
        <p:nvSpPr>
          <p:cNvPr id="8" name="">
            <a:extLst xmlns:a="http://schemas.openxmlformats.org/drawingml/2006/main">
              <a:ext uri="{FF2B5EF4-FFF2-40B4-BE49-F238E27FC236}">
                <a16:creationId xmlns:a16="http://schemas.microsoft.com/office/drawing/2014/main" id="{13D7A449-798C-4894-B78A-064F4A891D6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04577643"/>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0F4B4EEE-F06F-4A2B-AB9A-80E4CCE66D5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B1794348-EB23-4B46-BF7C-884AC74CC4B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27A439A6-BA64-44D7-912D-AE5383B9A9AC}"/>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D31FFAE0-8A69-4FAF-ABAB-14C3D471DCB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medication-rights safety pause</a:t>
            </a:r>
          </a:p>
        </p:txBody>
      </p:sp>
      <p:sp>
        <p:nvSpPr>
          <p:cNvPr id="5" name="">
            <a:extLst xmlns:a="http://schemas.openxmlformats.org/drawingml/2006/main">
              <a:ext uri="{FF2B5EF4-FFF2-40B4-BE49-F238E27FC236}">
                <a16:creationId xmlns:a16="http://schemas.microsoft.com/office/drawing/2014/main" id="{98C7FD3F-3633-4E84-B2A0-12990898200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6" name="">
            <a:extLst xmlns:a="http://schemas.openxmlformats.org/drawingml/2006/main">
              <a:ext uri="{FF2B5EF4-FFF2-40B4-BE49-F238E27FC236}">
                <a16:creationId xmlns:a16="http://schemas.microsoft.com/office/drawing/2014/main" id="{BF7E1617-CA29-4673-B75C-D991D819BD2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7" name="">
            <a:extLst xmlns:a="http://schemas.openxmlformats.org/drawingml/2006/main">
              <a:ext uri="{FF2B5EF4-FFF2-40B4-BE49-F238E27FC236}">
                <a16:creationId xmlns:a16="http://schemas.microsoft.com/office/drawing/2014/main" id="{E6C62BB5-7706-425D-AABA-B52F1703DA04}"/>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B8C81394-4A23-400F-88DC-7DDA9C415BF9}"/>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Check</a:t>
            </a:r>
          </a:p>
        </p:txBody>
      </p:sp>
      <p:sp>
        <p:nvSpPr>
          <p:cNvPr id="9" name="">
            <a:extLst xmlns:a="http://schemas.openxmlformats.org/drawingml/2006/main">
              <a:ext uri="{FF2B5EF4-FFF2-40B4-BE49-F238E27FC236}">
                <a16:creationId xmlns:a16="http://schemas.microsoft.com/office/drawing/2014/main" id="{170E2DF1-4067-4236-9FE7-8CCC08990069}"/>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DB07FA1E-9865-4300-926E-702567CE6FB0}"/>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Question to ask</a:t>
            </a:r>
          </a:p>
        </p:txBody>
      </p:sp>
      <p:sp>
        <p:nvSpPr>
          <p:cNvPr id="11" name="">
            <a:extLst xmlns:a="http://schemas.openxmlformats.org/drawingml/2006/main">
              <a:ext uri="{FF2B5EF4-FFF2-40B4-BE49-F238E27FC236}">
                <a16:creationId xmlns:a16="http://schemas.microsoft.com/office/drawing/2014/main" id="{9F0083BC-AE63-4126-BF7B-12B49035E00C}"/>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6154EC63-E801-4D92-8038-BDF76B08D87E}"/>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Patient</a:t>
            </a:r>
          </a:p>
        </p:txBody>
      </p:sp>
      <p:sp>
        <p:nvSpPr>
          <p:cNvPr id="13" name="">
            <a:extLst xmlns:a="http://schemas.openxmlformats.org/drawingml/2006/main">
              <a:ext uri="{FF2B5EF4-FFF2-40B4-BE49-F238E27FC236}">
                <a16:creationId xmlns:a16="http://schemas.microsoft.com/office/drawing/2014/main" id="{9A328140-F0E6-4CEC-A1E5-9F860DDA66EE}"/>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F87EB35C-0D20-49E1-94E8-8B564761D14D}"/>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 both identifiers match the order and medication record?</a:t>
            </a:r>
          </a:p>
        </p:txBody>
      </p:sp>
      <p:sp>
        <p:nvSpPr>
          <p:cNvPr id="15" name="">
            <a:extLst xmlns:a="http://schemas.openxmlformats.org/drawingml/2006/main">
              <a:ext uri="{FF2B5EF4-FFF2-40B4-BE49-F238E27FC236}">
                <a16:creationId xmlns:a16="http://schemas.microsoft.com/office/drawing/2014/main" id="{6CB556DD-B181-42DC-A686-015EFF6D0848}"/>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1D8A8926-B100-494A-8A10-099FD59BAA97}"/>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Medication and dose</a:t>
            </a:r>
          </a:p>
        </p:txBody>
      </p:sp>
      <p:sp>
        <p:nvSpPr>
          <p:cNvPr id="17" name="">
            <a:extLst xmlns:a="http://schemas.openxmlformats.org/drawingml/2006/main">
              <a:ext uri="{FF2B5EF4-FFF2-40B4-BE49-F238E27FC236}">
                <a16:creationId xmlns:a16="http://schemas.microsoft.com/office/drawing/2014/main" id="{F135330C-B6A5-4D79-80CD-9E32289C32DC}"/>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2EDA0347-AE54-4A20-8EE9-0C3F914B9188}"/>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Is this the exact product, concentration, and calculated dose?</a:t>
            </a:r>
          </a:p>
        </p:txBody>
      </p:sp>
      <p:sp>
        <p:nvSpPr>
          <p:cNvPr id="19" name="">
            <a:extLst xmlns:a="http://schemas.openxmlformats.org/drawingml/2006/main">
              <a:ext uri="{FF2B5EF4-FFF2-40B4-BE49-F238E27FC236}">
                <a16:creationId xmlns:a16="http://schemas.microsoft.com/office/drawing/2014/main" id="{3BD569E1-A456-49CE-BFB6-6A5C5DBB212A}"/>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AD6E65C1-A18A-4113-95AA-151D99E0350E}"/>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Route and access</a:t>
            </a:r>
          </a:p>
        </p:txBody>
      </p:sp>
      <p:sp>
        <p:nvSpPr>
          <p:cNvPr id="21" name="">
            <a:extLst xmlns:a="http://schemas.openxmlformats.org/drawingml/2006/main">
              <a:ext uri="{FF2B5EF4-FFF2-40B4-BE49-F238E27FC236}">
                <a16:creationId xmlns:a16="http://schemas.microsoft.com/office/drawing/2014/main" id="{26C30E57-6609-4F17-8149-A47134A9C68C}"/>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A367EEAE-4C28-4482-9CCF-DDC7F0C2042B}"/>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Is the ordered route appropriate for this device and site?</a:t>
            </a:r>
          </a:p>
        </p:txBody>
      </p:sp>
      <p:sp>
        <p:nvSpPr>
          <p:cNvPr id="23" name="">
            <a:extLst xmlns:a="http://schemas.openxmlformats.org/drawingml/2006/main">
              <a:ext uri="{FF2B5EF4-FFF2-40B4-BE49-F238E27FC236}">
                <a16:creationId xmlns:a16="http://schemas.microsoft.com/office/drawing/2014/main" id="{C5BC36B9-0E3E-415A-B4D4-612E3092FE4E}"/>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1582589F-8614-47FF-971F-E3B06B48243A}"/>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Time and rate</a:t>
            </a:r>
          </a:p>
        </p:txBody>
      </p:sp>
      <p:sp>
        <p:nvSpPr>
          <p:cNvPr id="25" name="">
            <a:extLst xmlns:a="http://schemas.openxmlformats.org/drawingml/2006/main">
              <a:ext uri="{FF2B5EF4-FFF2-40B4-BE49-F238E27FC236}">
                <a16:creationId xmlns:a16="http://schemas.microsoft.com/office/drawing/2014/main" id="{DEC75D01-B008-4EA9-8118-62D80F5B8CA6}"/>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39ADCE7B-CFDB-4E39-BD48-DF04C47A5E17}"/>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Are timing, pump settings, and duration correct?</a:t>
            </a:r>
          </a:p>
        </p:txBody>
      </p:sp>
      <p:sp>
        <p:nvSpPr>
          <p:cNvPr id="27" name="">
            <a:extLst xmlns:a="http://schemas.openxmlformats.org/drawingml/2006/main">
              <a:ext uri="{FF2B5EF4-FFF2-40B4-BE49-F238E27FC236}">
                <a16:creationId xmlns:a16="http://schemas.microsoft.com/office/drawing/2014/main" id="{DE91DE08-F91B-4E7B-87F6-3AADF028C2FD}"/>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5BBB7784-8360-4218-A60A-BC15D7489EA9}"/>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Response</a:t>
            </a:r>
          </a:p>
        </p:txBody>
      </p:sp>
      <p:sp>
        <p:nvSpPr>
          <p:cNvPr id="29" name="">
            <a:extLst xmlns:a="http://schemas.openxmlformats.org/drawingml/2006/main">
              <a:ext uri="{FF2B5EF4-FFF2-40B4-BE49-F238E27FC236}">
                <a16:creationId xmlns:a16="http://schemas.microsoft.com/office/drawing/2014/main" id="{2340E3D8-7B85-4E92-8538-FCC5A8451D8F}"/>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A3C7AF84-9CD8-4002-A6A1-8AB0832978CB}"/>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What assessment and monitoring are required before, during, and after?</a:t>
            </a:r>
          </a:p>
        </p:txBody>
      </p:sp>
    </p:spTree>
    <p:extLst>
      <p:ext uri="{BB962C8B-B14F-4D97-AF65-F5344CB8AC3E}">
        <p14:creationId xmlns:p14="http://schemas.microsoft.com/office/powerpoint/2010/main" val="628900551"/>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6787878-115D-4F5E-BE52-36608CB0679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ED5B49DE-C04C-431A-A0A7-1FC4AD0D549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D16B238C-2CBA-418E-961C-9120A91E0DC4}"/>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4161376C-A7DC-4EDB-BC1D-592494A98FB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When the correct action is to stop</a:t>
            </a:r>
          </a:p>
        </p:txBody>
      </p:sp>
      <p:sp>
        <p:nvSpPr>
          <p:cNvPr id="5" name="">
            <a:extLst xmlns:a="http://schemas.openxmlformats.org/drawingml/2006/main">
              <a:ext uri="{FF2B5EF4-FFF2-40B4-BE49-F238E27FC236}">
                <a16:creationId xmlns:a16="http://schemas.microsoft.com/office/drawing/2014/main" id="{6C337AD2-24B7-4B39-8D42-20AB03274D2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6" name="">
            <a:extLst xmlns:a="http://schemas.openxmlformats.org/drawingml/2006/main">
              <a:ext uri="{FF2B5EF4-FFF2-40B4-BE49-F238E27FC236}">
                <a16:creationId xmlns:a16="http://schemas.microsoft.com/office/drawing/2014/main" id="{028AE484-1BBF-4000-A720-55489298557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7" name="">
            <a:extLst xmlns:a="http://schemas.openxmlformats.org/drawingml/2006/main">
              <a:ext uri="{FF2B5EF4-FFF2-40B4-BE49-F238E27FC236}">
                <a16:creationId xmlns:a16="http://schemas.microsoft.com/office/drawing/2014/main" id="{6C123826-4C39-408F-BACD-8FDE5B2D9F4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Stop for a questionable order, unexpected patient change, loss of device patency, incompatibility, contamination, or pump setting that cannot be verified.</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Protect the patient first, maintain access only as directed, notify the supervising RN or prescriber, and document objective findings and actions.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Never continue simply because a medication has already been prepared or a schedule is running late.</a:t>
            </a:r>
          </a:p>
        </p:txBody>
      </p:sp>
      <p:sp>
        <p:nvSpPr>
          <p:cNvPr id="8" name="">
            <a:extLst xmlns:a="http://schemas.openxmlformats.org/drawingml/2006/main">
              <a:ext uri="{FF2B5EF4-FFF2-40B4-BE49-F238E27FC236}">
                <a16:creationId xmlns:a16="http://schemas.microsoft.com/office/drawing/2014/main" id="{37FF9EA6-75DC-405F-82DB-5BEB4877835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422601325"/>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992607C-906B-4389-8103-498137C94FD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045FE534-4DF6-481A-8636-F413DE1A331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D986F26C-48F3-4E9A-8597-9E8DD7C3C364}"/>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DAA1ED40-5FF5-43DF-95F4-80CEDC88441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5" name="">
            <a:extLst xmlns:a="http://schemas.openxmlformats.org/drawingml/2006/main">
              <a:ext uri="{FF2B5EF4-FFF2-40B4-BE49-F238E27FC236}">
                <a16:creationId xmlns:a16="http://schemas.microsoft.com/office/drawing/2014/main" id="{2142B166-7A85-4B53-877D-C9E549934B4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6" name="">
            <a:extLst xmlns:a="http://schemas.openxmlformats.org/drawingml/2006/main">
              <a:ext uri="{FF2B5EF4-FFF2-40B4-BE49-F238E27FC236}">
                <a16:creationId xmlns:a16="http://schemas.microsoft.com/office/drawing/2014/main" id="{2CD940D6-8830-4C24-877E-F61B087E5C2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a:t>
            </a:r>
          </a:p>
        </p:txBody>
      </p:sp>
      <p:sp>
        <p:nvSpPr>
          <p:cNvPr id="7" name="">
            <a:extLst xmlns:a="http://schemas.openxmlformats.org/drawingml/2006/main">
              <a:ext uri="{FF2B5EF4-FFF2-40B4-BE49-F238E27FC236}">
                <a16:creationId xmlns:a16="http://schemas.microsoft.com/office/drawing/2014/main" id="{121C8B91-44A8-4DC9-A39A-1924BED535C5}"/>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Classify five IV tasks as permitted, restricted, or requiring direct supervision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Review an incomplete order and identify the clarification needed</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Write a complete peripheral IV documentation entry</a:t>
            </a:r>
          </a:p>
        </p:txBody>
      </p:sp>
      <p:sp>
        <p:nvSpPr>
          <p:cNvPr id="8" name="">
            <a:extLst xmlns:a="http://schemas.openxmlformats.org/drawingml/2006/main">
              <a:ext uri="{FF2B5EF4-FFF2-40B4-BE49-F238E27FC236}">
                <a16:creationId xmlns:a16="http://schemas.microsoft.com/office/drawing/2014/main" id="{6A5D4582-3F34-45B1-998A-D8C2FD2501B2}"/>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182899531"/>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DFA4952-766A-42C1-9A75-A382E2FC456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60ADB236-E618-4C26-A8E7-20E9B4D28CD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C5F9236F-EE13-4DB7-936E-362390AC2D9C}"/>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734142AD-A824-4E0B-B29D-DB9FEC557CB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5" name="">
            <a:extLst xmlns:a="http://schemas.openxmlformats.org/drawingml/2006/main">
              <a:ext uri="{FF2B5EF4-FFF2-40B4-BE49-F238E27FC236}">
                <a16:creationId xmlns:a16="http://schemas.microsoft.com/office/drawing/2014/main" id="{026CB839-B002-4996-90C8-DA89672EC83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6" name="">
            <a:extLst xmlns:a="http://schemas.openxmlformats.org/drawingml/2006/main">
              <a:ext uri="{FF2B5EF4-FFF2-40B4-BE49-F238E27FC236}">
                <a16:creationId xmlns:a16="http://schemas.microsoft.com/office/drawing/2014/main" id="{0F33EE82-517B-48D6-AF6F-6811CF4B54C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a:t>
            </a:r>
          </a:p>
        </p:txBody>
      </p:sp>
      <p:sp>
        <p:nvSpPr>
          <p:cNvPr id="7" name="">
            <a:extLst xmlns:a="http://schemas.openxmlformats.org/drawingml/2006/main">
              <a:ext uri="{FF2B5EF4-FFF2-40B4-BE49-F238E27FC236}">
                <a16:creationId xmlns:a16="http://schemas.microsoft.com/office/drawing/2014/main" id="{C283D5FE-11B6-4978-A5C5-4728FD3403C6}"/>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Explain how Florida law and Board rules govern practical nursing</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Florida Administrative Code Rule 64B9-12.005 requires at least 30 hours of post-graduate IV education for an LPN or graduate practical nurse who needs this qualification. Course content must cover the required cognitive and clinical areas.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A Florida-licensed RN witnesses clinical practice and files a proficiency statement. The employing institution verifies competence under its protocol. Documentation identifies the device, site, solution, delivery method, assessment, response, and complications.</a:t>
            </a:r>
          </a:p>
        </p:txBody>
      </p:sp>
      <p:sp>
        <p:nvSpPr>
          <p:cNvPr id="8" name="">
            <a:extLst xmlns:a="http://schemas.openxmlformats.org/drawingml/2006/main">
              <a:ext uri="{FF2B5EF4-FFF2-40B4-BE49-F238E27FC236}">
                <a16:creationId xmlns:a16="http://schemas.microsoft.com/office/drawing/2014/main" id="{7580DE9D-EC82-4A33-ABF7-91B74D2E19FA}"/>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3318502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2026-10-23T13:06:11.3590000Z</dcterms:created>
  <dcterms:modified xsi:type="dcterms:W3CDTF">2026-10-23T13:06:11.3590000Z</dcterms:modified>
</coreProperties>
</file>