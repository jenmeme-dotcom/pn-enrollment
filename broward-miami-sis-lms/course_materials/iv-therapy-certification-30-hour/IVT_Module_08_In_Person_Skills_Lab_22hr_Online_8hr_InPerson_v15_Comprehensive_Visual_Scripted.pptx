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77d1458b6a4d06" /><Relationship Type="http://schemas.openxmlformats.org/officeDocument/2006/relationships/extended-properties" Target="/docProps/app.xml" Id="R2f3a35e011cf4b97" /><Relationship Type="http://schemas.openxmlformats.org/officeDocument/2006/relationships/officeDocument" Target="/ppt/presentation.xml" Id="Radfae0ce0fde4797" /></Relationships>
</file>

<file path=ppt/presentation.xml><?xml version="1.0" encoding="utf-8"?>
<p:presentation xmlns:p="http://schemas.openxmlformats.org/presentationml/2006/main">
  <p:sldMasterIdLst>
    <p:sldMasterId xmlns:r="http://schemas.openxmlformats.org/officeDocument/2006/relationships" id="2147483648" r:id="Radc0bb06e7404870"/>
  </p:sldMasterIdLst>
  <p:notesMasterIdLst>
    <p:notesMasterId xmlns:r="http://schemas.openxmlformats.org/officeDocument/2006/relationships" r:id="Rebcc43ebd8364dc0"/>
  </p:notesMasterIdLst>
  <p:sldIdLst>
    <p:sldId xmlns:r="http://schemas.openxmlformats.org/officeDocument/2006/relationships" id="256" r:id="Rc6f95d42feac41c6"/>
    <p:sldId xmlns:r="http://schemas.openxmlformats.org/officeDocument/2006/relationships" id="257" r:id="R8646f9b09a954539"/>
    <p:sldId xmlns:r="http://schemas.openxmlformats.org/officeDocument/2006/relationships" id="258" r:id="Re9cb866ab6e64133"/>
    <p:sldId xmlns:r="http://schemas.openxmlformats.org/officeDocument/2006/relationships" id="259" r:id="Rf3fce34c88944a2e"/>
    <p:sldId xmlns:r="http://schemas.openxmlformats.org/officeDocument/2006/relationships" id="260" r:id="Rc9bd2dc5e9c9411b"/>
    <p:sldId xmlns:r="http://schemas.openxmlformats.org/officeDocument/2006/relationships" id="261" r:id="Ra051fe6d4cdf42cf"/>
    <p:sldId xmlns:r="http://schemas.openxmlformats.org/officeDocument/2006/relationships" id="262" r:id="R0935973ec1df4d25"/>
    <p:sldId xmlns:r="http://schemas.openxmlformats.org/officeDocument/2006/relationships" id="263" r:id="R28624b0661b646cd"/>
    <p:sldId xmlns:r="http://schemas.openxmlformats.org/officeDocument/2006/relationships" id="264" r:id="R7ac30726c5114cdf"/>
    <p:sldId xmlns:r="http://schemas.openxmlformats.org/officeDocument/2006/relationships" id="265" r:id="R4e512c2159ec42ed"/>
    <p:sldId xmlns:r="http://schemas.openxmlformats.org/officeDocument/2006/relationships" id="266" r:id="Rd524199256764327"/>
    <p:sldId xmlns:r="http://schemas.openxmlformats.org/officeDocument/2006/relationships" id="267" r:id="Re1ca652a2ebc4212"/>
    <p:sldId xmlns:r="http://schemas.openxmlformats.org/officeDocument/2006/relationships" id="268" r:id="R9da900aa5a2c4581"/>
    <p:sldId xmlns:r="http://schemas.openxmlformats.org/officeDocument/2006/relationships" id="269" r:id="Re06546f138e44415"/>
    <p:sldId xmlns:r="http://schemas.openxmlformats.org/officeDocument/2006/relationships" id="270" r:id="Rc8e6bf3479c647c2"/>
    <p:sldId xmlns:r="http://schemas.openxmlformats.org/officeDocument/2006/relationships" id="271" r:id="R5c9e50c1204d4c17"/>
    <p:sldId xmlns:r="http://schemas.openxmlformats.org/officeDocument/2006/relationships" id="272" r:id="R5fd276e8a0314fa6"/>
    <p:sldId xmlns:r="http://schemas.openxmlformats.org/officeDocument/2006/relationships" id="273" r:id="R1a056a39631b4e68"/>
    <p:sldId xmlns:r="http://schemas.openxmlformats.org/officeDocument/2006/relationships" id="274" r:id="Reae68bdd17d14fb0"/>
    <p:sldId xmlns:r="http://schemas.openxmlformats.org/officeDocument/2006/relationships" id="275" r:id="R1178b288bfb14c50"/>
    <p:sldId xmlns:r="http://schemas.openxmlformats.org/officeDocument/2006/relationships" id="276" r:id="Rbb304759c5b54c1a"/>
    <p:sldId xmlns:r="http://schemas.openxmlformats.org/officeDocument/2006/relationships" id="277" r:id="R5b6b4328fde84465"/>
    <p:sldId xmlns:r="http://schemas.openxmlformats.org/officeDocument/2006/relationships" id="278" r:id="Rde52108167ff4ad9"/>
    <p:sldId xmlns:r="http://schemas.openxmlformats.org/officeDocument/2006/relationships" id="279" r:id="Ra8580866322044e9"/>
    <p:sldId xmlns:r="http://schemas.openxmlformats.org/officeDocument/2006/relationships" id="280" r:id="R50cd7ced83ca42fa"/>
    <p:sldId xmlns:r="http://schemas.openxmlformats.org/officeDocument/2006/relationships" id="281" r:id="R53de3707df2442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91094bb1a84a05" /><Relationship Type="http://schemas.openxmlformats.org/officeDocument/2006/relationships/slideMaster" Target="/ppt/slideMasters/slideMaster1.xml" Id="Radc0bb06e7404870" /><Relationship Type="http://schemas.openxmlformats.org/officeDocument/2006/relationships/notesMaster" Target="/ppt/notesMasters/notesMaster1.xml" Id="Rebcc43ebd8364dc0" /><Relationship Type="http://schemas.openxmlformats.org/officeDocument/2006/relationships/presProps" Target="/ppt/presProps.xml" Id="R483024cf403f4fd8" /><Relationship Type="http://schemas.openxmlformats.org/officeDocument/2006/relationships/tableStyles" Target="/ppt/tableStyles.xml" Id="R7df76782a6164736" /><Relationship Type="http://schemas.openxmlformats.org/officeDocument/2006/relationships/slide" Target="/ppt/slides/slide1.xml" Id="Rc6f95d42feac41c6" /><Relationship Type="http://schemas.openxmlformats.org/officeDocument/2006/relationships/slide" Target="/ppt/slides/slide2.xml" Id="R8646f9b09a954539" /><Relationship Type="http://schemas.openxmlformats.org/officeDocument/2006/relationships/slide" Target="/ppt/slides/slide3.xml" Id="Re9cb866ab6e64133" /><Relationship Type="http://schemas.openxmlformats.org/officeDocument/2006/relationships/slide" Target="/ppt/slides/slide4.xml" Id="Rf3fce34c88944a2e" /><Relationship Type="http://schemas.openxmlformats.org/officeDocument/2006/relationships/slide" Target="/ppt/slides/slide5.xml" Id="Rc9bd2dc5e9c9411b" /><Relationship Type="http://schemas.openxmlformats.org/officeDocument/2006/relationships/slide" Target="/ppt/slides/slide6.xml" Id="Ra051fe6d4cdf42cf" /><Relationship Type="http://schemas.openxmlformats.org/officeDocument/2006/relationships/slide" Target="/ppt/slides/slide7.xml" Id="R0935973ec1df4d25" /><Relationship Type="http://schemas.openxmlformats.org/officeDocument/2006/relationships/slide" Target="/ppt/slides/slide8.xml" Id="R28624b0661b646cd" /><Relationship Type="http://schemas.openxmlformats.org/officeDocument/2006/relationships/slide" Target="/ppt/slides/slide9.xml" Id="R7ac30726c5114cdf" /><Relationship Type="http://schemas.openxmlformats.org/officeDocument/2006/relationships/slide" Target="/ppt/slides/slide10.xml" Id="R4e512c2159ec42ed" /><Relationship Type="http://schemas.openxmlformats.org/officeDocument/2006/relationships/slide" Target="/ppt/slides/slide11.xml" Id="Rd524199256764327" /><Relationship Type="http://schemas.openxmlformats.org/officeDocument/2006/relationships/slide" Target="/ppt/slides/slide12.xml" Id="Re1ca652a2ebc4212" /><Relationship Type="http://schemas.openxmlformats.org/officeDocument/2006/relationships/slide" Target="/ppt/slides/slide13.xml" Id="R9da900aa5a2c4581" /><Relationship Type="http://schemas.openxmlformats.org/officeDocument/2006/relationships/slide" Target="/ppt/slides/slide14.xml" Id="Re06546f138e44415" /><Relationship Type="http://schemas.openxmlformats.org/officeDocument/2006/relationships/slide" Target="/ppt/slides/slide15.xml" Id="Rc8e6bf3479c647c2" /><Relationship Type="http://schemas.openxmlformats.org/officeDocument/2006/relationships/slide" Target="/ppt/slides/slide16.xml" Id="R5c9e50c1204d4c17" /><Relationship Type="http://schemas.openxmlformats.org/officeDocument/2006/relationships/slide" Target="/ppt/slides/slide17.xml" Id="R5fd276e8a0314fa6" /><Relationship Type="http://schemas.openxmlformats.org/officeDocument/2006/relationships/slide" Target="/ppt/slides/slide18.xml" Id="R1a056a39631b4e68" /><Relationship Type="http://schemas.openxmlformats.org/officeDocument/2006/relationships/slide" Target="/ppt/slides/slide19.xml" Id="Reae68bdd17d14fb0" /><Relationship Type="http://schemas.openxmlformats.org/officeDocument/2006/relationships/slide" Target="/ppt/slides/slide20.xml" Id="R1178b288bfb14c50" /><Relationship Type="http://schemas.openxmlformats.org/officeDocument/2006/relationships/slide" Target="/ppt/slides/slide21.xml" Id="Rbb304759c5b54c1a" /><Relationship Type="http://schemas.openxmlformats.org/officeDocument/2006/relationships/slide" Target="/ppt/slides/slide22.xml" Id="R5b6b4328fde84465" /><Relationship Type="http://schemas.openxmlformats.org/officeDocument/2006/relationships/slide" Target="/ppt/slides/slide23.xml" Id="Rde52108167ff4ad9" /><Relationship Type="http://schemas.openxmlformats.org/officeDocument/2006/relationships/slide" Target="/ppt/slides/slide24.xml" Id="Ra8580866322044e9" /><Relationship Type="http://schemas.openxmlformats.org/officeDocument/2006/relationships/slide" Target="/ppt/slides/slide25.xml" Id="R50cd7ced83ca42fa" /><Relationship Type="http://schemas.openxmlformats.org/officeDocument/2006/relationships/slide" Target="/ppt/slides/slide26.xml" Id="R53de3707df2442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be394a518a44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45fca2a17d42c4" /><Relationship Type="http://schemas.openxmlformats.org/officeDocument/2006/relationships/notesMaster" Target="/ppt/notesMasters/notesMaster1.xml" Id="R5600b2343cf449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8a170e7f254f4d" /><Relationship Type="http://schemas.openxmlformats.org/officeDocument/2006/relationships/notesMaster" Target="/ppt/notesMasters/notesMaster1.xml" Id="R31904cb605e940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5875ad94284367" /><Relationship Type="http://schemas.openxmlformats.org/officeDocument/2006/relationships/notesMaster" Target="/ppt/notesMasters/notesMaster1.xml" Id="Rcad2ea8015cb40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502594ca9e4e4d" /><Relationship Type="http://schemas.openxmlformats.org/officeDocument/2006/relationships/notesMaster" Target="/ppt/notesMasters/notesMaster1.xml" Id="Rfcd43028821c4f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82947ac4294b66" /><Relationship Type="http://schemas.openxmlformats.org/officeDocument/2006/relationships/notesMaster" Target="/ppt/notesMasters/notesMaster1.xml" Id="R6197fe932cb74b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29b6e5424f49b7" /><Relationship Type="http://schemas.openxmlformats.org/officeDocument/2006/relationships/notesMaster" Target="/ppt/notesMasters/notesMaster1.xml" Id="R8b6314d35e8f4e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5fbb0f73c94f70" /><Relationship Type="http://schemas.openxmlformats.org/officeDocument/2006/relationships/notesMaster" Target="/ppt/notesMasters/notesMaster1.xml" Id="R0be097a9a99042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265fefba344d2b" /><Relationship Type="http://schemas.openxmlformats.org/officeDocument/2006/relationships/notesMaster" Target="/ppt/notesMasters/notesMaster1.xml" Id="R8711b769ff0143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4b2c74ac57484c" /><Relationship Type="http://schemas.openxmlformats.org/officeDocument/2006/relationships/notesMaster" Target="/ppt/notesMasters/notesMaster1.xml" Id="R38d1cd740b994f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f7f327454847d0" /><Relationship Type="http://schemas.openxmlformats.org/officeDocument/2006/relationships/notesMaster" Target="/ppt/notesMasters/notesMaster1.xml" Id="Red86f75eb0e640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00658ec1384f99" /><Relationship Type="http://schemas.openxmlformats.org/officeDocument/2006/relationships/notesMaster" Target="/ppt/notesMasters/notesMaster1.xml" Id="Rbbcc2f85815645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893ddfcb474cad" /><Relationship Type="http://schemas.openxmlformats.org/officeDocument/2006/relationships/notesMaster" Target="/ppt/notesMasters/notesMaster1.xml" Id="R7f60db7ad52f47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844c5240d84ede" /><Relationship Type="http://schemas.openxmlformats.org/officeDocument/2006/relationships/notesMaster" Target="/ppt/notesMasters/notesMaster1.xml" Id="Rb82076f9ad0b4b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ac684679124bf8" /><Relationship Type="http://schemas.openxmlformats.org/officeDocument/2006/relationships/notesMaster" Target="/ppt/notesMasters/notesMaster1.xml" Id="R29b47225d0a140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e13786d7184bf8" /><Relationship Type="http://schemas.openxmlformats.org/officeDocument/2006/relationships/notesMaster" Target="/ppt/notesMasters/notesMaster1.xml" Id="R6ff83b3b755840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efcfbd902a42f3" /><Relationship Type="http://schemas.openxmlformats.org/officeDocument/2006/relationships/notesMaster" Target="/ppt/notesMasters/notesMaster1.xml" Id="R93be8ed488124a3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e06d6bedcd4e29" /><Relationship Type="http://schemas.openxmlformats.org/officeDocument/2006/relationships/notesMaster" Target="/ppt/notesMasters/notesMaster1.xml" Id="R511681f5a6c64b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6c15e3f18c4581" /><Relationship Type="http://schemas.openxmlformats.org/officeDocument/2006/relationships/notesMaster" Target="/ppt/notesMasters/notesMaster1.xml" Id="R2fe0c8b56f5b416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7f506ba4124fea" /><Relationship Type="http://schemas.openxmlformats.org/officeDocument/2006/relationships/notesMaster" Target="/ppt/notesMasters/notesMaster1.xml" Id="Rf4e353f301954d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301d96885ef47f8" /><Relationship Type="http://schemas.openxmlformats.org/officeDocument/2006/relationships/notesMaster" Target="/ppt/notesMasters/notesMaster1.xml" Id="R5b6b6d1a747f4d4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1793df9fd24cb2" /><Relationship Type="http://schemas.openxmlformats.org/officeDocument/2006/relationships/notesMaster" Target="/ppt/notesMasters/notesMaster1.xml" Id="Rc4036c69ba4f47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1447ee3fd644636" /><Relationship Type="http://schemas.openxmlformats.org/officeDocument/2006/relationships/notesMaster" Target="/ppt/notesMasters/notesMaster1.xml" Id="Rdf029abd95ff461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df095e182804b60" /><Relationship Type="http://schemas.openxmlformats.org/officeDocument/2006/relationships/notesMaster" Target="/ppt/notesMasters/notesMaster1.xml" Id="R0355df971d4e475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8cf9a9e488e4354" /><Relationship Type="http://schemas.openxmlformats.org/officeDocument/2006/relationships/notesMaster" Target="/ppt/notesMasters/notesMaster1.xml" Id="Rbdef174db8d14ca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91d133a52d141be" /><Relationship Type="http://schemas.openxmlformats.org/officeDocument/2006/relationships/notesMaster" Target="/ppt/notesMasters/notesMaster1.xml" Id="R637060d5437f41a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2e0f7731f104bab" /><Relationship Type="http://schemas.openxmlformats.org/officeDocument/2006/relationships/notesMaster" Target="/ppt/notesMasters/notesMaster1.xml" Id="Rdcb4a63ed9c343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In-Person IV Skills Lab, Module 8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Cover media: Pexels photo by Yusuf Çelik, https://www.pexels.com/photo/aspiring-nurse-students-in-laboratory-setting-32213307/,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Demonstrate required psychomotor skills under direct observation Next, Respond to infusion problems and complications Next, Complete RN-verified competency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One-day in-person schedule. First, The required in-person component is one 8-hour day: 30 minutes of focused review, 2.5 hours of equipment and peripheral-start practice, 1.5 hours of IVPB and access-device work, 1 hour of complication simulation, and 2.5 hours for the examination and RN competency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1: equipment and calculations. First, Verify orders, select fluids and tubing, inspect supplies, prime without air, calculate pump and gravity rates, trace lines, and correct common pump alarms.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2: peripheral insertion. First, Prepare the patient and site, select a vein and catheter, insert on a task trainer, connect and assess patency, secure and dress the site, initiate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3: secondary infusion and access care. First,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4: complications. First, Respond to infiltration, extravasation, phlebitis, fluid overload, allergic reaction, transfusion reaction, air risk, occlusion, and suspected catheter damage. Next, State the immediate action and escalation path.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Vascular access device overview. First, Short peripheral catheter: tip remains in a peripheral vein. Next, Midline: longer peripheral device with the tip below the axilla. Next, PICC and other central catheters: tip terminates in central circulation after placement verification. Next, Implanted port: subcutaneous reservoir accessed with an appropriate noncoring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Original BMHI educational image generated October 23, 2026. Source topics: 30 Hour IV Certification Study Guide, revised March 2013, PDF pages 39-44.</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Midline therapy boundaries. First, A midline remains a peripheral device even though it is longer than a short peripheral catheter. Next, The prescribed solution must be appropriate for peripheral administration under current standards and policy. Next, Assess the entire extremity, insertion site, dressing, external length when applicable, patency, and patient symptoms. Next, Do not use a midline for therapy that requires central administration or when complication findings are present.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35-36. Current infusion standards and facility policy control therapy selection.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 venous anatomy and device indications. First, Long duration or poor peripheral access: Supports repeated therapy while reducing repeated peripheral starts Next, Concentrated or irritating therapy: Central blood flow provides rapid dilution when the prescribed device is appropriate Next, Multiple incompatible therapies: Multiple lumens may separate infusions when each lumen is verified and labeled Next, Hemodynamic monitoring or frequent blood sampling: Requires the correct catheter, confirmed position, competency, and protocol Next, Parenteral nutrition or selected oncology therapy: Often requires a dedicated lumen and strict infection prevention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37-43.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assessment before every use. First, Patient: New pain, dyspnea, fever, chills, swelling, or neurologic change Next, Site and dressing: Redness, tenderness, drainage, bleeding, swelling, moisture, looseness, or disrupted securement Next, Device: Type, lumen, external length or position marker when applicable, clamps, caps, cracks, leaks Next, Patency: Blood return and flushing response when required; never force resistance Next, Order and compatibility: Correct route, lumen, solution, rate, monitoring, and concurrent infusions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37-45.</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dressing and cap-change principles. First, Prepare the patient and environment, gather supplies, and explain the need to minimize talking, coughing, and movement near the field. Next, Use hand hygiene, required mask and PPE, and sterile technique according to the device and policy. Next, Assess the site and catheter position before cleansing. Next, Use the approved antiseptic with the required friction and drying time, then apply the prescribed securement and dressing. Next, Disinfect and replace connectors only with the authorized technique. Label and document the procedure and findings.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44-45 and checkoff page 58. Fixed historical intervals were excluded.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flushing and blood-draw safety. First, Confirm the device type, lumen purpose, order, current manufacturer instructions, and facility procedure. Next, Use the specified syringe size, solution, volume, sequence, and clamp technique. Never copy a generic flush recipe across devices. Next, Stop for resistance, pain, swelling, leaking, or suspected damage. Never force a flush. Next, For blood sampling, pause or manage infusions only as the approved procedure directs, maintain asepsis, label specimens at the bedside, and restore prescribed therapy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43-45. Historical flush tables were intentionally not reproduced.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Hypodermoclysis overview. First, Purpose: Subcutaneous fluid administration for selected patients with mild to moderate hydration needs Next, Possible settings: Older adult, palliative, long-term, or limited-access care when ordered and supported by policy Next, Not appropriate: Shock, severe dehydration, need for rapid large-volume resuscitation, or unsuitable solution Next, Monitoring: Site comfort, swelling, leaking, redness, prescribed rate, intake and output, hydration response Next, Competency: Use only with specific education, an order, appropriate equipment, and facility authorization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Source: 30 Hour IV Certification Study Guide, revised March 2013, PDF pages 45-47. Historical rate and volume limits were excluded.</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Arterial lines are monitoring devices. First, Continuous invasive blood-pressure monitoring: Level and zero the transducer using the approved procedure Next, Arterial blood sampling: Use aseptic technique and the authorized waste or return system Next, Site assessment: Check distal color, temperature, sensation, movement, capillary refill, waveform, bleeding, and securement Next, Urgent concerns: Report bleeding, loss of waveform, limb ischemia, disconnection, air, or suspected infection immediately Next, Never administer routine IV fluids or medications through an arterial line. Only the prescribed pressure system and procedure-specific solutions belong in the circuit.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Never administer routine IV fluids or medications through an arterial line. Only the prescribed pressure system and procedure-specific solutions belong in the circuit. Source: 30 Hour IV Certification Study Guide, revised March 2013, arterial-line content and glossary PDF pages 46-47 and 61-62. Current critical-care policy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Eight-hour in-person skills day. First, 8:00–8:30: Safety briefing, objectives, and calculation check Next, 8:30–11:00: Equipment, priming, pump, vein selection, and peripheral starts Next, 11:00–12:00: IVPB and saline-lock practice Next, 12:00–12:30: Meal break Next, 12:30–1:30: Access-device assessment and dressing simulation Next, 1:30–2:30: Complication scenarios and documentation Next, 2:30–4:30: RN competency checkoffs, remediation, and final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 reference chart. First, Pump rate: mL/hr = volume (mL) ÷ time (hr) Next, Gravity rate: gtt/min = volume × drop factor ÷ time (min) Next, Volume: 1 L = 1,000 mL Next, Mass: 1 g = 1,000 mg; 1 mg = 1,000 mcg Next, Weight: kg = lb ÷ 2.2 Next, Legacy apothecary values are not used from the OCR source. Clarify any order written with an unfamiliar or ambiguous unit.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Legacy apothecary values are not used from the OCR source. Clarify any order written with an unfamiliar or ambiguous unit.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peripheral IV start. First, Verify the order and patient; assess therapy and site; explain the procedure. Next, Maintain asepsis and allow antiseptic to dry. Next, Insert safely, activate sharps protection, connect without contamination, and assess patency. Next, Secure, dress, label, start therapy, reassess, teach, and document. Next, Any missed critical safety step requires remediation and repeat demonstration.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Competency begins with clinical decisions. First, Purpose: The intended outcome of the prescribed therapy Next, Patient assessment: Physical condition, allergies, previous infusion experience, education, and consent Next, Site: How age, condition, therapy, vein quality, activity, and expected dwell affect selection Next, Equipment: Why the catheter, extension, tubing, dressing, and pump fit this patient and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Appendix B, pages 53-54. BMHI checkoff criteria remain subject to current Florida scope and 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Know the central-access device before using it. First, Midline: Peripheral vasculature below the axilla; Not a central line; confirm that the prescribed therapy is peripherally appropriate Next, PICC: Central circulation after peripheral insertion; Verify tip-use clearance, lumen purpose, patency, and dressing condition Next, Nontunneled or tunneled CVC: Central circulation; Use strict asepsis and inspect the exit site, connections, and lumens Next, Implanted port: Central circulation through a subcutaneous reservoir; Access only with the correct noncoring needle and validated competency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30 Hour IV Certification Study Guide, revised March 2013, pages 35-42. Device definitions were retained; historical dwell-time, flush-volume, and dressing-frequency claims were excluded in favor of current orders,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findings that require immediate escalation. First, Sudden dyspnea, chest pain, cyanosis, or altered consciousness: Air embolism or thoracic complication; Stop unsafe use, clamp or protect the system as trained, call emergency response, and support ABCs Next, Neck, chest, shoulder, or arm swelling: Malposition, infiltration, or thrombosis; Stop use and obtain urgent qualified assessment Next, Redness, tenderness, drainage, fever, or chills: Local or bloodstream infection; Assess, notify, and follow culture and device-management orders Next, Resistance, absent blood return, leaking, or damaged catheter: Occlusion, malposition, or device failure; Never force a flush; stop use and escalate Next, Do not remove, reposition, repair, instill a declotting agent, or access a central device unless the action is authorized and competency-validated.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Do not remove, reposition, repair, instill a declotting agent, or access a central device unless the action is authorized and competency-validated. Additional source: 30 Hour IV Certification Study Guide, revised March 2013, pages 37-43. Emergency actions must follow the current device-specific protocol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Removal checkoff includes catheter integrity. First, Stop all infusates and remove the dressing while supporting the skin and catheter. Next, Assess the site before removal, withdraw the catheter slowly and steadily, and achieve hemostasis. Next, Inspect the removed catheter and compare its condition and length with the expected intact device. Next, If the catheter is not intact, do not discard it; immobilize the extremity as directed and notify the supervising clinician immediately. Next, Document the site, catheter condition, hemostasis, dressing, patient teaching,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page 30.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IVPB and pump. First, Verify the primary and secondary orders and compatibility. Next, Prepare and label the secondary medication using aseptic technique. Next, Trace the line from patient to source, connect to the correct port, and position bags correctly. Next, Program the correct channel, volume, and rate; independently verify high-alert settings when required. Next, Confirm flow, monitor the patient and site, and document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Scenario response pattern. First, Recognize: Name the abnormal cue and likely complication Next, Stop or protect: Stop unsafe therapy and protect the patient Next, Assess: Check site, airway, breathing, circulation, vital signs, and symptoms Next, Escalate: Notify the RN/prescriber or activate emergency response Next, Document: Record findings, actions, notifications, orders,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Pass every critical element on the skills checklist Next, Repeat any missed critical step after remediation Next, Obtain the Florida RN evaluator's dated proficiency statement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Demonstrate required psychomotor skills under direct observation Next, Verify orders, select fluids and tubing, inspect supplies, prime without air, calculate pump and gravity rates, trace lines, and correct common pump alarms. Next,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a5dd1cfc524e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fd00130cd143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66d7b3296d4f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e2e603f63e41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d9eb2962ae4b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50fbd324324b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42A64F-6720-4F59-8447-6786AC7A0E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46D78CB-F0F7-4C65-A7F8-D542601A29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77B73DF-00C9-4C85-9C7A-EFE2701CE9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5F49CA-C72D-407C-8694-4D8BEEFA1E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0AA7C3-7324-4FBE-816D-217B8E9E670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B45A49-3D7F-469E-8500-F896DD9867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AA6B2E-196E-4667-ABDC-F8E1FA31E6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96F7D5B-74FD-40B1-B094-121C7F3EE4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6F153C-8C0B-4012-9E7B-D6469F82D9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42F04F-E173-4347-864F-32D13598B3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bacc97f11a4add" /><Relationship Type="http://schemas.openxmlformats.org/officeDocument/2006/relationships/slideLayout" Target="/ppt/slideLayouts/slideLayout1.xml" Id="Rd34aa151c2724f4c" /><Relationship Type="http://schemas.openxmlformats.org/officeDocument/2006/relationships/slideLayout" Target="/ppt/slideLayouts/slideLayout2.xml" Id="Rdc13301c753b420a" /><Relationship Type="http://schemas.openxmlformats.org/officeDocument/2006/relationships/slideLayout" Target="/ppt/slideLayouts/slideLayout3.xml" Id="R458c267009d943a3" /><Relationship Type="http://schemas.openxmlformats.org/officeDocument/2006/relationships/slideLayout" Target="/ppt/slideLayouts/slideLayout4.xml" Id="R72959bcb927c4df6" /><Relationship Type="http://schemas.openxmlformats.org/officeDocument/2006/relationships/slideLayout" Target="/ppt/slideLayouts/slideLayout5.xml" Id="R55f17ba9dc7b4902" /><Relationship Type="http://schemas.openxmlformats.org/officeDocument/2006/relationships/slideLayout" Target="/ppt/slideLayouts/slideLayout6.xml" Id="R12fe9c9b9b3e42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4aa151c2724f4c"/>
    <p:sldLayoutId xmlns:r="http://schemas.openxmlformats.org/officeDocument/2006/relationships" id="2147483650" r:id="Rdc13301c753b420a"/>
    <p:sldLayoutId xmlns:r="http://schemas.openxmlformats.org/officeDocument/2006/relationships" id="2147483651" r:id="R458c267009d943a3"/>
    <p:sldLayoutId xmlns:r="http://schemas.openxmlformats.org/officeDocument/2006/relationships" id="2147483652" r:id="R72959bcb927c4df6"/>
    <p:sldLayoutId xmlns:r="http://schemas.openxmlformats.org/officeDocument/2006/relationships" id="2147483653" r:id="R55f17ba9dc7b4902"/>
    <p:sldLayoutId xmlns:r="http://schemas.openxmlformats.org/officeDocument/2006/relationships" id="2147483654" r:id="R12fe9c9b9b3e42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4c485624b34d47" /><Relationship Type="http://schemas.openxmlformats.org/officeDocument/2006/relationships/image" Target="/ppt/media/image.jpeg" Id="Rfbf925bc8bc74158" /><Relationship Type="http://schemas.openxmlformats.org/officeDocument/2006/relationships/notesSlide" Target="/ppt/notesSlides/notesSlide1.xml" Id="Rbcc397caebd442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35528f044304701" /><Relationship Type="http://schemas.openxmlformats.org/officeDocument/2006/relationships/notesSlide" Target="/ppt/notesSlides/notesSlide2.xml" Id="Ra92e1565d7a74e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7971ac12114292" /><Relationship Type="http://schemas.openxmlformats.org/officeDocument/2006/relationships/notesSlide" Target="/ppt/notesSlides/notesSlide3.xml" Id="R950485f97dfa4f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1d0f4e5aa44c18" /><Relationship Type="http://schemas.openxmlformats.org/officeDocument/2006/relationships/notesSlide" Target="/ppt/notesSlides/notesSlide4.xml" Id="R503b9562d0314f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353574ba574ccb" /><Relationship Type="http://schemas.openxmlformats.org/officeDocument/2006/relationships/notesSlide" Target="/ppt/notesSlides/notesSlide5.xml" Id="R067e4b535b4f47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755b816c3c49f9" /><Relationship Type="http://schemas.openxmlformats.org/officeDocument/2006/relationships/notesSlide" Target="/ppt/notesSlides/notesSlide6.xml" Id="Ra9bbb0df159449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82c685f85d494a" /><Relationship Type="http://schemas.openxmlformats.org/officeDocument/2006/relationships/notesSlide" Target="/ppt/notesSlides/notesSlide7.xml" Id="R4e4847a144cc44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759e237bf54971" /><Relationship Type="http://schemas.openxmlformats.org/officeDocument/2006/relationships/image" Target="/ppt/media/image.png" Id="Rbf2c0b75738f445d" /><Relationship Type="http://schemas.openxmlformats.org/officeDocument/2006/relationships/notesSlide" Target="/ppt/notesSlides/notesSlide8.xml" Id="R74af352c170843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7d7d3034d84ec2" /><Relationship Type="http://schemas.openxmlformats.org/officeDocument/2006/relationships/notesSlide" Target="/ppt/notesSlides/notesSlide9.xml" Id="R82848cd01b8f48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a537c4588c54833" /><Relationship Type="http://schemas.openxmlformats.org/officeDocument/2006/relationships/notesSlide" Target="/ppt/notesSlides/notesSlide10.xml" Id="R3babb04336e542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88bf390d0504a9d" /><Relationship Type="http://schemas.openxmlformats.org/officeDocument/2006/relationships/notesSlide" Target="/ppt/notesSlides/notesSlide11.xml" Id="R50920a3e78a64b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9811985e7647ad" /><Relationship Type="http://schemas.openxmlformats.org/officeDocument/2006/relationships/notesSlide" Target="/ppt/notesSlides/notesSlide12.xml" Id="R82b77819d84b49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9c4315075e74943" /><Relationship Type="http://schemas.openxmlformats.org/officeDocument/2006/relationships/notesSlide" Target="/ppt/notesSlides/notesSlide13.xml" Id="Rd17150d769de4e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6c91d69cab34b10" /><Relationship Type="http://schemas.openxmlformats.org/officeDocument/2006/relationships/notesSlide" Target="/ppt/notesSlides/notesSlide14.xml" Id="R0c2d8c412736454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961a4dd4dc74d35" /><Relationship Type="http://schemas.openxmlformats.org/officeDocument/2006/relationships/notesSlide" Target="/ppt/notesSlides/notesSlide15.xml" Id="R2ac1bdbe19164e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01d5c319ed04d23" /><Relationship Type="http://schemas.openxmlformats.org/officeDocument/2006/relationships/notesSlide" Target="/ppt/notesSlides/notesSlide16.xml" Id="R4a7f6887f60b4f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1cfe5d881ca48f1" /><Relationship Type="http://schemas.openxmlformats.org/officeDocument/2006/relationships/notesSlide" Target="/ppt/notesSlides/notesSlide17.xml" Id="R73461bb3ab904d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1534f8ce1ea46e4" /><Relationship Type="http://schemas.openxmlformats.org/officeDocument/2006/relationships/notesSlide" Target="/ppt/notesSlides/notesSlide18.xml" Id="R10fb8be2171541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cd9f184305943aa" /><Relationship Type="http://schemas.openxmlformats.org/officeDocument/2006/relationships/notesSlide" Target="/ppt/notesSlides/notesSlide19.xml" Id="Rd3f208baa5e44c6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2ebdc7c93a74e1c" /><Relationship Type="http://schemas.openxmlformats.org/officeDocument/2006/relationships/notesSlide" Target="/ppt/notesSlides/notesSlide20.xml" Id="R154a7d81c31246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a9332564473459a" /><Relationship Type="http://schemas.openxmlformats.org/officeDocument/2006/relationships/notesSlide" Target="/ppt/notesSlides/notesSlide21.xml" Id="R81494e3e721e4b7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c470c0b07eb4cb8" /><Relationship Type="http://schemas.openxmlformats.org/officeDocument/2006/relationships/notesSlide" Target="/ppt/notesSlides/notesSlide22.xml" Id="Rfe1715bc514544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302b74c5a0c430b" /><Relationship Type="http://schemas.openxmlformats.org/officeDocument/2006/relationships/notesSlide" Target="/ppt/notesSlides/notesSlide23.xml" Id="R13500c650ea4472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3dbaff7741e4618" /><Relationship Type="http://schemas.openxmlformats.org/officeDocument/2006/relationships/notesSlide" Target="/ppt/notesSlides/notesSlide24.xml" Id="R94e90cd6a99a4cf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52b0d7d01d1424c" /><Relationship Type="http://schemas.openxmlformats.org/officeDocument/2006/relationships/notesSlide" Target="/ppt/notesSlides/notesSlide25.xml" Id="Ra1a25348ea204a5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c8de3ab14ec46e8" /><Relationship Type="http://schemas.openxmlformats.org/officeDocument/2006/relationships/notesSlide" Target="/ppt/notesSlides/notesSlide26.xml" Id="Rfb3c7f4165c24562"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6DCAC8E-F89D-409E-9174-78430761302F}"/>
              </a:ext>
            </a:extLst>
          </p:cNvPr>
          <p:cNvPicPr>
            <a:picLocks xmlns:a="http://schemas.openxmlformats.org/drawingml/2006/main" noChangeAspect="1"/>
          </p:cNvPicPr>
          <p:nvPr/>
        </p:nvPicPr>
        <p:blipFill>
          <a:blip xmlns:r="http://schemas.openxmlformats.org/officeDocument/2006/relationships" xmlns:a="http://schemas.openxmlformats.org/drawingml/2006/main" r:embed="Rfbf925bc8bc74158"/>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F988DFE-03CC-463E-8F40-D1574403F807}"/>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EB6D58A-5C8F-46CE-B762-ECB50A805FDC}"/>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51992AFB-FD6B-47C1-BF97-2B7DB70BBA07}"/>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4F031207-E515-4E0A-8DB2-741E837FB10C}"/>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In-Person IV Skills Lab</a:t>
            </a:r>
          </a:p>
        </p:txBody>
      </p:sp>
      <p:sp>
        <p:nvSpPr>
          <p:cNvPr id="6" name="">
            <a:extLst xmlns:a="http://schemas.openxmlformats.org/drawingml/2006/main">
              <a:ext uri="{FF2B5EF4-FFF2-40B4-BE49-F238E27FC236}">
                <a16:creationId xmlns:a16="http://schemas.microsoft.com/office/drawing/2014/main" id="{E8F10CFD-F7BE-4E47-81FD-B296CC81FC42}"/>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8  |  30-Hour Basic Intravenous Therapy</a:t>
            </a:r>
          </a:p>
        </p:txBody>
      </p:sp>
      <p:sp>
        <p:nvSpPr>
          <p:cNvPr id="7" name="">
            <a:extLst xmlns:a="http://schemas.openxmlformats.org/drawingml/2006/main">
              <a:ext uri="{FF2B5EF4-FFF2-40B4-BE49-F238E27FC236}">
                <a16:creationId xmlns:a16="http://schemas.microsoft.com/office/drawing/2014/main" id="{4292BB37-6AD5-45B2-B146-E80D14C9323A}"/>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985088723"/>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36AC38-C012-46CC-9F73-C17D20F4772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DE46C0A-1B8D-4DDF-80A7-B3C0B51BD7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ED943E29-1457-414D-AA5B-F0B72881685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55BE625-3D32-4435-AD39-DCDF64F18A2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03B8ECC5-6A0A-45DA-9F00-295103CE114A}"/>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1297160811"/>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E3A359-EEF9-40F3-875F-63A1CE7F63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82DD8D-9C1F-4640-9729-A3FF9C564E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One-day in-person schedule</a:t>
            </a:r>
          </a:p>
        </p:txBody>
      </p:sp>
      <p:sp>
        <p:nvSpPr>
          <p:cNvPr id="3" name="">
            <a:extLst xmlns:a="http://schemas.openxmlformats.org/drawingml/2006/main">
              <a:ext uri="{FF2B5EF4-FFF2-40B4-BE49-F238E27FC236}">
                <a16:creationId xmlns:a16="http://schemas.microsoft.com/office/drawing/2014/main" id="{CE3140AC-70D7-4008-8C94-9DE1420827A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51B8D9D-FECE-4A2C-ADBF-D98FA44AD3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4312A2DB-F750-450B-8044-CCB6374A18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required in-person component is one 8-hour day: 30 minutes of focused review, 2.5 hours of equipment and peripheral-start practice, 1.5 hours of IVPB and access-device work, 1 hour of complication simulation, and 2.5 hours for the examination and RN competency evaluation.</a:t>
            </a:r>
          </a:p>
        </p:txBody>
      </p:sp>
      <p:sp>
        <p:nvSpPr>
          <p:cNvPr id="6" name="">
            <a:extLst xmlns:a="http://schemas.openxmlformats.org/drawingml/2006/main">
              <a:ext uri="{FF2B5EF4-FFF2-40B4-BE49-F238E27FC236}">
                <a16:creationId xmlns:a16="http://schemas.microsoft.com/office/drawing/2014/main" id="{8E10061B-49FC-4EEC-9053-5B8A61E5346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92907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CDD521-548F-47B8-8A43-848B0305FC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DC0B23-00CF-4A37-9A93-30AFA7C2FF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3" name="">
            <a:extLst xmlns:a="http://schemas.openxmlformats.org/drawingml/2006/main">
              <a:ext uri="{FF2B5EF4-FFF2-40B4-BE49-F238E27FC236}">
                <a16:creationId xmlns:a16="http://schemas.microsoft.com/office/drawing/2014/main" id="{D372A6AE-C1B1-472B-8FBE-B9CB9ECDFC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64411F6-3207-4652-BEED-7400CDC765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B6E35824-71A7-407C-8BA0-96D587003D1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6" name="">
            <a:extLst xmlns:a="http://schemas.openxmlformats.org/drawingml/2006/main">
              <a:ext uri="{FF2B5EF4-FFF2-40B4-BE49-F238E27FC236}">
                <a16:creationId xmlns:a16="http://schemas.microsoft.com/office/drawing/2014/main" id="{3E6CF3D9-8C9F-4FFE-AE43-014CADBE1E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3913849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E444F8-B329-4808-A644-6789C170A7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4B657E-56D0-4A25-AF30-1D8DB2B4A7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3" name="">
            <a:extLst xmlns:a="http://schemas.openxmlformats.org/drawingml/2006/main">
              <a:ext uri="{FF2B5EF4-FFF2-40B4-BE49-F238E27FC236}">
                <a16:creationId xmlns:a16="http://schemas.microsoft.com/office/drawing/2014/main" id="{BD93DC26-F258-46AB-818F-AC2688E0C7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1746E8A-A4FE-4B61-806C-A5591D8B80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9190BC90-4400-43C2-87ED-C80575DB85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6" name="">
            <a:extLst xmlns:a="http://schemas.openxmlformats.org/drawingml/2006/main">
              <a:ext uri="{FF2B5EF4-FFF2-40B4-BE49-F238E27FC236}">
                <a16:creationId xmlns:a16="http://schemas.microsoft.com/office/drawing/2014/main" id="{209845AD-25F4-491C-A78D-4BFC693B18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3362442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FB9B07-B69D-437F-9ED9-5CF2260C0A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5F3A39-9A20-4618-B1BF-85721DC4D1D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3" name="">
            <a:extLst xmlns:a="http://schemas.openxmlformats.org/drawingml/2006/main">
              <a:ext uri="{FF2B5EF4-FFF2-40B4-BE49-F238E27FC236}">
                <a16:creationId xmlns:a16="http://schemas.microsoft.com/office/drawing/2014/main" id="{953B41A4-6536-4D58-955D-1747418BB5C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8259742-011F-488B-BEEB-4F329B6BED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907424DE-0B88-4D4A-A4F0-5333EE6B82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D0269AB8-B6FB-4045-8AE6-CF3137522D1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3830093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FB44B9-97A2-40BF-9FEE-EC9723C44F4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1BDDB45-8318-457E-9DED-00C2E3CA58F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3" name="">
            <a:extLst xmlns:a="http://schemas.openxmlformats.org/drawingml/2006/main">
              <a:ext uri="{FF2B5EF4-FFF2-40B4-BE49-F238E27FC236}">
                <a16:creationId xmlns:a16="http://schemas.microsoft.com/office/drawing/2014/main" id="{1282D611-64D6-4EF7-AEED-7EA08B91A9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9B385EC-90DC-4834-A9FE-97F16C1E72F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D96104DF-A064-4379-AC09-3D0E356A375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6" name="">
            <a:extLst xmlns:a="http://schemas.openxmlformats.org/drawingml/2006/main">
              <a:ext uri="{FF2B5EF4-FFF2-40B4-BE49-F238E27FC236}">
                <a16:creationId xmlns:a16="http://schemas.microsoft.com/office/drawing/2014/main" id="{AE5261FF-CDDC-4D66-AA98-D5B74A83978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0615656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13272C-C0B3-4077-A7C7-F3F984B5530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79BA56-B332-4987-8BDC-631E45E3F9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Vascular access device overview</a:t>
            </a:r>
          </a:p>
        </p:txBody>
      </p:sp>
      <p:sp>
        <p:nvSpPr>
          <p:cNvPr id="3" name="">
            <a:extLst xmlns:a="http://schemas.openxmlformats.org/drawingml/2006/main">
              <a:ext uri="{FF2B5EF4-FFF2-40B4-BE49-F238E27FC236}">
                <a16:creationId xmlns:a16="http://schemas.microsoft.com/office/drawing/2014/main" id="{19A8EF4C-AF1D-434A-9DC0-520BA54B70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F37E664-E54E-4C52-8D40-C49CAF86F9E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E61F5123-68B3-4827-9DC3-B7A6C00A5168}"/>
              </a:ext>
            </a:extLst>
          </p:cNvPr>
          <p:cNvSpPr>
            <a:spLocks xmlns:a="http://schemas.openxmlformats.org/drawingml/2006/main" noGrp="1"/>
          </p:cNvSpPr>
          <p:nvPr/>
        </p:nvSpPr>
        <p:spPr>
          <a:xfrm xmlns:a="http://schemas.openxmlformats.org/drawingml/2006/main">
            <a:off x="70485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Short peripheral catheter: tip remains in a peripheral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Midline: longer peripheral device with the tip below the axilla.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PICC and other central catheters: tip terminates in central circulation after placement verification.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Implanted port: subcutaneous reservoir accessed with an appropriate noncoring needle.</a:t>
            </a:r>
          </a:p>
        </p:txBody>
      </p:sp>
      <p:pic>
        <p:nvPicPr>
          <p:cNvPr id="6" name="">
            <a:extLst xmlns:a="http://schemas.openxmlformats.org/drawingml/2006/main">
              <a:ext uri="{FF2B5EF4-FFF2-40B4-BE49-F238E27FC236}">
                <a16:creationId xmlns:a16="http://schemas.microsoft.com/office/drawing/2014/main" id="{4364EAD0-CCC6-4943-A91B-B23719C57752}"/>
              </a:ext>
            </a:extLst>
          </p:cNvPr>
          <p:cNvPicPr>
            <a:picLocks xmlns:a="http://schemas.openxmlformats.org/drawingml/2006/main" noChangeAspect="1"/>
          </p:cNvPicPr>
          <p:nvPr/>
        </p:nvPicPr>
        <p:blipFill>
          <a:blip xmlns:r="http://schemas.openxmlformats.org/officeDocument/2006/relationships" xmlns:a="http://schemas.openxmlformats.org/drawingml/2006/main" r:embed="Rbf2c0b75738f445d"/>
          <a:srcRect xmlns:a="http://schemas.openxmlformats.org/drawingml/2006/main" l="12480" t="0" r="12480" b="0"/>
          <a:stretch xmlns:a="http://schemas.openxmlformats.org/drawingml/2006/main">
            <a:fillRect l="0" t="0" r="0" b="0"/>
          </a:stretch>
        </p:blipFill>
        <p:spPr>
          <a:xfrm xmlns:a="http://schemas.openxmlformats.org/drawingml/2006/main">
            <a:off x="5810250" y="1581150"/>
            <a:ext cx="5715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6C34DF4-FECC-4F0F-A87D-4B14C255A663}"/>
              </a:ext>
            </a:extLst>
          </p:cNvPr>
          <p:cNvSpPr>
            <a:spLocks xmlns:a="http://schemas.openxmlformats.org/drawingml/2006/main" noGrp="1"/>
          </p:cNvSpPr>
          <p:nvPr/>
        </p:nvSpPr>
        <p:spPr>
          <a:xfrm xmlns:a="http://schemas.openxmlformats.org/drawingml/2006/main">
            <a:off x="5810250" y="1581150"/>
            <a:ext cx="5715000" cy="4286250"/>
          </a:xfrm>
          <a:prstGeom xmlns:a="http://schemas.openxmlformats.org/drawingml/2006/main" prst="rect">
            <a:avLst/>
          </a:prstGeom>
          <a:ln xmlns:a="http://schemas.openxmlformats.org/drawingml/2006/main" w="19050">
            <a:solidFill>
              <a:srgbClr val="237B82"/>
            </a:solidFill>
          </a:ln>
        </p:spPr>
      </p:sp>
      <p:sp>
        <p:nvSpPr>
          <p:cNvPr id="8" name="">
            <a:extLst xmlns:a="http://schemas.openxmlformats.org/drawingml/2006/main">
              <a:ext uri="{FF2B5EF4-FFF2-40B4-BE49-F238E27FC236}">
                <a16:creationId xmlns:a16="http://schemas.microsoft.com/office/drawing/2014/main" id="{48AFF7D0-DE17-4A7B-BD73-731686137201}"/>
              </a:ext>
            </a:extLst>
          </p:cNvPr>
          <p:cNvSpPr>
            <a:spLocks xmlns:a="http://schemas.openxmlformats.org/drawingml/2006/main" noGrp="1"/>
          </p:cNvSpPr>
          <p:nvPr/>
        </p:nvSpPr>
        <p:spPr>
          <a:xfrm xmlns:a="http://schemas.openxmlformats.org/drawingml/2006/main">
            <a:off x="5905500" y="59626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050" b="1">
                <a:solidFill>
                  <a:srgbClr val="B94F3D"/>
                </a:solidFill>
                <a:latin typeface="Helvetica Neue"/>
                <a:ea typeface="Helvetica Neue"/>
                <a:cs typeface="Helvetica Neue"/>
              </a:defRPr>
            </a:defPPr>
            <a:lvl1pPr>
              <a:defRPr sz="1050" b="1">
                <a:solidFill>
                  <a:srgbClr val="B94F3D"/>
                </a:solidFill>
                <a:latin typeface="Helvetica Neue"/>
                <a:ea typeface="Helvetica Neue"/>
                <a:cs typeface="Helvetica Neue"/>
              </a:defRPr>
            </a:lvl1pPr>
            <a:lvl2pPr>
              <a:defRPr sz="1050" b="1">
                <a:solidFill>
                  <a:srgbClr val="B94F3D"/>
                </a:solidFill>
                <a:latin typeface="Helvetica Neue"/>
                <a:ea typeface="Helvetica Neue"/>
                <a:cs typeface="Helvetica Neue"/>
              </a:defRPr>
            </a:lvl2pPr>
            <a:lvl3pPr>
              <a:defRPr sz="1050" b="1">
                <a:solidFill>
                  <a:srgbClr val="B94F3D"/>
                </a:solidFill>
                <a:latin typeface="Helvetica Neue"/>
                <a:ea typeface="Helvetica Neue"/>
                <a:cs typeface="Helvetica Neue"/>
              </a:defRPr>
            </a:lvl3pPr>
            <a:lvl4pPr>
              <a:defRPr sz="1050" b="1">
                <a:solidFill>
                  <a:srgbClr val="B94F3D"/>
                </a:solidFill>
                <a:latin typeface="Helvetica Neue"/>
                <a:ea typeface="Helvetica Neue"/>
                <a:cs typeface="Helvetica Neue"/>
              </a:defRPr>
            </a:lvl4pPr>
            <a:lvl5pPr>
              <a:defRPr sz="1050" b="1">
                <a:solidFill>
                  <a:srgbClr val="B94F3D"/>
                </a:solidFill>
                <a:latin typeface="Helvetica Neue"/>
                <a:ea typeface="Helvetica Neue"/>
                <a:cs typeface="Helvetica Neue"/>
              </a:defRPr>
            </a:lvl5pPr>
            <a:lvl6pPr>
              <a:defRPr sz="1050" b="1">
                <a:solidFill>
                  <a:srgbClr val="B94F3D"/>
                </a:solidFill>
                <a:latin typeface="Helvetica Neue"/>
                <a:ea typeface="Helvetica Neue"/>
                <a:cs typeface="Helvetica Neue"/>
              </a:defRPr>
            </a:lvl6pPr>
            <a:lvl7pPr>
              <a:defRPr sz="1050" b="1">
                <a:solidFill>
                  <a:srgbClr val="B94F3D"/>
                </a:solidFill>
                <a:latin typeface="Helvetica Neue"/>
                <a:ea typeface="Helvetica Neue"/>
                <a:cs typeface="Helvetica Neue"/>
              </a:defRPr>
            </a:lvl7pPr>
            <a:lvl8pPr>
              <a:defRPr sz="1050" b="1">
                <a:solidFill>
                  <a:srgbClr val="B94F3D"/>
                </a:solidFill>
                <a:latin typeface="Helvetica Neue"/>
                <a:ea typeface="Helvetica Neue"/>
                <a:cs typeface="Helvetica Neue"/>
              </a:defRPr>
            </a:lvl8pPr>
            <a:lvl9pPr>
              <a:defRPr sz="1050" b="1">
                <a:solidFill>
                  <a:srgbClr val="B94F3D"/>
                </a:solidFill>
                <a:latin typeface="Helvetica Neue"/>
                <a:ea typeface="Helvetica Neue"/>
                <a:cs typeface="Helvetica Neue"/>
              </a:defRPr>
            </a:lvl9pPr>
          </a:lstStyle>
          <a:p xmlns:a="http://schemas.openxmlformats.org/drawingml/2006/main">
            <a:pPr>
              <a:defRPr sz="1050" b="1">
                <a:solidFill>
                  <a:srgbClr val="B94F3D"/>
                </a:solidFill>
                <a:latin typeface="Helvetica Neue"/>
                <a:ea typeface="Helvetica Neue"/>
                <a:cs typeface="Helvetica Neue"/>
              </a:defRPr>
            </a:pPr>
            <a:r>
              <a:rPr sz="1050" b="1">
                <a:solidFill>
                  <a:srgbClr val="B94F3D"/>
                </a:solidFill>
                <a:latin typeface="Helvetica Neue"/>
                <a:ea typeface="Helvetica Neue"/>
                <a:cs typeface="Helvetica Neue"/>
              </a:rPr>
              <a:t>Educational visual. Verify device-specific technique during supervised practice.</a:t>
            </a:r>
          </a:p>
        </p:txBody>
      </p:sp>
    </p:spTree>
    <p:extLst>
      <p:ext uri="{BB962C8B-B14F-4D97-AF65-F5344CB8AC3E}">
        <p14:creationId xmlns:p14="http://schemas.microsoft.com/office/powerpoint/2010/main" val="1158360057"/>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4121FF-D31D-4A5D-B9AA-04D36A21E3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5E4957-BC66-4905-9477-2F54C40687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Midline therapy boundaries</a:t>
            </a:r>
          </a:p>
        </p:txBody>
      </p:sp>
      <p:sp>
        <p:nvSpPr>
          <p:cNvPr id="3" name="">
            <a:extLst xmlns:a="http://schemas.openxmlformats.org/drawingml/2006/main">
              <a:ext uri="{FF2B5EF4-FFF2-40B4-BE49-F238E27FC236}">
                <a16:creationId xmlns:a16="http://schemas.microsoft.com/office/drawing/2014/main" id="{7B5F46ED-B53A-4F1A-9A9D-3B6C978BCF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306B177-2905-4BA7-AEB2-E8EAD5E43E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F75B2090-9FDC-42D2-A886-46D55AE1A0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midline remains a peripheral device even though it is longer than a short peripheral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prescribed solution must be appropriate for peripheral administration under current standards and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the entire extremity, insertion site, dressing, external length when applicable, patency, and patient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use a midline for therapy that requires central administration or when complication findings are present.</a:t>
            </a:r>
          </a:p>
        </p:txBody>
      </p:sp>
      <p:sp>
        <p:nvSpPr>
          <p:cNvPr id="6" name="">
            <a:extLst xmlns:a="http://schemas.openxmlformats.org/drawingml/2006/main">
              <a:ext uri="{FF2B5EF4-FFF2-40B4-BE49-F238E27FC236}">
                <a16:creationId xmlns:a16="http://schemas.microsoft.com/office/drawing/2014/main" id="{EAF76CE3-E04D-40EE-B98C-8101282B16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7538028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0919127-E353-4B38-8951-8905FD1A7C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CAF08E-4601-4E38-B5D0-2D06D618455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 venous anatomy and device indications</a:t>
            </a:r>
          </a:p>
        </p:txBody>
      </p:sp>
      <p:sp>
        <p:nvSpPr>
          <p:cNvPr id="3" name="">
            <a:extLst xmlns:a="http://schemas.openxmlformats.org/drawingml/2006/main">
              <a:ext uri="{FF2B5EF4-FFF2-40B4-BE49-F238E27FC236}">
                <a16:creationId xmlns:a16="http://schemas.microsoft.com/office/drawing/2014/main" id="{13448C3B-3427-4BAB-987D-D89B3AC79AD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248C8DA-9AD4-46DB-8988-C262F08DB5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CEA3E78D-3A53-4585-B3F8-CD67C39BB67F}"/>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7D34F466-C270-415E-9068-E490B51327AF}"/>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Reason for central access</a:t>
            </a:r>
          </a:p>
        </p:txBody>
      </p:sp>
      <p:sp>
        <p:nvSpPr>
          <p:cNvPr id="7" name="">
            <a:extLst xmlns:a="http://schemas.openxmlformats.org/drawingml/2006/main">
              <a:ext uri="{FF2B5EF4-FFF2-40B4-BE49-F238E27FC236}">
                <a16:creationId xmlns:a16="http://schemas.microsoft.com/office/drawing/2014/main" id="{635DFF88-F6F7-4B66-B7BB-C051B9D05C9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CF22FB9-C560-4233-83D8-8CB799E38217}"/>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9" name="">
            <a:extLst xmlns:a="http://schemas.openxmlformats.org/drawingml/2006/main">
              <a:ext uri="{FF2B5EF4-FFF2-40B4-BE49-F238E27FC236}">
                <a16:creationId xmlns:a16="http://schemas.microsoft.com/office/drawing/2014/main" id="{CE78FB1B-9423-4929-856D-DB9578C9A62C}"/>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4E1D002-FDA7-4627-8884-03A1517BFE89}"/>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poor peripheral access</a:t>
            </a:r>
          </a:p>
        </p:txBody>
      </p:sp>
      <p:sp>
        <p:nvSpPr>
          <p:cNvPr id="11" name="">
            <a:extLst xmlns:a="http://schemas.openxmlformats.org/drawingml/2006/main">
              <a:ext uri="{FF2B5EF4-FFF2-40B4-BE49-F238E27FC236}">
                <a16:creationId xmlns:a16="http://schemas.microsoft.com/office/drawing/2014/main" id="{3C3DFD46-89B2-40A4-A471-93C9DF33B804}"/>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22C3DD7-8B88-4CA8-8D90-14C13D6E3C42}"/>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Supports repeated therapy while reducing repeated peripheral starts</a:t>
            </a:r>
          </a:p>
        </p:txBody>
      </p:sp>
      <p:sp>
        <p:nvSpPr>
          <p:cNvPr id="13" name="">
            <a:extLst xmlns:a="http://schemas.openxmlformats.org/drawingml/2006/main">
              <a:ext uri="{FF2B5EF4-FFF2-40B4-BE49-F238E27FC236}">
                <a16:creationId xmlns:a16="http://schemas.microsoft.com/office/drawing/2014/main" id="{28664FCD-E090-4945-A165-2E3D85F38D24}"/>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55D4B0B-938C-4589-8FB4-BBB2EA353175}"/>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Concentrated or irritating therapy</a:t>
            </a:r>
          </a:p>
        </p:txBody>
      </p:sp>
      <p:sp>
        <p:nvSpPr>
          <p:cNvPr id="15" name="">
            <a:extLst xmlns:a="http://schemas.openxmlformats.org/drawingml/2006/main">
              <a:ext uri="{FF2B5EF4-FFF2-40B4-BE49-F238E27FC236}">
                <a16:creationId xmlns:a16="http://schemas.microsoft.com/office/drawing/2014/main" id="{34F46BAB-C0F2-4008-8787-28EFADEA47C9}"/>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884572C-00A0-4F0E-945C-A5D552C52E55}"/>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blood flow provides rapid dilution when the prescribed device is appropriate</a:t>
            </a:r>
          </a:p>
        </p:txBody>
      </p:sp>
      <p:sp>
        <p:nvSpPr>
          <p:cNvPr id="17" name="">
            <a:extLst xmlns:a="http://schemas.openxmlformats.org/drawingml/2006/main">
              <a:ext uri="{FF2B5EF4-FFF2-40B4-BE49-F238E27FC236}">
                <a16:creationId xmlns:a16="http://schemas.microsoft.com/office/drawing/2014/main" id="{C185202F-E0C6-41E0-B29E-021700353372}"/>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375C25B-F237-489E-8A7D-6D4B5F3E5666}"/>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incompatible therapies</a:t>
            </a:r>
          </a:p>
        </p:txBody>
      </p:sp>
      <p:sp>
        <p:nvSpPr>
          <p:cNvPr id="19" name="">
            <a:extLst xmlns:a="http://schemas.openxmlformats.org/drawingml/2006/main">
              <a:ext uri="{FF2B5EF4-FFF2-40B4-BE49-F238E27FC236}">
                <a16:creationId xmlns:a16="http://schemas.microsoft.com/office/drawing/2014/main" id="{0F59F0CC-212A-4336-9CA8-FC750C32D033}"/>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2CCFBC3-9D83-486A-8643-36D39BBD8BF1}"/>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lumens may separate infusions when each lumen is verified and labeled</a:t>
            </a:r>
          </a:p>
        </p:txBody>
      </p:sp>
      <p:sp>
        <p:nvSpPr>
          <p:cNvPr id="21" name="">
            <a:extLst xmlns:a="http://schemas.openxmlformats.org/drawingml/2006/main">
              <a:ext uri="{FF2B5EF4-FFF2-40B4-BE49-F238E27FC236}">
                <a16:creationId xmlns:a16="http://schemas.microsoft.com/office/drawing/2014/main" id="{5AAF859E-2B92-44C1-B77E-E9E01567085F}"/>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BE71B13-71A8-4A2F-A1B7-90DC4FA07A27}"/>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Hemodynamic monitoring or frequent blood sampling</a:t>
            </a:r>
          </a:p>
        </p:txBody>
      </p:sp>
      <p:sp>
        <p:nvSpPr>
          <p:cNvPr id="23" name="">
            <a:extLst xmlns:a="http://schemas.openxmlformats.org/drawingml/2006/main">
              <a:ext uri="{FF2B5EF4-FFF2-40B4-BE49-F238E27FC236}">
                <a16:creationId xmlns:a16="http://schemas.microsoft.com/office/drawing/2014/main" id="{F7619F2E-E320-4FB2-8F0E-49C8AA19FDBF}"/>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E165011-FA24-4793-9928-947D5EE40447}"/>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Requires the correct catheter, confirmed position, competency, and protocol</a:t>
            </a:r>
          </a:p>
        </p:txBody>
      </p:sp>
      <p:sp>
        <p:nvSpPr>
          <p:cNvPr id="25" name="">
            <a:extLst xmlns:a="http://schemas.openxmlformats.org/drawingml/2006/main">
              <a:ext uri="{FF2B5EF4-FFF2-40B4-BE49-F238E27FC236}">
                <a16:creationId xmlns:a16="http://schemas.microsoft.com/office/drawing/2014/main" id="{0CFAA275-E172-46C8-9AC9-20BE7CA26DDD}"/>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EC41ED5-492B-4C86-976C-5FE752F3BF2D}"/>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Parenteral nutrition or selected oncology therapy</a:t>
            </a:r>
          </a:p>
        </p:txBody>
      </p:sp>
      <p:sp>
        <p:nvSpPr>
          <p:cNvPr id="27" name="">
            <a:extLst xmlns:a="http://schemas.openxmlformats.org/drawingml/2006/main">
              <a:ext uri="{FF2B5EF4-FFF2-40B4-BE49-F238E27FC236}">
                <a16:creationId xmlns:a16="http://schemas.microsoft.com/office/drawing/2014/main" id="{674C7C8C-63F8-4C31-BF04-234C68296AEA}"/>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6714F84-0571-4165-BF97-ECE98963384C}"/>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Often requires a dedicated lumen and strict infection prevention</a:t>
            </a:r>
          </a:p>
        </p:txBody>
      </p:sp>
    </p:spTree>
    <p:extLst>
      <p:ext uri="{BB962C8B-B14F-4D97-AF65-F5344CB8AC3E}">
        <p14:creationId xmlns:p14="http://schemas.microsoft.com/office/powerpoint/2010/main" val="845697305"/>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C597985-B630-495F-9EEF-4CDB19BD72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E09C14E-65D8-415E-AB22-12545C5F3A6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assessment before every use</a:t>
            </a:r>
          </a:p>
        </p:txBody>
      </p:sp>
      <p:sp>
        <p:nvSpPr>
          <p:cNvPr id="3" name="">
            <a:extLst xmlns:a="http://schemas.openxmlformats.org/drawingml/2006/main">
              <a:ext uri="{FF2B5EF4-FFF2-40B4-BE49-F238E27FC236}">
                <a16:creationId xmlns:a16="http://schemas.microsoft.com/office/drawing/2014/main" id="{8D10DC48-1348-4C40-A351-793AD9CEC9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8E7CDFA-A381-412D-BC3F-DFC6A4997EC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9ABFC27D-DA38-4031-9749-8DB7DB4A7CED}"/>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6AD0C8B5-9A6B-42FB-A3BA-C18E5AE9A607}"/>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7" name="">
            <a:extLst xmlns:a="http://schemas.openxmlformats.org/drawingml/2006/main">
              <a:ext uri="{FF2B5EF4-FFF2-40B4-BE49-F238E27FC236}">
                <a16:creationId xmlns:a16="http://schemas.microsoft.com/office/drawing/2014/main" id="{68E57E34-EA86-4A13-94B2-AFBC682C30B6}"/>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F1C837B-7313-41A5-B6E1-192BFE198859}"/>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to verify</a:t>
            </a:r>
          </a:p>
        </p:txBody>
      </p:sp>
      <p:sp>
        <p:nvSpPr>
          <p:cNvPr id="9" name="">
            <a:extLst xmlns:a="http://schemas.openxmlformats.org/drawingml/2006/main">
              <a:ext uri="{FF2B5EF4-FFF2-40B4-BE49-F238E27FC236}">
                <a16:creationId xmlns:a16="http://schemas.microsoft.com/office/drawing/2014/main" id="{875B6BE8-7B0C-4FE7-A78A-DFE7B0036A8A}"/>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2A38F32-9D50-410C-96B7-43176BE71359}"/>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1" name="">
            <a:extLst xmlns:a="http://schemas.openxmlformats.org/drawingml/2006/main">
              <a:ext uri="{FF2B5EF4-FFF2-40B4-BE49-F238E27FC236}">
                <a16:creationId xmlns:a16="http://schemas.microsoft.com/office/drawing/2014/main" id="{F5245B61-6E08-4FC0-9300-BD8761DA185A}"/>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E4C1F79-1617-4167-805E-522206A4EBA2}"/>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New pain, dyspnea, fever, chills, swelling, or neurologic change</a:t>
            </a:r>
          </a:p>
        </p:txBody>
      </p:sp>
      <p:sp>
        <p:nvSpPr>
          <p:cNvPr id="13" name="">
            <a:extLst xmlns:a="http://schemas.openxmlformats.org/drawingml/2006/main">
              <a:ext uri="{FF2B5EF4-FFF2-40B4-BE49-F238E27FC236}">
                <a16:creationId xmlns:a16="http://schemas.microsoft.com/office/drawing/2014/main" id="{79B1BF67-07C6-4503-B757-67A6CA82E31D}"/>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0686FE3-622F-478D-AC90-280A9F6C6B1C}"/>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and dressing</a:t>
            </a:r>
          </a:p>
        </p:txBody>
      </p:sp>
      <p:sp>
        <p:nvSpPr>
          <p:cNvPr id="15" name="">
            <a:extLst xmlns:a="http://schemas.openxmlformats.org/drawingml/2006/main">
              <a:ext uri="{FF2B5EF4-FFF2-40B4-BE49-F238E27FC236}">
                <a16:creationId xmlns:a16="http://schemas.microsoft.com/office/drawing/2014/main" id="{FC6FA12D-0DE5-4CD1-A3D4-873691C8B0C1}"/>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12E8324-349F-4E12-BEB9-81048BA62E66}"/>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Redness, tenderness, drainage, bleeding, swelling, moisture, looseness, or disrupted securement</a:t>
            </a:r>
          </a:p>
        </p:txBody>
      </p:sp>
      <p:sp>
        <p:nvSpPr>
          <p:cNvPr id="17" name="">
            <a:extLst xmlns:a="http://schemas.openxmlformats.org/drawingml/2006/main">
              <a:ext uri="{FF2B5EF4-FFF2-40B4-BE49-F238E27FC236}">
                <a16:creationId xmlns:a16="http://schemas.microsoft.com/office/drawing/2014/main" id="{E5E39EC8-4220-4BA1-A1C5-06A3B588AFEB}"/>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CF02749-DD18-4C8D-9736-390BD1C82A1A}"/>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Device</a:t>
            </a:r>
          </a:p>
        </p:txBody>
      </p:sp>
      <p:sp>
        <p:nvSpPr>
          <p:cNvPr id="19" name="">
            <a:extLst xmlns:a="http://schemas.openxmlformats.org/drawingml/2006/main">
              <a:ext uri="{FF2B5EF4-FFF2-40B4-BE49-F238E27FC236}">
                <a16:creationId xmlns:a16="http://schemas.microsoft.com/office/drawing/2014/main" id="{47313AB4-2694-41A2-8656-F80C7692AF6B}"/>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D38B257-7033-424F-A6CA-97CAB14230D7}"/>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Type, lumen, external length or position marker when applicable, clamps, caps, cracks, leaks</a:t>
            </a:r>
          </a:p>
        </p:txBody>
      </p:sp>
      <p:sp>
        <p:nvSpPr>
          <p:cNvPr id="21" name="">
            <a:extLst xmlns:a="http://schemas.openxmlformats.org/drawingml/2006/main">
              <a:ext uri="{FF2B5EF4-FFF2-40B4-BE49-F238E27FC236}">
                <a16:creationId xmlns:a16="http://schemas.microsoft.com/office/drawing/2014/main" id="{B541754E-7180-4BCF-82C4-C427D2C18572}"/>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C75E3A0-BF3D-4591-A2B5-9BFC28FD343C}"/>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Patency</a:t>
            </a:r>
          </a:p>
        </p:txBody>
      </p:sp>
      <p:sp>
        <p:nvSpPr>
          <p:cNvPr id="23" name="">
            <a:extLst xmlns:a="http://schemas.openxmlformats.org/drawingml/2006/main">
              <a:ext uri="{FF2B5EF4-FFF2-40B4-BE49-F238E27FC236}">
                <a16:creationId xmlns:a16="http://schemas.microsoft.com/office/drawing/2014/main" id="{21FB5A6A-A00C-4ECE-A375-C12683C0EC76}"/>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FAF4F35-A429-48F3-839D-2AD8D70AA32A}"/>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Blood return and flushing response when required; never force resistance</a:t>
            </a:r>
          </a:p>
        </p:txBody>
      </p:sp>
      <p:sp>
        <p:nvSpPr>
          <p:cNvPr id="25" name="">
            <a:extLst xmlns:a="http://schemas.openxmlformats.org/drawingml/2006/main">
              <a:ext uri="{FF2B5EF4-FFF2-40B4-BE49-F238E27FC236}">
                <a16:creationId xmlns:a16="http://schemas.microsoft.com/office/drawing/2014/main" id="{70E288DF-92DD-4323-99CB-A225BD0D0007}"/>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85B3F96-C1A3-40DB-9447-18F5E0A1FD27}"/>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Order and compatibility</a:t>
            </a:r>
          </a:p>
        </p:txBody>
      </p:sp>
      <p:sp>
        <p:nvSpPr>
          <p:cNvPr id="27" name="">
            <a:extLst xmlns:a="http://schemas.openxmlformats.org/drawingml/2006/main">
              <a:ext uri="{FF2B5EF4-FFF2-40B4-BE49-F238E27FC236}">
                <a16:creationId xmlns:a16="http://schemas.microsoft.com/office/drawing/2014/main" id="{50BDA26D-05FD-42D7-AE1C-5FFF5BC13203}"/>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8D12167-3E52-4BED-9AEE-ABC35CBFD695}"/>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route, lumen, solution, rate, monitoring, and concurrent infusions</a:t>
            </a:r>
          </a:p>
        </p:txBody>
      </p:sp>
    </p:spTree>
    <p:extLst>
      <p:ext uri="{BB962C8B-B14F-4D97-AF65-F5344CB8AC3E}">
        <p14:creationId xmlns:p14="http://schemas.microsoft.com/office/powerpoint/2010/main" val="1483271714"/>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0A3E08-CCA8-42CF-88CB-8A63CE7A49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3CBF315-7AAF-4527-964E-D1A7376A91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dressing and cap-change principles</a:t>
            </a:r>
          </a:p>
        </p:txBody>
      </p:sp>
      <p:sp>
        <p:nvSpPr>
          <p:cNvPr id="3" name="">
            <a:extLst xmlns:a="http://schemas.openxmlformats.org/drawingml/2006/main">
              <a:ext uri="{FF2B5EF4-FFF2-40B4-BE49-F238E27FC236}">
                <a16:creationId xmlns:a16="http://schemas.microsoft.com/office/drawing/2014/main" id="{868727B2-B9FF-4E57-A8B4-29151CE6148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B819BFE-1A5A-42AD-AF72-8419760A9D0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F2DB2084-246A-42AF-B688-9BBC39F28F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the patient and environment, gather supplies, and explain the need to minimize talking, coughing, and movement near the field.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hand hygiene, required mask and PPE, and sterile technique according to the device and policy.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the site and catheter position before cleansing.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the approved antiseptic with the required friction and drying time, then apply the prescribed securement and dressing.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Disinfect and replace connectors only with the authorized technique. Label and document the procedure and findings.</a:t>
            </a:r>
          </a:p>
        </p:txBody>
      </p:sp>
      <p:sp>
        <p:nvSpPr>
          <p:cNvPr id="6" name="">
            <a:extLst xmlns:a="http://schemas.openxmlformats.org/drawingml/2006/main">
              <a:ext uri="{FF2B5EF4-FFF2-40B4-BE49-F238E27FC236}">
                <a16:creationId xmlns:a16="http://schemas.microsoft.com/office/drawing/2014/main" id="{874D0FDF-9D3F-40B4-8A12-77DAE542D4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06552243"/>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DF125C-C1D7-40EB-8594-1DD25DDCE5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6087496-4286-4E7D-B813-B51E15A5E2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flushing and blood-draw safety</a:t>
            </a:r>
          </a:p>
        </p:txBody>
      </p:sp>
      <p:sp>
        <p:nvSpPr>
          <p:cNvPr id="3" name="">
            <a:extLst xmlns:a="http://schemas.openxmlformats.org/drawingml/2006/main">
              <a:ext uri="{FF2B5EF4-FFF2-40B4-BE49-F238E27FC236}">
                <a16:creationId xmlns:a16="http://schemas.microsoft.com/office/drawing/2014/main" id="{1E884BE7-F09B-4C37-BB0E-A4F4FE929F0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1A8BDE4-9679-44DB-B320-2AB49415E2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E6622BC6-7F99-4C33-B410-4780CF27CC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device type, lumen purpose, order, current manufacturer instructions, and facility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specified syringe size, solution, volume, sequence, and clamp technique. Never copy a generic flush recipe across devices.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for resistance, pain, swelling, leaking, or suspected damage.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blood sampling, pause or manage infusions only as the approved procedure directs, maintain asepsis, label specimens at the bedside, and restore prescribed therapy safely.</a:t>
            </a:r>
          </a:p>
        </p:txBody>
      </p:sp>
      <p:sp>
        <p:nvSpPr>
          <p:cNvPr id="6" name="">
            <a:extLst xmlns:a="http://schemas.openxmlformats.org/drawingml/2006/main">
              <a:ext uri="{FF2B5EF4-FFF2-40B4-BE49-F238E27FC236}">
                <a16:creationId xmlns:a16="http://schemas.microsoft.com/office/drawing/2014/main" id="{1810080E-773C-47C4-82BF-50D6E68CAE7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45333847"/>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FAE3296-6CDC-4CC0-9C0B-6BDDE1C549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B5878CB-8A08-4A3A-90EF-052FA52A10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Hypodermoclysis overview</a:t>
            </a:r>
          </a:p>
        </p:txBody>
      </p:sp>
      <p:sp>
        <p:nvSpPr>
          <p:cNvPr id="3" name="">
            <a:extLst xmlns:a="http://schemas.openxmlformats.org/drawingml/2006/main">
              <a:ext uri="{FF2B5EF4-FFF2-40B4-BE49-F238E27FC236}">
                <a16:creationId xmlns:a16="http://schemas.microsoft.com/office/drawing/2014/main" id="{228A13F7-22EE-431A-BD4B-DE90EBAFD2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02B95E1-4F9B-4B2F-9340-FDF049EA36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00DB1127-9649-478C-8B51-E1751E363CD3}"/>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BD4E1B7-82C0-4CEB-ABC9-D9679429596A}"/>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Feature</a:t>
            </a:r>
          </a:p>
        </p:txBody>
      </p:sp>
      <p:sp>
        <p:nvSpPr>
          <p:cNvPr id="7" name="">
            <a:extLst xmlns:a="http://schemas.openxmlformats.org/drawingml/2006/main">
              <a:ext uri="{FF2B5EF4-FFF2-40B4-BE49-F238E27FC236}">
                <a16:creationId xmlns:a16="http://schemas.microsoft.com/office/drawing/2014/main" id="{27A28F64-401D-4977-98E5-76F918B3D3B7}"/>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B6AF736-E33B-41C9-B090-0F3C5F6DAD67}"/>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Teaching point</a:t>
            </a:r>
          </a:p>
        </p:txBody>
      </p:sp>
      <p:sp>
        <p:nvSpPr>
          <p:cNvPr id="9" name="">
            <a:extLst xmlns:a="http://schemas.openxmlformats.org/drawingml/2006/main">
              <a:ext uri="{FF2B5EF4-FFF2-40B4-BE49-F238E27FC236}">
                <a16:creationId xmlns:a16="http://schemas.microsoft.com/office/drawing/2014/main" id="{E8C646B6-F34D-4CDC-9CF2-BF65BCF87397}"/>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7F30AD0-6327-4249-9475-9481A6BC3226}"/>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Purpose</a:t>
            </a:r>
          </a:p>
        </p:txBody>
      </p:sp>
      <p:sp>
        <p:nvSpPr>
          <p:cNvPr id="11" name="">
            <a:extLst xmlns:a="http://schemas.openxmlformats.org/drawingml/2006/main">
              <a:ext uri="{FF2B5EF4-FFF2-40B4-BE49-F238E27FC236}">
                <a16:creationId xmlns:a16="http://schemas.microsoft.com/office/drawing/2014/main" id="{8265FFE8-2EEC-42B6-A83B-E7326BCADC1B}"/>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C1866F4-A9B0-4052-8BEE-3C8EED92A8DF}"/>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Subcutaneous fluid administration for selected patients with mild to moderate hydration needs</a:t>
            </a:r>
          </a:p>
        </p:txBody>
      </p:sp>
      <p:sp>
        <p:nvSpPr>
          <p:cNvPr id="13" name="">
            <a:extLst xmlns:a="http://schemas.openxmlformats.org/drawingml/2006/main">
              <a:ext uri="{FF2B5EF4-FFF2-40B4-BE49-F238E27FC236}">
                <a16:creationId xmlns:a16="http://schemas.microsoft.com/office/drawing/2014/main" id="{E76226FB-A2F9-4104-8BAD-2D3F2E0745E3}"/>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8DA411C-95BB-4751-AF7D-527BCF420BC9}"/>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Possible settings</a:t>
            </a:r>
          </a:p>
        </p:txBody>
      </p:sp>
      <p:sp>
        <p:nvSpPr>
          <p:cNvPr id="15" name="">
            <a:extLst xmlns:a="http://schemas.openxmlformats.org/drawingml/2006/main">
              <a:ext uri="{FF2B5EF4-FFF2-40B4-BE49-F238E27FC236}">
                <a16:creationId xmlns:a16="http://schemas.microsoft.com/office/drawing/2014/main" id="{B3053CAB-E80D-4F2C-86DB-A8D82B373796}"/>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D3DDDA1-FFB0-452C-8167-8AC2C838AD4B}"/>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Older adult, palliative, long-term, or limited-access care when ordered and supported by policy</a:t>
            </a:r>
          </a:p>
        </p:txBody>
      </p:sp>
      <p:sp>
        <p:nvSpPr>
          <p:cNvPr id="17" name="">
            <a:extLst xmlns:a="http://schemas.openxmlformats.org/drawingml/2006/main">
              <a:ext uri="{FF2B5EF4-FFF2-40B4-BE49-F238E27FC236}">
                <a16:creationId xmlns:a16="http://schemas.microsoft.com/office/drawing/2014/main" id="{4550F683-3867-4FD1-AE77-B115375884AC}"/>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5D78E13-2A06-4715-B846-4CEFD7A2C0FB}"/>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 appropriate</a:t>
            </a:r>
          </a:p>
        </p:txBody>
      </p:sp>
      <p:sp>
        <p:nvSpPr>
          <p:cNvPr id="19" name="">
            <a:extLst xmlns:a="http://schemas.openxmlformats.org/drawingml/2006/main">
              <a:ext uri="{FF2B5EF4-FFF2-40B4-BE49-F238E27FC236}">
                <a16:creationId xmlns:a16="http://schemas.microsoft.com/office/drawing/2014/main" id="{0B297623-D273-45BD-8A97-CF2D87378B82}"/>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5E2CD00-6D9E-401E-B223-55153C51179A}"/>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Shock, severe dehydration, need for rapid large-volume resuscitation, or unsuitable solution</a:t>
            </a:r>
          </a:p>
        </p:txBody>
      </p:sp>
      <p:sp>
        <p:nvSpPr>
          <p:cNvPr id="21" name="">
            <a:extLst xmlns:a="http://schemas.openxmlformats.org/drawingml/2006/main">
              <a:ext uri="{FF2B5EF4-FFF2-40B4-BE49-F238E27FC236}">
                <a16:creationId xmlns:a16="http://schemas.microsoft.com/office/drawing/2014/main" id="{EECBE3AD-9015-4A80-B9A4-1596D8556DE2}"/>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EF09AD3-677E-4960-AF93-73571FD65B8A}"/>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Monitoring</a:t>
            </a:r>
          </a:p>
        </p:txBody>
      </p:sp>
      <p:sp>
        <p:nvSpPr>
          <p:cNvPr id="23" name="">
            <a:extLst xmlns:a="http://schemas.openxmlformats.org/drawingml/2006/main">
              <a:ext uri="{FF2B5EF4-FFF2-40B4-BE49-F238E27FC236}">
                <a16:creationId xmlns:a16="http://schemas.microsoft.com/office/drawing/2014/main" id="{FBEFE51A-5012-4624-8D52-F3633770695A}"/>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85B46AB-0712-4513-AD2E-F7964A8BCD48}"/>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comfort, swelling, leaking, redness, prescribed rate, intake and output, hydration response</a:t>
            </a:r>
          </a:p>
        </p:txBody>
      </p:sp>
      <p:sp>
        <p:nvSpPr>
          <p:cNvPr id="25" name="">
            <a:extLst xmlns:a="http://schemas.openxmlformats.org/drawingml/2006/main">
              <a:ext uri="{FF2B5EF4-FFF2-40B4-BE49-F238E27FC236}">
                <a16:creationId xmlns:a16="http://schemas.microsoft.com/office/drawing/2014/main" id="{DE425108-8F1A-41EB-9B80-134FC41779C0}"/>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F2419D6-6BFF-44D8-8A4D-2E877448A2E2}"/>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Competency</a:t>
            </a:r>
          </a:p>
        </p:txBody>
      </p:sp>
      <p:sp>
        <p:nvSpPr>
          <p:cNvPr id="27" name="">
            <a:extLst xmlns:a="http://schemas.openxmlformats.org/drawingml/2006/main">
              <a:ext uri="{FF2B5EF4-FFF2-40B4-BE49-F238E27FC236}">
                <a16:creationId xmlns:a16="http://schemas.microsoft.com/office/drawing/2014/main" id="{F09EADFE-C88C-4EBF-B81F-5CBBA2A7A395}"/>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914A6A5-5A8C-4B98-BB99-CA736B1F9A6C}"/>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with specific education, an order, appropriate equipment, and facility authorization</a:t>
            </a:r>
          </a:p>
        </p:txBody>
      </p:sp>
    </p:spTree>
    <p:extLst>
      <p:ext uri="{BB962C8B-B14F-4D97-AF65-F5344CB8AC3E}">
        <p14:creationId xmlns:p14="http://schemas.microsoft.com/office/powerpoint/2010/main" val="1974784002"/>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38F14D6-72BC-44AD-AEEF-8F9055742A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C5FFCF8-D613-45C2-9263-860204940B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Arterial lines are monitoring devices</a:t>
            </a:r>
          </a:p>
        </p:txBody>
      </p:sp>
      <p:sp>
        <p:nvSpPr>
          <p:cNvPr id="3" name="">
            <a:extLst xmlns:a="http://schemas.openxmlformats.org/drawingml/2006/main">
              <a:ext uri="{FF2B5EF4-FFF2-40B4-BE49-F238E27FC236}">
                <a16:creationId xmlns:a16="http://schemas.microsoft.com/office/drawing/2014/main" id="{49B84AE3-20D3-4A9C-BB59-D383473729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2A91B1C-A143-4B1D-B163-5DE2A5DDFB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5FB1DDD3-F721-45D8-B1DF-F35468A81550}"/>
              </a:ext>
            </a:extLst>
          </p:cNvPr>
          <p:cNvSpPr>
            <a:spLocks xmlns:a="http://schemas.openxmlformats.org/drawingml/2006/main" noGrp="1"/>
          </p:cNvSpPr>
          <p:nvPr/>
        </p:nvSpPr>
        <p:spPr>
          <a:xfrm xmlns:a="http://schemas.openxmlformats.org/drawingml/2006/main">
            <a:off x="781050"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94665904-C8F2-42C2-B243-6E1C042123C2}"/>
              </a:ext>
            </a:extLst>
          </p:cNvPr>
          <p:cNvSpPr>
            <a:spLocks xmlns:a="http://schemas.openxmlformats.org/drawingml/2006/main" noGrp="1"/>
          </p:cNvSpPr>
          <p:nvPr/>
        </p:nvSpPr>
        <p:spPr>
          <a:xfrm xmlns:a="http://schemas.openxmlformats.org/drawingml/2006/main">
            <a:off x="876300"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Purpose</a:t>
            </a:r>
          </a:p>
        </p:txBody>
      </p:sp>
      <p:sp>
        <p:nvSpPr>
          <p:cNvPr id="7" name="">
            <a:extLst xmlns:a="http://schemas.openxmlformats.org/drawingml/2006/main">
              <a:ext uri="{FF2B5EF4-FFF2-40B4-BE49-F238E27FC236}">
                <a16:creationId xmlns:a16="http://schemas.microsoft.com/office/drawing/2014/main" id="{18DDC74D-D356-4EAB-A066-2E1EC8EA1FE5}"/>
              </a:ext>
            </a:extLst>
          </p:cNvPr>
          <p:cNvSpPr>
            <a:spLocks xmlns:a="http://schemas.openxmlformats.org/drawingml/2006/main" noGrp="1"/>
          </p:cNvSpPr>
          <p:nvPr/>
        </p:nvSpPr>
        <p:spPr>
          <a:xfrm xmlns:a="http://schemas.openxmlformats.org/drawingml/2006/main">
            <a:off x="6067425" y="1695450"/>
            <a:ext cx="5286375"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B332210-14C0-414C-AD7D-47D1F374665A}"/>
              </a:ext>
            </a:extLst>
          </p:cNvPr>
          <p:cNvSpPr>
            <a:spLocks xmlns:a="http://schemas.openxmlformats.org/drawingml/2006/main" noGrp="1"/>
          </p:cNvSpPr>
          <p:nvPr/>
        </p:nvSpPr>
        <p:spPr>
          <a:xfrm xmlns:a="http://schemas.openxmlformats.org/drawingml/2006/main">
            <a:off x="6162675" y="17621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Safety principle</a:t>
            </a:r>
          </a:p>
        </p:txBody>
      </p:sp>
      <p:sp>
        <p:nvSpPr>
          <p:cNvPr id="9" name="">
            <a:extLst xmlns:a="http://schemas.openxmlformats.org/drawingml/2006/main">
              <a:ext uri="{FF2B5EF4-FFF2-40B4-BE49-F238E27FC236}">
                <a16:creationId xmlns:a16="http://schemas.microsoft.com/office/drawing/2014/main" id="{F1BFACE1-7D9A-43B7-99D6-1C85E52C37E2}"/>
              </a:ext>
            </a:extLst>
          </p:cNvPr>
          <p:cNvSpPr>
            <a:spLocks xmlns:a="http://schemas.openxmlformats.org/drawingml/2006/main" noGrp="1"/>
          </p:cNvSpPr>
          <p:nvPr/>
        </p:nvSpPr>
        <p:spPr>
          <a:xfrm xmlns:a="http://schemas.openxmlformats.org/drawingml/2006/main">
            <a:off x="781050"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C67C001-BDD5-4064-981F-A6622A10BA9A}"/>
              </a:ext>
            </a:extLst>
          </p:cNvPr>
          <p:cNvSpPr>
            <a:spLocks xmlns:a="http://schemas.openxmlformats.org/drawingml/2006/main" noGrp="1"/>
          </p:cNvSpPr>
          <p:nvPr/>
        </p:nvSpPr>
        <p:spPr>
          <a:xfrm xmlns:a="http://schemas.openxmlformats.org/drawingml/2006/main">
            <a:off x="876300"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invasive blood-pressure monitoring</a:t>
            </a:r>
          </a:p>
        </p:txBody>
      </p:sp>
      <p:sp>
        <p:nvSpPr>
          <p:cNvPr id="11" name="">
            <a:extLst xmlns:a="http://schemas.openxmlformats.org/drawingml/2006/main">
              <a:ext uri="{FF2B5EF4-FFF2-40B4-BE49-F238E27FC236}">
                <a16:creationId xmlns:a16="http://schemas.microsoft.com/office/drawing/2014/main" id="{BD71DB21-305B-4E65-99BF-F8B056A20649}"/>
              </a:ext>
            </a:extLst>
          </p:cNvPr>
          <p:cNvSpPr>
            <a:spLocks xmlns:a="http://schemas.openxmlformats.org/drawingml/2006/main" noGrp="1"/>
          </p:cNvSpPr>
          <p:nvPr/>
        </p:nvSpPr>
        <p:spPr>
          <a:xfrm xmlns:a="http://schemas.openxmlformats.org/drawingml/2006/main">
            <a:off x="6067425" y="24384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EFC4E52C-CA07-444C-93D9-DE0A09D68625}"/>
              </a:ext>
            </a:extLst>
          </p:cNvPr>
          <p:cNvSpPr>
            <a:spLocks xmlns:a="http://schemas.openxmlformats.org/drawingml/2006/main" noGrp="1"/>
          </p:cNvSpPr>
          <p:nvPr/>
        </p:nvSpPr>
        <p:spPr>
          <a:xfrm xmlns:a="http://schemas.openxmlformats.org/drawingml/2006/main">
            <a:off x="6162675" y="2505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Level and zero the transducer using the approved procedure</a:t>
            </a:r>
          </a:p>
        </p:txBody>
      </p:sp>
      <p:sp>
        <p:nvSpPr>
          <p:cNvPr id="13" name="">
            <a:extLst xmlns:a="http://schemas.openxmlformats.org/drawingml/2006/main">
              <a:ext uri="{FF2B5EF4-FFF2-40B4-BE49-F238E27FC236}">
                <a16:creationId xmlns:a16="http://schemas.microsoft.com/office/drawing/2014/main" id="{8DD43611-BD9B-4B1C-98B3-7ED7FF71F04B}"/>
              </a:ext>
            </a:extLst>
          </p:cNvPr>
          <p:cNvSpPr>
            <a:spLocks xmlns:a="http://schemas.openxmlformats.org/drawingml/2006/main" noGrp="1"/>
          </p:cNvSpPr>
          <p:nvPr/>
        </p:nvSpPr>
        <p:spPr>
          <a:xfrm xmlns:a="http://schemas.openxmlformats.org/drawingml/2006/main">
            <a:off x="781050"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0D0E1AE-4892-4186-BAED-95435FFB03DD}"/>
              </a:ext>
            </a:extLst>
          </p:cNvPr>
          <p:cNvSpPr>
            <a:spLocks xmlns:a="http://schemas.openxmlformats.org/drawingml/2006/main" noGrp="1"/>
          </p:cNvSpPr>
          <p:nvPr/>
        </p:nvSpPr>
        <p:spPr>
          <a:xfrm xmlns:a="http://schemas.openxmlformats.org/drawingml/2006/main">
            <a:off x="876300"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Arterial blood sampling</a:t>
            </a:r>
          </a:p>
        </p:txBody>
      </p:sp>
      <p:sp>
        <p:nvSpPr>
          <p:cNvPr id="15" name="">
            <a:extLst xmlns:a="http://schemas.openxmlformats.org/drawingml/2006/main">
              <a:ext uri="{FF2B5EF4-FFF2-40B4-BE49-F238E27FC236}">
                <a16:creationId xmlns:a16="http://schemas.microsoft.com/office/drawing/2014/main" id="{60FC67F3-2CD2-4339-B0D4-4998A768E6AB}"/>
              </a:ext>
            </a:extLst>
          </p:cNvPr>
          <p:cNvSpPr>
            <a:spLocks xmlns:a="http://schemas.openxmlformats.org/drawingml/2006/main" noGrp="1"/>
          </p:cNvSpPr>
          <p:nvPr/>
        </p:nvSpPr>
        <p:spPr>
          <a:xfrm xmlns:a="http://schemas.openxmlformats.org/drawingml/2006/main">
            <a:off x="6067425" y="31813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873A89A-7750-4C28-A973-8022AE8B1943}"/>
              </a:ext>
            </a:extLst>
          </p:cNvPr>
          <p:cNvSpPr>
            <a:spLocks xmlns:a="http://schemas.openxmlformats.org/drawingml/2006/main" noGrp="1"/>
          </p:cNvSpPr>
          <p:nvPr/>
        </p:nvSpPr>
        <p:spPr>
          <a:xfrm xmlns:a="http://schemas.openxmlformats.org/drawingml/2006/main">
            <a:off x="6162675" y="32480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aseptic technique and the authorized waste or return system</a:t>
            </a:r>
          </a:p>
        </p:txBody>
      </p:sp>
      <p:sp>
        <p:nvSpPr>
          <p:cNvPr id="17" name="">
            <a:extLst xmlns:a="http://schemas.openxmlformats.org/drawingml/2006/main">
              <a:ext uri="{FF2B5EF4-FFF2-40B4-BE49-F238E27FC236}">
                <a16:creationId xmlns:a16="http://schemas.microsoft.com/office/drawing/2014/main" id="{7748A0E3-F1E6-4598-9D88-4029B75C004D}"/>
              </a:ext>
            </a:extLst>
          </p:cNvPr>
          <p:cNvSpPr>
            <a:spLocks xmlns:a="http://schemas.openxmlformats.org/drawingml/2006/main" noGrp="1"/>
          </p:cNvSpPr>
          <p:nvPr/>
        </p:nvSpPr>
        <p:spPr>
          <a:xfrm xmlns:a="http://schemas.openxmlformats.org/drawingml/2006/main">
            <a:off x="781050"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9B867CD-B730-45FB-B70D-4244AAE5A837}"/>
              </a:ext>
            </a:extLst>
          </p:cNvPr>
          <p:cNvSpPr>
            <a:spLocks xmlns:a="http://schemas.openxmlformats.org/drawingml/2006/main" noGrp="1"/>
          </p:cNvSpPr>
          <p:nvPr/>
        </p:nvSpPr>
        <p:spPr>
          <a:xfrm xmlns:a="http://schemas.openxmlformats.org/drawingml/2006/main">
            <a:off x="876300"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 assessment</a:t>
            </a:r>
          </a:p>
        </p:txBody>
      </p:sp>
      <p:sp>
        <p:nvSpPr>
          <p:cNvPr id="19" name="">
            <a:extLst xmlns:a="http://schemas.openxmlformats.org/drawingml/2006/main">
              <a:ext uri="{FF2B5EF4-FFF2-40B4-BE49-F238E27FC236}">
                <a16:creationId xmlns:a16="http://schemas.microsoft.com/office/drawing/2014/main" id="{8868F586-C8EA-498B-8165-B31A8DCF31CB}"/>
              </a:ext>
            </a:extLst>
          </p:cNvPr>
          <p:cNvSpPr>
            <a:spLocks xmlns:a="http://schemas.openxmlformats.org/drawingml/2006/main" noGrp="1"/>
          </p:cNvSpPr>
          <p:nvPr/>
        </p:nvSpPr>
        <p:spPr>
          <a:xfrm xmlns:a="http://schemas.openxmlformats.org/drawingml/2006/main">
            <a:off x="6067425" y="3924300"/>
            <a:ext cx="5286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1238319-E9A3-4A29-AD62-F3EDBAC97EF2}"/>
              </a:ext>
            </a:extLst>
          </p:cNvPr>
          <p:cNvSpPr>
            <a:spLocks xmlns:a="http://schemas.openxmlformats.org/drawingml/2006/main" noGrp="1"/>
          </p:cNvSpPr>
          <p:nvPr/>
        </p:nvSpPr>
        <p:spPr>
          <a:xfrm xmlns:a="http://schemas.openxmlformats.org/drawingml/2006/main">
            <a:off x="6162675" y="3990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distal color, temperature, sensation, movement, capillary refill, waveform, bleeding, and securement</a:t>
            </a:r>
          </a:p>
        </p:txBody>
      </p:sp>
      <p:sp>
        <p:nvSpPr>
          <p:cNvPr id="21" name="">
            <a:extLst xmlns:a="http://schemas.openxmlformats.org/drawingml/2006/main">
              <a:ext uri="{FF2B5EF4-FFF2-40B4-BE49-F238E27FC236}">
                <a16:creationId xmlns:a16="http://schemas.microsoft.com/office/drawing/2014/main" id="{6DF62C42-B28E-4183-A62A-A8B55E152BC6}"/>
              </a:ext>
            </a:extLst>
          </p:cNvPr>
          <p:cNvSpPr>
            <a:spLocks xmlns:a="http://schemas.openxmlformats.org/drawingml/2006/main" noGrp="1"/>
          </p:cNvSpPr>
          <p:nvPr/>
        </p:nvSpPr>
        <p:spPr>
          <a:xfrm xmlns:a="http://schemas.openxmlformats.org/drawingml/2006/main">
            <a:off x="781050"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C424264-5AF1-46E6-97FB-5B18E9CE7C97}"/>
              </a:ext>
            </a:extLst>
          </p:cNvPr>
          <p:cNvSpPr>
            <a:spLocks xmlns:a="http://schemas.openxmlformats.org/drawingml/2006/main" noGrp="1"/>
          </p:cNvSpPr>
          <p:nvPr/>
        </p:nvSpPr>
        <p:spPr>
          <a:xfrm xmlns:a="http://schemas.openxmlformats.org/drawingml/2006/main">
            <a:off x="876300"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Urgent concerns</a:t>
            </a:r>
          </a:p>
        </p:txBody>
      </p:sp>
      <p:sp>
        <p:nvSpPr>
          <p:cNvPr id="23" name="">
            <a:extLst xmlns:a="http://schemas.openxmlformats.org/drawingml/2006/main">
              <a:ext uri="{FF2B5EF4-FFF2-40B4-BE49-F238E27FC236}">
                <a16:creationId xmlns:a16="http://schemas.microsoft.com/office/drawing/2014/main" id="{EE2A5F44-62E5-4341-A137-6ADE30B58B2A}"/>
              </a:ext>
            </a:extLst>
          </p:cNvPr>
          <p:cNvSpPr>
            <a:spLocks xmlns:a="http://schemas.openxmlformats.org/drawingml/2006/main" noGrp="1"/>
          </p:cNvSpPr>
          <p:nvPr/>
        </p:nvSpPr>
        <p:spPr>
          <a:xfrm xmlns:a="http://schemas.openxmlformats.org/drawingml/2006/main">
            <a:off x="6067425" y="4667250"/>
            <a:ext cx="5286375"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73E8C1D-0021-49AA-B414-CF35233C9B2C}"/>
              </a:ext>
            </a:extLst>
          </p:cNvPr>
          <p:cNvSpPr>
            <a:spLocks xmlns:a="http://schemas.openxmlformats.org/drawingml/2006/main" noGrp="1"/>
          </p:cNvSpPr>
          <p:nvPr/>
        </p:nvSpPr>
        <p:spPr>
          <a:xfrm xmlns:a="http://schemas.openxmlformats.org/drawingml/2006/main">
            <a:off x="6162675" y="4733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Report bleeding, loss of waveform, limb ischemia, disconnection, air, or suspected infection immediately</a:t>
            </a:r>
          </a:p>
        </p:txBody>
      </p:sp>
      <p:sp>
        <p:nvSpPr>
          <p:cNvPr id="25" name="">
            <a:extLst xmlns:a="http://schemas.openxmlformats.org/drawingml/2006/main">
              <a:ext uri="{FF2B5EF4-FFF2-40B4-BE49-F238E27FC236}">
                <a16:creationId xmlns:a16="http://schemas.microsoft.com/office/drawing/2014/main" id="{E3EFE35C-667D-48A3-8A83-7CC1FF143ED7}"/>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Never administer routine IV fluids or medications through an arterial line. Only the prescribed pressure system and procedure-specific solutions belong in the circuit.</a:t>
            </a:r>
          </a:p>
        </p:txBody>
      </p:sp>
    </p:spTree>
    <p:extLst>
      <p:ext uri="{BB962C8B-B14F-4D97-AF65-F5344CB8AC3E}">
        <p14:creationId xmlns:p14="http://schemas.microsoft.com/office/powerpoint/2010/main" val="735511859"/>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8076492-EDE5-47D4-A6D3-C71DC63379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A71409C-7912-4600-ABB8-835A417397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Eight-hour in-person skills day</a:t>
            </a:r>
          </a:p>
        </p:txBody>
      </p:sp>
      <p:sp>
        <p:nvSpPr>
          <p:cNvPr id="3" name="">
            <a:extLst xmlns:a="http://schemas.openxmlformats.org/drawingml/2006/main">
              <a:ext uri="{FF2B5EF4-FFF2-40B4-BE49-F238E27FC236}">
                <a16:creationId xmlns:a16="http://schemas.microsoft.com/office/drawing/2014/main" id="{D51C1508-D438-4951-A607-50CC3F64EB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4AED8E3-FACE-4455-B662-C578EE9986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13C53E2D-02DC-4827-ABDC-BC433B1EC579}"/>
              </a:ext>
            </a:extLst>
          </p:cNvPr>
          <p:cNvSpPr>
            <a:spLocks xmlns:a="http://schemas.openxmlformats.org/drawingml/2006/main" noGrp="1"/>
          </p:cNvSpPr>
          <p:nvPr/>
        </p:nvSpPr>
        <p:spPr>
          <a:xfrm xmlns:a="http://schemas.openxmlformats.org/drawingml/2006/main">
            <a:off x="781050"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1F07466-A304-484C-8D12-CE1B9420391F}"/>
              </a:ext>
            </a:extLst>
          </p:cNvPr>
          <p:cNvSpPr>
            <a:spLocks xmlns:a="http://schemas.openxmlformats.org/drawingml/2006/main" noGrp="1"/>
          </p:cNvSpPr>
          <p:nvPr/>
        </p:nvSpPr>
        <p:spPr>
          <a:xfrm xmlns:a="http://schemas.openxmlformats.org/drawingml/2006/main">
            <a:off x="876300"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Time</a:t>
            </a:r>
          </a:p>
        </p:txBody>
      </p:sp>
      <p:sp>
        <p:nvSpPr>
          <p:cNvPr id="7" name="">
            <a:extLst xmlns:a="http://schemas.openxmlformats.org/drawingml/2006/main">
              <a:ext uri="{FF2B5EF4-FFF2-40B4-BE49-F238E27FC236}">
                <a16:creationId xmlns:a16="http://schemas.microsoft.com/office/drawing/2014/main" id="{D9F46685-AD70-43AE-ACF9-F3F5467C4DD8}"/>
              </a:ext>
            </a:extLst>
          </p:cNvPr>
          <p:cNvSpPr>
            <a:spLocks xmlns:a="http://schemas.openxmlformats.org/drawingml/2006/main" noGrp="1"/>
          </p:cNvSpPr>
          <p:nvPr/>
        </p:nvSpPr>
        <p:spPr>
          <a:xfrm xmlns:a="http://schemas.openxmlformats.org/drawingml/2006/main">
            <a:off x="6067425"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D5899AF0-8E39-4F93-98A9-7EDE59DB722A}"/>
              </a:ext>
            </a:extLst>
          </p:cNvPr>
          <p:cNvSpPr>
            <a:spLocks xmlns:a="http://schemas.openxmlformats.org/drawingml/2006/main" noGrp="1"/>
          </p:cNvSpPr>
          <p:nvPr/>
        </p:nvSpPr>
        <p:spPr>
          <a:xfrm xmlns:a="http://schemas.openxmlformats.org/drawingml/2006/main">
            <a:off x="6162675"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9" name="">
            <a:extLst xmlns:a="http://schemas.openxmlformats.org/drawingml/2006/main">
              <a:ext uri="{FF2B5EF4-FFF2-40B4-BE49-F238E27FC236}">
                <a16:creationId xmlns:a16="http://schemas.microsoft.com/office/drawing/2014/main" id="{E52ADFCA-C300-4B50-BB0D-3BC4A6E3C9B4}"/>
              </a:ext>
            </a:extLst>
          </p:cNvPr>
          <p:cNvSpPr>
            <a:spLocks xmlns:a="http://schemas.openxmlformats.org/drawingml/2006/main" noGrp="1"/>
          </p:cNvSpPr>
          <p:nvPr/>
        </p:nvSpPr>
        <p:spPr>
          <a:xfrm xmlns:a="http://schemas.openxmlformats.org/drawingml/2006/main">
            <a:off x="781050"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89FAA6C-CFB8-4881-8A2E-7B813A5076D2}"/>
              </a:ext>
            </a:extLst>
          </p:cNvPr>
          <p:cNvSpPr>
            <a:spLocks xmlns:a="http://schemas.openxmlformats.org/drawingml/2006/main" noGrp="1"/>
          </p:cNvSpPr>
          <p:nvPr/>
        </p:nvSpPr>
        <p:spPr>
          <a:xfrm xmlns:a="http://schemas.openxmlformats.org/drawingml/2006/main">
            <a:off x="876300"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8:00–8:30</a:t>
            </a:r>
          </a:p>
        </p:txBody>
      </p:sp>
      <p:sp>
        <p:nvSpPr>
          <p:cNvPr id="11" name="">
            <a:extLst xmlns:a="http://schemas.openxmlformats.org/drawingml/2006/main">
              <a:ext uri="{FF2B5EF4-FFF2-40B4-BE49-F238E27FC236}">
                <a16:creationId xmlns:a16="http://schemas.microsoft.com/office/drawing/2014/main" id="{F674A054-6383-4A00-BBD1-64572EA5444F}"/>
              </a:ext>
            </a:extLst>
          </p:cNvPr>
          <p:cNvSpPr>
            <a:spLocks xmlns:a="http://schemas.openxmlformats.org/drawingml/2006/main" noGrp="1"/>
          </p:cNvSpPr>
          <p:nvPr/>
        </p:nvSpPr>
        <p:spPr>
          <a:xfrm xmlns:a="http://schemas.openxmlformats.org/drawingml/2006/main">
            <a:off x="6067425"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C14778B-D665-4DA3-84B4-02FC522CD09C}"/>
              </a:ext>
            </a:extLst>
          </p:cNvPr>
          <p:cNvSpPr>
            <a:spLocks xmlns:a="http://schemas.openxmlformats.org/drawingml/2006/main" noGrp="1"/>
          </p:cNvSpPr>
          <p:nvPr/>
        </p:nvSpPr>
        <p:spPr>
          <a:xfrm xmlns:a="http://schemas.openxmlformats.org/drawingml/2006/main">
            <a:off x="6162675"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Safety briefing, objectives, and calculation check</a:t>
            </a:r>
          </a:p>
        </p:txBody>
      </p:sp>
      <p:sp>
        <p:nvSpPr>
          <p:cNvPr id="13" name="">
            <a:extLst xmlns:a="http://schemas.openxmlformats.org/drawingml/2006/main">
              <a:ext uri="{FF2B5EF4-FFF2-40B4-BE49-F238E27FC236}">
                <a16:creationId xmlns:a16="http://schemas.microsoft.com/office/drawing/2014/main" id="{AA9317E8-0364-4CBF-9F2A-9AC2CE5393CD}"/>
              </a:ext>
            </a:extLst>
          </p:cNvPr>
          <p:cNvSpPr>
            <a:spLocks xmlns:a="http://schemas.openxmlformats.org/drawingml/2006/main" noGrp="1"/>
          </p:cNvSpPr>
          <p:nvPr/>
        </p:nvSpPr>
        <p:spPr>
          <a:xfrm xmlns:a="http://schemas.openxmlformats.org/drawingml/2006/main">
            <a:off x="781050"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6E0205D-DF56-494D-A7AC-5CFEF98242D8}"/>
              </a:ext>
            </a:extLst>
          </p:cNvPr>
          <p:cNvSpPr>
            <a:spLocks xmlns:a="http://schemas.openxmlformats.org/drawingml/2006/main" noGrp="1"/>
          </p:cNvSpPr>
          <p:nvPr/>
        </p:nvSpPr>
        <p:spPr>
          <a:xfrm xmlns:a="http://schemas.openxmlformats.org/drawingml/2006/main">
            <a:off x="876300"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8:30–11:00</a:t>
            </a:r>
          </a:p>
        </p:txBody>
      </p:sp>
      <p:sp>
        <p:nvSpPr>
          <p:cNvPr id="15" name="">
            <a:extLst xmlns:a="http://schemas.openxmlformats.org/drawingml/2006/main">
              <a:ext uri="{FF2B5EF4-FFF2-40B4-BE49-F238E27FC236}">
                <a16:creationId xmlns:a16="http://schemas.microsoft.com/office/drawing/2014/main" id="{A3F7F65F-01E3-4855-AA0B-C7D1C2A87550}"/>
              </a:ext>
            </a:extLst>
          </p:cNvPr>
          <p:cNvSpPr>
            <a:spLocks xmlns:a="http://schemas.openxmlformats.org/drawingml/2006/main" noGrp="1"/>
          </p:cNvSpPr>
          <p:nvPr/>
        </p:nvSpPr>
        <p:spPr>
          <a:xfrm xmlns:a="http://schemas.openxmlformats.org/drawingml/2006/main">
            <a:off x="6067425"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BA2F028-9394-4902-B645-4C598CC29283}"/>
              </a:ext>
            </a:extLst>
          </p:cNvPr>
          <p:cNvSpPr>
            <a:spLocks xmlns:a="http://schemas.openxmlformats.org/drawingml/2006/main" noGrp="1"/>
          </p:cNvSpPr>
          <p:nvPr/>
        </p:nvSpPr>
        <p:spPr>
          <a:xfrm xmlns:a="http://schemas.openxmlformats.org/drawingml/2006/main">
            <a:off x="6162675"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 priming, pump, vein selection, and peripheral starts</a:t>
            </a:r>
          </a:p>
        </p:txBody>
      </p:sp>
      <p:sp>
        <p:nvSpPr>
          <p:cNvPr id="17" name="">
            <a:extLst xmlns:a="http://schemas.openxmlformats.org/drawingml/2006/main">
              <a:ext uri="{FF2B5EF4-FFF2-40B4-BE49-F238E27FC236}">
                <a16:creationId xmlns:a16="http://schemas.microsoft.com/office/drawing/2014/main" id="{412E99A4-DAE3-407A-BB44-23EB3305E428}"/>
              </a:ext>
            </a:extLst>
          </p:cNvPr>
          <p:cNvSpPr>
            <a:spLocks xmlns:a="http://schemas.openxmlformats.org/drawingml/2006/main" noGrp="1"/>
          </p:cNvSpPr>
          <p:nvPr/>
        </p:nvSpPr>
        <p:spPr>
          <a:xfrm xmlns:a="http://schemas.openxmlformats.org/drawingml/2006/main">
            <a:off x="781050"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72B29D9-E3B1-489E-A167-11126BA3135D}"/>
              </a:ext>
            </a:extLst>
          </p:cNvPr>
          <p:cNvSpPr>
            <a:spLocks xmlns:a="http://schemas.openxmlformats.org/drawingml/2006/main" noGrp="1"/>
          </p:cNvSpPr>
          <p:nvPr/>
        </p:nvSpPr>
        <p:spPr>
          <a:xfrm xmlns:a="http://schemas.openxmlformats.org/drawingml/2006/main">
            <a:off x="876300"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11:00–12:00</a:t>
            </a:r>
          </a:p>
        </p:txBody>
      </p:sp>
      <p:sp>
        <p:nvSpPr>
          <p:cNvPr id="19" name="">
            <a:extLst xmlns:a="http://schemas.openxmlformats.org/drawingml/2006/main">
              <a:ext uri="{FF2B5EF4-FFF2-40B4-BE49-F238E27FC236}">
                <a16:creationId xmlns:a16="http://schemas.microsoft.com/office/drawing/2014/main" id="{8215D76C-175E-4EE4-A246-9FC58231D258}"/>
              </a:ext>
            </a:extLst>
          </p:cNvPr>
          <p:cNvSpPr>
            <a:spLocks xmlns:a="http://schemas.openxmlformats.org/drawingml/2006/main" noGrp="1"/>
          </p:cNvSpPr>
          <p:nvPr/>
        </p:nvSpPr>
        <p:spPr>
          <a:xfrm xmlns:a="http://schemas.openxmlformats.org/drawingml/2006/main">
            <a:off x="6067425"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05AC768-D715-4A73-98AE-6343C46E6851}"/>
              </a:ext>
            </a:extLst>
          </p:cNvPr>
          <p:cNvSpPr>
            <a:spLocks xmlns:a="http://schemas.openxmlformats.org/drawingml/2006/main" noGrp="1"/>
          </p:cNvSpPr>
          <p:nvPr/>
        </p:nvSpPr>
        <p:spPr>
          <a:xfrm xmlns:a="http://schemas.openxmlformats.org/drawingml/2006/main">
            <a:off x="6162675"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IVPB and saline-lock practice</a:t>
            </a:r>
          </a:p>
        </p:txBody>
      </p:sp>
      <p:sp>
        <p:nvSpPr>
          <p:cNvPr id="21" name="">
            <a:extLst xmlns:a="http://schemas.openxmlformats.org/drawingml/2006/main">
              <a:ext uri="{FF2B5EF4-FFF2-40B4-BE49-F238E27FC236}">
                <a16:creationId xmlns:a16="http://schemas.microsoft.com/office/drawing/2014/main" id="{614AA16E-7E59-44FA-8C9B-482D891351B9}"/>
              </a:ext>
            </a:extLst>
          </p:cNvPr>
          <p:cNvSpPr>
            <a:spLocks xmlns:a="http://schemas.openxmlformats.org/drawingml/2006/main" noGrp="1"/>
          </p:cNvSpPr>
          <p:nvPr/>
        </p:nvSpPr>
        <p:spPr>
          <a:xfrm xmlns:a="http://schemas.openxmlformats.org/drawingml/2006/main">
            <a:off x="781050"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071D1FC-8ED4-4F3B-9478-1CAC64950A78}"/>
              </a:ext>
            </a:extLst>
          </p:cNvPr>
          <p:cNvSpPr>
            <a:spLocks xmlns:a="http://schemas.openxmlformats.org/drawingml/2006/main" noGrp="1"/>
          </p:cNvSpPr>
          <p:nvPr/>
        </p:nvSpPr>
        <p:spPr>
          <a:xfrm xmlns:a="http://schemas.openxmlformats.org/drawingml/2006/main">
            <a:off x="876300"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12:00–12:30</a:t>
            </a:r>
          </a:p>
        </p:txBody>
      </p:sp>
      <p:sp>
        <p:nvSpPr>
          <p:cNvPr id="23" name="">
            <a:extLst xmlns:a="http://schemas.openxmlformats.org/drawingml/2006/main">
              <a:ext uri="{FF2B5EF4-FFF2-40B4-BE49-F238E27FC236}">
                <a16:creationId xmlns:a16="http://schemas.microsoft.com/office/drawing/2014/main" id="{4E145A90-C50D-46BB-B8E4-F2D3728B141B}"/>
              </a:ext>
            </a:extLst>
          </p:cNvPr>
          <p:cNvSpPr>
            <a:spLocks xmlns:a="http://schemas.openxmlformats.org/drawingml/2006/main" noGrp="1"/>
          </p:cNvSpPr>
          <p:nvPr/>
        </p:nvSpPr>
        <p:spPr>
          <a:xfrm xmlns:a="http://schemas.openxmlformats.org/drawingml/2006/main">
            <a:off x="6067425"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787CB2D-A03A-4A38-99BD-6531604006A4}"/>
              </a:ext>
            </a:extLst>
          </p:cNvPr>
          <p:cNvSpPr>
            <a:spLocks xmlns:a="http://schemas.openxmlformats.org/drawingml/2006/main" noGrp="1"/>
          </p:cNvSpPr>
          <p:nvPr/>
        </p:nvSpPr>
        <p:spPr>
          <a:xfrm xmlns:a="http://schemas.openxmlformats.org/drawingml/2006/main">
            <a:off x="6162675"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Meal break</a:t>
            </a:r>
          </a:p>
        </p:txBody>
      </p:sp>
      <p:sp>
        <p:nvSpPr>
          <p:cNvPr id="25" name="">
            <a:extLst xmlns:a="http://schemas.openxmlformats.org/drawingml/2006/main">
              <a:ext uri="{FF2B5EF4-FFF2-40B4-BE49-F238E27FC236}">
                <a16:creationId xmlns:a16="http://schemas.microsoft.com/office/drawing/2014/main" id="{4AC83D55-F009-4D3C-B6D0-5A6E87E13A7C}"/>
              </a:ext>
            </a:extLst>
          </p:cNvPr>
          <p:cNvSpPr>
            <a:spLocks xmlns:a="http://schemas.openxmlformats.org/drawingml/2006/main" noGrp="1"/>
          </p:cNvSpPr>
          <p:nvPr/>
        </p:nvSpPr>
        <p:spPr>
          <a:xfrm xmlns:a="http://schemas.openxmlformats.org/drawingml/2006/main">
            <a:off x="781050"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25F1C10-014B-403F-9407-0BB70A2FA6D2}"/>
              </a:ext>
            </a:extLst>
          </p:cNvPr>
          <p:cNvSpPr>
            <a:spLocks xmlns:a="http://schemas.openxmlformats.org/drawingml/2006/main" noGrp="1"/>
          </p:cNvSpPr>
          <p:nvPr/>
        </p:nvSpPr>
        <p:spPr>
          <a:xfrm xmlns:a="http://schemas.openxmlformats.org/drawingml/2006/main">
            <a:off x="876300"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12:30–1:30</a:t>
            </a:r>
          </a:p>
        </p:txBody>
      </p:sp>
      <p:sp>
        <p:nvSpPr>
          <p:cNvPr id="27" name="">
            <a:extLst xmlns:a="http://schemas.openxmlformats.org/drawingml/2006/main">
              <a:ext uri="{FF2B5EF4-FFF2-40B4-BE49-F238E27FC236}">
                <a16:creationId xmlns:a16="http://schemas.microsoft.com/office/drawing/2014/main" id="{21127F03-359A-47F8-B1DB-C722E94748A1}"/>
              </a:ext>
            </a:extLst>
          </p:cNvPr>
          <p:cNvSpPr>
            <a:spLocks xmlns:a="http://schemas.openxmlformats.org/drawingml/2006/main" noGrp="1"/>
          </p:cNvSpPr>
          <p:nvPr/>
        </p:nvSpPr>
        <p:spPr>
          <a:xfrm xmlns:a="http://schemas.openxmlformats.org/drawingml/2006/main">
            <a:off x="6067425"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C8F36E0A-4B69-405B-A760-88743212F722}"/>
              </a:ext>
            </a:extLst>
          </p:cNvPr>
          <p:cNvSpPr>
            <a:spLocks xmlns:a="http://schemas.openxmlformats.org/drawingml/2006/main" noGrp="1"/>
          </p:cNvSpPr>
          <p:nvPr/>
        </p:nvSpPr>
        <p:spPr>
          <a:xfrm xmlns:a="http://schemas.openxmlformats.org/drawingml/2006/main">
            <a:off x="6162675"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Access-device assessment and dressing simulation</a:t>
            </a:r>
          </a:p>
        </p:txBody>
      </p:sp>
      <p:sp>
        <p:nvSpPr>
          <p:cNvPr id="29" name="">
            <a:extLst xmlns:a="http://schemas.openxmlformats.org/drawingml/2006/main">
              <a:ext uri="{FF2B5EF4-FFF2-40B4-BE49-F238E27FC236}">
                <a16:creationId xmlns:a16="http://schemas.microsoft.com/office/drawing/2014/main" id="{48335432-D5A1-4FD0-80F0-A80BA23944F7}"/>
              </a:ext>
            </a:extLst>
          </p:cNvPr>
          <p:cNvSpPr>
            <a:spLocks xmlns:a="http://schemas.openxmlformats.org/drawingml/2006/main" noGrp="1"/>
          </p:cNvSpPr>
          <p:nvPr/>
        </p:nvSpPr>
        <p:spPr>
          <a:xfrm xmlns:a="http://schemas.openxmlformats.org/drawingml/2006/main">
            <a:off x="781050"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8C6341D2-F83F-40BF-8AE1-59A74F6B0136}"/>
              </a:ext>
            </a:extLst>
          </p:cNvPr>
          <p:cNvSpPr>
            <a:spLocks xmlns:a="http://schemas.openxmlformats.org/drawingml/2006/main" noGrp="1"/>
          </p:cNvSpPr>
          <p:nvPr/>
        </p:nvSpPr>
        <p:spPr>
          <a:xfrm xmlns:a="http://schemas.openxmlformats.org/drawingml/2006/main">
            <a:off x="876300"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1:30–2:30</a:t>
            </a:r>
          </a:p>
        </p:txBody>
      </p:sp>
      <p:sp>
        <p:nvSpPr>
          <p:cNvPr id="31" name="">
            <a:extLst xmlns:a="http://schemas.openxmlformats.org/drawingml/2006/main">
              <a:ext uri="{FF2B5EF4-FFF2-40B4-BE49-F238E27FC236}">
                <a16:creationId xmlns:a16="http://schemas.microsoft.com/office/drawing/2014/main" id="{B9FCB61E-8F0C-4E0B-9685-9A16CF8AC0FA}"/>
              </a:ext>
            </a:extLst>
          </p:cNvPr>
          <p:cNvSpPr>
            <a:spLocks xmlns:a="http://schemas.openxmlformats.org/drawingml/2006/main" noGrp="1"/>
          </p:cNvSpPr>
          <p:nvPr/>
        </p:nvSpPr>
        <p:spPr>
          <a:xfrm xmlns:a="http://schemas.openxmlformats.org/drawingml/2006/main">
            <a:off x="6067425"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DA796ED3-6466-4AE1-91DC-5F2FD47059F1}"/>
              </a:ext>
            </a:extLst>
          </p:cNvPr>
          <p:cNvSpPr>
            <a:spLocks xmlns:a="http://schemas.openxmlformats.org/drawingml/2006/main" noGrp="1"/>
          </p:cNvSpPr>
          <p:nvPr/>
        </p:nvSpPr>
        <p:spPr>
          <a:xfrm xmlns:a="http://schemas.openxmlformats.org/drawingml/2006/main">
            <a:off x="6162675"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Complication scenarios and documentation</a:t>
            </a:r>
          </a:p>
        </p:txBody>
      </p:sp>
      <p:sp>
        <p:nvSpPr>
          <p:cNvPr id="33" name="">
            <a:extLst xmlns:a="http://schemas.openxmlformats.org/drawingml/2006/main">
              <a:ext uri="{FF2B5EF4-FFF2-40B4-BE49-F238E27FC236}">
                <a16:creationId xmlns:a16="http://schemas.microsoft.com/office/drawing/2014/main" id="{1BCB4194-8931-464E-B1F6-F9C12F454CB1}"/>
              </a:ext>
            </a:extLst>
          </p:cNvPr>
          <p:cNvSpPr>
            <a:spLocks xmlns:a="http://schemas.openxmlformats.org/drawingml/2006/main" noGrp="1"/>
          </p:cNvSpPr>
          <p:nvPr/>
        </p:nvSpPr>
        <p:spPr>
          <a:xfrm xmlns:a="http://schemas.openxmlformats.org/drawingml/2006/main">
            <a:off x="781050"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1A95B99F-3465-4BD0-BB24-968153F44FB2}"/>
              </a:ext>
            </a:extLst>
          </p:cNvPr>
          <p:cNvSpPr>
            <a:spLocks xmlns:a="http://schemas.openxmlformats.org/drawingml/2006/main" noGrp="1"/>
          </p:cNvSpPr>
          <p:nvPr/>
        </p:nvSpPr>
        <p:spPr>
          <a:xfrm xmlns:a="http://schemas.openxmlformats.org/drawingml/2006/main">
            <a:off x="876300"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2:30–4:30</a:t>
            </a:r>
          </a:p>
        </p:txBody>
      </p:sp>
      <p:sp>
        <p:nvSpPr>
          <p:cNvPr id="35" name="">
            <a:extLst xmlns:a="http://schemas.openxmlformats.org/drawingml/2006/main">
              <a:ext uri="{FF2B5EF4-FFF2-40B4-BE49-F238E27FC236}">
                <a16:creationId xmlns:a16="http://schemas.microsoft.com/office/drawing/2014/main" id="{CD96462F-1F63-4D69-A94E-5424C3B17AC7}"/>
              </a:ext>
            </a:extLst>
          </p:cNvPr>
          <p:cNvSpPr>
            <a:spLocks xmlns:a="http://schemas.openxmlformats.org/drawingml/2006/main" noGrp="1"/>
          </p:cNvSpPr>
          <p:nvPr/>
        </p:nvSpPr>
        <p:spPr>
          <a:xfrm xmlns:a="http://schemas.openxmlformats.org/drawingml/2006/main">
            <a:off x="6067425"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7D01C122-CCC8-43BA-A902-C7923A0B1D3A}"/>
              </a:ext>
            </a:extLst>
          </p:cNvPr>
          <p:cNvSpPr>
            <a:spLocks xmlns:a="http://schemas.openxmlformats.org/drawingml/2006/main" noGrp="1"/>
          </p:cNvSpPr>
          <p:nvPr/>
        </p:nvSpPr>
        <p:spPr>
          <a:xfrm xmlns:a="http://schemas.openxmlformats.org/drawingml/2006/main">
            <a:off x="6162675"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RN competency checkoffs, remediation, and final evaluation</a:t>
            </a:r>
          </a:p>
        </p:txBody>
      </p:sp>
    </p:spTree>
    <p:extLst>
      <p:ext uri="{BB962C8B-B14F-4D97-AF65-F5344CB8AC3E}">
        <p14:creationId xmlns:p14="http://schemas.microsoft.com/office/powerpoint/2010/main" val="880860373"/>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4C07906-58B7-41CC-8DEB-E0681E8CF8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0BAB624-B5E8-4C4A-9D58-60CED3E59D4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 reference chart</a:t>
            </a:r>
          </a:p>
        </p:txBody>
      </p:sp>
      <p:sp>
        <p:nvSpPr>
          <p:cNvPr id="3" name="">
            <a:extLst xmlns:a="http://schemas.openxmlformats.org/drawingml/2006/main">
              <a:ext uri="{FF2B5EF4-FFF2-40B4-BE49-F238E27FC236}">
                <a16:creationId xmlns:a16="http://schemas.microsoft.com/office/drawing/2014/main" id="{E9AB1A6A-D656-4F29-A8A1-7C98FE4A38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02CFF57-66E9-46C1-A893-F276673510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FE2E7AB7-0952-4F62-A946-D0A36A284009}"/>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60F3DB69-1843-47EF-9D65-DB0F30A90BDF}"/>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Task</a:t>
            </a:r>
          </a:p>
        </p:txBody>
      </p:sp>
      <p:sp>
        <p:nvSpPr>
          <p:cNvPr id="7" name="">
            <a:extLst xmlns:a="http://schemas.openxmlformats.org/drawingml/2006/main">
              <a:ext uri="{FF2B5EF4-FFF2-40B4-BE49-F238E27FC236}">
                <a16:creationId xmlns:a16="http://schemas.microsoft.com/office/drawing/2014/main" id="{4E3FAF7C-5B09-4E60-B5F5-729692DBEA93}"/>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D1B8F46-C6F6-43D7-85CC-B0FF1820E1F0}"/>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Formula or relationship</a:t>
            </a:r>
          </a:p>
        </p:txBody>
      </p:sp>
      <p:sp>
        <p:nvSpPr>
          <p:cNvPr id="9" name="">
            <a:extLst xmlns:a="http://schemas.openxmlformats.org/drawingml/2006/main">
              <a:ext uri="{FF2B5EF4-FFF2-40B4-BE49-F238E27FC236}">
                <a16:creationId xmlns:a16="http://schemas.microsoft.com/office/drawing/2014/main" id="{076F4457-CF8B-4624-9309-C08E3812FFF8}"/>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1D6BD34-0344-42E0-992F-43658694CA49}"/>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rate</a:t>
            </a:r>
          </a:p>
        </p:txBody>
      </p:sp>
      <p:sp>
        <p:nvSpPr>
          <p:cNvPr id="11" name="">
            <a:extLst xmlns:a="http://schemas.openxmlformats.org/drawingml/2006/main">
              <a:ext uri="{FF2B5EF4-FFF2-40B4-BE49-F238E27FC236}">
                <a16:creationId xmlns:a16="http://schemas.microsoft.com/office/drawing/2014/main" id="{B1E6464F-4FF6-4936-821E-FB8C37AEC01F}"/>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5657C39-B1B0-4018-8023-65DD4BA310EB}"/>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mL/hr = volume (mL) ÷ time (hr)</a:t>
            </a:r>
          </a:p>
        </p:txBody>
      </p:sp>
      <p:sp>
        <p:nvSpPr>
          <p:cNvPr id="13" name="">
            <a:extLst xmlns:a="http://schemas.openxmlformats.org/drawingml/2006/main">
              <a:ext uri="{FF2B5EF4-FFF2-40B4-BE49-F238E27FC236}">
                <a16:creationId xmlns:a16="http://schemas.microsoft.com/office/drawing/2014/main" id="{83B0EA15-E67A-433B-B5CF-1BFE71063065}"/>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D6AE2A1-7EFD-4311-BA41-AB8107EBDF17}"/>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rate</a:t>
            </a:r>
          </a:p>
        </p:txBody>
      </p:sp>
      <p:sp>
        <p:nvSpPr>
          <p:cNvPr id="15" name="">
            <a:extLst xmlns:a="http://schemas.openxmlformats.org/drawingml/2006/main">
              <a:ext uri="{FF2B5EF4-FFF2-40B4-BE49-F238E27FC236}">
                <a16:creationId xmlns:a16="http://schemas.microsoft.com/office/drawing/2014/main" id="{2E1D90FA-EA0B-406B-B79A-924702442A4A}"/>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064CC94-BC0E-4ABB-A4C6-9C6592F8E9B3}"/>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gtt/min = volume × drop factor ÷ time (min)</a:t>
            </a:r>
          </a:p>
        </p:txBody>
      </p:sp>
      <p:sp>
        <p:nvSpPr>
          <p:cNvPr id="17" name="">
            <a:extLst xmlns:a="http://schemas.openxmlformats.org/drawingml/2006/main">
              <a:ext uri="{FF2B5EF4-FFF2-40B4-BE49-F238E27FC236}">
                <a16:creationId xmlns:a16="http://schemas.microsoft.com/office/drawing/2014/main" id="{2304D6BD-C727-4967-A67C-24C049F916C5}"/>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847A81F-5848-4AEF-B077-9BAA18FF345B}"/>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9" name="">
            <a:extLst xmlns:a="http://schemas.openxmlformats.org/drawingml/2006/main">
              <a:ext uri="{FF2B5EF4-FFF2-40B4-BE49-F238E27FC236}">
                <a16:creationId xmlns:a16="http://schemas.microsoft.com/office/drawing/2014/main" id="{45D0E65E-3A2A-435E-AAB7-141457D2EADC}"/>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C237395-A2CC-44CF-8C6D-290BFEF7EBFE}"/>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21" name="">
            <a:extLst xmlns:a="http://schemas.openxmlformats.org/drawingml/2006/main">
              <a:ext uri="{FF2B5EF4-FFF2-40B4-BE49-F238E27FC236}">
                <a16:creationId xmlns:a16="http://schemas.microsoft.com/office/drawing/2014/main" id="{FA8926E3-D463-4C51-9524-DF5DD27C3078}"/>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FD44952-8084-4133-BBCF-FF82D2E0CF75}"/>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23" name="">
            <a:extLst xmlns:a="http://schemas.openxmlformats.org/drawingml/2006/main">
              <a:ext uri="{FF2B5EF4-FFF2-40B4-BE49-F238E27FC236}">
                <a16:creationId xmlns:a16="http://schemas.microsoft.com/office/drawing/2014/main" id="{37DC049D-7F38-4DCB-A0D2-66FFD05879FC}"/>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B629557-414B-474B-BB64-BC8702F491AE}"/>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 1 mg = 1,000 mcg</a:t>
            </a:r>
          </a:p>
        </p:txBody>
      </p:sp>
      <p:sp>
        <p:nvSpPr>
          <p:cNvPr id="25" name="">
            <a:extLst xmlns:a="http://schemas.openxmlformats.org/drawingml/2006/main">
              <a:ext uri="{FF2B5EF4-FFF2-40B4-BE49-F238E27FC236}">
                <a16:creationId xmlns:a16="http://schemas.microsoft.com/office/drawing/2014/main" id="{C663484F-2EF9-4C5A-9E94-3774A0DE1376}"/>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3782E91-7D87-4E68-B873-0703D7714052}"/>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27" name="">
            <a:extLst xmlns:a="http://schemas.openxmlformats.org/drawingml/2006/main">
              <a:ext uri="{FF2B5EF4-FFF2-40B4-BE49-F238E27FC236}">
                <a16:creationId xmlns:a16="http://schemas.microsoft.com/office/drawing/2014/main" id="{0E4CC964-30DA-46E5-95DC-53D6252D4861}"/>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294EDB0-4F57-4138-B6BD-F7EF60E4BF2A}"/>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kg = lb ÷ 2.2</a:t>
            </a:r>
          </a:p>
        </p:txBody>
      </p:sp>
      <p:sp>
        <p:nvSpPr>
          <p:cNvPr id="29" name="">
            <a:extLst xmlns:a="http://schemas.openxmlformats.org/drawingml/2006/main">
              <a:ext uri="{FF2B5EF4-FFF2-40B4-BE49-F238E27FC236}">
                <a16:creationId xmlns:a16="http://schemas.microsoft.com/office/drawing/2014/main" id="{AFFE3F42-A34C-435A-88B7-7CB343AB06DA}"/>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Legacy apothecary values are not used from the OCR source. Clarify any order written with an unfamiliar or ambiguous unit.</a:t>
            </a:r>
          </a:p>
        </p:txBody>
      </p:sp>
    </p:spTree>
    <p:extLst>
      <p:ext uri="{BB962C8B-B14F-4D97-AF65-F5344CB8AC3E}">
        <p14:creationId xmlns:p14="http://schemas.microsoft.com/office/powerpoint/2010/main" val="808370014"/>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79FD16-A9B1-4263-A537-3B617C5CA4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6D819D-CFF7-47E5-AE7A-F6D03EAC7A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peripheral IV start</a:t>
            </a:r>
          </a:p>
        </p:txBody>
      </p:sp>
      <p:sp>
        <p:nvSpPr>
          <p:cNvPr id="3" name="">
            <a:extLst xmlns:a="http://schemas.openxmlformats.org/drawingml/2006/main">
              <a:ext uri="{FF2B5EF4-FFF2-40B4-BE49-F238E27FC236}">
                <a16:creationId xmlns:a16="http://schemas.microsoft.com/office/drawing/2014/main" id="{5D94501D-A1A1-4720-812E-61E4067115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5278C2F-DB32-483E-9F6F-0DA78FE7AC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7CBD2F80-E403-4C22-A4C8-CA0E26CA98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order and patient; assess therapy and site; explain the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Maintain asepsis and allow antiseptic to dry.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Insert safely, activate sharps protection, connect without contamination, and assess patency.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Secure, dress, label, start therapy, reassess, teach, and document.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missed critical safety step requires remediation and repeat demonstration.</a:t>
            </a:r>
          </a:p>
        </p:txBody>
      </p:sp>
      <p:sp>
        <p:nvSpPr>
          <p:cNvPr id="6" name="">
            <a:extLst xmlns:a="http://schemas.openxmlformats.org/drawingml/2006/main">
              <a:ext uri="{FF2B5EF4-FFF2-40B4-BE49-F238E27FC236}">
                <a16:creationId xmlns:a16="http://schemas.microsoft.com/office/drawing/2014/main" id="{0D72CBB8-E137-44C5-B0B1-55573669FD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26286583"/>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88C4509-ED13-4DFE-9103-4A128C3DD2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3BCB26-56DC-454D-A677-6CC72898FA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Competency begins with clinical decisions</a:t>
            </a:r>
          </a:p>
        </p:txBody>
      </p:sp>
      <p:sp>
        <p:nvSpPr>
          <p:cNvPr id="3" name="">
            <a:extLst xmlns:a="http://schemas.openxmlformats.org/drawingml/2006/main">
              <a:ext uri="{FF2B5EF4-FFF2-40B4-BE49-F238E27FC236}">
                <a16:creationId xmlns:a16="http://schemas.microsoft.com/office/drawing/2014/main" id="{8596B9D6-FBFF-4813-82AD-8848BDF6F44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E296303-86D5-462E-B468-89EFF3770F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E1D25E4A-CD33-4AFB-B23C-42D5458873A1}"/>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735A4BA2-6C83-4F0F-9105-E29F39185784}"/>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Decision</a:t>
            </a:r>
          </a:p>
        </p:txBody>
      </p:sp>
      <p:sp>
        <p:nvSpPr>
          <p:cNvPr id="7" name="">
            <a:extLst xmlns:a="http://schemas.openxmlformats.org/drawingml/2006/main">
              <a:ext uri="{FF2B5EF4-FFF2-40B4-BE49-F238E27FC236}">
                <a16:creationId xmlns:a16="http://schemas.microsoft.com/office/drawing/2014/main" id="{C8D6DADE-7DD3-466D-AC45-FAE6A3F6A6B8}"/>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8F0085B-07E6-4754-A238-6A626225DBDE}"/>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must explain</a:t>
            </a:r>
          </a:p>
        </p:txBody>
      </p:sp>
      <p:sp>
        <p:nvSpPr>
          <p:cNvPr id="9" name="">
            <a:extLst xmlns:a="http://schemas.openxmlformats.org/drawingml/2006/main">
              <a:ext uri="{FF2B5EF4-FFF2-40B4-BE49-F238E27FC236}">
                <a16:creationId xmlns:a16="http://schemas.microsoft.com/office/drawing/2014/main" id="{10B8D8C8-512B-4922-AEF6-8B9965549658}"/>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CAED476-8AE9-4345-8921-99A4C1350F15}"/>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Purpose</a:t>
            </a:r>
          </a:p>
        </p:txBody>
      </p:sp>
      <p:sp>
        <p:nvSpPr>
          <p:cNvPr id="11" name="">
            <a:extLst xmlns:a="http://schemas.openxmlformats.org/drawingml/2006/main">
              <a:ext uri="{FF2B5EF4-FFF2-40B4-BE49-F238E27FC236}">
                <a16:creationId xmlns:a16="http://schemas.microsoft.com/office/drawing/2014/main" id="{4EA8619B-2C00-4C6D-AD71-0A37D290B85A}"/>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91B8F01-B707-4CEF-BF90-4100E382E53A}"/>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 intended outcome of the prescribed therapy</a:t>
            </a:r>
          </a:p>
        </p:txBody>
      </p:sp>
      <p:sp>
        <p:nvSpPr>
          <p:cNvPr id="13" name="">
            <a:extLst xmlns:a="http://schemas.openxmlformats.org/drawingml/2006/main">
              <a:ext uri="{FF2B5EF4-FFF2-40B4-BE49-F238E27FC236}">
                <a16:creationId xmlns:a16="http://schemas.microsoft.com/office/drawing/2014/main" id="{68D2129C-F803-45B1-99FF-A1E438029672}"/>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0F6DE95C-A92B-4CF7-9653-D49CF0D12D15}"/>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 assessment</a:t>
            </a:r>
          </a:p>
        </p:txBody>
      </p:sp>
      <p:sp>
        <p:nvSpPr>
          <p:cNvPr id="15" name="">
            <a:extLst xmlns:a="http://schemas.openxmlformats.org/drawingml/2006/main">
              <a:ext uri="{FF2B5EF4-FFF2-40B4-BE49-F238E27FC236}">
                <a16:creationId xmlns:a16="http://schemas.microsoft.com/office/drawing/2014/main" id="{A1B9DB11-9EF1-4933-9C93-FDC1A2A008B1}"/>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4367A75-3C41-407A-891F-1B57BE03CF9B}"/>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Physical condition, allergies, previous infusion experience, education, and consent</a:t>
            </a:r>
          </a:p>
        </p:txBody>
      </p:sp>
      <p:sp>
        <p:nvSpPr>
          <p:cNvPr id="17" name="">
            <a:extLst xmlns:a="http://schemas.openxmlformats.org/drawingml/2006/main">
              <a:ext uri="{FF2B5EF4-FFF2-40B4-BE49-F238E27FC236}">
                <a16:creationId xmlns:a16="http://schemas.microsoft.com/office/drawing/2014/main" id="{53179A64-825C-490D-BB9D-1A040AC787F9}"/>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E18F0E5-0BD1-45BD-88E9-B593E4B73C21}"/>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a:t>
            </a:r>
          </a:p>
        </p:txBody>
      </p:sp>
      <p:sp>
        <p:nvSpPr>
          <p:cNvPr id="19" name="">
            <a:extLst xmlns:a="http://schemas.openxmlformats.org/drawingml/2006/main">
              <a:ext uri="{FF2B5EF4-FFF2-40B4-BE49-F238E27FC236}">
                <a16:creationId xmlns:a16="http://schemas.microsoft.com/office/drawing/2014/main" id="{AB50FB09-F3D5-4833-8CCF-7B95DB05692F}"/>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BF395F5-9EDA-4C0A-9C29-6B307CE3F288}"/>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age, condition, therapy, vein quality, activity, and expected dwell affect selection</a:t>
            </a:r>
          </a:p>
        </p:txBody>
      </p:sp>
      <p:sp>
        <p:nvSpPr>
          <p:cNvPr id="21" name="">
            <a:extLst xmlns:a="http://schemas.openxmlformats.org/drawingml/2006/main">
              <a:ext uri="{FF2B5EF4-FFF2-40B4-BE49-F238E27FC236}">
                <a16:creationId xmlns:a16="http://schemas.microsoft.com/office/drawing/2014/main" id="{BAAB983E-E6BF-4205-B69F-2113851193BD}"/>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0995B6D-D49B-4D3E-9DC7-9B2B13C44731}"/>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a:t>
            </a:r>
          </a:p>
        </p:txBody>
      </p:sp>
      <p:sp>
        <p:nvSpPr>
          <p:cNvPr id="23" name="">
            <a:extLst xmlns:a="http://schemas.openxmlformats.org/drawingml/2006/main">
              <a:ext uri="{FF2B5EF4-FFF2-40B4-BE49-F238E27FC236}">
                <a16:creationId xmlns:a16="http://schemas.microsoft.com/office/drawing/2014/main" id="{8679D78D-E056-4C19-8CD8-6D00A4CD866F}"/>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275023E-8B22-4CBB-A8B1-848CCB6D39AF}"/>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Why the catheter, extension, tubing, dressing, and pump fit this patient and therapy</a:t>
            </a:r>
          </a:p>
        </p:txBody>
      </p:sp>
    </p:spTree>
    <p:extLst>
      <p:ext uri="{BB962C8B-B14F-4D97-AF65-F5344CB8AC3E}">
        <p14:creationId xmlns:p14="http://schemas.microsoft.com/office/powerpoint/2010/main" val="1759925567"/>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873BED4-941F-4A3E-9AC8-822F0CA703D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27D044B-98BB-4165-9EA5-B86C20CF523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Know the central-access device before using it</a:t>
            </a:r>
          </a:p>
        </p:txBody>
      </p:sp>
      <p:sp>
        <p:nvSpPr>
          <p:cNvPr id="3" name="">
            <a:extLst xmlns:a="http://schemas.openxmlformats.org/drawingml/2006/main">
              <a:ext uri="{FF2B5EF4-FFF2-40B4-BE49-F238E27FC236}">
                <a16:creationId xmlns:a16="http://schemas.microsoft.com/office/drawing/2014/main" id="{F32090BF-2BE3-433A-AA01-1BDE7F0D533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9D819A0-C2EA-43DD-BB6C-5A9FFBBBD8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CC182E9B-6BA6-4049-9AA2-5EF6100603AF}"/>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DA904AB6-016E-4646-9E86-849022688C1B}"/>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Device</a:t>
            </a:r>
          </a:p>
        </p:txBody>
      </p:sp>
      <p:sp>
        <p:nvSpPr>
          <p:cNvPr id="7" name="">
            <a:extLst xmlns:a="http://schemas.openxmlformats.org/drawingml/2006/main">
              <a:ext uri="{FF2B5EF4-FFF2-40B4-BE49-F238E27FC236}">
                <a16:creationId xmlns:a16="http://schemas.microsoft.com/office/drawing/2014/main" id="{A8F3E9B6-B2CC-4DB8-9F53-E7E6FCF48E5F}"/>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1F305EE-7654-4C40-B00F-14F5B2112E6A}"/>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Where the tip terminates</a:t>
            </a:r>
          </a:p>
        </p:txBody>
      </p:sp>
      <p:sp>
        <p:nvSpPr>
          <p:cNvPr id="9" name="">
            <a:extLst xmlns:a="http://schemas.openxmlformats.org/drawingml/2006/main">
              <a:ext uri="{FF2B5EF4-FFF2-40B4-BE49-F238E27FC236}">
                <a16:creationId xmlns:a16="http://schemas.microsoft.com/office/drawing/2014/main" id="{9F16A5EF-A160-48E4-882B-A6B1407368E0}"/>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8BC49B5-5D32-4285-AC1B-863E53B7890D}"/>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learning point</a:t>
            </a:r>
          </a:p>
        </p:txBody>
      </p:sp>
      <p:sp>
        <p:nvSpPr>
          <p:cNvPr id="11" name="">
            <a:extLst xmlns:a="http://schemas.openxmlformats.org/drawingml/2006/main">
              <a:ext uri="{FF2B5EF4-FFF2-40B4-BE49-F238E27FC236}">
                <a16:creationId xmlns:a16="http://schemas.microsoft.com/office/drawing/2014/main" id="{308523C1-A080-43E6-B884-59F5BFA90DEB}"/>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90E4964-8858-4701-9B65-36E77F14E4BD}"/>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Midline</a:t>
            </a:r>
          </a:p>
        </p:txBody>
      </p:sp>
      <p:sp>
        <p:nvSpPr>
          <p:cNvPr id="13" name="">
            <a:extLst xmlns:a="http://schemas.openxmlformats.org/drawingml/2006/main">
              <a:ext uri="{FF2B5EF4-FFF2-40B4-BE49-F238E27FC236}">
                <a16:creationId xmlns:a16="http://schemas.microsoft.com/office/drawing/2014/main" id="{A6F65231-51CE-4CFC-818F-D145BCD55AFC}"/>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4D5A9C1D-8419-4E58-AFD0-86D54E8A61F2}"/>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Peripheral vasculature below the axilla</a:t>
            </a:r>
          </a:p>
        </p:txBody>
      </p:sp>
      <p:sp>
        <p:nvSpPr>
          <p:cNvPr id="15" name="">
            <a:extLst xmlns:a="http://schemas.openxmlformats.org/drawingml/2006/main">
              <a:ext uri="{FF2B5EF4-FFF2-40B4-BE49-F238E27FC236}">
                <a16:creationId xmlns:a16="http://schemas.microsoft.com/office/drawing/2014/main" id="{BD961768-5271-4FE5-9159-91D94A6F2C19}"/>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08AEC65-C301-4EB2-A59D-F2D522D2D552}"/>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 a central line; confirm that the prescribed therapy is peripherally appropriate</a:t>
            </a:r>
          </a:p>
        </p:txBody>
      </p:sp>
      <p:sp>
        <p:nvSpPr>
          <p:cNvPr id="17" name="">
            <a:extLst xmlns:a="http://schemas.openxmlformats.org/drawingml/2006/main">
              <a:ext uri="{FF2B5EF4-FFF2-40B4-BE49-F238E27FC236}">
                <a16:creationId xmlns:a16="http://schemas.microsoft.com/office/drawing/2014/main" id="{519CAF21-FB01-4AC8-9A27-7ADF24F1F13B}"/>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399B41A-FC81-47F6-88E9-B33DA470F0D8}"/>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PICC</a:t>
            </a:r>
          </a:p>
        </p:txBody>
      </p:sp>
      <p:sp>
        <p:nvSpPr>
          <p:cNvPr id="19" name="">
            <a:extLst xmlns:a="http://schemas.openxmlformats.org/drawingml/2006/main">
              <a:ext uri="{FF2B5EF4-FFF2-40B4-BE49-F238E27FC236}">
                <a16:creationId xmlns:a16="http://schemas.microsoft.com/office/drawing/2014/main" id="{E9A06128-7C6D-426A-9A20-6D62AA093A53}"/>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99996D6-6395-43E9-B07F-762F25AAA39C}"/>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 after peripheral insertion</a:t>
            </a:r>
          </a:p>
        </p:txBody>
      </p:sp>
      <p:sp>
        <p:nvSpPr>
          <p:cNvPr id="21" name="">
            <a:extLst xmlns:a="http://schemas.openxmlformats.org/drawingml/2006/main">
              <a:ext uri="{FF2B5EF4-FFF2-40B4-BE49-F238E27FC236}">
                <a16:creationId xmlns:a16="http://schemas.microsoft.com/office/drawing/2014/main" id="{F0AB649C-6D07-45F9-9ECC-CE7371F28B06}"/>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7EECD79-B8D9-40EF-9A7F-FA076718AA22}"/>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tip-use clearance, lumen purpose, patency, and dressing condition</a:t>
            </a:r>
          </a:p>
        </p:txBody>
      </p:sp>
      <p:sp>
        <p:nvSpPr>
          <p:cNvPr id="23" name="">
            <a:extLst xmlns:a="http://schemas.openxmlformats.org/drawingml/2006/main">
              <a:ext uri="{FF2B5EF4-FFF2-40B4-BE49-F238E27FC236}">
                <a16:creationId xmlns:a16="http://schemas.microsoft.com/office/drawing/2014/main" id="{1E9F1F2E-4C41-4B55-B38D-F75462645721}"/>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25D7687-678D-4262-B102-4F26C608BAD7}"/>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Nontunneled or tunneled CVC</a:t>
            </a:r>
          </a:p>
        </p:txBody>
      </p:sp>
      <p:sp>
        <p:nvSpPr>
          <p:cNvPr id="25" name="">
            <a:extLst xmlns:a="http://schemas.openxmlformats.org/drawingml/2006/main">
              <a:ext uri="{FF2B5EF4-FFF2-40B4-BE49-F238E27FC236}">
                <a16:creationId xmlns:a16="http://schemas.microsoft.com/office/drawing/2014/main" id="{E30E2C10-6D66-4790-A7A5-C13B333FABFC}"/>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6AD4AF7-551C-4BE1-B76A-01BEBB7BF540}"/>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a:t>
            </a:r>
          </a:p>
        </p:txBody>
      </p:sp>
      <p:sp>
        <p:nvSpPr>
          <p:cNvPr id="27" name="">
            <a:extLst xmlns:a="http://schemas.openxmlformats.org/drawingml/2006/main">
              <a:ext uri="{FF2B5EF4-FFF2-40B4-BE49-F238E27FC236}">
                <a16:creationId xmlns:a16="http://schemas.microsoft.com/office/drawing/2014/main" id="{280FAD1E-7F2E-4CB2-A10C-D2ADC8910CBA}"/>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397E9FE-10EE-4D51-A101-10D97DA64BCD}"/>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strict asepsis and inspect the exit site, connections, and lumens</a:t>
            </a:r>
          </a:p>
        </p:txBody>
      </p:sp>
      <p:sp>
        <p:nvSpPr>
          <p:cNvPr id="29" name="">
            <a:extLst xmlns:a="http://schemas.openxmlformats.org/drawingml/2006/main">
              <a:ext uri="{FF2B5EF4-FFF2-40B4-BE49-F238E27FC236}">
                <a16:creationId xmlns:a16="http://schemas.microsoft.com/office/drawing/2014/main" id="{58961C74-1FF1-41B8-9AE9-E96BD36E1CA7}"/>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1F40DC9-532F-4BB3-A118-BD7C5AF5D051}"/>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Implanted port</a:t>
            </a:r>
          </a:p>
        </p:txBody>
      </p:sp>
      <p:sp>
        <p:nvSpPr>
          <p:cNvPr id="31" name="">
            <a:extLst xmlns:a="http://schemas.openxmlformats.org/drawingml/2006/main">
              <a:ext uri="{FF2B5EF4-FFF2-40B4-BE49-F238E27FC236}">
                <a16:creationId xmlns:a16="http://schemas.microsoft.com/office/drawing/2014/main" id="{F43B135C-2079-4438-AF04-9EF55DB0BE1A}"/>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3EE747EA-3567-45EA-88A5-68ADF22F07AF}"/>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 through a subcutaneous reservoir</a:t>
            </a:r>
          </a:p>
        </p:txBody>
      </p:sp>
      <p:sp>
        <p:nvSpPr>
          <p:cNvPr id="33" name="">
            <a:extLst xmlns:a="http://schemas.openxmlformats.org/drawingml/2006/main">
              <a:ext uri="{FF2B5EF4-FFF2-40B4-BE49-F238E27FC236}">
                <a16:creationId xmlns:a16="http://schemas.microsoft.com/office/drawing/2014/main" id="{4B838644-ABBC-4076-90F8-547B28DF1CA0}"/>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BE7599F4-CA73-4B2D-92C3-D02483299095}"/>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 only with the correct noncoring needle and validated competency</a:t>
            </a:r>
          </a:p>
        </p:txBody>
      </p:sp>
    </p:spTree>
    <p:extLst>
      <p:ext uri="{BB962C8B-B14F-4D97-AF65-F5344CB8AC3E}">
        <p14:creationId xmlns:p14="http://schemas.microsoft.com/office/powerpoint/2010/main" val="512792861"/>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09AFA6E-1406-4534-8E3E-A2796B0F31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0B2B90-A5F5-404A-8CAB-173739D019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findings that require immediate escalation</a:t>
            </a:r>
          </a:p>
        </p:txBody>
      </p:sp>
      <p:sp>
        <p:nvSpPr>
          <p:cNvPr id="3" name="">
            <a:extLst xmlns:a="http://schemas.openxmlformats.org/drawingml/2006/main">
              <a:ext uri="{FF2B5EF4-FFF2-40B4-BE49-F238E27FC236}">
                <a16:creationId xmlns:a16="http://schemas.microsoft.com/office/drawing/2014/main" id="{1112A3B9-B59D-408C-8C00-2D49185A8C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55EE841-F942-4423-96E9-0788AFC65A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75B17D4C-6BF5-4F69-938D-53E149B8FE59}"/>
              </a:ext>
            </a:extLst>
          </p:cNvPr>
          <p:cNvSpPr>
            <a:spLocks xmlns:a="http://schemas.openxmlformats.org/drawingml/2006/main" noGrp="1"/>
          </p:cNvSpPr>
          <p:nvPr/>
        </p:nvSpPr>
        <p:spPr>
          <a:xfrm xmlns:a="http://schemas.openxmlformats.org/drawingml/2006/main">
            <a:off x="7810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35626CF-85F5-4F26-8129-EDA8D560F007}"/>
              </a:ext>
            </a:extLst>
          </p:cNvPr>
          <p:cNvSpPr>
            <a:spLocks xmlns:a="http://schemas.openxmlformats.org/drawingml/2006/main" noGrp="1"/>
          </p:cNvSpPr>
          <p:nvPr/>
        </p:nvSpPr>
        <p:spPr>
          <a:xfrm xmlns:a="http://schemas.openxmlformats.org/drawingml/2006/main">
            <a:off x="8763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7" name="">
            <a:extLst xmlns:a="http://schemas.openxmlformats.org/drawingml/2006/main">
              <a:ext uri="{FF2B5EF4-FFF2-40B4-BE49-F238E27FC236}">
                <a16:creationId xmlns:a16="http://schemas.microsoft.com/office/drawing/2014/main" id="{4E49690C-5C31-4648-B33F-CCBAEC914F8F}"/>
              </a:ext>
            </a:extLst>
          </p:cNvPr>
          <p:cNvSpPr>
            <a:spLocks xmlns:a="http://schemas.openxmlformats.org/drawingml/2006/main" noGrp="1"/>
          </p:cNvSpPr>
          <p:nvPr/>
        </p:nvSpPr>
        <p:spPr>
          <a:xfrm xmlns:a="http://schemas.openxmlformats.org/drawingml/2006/main">
            <a:off x="430530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1404367-B83A-4E47-AA46-7DEE119485EE}"/>
              </a:ext>
            </a:extLst>
          </p:cNvPr>
          <p:cNvSpPr>
            <a:spLocks xmlns:a="http://schemas.openxmlformats.org/drawingml/2006/main" noGrp="1"/>
          </p:cNvSpPr>
          <p:nvPr/>
        </p:nvSpPr>
        <p:spPr>
          <a:xfrm xmlns:a="http://schemas.openxmlformats.org/drawingml/2006/main">
            <a:off x="440055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concern</a:t>
            </a:r>
          </a:p>
        </p:txBody>
      </p:sp>
      <p:sp>
        <p:nvSpPr>
          <p:cNvPr id="9" name="">
            <a:extLst xmlns:a="http://schemas.openxmlformats.org/drawingml/2006/main">
              <a:ext uri="{FF2B5EF4-FFF2-40B4-BE49-F238E27FC236}">
                <a16:creationId xmlns:a16="http://schemas.microsoft.com/office/drawing/2014/main" id="{C5A7809A-5855-4A5B-AC56-D224128022D7}"/>
              </a:ext>
            </a:extLst>
          </p:cNvPr>
          <p:cNvSpPr>
            <a:spLocks xmlns:a="http://schemas.openxmlformats.org/drawingml/2006/main" noGrp="1"/>
          </p:cNvSpPr>
          <p:nvPr/>
        </p:nvSpPr>
        <p:spPr>
          <a:xfrm xmlns:a="http://schemas.openxmlformats.org/drawingml/2006/main">
            <a:off x="78295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CF7D36C-1E9E-491A-8888-FC25ADADF17D}"/>
              </a:ext>
            </a:extLst>
          </p:cNvPr>
          <p:cNvSpPr>
            <a:spLocks xmlns:a="http://schemas.openxmlformats.org/drawingml/2006/main" noGrp="1"/>
          </p:cNvSpPr>
          <p:nvPr/>
        </p:nvSpPr>
        <p:spPr>
          <a:xfrm xmlns:a="http://schemas.openxmlformats.org/drawingml/2006/main">
            <a:off x="79248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Priority response</a:t>
            </a:r>
          </a:p>
        </p:txBody>
      </p:sp>
      <p:sp>
        <p:nvSpPr>
          <p:cNvPr id="11" name="">
            <a:extLst xmlns:a="http://schemas.openxmlformats.org/drawingml/2006/main">
              <a:ext uri="{FF2B5EF4-FFF2-40B4-BE49-F238E27FC236}">
                <a16:creationId xmlns:a16="http://schemas.microsoft.com/office/drawing/2014/main" id="{5F3126ED-9567-47B8-B817-D5F8B4AD746A}"/>
              </a:ext>
            </a:extLst>
          </p:cNvPr>
          <p:cNvSpPr>
            <a:spLocks xmlns:a="http://schemas.openxmlformats.org/drawingml/2006/main" noGrp="1"/>
          </p:cNvSpPr>
          <p:nvPr/>
        </p:nvSpPr>
        <p:spPr>
          <a:xfrm xmlns:a="http://schemas.openxmlformats.org/drawingml/2006/main">
            <a:off x="7810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B9E931F-316B-4299-A86B-68A88AC8B42C}"/>
              </a:ext>
            </a:extLst>
          </p:cNvPr>
          <p:cNvSpPr>
            <a:spLocks xmlns:a="http://schemas.openxmlformats.org/drawingml/2006/main" noGrp="1"/>
          </p:cNvSpPr>
          <p:nvPr/>
        </p:nvSpPr>
        <p:spPr>
          <a:xfrm xmlns:a="http://schemas.openxmlformats.org/drawingml/2006/main">
            <a:off x="8763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Sudden dyspnea, chest pain, cyanosis, or altered consciousness</a:t>
            </a:r>
          </a:p>
        </p:txBody>
      </p:sp>
      <p:sp>
        <p:nvSpPr>
          <p:cNvPr id="13" name="">
            <a:extLst xmlns:a="http://schemas.openxmlformats.org/drawingml/2006/main">
              <a:ext uri="{FF2B5EF4-FFF2-40B4-BE49-F238E27FC236}">
                <a16:creationId xmlns:a16="http://schemas.microsoft.com/office/drawing/2014/main" id="{31E5604A-828D-4846-92BF-5962614B10C2}"/>
              </a:ext>
            </a:extLst>
          </p:cNvPr>
          <p:cNvSpPr>
            <a:spLocks xmlns:a="http://schemas.openxmlformats.org/drawingml/2006/main" noGrp="1"/>
          </p:cNvSpPr>
          <p:nvPr/>
        </p:nvSpPr>
        <p:spPr>
          <a:xfrm xmlns:a="http://schemas.openxmlformats.org/drawingml/2006/main">
            <a:off x="430530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D740357-8BE4-411B-9828-5E4F3F7413FC}"/>
              </a:ext>
            </a:extLst>
          </p:cNvPr>
          <p:cNvSpPr>
            <a:spLocks xmlns:a="http://schemas.openxmlformats.org/drawingml/2006/main" noGrp="1"/>
          </p:cNvSpPr>
          <p:nvPr/>
        </p:nvSpPr>
        <p:spPr>
          <a:xfrm xmlns:a="http://schemas.openxmlformats.org/drawingml/2006/main">
            <a:off x="440055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Air embolism or thoracic complication</a:t>
            </a:r>
          </a:p>
        </p:txBody>
      </p:sp>
      <p:sp>
        <p:nvSpPr>
          <p:cNvPr id="15" name="">
            <a:extLst xmlns:a="http://schemas.openxmlformats.org/drawingml/2006/main">
              <a:ext uri="{FF2B5EF4-FFF2-40B4-BE49-F238E27FC236}">
                <a16:creationId xmlns:a16="http://schemas.microsoft.com/office/drawing/2014/main" id="{53912217-8C61-4CE0-9E99-17D72AF83574}"/>
              </a:ext>
            </a:extLst>
          </p:cNvPr>
          <p:cNvSpPr>
            <a:spLocks xmlns:a="http://schemas.openxmlformats.org/drawingml/2006/main" noGrp="1"/>
          </p:cNvSpPr>
          <p:nvPr/>
        </p:nvSpPr>
        <p:spPr>
          <a:xfrm xmlns:a="http://schemas.openxmlformats.org/drawingml/2006/main">
            <a:off x="78295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AD81E2D-9CD1-474B-B37F-A910CE4B9F41}"/>
              </a:ext>
            </a:extLst>
          </p:cNvPr>
          <p:cNvSpPr>
            <a:spLocks xmlns:a="http://schemas.openxmlformats.org/drawingml/2006/main" noGrp="1"/>
          </p:cNvSpPr>
          <p:nvPr/>
        </p:nvSpPr>
        <p:spPr>
          <a:xfrm xmlns:a="http://schemas.openxmlformats.org/drawingml/2006/main">
            <a:off x="79248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clamp or protect the system as trained, call emergency response, and support ABCs</a:t>
            </a:r>
          </a:p>
        </p:txBody>
      </p:sp>
      <p:sp>
        <p:nvSpPr>
          <p:cNvPr id="17" name="">
            <a:extLst xmlns:a="http://schemas.openxmlformats.org/drawingml/2006/main">
              <a:ext uri="{FF2B5EF4-FFF2-40B4-BE49-F238E27FC236}">
                <a16:creationId xmlns:a16="http://schemas.microsoft.com/office/drawing/2014/main" id="{A9C109FE-3E61-40F9-B7E1-5E058C1B3634}"/>
              </a:ext>
            </a:extLst>
          </p:cNvPr>
          <p:cNvSpPr>
            <a:spLocks xmlns:a="http://schemas.openxmlformats.org/drawingml/2006/main" noGrp="1"/>
          </p:cNvSpPr>
          <p:nvPr/>
        </p:nvSpPr>
        <p:spPr>
          <a:xfrm xmlns:a="http://schemas.openxmlformats.org/drawingml/2006/main">
            <a:off x="7810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736BD36-6C29-46A6-9928-919898B34E70}"/>
              </a:ext>
            </a:extLst>
          </p:cNvPr>
          <p:cNvSpPr>
            <a:spLocks xmlns:a="http://schemas.openxmlformats.org/drawingml/2006/main" noGrp="1"/>
          </p:cNvSpPr>
          <p:nvPr/>
        </p:nvSpPr>
        <p:spPr>
          <a:xfrm xmlns:a="http://schemas.openxmlformats.org/drawingml/2006/main">
            <a:off x="8763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Neck, chest, shoulder, or arm swelling</a:t>
            </a:r>
          </a:p>
        </p:txBody>
      </p:sp>
      <p:sp>
        <p:nvSpPr>
          <p:cNvPr id="19" name="">
            <a:extLst xmlns:a="http://schemas.openxmlformats.org/drawingml/2006/main">
              <a:ext uri="{FF2B5EF4-FFF2-40B4-BE49-F238E27FC236}">
                <a16:creationId xmlns:a16="http://schemas.microsoft.com/office/drawing/2014/main" id="{7932C252-5AB6-4D2D-A898-C4B67E9E9C47}"/>
              </a:ext>
            </a:extLst>
          </p:cNvPr>
          <p:cNvSpPr>
            <a:spLocks xmlns:a="http://schemas.openxmlformats.org/drawingml/2006/main" noGrp="1"/>
          </p:cNvSpPr>
          <p:nvPr/>
        </p:nvSpPr>
        <p:spPr>
          <a:xfrm xmlns:a="http://schemas.openxmlformats.org/drawingml/2006/main">
            <a:off x="430530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066D3AC-6DD1-4728-8735-DFA2EB0BBFC6}"/>
              </a:ext>
            </a:extLst>
          </p:cNvPr>
          <p:cNvSpPr>
            <a:spLocks xmlns:a="http://schemas.openxmlformats.org/drawingml/2006/main" noGrp="1"/>
          </p:cNvSpPr>
          <p:nvPr/>
        </p:nvSpPr>
        <p:spPr>
          <a:xfrm xmlns:a="http://schemas.openxmlformats.org/drawingml/2006/main">
            <a:off x="440055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Malposition, infiltration, or thrombosis</a:t>
            </a:r>
          </a:p>
        </p:txBody>
      </p:sp>
      <p:sp>
        <p:nvSpPr>
          <p:cNvPr id="21" name="">
            <a:extLst xmlns:a="http://schemas.openxmlformats.org/drawingml/2006/main">
              <a:ext uri="{FF2B5EF4-FFF2-40B4-BE49-F238E27FC236}">
                <a16:creationId xmlns:a16="http://schemas.microsoft.com/office/drawing/2014/main" id="{E1D25C0F-9BEC-435A-9936-6AAAB814FD0D}"/>
              </a:ext>
            </a:extLst>
          </p:cNvPr>
          <p:cNvSpPr>
            <a:spLocks xmlns:a="http://schemas.openxmlformats.org/drawingml/2006/main" noGrp="1"/>
          </p:cNvSpPr>
          <p:nvPr/>
        </p:nvSpPr>
        <p:spPr>
          <a:xfrm xmlns:a="http://schemas.openxmlformats.org/drawingml/2006/main">
            <a:off x="78295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76FCE60-9295-4808-A654-8DF8D5346C70}"/>
              </a:ext>
            </a:extLst>
          </p:cNvPr>
          <p:cNvSpPr>
            <a:spLocks xmlns:a="http://schemas.openxmlformats.org/drawingml/2006/main" noGrp="1"/>
          </p:cNvSpPr>
          <p:nvPr/>
        </p:nvSpPr>
        <p:spPr>
          <a:xfrm xmlns:a="http://schemas.openxmlformats.org/drawingml/2006/main">
            <a:off x="79248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use and obtain urgent qualified assessment</a:t>
            </a:r>
          </a:p>
        </p:txBody>
      </p:sp>
      <p:sp>
        <p:nvSpPr>
          <p:cNvPr id="23" name="">
            <a:extLst xmlns:a="http://schemas.openxmlformats.org/drawingml/2006/main">
              <a:ext uri="{FF2B5EF4-FFF2-40B4-BE49-F238E27FC236}">
                <a16:creationId xmlns:a16="http://schemas.microsoft.com/office/drawing/2014/main" id="{958106D0-652C-444C-9359-B5F3B28D9A1B}"/>
              </a:ext>
            </a:extLst>
          </p:cNvPr>
          <p:cNvSpPr>
            <a:spLocks xmlns:a="http://schemas.openxmlformats.org/drawingml/2006/main" noGrp="1"/>
          </p:cNvSpPr>
          <p:nvPr/>
        </p:nvSpPr>
        <p:spPr>
          <a:xfrm xmlns:a="http://schemas.openxmlformats.org/drawingml/2006/main">
            <a:off x="7810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1B2023B-9DE2-4DB7-A167-859F02FB5B78}"/>
              </a:ext>
            </a:extLst>
          </p:cNvPr>
          <p:cNvSpPr>
            <a:spLocks xmlns:a="http://schemas.openxmlformats.org/drawingml/2006/main" noGrp="1"/>
          </p:cNvSpPr>
          <p:nvPr/>
        </p:nvSpPr>
        <p:spPr>
          <a:xfrm xmlns:a="http://schemas.openxmlformats.org/drawingml/2006/main">
            <a:off x="8763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Redness, tenderness, drainage, fever, or chills</a:t>
            </a:r>
          </a:p>
        </p:txBody>
      </p:sp>
      <p:sp>
        <p:nvSpPr>
          <p:cNvPr id="25" name="">
            <a:extLst xmlns:a="http://schemas.openxmlformats.org/drawingml/2006/main">
              <a:ext uri="{FF2B5EF4-FFF2-40B4-BE49-F238E27FC236}">
                <a16:creationId xmlns:a16="http://schemas.microsoft.com/office/drawing/2014/main" id="{C48ADA67-A40B-4068-8FC2-6B22596A2934}"/>
              </a:ext>
            </a:extLst>
          </p:cNvPr>
          <p:cNvSpPr>
            <a:spLocks xmlns:a="http://schemas.openxmlformats.org/drawingml/2006/main" noGrp="1"/>
          </p:cNvSpPr>
          <p:nvPr/>
        </p:nvSpPr>
        <p:spPr>
          <a:xfrm xmlns:a="http://schemas.openxmlformats.org/drawingml/2006/main">
            <a:off x="430530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ED3C80E-6E66-4416-BBD4-4C639818B6A9}"/>
              </a:ext>
            </a:extLst>
          </p:cNvPr>
          <p:cNvSpPr>
            <a:spLocks xmlns:a="http://schemas.openxmlformats.org/drawingml/2006/main" noGrp="1"/>
          </p:cNvSpPr>
          <p:nvPr/>
        </p:nvSpPr>
        <p:spPr>
          <a:xfrm xmlns:a="http://schemas.openxmlformats.org/drawingml/2006/main">
            <a:off x="440055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27" name="">
            <a:extLst xmlns:a="http://schemas.openxmlformats.org/drawingml/2006/main">
              <a:ext uri="{FF2B5EF4-FFF2-40B4-BE49-F238E27FC236}">
                <a16:creationId xmlns:a16="http://schemas.microsoft.com/office/drawing/2014/main" id="{9D550873-8A99-4C4D-B208-A51FFC50DD54}"/>
              </a:ext>
            </a:extLst>
          </p:cNvPr>
          <p:cNvSpPr>
            <a:spLocks xmlns:a="http://schemas.openxmlformats.org/drawingml/2006/main" noGrp="1"/>
          </p:cNvSpPr>
          <p:nvPr/>
        </p:nvSpPr>
        <p:spPr>
          <a:xfrm xmlns:a="http://schemas.openxmlformats.org/drawingml/2006/main">
            <a:off x="78295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76DE3C0-231F-4570-BDD8-A74A6594BD35}"/>
              </a:ext>
            </a:extLst>
          </p:cNvPr>
          <p:cNvSpPr>
            <a:spLocks xmlns:a="http://schemas.openxmlformats.org/drawingml/2006/main" noGrp="1"/>
          </p:cNvSpPr>
          <p:nvPr/>
        </p:nvSpPr>
        <p:spPr>
          <a:xfrm xmlns:a="http://schemas.openxmlformats.org/drawingml/2006/main">
            <a:off x="79248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notify, and follow culture and device-management orders</a:t>
            </a:r>
          </a:p>
        </p:txBody>
      </p:sp>
      <p:sp>
        <p:nvSpPr>
          <p:cNvPr id="29" name="">
            <a:extLst xmlns:a="http://schemas.openxmlformats.org/drawingml/2006/main">
              <a:ext uri="{FF2B5EF4-FFF2-40B4-BE49-F238E27FC236}">
                <a16:creationId xmlns:a16="http://schemas.microsoft.com/office/drawing/2014/main" id="{C9A8DCEE-B2CE-4522-9A49-115FF34E5F68}"/>
              </a:ext>
            </a:extLst>
          </p:cNvPr>
          <p:cNvSpPr>
            <a:spLocks xmlns:a="http://schemas.openxmlformats.org/drawingml/2006/main" noGrp="1"/>
          </p:cNvSpPr>
          <p:nvPr/>
        </p:nvSpPr>
        <p:spPr>
          <a:xfrm xmlns:a="http://schemas.openxmlformats.org/drawingml/2006/main">
            <a:off x="7810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229C17E7-6976-4205-A3B0-2730DD5C5B64}"/>
              </a:ext>
            </a:extLst>
          </p:cNvPr>
          <p:cNvSpPr>
            <a:spLocks xmlns:a="http://schemas.openxmlformats.org/drawingml/2006/main" noGrp="1"/>
          </p:cNvSpPr>
          <p:nvPr/>
        </p:nvSpPr>
        <p:spPr>
          <a:xfrm xmlns:a="http://schemas.openxmlformats.org/drawingml/2006/main">
            <a:off x="8763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absent blood return, leaking, or damaged catheter</a:t>
            </a:r>
          </a:p>
        </p:txBody>
      </p:sp>
      <p:sp>
        <p:nvSpPr>
          <p:cNvPr id="31" name="">
            <a:extLst xmlns:a="http://schemas.openxmlformats.org/drawingml/2006/main">
              <a:ext uri="{FF2B5EF4-FFF2-40B4-BE49-F238E27FC236}">
                <a16:creationId xmlns:a16="http://schemas.microsoft.com/office/drawing/2014/main" id="{C885A3FD-F1F2-4F5D-91D1-D80390B21636}"/>
              </a:ext>
            </a:extLst>
          </p:cNvPr>
          <p:cNvSpPr>
            <a:spLocks xmlns:a="http://schemas.openxmlformats.org/drawingml/2006/main" noGrp="1"/>
          </p:cNvSpPr>
          <p:nvPr/>
        </p:nvSpPr>
        <p:spPr>
          <a:xfrm xmlns:a="http://schemas.openxmlformats.org/drawingml/2006/main">
            <a:off x="430530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54C6709B-D031-40F3-AC66-FCA14C8DAB03}"/>
              </a:ext>
            </a:extLst>
          </p:cNvPr>
          <p:cNvSpPr>
            <a:spLocks xmlns:a="http://schemas.openxmlformats.org/drawingml/2006/main" noGrp="1"/>
          </p:cNvSpPr>
          <p:nvPr/>
        </p:nvSpPr>
        <p:spPr>
          <a:xfrm xmlns:a="http://schemas.openxmlformats.org/drawingml/2006/main">
            <a:off x="440055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 malposition, or device failure</a:t>
            </a:r>
          </a:p>
        </p:txBody>
      </p:sp>
      <p:sp>
        <p:nvSpPr>
          <p:cNvPr id="33" name="">
            <a:extLst xmlns:a="http://schemas.openxmlformats.org/drawingml/2006/main">
              <a:ext uri="{FF2B5EF4-FFF2-40B4-BE49-F238E27FC236}">
                <a16:creationId xmlns:a16="http://schemas.microsoft.com/office/drawing/2014/main" id="{72C0EA31-B5A3-4B8D-B4DD-2674EE0221C3}"/>
              </a:ext>
            </a:extLst>
          </p:cNvPr>
          <p:cNvSpPr>
            <a:spLocks xmlns:a="http://schemas.openxmlformats.org/drawingml/2006/main" noGrp="1"/>
          </p:cNvSpPr>
          <p:nvPr/>
        </p:nvSpPr>
        <p:spPr>
          <a:xfrm xmlns:a="http://schemas.openxmlformats.org/drawingml/2006/main">
            <a:off x="78295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5D401269-0B7B-4769-8765-7CF9BF68A5D3}"/>
              </a:ext>
            </a:extLst>
          </p:cNvPr>
          <p:cNvSpPr>
            <a:spLocks xmlns:a="http://schemas.openxmlformats.org/drawingml/2006/main" noGrp="1"/>
          </p:cNvSpPr>
          <p:nvPr/>
        </p:nvSpPr>
        <p:spPr>
          <a:xfrm xmlns:a="http://schemas.openxmlformats.org/drawingml/2006/main">
            <a:off x="79248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a flush; stop use and escalate</a:t>
            </a:r>
          </a:p>
        </p:txBody>
      </p:sp>
      <p:sp>
        <p:nvSpPr>
          <p:cNvPr id="35" name="">
            <a:extLst xmlns:a="http://schemas.openxmlformats.org/drawingml/2006/main">
              <a:ext uri="{FF2B5EF4-FFF2-40B4-BE49-F238E27FC236}">
                <a16:creationId xmlns:a16="http://schemas.microsoft.com/office/drawing/2014/main" id="{45540CD2-533C-47DC-BDFF-CE485ADE80FB}"/>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Do not remove, reposition, repair, instill a declotting agent, or access a central device unless the action is authorized and competency-validated.</a:t>
            </a:r>
          </a:p>
        </p:txBody>
      </p:sp>
    </p:spTree>
    <p:extLst>
      <p:ext uri="{BB962C8B-B14F-4D97-AF65-F5344CB8AC3E}">
        <p14:creationId xmlns:p14="http://schemas.microsoft.com/office/powerpoint/2010/main" val="1929246216"/>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C545E7-9FE9-4375-A7CF-2638DD0ECF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B46C31-CD03-4E23-9233-6578C34374D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Removal checkoff includes catheter integrity</a:t>
            </a:r>
          </a:p>
        </p:txBody>
      </p:sp>
      <p:sp>
        <p:nvSpPr>
          <p:cNvPr id="3" name="">
            <a:extLst xmlns:a="http://schemas.openxmlformats.org/drawingml/2006/main">
              <a:ext uri="{FF2B5EF4-FFF2-40B4-BE49-F238E27FC236}">
                <a16:creationId xmlns:a16="http://schemas.microsoft.com/office/drawing/2014/main" id="{6BF0FDA6-D486-4BFD-898D-51036AA2D0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4EF5C28-9E75-4458-9E19-A325F71DBA0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1ACE82D6-857C-4AB8-A7A8-4B244040D11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Stop all infusates and remove the dressing while supporting the skin and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the site before removal, withdraw the catheter slowly and steadily, and achieve hemostasis.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the removed catheter and compare its condition and length with the expected intact device.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catheter is not intact, do not discard it; immobilize the extremity as directed and notify the supervising clinician immediately.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 the site, catheter condition, hemostasis, dressing, patient teaching, and response.</a:t>
            </a:r>
          </a:p>
        </p:txBody>
      </p:sp>
      <p:sp>
        <p:nvSpPr>
          <p:cNvPr id="6" name="">
            <a:extLst xmlns:a="http://schemas.openxmlformats.org/drawingml/2006/main">
              <a:ext uri="{FF2B5EF4-FFF2-40B4-BE49-F238E27FC236}">
                <a16:creationId xmlns:a16="http://schemas.microsoft.com/office/drawing/2014/main" id="{1189EC12-6627-46FF-91D7-3C4D13D922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19486368"/>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A1CC5E-23C0-4A62-A428-B50C317E7EC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CA019BE-2EC0-4D6B-9E8D-EEAD92B4DC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IVPB and pump</a:t>
            </a:r>
          </a:p>
        </p:txBody>
      </p:sp>
      <p:sp>
        <p:nvSpPr>
          <p:cNvPr id="3" name="">
            <a:extLst xmlns:a="http://schemas.openxmlformats.org/drawingml/2006/main">
              <a:ext uri="{FF2B5EF4-FFF2-40B4-BE49-F238E27FC236}">
                <a16:creationId xmlns:a16="http://schemas.microsoft.com/office/drawing/2014/main" id="{0CC2B187-BEA2-4360-80BC-8574FC0235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73305B7-2D7A-4DE7-947E-38DAB1D574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B20D4DC3-3827-4785-A060-ADBCB50FEA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primary and secondary orders and compatibility.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and label the secondary medication using aseptic technique.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patient to source, connect to the correct port, and position bags correctly.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Program the correct channel, volume, and rate; independently verify high-alert settings when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flow, monitor the patient and site, and document the response.</a:t>
            </a:r>
          </a:p>
        </p:txBody>
      </p:sp>
      <p:sp>
        <p:nvSpPr>
          <p:cNvPr id="6" name="">
            <a:extLst xmlns:a="http://schemas.openxmlformats.org/drawingml/2006/main">
              <a:ext uri="{FF2B5EF4-FFF2-40B4-BE49-F238E27FC236}">
                <a16:creationId xmlns:a16="http://schemas.microsoft.com/office/drawing/2014/main" id="{3527ADC0-E242-4200-AFB6-B6A05DCFD8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28197051"/>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7F7C780-401D-4AA1-9467-C351DFA042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37EB87A-C699-426A-826E-0D2EF062BE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response pattern</a:t>
            </a:r>
          </a:p>
        </p:txBody>
      </p:sp>
      <p:sp>
        <p:nvSpPr>
          <p:cNvPr id="3" name="">
            <a:extLst xmlns:a="http://schemas.openxmlformats.org/drawingml/2006/main">
              <a:ext uri="{FF2B5EF4-FFF2-40B4-BE49-F238E27FC236}">
                <a16:creationId xmlns:a16="http://schemas.microsoft.com/office/drawing/2014/main" id="{C7EB5CE9-4CC7-4483-9F05-99E9BA68CAA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8BDABA9-EF3B-46AD-81CF-E80A986CEE8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1A6148C0-5EC8-4598-8CB5-0AF3DACEA3B5}"/>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F19655B5-8002-4BC3-87E0-616B68CAA455}"/>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54CFFE9B-9880-4916-9F01-95CE9A5E9CB2}"/>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DB23E1F-FE1A-4713-B935-73AD7AFF503C}"/>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behavior</a:t>
            </a:r>
          </a:p>
        </p:txBody>
      </p:sp>
      <p:sp>
        <p:nvSpPr>
          <p:cNvPr id="9" name="">
            <a:extLst xmlns:a="http://schemas.openxmlformats.org/drawingml/2006/main">
              <a:ext uri="{FF2B5EF4-FFF2-40B4-BE49-F238E27FC236}">
                <a16:creationId xmlns:a16="http://schemas.microsoft.com/office/drawing/2014/main" id="{1BEC2978-C0F1-4F23-A44F-8BAAE120891A}"/>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38971BA-A71B-46E6-BBC1-F8D6E0432A61}"/>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Recognize</a:t>
            </a:r>
          </a:p>
        </p:txBody>
      </p:sp>
      <p:sp>
        <p:nvSpPr>
          <p:cNvPr id="11" name="">
            <a:extLst xmlns:a="http://schemas.openxmlformats.org/drawingml/2006/main">
              <a:ext uri="{FF2B5EF4-FFF2-40B4-BE49-F238E27FC236}">
                <a16:creationId xmlns:a16="http://schemas.microsoft.com/office/drawing/2014/main" id="{59205822-9590-4325-8BC9-7A119D2A66E1}"/>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0568864-204D-4B95-AEF8-43B2C419B419}"/>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Name the abnormal cue and likely complication</a:t>
            </a:r>
          </a:p>
        </p:txBody>
      </p:sp>
      <p:sp>
        <p:nvSpPr>
          <p:cNvPr id="13" name="">
            <a:extLst xmlns:a="http://schemas.openxmlformats.org/drawingml/2006/main">
              <a:ext uri="{FF2B5EF4-FFF2-40B4-BE49-F238E27FC236}">
                <a16:creationId xmlns:a16="http://schemas.microsoft.com/office/drawing/2014/main" id="{962046FE-CC81-49B4-B066-4C0B45829387}"/>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1569D19-E5A3-4B9B-9F6B-700EFDD79453}"/>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or protect</a:t>
            </a:r>
          </a:p>
        </p:txBody>
      </p:sp>
      <p:sp>
        <p:nvSpPr>
          <p:cNvPr id="15" name="">
            <a:extLst xmlns:a="http://schemas.openxmlformats.org/drawingml/2006/main">
              <a:ext uri="{FF2B5EF4-FFF2-40B4-BE49-F238E27FC236}">
                <a16:creationId xmlns:a16="http://schemas.microsoft.com/office/drawing/2014/main" id="{FC39BBC2-4DF0-425E-90D7-F1AC83FD5233}"/>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8444994-0D23-4627-82AF-91ACA70727C1}"/>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therapy and protect the patient</a:t>
            </a:r>
          </a:p>
        </p:txBody>
      </p:sp>
      <p:sp>
        <p:nvSpPr>
          <p:cNvPr id="17" name="">
            <a:extLst xmlns:a="http://schemas.openxmlformats.org/drawingml/2006/main">
              <a:ext uri="{FF2B5EF4-FFF2-40B4-BE49-F238E27FC236}">
                <a16:creationId xmlns:a16="http://schemas.microsoft.com/office/drawing/2014/main" id="{5047B63D-D9FF-4060-A6B3-59ACE6F8159F}"/>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E0778B1-B7A6-451D-8985-C82AE282088B}"/>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19" name="">
            <a:extLst xmlns:a="http://schemas.openxmlformats.org/drawingml/2006/main">
              <a:ext uri="{FF2B5EF4-FFF2-40B4-BE49-F238E27FC236}">
                <a16:creationId xmlns:a16="http://schemas.microsoft.com/office/drawing/2014/main" id="{2E561D7F-1DC4-421E-AA66-0A4C929A7D8A}"/>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B0843F2-8803-459C-B73A-18ADC0665994}"/>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site, airway, breathing, circulation, vital signs, and symptoms</a:t>
            </a:r>
          </a:p>
        </p:txBody>
      </p:sp>
      <p:sp>
        <p:nvSpPr>
          <p:cNvPr id="21" name="">
            <a:extLst xmlns:a="http://schemas.openxmlformats.org/drawingml/2006/main">
              <a:ext uri="{FF2B5EF4-FFF2-40B4-BE49-F238E27FC236}">
                <a16:creationId xmlns:a16="http://schemas.microsoft.com/office/drawing/2014/main" id="{148409B7-E0E4-4B36-92E3-57118CABCEFB}"/>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8BBAAE5-185B-47D1-B84A-D0ABFDC3BA58}"/>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3" name="">
            <a:extLst xmlns:a="http://schemas.openxmlformats.org/drawingml/2006/main">
              <a:ext uri="{FF2B5EF4-FFF2-40B4-BE49-F238E27FC236}">
                <a16:creationId xmlns:a16="http://schemas.microsoft.com/office/drawing/2014/main" id="{D780F4E8-2E9D-4D92-9771-FEE0A5C4431D}"/>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31A50E6-0577-4429-AF85-6C84DE477137}"/>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Notify the RN/prescriber or activate emergency response</a:t>
            </a:r>
          </a:p>
        </p:txBody>
      </p:sp>
      <p:sp>
        <p:nvSpPr>
          <p:cNvPr id="25" name="">
            <a:extLst xmlns:a="http://schemas.openxmlformats.org/drawingml/2006/main">
              <a:ext uri="{FF2B5EF4-FFF2-40B4-BE49-F238E27FC236}">
                <a16:creationId xmlns:a16="http://schemas.microsoft.com/office/drawing/2014/main" id="{82E486E5-4544-4205-96C6-6A4A3F9C03D1}"/>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7E6C3840-B55C-4CB3-8415-39B9C549A2A4}"/>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a:t>
            </a:r>
          </a:p>
        </p:txBody>
      </p:sp>
      <p:sp>
        <p:nvSpPr>
          <p:cNvPr id="27" name="">
            <a:extLst xmlns:a="http://schemas.openxmlformats.org/drawingml/2006/main">
              <a:ext uri="{FF2B5EF4-FFF2-40B4-BE49-F238E27FC236}">
                <a16:creationId xmlns:a16="http://schemas.microsoft.com/office/drawing/2014/main" id="{52F2D97B-4FFE-4791-916C-8AE1F012BCFD}"/>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8BEA7AD-CE96-4773-BCBD-31287FEB1CC5}"/>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findings, actions, notifications, orders, and response</a:t>
            </a:r>
          </a:p>
        </p:txBody>
      </p:sp>
    </p:spTree>
    <p:extLst>
      <p:ext uri="{BB962C8B-B14F-4D97-AF65-F5344CB8AC3E}">
        <p14:creationId xmlns:p14="http://schemas.microsoft.com/office/powerpoint/2010/main" val="1617137053"/>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CFA82D-EB89-42BE-9064-E4566C11F5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D9A46A2-9740-4351-80B5-CA503C2635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016B0D8F-8DC4-4983-9996-4B58915191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E9346DA-75B8-4631-BD70-EB65802C3E5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A5677000-BA38-413D-BA2B-D008C2BD0B70}"/>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6" name="">
            <a:extLst xmlns:a="http://schemas.openxmlformats.org/drawingml/2006/main">
              <a:ext uri="{FF2B5EF4-FFF2-40B4-BE49-F238E27FC236}">
                <a16:creationId xmlns:a16="http://schemas.microsoft.com/office/drawing/2014/main" id="{AFC3506B-364B-4FBB-9A4D-AD7DB114E293}"/>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1019215774"/>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D28D3A-067C-478F-BDC3-4F6258558B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D499D9-B8A6-4920-A215-41D2A3674D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CAD314D6-B255-4158-8152-F9ED392926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72AE37E-5274-49AA-B789-35189F0435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DDA9D65E-919A-4BA5-A8EE-A338FC166F77}"/>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2C367475-B4FC-4BD0-B056-D8608409000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3260443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2026-10-23T09:51:12.8840000Z</dcterms:created>
  <dcterms:modified xsi:type="dcterms:W3CDTF">2026-10-23T09:51:12.8840000Z</dcterms:modified>
</coreProperties>
</file>