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3888a7a7e594658" /><Relationship Type="http://schemas.openxmlformats.org/officeDocument/2006/relationships/extended-properties" Target="/docProps/app.xml" Id="Rfa795ef9ec374801" /><Relationship Type="http://schemas.openxmlformats.org/officeDocument/2006/relationships/officeDocument" Target="/ppt/presentation.xml" Id="R8ea4bb9ca58d4217" /></Relationships>
</file>

<file path=ppt/presentation.xml><?xml version="1.0" encoding="utf-8"?>
<p:presentation xmlns:p="http://schemas.openxmlformats.org/presentationml/2006/main">
  <p:sldMasterIdLst>
    <p:sldMasterId xmlns:r="http://schemas.openxmlformats.org/officeDocument/2006/relationships" id="2147483648" r:id="R47c0a53fa28d4ea7"/>
  </p:sldMasterIdLst>
  <p:notesMasterIdLst>
    <p:notesMasterId xmlns:r="http://schemas.openxmlformats.org/officeDocument/2006/relationships" r:id="Rd65325475d3e488d"/>
  </p:notesMasterIdLst>
  <p:sldIdLst>
    <p:sldId xmlns:r="http://schemas.openxmlformats.org/officeDocument/2006/relationships" id="256" r:id="R04be307e2b074658"/>
    <p:sldId xmlns:r="http://schemas.openxmlformats.org/officeDocument/2006/relationships" id="257" r:id="Ra12062846b4e4ae5"/>
    <p:sldId xmlns:r="http://schemas.openxmlformats.org/officeDocument/2006/relationships" id="258" r:id="R046c5eb107164db8"/>
    <p:sldId xmlns:r="http://schemas.openxmlformats.org/officeDocument/2006/relationships" id="259" r:id="R4af3305eac7648e9"/>
    <p:sldId xmlns:r="http://schemas.openxmlformats.org/officeDocument/2006/relationships" id="260" r:id="Re399d12fa0b7497c"/>
    <p:sldId xmlns:r="http://schemas.openxmlformats.org/officeDocument/2006/relationships" id="261" r:id="R934724a5d93d49d7"/>
    <p:sldId xmlns:r="http://schemas.openxmlformats.org/officeDocument/2006/relationships" id="262" r:id="R54ba2e1fb0ce44da"/>
    <p:sldId xmlns:r="http://schemas.openxmlformats.org/officeDocument/2006/relationships" id="263" r:id="Rccaf5407505e4c6e"/>
    <p:sldId xmlns:r="http://schemas.openxmlformats.org/officeDocument/2006/relationships" id="264" r:id="Rfec264ce25e74a13"/>
    <p:sldId xmlns:r="http://schemas.openxmlformats.org/officeDocument/2006/relationships" id="265" r:id="R19ea3af4a9864a35"/>
    <p:sldId xmlns:r="http://schemas.openxmlformats.org/officeDocument/2006/relationships" id="266" r:id="R6097711faa164299"/>
    <p:sldId xmlns:r="http://schemas.openxmlformats.org/officeDocument/2006/relationships" id="267" r:id="R926e7242c73d454f"/>
    <p:sldId xmlns:r="http://schemas.openxmlformats.org/officeDocument/2006/relationships" id="268" r:id="R8094343a144c4c36"/>
    <p:sldId xmlns:r="http://schemas.openxmlformats.org/officeDocument/2006/relationships" id="269" r:id="R64b1f23eb6174134"/>
    <p:sldId xmlns:r="http://schemas.openxmlformats.org/officeDocument/2006/relationships" id="270" r:id="R9e7a5fd002b946da"/>
    <p:sldId xmlns:r="http://schemas.openxmlformats.org/officeDocument/2006/relationships" id="271" r:id="Rbe4115b120fe486c"/>
    <p:sldId xmlns:r="http://schemas.openxmlformats.org/officeDocument/2006/relationships" id="272" r:id="R5fcbb958ba0a4fcd"/>
    <p:sldId xmlns:r="http://schemas.openxmlformats.org/officeDocument/2006/relationships" id="273" r:id="R0e71594eba734598"/>
    <p:sldId xmlns:r="http://schemas.openxmlformats.org/officeDocument/2006/relationships" id="274" r:id="R7d1bd78aa2a44942"/>
    <p:sldId xmlns:r="http://schemas.openxmlformats.org/officeDocument/2006/relationships" id="275" r:id="R129d9aa69d414c91"/>
    <p:sldId xmlns:r="http://schemas.openxmlformats.org/officeDocument/2006/relationships" id="276" r:id="R2ea6f31912e74439"/>
    <p:sldId xmlns:r="http://schemas.openxmlformats.org/officeDocument/2006/relationships" id="277" r:id="R073e336e58a04909"/>
    <p:sldId xmlns:r="http://schemas.openxmlformats.org/officeDocument/2006/relationships" id="278" r:id="R13bc5cb12cfb437f"/>
    <p:sldId xmlns:r="http://schemas.openxmlformats.org/officeDocument/2006/relationships" id="279" r:id="Re76eb568c8dc4bbc"/>
    <p:sldId xmlns:r="http://schemas.openxmlformats.org/officeDocument/2006/relationships" id="280" r:id="R8e53d83cc42d45f1"/>
    <p:sldId xmlns:r="http://schemas.openxmlformats.org/officeDocument/2006/relationships" id="281" r:id="R2ded1131312e4c8a"/>
    <p:sldId xmlns:r="http://schemas.openxmlformats.org/officeDocument/2006/relationships" id="282" r:id="Rcf00517aa69c4737"/>
    <p:sldId xmlns:r="http://schemas.openxmlformats.org/officeDocument/2006/relationships" id="283" r:id="R6e9f94cccfac419d"/>
    <p:sldId xmlns:r="http://schemas.openxmlformats.org/officeDocument/2006/relationships" id="284" r:id="Rab032da6056d41e0"/>
    <p:sldId xmlns:r="http://schemas.openxmlformats.org/officeDocument/2006/relationships" id="285" r:id="R6d06ff56af244643"/>
    <p:sldId xmlns:r="http://schemas.openxmlformats.org/officeDocument/2006/relationships" id="286" r:id="R3ae10d2febfd4005"/>
    <p:sldId xmlns:r="http://schemas.openxmlformats.org/officeDocument/2006/relationships" id="287" r:id="R4fc8f29b43a74d82"/>
    <p:sldId xmlns:r="http://schemas.openxmlformats.org/officeDocument/2006/relationships" id="288" r:id="R288cd8c091fb4597"/>
    <p:sldId xmlns:r="http://schemas.openxmlformats.org/officeDocument/2006/relationships" id="289" r:id="R8583b78e966e4482"/>
    <p:sldId xmlns:r="http://schemas.openxmlformats.org/officeDocument/2006/relationships" id="290" r:id="Ra38d58ced29b46ef"/>
    <p:sldId xmlns:r="http://schemas.openxmlformats.org/officeDocument/2006/relationships" id="291" r:id="Rac4191eb8cd64307"/>
    <p:sldId xmlns:r="http://schemas.openxmlformats.org/officeDocument/2006/relationships" id="292" r:id="Reaa308e9eb524bc5"/>
    <p:sldId xmlns:r="http://schemas.openxmlformats.org/officeDocument/2006/relationships" id="293" r:id="R335a108ed9654c1f"/>
    <p:sldId xmlns:r="http://schemas.openxmlformats.org/officeDocument/2006/relationships" id="294" r:id="Rb0ce386a4f534c3b"/>
    <p:sldId xmlns:r="http://schemas.openxmlformats.org/officeDocument/2006/relationships" id="295" r:id="Rfb2de46725944b91"/>
    <p:sldId xmlns:r="http://schemas.openxmlformats.org/officeDocument/2006/relationships" id="296" r:id="R67bf16e8b4314f09"/>
    <p:sldId xmlns:r="http://schemas.openxmlformats.org/officeDocument/2006/relationships" id="297" r:id="R6912c61ed4b841a4"/>
    <p:sldId xmlns:r="http://schemas.openxmlformats.org/officeDocument/2006/relationships" id="298" r:id="Rc960dadf98594c4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3bf427cb5e7411c" /><Relationship Type="http://schemas.openxmlformats.org/officeDocument/2006/relationships/slideMaster" Target="/ppt/slideMasters/slideMaster1.xml" Id="R47c0a53fa28d4ea7" /><Relationship Type="http://schemas.openxmlformats.org/officeDocument/2006/relationships/notesMaster" Target="/ppt/notesMasters/notesMaster1.xml" Id="Rd65325475d3e488d" /><Relationship Type="http://schemas.openxmlformats.org/officeDocument/2006/relationships/presProps" Target="/ppt/presProps.xml" Id="R524fc860488e4237" /><Relationship Type="http://schemas.openxmlformats.org/officeDocument/2006/relationships/tableStyles" Target="/ppt/tableStyles.xml" Id="R9addf9a307944312" /><Relationship Type="http://schemas.openxmlformats.org/officeDocument/2006/relationships/slide" Target="/ppt/slides/slide1.xml" Id="R04be307e2b074658" /><Relationship Type="http://schemas.openxmlformats.org/officeDocument/2006/relationships/slide" Target="/ppt/slides/slide2.xml" Id="Ra12062846b4e4ae5" /><Relationship Type="http://schemas.openxmlformats.org/officeDocument/2006/relationships/slide" Target="/ppt/slides/slide3.xml" Id="R046c5eb107164db8" /><Relationship Type="http://schemas.openxmlformats.org/officeDocument/2006/relationships/slide" Target="/ppt/slides/slide4.xml" Id="R4af3305eac7648e9" /><Relationship Type="http://schemas.openxmlformats.org/officeDocument/2006/relationships/slide" Target="/ppt/slides/slide5.xml" Id="Re399d12fa0b7497c" /><Relationship Type="http://schemas.openxmlformats.org/officeDocument/2006/relationships/slide" Target="/ppt/slides/slide6.xml" Id="R934724a5d93d49d7" /><Relationship Type="http://schemas.openxmlformats.org/officeDocument/2006/relationships/slide" Target="/ppt/slides/slide7.xml" Id="R54ba2e1fb0ce44da" /><Relationship Type="http://schemas.openxmlformats.org/officeDocument/2006/relationships/slide" Target="/ppt/slides/slide8.xml" Id="Rccaf5407505e4c6e" /><Relationship Type="http://schemas.openxmlformats.org/officeDocument/2006/relationships/slide" Target="/ppt/slides/slide9.xml" Id="Rfec264ce25e74a13" /><Relationship Type="http://schemas.openxmlformats.org/officeDocument/2006/relationships/slide" Target="/ppt/slides/slide10.xml" Id="R19ea3af4a9864a35" /><Relationship Type="http://schemas.openxmlformats.org/officeDocument/2006/relationships/slide" Target="/ppt/slides/slide11.xml" Id="R6097711faa164299" /><Relationship Type="http://schemas.openxmlformats.org/officeDocument/2006/relationships/slide" Target="/ppt/slides/slide12.xml" Id="R926e7242c73d454f" /><Relationship Type="http://schemas.openxmlformats.org/officeDocument/2006/relationships/slide" Target="/ppt/slides/slide13.xml" Id="R8094343a144c4c36" /><Relationship Type="http://schemas.openxmlformats.org/officeDocument/2006/relationships/slide" Target="/ppt/slides/slide14.xml" Id="R64b1f23eb6174134" /><Relationship Type="http://schemas.openxmlformats.org/officeDocument/2006/relationships/slide" Target="/ppt/slides/slide15.xml" Id="R9e7a5fd002b946da" /><Relationship Type="http://schemas.openxmlformats.org/officeDocument/2006/relationships/slide" Target="/ppt/slides/slide16.xml" Id="Rbe4115b120fe486c" /><Relationship Type="http://schemas.openxmlformats.org/officeDocument/2006/relationships/slide" Target="/ppt/slides/slide17.xml" Id="R5fcbb958ba0a4fcd" /><Relationship Type="http://schemas.openxmlformats.org/officeDocument/2006/relationships/slide" Target="/ppt/slides/slide18.xml" Id="R0e71594eba734598" /><Relationship Type="http://schemas.openxmlformats.org/officeDocument/2006/relationships/slide" Target="/ppt/slides/slide19.xml" Id="R7d1bd78aa2a44942" /><Relationship Type="http://schemas.openxmlformats.org/officeDocument/2006/relationships/slide" Target="/ppt/slides/slide20.xml" Id="R129d9aa69d414c91" /><Relationship Type="http://schemas.openxmlformats.org/officeDocument/2006/relationships/slide" Target="/ppt/slides/slide21.xml" Id="R2ea6f31912e74439" /><Relationship Type="http://schemas.openxmlformats.org/officeDocument/2006/relationships/slide" Target="/ppt/slides/slide22.xml" Id="R073e336e58a04909" /><Relationship Type="http://schemas.openxmlformats.org/officeDocument/2006/relationships/slide" Target="/ppt/slides/slide23.xml" Id="R13bc5cb12cfb437f" /><Relationship Type="http://schemas.openxmlformats.org/officeDocument/2006/relationships/slide" Target="/ppt/slides/slide24.xml" Id="Re76eb568c8dc4bbc" /><Relationship Type="http://schemas.openxmlformats.org/officeDocument/2006/relationships/slide" Target="/ppt/slides/slide25.xml" Id="R8e53d83cc42d45f1" /><Relationship Type="http://schemas.openxmlformats.org/officeDocument/2006/relationships/slide" Target="/ppt/slides/slide26.xml" Id="R2ded1131312e4c8a" /><Relationship Type="http://schemas.openxmlformats.org/officeDocument/2006/relationships/slide" Target="/ppt/slides/slide27.xml" Id="Rcf00517aa69c4737" /><Relationship Type="http://schemas.openxmlformats.org/officeDocument/2006/relationships/slide" Target="/ppt/slides/slide28.xml" Id="R6e9f94cccfac419d" /><Relationship Type="http://schemas.openxmlformats.org/officeDocument/2006/relationships/slide" Target="/ppt/slides/slide29.xml" Id="Rab032da6056d41e0" /><Relationship Type="http://schemas.openxmlformats.org/officeDocument/2006/relationships/slide" Target="/ppt/slides/slide30.xml" Id="R6d06ff56af244643" /><Relationship Type="http://schemas.openxmlformats.org/officeDocument/2006/relationships/slide" Target="/ppt/slides/slide31.xml" Id="R3ae10d2febfd4005" /><Relationship Type="http://schemas.openxmlformats.org/officeDocument/2006/relationships/slide" Target="/ppt/slides/slide32.xml" Id="R4fc8f29b43a74d82" /><Relationship Type="http://schemas.openxmlformats.org/officeDocument/2006/relationships/slide" Target="/ppt/slides/slide33.xml" Id="R288cd8c091fb4597" /><Relationship Type="http://schemas.openxmlformats.org/officeDocument/2006/relationships/slide" Target="/ppt/slides/slide34.xml" Id="R8583b78e966e4482" /><Relationship Type="http://schemas.openxmlformats.org/officeDocument/2006/relationships/slide" Target="/ppt/slides/slide35.xml" Id="Ra38d58ced29b46ef" /><Relationship Type="http://schemas.openxmlformats.org/officeDocument/2006/relationships/slide" Target="/ppt/slides/slide36.xml" Id="Rac4191eb8cd64307" /><Relationship Type="http://schemas.openxmlformats.org/officeDocument/2006/relationships/slide" Target="/ppt/slides/slide37.xml" Id="Reaa308e9eb524bc5" /><Relationship Type="http://schemas.openxmlformats.org/officeDocument/2006/relationships/slide" Target="/ppt/slides/slide38.xml" Id="R335a108ed9654c1f" /><Relationship Type="http://schemas.openxmlformats.org/officeDocument/2006/relationships/slide" Target="/ppt/slides/slide39.xml" Id="Rb0ce386a4f534c3b" /><Relationship Type="http://schemas.openxmlformats.org/officeDocument/2006/relationships/slide" Target="/ppt/slides/slide40.xml" Id="Rfb2de46725944b91" /><Relationship Type="http://schemas.openxmlformats.org/officeDocument/2006/relationships/slide" Target="/ppt/slides/slide41.xml" Id="R67bf16e8b4314f09" /><Relationship Type="http://schemas.openxmlformats.org/officeDocument/2006/relationships/slide" Target="/ppt/slides/slide42.xml" Id="R6912c61ed4b841a4" /><Relationship Type="http://schemas.openxmlformats.org/officeDocument/2006/relationships/slide" Target="/ppt/slides/slide43.xml" Id="Rc960dadf98594c4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fb0c25db92a400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65803bfa4dc4c45" /><Relationship Type="http://schemas.openxmlformats.org/officeDocument/2006/relationships/notesMaster" Target="/ppt/notesMasters/notesMaster1.xml" Id="R83dd5cceaa6f4ff6" /></Relationships>
</file>

<file path=ppt/notesSlides/_rels/notesSlide2.xml.rels>&#65279;<?xml version="1.0" encoding="utf-8"?><Relationships xmlns="http://schemas.openxmlformats.org/package/2006/relationships"><Relationship Type="http://schemas.openxmlformats.org/officeDocument/2006/relationships/slide" Target="/ppt/slides/slide2.xml" Id="Rd5cffb4315cb4fa2" /><Relationship Type="http://schemas.openxmlformats.org/officeDocument/2006/relationships/notesMaster" Target="/ppt/notesMasters/notesMaster1.xml" Id="R7cdc4c183fa9480c" /></Relationships>
</file>

<file path=ppt/notesSlides/_rels/notesSlide3.xml.rels>&#65279;<?xml version="1.0" encoding="utf-8"?><Relationships xmlns="http://schemas.openxmlformats.org/package/2006/relationships"><Relationship Type="http://schemas.openxmlformats.org/officeDocument/2006/relationships/slide" Target="/ppt/slides/slide3.xml" Id="Ra854ba7da76549f9" /><Relationship Type="http://schemas.openxmlformats.org/officeDocument/2006/relationships/notesMaster" Target="/ppt/notesMasters/notesMaster1.xml" Id="Rf6ce8f76bf7149e0" /></Relationships>
</file>

<file path=ppt/notesSlides/_rels/notesSlide4.xml.rels>&#65279;<?xml version="1.0" encoding="utf-8"?><Relationships xmlns="http://schemas.openxmlformats.org/package/2006/relationships"><Relationship Type="http://schemas.openxmlformats.org/officeDocument/2006/relationships/slide" Target="/ppt/slides/slide4.xml" Id="R7e3c11b56f90433a" /><Relationship Type="http://schemas.openxmlformats.org/officeDocument/2006/relationships/notesMaster" Target="/ppt/notesMasters/notesMaster1.xml" Id="R0ca8572fdcee4dc4" /></Relationships>
</file>

<file path=ppt/notesSlides/_rels/notesSlide5.xml.rels>&#65279;<?xml version="1.0" encoding="utf-8"?><Relationships xmlns="http://schemas.openxmlformats.org/package/2006/relationships"><Relationship Type="http://schemas.openxmlformats.org/officeDocument/2006/relationships/slide" Target="/ppt/slides/slide5.xml" Id="R01bbb1d8cc434d9e" /><Relationship Type="http://schemas.openxmlformats.org/officeDocument/2006/relationships/notesMaster" Target="/ppt/notesMasters/notesMaster1.xml" Id="R7bd52fa04ba14e75" /></Relationships>
</file>

<file path=ppt/notesSlides/_rels/notesSlide6.xml.rels>&#65279;<?xml version="1.0" encoding="utf-8"?><Relationships xmlns="http://schemas.openxmlformats.org/package/2006/relationships"><Relationship Type="http://schemas.openxmlformats.org/officeDocument/2006/relationships/slide" Target="/ppt/slides/slide6.xml" Id="Rba90be89e2ed4852" /><Relationship Type="http://schemas.openxmlformats.org/officeDocument/2006/relationships/notesMaster" Target="/ppt/notesMasters/notesMaster1.xml" Id="Ra43e742dc9af4254" /></Relationships>
</file>

<file path=ppt/notesSlides/_rels/notesSlide7.xml.rels>&#65279;<?xml version="1.0" encoding="utf-8"?><Relationships xmlns="http://schemas.openxmlformats.org/package/2006/relationships"><Relationship Type="http://schemas.openxmlformats.org/officeDocument/2006/relationships/slide" Target="/ppt/slides/slide7.xml" Id="Re9ddb96f826c4c96" /><Relationship Type="http://schemas.openxmlformats.org/officeDocument/2006/relationships/notesMaster" Target="/ppt/notesMasters/notesMaster1.xml" Id="R8facb139fcd74871" /></Relationships>
</file>

<file path=ppt/notesSlides/_rels/notesSlide8.xml.rels>&#65279;<?xml version="1.0" encoding="utf-8"?><Relationships xmlns="http://schemas.openxmlformats.org/package/2006/relationships"><Relationship Type="http://schemas.openxmlformats.org/officeDocument/2006/relationships/slide" Target="/ppt/slides/slide8.xml" Id="R14d62d68301b4ee3" /><Relationship Type="http://schemas.openxmlformats.org/officeDocument/2006/relationships/notesMaster" Target="/ppt/notesMasters/notesMaster1.xml" Id="R4dd03bc78fd445ad" /></Relationships>
</file>

<file path=ppt/notesSlides/_rels/notesSlide9.xml.rels>&#65279;<?xml version="1.0" encoding="utf-8"?><Relationships xmlns="http://schemas.openxmlformats.org/package/2006/relationships"><Relationship Type="http://schemas.openxmlformats.org/officeDocument/2006/relationships/slide" Target="/ppt/slides/slide9.xml" Id="R1255c417a75c40a3" /><Relationship Type="http://schemas.openxmlformats.org/officeDocument/2006/relationships/notesMaster" Target="/ppt/notesMasters/notesMaster1.xml" Id="Rc8ca3c28737a4b4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ccfb340bdb142c6" /><Relationship Type="http://schemas.openxmlformats.org/officeDocument/2006/relationships/notesMaster" Target="/ppt/notesMasters/notesMaster1.xml" Id="Rb108fc68fc3c417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01189ae25734a23" /><Relationship Type="http://schemas.openxmlformats.org/officeDocument/2006/relationships/notesMaster" Target="/ppt/notesMasters/notesMaster1.xml" Id="R80e54e98774242e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e5bbe7c281044e1" /><Relationship Type="http://schemas.openxmlformats.org/officeDocument/2006/relationships/notesMaster" Target="/ppt/notesMasters/notesMaster1.xml" Id="R1673e74a50a847a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681843ca8e44836" /><Relationship Type="http://schemas.openxmlformats.org/officeDocument/2006/relationships/notesMaster" Target="/ppt/notesMasters/notesMaster1.xml" Id="R3975b297e53247f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b9d574c134e4e0d" /><Relationship Type="http://schemas.openxmlformats.org/officeDocument/2006/relationships/notesMaster" Target="/ppt/notesMasters/notesMaster1.xml" Id="Rb021e73e0e0e47f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bc8828f219049c2" /><Relationship Type="http://schemas.openxmlformats.org/officeDocument/2006/relationships/notesMaster" Target="/ppt/notesMasters/notesMaster1.xml" Id="Rd43560ba2f9342b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34b271b783340da" /><Relationship Type="http://schemas.openxmlformats.org/officeDocument/2006/relationships/notesMaster" Target="/ppt/notesMasters/notesMaster1.xml" Id="R829224f913c8439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77c4fc2a50443ab" /><Relationship Type="http://schemas.openxmlformats.org/officeDocument/2006/relationships/notesMaster" Target="/ppt/notesMasters/notesMaster1.xml" Id="Re2aca602d932494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ff0a02d134d438b" /><Relationship Type="http://schemas.openxmlformats.org/officeDocument/2006/relationships/notesMaster" Target="/ppt/notesMasters/notesMaster1.xml" Id="R6d89f257391b44c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f7f03b0407a467a" /><Relationship Type="http://schemas.openxmlformats.org/officeDocument/2006/relationships/notesMaster" Target="/ppt/notesMasters/notesMaster1.xml" Id="R9711ce435be04aa4"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f4e7c9c1b1314ab3" /><Relationship Type="http://schemas.openxmlformats.org/officeDocument/2006/relationships/notesMaster" Target="/ppt/notesMasters/notesMaster1.xml" Id="R729465f298c640a7"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8adbdad4bc5d4779" /><Relationship Type="http://schemas.openxmlformats.org/officeDocument/2006/relationships/notesMaster" Target="/ppt/notesMasters/notesMaster1.xml" Id="R22d82d76fecd487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3880f6005aa74eca" /><Relationship Type="http://schemas.openxmlformats.org/officeDocument/2006/relationships/notesMaster" Target="/ppt/notesMasters/notesMaster1.xml" Id="R42dbd77a864a4335"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d582049276d7474c" /><Relationship Type="http://schemas.openxmlformats.org/officeDocument/2006/relationships/notesMaster" Target="/ppt/notesMasters/notesMaster1.xml" Id="R9fbc281d38e743a7"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0244ddaec08d45b6" /><Relationship Type="http://schemas.openxmlformats.org/officeDocument/2006/relationships/notesMaster" Target="/ppt/notesMasters/notesMaster1.xml" Id="R434e2777005c4583"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87a2110c942c4d36" /><Relationship Type="http://schemas.openxmlformats.org/officeDocument/2006/relationships/notesMaster" Target="/ppt/notesMasters/notesMaster1.xml" Id="R65a5be62271a4489"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2e44887adc934c80" /><Relationship Type="http://schemas.openxmlformats.org/officeDocument/2006/relationships/notesMaster" Target="/ppt/notesMasters/notesMaster1.xml" Id="Rb87c8ce615bd4511"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372bb75aa1f749aa" /><Relationship Type="http://schemas.openxmlformats.org/officeDocument/2006/relationships/notesMaster" Target="/ppt/notesMasters/notesMaster1.xml" Id="R629fe35b3e954205"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15c8520eb6d541ee" /><Relationship Type="http://schemas.openxmlformats.org/officeDocument/2006/relationships/notesMaster" Target="/ppt/notesMasters/notesMaster1.xml" Id="Rc3db06457fa94a44"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58c9384044714963" /><Relationship Type="http://schemas.openxmlformats.org/officeDocument/2006/relationships/notesMaster" Target="/ppt/notesMasters/notesMaster1.xml" Id="Rf4138b884f1a4066"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c292bb42d7e24f5d" /><Relationship Type="http://schemas.openxmlformats.org/officeDocument/2006/relationships/notesMaster" Target="/ppt/notesMasters/notesMaster1.xml" Id="R046f7c210e264a58"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8dde41a31ef944d5" /><Relationship Type="http://schemas.openxmlformats.org/officeDocument/2006/relationships/notesMaster" Target="/ppt/notesMasters/notesMaster1.xml" Id="R2dddf4072eca4f75"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f698b211782049d1" /><Relationship Type="http://schemas.openxmlformats.org/officeDocument/2006/relationships/notesMaster" Target="/ppt/notesMasters/notesMaster1.xml" Id="R202ecadc513c4825"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cf29d197dd774f88" /><Relationship Type="http://schemas.openxmlformats.org/officeDocument/2006/relationships/notesMaster" Target="/ppt/notesMasters/notesMaster1.xml" Id="Rdc3427baa92c4558"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a301fa0bbe6143ef" /><Relationship Type="http://schemas.openxmlformats.org/officeDocument/2006/relationships/notesMaster" Target="/ppt/notesMasters/notesMaster1.xml" Id="R17f566a1e4b948a4"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60afee9b45944b69" /><Relationship Type="http://schemas.openxmlformats.org/officeDocument/2006/relationships/notesMaster" Target="/ppt/notesMasters/notesMaster1.xml" Id="Rd9597658f5d8498f"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29e56342cde34f9a" /><Relationship Type="http://schemas.openxmlformats.org/officeDocument/2006/relationships/notesMaster" Target="/ppt/notesMasters/notesMaster1.xml" Id="R68ecc74462394ba7"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3ba6d74977564fbb" /><Relationship Type="http://schemas.openxmlformats.org/officeDocument/2006/relationships/notesMaster" Target="/ppt/notesMasters/notesMaster1.xml" Id="Rde2d90df3afb4316"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2396f87f78574aa2" /><Relationship Type="http://schemas.openxmlformats.org/officeDocument/2006/relationships/notesMaster" Target="/ppt/notesMasters/notesMaster1.xml" Id="R7c8f196c85cd4baa"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ac66c4ec991042f6" /><Relationship Type="http://schemas.openxmlformats.org/officeDocument/2006/relationships/notesMaster" Target="/ppt/notesMasters/notesMaster1.xml" Id="Rf0198f7f8a8043f0"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6a9c22e20e0d4744" /><Relationship Type="http://schemas.openxmlformats.org/officeDocument/2006/relationships/notesMaster" Target="/ppt/notesMasters/notesMaster1.xml" Id="R78d9ff83f38f4953"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b781184ecd8c40b4" /><Relationship Type="http://schemas.openxmlformats.org/officeDocument/2006/relationships/notesMaster" Target="/ppt/notesMasters/notesMaster1.xml" Id="R9327e0c6be0b4fe3"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0fd9437ff6204cdf" /><Relationship Type="http://schemas.openxmlformats.org/officeDocument/2006/relationships/notesMaster" Target="/ppt/notesMasters/notesMaster1.xml" Id="R97ded4ba53c44b84"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9fbce3c9942b4c51" /><Relationship Type="http://schemas.openxmlformats.org/officeDocument/2006/relationships/notesMaster" Target="/ppt/notesMasters/notesMaster1.xml" Id="Re2c74279b3a54cd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Venipuncture Standards and Practice, Module 7 of the BMHI thirty-hour intravenous therapy course. Explain that this module prepares learners for safe practice and the supervised in-person competency day. Preview the learning objectives and remind learners to complete the matching portal lesson and assessment.</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 BMHI IVT 030 course content. Cover media: Pexels photo by Sahil Singh, https://www.pexels.com/photo/nurses-training-with-medical-mannequin-in-simulation-lab-35645529/, downloaded October 23, 2026 under the Pexels License.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learning objectives. First, Select an appropriate peripheral vein and catheter Next, Perform aseptic insertion and securement on a task trainer Next, Assess, maintain, and discontinue a peripheral IV safely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Site and device selection. First, Begin distally when appropriate. Next, Avoid compromised extremities and sites of infection, flexion, poor circulation, or prior complications. Next, Select the smallest gauge and shortest catheter that can support the ordered therapy.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Aseptic insertion. First, Perform hand hygiene, prepare and position the patient, apply the tourniquet, cleanse the site with the approved antiseptic, let it dry, stabilize the vein, observe flashback, thread the catheter, and activate sharps protection.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Securement and maintenance. First, Connect a primed extension aseptically, assess patency without force, secure the catheter, apply and label the dressing, trace tubing, start the ordered therapy, and reassess the site and patient.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Complication cues. First, Cool swelling suggests infiltration. Next, Pain, warmth, redness, or a venous cord suggests phlebitis. Next, Burning or tissue injury with a vesicant suggests extravasation. Next, Stop unsafe therapy and follow the condition-specific protocol.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Skin anatomy for peripheral IV insertion. First, Epidermis: the outer protective barrier. Next, Dermis: connective tissue with sensory structures, glands, vessels, and nerves. Next, Subcutaneous tissue: variable adipose and connective tissue above deeper structures. Next, Superficial vein: the intended peripheral catheter target; nearby arteries and nerves must be avoided.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Original BMHI educational visual generated October 23, 2026. Source: 30 Hour IV Certification Study Guide, revised March 2013, PDF pages 19-21.</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Why the skin layers matter. First, Epidermis: Mechanical barrier against microorganisms; Antisepsis and no-touch technique protect the breached barrier Next, Dermis: Contains sensory receptors, vessels, follicles, and glands; Penetration causes sensation and requires controlled technique Next, Subcutaneous tissue: Provides padding and contains variable fat and connective tissue; Changes vein depth, palpation, stabilization, and insertion angle Next, Peripheral nerve: Carries sensation and motor signals; Electric pain, paresthesia, or radiating symptoms require an immediate stop Next, Artery: High-pressure pulsatile vessel; Pulsation or unexpected blood return requires stopping and escalation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Source: 30 Hour IV Certification Study Guide, revised March 2013, PDF pages 19-21.</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Superficial veins of the hand and forearm. First, Begin with a complete inspection and palpation of both appropriate extremities. Next, Follow the vein's direction, depth, resilience, length, and branching. Next, Start distally when the therapy and patient condition permit. Next, Preserve stronger proximal options for future access.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Original BMHI educational visual generated October 23, 2026. Source: 30 Hour IV Certification Study Guide, revised March 2013, PDF pages 21-23.</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Forearm vascular anatomy. First, Superficial veins are common peripheral access targets. Next, Veins have thinner walls, lower pressure, and valves; arteries have thicker muscular walls and pulsatile flow. Next, The skin, subcutaneous tissue, nerves, and nearby arteries influence site selection and insertion angle. Next, Confirm anatomy by inspection and palpation before preparing the site.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Original BMHI educational anatomy image generated October 23, 2026. Source topics: 30 Hour IV Certification Study Guide, revised March 2013, PDF pages 20-23.</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Skin layers and insertion discomfort. First, Epidermis: Provides the outer barrier and must be cleansed without recontamination Next, Dermis: Contains sensory structures; rapid controlled penetration may reduce prolonged discomfort Next, Subcutaneous tissue: Depth varies by patient and changes vein palpation and insertion angle Next, Vessel wall: Trauma to the intima can promote inflammation and thrombosis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Source: 30 Hour IV Certification Study Guide, revised March 2013, PDF pages 20-21.</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Common upper-extremity veins. First, Dorsal metacarpal network: Visible, distal starting point; Movement and fragile skin may affect comfort and securement Next, Cephalic vein: Often accessible along the radial forearm; Near the wrist, protect against motion and nerve or artery injury Next, Basilic vein: May be large and straight; Can roll and lies near important structures proximally Next, Median antebrachial region: May provide a forearm option; Anatomy varies; assess depth, direction, and therapy needs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Source: 30 Hour IV Certification Study Guide, revised March 2013, PDF pages 22-23.</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Hand and wrist veins: advantages and disadvantages. First, Dorsal metacarpal veins: Visible, distal, often easy to stabilize in adults; Painful movement, vulnerable to dislodgement, fragile skin in older adults Next, Dorsal venous network: Several branches and easy visual assessment; Branch points, valves, short segments, and hand use can limit dwell Next, Cephalic near the thumb or wrist: May be prominent and accommodate a suitable catheter; Wrist motion, radial nerve or artery proximity, and discomfort Next, Digital veins: Possible last-resort option for very small therapy; Small, painful, requires immobilization, limited flow and device size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Source: 30 Hour IV Certification Study Guide, revised March 2013, PDF pages 22-23. Device choice follows therapy needs and current policy.</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Forearm and antecubital veins: advantages and disadvantages. First, Cephalic forearm: Often straight, accessible, and away from major flexion; May roll and become deeper proximally Next, Basilic forearm: Often large with good flow; Can be mobile and lies near arteries and nerves proximally Next, Median antebrachial vein: May provide a stable forearm segment; Size and course vary and may join deeper structures Next, Median cubital region: Large and easy to locate; useful in urgent access; Elbow flexion, dislodgement, occlusion, nerve and artery proximity; poor routine long-term choice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Source: 30 Hour IV Certification Study Guide, revised March 2013, PDF pages 22-23.</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Peripheral IV insertion supplies. First, Select the catheter and equipment after assessing the patient, therapy, vein, and expected duration. Next, Open supplies only when ready to maintain asepsis. Next, Place the sharps container within immediate reach before insertion. Next, Prepare backup supplies without contaminating the primary setup.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Original BMHI educational visual generated October 23, 2026. Source topics: 30 Hour IV Certification Study Guide, revised March 2013, PDF pages 24-26.</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Peripheral IV supply checklist. First, Patient and clinician protection: Clean gloves and additional PPE based on exposure risk Next, Access: Appropriate safety catheter, tourniquet, optional vein-visualization or warming aid per policy Next, Skin preparation: Facility-approved antiseptic, sterile gauze, and enough drying time Next, Connection: Primed extension tubing, needleless connector, ordered solution or flush, compatible administration set Next, Securement: Stabilization device, transparent dressing or indicated alternative, tape and label Next, Safety and cleanup: Sharps container, waste receptacle, absorbent material, and spill supplies when indicated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Source: 30 Hour IV Certification Study Guide, revised March 2013, PDF pages 24-26. Use the device instructions and facility supply list.</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Extremities and sites that need special caution. First, Infection, burn, wound, hematoma, or impaired circulation: Avoid the affected site and select a safer location Next, Dialysis fistula or graft: Do not use the extremity unless a specialist-specific emergency protocol authorizes it Next, Lymph-node surgery, mastectomy, or lymphedema risk: Follow the current patient-specific restriction and facility policy Next, Paralysis or reduced sensation: Avoid when possible because injury or complication may go unrecognized Next, Lower extremity in an adult: Use only when clinically authorized and replace with safer access as directed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Source: 30 Hour IV Certification Study Guide, revised March 2013, PDF pages 22-24. Current patient-specific and facility restrictions control.</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Primary and secondary administration sets. First, Macrodrip set: Gravity delivery with a manufacturer-specified drop factor; Read the actual package; never assume 10, 15, or 20 gtt/mL Next, Microdrip set: Fine gravity control, commonly 60 gtt/mL; Confirm package and patient-specific use Next, Primary set: Continuous fluid path from main container; Prime, label, trace, and change according to current policy Next, Secondary set: Intermittent medication through compatible primary line; Verify compatibility, bag height, connection port, pump channel, volume, and rate Next, Extension or needleless connector: Adds access and supports securement; Prime, disinfect, protect key parts, and assess patency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Source: 30 Hour IV Certification Study Guide, revised March 2013, PDF pages 28-29. Manufacturer information and current policy control.</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Medication delivery methods. First, Continuous infusion: Medication or fluid delivered at a prescribed ongoing rate; Concentration, pump programming, line tracing, cumulative dose Next, Intermittent or IVPB: Medication delivered at scheduled intervals; Compatibility, secondary setup, residual volume, timing Next, Direct IV administration: Small volume delivered over a specified time; Scope, dilution, rate, patency, immediate adverse effect Next, Saline lock: Intermittent access without continuous fluid; Patency assessment, flushing sequence, connector disinfection Next, Bolus fluid: Rapid prescribed fluid volume; Hemodynamic tolerance and exact volume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Source: 30 Hour IV Certification Study Guide, revised March 2013, PDF page 28.</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Medication compatibility has several dimensions. First, Physical: Visible precipitate, haze, color change, gas, or separation; Do not administer; stop and clarify Next, Chemical: Drug degrades or reacts even without visible change; Use an approved compatibility reference Next, Therapeutic: Combined drug effects create an unintended clinical result; Review interactions, patient condition, and monitoring Next, Container or tubing: Drug binds to, leaches from, or is altered by the delivery system; Follow pharmacy and manufacturer instructions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Source: 30 Hour IV Certification Study Guide, revised March 2013, PDF pages 31-32.</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Medication action and patient response. First, Absorption and bioavailability: How does direct IV delivery change onset and risk? Next, Distribution: Do fluid status, protein binding, perfusion, or body composition change effect? Next, Metabolism: Does liver function alter clearance or active metabolites? Next, Excretion: Does kidney function require dose or interval adjustment? Next, Interaction: Could another drug, food, herb, disease, or test change the response?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Source: 30 Hour IV Certification Study Guide, revised March 2013, PDF pages 30-32.</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Choose the site before the catheter. First, Start with the prescribed therapy: pH, osmolarity, duration, flow requirement, and vesicant risk affect device choice. Next, Select a vein that is palpable, resilient, and appropriate for the therapy. Next, Prefer the smallest suitable gauge and shortest catheter. Next, Avoid infected, injured, poorly perfused, or policy-restricted extremities and areas of flexion when possible.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Vein-wall anatomy and complication risk. First, Tunica intima: Smooth inner lining and venous valves; Trauma, chemical irritation, or contamination can promote phlebitis and thrombosis Next, Tunica media: Muscle and elastic tissue; Irritation can trigger venospasm, pain, and reduced flow Next, Tunica adventitia: Outer connective-tissue support; Deep advancement or vessel injury can affect surrounding tissue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Additional source: Peripheral Intravenous Initiation Self Learning Module, pages 7-8.</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Vein or artery? Stop when the findings do not fit. First, Palpation: Soft, compressible, nonpulsatile; Pulsation or firm recoil: do not cannulate Next, Location: Often superficial and visible or palpable; Often deeper and protected; confirm anatomy before proceeding Next, Blood return: Usually darker and lower pressure; Bright or pulsatile return is an emergency cue—stop and escalate Next, When uncertain: Reassess the site and therapy; Do not rely on color alone; obtain qualified assistance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Additional source: Phlebotomy Skills and Practicum Review, pages 7-8. Blood color can be altered by oxygenation and clinical conditions; palpation, anatomy, patient assessment, and facility escalation policy take priority.</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Vein assessment uses sight and touch. First, Inspect both appropriate extremities before choosing a site. Next, Use one or two fingertips rather than the thumb to palpate the vessel. Next, Press lightly, release, and assess elasticity, rebound filling, direction, depth, and length. Next, Palpate even when a vein looks easy to access; appearance alone does not confirm suitability.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Additional source: Peripheral Intravenous Initiation Self Learning Module, page 18.</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Strategies for a poorly filled vein. First, Lower the arm below heart level before applying the tourniquet when the patient's condition permits. Next, Ask the patient to gently open and close the hand, then relax it for insertion. Next, Use light tapping rather than forceful striking, which may cause vasoconstriction. Next, Apply an approved warm compress according to facility policy and reassess the vein before proceeding.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Additional source: Peripheral Intravenous Initiation Self Learning Module, pages 19-20. Follow current facility policy for warming devices and exposure time.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Peripheral catheter selection. First, Routine fluids or intermittent medication: Use the smallest gauge that reliably supports therapy Next, Rapid volume or blood: A larger bore may be required when clinically appropriate Next, Fragile or small veins: Choose a smaller gauge and appropriate short catheter Next, Long duration or irritating therapy: Reassess whether a different vascular-access device is indicated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Insertion sequence: prepare and access. First, Verify the order, identify and teach the patient, perform hand hygiene, and gather supplies. Next, Position the limb, assess veins, apply the tourniquet, and select the site. Next, Cleanse with the approved antiseptic using the required friction and allow it to dry completely. Next, Stabilize the vein, insert bevel up, observe flashback, lower the angle, and advance the catheter—not the needle.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Insertion sequence: connect and secure. First, Release the tourniquet, apply appropriate pressure, activate the sharps safety device, and discard immediately. Next, Connect the primed extension without contaminating key parts. Next, Confirm patency using the approved assessment; never force a flush. Next, Secure and dress the catheter, label it, start the ordered therapy, teach the patient, and document.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Sharps safety is part of every IV start. First, Place an approved, closable, puncture-resistant sharps container within easy reach before beginning. Next, Never bend, break, remove, or recap the introducer needle. Next, Activate the engineered safety feature immediately after withdrawal and visually confirm activation when the device permits. Next, Dispose of the sharp at once; never carry it, hand it to another person, or force it into an overfilled container. Next, If an injury occurs, stop safely and follow the facility exposure-control plan without delay.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Additional sources: Phlebotomy Skills and Practicum Review, pages 5-6 and 12; 30 Hour IV Certification Study Guide, revised March 2013, pages 9-11. Content is adapted to current OSHA requirements, the device instructions for use, and facility policy.</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Occupational exposure: immediate response. First, Needlestick or cut: Wash with soap and water; do not scrub aggressively or squeeze the wound Next, Eye or mucous-membrane splash: Flush promptly with water or the designated eyewash Next, Nonintact-skin contact: Wash the area promptly and remove contaminated clothing as directed Next, Every exposure: Report immediately, identify the source process when permitted, and obtain confidential medical evaluation and follow-up Next, Do not delay reporting while deciding whether the exposure seems serious. Follow the employer's written exposure-control plan and current post-exposure protocol.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Do not delay reporting while deciding whether the exposure seems serious. Follow the employer's written exposure-control plan and current post-exposure protocol. Additional sources: Phlebotomy Skills and Practicum Review, pages 5-6; 30 Hour IV Certification Study Guide, revised March 2013, pages 9-11. No historical transmission statistics or obsolete cleanup directions were imported.</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Unsuccessful insertion: safe next steps. First, Vein rolls away: Inadequate stabilization; Stop probing; stabilize correctly and use a new catheter/site as required Next, Hematoma develops: Posterior-wall trauma or excessive angle; Stop, remove, apply pressure, and reassess Next, Flashback appears but catheter will not advance: Only the needle tip may be in the lumen; Do not reinsert the needle into the catheter; remove and restart according to policy Next, Repeated unsuccessful attempts: Site, device, or operator factors; Stop at the facility attempt limit and escalate to a more experienced clinician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Additional source: Peripheral Intravenous Initiation Self Learning Module, page 27. Attempt limits must follow current BMHI clinical-site policy.</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Infusion flow troubleshooting. First, Pump occlusion or slowed flow: Trace the line from patient to container for clamps, kinks, or compression; Correct an external cause only after assessing the patient and site Next, Flow changes with limb position: Catheter tip may contact the vein wall or lie near flexion; Reposition and reassess; do not manipulate a contaminated catheter Next, Blood backs into tubing: Bag height, empty container, clamp position, or interruption; Protect against air and clot risk; restore flow only under order and policy Next, Resistance during flushing: Mechanical obstruction, malposition, or complication; Never force the flush; stop use and escalate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Additional source: Peripheral Intravenous Initiation Self Learning Module, pages 28-29. Device-specific actions require current manufacturer instructions and facility policy.</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Visual comparison of local IV complications. First, Infiltration: cool, pale swelling and slowed or stopped flow. Next, Phlebitis: pain, warmth, redness, swelling, or a palpable venous cord. Next, Extravasation: burning, tense swelling, blistering, discoloration, or worsening tissue injury after a vesicant or irritant. Next, Local infection: increasing redness, warmth, tenderness, drainage, or associated fever.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Original BMHI educational visual generated October 23, 2026. Illustrations are examples only; assess the patient and follow the current facility protocol.</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First response to a suspected IV complication. First, Stop the infusion when the site or patient response becomes unsafe. Next, Assess the site, limb, vital signs, symptoms, medication or solution, and estimated volume infused. Next, Do not flush a suspected extravasation. Leave the catheter in place when the agent-specific protocol requires aspiration or antidote delivery. Next, Notify the appropriate clinician, follow the specific protocol, document the event, and arrange reassessment.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Original BMHI educational visual generated October 23, 2026. The exact sequence depends on the medication or solution, complication, scope, and facility policy.</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Local complication interventions. First, Infiltration: Stop infusion; disconnect tubing; remove catheter unless the protocol requires temporary retention; Elevate and use a solution-specific compress when directed; restart at another site; reassess tissue and circulation Next, Phlebitis: Stop infusion and remove the peripheral catheter; Apply the ordered or policy-directed compress; notify as indicated; restart elsewhere; trend the vein and symptoms Next, Extravasation: Stop infusion; do not flush; disconnect tubing; leave catheter in place for aspiration or antidote when the protocol directs; Notify immediately; identify agent and dose; apply agent-specific antidote and compress; elevate when directed; photograph or measure and arrange follow-up Next, Local infection: Stop using the site and notify the supervising clinician; Remove or culture as ordered; assess for systemic infection; initiate the prescribed infection or sepsis pathway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Use the current medication-specific extravasation reference and facility policy. Compress type and catheter removal timing vary by agent.</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Local complication comparison. First, Cool, pale swelling; slowed infusion: Infiltration; Stop infusion and follow infiltration protocol Next, Pain, warmth, redness, venous cord: Phlebitis; Stop infusion, remove as indicated, assess and report Next, Burning, blistering, tissue injury with vesicant: Extravasation; Stop; do not flush; follow agent-specific protocol Next, Drainage, tenderness, fever: Local or bloodstream infection; Stop unsafe use, assess, notify, and follow culture/removal policy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Systemic IV complications. First, Fluid overload: Dyspnea, crackles, edema, hypertension, oxygen decline; Slow or stop as authorized, position and support breathing, notify promptly Next, Speed shock or medication reaction: Flushing, headache, chest tightness, hypotension, rapid change after administration; Stop medication, assess ABCs, activate emergency response Next, Air embolism: Sudden dyspnea, chest pain, confusion, hypotension; Clamp or protect the system, call emergency response, support ABCs Next, Catheter-related bloodstream infection: Fever, chills, hypotension, altered status; Stop unsafe use, assess, notify, and follow culture and sepsis pathway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Source: 30 Hour IV Certification Study Guide, revised March 2013, PDF pages 32-35.</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Infiltration severity and response. First, Assess pain, temperature, color, capillary refill, swelling, skin integrity, sensation, and the estimated area involved. Next, Stop the infusion and disconnect tubing. Follow the solution-specific policy before removing the catheter because aspiration or an antidote may be required for extravasation. Next, Elevate or apply a compress only when the specific protocol directs it. Next, Document findings, estimated severity, solution and volume, actions, notifications, patient response, and follow-up plan.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Source: 30 Hour IV Certification Study Guide, revised March 2013, PDF pages 32-35. Use the facility's current infiltration and extravasation scale.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Phlebitis causes and prevention. First, Mechanical: Large catheter, flexion, movement, poor securement; Smallest suitable catheter, stable site, effective securement Next, Chemical: Extreme pH or osmolarity, irritating medication; Correct dilution, rate, access device, and compatibility Next, Bacterial: Contamination of site, hub, or connection; Hand hygiene, antisepsis, connector disinfection, closed system Next, Patient-related: Fragile veins, inflammation, hypercoagulability; Individualized site and device plan with frequent assessment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Source: 30 Hour IV Certification Study Guide, revised March 2013, PDF pages 32-35.</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Complete documentation tells the clinical story. First, Record date and time, site, vein or anatomic location, catheter gauge and length when required, number of attempts, and inserter. Next, Record skin preparation, dressing, securement, patency assessment, solution, rate, pump, and patient tolerance. Next, Document teaching, complications, actions, notifications, and response.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practice and competency expectations. First, Palpate and select veins on a task trainer Next, Perform the complete insertion sequence without contamination Next, Discontinue the catheter and verify that it remains intact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 BMHI IVT 030 course content. Online preparation precedes live practice.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module key points. First, Select an appropriate peripheral vein and catheter Next, Perform hand hygiene, prepare and position the patient, apply the tourniquet, cleanse the site with the approved antiseptic, let it dry, stabilize the vein, observe flashback, thread the catheter, and activate sharps protection. Next, Cool swelling suggests infiltration. Pain, warmth, redness, or a venous cord suggests phlebitis. Burning or tissue injury with a vesicant suggests extravasation. Stop unsafe therapy and follow the condition-specific protocol.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a304d0d260a4b1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a5e64311bad4ff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ba2798d89fd4c1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a6fa6ee19eb4f3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5489ab7fffe45c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f2a128c50864c1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84516CE-EA40-4D82-A8E5-52BDAD9B6AE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BCA9534-D963-4591-BA0C-ECCE97FB8DC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A9CD97A-9E54-4EA4-912E-EDA736238F4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E107045-9059-44F5-986F-4AEC0BD1956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527A804-F0A0-4F53-BB79-B3B106E3A3F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2470FCC-F21D-47CB-8771-396D74B0487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542693D-B3E0-46DE-B7BB-11EF72CED07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64B78B7-874B-44D5-BA9D-E243620EE2B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96464CC-2E9A-4DBE-BA41-0D4231FCB69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2FD099E-29B0-4F4F-8354-155DD37DE39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f52a9db57564037" /><Relationship Type="http://schemas.openxmlformats.org/officeDocument/2006/relationships/slideLayout" Target="/ppt/slideLayouts/slideLayout1.xml" Id="Rae6386bcc2ee4277" /><Relationship Type="http://schemas.openxmlformats.org/officeDocument/2006/relationships/slideLayout" Target="/ppt/slideLayouts/slideLayout2.xml" Id="R2624da16674047e7" /><Relationship Type="http://schemas.openxmlformats.org/officeDocument/2006/relationships/slideLayout" Target="/ppt/slideLayouts/slideLayout3.xml" Id="R1db59161473447e0" /><Relationship Type="http://schemas.openxmlformats.org/officeDocument/2006/relationships/slideLayout" Target="/ppt/slideLayouts/slideLayout4.xml" Id="R92a3382675ca4881" /><Relationship Type="http://schemas.openxmlformats.org/officeDocument/2006/relationships/slideLayout" Target="/ppt/slideLayouts/slideLayout5.xml" Id="R653ffe7d20c04594" /><Relationship Type="http://schemas.openxmlformats.org/officeDocument/2006/relationships/slideLayout" Target="/ppt/slideLayouts/slideLayout6.xml" Id="R66b1e8d853174e8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e6386bcc2ee4277"/>
    <p:sldLayoutId xmlns:r="http://schemas.openxmlformats.org/officeDocument/2006/relationships" id="2147483650" r:id="R2624da16674047e7"/>
    <p:sldLayoutId xmlns:r="http://schemas.openxmlformats.org/officeDocument/2006/relationships" id="2147483651" r:id="R1db59161473447e0"/>
    <p:sldLayoutId xmlns:r="http://schemas.openxmlformats.org/officeDocument/2006/relationships" id="2147483652" r:id="R92a3382675ca4881"/>
    <p:sldLayoutId xmlns:r="http://schemas.openxmlformats.org/officeDocument/2006/relationships" id="2147483653" r:id="R653ffe7d20c04594"/>
    <p:sldLayoutId xmlns:r="http://schemas.openxmlformats.org/officeDocument/2006/relationships" id="2147483654" r:id="R66b1e8d853174e8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3f0b30bf51e4fb2" /><Relationship Type="http://schemas.openxmlformats.org/officeDocument/2006/relationships/image" Target="/ppt/media/image.jpeg" Id="Rcb4b73bd425b4e9c" /><Relationship Type="http://schemas.openxmlformats.org/officeDocument/2006/relationships/notesSlide" Target="/ppt/notesSlides/notesSlide1.xml" Id="R40496234413b4cf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97a70589aa34c7c" /><Relationship Type="http://schemas.openxmlformats.org/officeDocument/2006/relationships/notesSlide" Target="/ppt/notesSlides/notesSlide2.xml" Id="R855dbdd6d212498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e65fcd902f64cd0" /><Relationship Type="http://schemas.openxmlformats.org/officeDocument/2006/relationships/notesSlide" Target="/ppt/notesSlides/notesSlide3.xml" Id="R69a79c8713154e4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604b70ba2414735" /><Relationship Type="http://schemas.openxmlformats.org/officeDocument/2006/relationships/notesSlide" Target="/ppt/notesSlides/notesSlide4.xml" Id="R4f7e325dd664480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a4092b6120b423b" /><Relationship Type="http://schemas.openxmlformats.org/officeDocument/2006/relationships/notesSlide" Target="/ppt/notesSlides/notesSlide5.xml" Id="R47089800071c47e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4c7f763a45d4da7" /><Relationship Type="http://schemas.openxmlformats.org/officeDocument/2006/relationships/notesSlide" Target="/ppt/notesSlides/notesSlide6.xml" Id="R3bd81946271442a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45f4a10f3e14649" /><Relationship Type="http://schemas.openxmlformats.org/officeDocument/2006/relationships/image" Target="/ppt/media/image.png" Id="R4c6d5fb09aca4035" /><Relationship Type="http://schemas.openxmlformats.org/officeDocument/2006/relationships/notesSlide" Target="/ppt/notesSlides/notesSlide7.xml" Id="R6f5dc45cded74c0a"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520a3dce2294376" /><Relationship Type="http://schemas.openxmlformats.org/officeDocument/2006/relationships/notesSlide" Target="/ppt/notesSlides/notesSlide8.xml" Id="Ra82b7d14476d40a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0b0b565629248e8" /><Relationship Type="http://schemas.openxmlformats.org/officeDocument/2006/relationships/image" Target="/ppt/media/image2.png" Id="Rd81309de7f34440c" /><Relationship Type="http://schemas.openxmlformats.org/officeDocument/2006/relationships/notesSlide" Target="/ppt/notesSlides/notesSlide9.xml" Id="R10b3e13c2781423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d0592a3897214901" /><Relationship Type="http://schemas.openxmlformats.org/officeDocument/2006/relationships/image" Target="/ppt/media/image3.png" Id="R69cf7705b0f149ff" /><Relationship Type="http://schemas.openxmlformats.org/officeDocument/2006/relationships/notesSlide" Target="/ppt/notesSlides/notesSlide10.xml" Id="R6cb0ee69b58b4f5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bda5cde9ad744194" /><Relationship Type="http://schemas.openxmlformats.org/officeDocument/2006/relationships/notesSlide" Target="/ppt/notesSlides/notesSlide11.xml" Id="Ra4759bc04447472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db3c5fe4493a4383" /><Relationship Type="http://schemas.openxmlformats.org/officeDocument/2006/relationships/notesSlide" Target="/ppt/notesSlides/notesSlide12.xml" Id="Rd0de296db0bd462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fa0b51e19f4c438d" /><Relationship Type="http://schemas.openxmlformats.org/officeDocument/2006/relationships/notesSlide" Target="/ppt/notesSlides/notesSlide13.xml" Id="R907495ae034f4e9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4cff3d0bf91444a8" /><Relationship Type="http://schemas.openxmlformats.org/officeDocument/2006/relationships/notesSlide" Target="/ppt/notesSlides/notesSlide14.xml" Id="R93a9ef6555e3444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9fdf88b812944040" /><Relationship Type="http://schemas.openxmlformats.org/officeDocument/2006/relationships/image" Target="/ppt/media/image4.png" Id="R001396af19394598" /><Relationship Type="http://schemas.openxmlformats.org/officeDocument/2006/relationships/notesSlide" Target="/ppt/notesSlides/notesSlide15.xml" Id="Rbe99d26f8a7342d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02bda62e1c174ffb" /><Relationship Type="http://schemas.openxmlformats.org/officeDocument/2006/relationships/notesSlide" Target="/ppt/notesSlides/notesSlide16.xml" Id="R6acbaa59e3c8444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0d7b2459976f43d9" /><Relationship Type="http://schemas.openxmlformats.org/officeDocument/2006/relationships/notesSlide" Target="/ppt/notesSlides/notesSlide17.xml" Id="Rd2b171bc447148f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035ef727344a4501" /><Relationship Type="http://schemas.openxmlformats.org/officeDocument/2006/relationships/notesSlide" Target="/ppt/notesSlides/notesSlide18.xml" Id="R9c91e4d0f7314c7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e90e105ad9a24803" /><Relationship Type="http://schemas.openxmlformats.org/officeDocument/2006/relationships/notesSlide" Target="/ppt/notesSlides/notesSlide19.xml" Id="R9226fcab4767421c"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2de656b3b98d496e" /><Relationship Type="http://schemas.openxmlformats.org/officeDocument/2006/relationships/notesSlide" Target="/ppt/notesSlides/notesSlide20.xml" Id="Rac2e13ec46d44627"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8ee31ffb6557456c" /><Relationship Type="http://schemas.openxmlformats.org/officeDocument/2006/relationships/notesSlide" Target="/ppt/notesSlides/notesSlide21.xml" Id="R533a9228d78043df"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7f386c3de31b46f2" /><Relationship Type="http://schemas.openxmlformats.org/officeDocument/2006/relationships/notesSlide" Target="/ppt/notesSlides/notesSlide22.xml" Id="R1e7e3ccc00f24585"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46aabd1ea8f2445e" /><Relationship Type="http://schemas.openxmlformats.org/officeDocument/2006/relationships/notesSlide" Target="/ppt/notesSlides/notesSlide23.xml" Id="Rbd0c231ea22642a7"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e87193a9cdc34093" /><Relationship Type="http://schemas.openxmlformats.org/officeDocument/2006/relationships/notesSlide" Target="/ppt/notesSlides/notesSlide24.xml" Id="Ra6b69feb2646455f"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374ab1e931a94c76" /><Relationship Type="http://schemas.openxmlformats.org/officeDocument/2006/relationships/notesSlide" Target="/ppt/notesSlides/notesSlide25.xml" Id="R524c9b0658654540"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e7366e6a7b804bfe" /><Relationship Type="http://schemas.openxmlformats.org/officeDocument/2006/relationships/notesSlide" Target="/ppt/notesSlides/notesSlide26.xml" Id="Re32a271c20c44068"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e06e98f1a6c14569" /><Relationship Type="http://schemas.openxmlformats.org/officeDocument/2006/relationships/notesSlide" Target="/ppt/notesSlides/notesSlide27.xml" Id="R76fe8c378a154de5"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5be13f9aae39440e" /><Relationship Type="http://schemas.openxmlformats.org/officeDocument/2006/relationships/notesSlide" Target="/ppt/notesSlides/notesSlide28.xml" Id="Re93da92951a64fba"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c65b8d18301a4d3f" /><Relationship Type="http://schemas.openxmlformats.org/officeDocument/2006/relationships/notesSlide" Target="/ppt/notesSlides/notesSlide29.xml" Id="R00fb2bd4bd5d4ce0"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1cf404b1acb14a2f" /><Relationship Type="http://schemas.openxmlformats.org/officeDocument/2006/relationships/notesSlide" Target="/ppt/notesSlides/notesSlide30.xml" Id="R9452a8eb35f24b99"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a3677c96291341e2" /><Relationship Type="http://schemas.openxmlformats.org/officeDocument/2006/relationships/notesSlide" Target="/ppt/notesSlides/notesSlide31.xml" Id="R2bea269de152430e"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b43dc2eeec654e19" /><Relationship Type="http://schemas.openxmlformats.org/officeDocument/2006/relationships/notesSlide" Target="/ppt/notesSlides/notesSlide32.xml" Id="Rdb1085cd98654c10"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1232e1ab8632478e" /><Relationship Type="http://schemas.openxmlformats.org/officeDocument/2006/relationships/notesSlide" Target="/ppt/notesSlides/notesSlide33.xml" Id="Rff4d6d949f814ddb"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388254c904d343bd" /><Relationship Type="http://schemas.openxmlformats.org/officeDocument/2006/relationships/image" Target="/ppt/media/image5.png" Id="Rb9796cca819b48f1" /><Relationship Type="http://schemas.openxmlformats.org/officeDocument/2006/relationships/notesSlide" Target="/ppt/notesSlides/notesSlide34.xml" Id="R0373e8f477474f6a"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37dee80643de424c" /><Relationship Type="http://schemas.openxmlformats.org/officeDocument/2006/relationships/image" Target="/ppt/media/image6.png" Id="R876c694ad6f2408f" /><Relationship Type="http://schemas.openxmlformats.org/officeDocument/2006/relationships/notesSlide" Target="/ppt/notesSlides/notesSlide35.xml" Id="R080609b063134d83"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dd4784d8e62f4296" /><Relationship Type="http://schemas.openxmlformats.org/officeDocument/2006/relationships/notesSlide" Target="/ppt/notesSlides/notesSlide36.xml" Id="R89f512656be947d1"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0cf25517d32349f4" /><Relationship Type="http://schemas.openxmlformats.org/officeDocument/2006/relationships/notesSlide" Target="/ppt/notesSlides/notesSlide37.xml" Id="R161c764e28b640f0"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7c76015a146444ba" /><Relationship Type="http://schemas.openxmlformats.org/officeDocument/2006/relationships/notesSlide" Target="/ppt/notesSlides/notesSlide38.xml" Id="R3777f1da065b479f"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0b11280a72854171" /><Relationship Type="http://schemas.openxmlformats.org/officeDocument/2006/relationships/notesSlide" Target="/ppt/notesSlides/notesSlide39.xml" Id="Rb5e7e851a2d24081"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3fdf0bb73d7c45a9" /><Relationship Type="http://schemas.openxmlformats.org/officeDocument/2006/relationships/notesSlide" Target="/ppt/notesSlides/notesSlide40.xml" Id="Rff5ba884a125486d"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028134b4fcf743dc" /><Relationship Type="http://schemas.openxmlformats.org/officeDocument/2006/relationships/notesSlide" Target="/ppt/notesSlides/notesSlide41.xml" Id="R429369d9553c419b"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e0c2cefc6f884df8" /><Relationship Type="http://schemas.openxmlformats.org/officeDocument/2006/relationships/notesSlide" Target="/ppt/notesSlides/notesSlide42.xml" Id="R9af0c6add62f4f7e"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66630f776ec24648" /><Relationship Type="http://schemas.openxmlformats.org/officeDocument/2006/relationships/notesSlide" Target="/ppt/notesSlides/notesSlide43.xml" Id="R8d2503a081244cda" /></Relationships>
</file>

<file path=ppt/slides/slide1.xml><?xml version="1.0" encoding="utf-8"?>
<p:sld xmlns:p="http://schemas.openxmlformats.org/presentationml/2006/main">
  <p:cSld>
    <p:bg>
      <p:bgPr>
        <a:solidFill xmlns:a="http://schemas.openxmlformats.org/drawingml/2006/main">
          <a:srgbClr val="15324A"/>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872708D8-7EA2-4B9C-9BAA-0A4AA25948F8}"/>
              </a:ext>
            </a:extLst>
          </p:cNvPr>
          <p:cNvPicPr>
            <a:picLocks xmlns:a="http://schemas.openxmlformats.org/drawingml/2006/main" noChangeAspect="1"/>
          </p:cNvPicPr>
          <p:nvPr/>
        </p:nvPicPr>
        <p:blipFill>
          <a:blip xmlns:r="http://schemas.openxmlformats.org/officeDocument/2006/relationships" xmlns:a="http://schemas.openxmlformats.org/drawingml/2006/main" r:embed="Rcb4b73bd425b4e9c"/>
          <a:srcRect xmlns:a="http://schemas.openxmlformats.org/drawingml/2006/main" l="28929" t="0" r="28929" b="0"/>
          <a:stretch xmlns:a="http://schemas.openxmlformats.org/drawingml/2006/main">
            <a:fillRect l="0" t="0" r="0" b="0"/>
          </a:stretch>
        </p:blipFill>
        <p:spPr>
          <a:xfrm xmlns:a="http://schemas.openxmlformats.org/drawingml/2006/main">
            <a:off x="7858125" y="0"/>
            <a:ext cx="4333875"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4401ADA-2A57-4999-98DB-149E468D4A9D}"/>
              </a:ext>
            </a:extLst>
          </p:cNvPr>
          <p:cNvSpPr>
            <a:spLocks xmlns:a="http://schemas.openxmlformats.org/drawingml/2006/main" noGrp="1"/>
          </p:cNvSpPr>
          <p:nvPr/>
        </p:nvSpPr>
        <p:spPr>
          <a:xfrm xmlns:a="http://schemas.openxmlformats.org/drawingml/2006/main">
            <a:off x="0" y="0"/>
            <a:ext cx="26670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035E0C40-A111-4592-ACC2-937116B635FD}"/>
              </a:ext>
            </a:extLst>
          </p:cNvPr>
          <p:cNvSpPr>
            <a:spLocks xmlns:a="http://schemas.openxmlformats.org/drawingml/2006/main" noGrp="1"/>
          </p:cNvSpPr>
          <p:nvPr/>
        </p:nvSpPr>
        <p:spPr>
          <a:xfrm xmlns:a="http://schemas.openxmlformats.org/drawingml/2006/main">
            <a:off x="7524750" y="0"/>
            <a:ext cx="333375"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4" name="">
            <a:extLst xmlns:a="http://schemas.openxmlformats.org/drawingml/2006/main">
              <a:ext uri="{FF2B5EF4-FFF2-40B4-BE49-F238E27FC236}">
                <a16:creationId xmlns:a16="http://schemas.microsoft.com/office/drawing/2014/main" id="{EF400380-9C53-40B1-9D2C-7D195994C8BE}"/>
              </a:ext>
            </a:extLst>
          </p:cNvPr>
          <p:cNvSpPr>
            <a:spLocks xmlns:a="http://schemas.openxmlformats.org/drawingml/2006/main" noGrp="1"/>
          </p:cNvSpPr>
          <p:nvPr/>
        </p:nvSpPr>
        <p:spPr>
          <a:xfrm xmlns:a="http://schemas.openxmlformats.org/drawingml/2006/main">
            <a:off x="723900" y="628650"/>
            <a:ext cx="647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75" b="1">
                <a:solidFill>
                  <a:srgbClr val="CFEDEF"/>
                </a:solidFill>
                <a:latin typeface="Helvetica Neue"/>
                <a:ea typeface="Helvetica Neue"/>
                <a:cs typeface="Helvetica Neue"/>
              </a:defRPr>
            </a:defPPr>
            <a:lvl1pPr>
              <a:defRPr sz="1275" b="1">
                <a:solidFill>
                  <a:srgbClr val="CFEDEF"/>
                </a:solidFill>
                <a:latin typeface="Helvetica Neue"/>
                <a:ea typeface="Helvetica Neue"/>
                <a:cs typeface="Helvetica Neue"/>
              </a:defRPr>
            </a:lvl1pPr>
            <a:lvl2pPr>
              <a:defRPr sz="1275" b="1">
                <a:solidFill>
                  <a:srgbClr val="CFEDEF"/>
                </a:solidFill>
                <a:latin typeface="Helvetica Neue"/>
                <a:ea typeface="Helvetica Neue"/>
                <a:cs typeface="Helvetica Neue"/>
              </a:defRPr>
            </a:lvl2pPr>
            <a:lvl3pPr>
              <a:defRPr sz="1275" b="1">
                <a:solidFill>
                  <a:srgbClr val="CFEDEF"/>
                </a:solidFill>
                <a:latin typeface="Helvetica Neue"/>
                <a:ea typeface="Helvetica Neue"/>
                <a:cs typeface="Helvetica Neue"/>
              </a:defRPr>
            </a:lvl3pPr>
            <a:lvl4pPr>
              <a:defRPr sz="1275" b="1">
                <a:solidFill>
                  <a:srgbClr val="CFEDEF"/>
                </a:solidFill>
                <a:latin typeface="Helvetica Neue"/>
                <a:ea typeface="Helvetica Neue"/>
                <a:cs typeface="Helvetica Neue"/>
              </a:defRPr>
            </a:lvl4pPr>
            <a:lvl5pPr>
              <a:defRPr sz="1275" b="1">
                <a:solidFill>
                  <a:srgbClr val="CFEDEF"/>
                </a:solidFill>
                <a:latin typeface="Helvetica Neue"/>
                <a:ea typeface="Helvetica Neue"/>
                <a:cs typeface="Helvetica Neue"/>
              </a:defRPr>
            </a:lvl5pPr>
            <a:lvl6pPr>
              <a:defRPr sz="1275" b="1">
                <a:solidFill>
                  <a:srgbClr val="CFEDEF"/>
                </a:solidFill>
                <a:latin typeface="Helvetica Neue"/>
                <a:ea typeface="Helvetica Neue"/>
                <a:cs typeface="Helvetica Neue"/>
              </a:defRPr>
            </a:lvl6pPr>
            <a:lvl7pPr>
              <a:defRPr sz="1275" b="1">
                <a:solidFill>
                  <a:srgbClr val="CFEDEF"/>
                </a:solidFill>
                <a:latin typeface="Helvetica Neue"/>
                <a:ea typeface="Helvetica Neue"/>
                <a:cs typeface="Helvetica Neue"/>
              </a:defRPr>
            </a:lvl7pPr>
            <a:lvl8pPr>
              <a:defRPr sz="1275" b="1">
                <a:solidFill>
                  <a:srgbClr val="CFEDEF"/>
                </a:solidFill>
                <a:latin typeface="Helvetica Neue"/>
                <a:ea typeface="Helvetica Neue"/>
                <a:cs typeface="Helvetica Neue"/>
              </a:defRPr>
            </a:lvl8pPr>
            <a:lvl9pPr>
              <a:defRPr sz="1275" b="1">
                <a:solidFill>
                  <a:srgbClr val="CFEDEF"/>
                </a:solidFill>
                <a:latin typeface="Helvetica Neue"/>
                <a:ea typeface="Helvetica Neue"/>
                <a:cs typeface="Helvetica Neue"/>
              </a:defRPr>
            </a:lvl9pPr>
          </a:lstStyle>
          <a:p xmlns:a="http://schemas.openxmlformats.org/drawingml/2006/main">
            <a:pPr>
              <a:defRPr sz="1275" b="1">
                <a:solidFill>
                  <a:srgbClr val="CFEDEF"/>
                </a:solidFill>
                <a:latin typeface="Helvetica Neue"/>
                <a:ea typeface="Helvetica Neue"/>
                <a:cs typeface="Helvetica Neue"/>
              </a:defRPr>
            </a:pPr>
            <a:r>
              <a:rPr sz="1275" b="1">
                <a:solidFill>
                  <a:srgbClr val="CFEDEF"/>
                </a:solidFill>
                <a:latin typeface="Helvetica Neue"/>
                <a:ea typeface="Helvetica Neue"/>
                <a:cs typeface="Helvetica Neue"/>
              </a:rPr>
              <a:t>BROWARD-MIAMI HEALTH INSTITUTE</a:t>
            </a:r>
          </a:p>
        </p:txBody>
      </p:sp>
      <p:sp>
        <p:nvSpPr>
          <p:cNvPr id="5" name="">
            <a:extLst xmlns:a="http://schemas.openxmlformats.org/drawingml/2006/main">
              <a:ext uri="{FF2B5EF4-FFF2-40B4-BE49-F238E27FC236}">
                <a16:creationId xmlns:a16="http://schemas.microsoft.com/office/drawing/2014/main" id="{C4A882FC-9FDE-4DF1-922D-015E8305F7D9}"/>
              </a:ext>
            </a:extLst>
          </p:cNvPr>
          <p:cNvSpPr>
            <a:spLocks xmlns:a="http://schemas.openxmlformats.org/drawingml/2006/main" noGrp="1"/>
          </p:cNvSpPr>
          <p:nvPr/>
        </p:nvSpPr>
        <p:spPr>
          <a:xfrm xmlns:a="http://schemas.openxmlformats.org/drawingml/2006/main">
            <a:off x="723900" y="1619250"/>
            <a:ext cx="6286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3600" b="1">
                <a:solidFill>
                  <a:srgbClr val="FFFFFF"/>
                </a:solidFill>
                <a:latin typeface="Helvetica Neue"/>
                <a:ea typeface="Helvetica Neue"/>
                <a:cs typeface="Helvetica Neue"/>
              </a:defRPr>
            </a:defPPr>
            <a:lvl1pPr>
              <a:defRPr sz="3600" b="1">
                <a:solidFill>
                  <a:srgbClr val="FFFFFF"/>
                </a:solidFill>
                <a:latin typeface="Helvetica Neue"/>
                <a:ea typeface="Helvetica Neue"/>
                <a:cs typeface="Helvetica Neue"/>
              </a:defRPr>
            </a:lvl1pPr>
            <a:lvl2pPr>
              <a:defRPr sz="3600" b="1">
                <a:solidFill>
                  <a:srgbClr val="FFFFFF"/>
                </a:solidFill>
                <a:latin typeface="Helvetica Neue"/>
                <a:ea typeface="Helvetica Neue"/>
                <a:cs typeface="Helvetica Neue"/>
              </a:defRPr>
            </a:lvl2pPr>
            <a:lvl3pPr>
              <a:defRPr sz="3600" b="1">
                <a:solidFill>
                  <a:srgbClr val="FFFFFF"/>
                </a:solidFill>
                <a:latin typeface="Helvetica Neue"/>
                <a:ea typeface="Helvetica Neue"/>
                <a:cs typeface="Helvetica Neue"/>
              </a:defRPr>
            </a:lvl3pPr>
            <a:lvl4pPr>
              <a:defRPr sz="3600" b="1">
                <a:solidFill>
                  <a:srgbClr val="FFFFFF"/>
                </a:solidFill>
                <a:latin typeface="Helvetica Neue"/>
                <a:ea typeface="Helvetica Neue"/>
                <a:cs typeface="Helvetica Neue"/>
              </a:defRPr>
            </a:lvl4pPr>
            <a:lvl5pPr>
              <a:defRPr sz="3600" b="1">
                <a:solidFill>
                  <a:srgbClr val="FFFFFF"/>
                </a:solidFill>
                <a:latin typeface="Helvetica Neue"/>
                <a:ea typeface="Helvetica Neue"/>
                <a:cs typeface="Helvetica Neue"/>
              </a:defRPr>
            </a:lvl5pPr>
            <a:lvl6pPr>
              <a:defRPr sz="3600" b="1">
                <a:solidFill>
                  <a:srgbClr val="FFFFFF"/>
                </a:solidFill>
                <a:latin typeface="Helvetica Neue"/>
                <a:ea typeface="Helvetica Neue"/>
                <a:cs typeface="Helvetica Neue"/>
              </a:defRPr>
            </a:lvl6pPr>
            <a:lvl7pPr>
              <a:defRPr sz="3600" b="1">
                <a:solidFill>
                  <a:srgbClr val="FFFFFF"/>
                </a:solidFill>
                <a:latin typeface="Helvetica Neue"/>
                <a:ea typeface="Helvetica Neue"/>
                <a:cs typeface="Helvetica Neue"/>
              </a:defRPr>
            </a:lvl7pPr>
            <a:lvl8pPr>
              <a:defRPr sz="3600" b="1">
                <a:solidFill>
                  <a:srgbClr val="FFFFFF"/>
                </a:solidFill>
                <a:latin typeface="Helvetica Neue"/>
                <a:ea typeface="Helvetica Neue"/>
                <a:cs typeface="Helvetica Neue"/>
              </a:defRPr>
            </a:lvl8pPr>
            <a:lvl9pPr>
              <a:defRPr sz="3600" b="1">
                <a:solidFill>
                  <a:srgbClr val="FFFFFF"/>
                </a:solidFill>
                <a:latin typeface="Helvetica Neue"/>
                <a:ea typeface="Helvetica Neue"/>
                <a:cs typeface="Helvetica Neue"/>
              </a:defRPr>
            </a:lvl9pPr>
          </a:lstStyle>
          <a:p xmlns:a="http://schemas.openxmlformats.org/drawingml/2006/main">
            <a:pPr>
              <a:defRPr sz="3600" b="1">
                <a:solidFill>
                  <a:srgbClr val="FFFFFF"/>
                </a:solidFill>
                <a:latin typeface="Helvetica Neue"/>
                <a:ea typeface="Helvetica Neue"/>
                <a:cs typeface="Helvetica Neue"/>
              </a:defRPr>
            </a:pPr>
            <a:r>
              <a:rPr sz="3600" b="1">
                <a:solidFill>
                  <a:srgbClr val="FFFFFF"/>
                </a:solidFill>
                <a:latin typeface="Helvetica Neue"/>
                <a:ea typeface="Helvetica Neue"/>
                <a:cs typeface="Helvetica Neue"/>
              </a:rPr>
              <a:t>Venipuncture Standards and Practice</a:t>
            </a:r>
          </a:p>
        </p:txBody>
      </p:sp>
      <p:sp>
        <p:nvSpPr>
          <p:cNvPr id="6" name="">
            <a:extLst xmlns:a="http://schemas.openxmlformats.org/drawingml/2006/main">
              <a:ext uri="{FF2B5EF4-FFF2-40B4-BE49-F238E27FC236}">
                <a16:creationId xmlns:a16="http://schemas.microsoft.com/office/drawing/2014/main" id="{64665505-46EC-40AF-81CD-7EE2EFAB5D74}"/>
              </a:ext>
            </a:extLst>
          </p:cNvPr>
          <p:cNvSpPr>
            <a:spLocks xmlns:a="http://schemas.openxmlformats.org/drawingml/2006/main" noGrp="1"/>
          </p:cNvSpPr>
          <p:nvPr/>
        </p:nvSpPr>
        <p:spPr>
          <a:xfrm xmlns:a="http://schemas.openxmlformats.org/drawingml/2006/main">
            <a:off x="762000" y="3943350"/>
            <a:ext cx="628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FFFFFF"/>
                </a:solidFill>
                <a:latin typeface="Helvetica Neue"/>
                <a:ea typeface="Helvetica Neue"/>
                <a:cs typeface="Helvetica Neue"/>
              </a:defRPr>
            </a:defPPr>
            <a:lvl1pPr>
              <a:defRPr sz="1725">
                <a:solidFill>
                  <a:srgbClr val="FFFFFF"/>
                </a:solidFill>
                <a:latin typeface="Helvetica Neue"/>
                <a:ea typeface="Helvetica Neue"/>
                <a:cs typeface="Helvetica Neue"/>
              </a:defRPr>
            </a:lvl1pPr>
            <a:lvl2pPr>
              <a:defRPr sz="1725">
                <a:solidFill>
                  <a:srgbClr val="FFFFFF"/>
                </a:solidFill>
                <a:latin typeface="Helvetica Neue"/>
                <a:ea typeface="Helvetica Neue"/>
                <a:cs typeface="Helvetica Neue"/>
              </a:defRPr>
            </a:lvl2pPr>
            <a:lvl3pPr>
              <a:defRPr sz="1725">
                <a:solidFill>
                  <a:srgbClr val="FFFFFF"/>
                </a:solidFill>
                <a:latin typeface="Helvetica Neue"/>
                <a:ea typeface="Helvetica Neue"/>
                <a:cs typeface="Helvetica Neue"/>
              </a:defRPr>
            </a:lvl3pPr>
            <a:lvl4pPr>
              <a:defRPr sz="1725">
                <a:solidFill>
                  <a:srgbClr val="FFFFFF"/>
                </a:solidFill>
                <a:latin typeface="Helvetica Neue"/>
                <a:ea typeface="Helvetica Neue"/>
                <a:cs typeface="Helvetica Neue"/>
              </a:defRPr>
            </a:lvl4pPr>
            <a:lvl5pPr>
              <a:defRPr sz="1725">
                <a:solidFill>
                  <a:srgbClr val="FFFFFF"/>
                </a:solidFill>
                <a:latin typeface="Helvetica Neue"/>
                <a:ea typeface="Helvetica Neue"/>
                <a:cs typeface="Helvetica Neue"/>
              </a:defRPr>
            </a:lvl5pPr>
            <a:lvl6pPr>
              <a:defRPr sz="1725">
                <a:solidFill>
                  <a:srgbClr val="FFFFFF"/>
                </a:solidFill>
                <a:latin typeface="Helvetica Neue"/>
                <a:ea typeface="Helvetica Neue"/>
                <a:cs typeface="Helvetica Neue"/>
              </a:defRPr>
            </a:lvl6pPr>
            <a:lvl7pPr>
              <a:defRPr sz="1725">
                <a:solidFill>
                  <a:srgbClr val="FFFFFF"/>
                </a:solidFill>
                <a:latin typeface="Helvetica Neue"/>
                <a:ea typeface="Helvetica Neue"/>
                <a:cs typeface="Helvetica Neue"/>
              </a:defRPr>
            </a:lvl7pPr>
            <a:lvl8pPr>
              <a:defRPr sz="1725">
                <a:solidFill>
                  <a:srgbClr val="FFFFFF"/>
                </a:solidFill>
                <a:latin typeface="Helvetica Neue"/>
                <a:ea typeface="Helvetica Neue"/>
                <a:cs typeface="Helvetica Neue"/>
              </a:defRPr>
            </a:lvl8pPr>
            <a:lvl9pPr>
              <a:defRPr sz="1725">
                <a:solidFill>
                  <a:srgbClr val="FFFFFF"/>
                </a:solidFill>
                <a:latin typeface="Helvetica Neue"/>
                <a:ea typeface="Helvetica Neue"/>
                <a:cs typeface="Helvetica Neue"/>
              </a:defRPr>
            </a:lvl9pPr>
          </a:lstStyle>
          <a:p xmlns:a="http://schemas.openxmlformats.org/drawingml/2006/main">
            <a:pPr>
              <a:defRPr sz="1725">
                <a:solidFill>
                  <a:srgbClr val="FFFFFF"/>
                </a:solidFill>
                <a:latin typeface="Helvetica Neue"/>
                <a:ea typeface="Helvetica Neue"/>
                <a:cs typeface="Helvetica Neue"/>
              </a:defRPr>
            </a:pPr>
            <a:r>
              <a:rPr sz="1725">
                <a:solidFill>
                  <a:srgbClr val="FFFFFF"/>
                </a:solidFill>
                <a:latin typeface="Helvetica Neue"/>
                <a:ea typeface="Helvetica Neue"/>
                <a:cs typeface="Helvetica Neue"/>
              </a:rPr>
              <a:t>Module 7  |  30-Hour Basic Intravenous Therapy</a:t>
            </a:r>
          </a:p>
        </p:txBody>
      </p:sp>
      <p:sp>
        <p:nvSpPr>
          <p:cNvPr id="7" name="">
            <a:extLst xmlns:a="http://schemas.openxmlformats.org/drawingml/2006/main">
              <a:ext uri="{FF2B5EF4-FFF2-40B4-BE49-F238E27FC236}">
                <a16:creationId xmlns:a16="http://schemas.microsoft.com/office/drawing/2014/main" id="{BF921A2E-907D-4741-B869-0C375D53C9B2}"/>
              </a:ext>
            </a:extLst>
          </p:cNvPr>
          <p:cNvSpPr>
            <a:spLocks xmlns:a="http://schemas.openxmlformats.org/drawingml/2006/main" noGrp="1"/>
          </p:cNvSpPr>
          <p:nvPr/>
        </p:nvSpPr>
        <p:spPr>
          <a:xfrm xmlns:a="http://schemas.openxmlformats.org/drawingml/2006/main">
            <a:off x="762000" y="4762500"/>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425" b="1">
                <a:solidFill>
                  <a:srgbClr val="CFEDEF"/>
                </a:solidFill>
                <a:latin typeface="Helvetica Neue"/>
                <a:ea typeface="Helvetica Neue"/>
                <a:cs typeface="Helvetica Neue"/>
              </a:defRPr>
            </a:defPPr>
            <a:lvl1pPr>
              <a:defRPr sz="1425" b="1">
                <a:solidFill>
                  <a:srgbClr val="CFEDEF"/>
                </a:solidFill>
                <a:latin typeface="Helvetica Neue"/>
                <a:ea typeface="Helvetica Neue"/>
                <a:cs typeface="Helvetica Neue"/>
              </a:defRPr>
            </a:lvl1pPr>
            <a:lvl2pPr>
              <a:defRPr sz="1425" b="1">
                <a:solidFill>
                  <a:srgbClr val="CFEDEF"/>
                </a:solidFill>
                <a:latin typeface="Helvetica Neue"/>
                <a:ea typeface="Helvetica Neue"/>
                <a:cs typeface="Helvetica Neue"/>
              </a:defRPr>
            </a:lvl2pPr>
            <a:lvl3pPr>
              <a:defRPr sz="1425" b="1">
                <a:solidFill>
                  <a:srgbClr val="CFEDEF"/>
                </a:solidFill>
                <a:latin typeface="Helvetica Neue"/>
                <a:ea typeface="Helvetica Neue"/>
                <a:cs typeface="Helvetica Neue"/>
              </a:defRPr>
            </a:lvl3pPr>
            <a:lvl4pPr>
              <a:defRPr sz="1425" b="1">
                <a:solidFill>
                  <a:srgbClr val="CFEDEF"/>
                </a:solidFill>
                <a:latin typeface="Helvetica Neue"/>
                <a:ea typeface="Helvetica Neue"/>
                <a:cs typeface="Helvetica Neue"/>
              </a:defRPr>
            </a:lvl4pPr>
            <a:lvl5pPr>
              <a:defRPr sz="1425" b="1">
                <a:solidFill>
                  <a:srgbClr val="CFEDEF"/>
                </a:solidFill>
                <a:latin typeface="Helvetica Neue"/>
                <a:ea typeface="Helvetica Neue"/>
                <a:cs typeface="Helvetica Neue"/>
              </a:defRPr>
            </a:lvl5pPr>
            <a:lvl6pPr>
              <a:defRPr sz="1425" b="1">
                <a:solidFill>
                  <a:srgbClr val="CFEDEF"/>
                </a:solidFill>
                <a:latin typeface="Helvetica Neue"/>
                <a:ea typeface="Helvetica Neue"/>
                <a:cs typeface="Helvetica Neue"/>
              </a:defRPr>
            </a:lvl6pPr>
            <a:lvl7pPr>
              <a:defRPr sz="1425" b="1">
                <a:solidFill>
                  <a:srgbClr val="CFEDEF"/>
                </a:solidFill>
                <a:latin typeface="Helvetica Neue"/>
                <a:ea typeface="Helvetica Neue"/>
                <a:cs typeface="Helvetica Neue"/>
              </a:defRPr>
            </a:lvl7pPr>
            <a:lvl8pPr>
              <a:defRPr sz="1425" b="1">
                <a:solidFill>
                  <a:srgbClr val="CFEDEF"/>
                </a:solidFill>
                <a:latin typeface="Helvetica Neue"/>
                <a:ea typeface="Helvetica Neue"/>
                <a:cs typeface="Helvetica Neue"/>
              </a:defRPr>
            </a:lvl8pPr>
            <a:lvl9pPr>
              <a:defRPr sz="1425" b="1">
                <a:solidFill>
                  <a:srgbClr val="CFEDEF"/>
                </a:solidFill>
                <a:latin typeface="Helvetica Neue"/>
                <a:ea typeface="Helvetica Neue"/>
                <a:cs typeface="Helvetica Neue"/>
              </a:defRPr>
            </a:lvl9pPr>
          </a:lstStyle>
          <a:p xmlns:a="http://schemas.openxmlformats.org/drawingml/2006/main">
            <a:pPr>
              <a:defRPr sz="1425" b="1">
                <a:solidFill>
                  <a:srgbClr val="CFEDEF"/>
                </a:solidFill>
                <a:latin typeface="Helvetica Neue"/>
                <a:ea typeface="Helvetica Neue"/>
                <a:cs typeface="Helvetica Neue"/>
              </a:defRPr>
            </a:pPr>
            <a:r>
              <a:rPr sz="1425" b="1">
                <a:solidFill>
                  <a:srgbClr val="CFEDEF"/>
                </a:solidFill>
                <a:latin typeface="Helvetica Neue"/>
                <a:ea typeface="Helvetica Neue"/>
                <a:cs typeface="Helvetica Neue"/>
              </a:rPr>
              <a:t>Student presentation • clinical examples • guided practice</a:t>
            </a:r>
          </a:p>
        </p:txBody>
      </p:sp>
    </p:spTree>
    <p:extLst>
      <p:ext uri="{BB962C8B-B14F-4D97-AF65-F5344CB8AC3E}">
        <p14:creationId xmlns:p14="http://schemas.microsoft.com/office/powerpoint/2010/main" val="1748712386"/>
      </p:ext>
    </p:extLst>
  </p:cSld>
</p:sld>
</file>

<file path=ppt/slides/slide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D471D6B-BBB4-43BF-A344-B8827F31972F}"/>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C1399B95-6DA8-4A43-BC25-913A4F7E137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65B5F75E-3208-4B0B-873A-E73691617829}"/>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9B227B3B-C9E3-4C1B-A8D9-27390E40700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Learning objectives</a:t>
            </a:r>
          </a:p>
        </p:txBody>
      </p:sp>
      <p:sp>
        <p:nvSpPr>
          <p:cNvPr id="5" name="">
            <a:extLst xmlns:a="http://schemas.openxmlformats.org/drawingml/2006/main">
              <a:ext uri="{FF2B5EF4-FFF2-40B4-BE49-F238E27FC236}">
                <a16:creationId xmlns:a16="http://schemas.microsoft.com/office/drawing/2014/main" id="{26ED3A4E-EB7C-4A0C-8EF2-17B149542FB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6" name="">
            <a:extLst xmlns:a="http://schemas.openxmlformats.org/drawingml/2006/main">
              <a:ext uri="{FF2B5EF4-FFF2-40B4-BE49-F238E27FC236}">
                <a16:creationId xmlns:a16="http://schemas.microsoft.com/office/drawing/2014/main" id="{C2645C99-A9C1-446A-90C7-D1D0F7246F0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02</a:t>
            </a:r>
          </a:p>
        </p:txBody>
      </p:sp>
      <p:sp>
        <p:nvSpPr>
          <p:cNvPr id="7" name="">
            <a:extLst xmlns:a="http://schemas.openxmlformats.org/drawingml/2006/main">
              <a:ext uri="{FF2B5EF4-FFF2-40B4-BE49-F238E27FC236}">
                <a16:creationId xmlns:a16="http://schemas.microsoft.com/office/drawing/2014/main" id="{9DD5B4E7-7925-46AB-8EC5-2C798E7E35E8}"/>
              </a:ext>
            </a:extLst>
          </p:cNvPr>
          <p:cNvSpPr>
            <a:spLocks xmlns:a="http://schemas.openxmlformats.org/drawingml/2006/main" noGrp="1"/>
          </p:cNvSpPr>
          <p:nvPr/>
        </p:nvSpPr>
        <p:spPr>
          <a:xfrm xmlns:a="http://schemas.openxmlformats.org/drawingml/2006/main">
            <a:off x="895350" y="1809750"/>
            <a:ext cx="101917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Select an appropriate peripheral vein and catheter</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Perform aseptic insertion and securement on a task trainer</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Assess, maintain, and discontinue a peripheral IV safely</a:t>
            </a:r>
          </a:p>
        </p:txBody>
      </p:sp>
    </p:spTree>
    <p:extLst>
      <p:ext uri="{BB962C8B-B14F-4D97-AF65-F5344CB8AC3E}">
        <p14:creationId xmlns:p14="http://schemas.microsoft.com/office/powerpoint/2010/main" val="716135596"/>
      </p:ext>
    </p:extLst>
  </p:cSld>
</p:sld>
</file>

<file path=ppt/slides/slide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9FBAFB9-9313-4A66-B309-AFBAF3865A38}"/>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F1A07916-009A-4F63-A0A4-2EB7B1035AE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474F295D-7C8C-4E84-A03D-597572825F10}"/>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C693CC16-1C3A-4510-888D-6EDECA3CE2E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Site and device selection</a:t>
            </a:r>
          </a:p>
        </p:txBody>
      </p:sp>
      <p:sp>
        <p:nvSpPr>
          <p:cNvPr id="5" name="">
            <a:extLst xmlns:a="http://schemas.openxmlformats.org/drawingml/2006/main">
              <a:ext uri="{FF2B5EF4-FFF2-40B4-BE49-F238E27FC236}">
                <a16:creationId xmlns:a16="http://schemas.microsoft.com/office/drawing/2014/main" id="{C117A236-526B-48DD-B6D8-6BA14AC12CF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6" name="">
            <a:extLst xmlns:a="http://schemas.openxmlformats.org/drawingml/2006/main">
              <a:ext uri="{FF2B5EF4-FFF2-40B4-BE49-F238E27FC236}">
                <a16:creationId xmlns:a16="http://schemas.microsoft.com/office/drawing/2014/main" id="{BCCE4053-DD71-43A8-BBBE-358444AEEDF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03</a:t>
            </a:r>
          </a:p>
        </p:txBody>
      </p:sp>
      <p:sp>
        <p:nvSpPr>
          <p:cNvPr id="7" name="">
            <a:extLst xmlns:a="http://schemas.openxmlformats.org/drawingml/2006/main">
              <a:ext uri="{FF2B5EF4-FFF2-40B4-BE49-F238E27FC236}">
                <a16:creationId xmlns:a16="http://schemas.microsoft.com/office/drawing/2014/main" id="{06373CD3-2504-45A6-8E84-160ABE94BD5C}"/>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Begin distally when appropriate.</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Avoid compromised extremities and sites of infection, flexion, poor circulation, or prior complications.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Select the smallest gauge and shortest catheter that can support the ordered therapy.</a:t>
            </a:r>
          </a:p>
        </p:txBody>
      </p:sp>
      <p:sp>
        <p:nvSpPr>
          <p:cNvPr id="8" name="">
            <a:extLst xmlns:a="http://schemas.openxmlformats.org/drawingml/2006/main">
              <a:ext uri="{FF2B5EF4-FFF2-40B4-BE49-F238E27FC236}">
                <a16:creationId xmlns:a16="http://schemas.microsoft.com/office/drawing/2014/main" id="{6D8E82B4-44D8-439C-AC51-A6132152717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411047347"/>
      </p:ext>
    </p:extLst>
  </p:cSld>
</p:sld>
</file>

<file path=ppt/slides/slide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2CB7B87-C926-40D8-9518-2B50ACFFA520}"/>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CB722FC5-729E-49B9-8891-6474F162260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FDC1A416-6CD8-4DE9-ADE5-9DBBF8B65AE7}"/>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00664766-E28C-46B4-BEED-DB3B2F0894D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Aseptic insertion</a:t>
            </a:r>
          </a:p>
        </p:txBody>
      </p:sp>
      <p:sp>
        <p:nvSpPr>
          <p:cNvPr id="5" name="">
            <a:extLst xmlns:a="http://schemas.openxmlformats.org/drawingml/2006/main">
              <a:ext uri="{FF2B5EF4-FFF2-40B4-BE49-F238E27FC236}">
                <a16:creationId xmlns:a16="http://schemas.microsoft.com/office/drawing/2014/main" id="{0A948A46-EA32-4623-B297-B2ED4ADEB72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6" name="">
            <a:extLst xmlns:a="http://schemas.openxmlformats.org/drawingml/2006/main">
              <a:ext uri="{FF2B5EF4-FFF2-40B4-BE49-F238E27FC236}">
                <a16:creationId xmlns:a16="http://schemas.microsoft.com/office/drawing/2014/main" id="{552C5B8C-BB0C-4492-B1AD-E6E9D3A32EE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04</a:t>
            </a:r>
          </a:p>
        </p:txBody>
      </p:sp>
      <p:sp>
        <p:nvSpPr>
          <p:cNvPr id="7" name="">
            <a:extLst xmlns:a="http://schemas.openxmlformats.org/drawingml/2006/main">
              <a:ext uri="{FF2B5EF4-FFF2-40B4-BE49-F238E27FC236}">
                <a16:creationId xmlns:a16="http://schemas.microsoft.com/office/drawing/2014/main" id="{8420EDB9-FB09-4EA9-B204-D3444ECA9F35}"/>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Perform hand hygiene, prepare and position the patient, apply the tourniquet, cleanse the site with the approved antiseptic, let it dry, stabilize the vein, observe flashback, thread the catheter, and activate sharps protection.</a:t>
            </a:r>
          </a:p>
        </p:txBody>
      </p:sp>
      <p:sp>
        <p:nvSpPr>
          <p:cNvPr id="8" name="">
            <a:extLst xmlns:a="http://schemas.openxmlformats.org/drawingml/2006/main">
              <a:ext uri="{FF2B5EF4-FFF2-40B4-BE49-F238E27FC236}">
                <a16:creationId xmlns:a16="http://schemas.microsoft.com/office/drawing/2014/main" id="{6E5FEF91-57B5-43EB-8E3F-ABC135CBB71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507100887"/>
      </p:ext>
    </p:extLst>
  </p:cSld>
</p:sld>
</file>

<file path=ppt/slides/slide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6B4C74B-1E7A-4102-97E2-017FFB7FAE82}"/>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039E8A30-6BBC-4896-8C99-4D890B3716E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D522804A-D7A3-43BD-9C0B-84BD8C2F8A96}"/>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93BF4D53-23D5-4A36-B954-064893FE487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Securement and maintenance</a:t>
            </a:r>
          </a:p>
        </p:txBody>
      </p:sp>
      <p:sp>
        <p:nvSpPr>
          <p:cNvPr id="5" name="">
            <a:extLst xmlns:a="http://schemas.openxmlformats.org/drawingml/2006/main">
              <a:ext uri="{FF2B5EF4-FFF2-40B4-BE49-F238E27FC236}">
                <a16:creationId xmlns:a16="http://schemas.microsoft.com/office/drawing/2014/main" id="{D63B0107-E03F-46BA-95CC-C814025D343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6" name="">
            <a:extLst xmlns:a="http://schemas.openxmlformats.org/drawingml/2006/main">
              <a:ext uri="{FF2B5EF4-FFF2-40B4-BE49-F238E27FC236}">
                <a16:creationId xmlns:a16="http://schemas.microsoft.com/office/drawing/2014/main" id="{3E55F02A-9B92-42E9-B4B8-C10186E515F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05</a:t>
            </a:r>
          </a:p>
        </p:txBody>
      </p:sp>
      <p:sp>
        <p:nvSpPr>
          <p:cNvPr id="7" name="">
            <a:extLst xmlns:a="http://schemas.openxmlformats.org/drawingml/2006/main">
              <a:ext uri="{FF2B5EF4-FFF2-40B4-BE49-F238E27FC236}">
                <a16:creationId xmlns:a16="http://schemas.microsoft.com/office/drawing/2014/main" id="{4F4D9822-E00C-4D1F-A587-C2955425732C}"/>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Connect a primed extension aseptically, assess patency without force, secure the catheter, apply and label the dressing, trace tubing, start the ordered therapy, and reassess the site and patient.</a:t>
            </a:r>
          </a:p>
        </p:txBody>
      </p:sp>
      <p:sp>
        <p:nvSpPr>
          <p:cNvPr id="8" name="">
            <a:extLst xmlns:a="http://schemas.openxmlformats.org/drawingml/2006/main">
              <a:ext uri="{FF2B5EF4-FFF2-40B4-BE49-F238E27FC236}">
                <a16:creationId xmlns:a16="http://schemas.microsoft.com/office/drawing/2014/main" id="{C06C36BE-45B4-41C5-9A8B-5177831DB158}"/>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2140967036"/>
      </p:ext>
    </p:extLst>
  </p:cSld>
</p:sld>
</file>

<file path=ppt/slides/slide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E2493BD-834B-4346-98A6-38884B22A160}"/>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0E68022C-8DF7-4DC2-B560-6D30F2BDC10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5E8A33A4-8328-4FD6-B71D-F629E090D2D0}"/>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63F52197-60E1-4F45-8CDF-0FA2AF6FCC4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Complication cues</a:t>
            </a:r>
          </a:p>
        </p:txBody>
      </p:sp>
      <p:sp>
        <p:nvSpPr>
          <p:cNvPr id="5" name="">
            <a:extLst xmlns:a="http://schemas.openxmlformats.org/drawingml/2006/main">
              <a:ext uri="{FF2B5EF4-FFF2-40B4-BE49-F238E27FC236}">
                <a16:creationId xmlns:a16="http://schemas.microsoft.com/office/drawing/2014/main" id="{D57515ED-AD46-4F8A-9A5D-C4C58197478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6" name="">
            <a:extLst xmlns:a="http://schemas.openxmlformats.org/drawingml/2006/main">
              <a:ext uri="{FF2B5EF4-FFF2-40B4-BE49-F238E27FC236}">
                <a16:creationId xmlns:a16="http://schemas.microsoft.com/office/drawing/2014/main" id="{78FDF389-E966-4A98-8B10-A705737CBBC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06</a:t>
            </a:r>
          </a:p>
        </p:txBody>
      </p:sp>
      <p:sp>
        <p:nvSpPr>
          <p:cNvPr id="7" name="">
            <a:extLst xmlns:a="http://schemas.openxmlformats.org/drawingml/2006/main">
              <a:ext uri="{FF2B5EF4-FFF2-40B4-BE49-F238E27FC236}">
                <a16:creationId xmlns:a16="http://schemas.microsoft.com/office/drawing/2014/main" id="{E4B1B528-66BC-412B-A9E5-8CBE8092C740}"/>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Cool swelling suggests infiltration.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Pain, warmth, redness, or a venous cord suggests phlebitis.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Burning or tissue injury with a vesicant suggests extravasation.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Stop unsafe therapy and follow the condition-specific protocol.</a:t>
            </a:r>
          </a:p>
        </p:txBody>
      </p:sp>
      <p:sp>
        <p:nvSpPr>
          <p:cNvPr id="8" name="">
            <a:extLst xmlns:a="http://schemas.openxmlformats.org/drawingml/2006/main">
              <a:ext uri="{FF2B5EF4-FFF2-40B4-BE49-F238E27FC236}">
                <a16:creationId xmlns:a16="http://schemas.microsoft.com/office/drawing/2014/main" id="{25BA3B93-3DB6-41B7-9BF3-89416902282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735223425"/>
      </p:ext>
    </p:extLst>
  </p:cSld>
</p:sld>
</file>

<file path=ppt/slides/slide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9D182E8-B28E-4B75-B878-159890F1F5E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C4529D85-0219-402B-91AF-79D7295ADAD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A03C0700-554F-4182-9F92-6061431C6131}"/>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2C864C58-C8F5-4A11-AC14-1A6276B2AEF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Skin anatomy for peripheral IV insertion</a:t>
            </a:r>
          </a:p>
        </p:txBody>
      </p:sp>
      <p:sp>
        <p:nvSpPr>
          <p:cNvPr id="5" name="">
            <a:extLst xmlns:a="http://schemas.openxmlformats.org/drawingml/2006/main">
              <a:ext uri="{FF2B5EF4-FFF2-40B4-BE49-F238E27FC236}">
                <a16:creationId xmlns:a16="http://schemas.microsoft.com/office/drawing/2014/main" id="{303425F3-39E2-4F8B-8F2F-1156D5FD104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6" name="">
            <a:extLst xmlns:a="http://schemas.openxmlformats.org/drawingml/2006/main">
              <a:ext uri="{FF2B5EF4-FFF2-40B4-BE49-F238E27FC236}">
                <a16:creationId xmlns:a16="http://schemas.microsoft.com/office/drawing/2014/main" id="{D9FE9D5A-B6BE-4C80-882F-64D8C7302C6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07</a:t>
            </a:r>
          </a:p>
        </p:txBody>
      </p:sp>
      <p:sp>
        <p:nvSpPr>
          <p:cNvPr id="7" name="">
            <a:extLst xmlns:a="http://schemas.openxmlformats.org/drawingml/2006/main">
              <a:ext uri="{FF2B5EF4-FFF2-40B4-BE49-F238E27FC236}">
                <a16:creationId xmlns:a16="http://schemas.microsoft.com/office/drawing/2014/main" id="{143A25D1-5327-4A4B-93BB-C22DB0506C09}"/>
              </a:ext>
            </a:extLst>
          </p:cNvPr>
          <p:cNvSpPr>
            <a:spLocks xmlns:a="http://schemas.openxmlformats.org/drawingml/2006/main" noGrp="1"/>
          </p:cNvSpPr>
          <p:nvPr/>
        </p:nvSpPr>
        <p:spPr>
          <a:xfrm xmlns:a="http://schemas.openxmlformats.org/drawingml/2006/main">
            <a:off x="704850" y="1752600"/>
            <a:ext cx="47625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Epidermis: the outer protective barrier.</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Dermis: connective tissue with sensory structures, glands, vessels, and nerves.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Subcutaneous tissue: variable adipose and connective tissue above deeper structures.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Superficial vein: the intended peripheral catheter target; nearby arteries and nerves must be avoided.</a:t>
            </a:r>
          </a:p>
        </p:txBody>
      </p:sp>
      <p:pic>
        <p:nvPicPr>
          <p:cNvPr id="8" name="">
            <a:extLst xmlns:a="http://schemas.openxmlformats.org/drawingml/2006/main">
              <a:ext uri="{FF2B5EF4-FFF2-40B4-BE49-F238E27FC236}">
                <a16:creationId xmlns:a16="http://schemas.microsoft.com/office/drawing/2014/main" id="{B41433D4-843E-4EC2-B8C9-73B846156A8D}"/>
              </a:ext>
            </a:extLst>
          </p:cNvPr>
          <p:cNvPicPr>
            <a:picLocks xmlns:a="http://schemas.openxmlformats.org/drawingml/2006/main" noChangeAspect="1"/>
          </p:cNvPicPr>
          <p:nvPr/>
        </p:nvPicPr>
        <p:blipFill>
          <a:blip xmlns:r="http://schemas.openxmlformats.org/officeDocument/2006/relationships" xmlns:a="http://schemas.openxmlformats.org/drawingml/2006/main" r:embed="R4c6d5fb09aca4035"/>
          <a:srcRect xmlns:a="http://schemas.openxmlformats.org/drawingml/2006/main" l="12480" t="0" r="12480" b="0"/>
          <a:stretch xmlns:a="http://schemas.openxmlformats.org/drawingml/2006/main">
            <a:fillRect l="0" t="0" r="0" b="0"/>
          </a:stretch>
        </p:blipFill>
        <p:spPr>
          <a:xfrm xmlns:a="http://schemas.openxmlformats.org/drawingml/2006/main">
            <a:off x="5810250" y="1581150"/>
            <a:ext cx="5715000" cy="42862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385CF375-3B77-4FA3-B8CE-07384E32648A}"/>
              </a:ext>
            </a:extLst>
          </p:cNvPr>
          <p:cNvSpPr>
            <a:spLocks xmlns:a="http://schemas.openxmlformats.org/drawingml/2006/main" noGrp="1"/>
          </p:cNvSpPr>
          <p:nvPr/>
        </p:nvSpPr>
        <p:spPr>
          <a:xfrm xmlns:a="http://schemas.openxmlformats.org/drawingml/2006/main">
            <a:off x="5810250" y="1581150"/>
            <a:ext cx="5715000" cy="4286250"/>
          </a:xfrm>
          <a:prstGeom xmlns:a="http://schemas.openxmlformats.org/drawingml/2006/main" prst="rect">
            <a:avLst/>
          </a:prstGeom>
          <a:ln xmlns:a="http://schemas.openxmlformats.org/drawingml/2006/main" w="19050">
            <a:solidFill>
              <a:srgbClr val="237B82"/>
            </a:solidFill>
          </a:ln>
        </p:spPr>
      </p:sp>
      <p:sp>
        <p:nvSpPr>
          <p:cNvPr id="10" name="">
            <a:extLst xmlns:a="http://schemas.openxmlformats.org/drawingml/2006/main">
              <a:ext uri="{FF2B5EF4-FFF2-40B4-BE49-F238E27FC236}">
                <a16:creationId xmlns:a16="http://schemas.microsoft.com/office/drawing/2014/main" id="{82D5A63D-7CC1-4088-8FCB-8D322A42E2D0}"/>
              </a:ext>
            </a:extLst>
          </p:cNvPr>
          <p:cNvSpPr>
            <a:spLocks xmlns:a="http://schemas.openxmlformats.org/drawingml/2006/main" noGrp="1"/>
          </p:cNvSpPr>
          <p:nvPr/>
        </p:nvSpPr>
        <p:spPr>
          <a:xfrm xmlns:a="http://schemas.openxmlformats.org/drawingml/2006/main">
            <a:off x="5905500" y="5962650"/>
            <a:ext cx="552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050" b="1">
                <a:solidFill>
                  <a:srgbClr val="B94F3D"/>
                </a:solidFill>
                <a:latin typeface="Helvetica Neue"/>
                <a:ea typeface="Helvetica Neue"/>
                <a:cs typeface="Helvetica Neue"/>
              </a:defRPr>
            </a:defPPr>
            <a:lvl1pPr>
              <a:defRPr sz="1050" b="1">
                <a:solidFill>
                  <a:srgbClr val="B94F3D"/>
                </a:solidFill>
                <a:latin typeface="Helvetica Neue"/>
                <a:ea typeface="Helvetica Neue"/>
                <a:cs typeface="Helvetica Neue"/>
              </a:defRPr>
            </a:lvl1pPr>
            <a:lvl2pPr>
              <a:defRPr sz="1050" b="1">
                <a:solidFill>
                  <a:srgbClr val="B94F3D"/>
                </a:solidFill>
                <a:latin typeface="Helvetica Neue"/>
                <a:ea typeface="Helvetica Neue"/>
                <a:cs typeface="Helvetica Neue"/>
              </a:defRPr>
            </a:lvl2pPr>
            <a:lvl3pPr>
              <a:defRPr sz="1050" b="1">
                <a:solidFill>
                  <a:srgbClr val="B94F3D"/>
                </a:solidFill>
                <a:latin typeface="Helvetica Neue"/>
                <a:ea typeface="Helvetica Neue"/>
                <a:cs typeface="Helvetica Neue"/>
              </a:defRPr>
            </a:lvl3pPr>
            <a:lvl4pPr>
              <a:defRPr sz="1050" b="1">
                <a:solidFill>
                  <a:srgbClr val="B94F3D"/>
                </a:solidFill>
                <a:latin typeface="Helvetica Neue"/>
                <a:ea typeface="Helvetica Neue"/>
                <a:cs typeface="Helvetica Neue"/>
              </a:defRPr>
            </a:lvl4pPr>
            <a:lvl5pPr>
              <a:defRPr sz="1050" b="1">
                <a:solidFill>
                  <a:srgbClr val="B94F3D"/>
                </a:solidFill>
                <a:latin typeface="Helvetica Neue"/>
                <a:ea typeface="Helvetica Neue"/>
                <a:cs typeface="Helvetica Neue"/>
              </a:defRPr>
            </a:lvl5pPr>
            <a:lvl6pPr>
              <a:defRPr sz="1050" b="1">
                <a:solidFill>
                  <a:srgbClr val="B94F3D"/>
                </a:solidFill>
                <a:latin typeface="Helvetica Neue"/>
                <a:ea typeface="Helvetica Neue"/>
                <a:cs typeface="Helvetica Neue"/>
              </a:defRPr>
            </a:lvl6pPr>
            <a:lvl7pPr>
              <a:defRPr sz="1050" b="1">
                <a:solidFill>
                  <a:srgbClr val="B94F3D"/>
                </a:solidFill>
                <a:latin typeface="Helvetica Neue"/>
                <a:ea typeface="Helvetica Neue"/>
                <a:cs typeface="Helvetica Neue"/>
              </a:defRPr>
            </a:lvl7pPr>
            <a:lvl8pPr>
              <a:defRPr sz="1050" b="1">
                <a:solidFill>
                  <a:srgbClr val="B94F3D"/>
                </a:solidFill>
                <a:latin typeface="Helvetica Neue"/>
                <a:ea typeface="Helvetica Neue"/>
                <a:cs typeface="Helvetica Neue"/>
              </a:defRPr>
            </a:lvl8pPr>
            <a:lvl9pPr>
              <a:defRPr sz="1050" b="1">
                <a:solidFill>
                  <a:srgbClr val="B94F3D"/>
                </a:solidFill>
                <a:latin typeface="Helvetica Neue"/>
                <a:ea typeface="Helvetica Neue"/>
                <a:cs typeface="Helvetica Neue"/>
              </a:defRPr>
            </a:lvl9pPr>
          </a:lstStyle>
          <a:p xmlns:a="http://schemas.openxmlformats.org/drawingml/2006/main">
            <a:pPr>
              <a:defRPr sz="1050" b="1">
                <a:solidFill>
                  <a:srgbClr val="B94F3D"/>
                </a:solidFill>
                <a:latin typeface="Helvetica Neue"/>
                <a:ea typeface="Helvetica Neue"/>
                <a:cs typeface="Helvetica Neue"/>
              </a:defRPr>
            </a:pPr>
            <a:r>
              <a:rPr sz="1050" b="1">
                <a:solidFill>
                  <a:srgbClr val="B94F3D"/>
                </a:solidFill>
                <a:latin typeface="Helvetica Neue"/>
                <a:ea typeface="Helvetica Neue"/>
                <a:cs typeface="Helvetica Neue"/>
              </a:rPr>
              <a:t>Educational visual. Verify device-specific technique during supervised practice.</a:t>
            </a:r>
          </a:p>
        </p:txBody>
      </p:sp>
    </p:spTree>
    <p:extLst>
      <p:ext uri="{BB962C8B-B14F-4D97-AF65-F5344CB8AC3E}">
        <p14:creationId xmlns:p14="http://schemas.microsoft.com/office/powerpoint/2010/main" val="1477193857"/>
      </p:ext>
    </p:extLst>
  </p:cSld>
</p:sld>
</file>

<file path=ppt/slides/slide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43" name="">
            <a:extLst xmlns:a="http://schemas.openxmlformats.org/drawingml/2006/main">
              <a:ext uri="{FF2B5EF4-FFF2-40B4-BE49-F238E27FC236}">
                <a16:creationId xmlns:a16="http://schemas.microsoft.com/office/drawing/2014/main" id="{1F431869-90B8-4CD7-A28E-10A883643C48}"/>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0C9E514D-1295-4080-9C1A-477F840A9C5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C8D12114-68C9-499F-BA76-6CF02ECE0D5D}"/>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27B1C220-217A-4509-A3E1-37A4A336641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Why the skin layers matter</a:t>
            </a:r>
          </a:p>
        </p:txBody>
      </p:sp>
      <p:sp>
        <p:nvSpPr>
          <p:cNvPr id="5" name="">
            <a:extLst xmlns:a="http://schemas.openxmlformats.org/drawingml/2006/main">
              <a:ext uri="{FF2B5EF4-FFF2-40B4-BE49-F238E27FC236}">
                <a16:creationId xmlns:a16="http://schemas.microsoft.com/office/drawing/2014/main" id="{943E334D-95EC-4A2A-A592-0F9EF672DBD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6" name="">
            <a:extLst xmlns:a="http://schemas.openxmlformats.org/drawingml/2006/main">
              <a:ext uri="{FF2B5EF4-FFF2-40B4-BE49-F238E27FC236}">
                <a16:creationId xmlns:a16="http://schemas.microsoft.com/office/drawing/2014/main" id="{BFBCDFCF-2FDD-4B25-90A0-412B1D2D9D3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08</a:t>
            </a:r>
          </a:p>
        </p:txBody>
      </p:sp>
      <p:sp>
        <p:nvSpPr>
          <p:cNvPr id="7" name="">
            <a:extLst xmlns:a="http://schemas.openxmlformats.org/drawingml/2006/main">
              <a:ext uri="{FF2B5EF4-FFF2-40B4-BE49-F238E27FC236}">
                <a16:creationId xmlns:a16="http://schemas.microsoft.com/office/drawing/2014/main" id="{5D4A7056-1882-43E4-A6E9-65D6E5BAFB9D}"/>
              </a:ext>
            </a:extLst>
          </p:cNvPr>
          <p:cNvSpPr>
            <a:spLocks xmlns:a="http://schemas.openxmlformats.org/drawingml/2006/main" noGrp="1"/>
          </p:cNvSpPr>
          <p:nvPr/>
        </p:nvSpPr>
        <p:spPr>
          <a:xfrm xmlns:a="http://schemas.openxmlformats.org/drawingml/2006/main">
            <a:off x="781050" y="1695450"/>
            <a:ext cx="3524250"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8A1DF0C0-61C7-42B4-9FFC-2A031054BAE9}"/>
              </a:ext>
            </a:extLst>
          </p:cNvPr>
          <p:cNvSpPr>
            <a:spLocks xmlns:a="http://schemas.openxmlformats.org/drawingml/2006/main" noGrp="1"/>
          </p:cNvSpPr>
          <p:nvPr/>
        </p:nvSpPr>
        <p:spPr>
          <a:xfrm xmlns:a="http://schemas.openxmlformats.org/drawingml/2006/main">
            <a:off x="876300" y="1762125"/>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Layer or structure</a:t>
            </a:r>
          </a:p>
        </p:txBody>
      </p:sp>
      <p:sp>
        <p:nvSpPr>
          <p:cNvPr id="9" name="">
            <a:extLst xmlns:a="http://schemas.openxmlformats.org/drawingml/2006/main">
              <a:ext uri="{FF2B5EF4-FFF2-40B4-BE49-F238E27FC236}">
                <a16:creationId xmlns:a16="http://schemas.microsoft.com/office/drawing/2014/main" id="{FDF29A14-DABF-4052-9BB7-03FEA7E1974E}"/>
              </a:ext>
            </a:extLst>
          </p:cNvPr>
          <p:cNvSpPr>
            <a:spLocks xmlns:a="http://schemas.openxmlformats.org/drawingml/2006/main" noGrp="1"/>
          </p:cNvSpPr>
          <p:nvPr/>
        </p:nvSpPr>
        <p:spPr>
          <a:xfrm xmlns:a="http://schemas.openxmlformats.org/drawingml/2006/main">
            <a:off x="4305300" y="1695450"/>
            <a:ext cx="3524250"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C19B8B8F-ED28-49F9-B749-00CA564351CC}"/>
              </a:ext>
            </a:extLst>
          </p:cNvPr>
          <p:cNvSpPr>
            <a:spLocks xmlns:a="http://schemas.openxmlformats.org/drawingml/2006/main" noGrp="1"/>
          </p:cNvSpPr>
          <p:nvPr/>
        </p:nvSpPr>
        <p:spPr>
          <a:xfrm xmlns:a="http://schemas.openxmlformats.org/drawingml/2006/main">
            <a:off x="4400550" y="1762125"/>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Function</a:t>
            </a:r>
          </a:p>
        </p:txBody>
      </p:sp>
      <p:sp>
        <p:nvSpPr>
          <p:cNvPr id="11" name="">
            <a:extLst xmlns:a="http://schemas.openxmlformats.org/drawingml/2006/main">
              <a:ext uri="{FF2B5EF4-FFF2-40B4-BE49-F238E27FC236}">
                <a16:creationId xmlns:a16="http://schemas.microsoft.com/office/drawing/2014/main" id="{4B2DD6FC-596B-483F-A72A-1C20E2AD37FC}"/>
              </a:ext>
            </a:extLst>
          </p:cNvPr>
          <p:cNvSpPr>
            <a:spLocks xmlns:a="http://schemas.openxmlformats.org/drawingml/2006/main" noGrp="1"/>
          </p:cNvSpPr>
          <p:nvPr/>
        </p:nvSpPr>
        <p:spPr>
          <a:xfrm xmlns:a="http://schemas.openxmlformats.org/drawingml/2006/main">
            <a:off x="7829550" y="1695450"/>
            <a:ext cx="3524250"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E55B5F3C-5851-42D4-89F4-2B97D70791DC}"/>
              </a:ext>
            </a:extLst>
          </p:cNvPr>
          <p:cNvSpPr>
            <a:spLocks xmlns:a="http://schemas.openxmlformats.org/drawingml/2006/main" noGrp="1"/>
          </p:cNvSpPr>
          <p:nvPr/>
        </p:nvSpPr>
        <p:spPr>
          <a:xfrm xmlns:a="http://schemas.openxmlformats.org/drawingml/2006/main">
            <a:off x="7924800" y="1762125"/>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IV implication</a:t>
            </a:r>
          </a:p>
        </p:txBody>
      </p:sp>
      <p:sp>
        <p:nvSpPr>
          <p:cNvPr id="13" name="">
            <a:extLst xmlns:a="http://schemas.openxmlformats.org/drawingml/2006/main">
              <a:ext uri="{FF2B5EF4-FFF2-40B4-BE49-F238E27FC236}">
                <a16:creationId xmlns:a16="http://schemas.microsoft.com/office/drawing/2014/main" id="{EF25559D-093C-4C7B-8C45-9D899301FFB3}"/>
              </a:ext>
            </a:extLst>
          </p:cNvPr>
          <p:cNvSpPr>
            <a:spLocks xmlns:a="http://schemas.openxmlformats.org/drawingml/2006/main" noGrp="1"/>
          </p:cNvSpPr>
          <p:nvPr/>
        </p:nvSpPr>
        <p:spPr>
          <a:xfrm xmlns:a="http://schemas.openxmlformats.org/drawingml/2006/main">
            <a:off x="781050" y="2409825"/>
            <a:ext cx="3524250"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2FD39087-5839-4B83-BBEF-928A991CFF34}"/>
              </a:ext>
            </a:extLst>
          </p:cNvPr>
          <p:cNvSpPr>
            <a:spLocks xmlns:a="http://schemas.openxmlformats.org/drawingml/2006/main" noGrp="1"/>
          </p:cNvSpPr>
          <p:nvPr/>
        </p:nvSpPr>
        <p:spPr>
          <a:xfrm xmlns:a="http://schemas.openxmlformats.org/drawingml/2006/main">
            <a:off x="876300" y="2476500"/>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Epidermis</a:t>
            </a:r>
          </a:p>
        </p:txBody>
      </p:sp>
      <p:sp>
        <p:nvSpPr>
          <p:cNvPr id="15" name="">
            <a:extLst xmlns:a="http://schemas.openxmlformats.org/drawingml/2006/main">
              <a:ext uri="{FF2B5EF4-FFF2-40B4-BE49-F238E27FC236}">
                <a16:creationId xmlns:a16="http://schemas.microsoft.com/office/drawing/2014/main" id="{E92F3D2D-4AF8-492D-8FFC-B6218DC79970}"/>
              </a:ext>
            </a:extLst>
          </p:cNvPr>
          <p:cNvSpPr>
            <a:spLocks xmlns:a="http://schemas.openxmlformats.org/drawingml/2006/main" noGrp="1"/>
          </p:cNvSpPr>
          <p:nvPr/>
        </p:nvSpPr>
        <p:spPr>
          <a:xfrm xmlns:a="http://schemas.openxmlformats.org/drawingml/2006/main">
            <a:off x="4305300" y="2409825"/>
            <a:ext cx="3524250"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6A26F241-84EC-4E13-BD4E-C21BB573F7EA}"/>
              </a:ext>
            </a:extLst>
          </p:cNvPr>
          <p:cNvSpPr>
            <a:spLocks xmlns:a="http://schemas.openxmlformats.org/drawingml/2006/main" noGrp="1"/>
          </p:cNvSpPr>
          <p:nvPr/>
        </p:nvSpPr>
        <p:spPr>
          <a:xfrm xmlns:a="http://schemas.openxmlformats.org/drawingml/2006/main">
            <a:off x="4400550" y="2476500"/>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Mechanical barrier against microorganisms</a:t>
            </a:r>
          </a:p>
        </p:txBody>
      </p:sp>
      <p:sp>
        <p:nvSpPr>
          <p:cNvPr id="17" name="">
            <a:extLst xmlns:a="http://schemas.openxmlformats.org/drawingml/2006/main">
              <a:ext uri="{FF2B5EF4-FFF2-40B4-BE49-F238E27FC236}">
                <a16:creationId xmlns:a16="http://schemas.microsoft.com/office/drawing/2014/main" id="{D06FB6C3-C159-42C7-92DB-1F85E0F495FA}"/>
              </a:ext>
            </a:extLst>
          </p:cNvPr>
          <p:cNvSpPr>
            <a:spLocks xmlns:a="http://schemas.openxmlformats.org/drawingml/2006/main" noGrp="1"/>
          </p:cNvSpPr>
          <p:nvPr/>
        </p:nvSpPr>
        <p:spPr>
          <a:xfrm xmlns:a="http://schemas.openxmlformats.org/drawingml/2006/main">
            <a:off x="7829550" y="2409825"/>
            <a:ext cx="3524250"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B8036808-5D12-45FE-AAF4-A428E3D35F5B}"/>
              </a:ext>
            </a:extLst>
          </p:cNvPr>
          <p:cNvSpPr>
            <a:spLocks xmlns:a="http://schemas.openxmlformats.org/drawingml/2006/main" noGrp="1"/>
          </p:cNvSpPr>
          <p:nvPr/>
        </p:nvSpPr>
        <p:spPr>
          <a:xfrm xmlns:a="http://schemas.openxmlformats.org/drawingml/2006/main">
            <a:off x="7924800" y="2476500"/>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Antisepsis and no-touch technique protect the breached barrier</a:t>
            </a:r>
          </a:p>
        </p:txBody>
      </p:sp>
      <p:sp>
        <p:nvSpPr>
          <p:cNvPr id="19" name="">
            <a:extLst xmlns:a="http://schemas.openxmlformats.org/drawingml/2006/main">
              <a:ext uri="{FF2B5EF4-FFF2-40B4-BE49-F238E27FC236}">
                <a16:creationId xmlns:a16="http://schemas.microsoft.com/office/drawing/2014/main" id="{ADD8E9A2-A2DF-4820-AA8D-EFE89D0370E0}"/>
              </a:ext>
            </a:extLst>
          </p:cNvPr>
          <p:cNvSpPr>
            <a:spLocks xmlns:a="http://schemas.openxmlformats.org/drawingml/2006/main" noGrp="1"/>
          </p:cNvSpPr>
          <p:nvPr/>
        </p:nvSpPr>
        <p:spPr>
          <a:xfrm xmlns:a="http://schemas.openxmlformats.org/drawingml/2006/main">
            <a:off x="781050" y="3124200"/>
            <a:ext cx="3524250"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C5A87B14-83AD-4BC9-BFCF-AC0B03E98EB6}"/>
              </a:ext>
            </a:extLst>
          </p:cNvPr>
          <p:cNvSpPr>
            <a:spLocks xmlns:a="http://schemas.openxmlformats.org/drawingml/2006/main" noGrp="1"/>
          </p:cNvSpPr>
          <p:nvPr/>
        </p:nvSpPr>
        <p:spPr>
          <a:xfrm xmlns:a="http://schemas.openxmlformats.org/drawingml/2006/main">
            <a:off x="876300" y="3190875"/>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Dermis</a:t>
            </a:r>
          </a:p>
        </p:txBody>
      </p:sp>
      <p:sp>
        <p:nvSpPr>
          <p:cNvPr id="21" name="">
            <a:extLst xmlns:a="http://schemas.openxmlformats.org/drawingml/2006/main">
              <a:ext uri="{FF2B5EF4-FFF2-40B4-BE49-F238E27FC236}">
                <a16:creationId xmlns:a16="http://schemas.microsoft.com/office/drawing/2014/main" id="{28308AAE-83E9-4F94-AECB-3F47C940E4AE}"/>
              </a:ext>
            </a:extLst>
          </p:cNvPr>
          <p:cNvSpPr>
            <a:spLocks xmlns:a="http://schemas.openxmlformats.org/drawingml/2006/main" noGrp="1"/>
          </p:cNvSpPr>
          <p:nvPr/>
        </p:nvSpPr>
        <p:spPr>
          <a:xfrm xmlns:a="http://schemas.openxmlformats.org/drawingml/2006/main">
            <a:off x="4305300" y="3124200"/>
            <a:ext cx="3524250"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80331577-0E12-4A52-A44E-6022644748F9}"/>
              </a:ext>
            </a:extLst>
          </p:cNvPr>
          <p:cNvSpPr>
            <a:spLocks xmlns:a="http://schemas.openxmlformats.org/drawingml/2006/main" noGrp="1"/>
          </p:cNvSpPr>
          <p:nvPr/>
        </p:nvSpPr>
        <p:spPr>
          <a:xfrm xmlns:a="http://schemas.openxmlformats.org/drawingml/2006/main">
            <a:off x="4400550" y="3190875"/>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Contains sensory receptors, vessels, follicles, and glands</a:t>
            </a:r>
          </a:p>
        </p:txBody>
      </p:sp>
      <p:sp>
        <p:nvSpPr>
          <p:cNvPr id="23" name="">
            <a:extLst xmlns:a="http://schemas.openxmlformats.org/drawingml/2006/main">
              <a:ext uri="{FF2B5EF4-FFF2-40B4-BE49-F238E27FC236}">
                <a16:creationId xmlns:a16="http://schemas.microsoft.com/office/drawing/2014/main" id="{EEDA7206-A1B4-41DE-9FB7-C60A7E0DC548}"/>
              </a:ext>
            </a:extLst>
          </p:cNvPr>
          <p:cNvSpPr>
            <a:spLocks xmlns:a="http://schemas.openxmlformats.org/drawingml/2006/main" noGrp="1"/>
          </p:cNvSpPr>
          <p:nvPr/>
        </p:nvSpPr>
        <p:spPr>
          <a:xfrm xmlns:a="http://schemas.openxmlformats.org/drawingml/2006/main">
            <a:off x="7829550" y="3124200"/>
            <a:ext cx="3524250"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F19FDFF4-C5CF-4D43-8ACF-33E659805158}"/>
              </a:ext>
            </a:extLst>
          </p:cNvPr>
          <p:cNvSpPr>
            <a:spLocks xmlns:a="http://schemas.openxmlformats.org/drawingml/2006/main" noGrp="1"/>
          </p:cNvSpPr>
          <p:nvPr/>
        </p:nvSpPr>
        <p:spPr>
          <a:xfrm xmlns:a="http://schemas.openxmlformats.org/drawingml/2006/main">
            <a:off x="7924800" y="3190875"/>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Penetration causes sensation and requires controlled technique</a:t>
            </a:r>
          </a:p>
        </p:txBody>
      </p:sp>
      <p:sp>
        <p:nvSpPr>
          <p:cNvPr id="25" name="">
            <a:extLst xmlns:a="http://schemas.openxmlformats.org/drawingml/2006/main">
              <a:ext uri="{FF2B5EF4-FFF2-40B4-BE49-F238E27FC236}">
                <a16:creationId xmlns:a16="http://schemas.microsoft.com/office/drawing/2014/main" id="{726C80B1-A45B-4328-922C-4ED0747D9222}"/>
              </a:ext>
            </a:extLst>
          </p:cNvPr>
          <p:cNvSpPr>
            <a:spLocks xmlns:a="http://schemas.openxmlformats.org/drawingml/2006/main" noGrp="1"/>
          </p:cNvSpPr>
          <p:nvPr/>
        </p:nvSpPr>
        <p:spPr>
          <a:xfrm xmlns:a="http://schemas.openxmlformats.org/drawingml/2006/main">
            <a:off x="781050" y="3838575"/>
            <a:ext cx="3524250"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FD37DD06-FDB1-438B-9CA5-2221F31DA0BA}"/>
              </a:ext>
            </a:extLst>
          </p:cNvPr>
          <p:cNvSpPr>
            <a:spLocks xmlns:a="http://schemas.openxmlformats.org/drawingml/2006/main" noGrp="1"/>
          </p:cNvSpPr>
          <p:nvPr/>
        </p:nvSpPr>
        <p:spPr>
          <a:xfrm xmlns:a="http://schemas.openxmlformats.org/drawingml/2006/main">
            <a:off x="876300" y="3905250"/>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Subcutaneous tissue</a:t>
            </a:r>
          </a:p>
        </p:txBody>
      </p:sp>
      <p:sp>
        <p:nvSpPr>
          <p:cNvPr id="27" name="">
            <a:extLst xmlns:a="http://schemas.openxmlformats.org/drawingml/2006/main">
              <a:ext uri="{FF2B5EF4-FFF2-40B4-BE49-F238E27FC236}">
                <a16:creationId xmlns:a16="http://schemas.microsoft.com/office/drawing/2014/main" id="{017CF561-4D7F-432B-B1AB-AA3658993C74}"/>
              </a:ext>
            </a:extLst>
          </p:cNvPr>
          <p:cNvSpPr>
            <a:spLocks xmlns:a="http://schemas.openxmlformats.org/drawingml/2006/main" noGrp="1"/>
          </p:cNvSpPr>
          <p:nvPr/>
        </p:nvSpPr>
        <p:spPr>
          <a:xfrm xmlns:a="http://schemas.openxmlformats.org/drawingml/2006/main">
            <a:off x="4305300" y="3838575"/>
            <a:ext cx="3524250"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627C3308-3720-463F-B5AB-7E05F0046312}"/>
              </a:ext>
            </a:extLst>
          </p:cNvPr>
          <p:cNvSpPr>
            <a:spLocks xmlns:a="http://schemas.openxmlformats.org/drawingml/2006/main" noGrp="1"/>
          </p:cNvSpPr>
          <p:nvPr/>
        </p:nvSpPr>
        <p:spPr>
          <a:xfrm xmlns:a="http://schemas.openxmlformats.org/drawingml/2006/main">
            <a:off x="4400550" y="3905250"/>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Provides padding and contains variable fat and connective tissue</a:t>
            </a:r>
          </a:p>
        </p:txBody>
      </p:sp>
      <p:sp>
        <p:nvSpPr>
          <p:cNvPr id="29" name="">
            <a:extLst xmlns:a="http://schemas.openxmlformats.org/drawingml/2006/main">
              <a:ext uri="{FF2B5EF4-FFF2-40B4-BE49-F238E27FC236}">
                <a16:creationId xmlns:a16="http://schemas.microsoft.com/office/drawing/2014/main" id="{5375CACF-80D8-4DCB-9139-AF27380944BD}"/>
              </a:ext>
            </a:extLst>
          </p:cNvPr>
          <p:cNvSpPr>
            <a:spLocks xmlns:a="http://schemas.openxmlformats.org/drawingml/2006/main" noGrp="1"/>
          </p:cNvSpPr>
          <p:nvPr/>
        </p:nvSpPr>
        <p:spPr>
          <a:xfrm xmlns:a="http://schemas.openxmlformats.org/drawingml/2006/main">
            <a:off x="7829550" y="3838575"/>
            <a:ext cx="3524250"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934547FA-71B6-4881-8289-2616CFBDDF7C}"/>
              </a:ext>
            </a:extLst>
          </p:cNvPr>
          <p:cNvSpPr>
            <a:spLocks xmlns:a="http://schemas.openxmlformats.org/drawingml/2006/main" noGrp="1"/>
          </p:cNvSpPr>
          <p:nvPr/>
        </p:nvSpPr>
        <p:spPr>
          <a:xfrm xmlns:a="http://schemas.openxmlformats.org/drawingml/2006/main">
            <a:off x="7924800" y="3905250"/>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Changes vein depth, palpation, stabilization, and insertion angle</a:t>
            </a:r>
          </a:p>
        </p:txBody>
      </p:sp>
      <p:sp>
        <p:nvSpPr>
          <p:cNvPr id="31" name="">
            <a:extLst xmlns:a="http://schemas.openxmlformats.org/drawingml/2006/main">
              <a:ext uri="{FF2B5EF4-FFF2-40B4-BE49-F238E27FC236}">
                <a16:creationId xmlns:a16="http://schemas.microsoft.com/office/drawing/2014/main" id="{9F275523-4BCC-407D-A449-A19DC14B5F3B}"/>
              </a:ext>
            </a:extLst>
          </p:cNvPr>
          <p:cNvSpPr>
            <a:spLocks xmlns:a="http://schemas.openxmlformats.org/drawingml/2006/main" noGrp="1"/>
          </p:cNvSpPr>
          <p:nvPr/>
        </p:nvSpPr>
        <p:spPr>
          <a:xfrm xmlns:a="http://schemas.openxmlformats.org/drawingml/2006/main">
            <a:off x="781050" y="4552950"/>
            <a:ext cx="3524250"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2" name="">
            <a:extLst xmlns:a="http://schemas.openxmlformats.org/drawingml/2006/main">
              <a:ext uri="{FF2B5EF4-FFF2-40B4-BE49-F238E27FC236}">
                <a16:creationId xmlns:a16="http://schemas.microsoft.com/office/drawing/2014/main" id="{C728071C-9D93-4A61-80F1-94CEF5A624D5}"/>
              </a:ext>
            </a:extLst>
          </p:cNvPr>
          <p:cNvSpPr>
            <a:spLocks xmlns:a="http://schemas.openxmlformats.org/drawingml/2006/main" noGrp="1"/>
          </p:cNvSpPr>
          <p:nvPr/>
        </p:nvSpPr>
        <p:spPr>
          <a:xfrm xmlns:a="http://schemas.openxmlformats.org/drawingml/2006/main">
            <a:off x="876300" y="4619625"/>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Peripheral nerve</a:t>
            </a:r>
          </a:p>
        </p:txBody>
      </p:sp>
      <p:sp>
        <p:nvSpPr>
          <p:cNvPr id="33" name="">
            <a:extLst xmlns:a="http://schemas.openxmlformats.org/drawingml/2006/main">
              <a:ext uri="{FF2B5EF4-FFF2-40B4-BE49-F238E27FC236}">
                <a16:creationId xmlns:a16="http://schemas.microsoft.com/office/drawing/2014/main" id="{B557EF43-1A50-48D2-A961-AC4374B04358}"/>
              </a:ext>
            </a:extLst>
          </p:cNvPr>
          <p:cNvSpPr>
            <a:spLocks xmlns:a="http://schemas.openxmlformats.org/drawingml/2006/main" noGrp="1"/>
          </p:cNvSpPr>
          <p:nvPr/>
        </p:nvSpPr>
        <p:spPr>
          <a:xfrm xmlns:a="http://schemas.openxmlformats.org/drawingml/2006/main">
            <a:off x="4305300" y="4552950"/>
            <a:ext cx="3524250"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4" name="">
            <a:extLst xmlns:a="http://schemas.openxmlformats.org/drawingml/2006/main">
              <a:ext uri="{FF2B5EF4-FFF2-40B4-BE49-F238E27FC236}">
                <a16:creationId xmlns:a16="http://schemas.microsoft.com/office/drawing/2014/main" id="{C4405FF9-6456-460E-94ED-2FE6A4F6412E}"/>
              </a:ext>
            </a:extLst>
          </p:cNvPr>
          <p:cNvSpPr>
            <a:spLocks xmlns:a="http://schemas.openxmlformats.org/drawingml/2006/main" noGrp="1"/>
          </p:cNvSpPr>
          <p:nvPr/>
        </p:nvSpPr>
        <p:spPr>
          <a:xfrm xmlns:a="http://schemas.openxmlformats.org/drawingml/2006/main">
            <a:off x="4400550" y="4619625"/>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Carries sensation and motor signals</a:t>
            </a:r>
          </a:p>
        </p:txBody>
      </p:sp>
      <p:sp>
        <p:nvSpPr>
          <p:cNvPr id="35" name="">
            <a:extLst xmlns:a="http://schemas.openxmlformats.org/drawingml/2006/main">
              <a:ext uri="{FF2B5EF4-FFF2-40B4-BE49-F238E27FC236}">
                <a16:creationId xmlns:a16="http://schemas.microsoft.com/office/drawing/2014/main" id="{ED9EBCA2-9C33-4B9E-8BDE-889DD63B06D7}"/>
              </a:ext>
            </a:extLst>
          </p:cNvPr>
          <p:cNvSpPr>
            <a:spLocks xmlns:a="http://schemas.openxmlformats.org/drawingml/2006/main" noGrp="1"/>
          </p:cNvSpPr>
          <p:nvPr/>
        </p:nvSpPr>
        <p:spPr>
          <a:xfrm xmlns:a="http://schemas.openxmlformats.org/drawingml/2006/main">
            <a:off x="7829550" y="4552950"/>
            <a:ext cx="3524250"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6" name="">
            <a:extLst xmlns:a="http://schemas.openxmlformats.org/drawingml/2006/main">
              <a:ext uri="{FF2B5EF4-FFF2-40B4-BE49-F238E27FC236}">
                <a16:creationId xmlns:a16="http://schemas.microsoft.com/office/drawing/2014/main" id="{A8F062EF-5543-4E2D-8E72-920ADC7AFF5B}"/>
              </a:ext>
            </a:extLst>
          </p:cNvPr>
          <p:cNvSpPr>
            <a:spLocks xmlns:a="http://schemas.openxmlformats.org/drawingml/2006/main" noGrp="1"/>
          </p:cNvSpPr>
          <p:nvPr/>
        </p:nvSpPr>
        <p:spPr>
          <a:xfrm xmlns:a="http://schemas.openxmlformats.org/drawingml/2006/main">
            <a:off x="7924800" y="4619625"/>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Electric pain, paresthesia, or radiating symptoms require an immediate stop</a:t>
            </a:r>
          </a:p>
        </p:txBody>
      </p:sp>
      <p:sp>
        <p:nvSpPr>
          <p:cNvPr id="37" name="">
            <a:extLst xmlns:a="http://schemas.openxmlformats.org/drawingml/2006/main">
              <a:ext uri="{FF2B5EF4-FFF2-40B4-BE49-F238E27FC236}">
                <a16:creationId xmlns:a16="http://schemas.microsoft.com/office/drawing/2014/main" id="{9B114168-4F1D-400F-A9F4-063149445CE2}"/>
              </a:ext>
            </a:extLst>
          </p:cNvPr>
          <p:cNvSpPr>
            <a:spLocks xmlns:a="http://schemas.openxmlformats.org/drawingml/2006/main" noGrp="1"/>
          </p:cNvSpPr>
          <p:nvPr/>
        </p:nvSpPr>
        <p:spPr>
          <a:xfrm xmlns:a="http://schemas.openxmlformats.org/drawingml/2006/main">
            <a:off x="781050" y="5267325"/>
            <a:ext cx="3524250"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8" name="">
            <a:extLst xmlns:a="http://schemas.openxmlformats.org/drawingml/2006/main">
              <a:ext uri="{FF2B5EF4-FFF2-40B4-BE49-F238E27FC236}">
                <a16:creationId xmlns:a16="http://schemas.microsoft.com/office/drawing/2014/main" id="{2205DFD0-08FF-4C7C-B5EE-4F399DE4E5F4}"/>
              </a:ext>
            </a:extLst>
          </p:cNvPr>
          <p:cNvSpPr>
            <a:spLocks xmlns:a="http://schemas.openxmlformats.org/drawingml/2006/main" noGrp="1"/>
          </p:cNvSpPr>
          <p:nvPr/>
        </p:nvSpPr>
        <p:spPr>
          <a:xfrm xmlns:a="http://schemas.openxmlformats.org/drawingml/2006/main">
            <a:off x="876300" y="5334000"/>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Artery</a:t>
            </a:r>
          </a:p>
        </p:txBody>
      </p:sp>
      <p:sp>
        <p:nvSpPr>
          <p:cNvPr id="39" name="">
            <a:extLst xmlns:a="http://schemas.openxmlformats.org/drawingml/2006/main">
              <a:ext uri="{FF2B5EF4-FFF2-40B4-BE49-F238E27FC236}">
                <a16:creationId xmlns:a16="http://schemas.microsoft.com/office/drawing/2014/main" id="{FF0EAE1D-C45E-43C3-AD8D-BA14139A94F5}"/>
              </a:ext>
            </a:extLst>
          </p:cNvPr>
          <p:cNvSpPr>
            <a:spLocks xmlns:a="http://schemas.openxmlformats.org/drawingml/2006/main" noGrp="1"/>
          </p:cNvSpPr>
          <p:nvPr/>
        </p:nvSpPr>
        <p:spPr>
          <a:xfrm xmlns:a="http://schemas.openxmlformats.org/drawingml/2006/main">
            <a:off x="4305300" y="5267325"/>
            <a:ext cx="3524250"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40" name="">
            <a:extLst xmlns:a="http://schemas.openxmlformats.org/drawingml/2006/main">
              <a:ext uri="{FF2B5EF4-FFF2-40B4-BE49-F238E27FC236}">
                <a16:creationId xmlns:a16="http://schemas.microsoft.com/office/drawing/2014/main" id="{D1D15047-D028-4343-B923-E90F8A170DAE}"/>
              </a:ext>
            </a:extLst>
          </p:cNvPr>
          <p:cNvSpPr>
            <a:spLocks xmlns:a="http://schemas.openxmlformats.org/drawingml/2006/main" noGrp="1"/>
          </p:cNvSpPr>
          <p:nvPr/>
        </p:nvSpPr>
        <p:spPr>
          <a:xfrm xmlns:a="http://schemas.openxmlformats.org/drawingml/2006/main">
            <a:off x="4400550" y="5334000"/>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High-pressure pulsatile vessel</a:t>
            </a:r>
          </a:p>
        </p:txBody>
      </p:sp>
      <p:sp>
        <p:nvSpPr>
          <p:cNvPr id="41" name="">
            <a:extLst xmlns:a="http://schemas.openxmlformats.org/drawingml/2006/main">
              <a:ext uri="{FF2B5EF4-FFF2-40B4-BE49-F238E27FC236}">
                <a16:creationId xmlns:a16="http://schemas.microsoft.com/office/drawing/2014/main" id="{BDE7A1DC-8380-4FC6-8C07-24948C04E42B}"/>
              </a:ext>
            </a:extLst>
          </p:cNvPr>
          <p:cNvSpPr>
            <a:spLocks xmlns:a="http://schemas.openxmlformats.org/drawingml/2006/main" noGrp="1"/>
          </p:cNvSpPr>
          <p:nvPr/>
        </p:nvSpPr>
        <p:spPr>
          <a:xfrm xmlns:a="http://schemas.openxmlformats.org/drawingml/2006/main">
            <a:off x="7829550" y="5267325"/>
            <a:ext cx="3524250"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42" name="">
            <a:extLst xmlns:a="http://schemas.openxmlformats.org/drawingml/2006/main">
              <a:ext uri="{FF2B5EF4-FFF2-40B4-BE49-F238E27FC236}">
                <a16:creationId xmlns:a16="http://schemas.microsoft.com/office/drawing/2014/main" id="{8106CBB0-DD53-46DD-AE4D-690DF83AC2A0}"/>
              </a:ext>
            </a:extLst>
          </p:cNvPr>
          <p:cNvSpPr>
            <a:spLocks xmlns:a="http://schemas.openxmlformats.org/drawingml/2006/main" noGrp="1"/>
          </p:cNvSpPr>
          <p:nvPr/>
        </p:nvSpPr>
        <p:spPr>
          <a:xfrm xmlns:a="http://schemas.openxmlformats.org/drawingml/2006/main">
            <a:off x="7924800" y="5334000"/>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Pulsation or unexpected blood return requires stopping and escalation</a:t>
            </a:r>
          </a:p>
        </p:txBody>
      </p:sp>
    </p:spTree>
    <p:extLst>
      <p:ext uri="{BB962C8B-B14F-4D97-AF65-F5344CB8AC3E}">
        <p14:creationId xmlns:p14="http://schemas.microsoft.com/office/powerpoint/2010/main" val="1101254653"/>
      </p:ext>
    </p:extLst>
  </p:cSld>
</p:sld>
</file>

<file path=ppt/slides/slide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47052E8-BB42-474E-8F8E-4BB5F0335C54}"/>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DCF9ED62-278D-455D-A691-E3646835976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69E1ECB0-669F-461B-87C8-F1CFE0150544}"/>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EF259CB7-DA0D-47B2-8F29-3C0EE580429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Superficial veins of the hand and forearm</a:t>
            </a:r>
          </a:p>
        </p:txBody>
      </p:sp>
      <p:sp>
        <p:nvSpPr>
          <p:cNvPr id="5" name="">
            <a:extLst xmlns:a="http://schemas.openxmlformats.org/drawingml/2006/main">
              <a:ext uri="{FF2B5EF4-FFF2-40B4-BE49-F238E27FC236}">
                <a16:creationId xmlns:a16="http://schemas.microsoft.com/office/drawing/2014/main" id="{678409DE-F8B3-4B71-8F0E-ADF8E67C3FE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6" name="">
            <a:extLst xmlns:a="http://schemas.openxmlformats.org/drawingml/2006/main">
              <a:ext uri="{FF2B5EF4-FFF2-40B4-BE49-F238E27FC236}">
                <a16:creationId xmlns:a16="http://schemas.microsoft.com/office/drawing/2014/main" id="{C3E553C4-B3BA-4D85-8AE1-7294E23DFC9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09</a:t>
            </a:r>
          </a:p>
        </p:txBody>
      </p:sp>
      <p:sp>
        <p:nvSpPr>
          <p:cNvPr id="7" name="">
            <a:extLst xmlns:a="http://schemas.openxmlformats.org/drawingml/2006/main">
              <a:ext uri="{FF2B5EF4-FFF2-40B4-BE49-F238E27FC236}">
                <a16:creationId xmlns:a16="http://schemas.microsoft.com/office/drawing/2014/main" id="{3C74C080-7878-434F-BF85-005CBDAB6A11}"/>
              </a:ext>
            </a:extLst>
          </p:cNvPr>
          <p:cNvSpPr>
            <a:spLocks xmlns:a="http://schemas.openxmlformats.org/drawingml/2006/main" noGrp="1"/>
          </p:cNvSpPr>
          <p:nvPr/>
        </p:nvSpPr>
        <p:spPr>
          <a:xfrm xmlns:a="http://schemas.openxmlformats.org/drawingml/2006/main">
            <a:off x="704850" y="1752600"/>
            <a:ext cx="47625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Begin with a complete inspection and palpation of both appropriate extremities.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Follow the vein's direction, depth, resilience, length, and branching.</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Start distally when the therapy and patient condition permit.</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Preserve stronger proximal options for future access.</a:t>
            </a:r>
          </a:p>
        </p:txBody>
      </p:sp>
      <p:pic>
        <p:nvPicPr>
          <p:cNvPr id="8" name="">
            <a:extLst xmlns:a="http://schemas.openxmlformats.org/drawingml/2006/main">
              <a:ext uri="{FF2B5EF4-FFF2-40B4-BE49-F238E27FC236}">
                <a16:creationId xmlns:a16="http://schemas.microsoft.com/office/drawing/2014/main" id="{FF4D8E24-898A-4AA2-946F-3CEC6D868102}"/>
              </a:ext>
            </a:extLst>
          </p:cNvPr>
          <p:cNvPicPr>
            <a:picLocks xmlns:a="http://schemas.openxmlformats.org/drawingml/2006/main" noChangeAspect="1"/>
          </p:cNvPicPr>
          <p:nvPr/>
        </p:nvPicPr>
        <p:blipFill>
          <a:blip xmlns:r="http://schemas.openxmlformats.org/officeDocument/2006/relationships" xmlns:a="http://schemas.openxmlformats.org/drawingml/2006/main" r:embed="Rd81309de7f34440c"/>
          <a:srcRect xmlns:a="http://schemas.openxmlformats.org/drawingml/2006/main" l="12480" t="0" r="12480" b="0"/>
          <a:stretch xmlns:a="http://schemas.openxmlformats.org/drawingml/2006/main">
            <a:fillRect l="0" t="0" r="0" b="0"/>
          </a:stretch>
        </p:blipFill>
        <p:spPr>
          <a:xfrm xmlns:a="http://schemas.openxmlformats.org/drawingml/2006/main">
            <a:off x="5810250" y="1581150"/>
            <a:ext cx="5715000" cy="42862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94159AA3-965E-4372-9F7F-6034E27277BB}"/>
              </a:ext>
            </a:extLst>
          </p:cNvPr>
          <p:cNvSpPr>
            <a:spLocks xmlns:a="http://schemas.openxmlformats.org/drawingml/2006/main" noGrp="1"/>
          </p:cNvSpPr>
          <p:nvPr/>
        </p:nvSpPr>
        <p:spPr>
          <a:xfrm xmlns:a="http://schemas.openxmlformats.org/drawingml/2006/main">
            <a:off x="5810250" y="1581150"/>
            <a:ext cx="5715000" cy="4286250"/>
          </a:xfrm>
          <a:prstGeom xmlns:a="http://schemas.openxmlformats.org/drawingml/2006/main" prst="rect">
            <a:avLst/>
          </a:prstGeom>
          <a:ln xmlns:a="http://schemas.openxmlformats.org/drawingml/2006/main" w="19050">
            <a:solidFill>
              <a:srgbClr val="237B82"/>
            </a:solidFill>
          </a:ln>
        </p:spPr>
      </p:sp>
      <p:sp>
        <p:nvSpPr>
          <p:cNvPr id="10" name="">
            <a:extLst xmlns:a="http://schemas.openxmlformats.org/drawingml/2006/main">
              <a:ext uri="{FF2B5EF4-FFF2-40B4-BE49-F238E27FC236}">
                <a16:creationId xmlns:a16="http://schemas.microsoft.com/office/drawing/2014/main" id="{A1F4199B-DD8A-4C93-B676-A8679E06F75C}"/>
              </a:ext>
            </a:extLst>
          </p:cNvPr>
          <p:cNvSpPr>
            <a:spLocks xmlns:a="http://schemas.openxmlformats.org/drawingml/2006/main" noGrp="1"/>
          </p:cNvSpPr>
          <p:nvPr/>
        </p:nvSpPr>
        <p:spPr>
          <a:xfrm xmlns:a="http://schemas.openxmlformats.org/drawingml/2006/main">
            <a:off x="5905500" y="5962650"/>
            <a:ext cx="552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050" b="1">
                <a:solidFill>
                  <a:srgbClr val="B94F3D"/>
                </a:solidFill>
                <a:latin typeface="Helvetica Neue"/>
                <a:ea typeface="Helvetica Neue"/>
                <a:cs typeface="Helvetica Neue"/>
              </a:defRPr>
            </a:defPPr>
            <a:lvl1pPr>
              <a:defRPr sz="1050" b="1">
                <a:solidFill>
                  <a:srgbClr val="B94F3D"/>
                </a:solidFill>
                <a:latin typeface="Helvetica Neue"/>
                <a:ea typeface="Helvetica Neue"/>
                <a:cs typeface="Helvetica Neue"/>
              </a:defRPr>
            </a:lvl1pPr>
            <a:lvl2pPr>
              <a:defRPr sz="1050" b="1">
                <a:solidFill>
                  <a:srgbClr val="B94F3D"/>
                </a:solidFill>
                <a:latin typeface="Helvetica Neue"/>
                <a:ea typeface="Helvetica Neue"/>
                <a:cs typeface="Helvetica Neue"/>
              </a:defRPr>
            </a:lvl2pPr>
            <a:lvl3pPr>
              <a:defRPr sz="1050" b="1">
                <a:solidFill>
                  <a:srgbClr val="B94F3D"/>
                </a:solidFill>
                <a:latin typeface="Helvetica Neue"/>
                <a:ea typeface="Helvetica Neue"/>
                <a:cs typeface="Helvetica Neue"/>
              </a:defRPr>
            </a:lvl3pPr>
            <a:lvl4pPr>
              <a:defRPr sz="1050" b="1">
                <a:solidFill>
                  <a:srgbClr val="B94F3D"/>
                </a:solidFill>
                <a:latin typeface="Helvetica Neue"/>
                <a:ea typeface="Helvetica Neue"/>
                <a:cs typeface="Helvetica Neue"/>
              </a:defRPr>
            </a:lvl4pPr>
            <a:lvl5pPr>
              <a:defRPr sz="1050" b="1">
                <a:solidFill>
                  <a:srgbClr val="B94F3D"/>
                </a:solidFill>
                <a:latin typeface="Helvetica Neue"/>
                <a:ea typeface="Helvetica Neue"/>
                <a:cs typeface="Helvetica Neue"/>
              </a:defRPr>
            </a:lvl5pPr>
            <a:lvl6pPr>
              <a:defRPr sz="1050" b="1">
                <a:solidFill>
                  <a:srgbClr val="B94F3D"/>
                </a:solidFill>
                <a:latin typeface="Helvetica Neue"/>
                <a:ea typeface="Helvetica Neue"/>
                <a:cs typeface="Helvetica Neue"/>
              </a:defRPr>
            </a:lvl6pPr>
            <a:lvl7pPr>
              <a:defRPr sz="1050" b="1">
                <a:solidFill>
                  <a:srgbClr val="B94F3D"/>
                </a:solidFill>
                <a:latin typeface="Helvetica Neue"/>
                <a:ea typeface="Helvetica Neue"/>
                <a:cs typeface="Helvetica Neue"/>
              </a:defRPr>
            </a:lvl7pPr>
            <a:lvl8pPr>
              <a:defRPr sz="1050" b="1">
                <a:solidFill>
                  <a:srgbClr val="B94F3D"/>
                </a:solidFill>
                <a:latin typeface="Helvetica Neue"/>
                <a:ea typeface="Helvetica Neue"/>
                <a:cs typeface="Helvetica Neue"/>
              </a:defRPr>
            </a:lvl8pPr>
            <a:lvl9pPr>
              <a:defRPr sz="1050" b="1">
                <a:solidFill>
                  <a:srgbClr val="B94F3D"/>
                </a:solidFill>
                <a:latin typeface="Helvetica Neue"/>
                <a:ea typeface="Helvetica Neue"/>
                <a:cs typeface="Helvetica Neue"/>
              </a:defRPr>
            </a:lvl9pPr>
          </a:lstStyle>
          <a:p xmlns:a="http://schemas.openxmlformats.org/drawingml/2006/main">
            <a:pPr>
              <a:defRPr sz="1050" b="1">
                <a:solidFill>
                  <a:srgbClr val="B94F3D"/>
                </a:solidFill>
                <a:latin typeface="Helvetica Neue"/>
                <a:ea typeface="Helvetica Neue"/>
                <a:cs typeface="Helvetica Neue"/>
              </a:defRPr>
            </a:pPr>
            <a:r>
              <a:rPr sz="1050" b="1">
                <a:solidFill>
                  <a:srgbClr val="B94F3D"/>
                </a:solidFill>
                <a:latin typeface="Helvetica Neue"/>
                <a:ea typeface="Helvetica Neue"/>
                <a:cs typeface="Helvetica Neue"/>
              </a:rPr>
              <a:t>Educational visual. Verify device-specific technique during supervised practice.</a:t>
            </a:r>
          </a:p>
        </p:txBody>
      </p:sp>
    </p:spTree>
    <p:extLst>
      <p:ext uri="{BB962C8B-B14F-4D97-AF65-F5344CB8AC3E}">
        <p14:creationId xmlns:p14="http://schemas.microsoft.com/office/powerpoint/2010/main" val="1706879223"/>
      </p:ext>
    </p:extLst>
  </p:cSld>
</p:sld>
</file>

<file path=ppt/slides/slide1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F76DFFB-8912-4557-AD49-0BDAA034BB1A}"/>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51801178-D2DE-4961-8C97-C0EE628306D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B3926F17-3570-4C4C-9BA9-29CA01AF41CB}"/>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40189D9D-5C82-40F6-97E9-6CCF404A420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Forearm vascular anatomy</a:t>
            </a:r>
          </a:p>
        </p:txBody>
      </p:sp>
      <p:sp>
        <p:nvSpPr>
          <p:cNvPr id="5" name="">
            <a:extLst xmlns:a="http://schemas.openxmlformats.org/drawingml/2006/main">
              <a:ext uri="{FF2B5EF4-FFF2-40B4-BE49-F238E27FC236}">
                <a16:creationId xmlns:a16="http://schemas.microsoft.com/office/drawing/2014/main" id="{861078D5-991D-498E-ACB2-662780C3002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6" name="">
            <a:extLst xmlns:a="http://schemas.openxmlformats.org/drawingml/2006/main">
              <a:ext uri="{FF2B5EF4-FFF2-40B4-BE49-F238E27FC236}">
                <a16:creationId xmlns:a16="http://schemas.microsoft.com/office/drawing/2014/main" id="{360CDDEC-D6CD-4D0F-9EF1-A6C230F7402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a:t>
            </a:r>
          </a:p>
        </p:txBody>
      </p:sp>
      <p:sp>
        <p:nvSpPr>
          <p:cNvPr id="7" name="">
            <a:extLst xmlns:a="http://schemas.openxmlformats.org/drawingml/2006/main">
              <a:ext uri="{FF2B5EF4-FFF2-40B4-BE49-F238E27FC236}">
                <a16:creationId xmlns:a16="http://schemas.microsoft.com/office/drawing/2014/main" id="{1B401E1F-2D4D-4243-A9A6-8B6673C728D2}"/>
              </a:ext>
            </a:extLst>
          </p:cNvPr>
          <p:cNvSpPr>
            <a:spLocks xmlns:a="http://schemas.openxmlformats.org/drawingml/2006/main" noGrp="1"/>
          </p:cNvSpPr>
          <p:nvPr/>
        </p:nvSpPr>
        <p:spPr>
          <a:xfrm xmlns:a="http://schemas.openxmlformats.org/drawingml/2006/main">
            <a:off x="704850" y="1752600"/>
            <a:ext cx="47625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Superficial veins are common peripheral access targets.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Veins have thinner walls, lower pressure, and valves; arteries have thicker muscular walls and pulsatile flow.</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skin, subcutaneous tissue, nerves, and nearby arteries influence site selection and insertion angle.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Confirm anatomy by inspection and palpation before preparing the site.</a:t>
            </a:r>
          </a:p>
        </p:txBody>
      </p:sp>
      <p:pic>
        <p:nvPicPr>
          <p:cNvPr id="8" name="">
            <a:extLst xmlns:a="http://schemas.openxmlformats.org/drawingml/2006/main">
              <a:ext uri="{FF2B5EF4-FFF2-40B4-BE49-F238E27FC236}">
                <a16:creationId xmlns:a16="http://schemas.microsoft.com/office/drawing/2014/main" id="{108481C9-CCAA-4E08-9990-A09B9A9F06F5}"/>
              </a:ext>
            </a:extLst>
          </p:cNvPr>
          <p:cNvPicPr>
            <a:picLocks xmlns:a="http://schemas.openxmlformats.org/drawingml/2006/main" noChangeAspect="1"/>
          </p:cNvPicPr>
          <p:nvPr/>
        </p:nvPicPr>
        <p:blipFill>
          <a:blip xmlns:r="http://schemas.openxmlformats.org/officeDocument/2006/relationships" xmlns:a="http://schemas.openxmlformats.org/drawingml/2006/main" r:embed="R69cf7705b0f149ff"/>
          <a:srcRect xmlns:a="http://schemas.openxmlformats.org/drawingml/2006/main" l="12480" t="0" r="12480" b="0"/>
          <a:stretch xmlns:a="http://schemas.openxmlformats.org/drawingml/2006/main">
            <a:fillRect l="0" t="0" r="0" b="0"/>
          </a:stretch>
        </p:blipFill>
        <p:spPr>
          <a:xfrm xmlns:a="http://schemas.openxmlformats.org/drawingml/2006/main">
            <a:off x="5810250" y="1581150"/>
            <a:ext cx="5715000" cy="42862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C67E0109-2327-4707-87DC-C932D2A3CCB9}"/>
              </a:ext>
            </a:extLst>
          </p:cNvPr>
          <p:cNvSpPr>
            <a:spLocks xmlns:a="http://schemas.openxmlformats.org/drawingml/2006/main" noGrp="1"/>
          </p:cNvSpPr>
          <p:nvPr/>
        </p:nvSpPr>
        <p:spPr>
          <a:xfrm xmlns:a="http://schemas.openxmlformats.org/drawingml/2006/main">
            <a:off x="5810250" y="1581150"/>
            <a:ext cx="5715000" cy="4286250"/>
          </a:xfrm>
          <a:prstGeom xmlns:a="http://schemas.openxmlformats.org/drawingml/2006/main" prst="rect">
            <a:avLst/>
          </a:prstGeom>
          <a:ln xmlns:a="http://schemas.openxmlformats.org/drawingml/2006/main" w="19050">
            <a:solidFill>
              <a:srgbClr val="237B82"/>
            </a:solidFill>
          </a:ln>
        </p:spPr>
      </p:sp>
      <p:sp>
        <p:nvSpPr>
          <p:cNvPr id="10" name="">
            <a:extLst xmlns:a="http://schemas.openxmlformats.org/drawingml/2006/main">
              <a:ext uri="{FF2B5EF4-FFF2-40B4-BE49-F238E27FC236}">
                <a16:creationId xmlns:a16="http://schemas.microsoft.com/office/drawing/2014/main" id="{A73D7E61-4B91-4314-A38C-D9F37A17D493}"/>
              </a:ext>
            </a:extLst>
          </p:cNvPr>
          <p:cNvSpPr>
            <a:spLocks xmlns:a="http://schemas.openxmlformats.org/drawingml/2006/main" noGrp="1"/>
          </p:cNvSpPr>
          <p:nvPr/>
        </p:nvSpPr>
        <p:spPr>
          <a:xfrm xmlns:a="http://schemas.openxmlformats.org/drawingml/2006/main">
            <a:off x="5905500" y="5962650"/>
            <a:ext cx="552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050" b="1">
                <a:solidFill>
                  <a:srgbClr val="B94F3D"/>
                </a:solidFill>
                <a:latin typeface="Helvetica Neue"/>
                <a:ea typeface="Helvetica Neue"/>
                <a:cs typeface="Helvetica Neue"/>
              </a:defRPr>
            </a:defPPr>
            <a:lvl1pPr>
              <a:defRPr sz="1050" b="1">
                <a:solidFill>
                  <a:srgbClr val="B94F3D"/>
                </a:solidFill>
                <a:latin typeface="Helvetica Neue"/>
                <a:ea typeface="Helvetica Neue"/>
                <a:cs typeface="Helvetica Neue"/>
              </a:defRPr>
            </a:lvl1pPr>
            <a:lvl2pPr>
              <a:defRPr sz="1050" b="1">
                <a:solidFill>
                  <a:srgbClr val="B94F3D"/>
                </a:solidFill>
                <a:latin typeface="Helvetica Neue"/>
                <a:ea typeface="Helvetica Neue"/>
                <a:cs typeface="Helvetica Neue"/>
              </a:defRPr>
            </a:lvl2pPr>
            <a:lvl3pPr>
              <a:defRPr sz="1050" b="1">
                <a:solidFill>
                  <a:srgbClr val="B94F3D"/>
                </a:solidFill>
                <a:latin typeface="Helvetica Neue"/>
                <a:ea typeface="Helvetica Neue"/>
                <a:cs typeface="Helvetica Neue"/>
              </a:defRPr>
            </a:lvl3pPr>
            <a:lvl4pPr>
              <a:defRPr sz="1050" b="1">
                <a:solidFill>
                  <a:srgbClr val="B94F3D"/>
                </a:solidFill>
                <a:latin typeface="Helvetica Neue"/>
                <a:ea typeface="Helvetica Neue"/>
                <a:cs typeface="Helvetica Neue"/>
              </a:defRPr>
            </a:lvl4pPr>
            <a:lvl5pPr>
              <a:defRPr sz="1050" b="1">
                <a:solidFill>
                  <a:srgbClr val="B94F3D"/>
                </a:solidFill>
                <a:latin typeface="Helvetica Neue"/>
                <a:ea typeface="Helvetica Neue"/>
                <a:cs typeface="Helvetica Neue"/>
              </a:defRPr>
            </a:lvl5pPr>
            <a:lvl6pPr>
              <a:defRPr sz="1050" b="1">
                <a:solidFill>
                  <a:srgbClr val="B94F3D"/>
                </a:solidFill>
                <a:latin typeface="Helvetica Neue"/>
                <a:ea typeface="Helvetica Neue"/>
                <a:cs typeface="Helvetica Neue"/>
              </a:defRPr>
            </a:lvl6pPr>
            <a:lvl7pPr>
              <a:defRPr sz="1050" b="1">
                <a:solidFill>
                  <a:srgbClr val="B94F3D"/>
                </a:solidFill>
                <a:latin typeface="Helvetica Neue"/>
                <a:ea typeface="Helvetica Neue"/>
                <a:cs typeface="Helvetica Neue"/>
              </a:defRPr>
            </a:lvl7pPr>
            <a:lvl8pPr>
              <a:defRPr sz="1050" b="1">
                <a:solidFill>
                  <a:srgbClr val="B94F3D"/>
                </a:solidFill>
                <a:latin typeface="Helvetica Neue"/>
                <a:ea typeface="Helvetica Neue"/>
                <a:cs typeface="Helvetica Neue"/>
              </a:defRPr>
            </a:lvl8pPr>
            <a:lvl9pPr>
              <a:defRPr sz="1050" b="1">
                <a:solidFill>
                  <a:srgbClr val="B94F3D"/>
                </a:solidFill>
                <a:latin typeface="Helvetica Neue"/>
                <a:ea typeface="Helvetica Neue"/>
                <a:cs typeface="Helvetica Neue"/>
              </a:defRPr>
            </a:lvl9pPr>
          </a:lstStyle>
          <a:p xmlns:a="http://schemas.openxmlformats.org/drawingml/2006/main">
            <a:pPr>
              <a:defRPr sz="1050" b="1">
                <a:solidFill>
                  <a:srgbClr val="B94F3D"/>
                </a:solidFill>
                <a:latin typeface="Helvetica Neue"/>
                <a:ea typeface="Helvetica Neue"/>
                <a:cs typeface="Helvetica Neue"/>
              </a:defRPr>
            </a:pPr>
            <a:r>
              <a:rPr sz="1050" b="1">
                <a:solidFill>
                  <a:srgbClr val="B94F3D"/>
                </a:solidFill>
                <a:latin typeface="Helvetica Neue"/>
                <a:ea typeface="Helvetica Neue"/>
                <a:cs typeface="Helvetica Neue"/>
              </a:rPr>
              <a:t>Educational visual. Verify device-specific technique during supervised practice.</a:t>
            </a:r>
          </a:p>
        </p:txBody>
      </p:sp>
    </p:spTree>
    <p:extLst>
      <p:ext uri="{BB962C8B-B14F-4D97-AF65-F5344CB8AC3E}">
        <p14:creationId xmlns:p14="http://schemas.microsoft.com/office/powerpoint/2010/main" val="1162493890"/>
      </p:ext>
    </p:extLst>
  </p:cSld>
</p:sld>
</file>

<file path=ppt/slides/slide1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91471030-A9F7-43BB-978A-B63EB3BA10E7}"/>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67539572-BA57-487F-9DD6-600030DE1C7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0C94DFCA-A4DE-4FCD-ADDE-AE82899EF328}"/>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18804E98-6C69-4D19-A0A5-041B201FD60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Skin layers and insertion discomfort</a:t>
            </a:r>
          </a:p>
        </p:txBody>
      </p:sp>
      <p:sp>
        <p:nvSpPr>
          <p:cNvPr id="5" name="">
            <a:extLst xmlns:a="http://schemas.openxmlformats.org/drawingml/2006/main">
              <a:ext uri="{FF2B5EF4-FFF2-40B4-BE49-F238E27FC236}">
                <a16:creationId xmlns:a16="http://schemas.microsoft.com/office/drawing/2014/main" id="{6744BEBE-7D63-4F67-9043-655EADF40F0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6" name="">
            <a:extLst xmlns:a="http://schemas.openxmlformats.org/drawingml/2006/main">
              <a:ext uri="{FF2B5EF4-FFF2-40B4-BE49-F238E27FC236}">
                <a16:creationId xmlns:a16="http://schemas.microsoft.com/office/drawing/2014/main" id="{4CA097B5-1280-49E8-97E3-991FA49BB3A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11</a:t>
            </a:r>
          </a:p>
        </p:txBody>
      </p:sp>
      <p:sp>
        <p:nvSpPr>
          <p:cNvPr id="7" name="">
            <a:extLst xmlns:a="http://schemas.openxmlformats.org/drawingml/2006/main">
              <a:ext uri="{FF2B5EF4-FFF2-40B4-BE49-F238E27FC236}">
                <a16:creationId xmlns:a16="http://schemas.microsoft.com/office/drawing/2014/main" id="{E114F962-CB22-4C9C-B07F-C0BBA57941F8}"/>
              </a:ext>
            </a:extLst>
          </p:cNvPr>
          <p:cNvSpPr>
            <a:spLocks xmlns:a="http://schemas.openxmlformats.org/drawingml/2006/main" noGrp="1"/>
          </p:cNvSpPr>
          <p:nvPr/>
        </p:nvSpPr>
        <p:spPr>
          <a:xfrm xmlns:a="http://schemas.openxmlformats.org/drawingml/2006/main">
            <a:off x="781050" y="1695450"/>
            <a:ext cx="5286375"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4775941B-6D3C-49D3-BE3B-7DC0483FA02C}"/>
              </a:ext>
            </a:extLst>
          </p:cNvPr>
          <p:cNvSpPr>
            <a:spLocks xmlns:a="http://schemas.openxmlformats.org/drawingml/2006/main" noGrp="1"/>
          </p:cNvSpPr>
          <p:nvPr/>
        </p:nvSpPr>
        <p:spPr>
          <a:xfrm xmlns:a="http://schemas.openxmlformats.org/drawingml/2006/main">
            <a:off x="876300" y="1762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Layer</a:t>
            </a:r>
          </a:p>
        </p:txBody>
      </p:sp>
      <p:sp>
        <p:nvSpPr>
          <p:cNvPr id="9" name="">
            <a:extLst xmlns:a="http://schemas.openxmlformats.org/drawingml/2006/main">
              <a:ext uri="{FF2B5EF4-FFF2-40B4-BE49-F238E27FC236}">
                <a16:creationId xmlns:a16="http://schemas.microsoft.com/office/drawing/2014/main" id="{1986CF3A-81BF-4467-9F8B-E6E60F2CA53F}"/>
              </a:ext>
            </a:extLst>
          </p:cNvPr>
          <p:cNvSpPr>
            <a:spLocks xmlns:a="http://schemas.openxmlformats.org/drawingml/2006/main" noGrp="1"/>
          </p:cNvSpPr>
          <p:nvPr/>
        </p:nvSpPr>
        <p:spPr>
          <a:xfrm xmlns:a="http://schemas.openxmlformats.org/drawingml/2006/main">
            <a:off x="6067425" y="1695450"/>
            <a:ext cx="5286375"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5A563BF4-D73B-4D75-BA75-0D0936D88F61}"/>
              </a:ext>
            </a:extLst>
          </p:cNvPr>
          <p:cNvSpPr>
            <a:spLocks xmlns:a="http://schemas.openxmlformats.org/drawingml/2006/main" noGrp="1"/>
          </p:cNvSpPr>
          <p:nvPr/>
        </p:nvSpPr>
        <p:spPr>
          <a:xfrm xmlns:a="http://schemas.openxmlformats.org/drawingml/2006/main">
            <a:off x="6162675" y="1762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Clinical connection</a:t>
            </a:r>
          </a:p>
        </p:txBody>
      </p:sp>
      <p:sp>
        <p:nvSpPr>
          <p:cNvPr id="11" name="">
            <a:extLst xmlns:a="http://schemas.openxmlformats.org/drawingml/2006/main">
              <a:ext uri="{FF2B5EF4-FFF2-40B4-BE49-F238E27FC236}">
                <a16:creationId xmlns:a16="http://schemas.microsoft.com/office/drawing/2014/main" id="{A7587B42-7FF5-40F6-A843-EC53AEBCAB7E}"/>
              </a:ext>
            </a:extLst>
          </p:cNvPr>
          <p:cNvSpPr>
            <a:spLocks xmlns:a="http://schemas.openxmlformats.org/drawingml/2006/main" noGrp="1"/>
          </p:cNvSpPr>
          <p:nvPr/>
        </p:nvSpPr>
        <p:spPr>
          <a:xfrm xmlns:a="http://schemas.openxmlformats.org/drawingml/2006/main">
            <a:off x="781050" y="25527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7EF842E6-BC9C-4743-B787-DBBCCE520A97}"/>
              </a:ext>
            </a:extLst>
          </p:cNvPr>
          <p:cNvSpPr>
            <a:spLocks xmlns:a="http://schemas.openxmlformats.org/drawingml/2006/main" noGrp="1"/>
          </p:cNvSpPr>
          <p:nvPr/>
        </p:nvSpPr>
        <p:spPr>
          <a:xfrm xmlns:a="http://schemas.openxmlformats.org/drawingml/2006/main">
            <a:off x="876300" y="26193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Epidermis</a:t>
            </a:r>
          </a:p>
        </p:txBody>
      </p:sp>
      <p:sp>
        <p:nvSpPr>
          <p:cNvPr id="13" name="">
            <a:extLst xmlns:a="http://schemas.openxmlformats.org/drawingml/2006/main">
              <a:ext uri="{FF2B5EF4-FFF2-40B4-BE49-F238E27FC236}">
                <a16:creationId xmlns:a16="http://schemas.microsoft.com/office/drawing/2014/main" id="{264D0B8F-0926-4123-82B5-966D2F082A5A}"/>
              </a:ext>
            </a:extLst>
          </p:cNvPr>
          <p:cNvSpPr>
            <a:spLocks xmlns:a="http://schemas.openxmlformats.org/drawingml/2006/main" noGrp="1"/>
          </p:cNvSpPr>
          <p:nvPr/>
        </p:nvSpPr>
        <p:spPr>
          <a:xfrm xmlns:a="http://schemas.openxmlformats.org/drawingml/2006/main">
            <a:off x="6067425" y="25527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684928DC-0F11-4FF0-8064-38C5036271B6}"/>
              </a:ext>
            </a:extLst>
          </p:cNvPr>
          <p:cNvSpPr>
            <a:spLocks xmlns:a="http://schemas.openxmlformats.org/drawingml/2006/main" noGrp="1"/>
          </p:cNvSpPr>
          <p:nvPr/>
        </p:nvSpPr>
        <p:spPr>
          <a:xfrm xmlns:a="http://schemas.openxmlformats.org/drawingml/2006/main">
            <a:off x="6162675" y="26193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Provides the outer barrier and must be cleansed without recontamination</a:t>
            </a:r>
          </a:p>
        </p:txBody>
      </p:sp>
      <p:sp>
        <p:nvSpPr>
          <p:cNvPr id="15" name="">
            <a:extLst xmlns:a="http://schemas.openxmlformats.org/drawingml/2006/main">
              <a:ext uri="{FF2B5EF4-FFF2-40B4-BE49-F238E27FC236}">
                <a16:creationId xmlns:a16="http://schemas.microsoft.com/office/drawing/2014/main" id="{0A9D4266-FBCE-4D2B-99E6-B7E56C2F8125}"/>
              </a:ext>
            </a:extLst>
          </p:cNvPr>
          <p:cNvSpPr>
            <a:spLocks xmlns:a="http://schemas.openxmlformats.org/drawingml/2006/main" noGrp="1"/>
          </p:cNvSpPr>
          <p:nvPr/>
        </p:nvSpPr>
        <p:spPr>
          <a:xfrm xmlns:a="http://schemas.openxmlformats.org/drawingml/2006/main">
            <a:off x="781050" y="34099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68A46829-E2D2-46B3-B5E8-3914D4F97C6A}"/>
              </a:ext>
            </a:extLst>
          </p:cNvPr>
          <p:cNvSpPr>
            <a:spLocks xmlns:a="http://schemas.openxmlformats.org/drawingml/2006/main" noGrp="1"/>
          </p:cNvSpPr>
          <p:nvPr/>
        </p:nvSpPr>
        <p:spPr>
          <a:xfrm xmlns:a="http://schemas.openxmlformats.org/drawingml/2006/main">
            <a:off x="876300" y="34766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Dermis</a:t>
            </a:r>
          </a:p>
        </p:txBody>
      </p:sp>
      <p:sp>
        <p:nvSpPr>
          <p:cNvPr id="17" name="">
            <a:extLst xmlns:a="http://schemas.openxmlformats.org/drawingml/2006/main">
              <a:ext uri="{FF2B5EF4-FFF2-40B4-BE49-F238E27FC236}">
                <a16:creationId xmlns:a16="http://schemas.microsoft.com/office/drawing/2014/main" id="{DF17AF2F-DA9A-46A5-B8C7-9EA73CB7B354}"/>
              </a:ext>
            </a:extLst>
          </p:cNvPr>
          <p:cNvSpPr>
            <a:spLocks xmlns:a="http://schemas.openxmlformats.org/drawingml/2006/main" noGrp="1"/>
          </p:cNvSpPr>
          <p:nvPr/>
        </p:nvSpPr>
        <p:spPr>
          <a:xfrm xmlns:a="http://schemas.openxmlformats.org/drawingml/2006/main">
            <a:off x="6067425" y="34099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4D065B35-A296-48F5-9A31-9611CA8756A7}"/>
              </a:ext>
            </a:extLst>
          </p:cNvPr>
          <p:cNvSpPr>
            <a:spLocks xmlns:a="http://schemas.openxmlformats.org/drawingml/2006/main" noGrp="1"/>
          </p:cNvSpPr>
          <p:nvPr/>
        </p:nvSpPr>
        <p:spPr>
          <a:xfrm xmlns:a="http://schemas.openxmlformats.org/drawingml/2006/main">
            <a:off x="6162675" y="34766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Contains sensory structures; rapid controlled penetration may reduce prolonged discomfort</a:t>
            </a:r>
          </a:p>
        </p:txBody>
      </p:sp>
      <p:sp>
        <p:nvSpPr>
          <p:cNvPr id="19" name="">
            <a:extLst xmlns:a="http://schemas.openxmlformats.org/drawingml/2006/main">
              <a:ext uri="{FF2B5EF4-FFF2-40B4-BE49-F238E27FC236}">
                <a16:creationId xmlns:a16="http://schemas.microsoft.com/office/drawing/2014/main" id="{7AB0D562-B388-4DCE-BF6F-3861A028EEF3}"/>
              </a:ext>
            </a:extLst>
          </p:cNvPr>
          <p:cNvSpPr>
            <a:spLocks xmlns:a="http://schemas.openxmlformats.org/drawingml/2006/main" noGrp="1"/>
          </p:cNvSpPr>
          <p:nvPr/>
        </p:nvSpPr>
        <p:spPr>
          <a:xfrm xmlns:a="http://schemas.openxmlformats.org/drawingml/2006/main">
            <a:off x="781050" y="42672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F5F94DEB-4739-48F0-A7D4-0E9233CBB9FB}"/>
              </a:ext>
            </a:extLst>
          </p:cNvPr>
          <p:cNvSpPr>
            <a:spLocks xmlns:a="http://schemas.openxmlformats.org/drawingml/2006/main" noGrp="1"/>
          </p:cNvSpPr>
          <p:nvPr/>
        </p:nvSpPr>
        <p:spPr>
          <a:xfrm xmlns:a="http://schemas.openxmlformats.org/drawingml/2006/main">
            <a:off x="876300" y="43338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Subcutaneous tissue</a:t>
            </a:r>
          </a:p>
        </p:txBody>
      </p:sp>
      <p:sp>
        <p:nvSpPr>
          <p:cNvPr id="21" name="">
            <a:extLst xmlns:a="http://schemas.openxmlformats.org/drawingml/2006/main">
              <a:ext uri="{FF2B5EF4-FFF2-40B4-BE49-F238E27FC236}">
                <a16:creationId xmlns:a16="http://schemas.microsoft.com/office/drawing/2014/main" id="{B3B5C795-70C4-4CA8-B371-67850FDDE550}"/>
              </a:ext>
            </a:extLst>
          </p:cNvPr>
          <p:cNvSpPr>
            <a:spLocks xmlns:a="http://schemas.openxmlformats.org/drawingml/2006/main" noGrp="1"/>
          </p:cNvSpPr>
          <p:nvPr/>
        </p:nvSpPr>
        <p:spPr>
          <a:xfrm xmlns:a="http://schemas.openxmlformats.org/drawingml/2006/main">
            <a:off x="6067425" y="42672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3176F4CC-52EE-465C-B2B0-19215882BAEF}"/>
              </a:ext>
            </a:extLst>
          </p:cNvPr>
          <p:cNvSpPr>
            <a:spLocks xmlns:a="http://schemas.openxmlformats.org/drawingml/2006/main" noGrp="1"/>
          </p:cNvSpPr>
          <p:nvPr/>
        </p:nvSpPr>
        <p:spPr>
          <a:xfrm xmlns:a="http://schemas.openxmlformats.org/drawingml/2006/main">
            <a:off x="6162675" y="43338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Depth varies by patient and changes vein palpation and insertion angle</a:t>
            </a:r>
          </a:p>
        </p:txBody>
      </p:sp>
      <p:sp>
        <p:nvSpPr>
          <p:cNvPr id="23" name="">
            <a:extLst xmlns:a="http://schemas.openxmlformats.org/drawingml/2006/main">
              <a:ext uri="{FF2B5EF4-FFF2-40B4-BE49-F238E27FC236}">
                <a16:creationId xmlns:a16="http://schemas.microsoft.com/office/drawing/2014/main" id="{7D780DD7-ACB9-455F-8C4B-A1E0B40425FD}"/>
              </a:ext>
            </a:extLst>
          </p:cNvPr>
          <p:cNvSpPr>
            <a:spLocks xmlns:a="http://schemas.openxmlformats.org/drawingml/2006/main" noGrp="1"/>
          </p:cNvSpPr>
          <p:nvPr/>
        </p:nvSpPr>
        <p:spPr>
          <a:xfrm xmlns:a="http://schemas.openxmlformats.org/drawingml/2006/main">
            <a:off x="781050" y="51244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6A5372D7-25C6-4D94-9A39-D1EDF716864C}"/>
              </a:ext>
            </a:extLst>
          </p:cNvPr>
          <p:cNvSpPr>
            <a:spLocks xmlns:a="http://schemas.openxmlformats.org/drawingml/2006/main" noGrp="1"/>
          </p:cNvSpPr>
          <p:nvPr/>
        </p:nvSpPr>
        <p:spPr>
          <a:xfrm xmlns:a="http://schemas.openxmlformats.org/drawingml/2006/main">
            <a:off x="876300" y="5191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Vessel wall</a:t>
            </a:r>
          </a:p>
        </p:txBody>
      </p:sp>
      <p:sp>
        <p:nvSpPr>
          <p:cNvPr id="25" name="">
            <a:extLst xmlns:a="http://schemas.openxmlformats.org/drawingml/2006/main">
              <a:ext uri="{FF2B5EF4-FFF2-40B4-BE49-F238E27FC236}">
                <a16:creationId xmlns:a16="http://schemas.microsoft.com/office/drawing/2014/main" id="{88D13D92-0A6B-4236-964E-C6A2DEE23D37}"/>
              </a:ext>
            </a:extLst>
          </p:cNvPr>
          <p:cNvSpPr>
            <a:spLocks xmlns:a="http://schemas.openxmlformats.org/drawingml/2006/main" noGrp="1"/>
          </p:cNvSpPr>
          <p:nvPr/>
        </p:nvSpPr>
        <p:spPr>
          <a:xfrm xmlns:a="http://schemas.openxmlformats.org/drawingml/2006/main">
            <a:off x="6067425" y="51244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3C5DB261-E6A2-47A1-AADF-0A22B3209146}"/>
              </a:ext>
            </a:extLst>
          </p:cNvPr>
          <p:cNvSpPr>
            <a:spLocks xmlns:a="http://schemas.openxmlformats.org/drawingml/2006/main" noGrp="1"/>
          </p:cNvSpPr>
          <p:nvPr/>
        </p:nvSpPr>
        <p:spPr>
          <a:xfrm xmlns:a="http://schemas.openxmlformats.org/drawingml/2006/main">
            <a:off x="6162675" y="5191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Trauma to the intima can promote inflammation and thrombosis</a:t>
            </a:r>
          </a:p>
        </p:txBody>
      </p:sp>
    </p:spTree>
    <p:extLst>
      <p:ext uri="{BB962C8B-B14F-4D97-AF65-F5344CB8AC3E}">
        <p14:creationId xmlns:p14="http://schemas.microsoft.com/office/powerpoint/2010/main" val="708371733"/>
      </p:ext>
    </p:extLst>
  </p:cSld>
</p:sld>
</file>

<file path=ppt/slides/slide1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3E6B1BC6-C0A5-4DEF-A2CB-7459F172AB3D}"/>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97021A60-BA87-427A-BC01-A50E5931240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5F41A35A-FB5F-4EC5-B64E-6BE1E9A09BFC}"/>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47220464-422C-4F61-8EC0-9D6744EEC7B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Common upper-extremity veins</a:t>
            </a:r>
          </a:p>
        </p:txBody>
      </p:sp>
      <p:sp>
        <p:nvSpPr>
          <p:cNvPr id="5" name="">
            <a:extLst xmlns:a="http://schemas.openxmlformats.org/drawingml/2006/main">
              <a:ext uri="{FF2B5EF4-FFF2-40B4-BE49-F238E27FC236}">
                <a16:creationId xmlns:a16="http://schemas.microsoft.com/office/drawing/2014/main" id="{537B00B3-4929-4AB6-A8F2-FB1570ABB4E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6" name="">
            <a:extLst xmlns:a="http://schemas.openxmlformats.org/drawingml/2006/main">
              <a:ext uri="{FF2B5EF4-FFF2-40B4-BE49-F238E27FC236}">
                <a16:creationId xmlns:a16="http://schemas.microsoft.com/office/drawing/2014/main" id="{09370DE8-D805-4EC6-AD2C-0C6AF7EBE48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12</a:t>
            </a:r>
          </a:p>
        </p:txBody>
      </p:sp>
      <p:sp>
        <p:nvSpPr>
          <p:cNvPr id="7" name="">
            <a:extLst xmlns:a="http://schemas.openxmlformats.org/drawingml/2006/main">
              <a:ext uri="{FF2B5EF4-FFF2-40B4-BE49-F238E27FC236}">
                <a16:creationId xmlns:a16="http://schemas.microsoft.com/office/drawing/2014/main" id="{CAF49584-418A-4744-8258-36252DA90612}"/>
              </a:ext>
            </a:extLst>
          </p:cNvPr>
          <p:cNvSpPr>
            <a:spLocks xmlns:a="http://schemas.openxmlformats.org/drawingml/2006/main" noGrp="1"/>
          </p:cNvSpPr>
          <p:nvPr/>
        </p:nvSpPr>
        <p:spPr>
          <a:xfrm xmlns:a="http://schemas.openxmlformats.org/drawingml/2006/main">
            <a:off x="7810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AA4772FA-E869-41C4-B1A1-1A32D3A5DFEE}"/>
              </a:ext>
            </a:extLst>
          </p:cNvPr>
          <p:cNvSpPr>
            <a:spLocks xmlns:a="http://schemas.openxmlformats.org/drawingml/2006/main" noGrp="1"/>
          </p:cNvSpPr>
          <p:nvPr/>
        </p:nvSpPr>
        <p:spPr>
          <a:xfrm xmlns:a="http://schemas.openxmlformats.org/drawingml/2006/main">
            <a:off x="8763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Vein or region</a:t>
            </a:r>
          </a:p>
        </p:txBody>
      </p:sp>
      <p:sp>
        <p:nvSpPr>
          <p:cNvPr id="9" name="">
            <a:extLst xmlns:a="http://schemas.openxmlformats.org/drawingml/2006/main">
              <a:ext uri="{FF2B5EF4-FFF2-40B4-BE49-F238E27FC236}">
                <a16:creationId xmlns:a16="http://schemas.microsoft.com/office/drawing/2014/main" id="{B3E2751D-E505-4131-97E6-438B1B59952B}"/>
              </a:ext>
            </a:extLst>
          </p:cNvPr>
          <p:cNvSpPr>
            <a:spLocks xmlns:a="http://schemas.openxmlformats.org/drawingml/2006/main" noGrp="1"/>
          </p:cNvSpPr>
          <p:nvPr/>
        </p:nvSpPr>
        <p:spPr>
          <a:xfrm xmlns:a="http://schemas.openxmlformats.org/drawingml/2006/main">
            <a:off x="430530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D710DE99-9C0D-430A-BB6E-0A2F04AA4D06}"/>
              </a:ext>
            </a:extLst>
          </p:cNvPr>
          <p:cNvSpPr>
            <a:spLocks xmlns:a="http://schemas.openxmlformats.org/drawingml/2006/main" noGrp="1"/>
          </p:cNvSpPr>
          <p:nvPr/>
        </p:nvSpPr>
        <p:spPr>
          <a:xfrm xmlns:a="http://schemas.openxmlformats.org/drawingml/2006/main">
            <a:off x="440055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Potential advantage</a:t>
            </a:r>
          </a:p>
        </p:txBody>
      </p:sp>
      <p:sp>
        <p:nvSpPr>
          <p:cNvPr id="11" name="">
            <a:extLst xmlns:a="http://schemas.openxmlformats.org/drawingml/2006/main">
              <a:ext uri="{FF2B5EF4-FFF2-40B4-BE49-F238E27FC236}">
                <a16:creationId xmlns:a16="http://schemas.microsoft.com/office/drawing/2014/main" id="{40154211-7539-41B9-B6D1-210AF71D4D1B}"/>
              </a:ext>
            </a:extLst>
          </p:cNvPr>
          <p:cNvSpPr>
            <a:spLocks xmlns:a="http://schemas.openxmlformats.org/drawingml/2006/main" noGrp="1"/>
          </p:cNvSpPr>
          <p:nvPr/>
        </p:nvSpPr>
        <p:spPr>
          <a:xfrm xmlns:a="http://schemas.openxmlformats.org/drawingml/2006/main">
            <a:off x="78295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0D4AF132-6CC2-4B85-85A0-538D2796AED8}"/>
              </a:ext>
            </a:extLst>
          </p:cNvPr>
          <p:cNvSpPr>
            <a:spLocks xmlns:a="http://schemas.openxmlformats.org/drawingml/2006/main" noGrp="1"/>
          </p:cNvSpPr>
          <p:nvPr/>
        </p:nvSpPr>
        <p:spPr>
          <a:xfrm xmlns:a="http://schemas.openxmlformats.org/drawingml/2006/main">
            <a:off x="79248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Important caution</a:t>
            </a:r>
          </a:p>
        </p:txBody>
      </p:sp>
      <p:sp>
        <p:nvSpPr>
          <p:cNvPr id="13" name="">
            <a:extLst xmlns:a="http://schemas.openxmlformats.org/drawingml/2006/main">
              <a:ext uri="{FF2B5EF4-FFF2-40B4-BE49-F238E27FC236}">
                <a16:creationId xmlns:a16="http://schemas.microsoft.com/office/drawing/2014/main" id="{941F9634-7544-4CB5-91E9-CC13C22A8C1C}"/>
              </a:ext>
            </a:extLst>
          </p:cNvPr>
          <p:cNvSpPr>
            <a:spLocks xmlns:a="http://schemas.openxmlformats.org/drawingml/2006/main" noGrp="1"/>
          </p:cNvSpPr>
          <p:nvPr/>
        </p:nvSpPr>
        <p:spPr>
          <a:xfrm xmlns:a="http://schemas.openxmlformats.org/drawingml/2006/main">
            <a:off x="7810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FBD251FD-4173-4075-8534-174FB1C5C917}"/>
              </a:ext>
            </a:extLst>
          </p:cNvPr>
          <p:cNvSpPr>
            <a:spLocks xmlns:a="http://schemas.openxmlformats.org/drawingml/2006/main" noGrp="1"/>
          </p:cNvSpPr>
          <p:nvPr/>
        </p:nvSpPr>
        <p:spPr>
          <a:xfrm xmlns:a="http://schemas.openxmlformats.org/drawingml/2006/main">
            <a:off x="8763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Dorsal metacarpal network</a:t>
            </a:r>
          </a:p>
        </p:txBody>
      </p:sp>
      <p:sp>
        <p:nvSpPr>
          <p:cNvPr id="15" name="">
            <a:extLst xmlns:a="http://schemas.openxmlformats.org/drawingml/2006/main">
              <a:ext uri="{FF2B5EF4-FFF2-40B4-BE49-F238E27FC236}">
                <a16:creationId xmlns:a16="http://schemas.microsoft.com/office/drawing/2014/main" id="{1A8ECF14-994B-4E4E-B9C5-BC4D953D4356}"/>
              </a:ext>
            </a:extLst>
          </p:cNvPr>
          <p:cNvSpPr>
            <a:spLocks xmlns:a="http://schemas.openxmlformats.org/drawingml/2006/main" noGrp="1"/>
          </p:cNvSpPr>
          <p:nvPr/>
        </p:nvSpPr>
        <p:spPr>
          <a:xfrm xmlns:a="http://schemas.openxmlformats.org/drawingml/2006/main">
            <a:off x="430530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FE49EC07-26E4-4EF7-BCE3-BCE58107269A}"/>
              </a:ext>
            </a:extLst>
          </p:cNvPr>
          <p:cNvSpPr>
            <a:spLocks xmlns:a="http://schemas.openxmlformats.org/drawingml/2006/main" noGrp="1"/>
          </p:cNvSpPr>
          <p:nvPr/>
        </p:nvSpPr>
        <p:spPr>
          <a:xfrm xmlns:a="http://schemas.openxmlformats.org/drawingml/2006/main">
            <a:off x="440055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Visible, distal starting point</a:t>
            </a:r>
          </a:p>
        </p:txBody>
      </p:sp>
      <p:sp>
        <p:nvSpPr>
          <p:cNvPr id="17" name="">
            <a:extLst xmlns:a="http://schemas.openxmlformats.org/drawingml/2006/main">
              <a:ext uri="{FF2B5EF4-FFF2-40B4-BE49-F238E27FC236}">
                <a16:creationId xmlns:a16="http://schemas.microsoft.com/office/drawing/2014/main" id="{887149DC-2916-4E2F-B6E1-F33EE0D6EA81}"/>
              </a:ext>
            </a:extLst>
          </p:cNvPr>
          <p:cNvSpPr>
            <a:spLocks xmlns:a="http://schemas.openxmlformats.org/drawingml/2006/main" noGrp="1"/>
          </p:cNvSpPr>
          <p:nvPr/>
        </p:nvSpPr>
        <p:spPr>
          <a:xfrm xmlns:a="http://schemas.openxmlformats.org/drawingml/2006/main">
            <a:off x="78295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4C12A9F6-9BDC-4005-9948-61C4AC6B51BE}"/>
              </a:ext>
            </a:extLst>
          </p:cNvPr>
          <p:cNvSpPr>
            <a:spLocks xmlns:a="http://schemas.openxmlformats.org/drawingml/2006/main" noGrp="1"/>
          </p:cNvSpPr>
          <p:nvPr/>
        </p:nvSpPr>
        <p:spPr>
          <a:xfrm xmlns:a="http://schemas.openxmlformats.org/drawingml/2006/main">
            <a:off x="79248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Movement and fragile skin may affect comfort and securement</a:t>
            </a:r>
          </a:p>
        </p:txBody>
      </p:sp>
      <p:sp>
        <p:nvSpPr>
          <p:cNvPr id="19" name="">
            <a:extLst xmlns:a="http://schemas.openxmlformats.org/drawingml/2006/main">
              <a:ext uri="{FF2B5EF4-FFF2-40B4-BE49-F238E27FC236}">
                <a16:creationId xmlns:a16="http://schemas.microsoft.com/office/drawing/2014/main" id="{382A5625-E4BC-4919-881A-1A249376986A}"/>
              </a:ext>
            </a:extLst>
          </p:cNvPr>
          <p:cNvSpPr>
            <a:spLocks xmlns:a="http://schemas.openxmlformats.org/drawingml/2006/main" noGrp="1"/>
          </p:cNvSpPr>
          <p:nvPr/>
        </p:nvSpPr>
        <p:spPr>
          <a:xfrm xmlns:a="http://schemas.openxmlformats.org/drawingml/2006/main">
            <a:off x="7810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7068CB8C-4803-4E82-9D95-68DD794BC023}"/>
              </a:ext>
            </a:extLst>
          </p:cNvPr>
          <p:cNvSpPr>
            <a:spLocks xmlns:a="http://schemas.openxmlformats.org/drawingml/2006/main" noGrp="1"/>
          </p:cNvSpPr>
          <p:nvPr/>
        </p:nvSpPr>
        <p:spPr>
          <a:xfrm xmlns:a="http://schemas.openxmlformats.org/drawingml/2006/main">
            <a:off x="8763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Cephalic vein</a:t>
            </a:r>
          </a:p>
        </p:txBody>
      </p:sp>
      <p:sp>
        <p:nvSpPr>
          <p:cNvPr id="21" name="">
            <a:extLst xmlns:a="http://schemas.openxmlformats.org/drawingml/2006/main">
              <a:ext uri="{FF2B5EF4-FFF2-40B4-BE49-F238E27FC236}">
                <a16:creationId xmlns:a16="http://schemas.microsoft.com/office/drawing/2014/main" id="{C6D77A3A-6051-40FC-A78F-59DF08DC1B01}"/>
              </a:ext>
            </a:extLst>
          </p:cNvPr>
          <p:cNvSpPr>
            <a:spLocks xmlns:a="http://schemas.openxmlformats.org/drawingml/2006/main" noGrp="1"/>
          </p:cNvSpPr>
          <p:nvPr/>
        </p:nvSpPr>
        <p:spPr>
          <a:xfrm xmlns:a="http://schemas.openxmlformats.org/drawingml/2006/main">
            <a:off x="430530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07040781-C021-4F85-8DA8-163F4ECAAAFF}"/>
              </a:ext>
            </a:extLst>
          </p:cNvPr>
          <p:cNvSpPr>
            <a:spLocks xmlns:a="http://schemas.openxmlformats.org/drawingml/2006/main" noGrp="1"/>
          </p:cNvSpPr>
          <p:nvPr/>
        </p:nvSpPr>
        <p:spPr>
          <a:xfrm xmlns:a="http://schemas.openxmlformats.org/drawingml/2006/main">
            <a:off x="440055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Often accessible along the radial forearm</a:t>
            </a:r>
          </a:p>
        </p:txBody>
      </p:sp>
      <p:sp>
        <p:nvSpPr>
          <p:cNvPr id="23" name="">
            <a:extLst xmlns:a="http://schemas.openxmlformats.org/drawingml/2006/main">
              <a:ext uri="{FF2B5EF4-FFF2-40B4-BE49-F238E27FC236}">
                <a16:creationId xmlns:a16="http://schemas.microsoft.com/office/drawing/2014/main" id="{8B7AEAF2-46BE-467F-B0A6-6D3A393DF2A7}"/>
              </a:ext>
            </a:extLst>
          </p:cNvPr>
          <p:cNvSpPr>
            <a:spLocks xmlns:a="http://schemas.openxmlformats.org/drawingml/2006/main" noGrp="1"/>
          </p:cNvSpPr>
          <p:nvPr/>
        </p:nvSpPr>
        <p:spPr>
          <a:xfrm xmlns:a="http://schemas.openxmlformats.org/drawingml/2006/main">
            <a:off x="78295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432F6D1E-729C-4B09-A555-EA37F3CCFF21}"/>
              </a:ext>
            </a:extLst>
          </p:cNvPr>
          <p:cNvSpPr>
            <a:spLocks xmlns:a="http://schemas.openxmlformats.org/drawingml/2006/main" noGrp="1"/>
          </p:cNvSpPr>
          <p:nvPr/>
        </p:nvSpPr>
        <p:spPr>
          <a:xfrm xmlns:a="http://schemas.openxmlformats.org/drawingml/2006/main">
            <a:off x="79248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Near the wrist, protect against motion and nerve or artery injury</a:t>
            </a:r>
          </a:p>
        </p:txBody>
      </p:sp>
      <p:sp>
        <p:nvSpPr>
          <p:cNvPr id="25" name="">
            <a:extLst xmlns:a="http://schemas.openxmlformats.org/drawingml/2006/main">
              <a:ext uri="{FF2B5EF4-FFF2-40B4-BE49-F238E27FC236}">
                <a16:creationId xmlns:a16="http://schemas.microsoft.com/office/drawing/2014/main" id="{C217B4C1-8D03-4907-BA9C-FF8F0F22CF94}"/>
              </a:ext>
            </a:extLst>
          </p:cNvPr>
          <p:cNvSpPr>
            <a:spLocks xmlns:a="http://schemas.openxmlformats.org/drawingml/2006/main" noGrp="1"/>
          </p:cNvSpPr>
          <p:nvPr/>
        </p:nvSpPr>
        <p:spPr>
          <a:xfrm xmlns:a="http://schemas.openxmlformats.org/drawingml/2006/main">
            <a:off x="7810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0B366B40-4641-4265-96DA-DFE59D8028BD}"/>
              </a:ext>
            </a:extLst>
          </p:cNvPr>
          <p:cNvSpPr>
            <a:spLocks xmlns:a="http://schemas.openxmlformats.org/drawingml/2006/main" noGrp="1"/>
          </p:cNvSpPr>
          <p:nvPr/>
        </p:nvSpPr>
        <p:spPr>
          <a:xfrm xmlns:a="http://schemas.openxmlformats.org/drawingml/2006/main">
            <a:off x="8763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Basilic vein</a:t>
            </a:r>
          </a:p>
        </p:txBody>
      </p:sp>
      <p:sp>
        <p:nvSpPr>
          <p:cNvPr id="27" name="">
            <a:extLst xmlns:a="http://schemas.openxmlformats.org/drawingml/2006/main">
              <a:ext uri="{FF2B5EF4-FFF2-40B4-BE49-F238E27FC236}">
                <a16:creationId xmlns:a16="http://schemas.microsoft.com/office/drawing/2014/main" id="{0D91F578-CFAB-4CA4-8B4C-1B9AE6C4C6DB}"/>
              </a:ext>
            </a:extLst>
          </p:cNvPr>
          <p:cNvSpPr>
            <a:spLocks xmlns:a="http://schemas.openxmlformats.org/drawingml/2006/main" noGrp="1"/>
          </p:cNvSpPr>
          <p:nvPr/>
        </p:nvSpPr>
        <p:spPr>
          <a:xfrm xmlns:a="http://schemas.openxmlformats.org/drawingml/2006/main">
            <a:off x="430530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E700D26C-B7E5-4851-B565-6C9A5748D4E9}"/>
              </a:ext>
            </a:extLst>
          </p:cNvPr>
          <p:cNvSpPr>
            <a:spLocks xmlns:a="http://schemas.openxmlformats.org/drawingml/2006/main" noGrp="1"/>
          </p:cNvSpPr>
          <p:nvPr/>
        </p:nvSpPr>
        <p:spPr>
          <a:xfrm xmlns:a="http://schemas.openxmlformats.org/drawingml/2006/main">
            <a:off x="440055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May be large and straight</a:t>
            </a:r>
          </a:p>
        </p:txBody>
      </p:sp>
      <p:sp>
        <p:nvSpPr>
          <p:cNvPr id="29" name="">
            <a:extLst xmlns:a="http://schemas.openxmlformats.org/drawingml/2006/main">
              <a:ext uri="{FF2B5EF4-FFF2-40B4-BE49-F238E27FC236}">
                <a16:creationId xmlns:a16="http://schemas.microsoft.com/office/drawing/2014/main" id="{C4B4897A-FD55-425D-AE64-74D87DAC2281}"/>
              </a:ext>
            </a:extLst>
          </p:cNvPr>
          <p:cNvSpPr>
            <a:spLocks xmlns:a="http://schemas.openxmlformats.org/drawingml/2006/main" noGrp="1"/>
          </p:cNvSpPr>
          <p:nvPr/>
        </p:nvSpPr>
        <p:spPr>
          <a:xfrm xmlns:a="http://schemas.openxmlformats.org/drawingml/2006/main">
            <a:off x="78295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673FA21D-E43F-4B56-ACFF-980586B37E11}"/>
              </a:ext>
            </a:extLst>
          </p:cNvPr>
          <p:cNvSpPr>
            <a:spLocks xmlns:a="http://schemas.openxmlformats.org/drawingml/2006/main" noGrp="1"/>
          </p:cNvSpPr>
          <p:nvPr/>
        </p:nvSpPr>
        <p:spPr>
          <a:xfrm xmlns:a="http://schemas.openxmlformats.org/drawingml/2006/main">
            <a:off x="79248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Can roll and lies near important structures proximally</a:t>
            </a:r>
          </a:p>
        </p:txBody>
      </p:sp>
      <p:sp>
        <p:nvSpPr>
          <p:cNvPr id="31" name="">
            <a:extLst xmlns:a="http://schemas.openxmlformats.org/drawingml/2006/main">
              <a:ext uri="{FF2B5EF4-FFF2-40B4-BE49-F238E27FC236}">
                <a16:creationId xmlns:a16="http://schemas.microsoft.com/office/drawing/2014/main" id="{B96E145A-9DE3-493D-8D18-BAAC7B967A44}"/>
              </a:ext>
            </a:extLst>
          </p:cNvPr>
          <p:cNvSpPr>
            <a:spLocks xmlns:a="http://schemas.openxmlformats.org/drawingml/2006/main" noGrp="1"/>
          </p:cNvSpPr>
          <p:nvPr/>
        </p:nvSpPr>
        <p:spPr>
          <a:xfrm xmlns:a="http://schemas.openxmlformats.org/drawingml/2006/main">
            <a:off x="7810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2" name="">
            <a:extLst xmlns:a="http://schemas.openxmlformats.org/drawingml/2006/main">
              <a:ext uri="{FF2B5EF4-FFF2-40B4-BE49-F238E27FC236}">
                <a16:creationId xmlns:a16="http://schemas.microsoft.com/office/drawing/2014/main" id="{8E2A853D-6CA1-44D6-9FFD-B2C12FAD2730}"/>
              </a:ext>
            </a:extLst>
          </p:cNvPr>
          <p:cNvSpPr>
            <a:spLocks xmlns:a="http://schemas.openxmlformats.org/drawingml/2006/main" noGrp="1"/>
          </p:cNvSpPr>
          <p:nvPr/>
        </p:nvSpPr>
        <p:spPr>
          <a:xfrm xmlns:a="http://schemas.openxmlformats.org/drawingml/2006/main">
            <a:off x="8763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Median antebrachial region</a:t>
            </a:r>
          </a:p>
        </p:txBody>
      </p:sp>
      <p:sp>
        <p:nvSpPr>
          <p:cNvPr id="33" name="">
            <a:extLst xmlns:a="http://schemas.openxmlformats.org/drawingml/2006/main">
              <a:ext uri="{FF2B5EF4-FFF2-40B4-BE49-F238E27FC236}">
                <a16:creationId xmlns:a16="http://schemas.microsoft.com/office/drawing/2014/main" id="{FBC45141-8F5C-439D-9589-A4B625359F96}"/>
              </a:ext>
            </a:extLst>
          </p:cNvPr>
          <p:cNvSpPr>
            <a:spLocks xmlns:a="http://schemas.openxmlformats.org/drawingml/2006/main" noGrp="1"/>
          </p:cNvSpPr>
          <p:nvPr/>
        </p:nvSpPr>
        <p:spPr>
          <a:xfrm xmlns:a="http://schemas.openxmlformats.org/drawingml/2006/main">
            <a:off x="430530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4" name="">
            <a:extLst xmlns:a="http://schemas.openxmlformats.org/drawingml/2006/main">
              <a:ext uri="{FF2B5EF4-FFF2-40B4-BE49-F238E27FC236}">
                <a16:creationId xmlns:a16="http://schemas.microsoft.com/office/drawing/2014/main" id="{9DC50EEB-20BA-4124-B2D0-38DA79AA17DD}"/>
              </a:ext>
            </a:extLst>
          </p:cNvPr>
          <p:cNvSpPr>
            <a:spLocks xmlns:a="http://schemas.openxmlformats.org/drawingml/2006/main" noGrp="1"/>
          </p:cNvSpPr>
          <p:nvPr/>
        </p:nvSpPr>
        <p:spPr>
          <a:xfrm xmlns:a="http://schemas.openxmlformats.org/drawingml/2006/main">
            <a:off x="440055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May provide a forearm option</a:t>
            </a:r>
          </a:p>
        </p:txBody>
      </p:sp>
      <p:sp>
        <p:nvSpPr>
          <p:cNvPr id="35" name="">
            <a:extLst xmlns:a="http://schemas.openxmlformats.org/drawingml/2006/main">
              <a:ext uri="{FF2B5EF4-FFF2-40B4-BE49-F238E27FC236}">
                <a16:creationId xmlns:a16="http://schemas.microsoft.com/office/drawing/2014/main" id="{F570E50E-1AC5-4D6D-9F38-A08AB8DD3878}"/>
              </a:ext>
            </a:extLst>
          </p:cNvPr>
          <p:cNvSpPr>
            <a:spLocks xmlns:a="http://schemas.openxmlformats.org/drawingml/2006/main" noGrp="1"/>
          </p:cNvSpPr>
          <p:nvPr/>
        </p:nvSpPr>
        <p:spPr>
          <a:xfrm xmlns:a="http://schemas.openxmlformats.org/drawingml/2006/main">
            <a:off x="78295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6" name="">
            <a:extLst xmlns:a="http://schemas.openxmlformats.org/drawingml/2006/main">
              <a:ext uri="{FF2B5EF4-FFF2-40B4-BE49-F238E27FC236}">
                <a16:creationId xmlns:a16="http://schemas.microsoft.com/office/drawing/2014/main" id="{180D6586-E311-4C3A-907E-95EFC55E97A3}"/>
              </a:ext>
            </a:extLst>
          </p:cNvPr>
          <p:cNvSpPr>
            <a:spLocks xmlns:a="http://schemas.openxmlformats.org/drawingml/2006/main" noGrp="1"/>
          </p:cNvSpPr>
          <p:nvPr/>
        </p:nvSpPr>
        <p:spPr>
          <a:xfrm xmlns:a="http://schemas.openxmlformats.org/drawingml/2006/main">
            <a:off x="79248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Anatomy varies; assess depth, direction, and therapy needs</a:t>
            </a:r>
          </a:p>
        </p:txBody>
      </p:sp>
    </p:spTree>
    <p:extLst>
      <p:ext uri="{BB962C8B-B14F-4D97-AF65-F5344CB8AC3E}">
        <p14:creationId xmlns:p14="http://schemas.microsoft.com/office/powerpoint/2010/main" val="1610211424"/>
      </p:ext>
    </p:extLst>
  </p:cSld>
</p:sld>
</file>

<file path=ppt/slides/slide1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08F9EFFA-58D0-4F41-AA0F-062B02EBD1C2}"/>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FC23453D-DF8B-4DB7-8330-B314AD02702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4273C8D6-FECE-4AC8-8ED8-72031F84B28D}"/>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DB05ECBF-73C0-4271-B927-2B927B2927F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Hand and wrist veins: advantages and disadvantages</a:t>
            </a:r>
          </a:p>
        </p:txBody>
      </p:sp>
      <p:sp>
        <p:nvSpPr>
          <p:cNvPr id="5" name="">
            <a:extLst xmlns:a="http://schemas.openxmlformats.org/drawingml/2006/main">
              <a:ext uri="{FF2B5EF4-FFF2-40B4-BE49-F238E27FC236}">
                <a16:creationId xmlns:a16="http://schemas.microsoft.com/office/drawing/2014/main" id="{F9DA4B30-9ADD-4CFE-9027-862E8458920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6" name="">
            <a:extLst xmlns:a="http://schemas.openxmlformats.org/drawingml/2006/main">
              <a:ext uri="{FF2B5EF4-FFF2-40B4-BE49-F238E27FC236}">
                <a16:creationId xmlns:a16="http://schemas.microsoft.com/office/drawing/2014/main" id="{1213FA8A-A095-4F65-9F44-CBA5AF89E35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13</a:t>
            </a:r>
          </a:p>
        </p:txBody>
      </p:sp>
      <p:sp>
        <p:nvSpPr>
          <p:cNvPr id="7" name="">
            <a:extLst xmlns:a="http://schemas.openxmlformats.org/drawingml/2006/main">
              <a:ext uri="{FF2B5EF4-FFF2-40B4-BE49-F238E27FC236}">
                <a16:creationId xmlns:a16="http://schemas.microsoft.com/office/drawing/2014/main" id="{64BAC709-75E6-4CD2-96EC-0FE2AFEDFCAA}"/>
              </a:ext>
            </a:extLst>
          </p:cNvPr>
          <p:cNvSpPr>
            <a:spLocks xmlns:a="http://schemas.openxmlformats.org/drawingml/2006/main" noGrp="1"/>
          </p:cNvSpPr>
          <p:nvPr/>
        </p:nvSpPr>
        <p:spPr>
          <a:xfrm xmlns:a="http://schemas.openxmlformats.org/drawingml/2006/main">
            <a:off x="7810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A055D983-3256-49CB-B5EC-5D6E078AEE8D}"/>
              </a:ext>
            </a:extLst>
          </p:cNvPr>
          <p:cNvSpPr>
            <a:spLocks xmlns:a="http://schemas.openxmlformats.org/drawingml/2006/main" noGrp="1"/>
          </p:cNvSpPr>
          <p:nvPr/>
        </p:nvSpPr>
        <p:spPr>
          <a:xfrm xmlns:a="http://schemas.openxmlformats.org/drawingml/2006/main">
            <a:off x="8763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Site</a:t>
            </a:r>
          </a:p>
        </p:txBody>
      </p:sp>
      <p:sp>
        <p:nvSpPr>
          <p:cNvPr id="9" name="">
            <a:extLst xmlns:a="http://schemas.openxmlformats.org/drawingml/2006/main">
              <a:ext uri="{FF2B5EF4-FFF2-40B4-BE49-F238E27FC236}">
                <a16:creationId xmlns:a16="http://schemas.microsoft.com/office/drawing/2014/main" id="{17AE79F0-AF3E-49B3-B7DB-AEE9E19CCFDA}"/>
              </a:ext>
            </a:extLst>
          </p:cNvPr>
          <p:cNvSpPr>
            <a:spLocks xmlns:a="http://schemas.openxmlformats.org/drawingml/2006/main" noGrp="1"/>
          </p:cNvSpPr>
          <p:nvPr/>
        </p:nvSpPr>
        <p:spPr>
          <a:xfrm xmlns:a="http://schemas.openxmlformats.org/drawingml/2006/main">
            <a:off x="430530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79361592-1224-4EA1-9DE1-59AEE210FFB4}"/>
              </a:ext>
            </a:extLst>
          </p:cNvPr>
          <p:cNvSpPr>
            <a:spLocks xmlns:a="http://schemas.openxmlformats.org/drawingml/2006/main" noGrp="1"/>
          </p:cNvSpPr>
          <p:nvPr/>
        </p:nvSpPr>
        <p:spPr>
          <a:xfrm xmlns:a="http://schemas.openxmlformats.org/drawingml/2006/main">
            <a:off x="440055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Advantages</a:t>
            </a:r>
          </a:p>
        </p:txBody>
      </p:sp>
      <p:sp>
        <p:nvSpPr>
          <p:cNvPr id="11" name="">
            <a:extLst xmlns:a="http://schemas.openxmlformats.org/drawingml/2006/main">
              <a:ext uri="{FF2B5EF4-FFF2-40B4-BE49-F238E27FC236}">
                <a16:creationId xmlns:a16="http://schemas.microsoft.com/office/drawing/2014/main" id="{5029D66B-98D8-4D89-969F-3F4056AE6093}"/>
              </a:ext>
            </a:extLst>
          </p:cNvPr>
          <p:cNvSpPr>
            <a:spLocks xmlns:a="http://schemas.openxmlformats.org/drawingml/2006/main" noGrp="1"/>
          </p:cNvSpPr>
          <p:nvPr/>
        </p:nvSpPr>
        <p:spPr>
          <a:xfrm xmlns:a="http://schemas.openxmlformats.org/drawingml/2006/main">
            <a:off x="78295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A02D52E1-0D5C-4A68-9714-1C1F981AF62E}"/>
              </a:ext>
            </a:extLst>
          </p:cNvPr>
          <p:cNvSpPr>
            <a:spLocks xmlns:a="http://schemas.openxmlformats.org/drawingml/2006/main" noGrp="1"/>
          </p:cNvSpPr>
          <p:nvPr/>
        </p:nvSpPr>
        <p:spPr>
          <a:xfrm xmlns:a="http://schemas.openxmlformats.org/drawingml/2006/main">
            <a:off x="79248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Disadvantages</a:t>
            </a:r>
          </a:p>
        </p:txBody>
      </p:sp>
      <p:sp>
        <p:nvSpPr>
          <p:cNvPr id="13" name="">
            <a:extLst xmlns:a="http://schemas.openxmlformats.org/drawingml/2006/main">
              <a:ext uri="{FF2B5EF4-FFF2-40B4-BE49-F238E27FC236}">
                <a16:creationId xmlns:a16="http://schemas.microsoft.com/office/drawing/2014/main" id="{775C3285-8E5E-48F8-8B61-BD7DD649B19F}"/>
              </a:ext>
            </a:extLst>
          </p:cNvPr>
          <p:cNvSpPr>
            <a:spLocks xmlns:a="http://schemas.openxmlformats.org/drawingml/2006/main" noGrp="1"/>
          </p:cNvSpPr>
          <p:nvPr/>
        </p:nvSpPr>
        <p:spPr>
          <a:xfrm xmlns:a="http://schemas.openxmlformats.org/drawingml/2006/main">
            <a:off x="7810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C01F6A9A-9590-4D5E-B762-F4F3045EAC96}"/>
              </a:ext>
            </a:extLst>
          </p:cNvPr>
          <p:cNvSpPr>
            <a:spLocks xmlns:a="http://schemas.openxmlformats.org/drawingml/2006/main" noGrp="1"/>
          </p:cNvSpPr>
          <p:nvPr/>
        </p:nvSpPr>
        <p:spPr>
          <a:xfrm xmlns:a="http://schemas.openxmlformats.org/drawingml/2006/main">
            <a:off x="8763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Dorsal metacarpal veins</a:t>
            </a:r>
          </a:p>
        </p:txBody>
      </p:sp>
      <p:sp>
        <p:nvSpPr>
          <p:cNvPr id="15" name="">
            <a:extLst xmlns:a="http://schemas.openxmlformats.org/drawingml/2006/main">
              <a:ext uri="{FF2B5EF4-FFF2-40B4-BE49-F238E27FC236}">
                <a16:creationId xmlns:a16="http://schemas.microsoft.com/office/drawing/2014/main" id="{D227AF0C-382D-454F-BE05-360975EE7840}"/>
              </a:ext>
            </a:extLst>
          </p:cNvPr>
          <p:cNvSpPr>
            <a:spLocks xmlns:a="http://schemas.openxmlformats.org/drawingml/2006/main" noGrp="1"/>
          </p:cNvSpPr>
          <p:nvPr/>
        </p:nvSpPr>
        <p:spPr>
          <a:xfrm xmlns:a="http://schemas.openxmlformats.org/drawingml/2006/main">
            <a:off x="430530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1086A465-8744-4B23-860F-E06A55C32D6D}"/>
              </a:ext>
            </a:extLst>
          </p:cNvPr>
          <p:cNvSpPr>
            <a:spLocks xmlns:a="http://schemas.openxmlformats.org/drawingml/2006/main" noGrp="1"/>
          </p:cNvSpPr>
          <p:nvPr/>
        </p:nvSpPr>
        <p:spPr>
          <a:xfrm xmlns:a="http://schemas.openxmlformats.org/drawingml/2006/main">
            <a:off x="440055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Visible, distal, often easy to stabilize in adults</a:t>
            </a:r>
          </a:p>
        </p:txBody>
      </p:sp>
      <p:sp>
        <p:nvSpPr>
          <p:cNvPr id="17" name="">
            <a:extLst xmlns:a="http://schemas.openxmlformats.org/drawingml/2006/main">
              <a:ext uri="{FF2B5EF4-FFF2-40B4-BE49-F238E27FC236}">
                <a16:creationId xmlns:a16="http://schemas.microsoft.com/office/drawing/2014/main" id="{374266AB-0014-4CD5-A225-376E9F41983C}"/>
              </a:ext>
            </a:extLst>
          </p:cNvPr>
          <p:cNvSpPr>
            <a:spLocks xmlns:a="http://schemas.openxmlformats.org/drawingml/2006/main" noGrp="1"/>
          </p:cNvSpPr>
          <p:nvPr/>
        </p:nvSpPr>
        <p:spPr>
          <a:xfrm xmlns:a="http://schemas.openxmlformats.org/drawingml/2006/main">
            <a:off x="78295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07DD8E48-76B4-42CF-A009-1C88EF26FFB9}"/>
              </a:ext>
            </a:extLst>
          </p:cNvPr>
          <p:cNvSpPr>
            <a:spLocks xmlns:a="http://schemas.openxmlformats.org/drawingml/2006/main" noGrp="1"/>
          </p:cNvSpPr>
          <p:nvPr/>
        </p:nvSpPr>
        <p:spPr>
          <a:xfrm xmlns:a="http://schemas.openxmlformats.org/drawingml/2006/main">
            <a:off x="79248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Painful movement, vulnerable to dislodgement, fragile skin in older adults</a:t>
            </a:r>
          </a:p>
        </p:txBody>
      </p:sp>
      <p:sp>
        <p:nvSpPr>
          <p:cNvPr id="19" name="">
            <a:extLst xmlns:a="http://schemas.openxmlformats.org/drawingml/2006/main">
              <a:ext uri="{FF2B5EF4-FFF2-40B4-BE49-F238E27FC236}">
                <a16:creationId xmlns:a16="http://schemas.microsoft.com/office/drawing/2014/main" id="{D8C167F8-59F2-4ADB-9AA3-36A14C302393}"/>
              </a:ext>
            </a:extLst>
          </p:cNvPr>
          <p:cNvSpPr>
            <a:spLocks xmlns:a="http://schemas.openxmlformats.org/drawingml/2006/main" noGrp="1"/>
          </p:cNvSpPr>
          <p:nvPr/>
        </p:nvSpPr>
        <p:spPr>
          <a:xfrm xmlns:a="http://schemas.openxmlformats.org/drawingml/2006/main">
            <a:off x="7810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2C07CDE7-7951-415D-A8A7-73A32437405B}"/>
              </a:ext>
            </a:extLst>
          </p:cNvPr>
          <p:cNvSpPr>
            <a:spLocks xmlns:a="http://schemas.openxmlformats.org/drawingml/2006/main" noGrp="1"/>
          </p:cNvSpPr>
          <p:nvPr/>
        </p:nvSpPr>
        <p:spPr>
          <a:xfrm xmlns:a="http://schemas.openxmlformats.org/drawingml/2006/main">
            <a:off x="8763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Dorsal venous network</a:t>
            </a:r>
          </a:p>
        </p:txBody>
      </p:sp>
      <p:sp>
        <p:nvSpPr>
          <p:cNvPr id="21" name="">
            <a:extLst xmlns:a="http://schemas.openxmlformats.org/drawingml/2006/main">
              <a:ext uri="{FF2B5EF4-FFF2-40B4-BE49-F238E27FC236}">
                <a16:creationId xmlns:a16="http://schemas.microsoft.com/office/drawing/2014/main" id="{AB9F11DE-692B-4493-974F-E3F3AE2306DB}"/>
              </a:ext>
            </a:extLst>
          </p:cNvPr>
          <p:cNvSpPr>
            <a:spLocks xmlns:a="http://schemas.openxmlformats.org/drawingml/2006/main" noGrp="1"/>
          </p:cNvSpPr>
          <p:nvPr/>
        </p:nvSpPr>
        <p:spPr>
          <a:xfrm xmlns:a="http://schemas.openxmlformats.org/drawingml/2006/main">
            <a:off x="430530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453C7FFB-462C-4BDA-9964-5DEFE34B0304}"/>
              </a:ext>
            </a:extLst>
          </p:cNvPr>
          <p:cNvSpPr>
            <a:spLocks xmlns:a="http://schemas.openxmlformats.org/drawingml/2006/main" noGrp="1"/>
          </p:cNvSpPr>
          <p:nvPr/>
        </p:nvSpPr>
        <p:spPr>
          <a:xfrm xmlns:a="http://schemas.openxmlformats.org/drawingml/2006/main">
            <a:off x="440055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Several branches and easy visual assessment</a:t>
            </a:r>
          </a:p>
        </p:txBody>
      </p:sp>
      <p:sp>
        <p:nvSpPr>
          <p:cNvPr id="23" name="">
            <a:extLst xmlns:a="http://schemas.openxmlformats.org/drawingml/2006/main">
              <a:ext uri="{FF2B5EF4-FFF2-40B4-BE49-F238E27FC236}">
                <a16:creationId xmlns:a16="http://schemas.microsoft.com/office/drawing/2014/main" id="{0E32EE2A-4D24-4380-A121-50129F75326D}"/>
              </a:ext>
            </a:extLst>
          </p:cNvPr>
          <p:cNvSpPr>
            <a:spLocks xmlns:a="http://schemas.openxmlformats.org/drawingml/2006/main" noGrp="1"/>
          </p:cNvSpPr>
          <p:nvPr/>
        </p:nvSpPr>
        <p:spPr>
          <a:xfrm xmlns:a="http://schemas.openxmlformats.org/drawingml/2006/main">
            <a:off x="78295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11D5E025-6766-4291-9FDC-744B2E590D09}"/>
              </a:ext>
            </a:extLst>
          </p:cNvPr>
          <p:cNvSpPr>
            <a:spLocks xmlns:a="http://schemas.openxmlformats.org/drawingml/2006/main" noGrp="1"/>
          </p:cNvSpPr>
          <p:nvPr/>
        </p:nvSpPr>
        <p:spPr>
          <a:xfrm xmlns:a="http://schemas.openxmlformats.org/drawingml/2006/main">
            <a:off x="79248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Branch points, valves, short segments, and hand use can limit dwell</a:t>
            </a:r>
          </a:p>
        </p:txBody>
      </p:sp>
      <p:sp>
        <p:nvSpPr>
          <p:cNvPr id="25" name="">
            <a:extLst xmlns:a="http://schemas.openxmlformats.org/drawingml/2006/main">
              <a:ext uri="{FF2B5EF4-FFF2-40B4-BE49-F238E27FC236}">
                <a16:creationId xmlns:a16="http://schemas.microsoft.com/office/drawing/2014/main" id="{ADDA7298-77E1-44CA-AEE4-F6F9FBF66101}"/>
              </a:ext>
            </a:extLst>
          </p:cNvPr>
          <p:cNvSpPr>
            <a:spLocks xmlns:a="http://schemas.openxmlformats.org/drawingml/2006/main" noGrp="1"/>
          </p:cNvSpPr>
          <p:nvPr/>
        </p:nvSpPr>
        <p:spPr>
          <a:xfrm xmlns:a="http://schemas.openxmlformats.org/drawingml/2006/main">
            <a:off x="7810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1E36D3D5-CFA6-4F42-8753-BBB4B76B0596}"/>
              </a:ext>
            </a:extLst>
          </p:cNvPr>
          <p:cNvSpPr>
            <a:spLocks xmlns:a="http://schemas.openxmlformats.org/drawingml/2006/main" noGrp="1"/>
          </p:cNvSpPr>
          <p:nvPr/>
        </p:nvSpPr>
        <p:spPr>
          <a:xfrm xmlns:a="http://schemas.openxmlformats.org/drawingml/2006/main">
            <a:off x="8763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Cephalic near the thumb or wrist</a:t>
            </a:r>
          </a:p>
        </p:txBody>
      </p:sp>
      <p:sp>
        <p:nvSpPr>
          <p:cNvPr id="27" name="">
            <a:extLst xmlns:a="http://schemas.openxmlformats.org/drawingml/2006/main">
              <a:ext uri="{FF2B5EF4-FFF2-40B4-BE49-F238E27FC236}">
                <a16:creationId xmlns:a16="http://schemas.microsoft.com/office/drawing/2014/main" id="{AF4FFA50-F7FB-4A48-8F38-5C5679F23B79}"/>
              </a:ext>
            </a:extLst>
          </p:cNvPr>
          <p:cNvSpPr>
            <a:spLocks xmlns:a="http://schemas.openxmlformats.org/drawingml/2006/main" noGrp="1"/>
          </p:cNvSpPr>
          <p:nvPr/>
        </p:nvSpPr>
        <p:spPr>
          <a:xfrm xmlns:a="http://schemas.openxmlformats.org/drawingml/2006/main">
            <a:off x="430530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FDF068E5-2BE0-4224-BDFE-6C3C6C16B6DC}"/>
              </a:ext>
            </a:extLst>
          </p:cNvPr>
          <p:cNvSpPr>
            <a:spLocks xmlns:a="http://schemas.openxmlformats.org/drawingml/2006/main" noGrp="1"/>
          </p:cNvSpPr>
          <p:nvPr/>
        </p:nvSpPr>
        <p:spPr>
          <a:xfrm xmlns:a="http://schemas.openxmlformats.org/drawingml/2006/main">
            <a:off x="440055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May be prominent and accommodate a suitable catheter</a:t>
            </a:r>
          </a:p>
        </p:txBody>
      </p:sp>
      <p:sp>
        <p:nvSpPr>
          <p:cNvPr id="29" name="">
            <a:extLst xmlns:a="http://schemas.openxmlformats.org/drawingml/2006/main">
              <a:ext uri="{FF2B5EF4-FFF2-40B4-BE49-F238E27FC236}">
                <a16:creationId xmlns:a16="http://schemas.microsoft.com/office/drawing/2014/main" id="{F4678395-E5B4-4DC5-8CBD-3D3DFD191BB6}"/>
              </a:ext>
            </a:extLst>
          </p:cNvPr>
          <p:cNvSpPr>
            <a:spLocks xmlns:a="http://schemas.openxmlformats.org/drawingml/2006/main" noGrp="1"/>
          </p:cNvSpPr>
          <p:nvPr/>
        </p:nvSpPr>
        <p:spPr>
          <a:xfrm xmlns:a="http://schemas.openxmlformats.org/drawingml/2006/main">
            <a:off x="78295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1E3591F2-A116-4F51-95C2-84E5010E5A6B}"/>
              </a:ext>
            </a:extLst>
          </p:cNvPr>
          <p:cNvSpPr>
            <a:spLocks xmlns:a="http://schemas.openxmlformats.org/drawingml/2006/main" noGrp="1"/>
          </p:cNvSpPr>
          <p:nvPr/>
        </p:nvSpPr>
        <p:spPr>
          <a:xfrm xmlns:a="http://schemas.openxmlformats.org/drawingml/2006/main">
            <a:off x="79248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Wrist motion, radial nerve or artery proximity, and discomfort</a:t>
            </a:r>
          </a:p>
        </p:txBody>
      </p:sp>
      <p:sp>
        <p:nvSpPr>
          <p:cNvPr id="31" name="">
            <a:extLst xmlns:a="http://schemas.openxmlformats.org/drawingml/2006/main">
              <a:ext uri="{FF2B5EF4-FFF2-40B4-BE49-F238E27FC236}">
                <a16:creationId xmlns:a16="http://schemas.microsoft.com/office/drawing/2014/main" id="{4321F89C-E330-4F01-A46E-E4A88E6A9E5E}"/>
              </a:ext>
            </a:extLst>
          </p:cNvPr>
          <p:cNvSpPr>
            <a:spLocks xmlns:a="http://schemas.openxmlformats.org/drawingml/2006/main" noGrp="1"/>
          </p:cNvSpPr>
          <p:nvPr/>
        </p:nvSpPr>
        <p:spPr>
          <a:xfrm xmlns:a="http://schemas.openxmlformats.org/drawingml/2006/main">
            <a:off x="7810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2" name="">
            <a:extLst xmlns:a="http://schemas.openxmlformats.org/drawingml/2006/main">
              <a:ext uri="{FF2B5EF4-FFF2-40B4-BE49-F238E27FC236}">
                <a16:creationId xmlns:a16="http://schemas.microsoft.com/office/drawing/2014/main" id="{2E9A8324-7CFA-41D4-9D02-A0D9CB5B7400}"/>
              </a:ext>
            </a:extLst>
          </p:cNvPr>
          <p:cNvSpPr>
            <a:spLocks xmlns:a="http://schemas.openxmlformats.org/drawingml/2006/main" noGrp="1"/>
          </p:cNvSpPr>
          <p:nvPr/>
        </p:nvSpPr>
        <p:spPr>
          <a:xfrm xmlns:a="http://schemas.openxmlformats.org/drawingml/2006/main">
            <a:off x="8763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Digital veins</a:t>
            </a:r>
          </a:p>
        </p:txBody>
      </p:sp>
      <p:sp>
        <p:nvSpPr>
          <p:cNvPr id="33" name="">
            <a:extLst xmlns:a="http://schemas.openxmlformats.org/drawingml/2006/main">
              <a:ext uri="{FF2B5EF4-FFF2-40B4-BE49-F238E27FC236}">
                <a16:creationId xmlns:a16="http://schemas.microsoft.com/office/drawing/2014/main" id="{2CA31756-5B94-4C89-B62E-625EA1DC5AAA}"/>
              </a:ext>
            </a:extLst>
          </p:cNvPr>
          <p:cNvSpPr>
            <a:spLocks xmlns:a="http://schemas.openxmlformats.org/drawingml/2006/main" noGrp="1"/>
          </p:cNvSpPr>
          <p:nvPr/>
        </p:nvSpPr>
        <p:spPr>
          <a:xfrm xmlns:a="http://schemas.openxmlformats.org/drawingml/2006/main">
            <a:off x="430530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4" name="">
            <a:extLst xmlns:a="http://schemas.openxmlformats.org/drawingml/2006/main">
              <a:ext uri="{FF2B5EF4-FFF2-40B4-BE49-F238E27FC236}">
                <a16:creationId xmlns:a16="http://schemas.microsoft.com/office/drawing/2014/main" id="{1000DC76-D715-4EB9-B5A5-FEF53514A1B2}"/>
              </a:ext>
            </a:extLst>
          </p:cNvPr>
          <p:cNvSpPr>
            <a:spLocks xmlns:a="http://schemas.openxmlformats.org/drawingml/2006/main" noGrp="1"/>
          </p:cNvSpPr>
          <p:nvPr/>
        </p:nvSpPr>
        <p:spPr>
          <a:xfrm xmlns:a="http://schemas.openxmlformats.org/drawingml/2006/main">
            <a:off x="440055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Possible last-resort option for very small therapy</a:t>
            </a:r>
          </a:p>
        </p:txBody>
      </p:sp>
      <p:sp>
        <p:nvSpPr>
          <p:cNvPr id="35" name="">
            <a:extLst xmlns:a="http://schemas.openxmlformats.org/drawingml/2006/main">
              <a:ext uri="{FF2B5EF4-FFF2-40B4-BE49-F238E27FC236}">
                <a16:creationId xmlns:a16="http://schemas.microsoft.com/office/drawing/2014/main" id="{88B549F9-18AA-4550-8966-545CCA0A1F4F}"/>
              </a:ext>
            </a:extLst>
          </p:cNvPr>
          <p:cNvSpPr>
            <a:spLocks xmlns:a="http://schemas.openxmlformats.org/drawingml/2006/main" noGrp="1"/>
          </p:cNvSpPr>
          <p:nvPr/>
        </p:nvSpPr>
        <p:spPr>
          <a:xfrm xmlns:a="http://schemas.openxmlformats.org/drawingml/2006/main">
            <a:off x="78295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6" name="">
            <a:extLst xmlns:a="http://schemas.openxmlformats.org/drawingml/2006/main">
              <a:ext uri="{FF2B5EF4-FFF2-40B4-BE49-F238E27FC236}">
                <a16:creationId xmlns:a16="http://schemas.microsoft.com/office/drawing/2014/main" id="{416A7449-0D66-41A2-A803-BD4EEFB86CDC}"/>
              </a:ext>
            </a:extLst>
          </p:cNvPr>
          <p:cNvSpPr>
            <a:spLocks xmlns:a="http://schemas.openxmlformats.org/drawingml/2006/main" noGrp="1"/>
          </p:cNvSpPr>
          <p:nvPr/>
        </p:nvSpPr>
        <p:spPr>
          <a:xfrm xmlns:a="http://schemas.openxmlformats.org/drawingml/2006/main">
            <a:off x="79248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Small, painful, requires immobilization, limited flow and device size</a:t>
            </a:r>
          </a:p>
        </p:txBody>
      </p:sp>
    </p:spTree>
    <p:extLst>
      <p:ext uri="{BB962C8B-B14F-4D97-AF65-F5344CB8AC3E}">
        <p14:creationId xmlns:p14="http://schemas.microsoft.com/office/powerpoint/2010/main" val="1864731700"/>
      </p:ext>
    </p:extLst>
  </p:cSld>
</p:sld>
</file>

<file path=ppt/slides/slide1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FF2E2C2F-9F0E-4C79-BF86-454B0B0446E1}"/>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61E41535-AC0A-4E57-89C3-729C0B826B9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D407DABA-AE2D-4888-A663-13F4B4CBF9E3}"/>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55B9B3C1-6905-4434-9ACF-D255B858071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354"/>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Forearm and antecubital veins: advantages and disadvantages</a:t>
            </a:r>
          </a:p>
        </p:txBody>
      </p:sp>
      <p:sp>
        <p:nvSpPr>
          <p:cNvPr id="5" name="">
            <a:extLst xmlns:a="http://schemas.openxmlformats.org/drawingml/2006/main">
              <a:ext uri="{FF2B5EF4-FFF2-40B4-BE49-F238E27FC236}">
                <a16:creationId xmlns:a16="http://schemas.microsoft.com/office/drawing/2014/main" id="{C1BD9887-729A-4661-9094-431B08CAE83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6" name="">
            <a:extLst xmlns:a="http://schemas.openxmlformats.org/drawingml/2006/main">
              <a:ext uri="{FF2B5EF4-FFF2-40B4-BE49-F238E27FC236}">
                <a16:creationId xmlns:a16="http://schemas.microsoft.com/office/drawing/2014/main" id="{5CE77679-2867-48CA-868E-625B93B750A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14</a:t>
            </a:r>
          </a:p>
        </p:txBody>
      </p:sp>
      <p:sp>
        <p:nvSpPr>
          <p:cNvPr id="7" name="">
            <a:extLst xmlns:a="http://schemas.openxmlformats.org/drawingml/2006/main">
              <a:ext uri="{FF2B5EF4-FFF2-40B4-BE49-F238E27FC236}">
                <a16:creationId xmlns:a16="http://schemas.microsoft.com/office/drawing/2014/main" id="{7F428E4A-E752-4B66-A4BC-04B76B0EB3C6}"/>
              </a:ext>
            </a:extLst>
          </p:cNvPr>
          <p:cNvSpPr>
            <a:spLocks xmlns:a="http://schemas.openxmlformats.org/drawingml/2006/main" noGrp="1"/>
          </p:cNvSpPr>
          <p:nvPr/>
        </p:nvSpPr>
        <p:spPr>
          <a:xfrm xmlns:a="http://schemas.openxmlformats.org/drawingml/2006/main">
            <a:off x="7810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7FCC11AF-51BF-474B-8FD6-F44100A53CE4}"/>
              </a:ext>
            </a:extLst>
          </p:cNvPr>
          <p:cNvSpPr>
            <a:spLocks xmlns:a="http://schemas.openxmlformats.org/drawingml/2006/main" noGrp="1"/>
          </p:cNvSpPr>
          <p:nvPr/>
        </p:nvSpPr>
        <p:spPr>
          <a:xfrm xmlns:a="http://schemas.openxmlformats.org/drawingml/2006/main">
            <a:off x="8763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Site</a:t>
            </a:r>
          </a:p>
        </p:txBody>
      </p:sp>
      <p:sp>
        <p:nvSpPr>
          <p:cNvPr id="9" name="">
            <a:extLst xmlns:a="http://schemas.openxmlformats.org/drawingml/2006/main">
              <a:ext uri="{FF2B5EF4-FFF2-40B4-BE49-F238E27FC236}">
                <a16:creationId xmlns:a16="http://schemas.microsoft.com/office/drawing/2014/main" id="{EA605E57-BD5E-401A-96BA-E07D6D5440B1}"/>
              </a:ext>
            </a:extLst>
          </p:cNvPr>
          <p:cNvSpPr>
            <a:spLocks xmlns:a="http://schemas.openxmlformats.org/drawingml/2006/main" noGrp="1"/>
          </p:cNvSpPr>
          <p:nvPr/>
        </p:nvSpPr>
        <p:spPr>
          <a:xfrm xmlns:a="http://schemas.openxmlformats.org/drawingml/2006/main">
            <a:off x="430530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A3917520-04F9-497E-99BC-C72672A9F196}"/>
              </a:ext>
            </a:extLst>
          </p:cNvPr>
          <p:cNvSpPr>
            <a:spLocks xmlns:a="http://schemas.openxmlformats.org/drawingml/2006/main" noGrp="1"/>
          </p:cNvSpPr>
          <p:nvPr/>
        </p:nvSpPr>
        <p:spPr>
          <a:xfrm xmlns:a="http://schemas.openxmlformats.org/drawingml/2006/main">
            <a:off x="440055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Advantages</a:t>
            </a:r>
          </a:p>
        </p:txBody>
      </p:sp>
      <p:sp>
        <p:nvSpPr>
          <p:cNvPr id="11" name="">
            <a:extLst xmlns:a="http://schemas.openxmlformats.org/drawingml/2006/main">
              <a:ext uri="{FF2B5EF4-FFF2-40B4-BE49-F238E27FC236}">
                <a16:creationId xmlns:a16="http://schemas.microsoft.com/office/drawing/2014/main" id="{80758D4A-F03F-4AD7-AAEE-2C73394BF601}"/>
              </a:ext>
            </a:extLst>
          </p:cNvPr>
          <p:cNvSpPr>
            <a:spLocks xmlns:a="http://schemas.openxmlformats.org/drawingml/2006/main" noGrp="1"/>
          </p:cNvSpPr>
          <p:nvPr/>
        </p:nvSpPr>
        <p:spPr>
          <a:xfrm xmlns:a="http://schemas.openxmlformats.org/drawingml/2006/main">
            <a:off x="78295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A8EBBDC3-B3B4-4CE4-9CE8-9F316302BDD8}"/>
              </a:ext>
            </a:extLst>
          </p:cNvPr>
          <p:cNvSpPr>
            <a:spLocks xmlns:a="http://schemas.openxmlformats.org/drawingml/2006/main" noGrp="1"/>
          </p:cNvSpPr>
          <p:nvPr/>
        </p:nvSpPr>
        <p:spPr>
          <a:xfrm xmlns:a="http://schemas.openxmlformats.org/drawingml/2006/main">
            <a:off x="79248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Disadvantages</a:t>
            </a:r>
          </a:p>
        </p:txBody>
      </p:sp>
      <p:sp>
        <p:nvSpPr>
          <p:cNvPr id="13" name="">
            <a:extLst xmlns:a="http://schemas.openxmlformats.org/drawingml/2006/main">
              <a:ext uri="{FF2B5EF4-FFF2-40B4-BE49-F238E27FC236}">
                <a16:creationId xmlns:a16="http://schemas.microsoft.com/office/drawing/2014/main" id="{FCA94E99-75A6-499B-9962-6E8BB7E01563}"/>
              </a:ext>
            </a:extLst>
          </p:cNvPr>
          <p:cNvSpPr>
            <a:spLocks xmlns:a="http://schemas.openxmlformats.org/drawingml/2006/main" noGrp="1"/>
          </p:cNvSpPr>
          <p:nvPr/>
        </p:nvSpPr>
        <p:spPr>
          <a:xfrm xmlns:a="http://schemas.openxmlformats.org/drawingml/2006/main">
            <a:off x="7810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F5AACC66-7D88-422B-BCDA-90798E78398C}"/>
              </a:ext>
            </a:extLst>
          </p:cNvPr>
          <p:cNvSpPr>
            <a:spLocks xmlns:a="http://schemas.openxmlformats.org/drawingml/2006/main" noGrp="1"/>
          </p:cNvSpPr>
          <p:nvPr/>
        </p:nvSpPr>
        <p:spPr>
          <a:xfrm xmlns:a="http://schemas.openxmlformats.org/drawingml/2006/main">
            <a:off x="8763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Cephalic forearm</a:t>
            </a:r>
          </a:p>
        </p:txBody>
      </p:sp>
      <p:sp>
        <p:nvSpPr>
          <p:cNvPr id="15" name="">
            <a:extLst xmlns:a="http://schemas.openxmlformats.org/drawingml/2006/main">
              <a:ext uri="{FF2B5EF4-FFF2-40B4-BE49-F238E27FC236}">
                <a16:creationId xmlns:a16="http://schemas.microsoft.com/office/drawing/2014/main" id="{B3688EDE-4ED3-449C-A4B8-C0A1EA9C2AC7}"/>
              </a:ext>
            </a:extLst>
          </p:cNvPr>
          <p:cNvSpPr>
            <a:spLocks xmlns:a="http://schemas.openxmlformats.org/drawingml/2006/main" noGrp="1"/>
          </p:cNvSpPr>
          <p:nvPr/>
        </p:nvSpPr>
        <p:spPr>
          <a:xfrm xmlns:a="http://schemas.openxmlformats.org/drawingml/2006/main">
            <a:off x="430530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69BBF5A4-0251-4A27-80FE-CF4B36696AA8}"/>
              </a:ext>
            </a:extLst>
          </p:cNvPr>
          <p:cNvSpPr>
            <a:spLocks xmlns:a="http://schemas.openxmlformats.org/drawingml/2006/main" noGrp="1"/>
          </p:cNvSpPr>
          <p:nvPr/>
        </p:nvSpPr>
        <p:spPr>
          <a:xfrm xmlns:a="http://schemas.openxmlformats.org/drawingml/2006/main">
            <a:off x="440055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Often straight, accessible, and away from major flexion</a:t>
            </a:r>
          </a:p>
        </p:txBody>
      </p:sp>
      <p:sp>
        <p:nvSpPr>
          <p:cNvPr id="17" name="">
            <a:extLst xmlns:a="http://schemas.openxmlformats.org/drawingml/2006/main">
              <a:ext uri="{FF2B5EF4-FFF2-40B4-BE49-F238E27FC236}">
                <a16:creationId xmlns:a16="http://schemas.microsoft.com/office/drawing/2014/main" id="{FB5389C2-686D-47E7-9764-E7D0574D113B}"/>
              </a:ext>
            </a:extLst>
          </p:cNvPr>
          <p:cNvSpPr>
            <a:spLocks xmlns:a="http://schemas.openxmlformats.org/drawingml/2006/main" noGrp="1"/>
          </p:cNvSpPr>
          <p:nvPr/>
        </p:nvSpPr>
        <p:spPr>
          <a:xfrm xmlns:a="http://schemas.openxmlformats.org/drawingml/2006/main">
            <a:off x="78295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0FD3070C-4A4F-4BCE-AEB7-1546AFBFE3FA}"/>
              </a:ext>
            </a:extLst>
          </p:cNvPr>
          <p:cNvSpPr>
            <a:spLocks xmlns:a="http://schemas.openxmlformats.org/drawingml/2006/main" noGrp="1"/>
          </p:cNvSpPr>
          <p:nvPr/>
        </p:nvSpPr>
        <p:spPr>
          <a:xfrm xmlns:a="http://schemas.openxmlformats.org/drawingml/2006/main">
            <a:off x="79248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May roll and become deeper proximally</a:t>
            </a:r>
          </a:p>
        </p:txBody>
      </p:sp>
      <p:sp>
        <p:nvSpPr>
          <p:cNvPr id="19" name="">
            <a:extLst xmlns:a="http://schemas.openxmlformats.org/drawingml/2006/main">
              <a:ext uri="{FF2B5EF4-FFF2-40B4-BE49-F238E27FC236}">
                <a16:creationId xmlns:a16="http://schemas.microsoft.com/office/drawing/2014/main" id="{7DFA625B-FBB4-4FFC-90F4-732DDA65BDD1}"/>
              </a:ext>
            </a:extLst>
          </p:cNvPr>
          <p:cNvSpPr>
            <a:spLocks xmlns:a="http://schemas.openxmlformats.org/drawingml/2006/main" noGrp="1"/>
          </p:cNvSpPr>
          <p:nvPr/>
        </p:nvSpPr>
        <p:spPr>
          <a:xfrm xmlns:a="http://schemas.openxmlformats.org/drawingml/2006/main">
            <a:off x="7810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0458A863-43CD-4FA6-B66B-35A1A820C396}"/>
              </a:ext>
            </a:extLst>
          </p:cNvPr>
          <p:cNvSpPr>
            <a:spLocks xmlns:a="http://schemas.openxmlformats.org/drawingml/2006/main" noGrp="1"/>
          </p:cNvSpPr>
          <p:nvPr/>
        </p:nvSpPr>
        <p:spPr>
          <a:xfrm xmlns:a="http://schemas.openxmlformats.org/drawingml/2006/main">
            <a:off x="8763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Basilic forearm</a:t>
            </a:r>
          </a:p>
        </p:txBody>
      </p:sp>
      <p:sp>
        <p:nvSpPr>
          <p:cNvPr id="21" name="">
            <a:extLst xmlns:a="http://schemas.openxmlformats.org/drawingml/2006/main">
              <a:ext uri="{FF2B5EF4-FFF2-40B4-BE49-F238E27FC236}">
                <a16:creationId xmlns:a16="http://schemas.microsoft.com/office/drawing/2014/main" id="{175D5085-FA93-49D1-A972-FD8BAF189855}"/>
              </a:ext>
            </a:extLst>
          </p:cNvPr>
          <p:cNvSpPr>
            <a:spLocks xmlns:a="http://schemas.openxmlformats.org/drawingml/2006/main" noGrp="1"/>
          </p:cNvSpPr>
          <p:nvPr/>
        </p:nvSpPr>
        <p:spPr>
          <a:xfrm xmlns:a="http://schemas.openxmlformats.org/drawingml/2006/main">
            <a:off x="430530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AB3E3ED0-C9A5-4306-B817-D0F439E54623}"/>
              </a:ext>
            </a:extLst>
          </p:cNvPr>
          <p:cNvSpPr>
            <a:spLocks xmlns:a="http://schemas.openxmlformats.org/drawingml/2006/main" noGrp="1"/>
          </p:cNvSpPr>
          <p:nvPr/>
        </p:nvSpPr>
        <p:spPr>
          <a:xfrm xmlns:a="http://schemas.openxmlformats.org/drawingml/2006/main">
            <a:off x="440055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Often large with good flow</a:t>
            </a:r>
          </a:p>
        </p:txBody>
      </p:sp>
      <p:sp>
        <p:nvSpPr>
          <p:cNvPr id="23" name="">
            <a:extLst xmlns:a="http://schemas.openxmlformats.org/drawingml/2006/main">
              <a:ext uri="{FF2B5EF4-FFF2-40B4-BE49-F238E27FC236}">
                <a16:creationId xmlns:a16="http://schemas.microsoft.com/office/drawing/2014/main" id="{EA592E58-EF87-4802-9666-B059AACA05B2}"/>
              </a:ext>
            </a:extLst>
          </p:cNvPr>
          <p:cNvSpPr>
            <a:spLocks xmlns:a="http://schemas.openxmlformats.org/drawingml/2006/main" noGrp="1"/>
          </p:cNvSpPr>
          <p:nvPr/>
        </p:nvSpPr>
        <p:spPr>
          <a:xfrm xmlns:a="http://schemas.openxmlformats.org/drawingml/2006/main">
            <a:off x="78295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11250386-B5CC-418A-B00D-839ADFD6485B}"/>
              </a:ext>
            </a:extLst>
          </p:cNvPr>
          <p:cNvSpPr>
            <a:spLocks xmlns:a="http://schemas.openxmlformats.org/drawingml/2006/main" noGrp="1"/>
          </p:cNvSpPr>
          <p:nvPr/>
        </p:nvSpPr>
        <p:spPr>
          <a:xfrm xmlns:a="http://schemas.openxmlformats.org/drawingml/2006/main">
            <a:off x="79248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Can be mobile and lies near arteries and nerves proximally</a:t>
            </a:r>
          </a:p>
        </p:txBody>
      </p:sp>
      <p:sp>
        <p:nvSpPr>
          <p:cNvPr id="25" name="">
            <a:extLst xmlns:a="http://schemas.openxmlformats.org/drawingml/2006/main">
              <a:ext uri="{FF2B5EF4-FFF2-40B4-BE49-F238E27FC236}">
                <a16:creationId xmlns:a16="http://schemas.microsoft.com/office/drawing/2014/main" id="{53C96B2F-E838-4168-A444-0CC5C98034DD}"/>
              </a:ext>
            </a:extLst>
          </p:cNvPr>
          <p:cNvSpPr>
            <a:spLocks xmlns:a="http://schemas.openxmlformats.org/drawingml/2006/main" noGrp="1"/>
          </p:cNvSpPr>
          <p:nvPr/>
        </p:nvSpPr>
        <p:spPr>
          <a:xfrm xmlns:a="http://schemas.openxmlformats.org/drawingml/2006/main">
            <a:off x="7810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E1C3680A-38EB-4892-8A06-6EE705BCACDC}"/>
              </a:ext>
            </a:extLst>
          </p:cNvPr>
          <p:cNvSpPr>
            <a:spLocks xmlns:a="http://schemas.openxmlformats.org/drawingml/2006/main" noGrp="1"/>
          </p:cNvSpPr>
          <p:nvPr/>
        </p:nvSpPr>
        <p:spPr>
          <a:xfrm xmlns:a="http://schemas.openxmlformats.org/drawingml/2006/main">
            <a:off x="8763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Median antebrachial vein</a:t>
            </a:r>
          </a:p>
        </p:txBody>
      </p:sp>
      <p:sp>
        <p:nvSpPr>
          <p:cNvPr id="27" name="">
            <a:extLst xmlns:a="http://schemas.openxmlformats.org/drawingml/2006/main">
              <a:ext uri="{FF2B5EF4-FFF2-40B4-BE49-F238E27FC236}">
                <a16:creationId xmlns:a16="http://schemas.microsoft.com/office/drawing/2014/main" id="{503F8DF4-3AD5-48CA-8A56-9EA7837D7198}"/>
              </a:ext>
            </a:extLst>
          </p:cNvPr>
          <p:cNvSpPr>
            <a:spLocks xmlns:a="http://schemas.openxmlformats.org/drawingml/2006/main" noGrp="1"/>
          </p:cNvSpPr>
          <p:nvPr/>
        </p:nvSpPr>
        <p:spPr>
          <a:xfrm xmlns:a="http://schemas.openxmlformats.org/drawingml/2006/main">
            <a:off x="430530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F1BD1745-2FB2-4C13-B059-FCF301DC618D}"/>
              </a:ext>
            </a:extLst>
          </p:cNvPr>
          <p:cNvSpPr>
            <a:spLocks xmlns:a="http://schemas.openxmlformats.org/drawingml/2006/main" noGrp="1"/>
          </p:cNvSpPr>
          <p:nvPr/>
        </p:nvSpPr>
        <p:spPr>
          <a:xfrm xmlns:a="http://schemas.openxmlformats.org/drawingml/2006/main">
            <a:off x="440055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May provide a stable forearm segment</a:t>
            </a:r>
          </a:p>
        </p:txBody>
      </p:sp>
      <p:sp>
        <p:nvSpPr>
          <p:cNvPr id="29" name="">
            <a:extLst xmlns:a="http://schemas.openxmlformats.org/drawingml/2006/main">
              <a:ext uri="{FF2B5EF4-FFF2-40B4-BE49-F238E27FC236}">
                <a16:creationId xmlns:a16="http://schemas.microsoft.com/office/drawing/2014/main" id="{63B5AFF8-E217-4A38-A4C2-1E00088B0E83}"/>
              </a:ext>
            </a:extLst>
          </p:cNvPr>
          <p:cNvSpPr>
            <a:spLocks xmlns:a="http://schemas.openxmlformats.org/drawingml/2006/main" noGrp="1"/>
          </p:cNvSpPr>
          <p:nvPr/>
        </p:nvSpPr>
        <p:spPr>
          <a:xfrm xmlns:a="http://schemas.openxmlformats.org/drawingml/2006/main">
            <a:off x="78295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FAA72CD8-C2EC-49C9-B092-97652E72B65A}"/>
              </a:ext>
            </a:extLst>
          </p:cNvPr>
          <p:cNvSpPr>
            <a:spLocks xmlns:a="http://schemas.openxmlformats.org/drawingml/2006/main" noGrp="1"/>
          </p:cNvSpPr>
          <p:nvPr/>
        </p:nvSpPr>
        <p:spPr>
          <a:xfrm xmlns:a="http://schemas.openxmlformats.org/drawingml/2006/main">
            <a:off x="79248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Size and course vary and may join deeper structures</a:t>
            </a:r>
          </a:p>
        </p:txBody>
      </p:sp>
      <p:sp>
        <p:nvSpPr>
          <p:cNvPr id="31" name="">
            <a:extLst xmlns:a="http://schemas.openxmlformats.org/drawingml/2006/main">
              <a:ext uri="{FF2B5EF4-FFF2-40B4-BE49-F238E27FC236}">
                <a16:creationId xmlns:a16="http://schemas.microsoft.com/office/drawing/2014/main" id="{9B8775D5-FFE7-40D3-AE51-7C05844FCDFD}"/>
              </a:ext>
            </a:extLst>
          </p:cNvPr>
          <p:cNvSpPr>
            <a:spLocks xmlns:a="http://schemas.openxmlformats.org/drawingml/2006/main" noGrp="1"/>
          </p:cNvSpPr>
          <p:nvPr/>
        </p:nvSpPr>
        <p:spPr>
          <a:xfrm xmlns:a="http://schemas.openxmlformats.org/drawingml/2006/main">
            <a:off x="7810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2" name="">
            <a:extLst xmlns:a="http://schemas.openxmlformats.org/drawingml/2006/main">
              <a:ext uri="{FF2B5EF4-FFF2-40B4-BE49-F238E27FC236}">
                <a16:creationId xmlns:a16="http://schemas.microsoft.com/office/drawing/2014/main" id="{8495A37E-8BF4-420B-80F1-2345F7E6A4B2}"/>
              </a:ext>
            </a:extLst>
          </p:cNvPr>
          <p:cNvSpPr>
            <a:spLocks xmlns:a="http://schemas.openxmlformats.org/drawingml/2006/main" noGrp="1"/>
          </p:cNvSpPr>
          <p:nvPr/>
        </p:nvSpPr>
        <p:spPr>
          <a:xfrm xmlns:a="http://schemas.openxmlformats.org/drawingml/2006/main">
            <a:off x="8763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Median cubital region</a:t>
            </a:r>
          </a:p>
        </p:txBody>
      </p:sp>
      <p:sp>
        <p:nvSpPr>
          <p:cNvPr id="33" name="">
            <a:extLst xmlns:a="http://schemas.openxmlformats.org/drawingml/2006/main">
              <a:ext uri="{FF2B5EF4-FFF2-40B4-BE49-F238E27FC236}">
                <a16:creationId xmlns:a16="http://schemas.microsoft.com/office/drawing/2014/main" id="{352612EE-077D-45A7-8E1F-31767D1CBBD4}"/>
              </a:ext>
            </a:extLst>
          </p:cNvPr>
          <p:cNvSpPr>
            <a:spLocks xmlns:a="http://schemas.openxmlformats.org/drawingml/2006/main" noGrp="1"/>
          </p:cNvSpPr>
          <p:nvPr/>
        </p:nvSpPr>
        <p:spPr>
          <a:xfrm xmlns:a="http://schemas.openxmlformats.org/drawingml/2006/main">
            <a:off x="430530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4" name="">
            <a:extLst xmlns:a="http://schemas.openxmlformats.org/drawingml/2006/main">
              <a:ext uri="{FF2B5EF4-FFF2-40B4-BE49-F238E27FC236}">
                <a16:creationId xmlns:a16="http://schemas.microsoft.com/office/drawing/2014/main" id="{2BA51866-25E6-4C6F-A0E6-AB2FAC57255F}"/>
              </a:ext>
            </a:extLst>
          </p:cNvPr>
          <p:cNvSpPr>
            <a:spLocks xmlns:a="http://schemas.openxmlformats.org/drawingml/2006/main" noGrp="1"/>
          </p:cNvSpPr>
          <p:nvPr/>
        </p:nvSpPr>
        <p:spPr>
          <a:xfrm xmlns:a="http://schemas.openxmlformats.org/drawingml/2006/main">
            <a:off x="440055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Large and easy to locate; useful in urgent access</a:t>
            </a:r>
          </a:p>
        </p:txBody>
      </p:sp>
      <p:sp>
        <p:nvSpPr>
          <p:cNvPr id="35" name="">
            <a:extLst xmlns:a="http://schemas.openxmlformats.org/drawingml/2006/main">
              <a:ext uri="{FF2B5EF4-FFF2-40B4-BE49-F238E27FC236}">
                <a16:creationId xmlns:a16="http://schemas.microsoft.com/office/drawing/2014/main" id="{04BE1532-93AF-44AF-BE84-EBC4DC30A810}"/>
              </a:ext>
            </a:extLst>
          </p:cNvPr>
          <p:cNvSpPr>
            <a:spLocks xmlns:a="http://schemas.openxmlformats.org/drawingml/2006/main" noGrp="1"/>
          </p:cNvSpPr>
          <p:nvPr/>
        </p:nvSpPr>
        <p:spPr>
          <a:xfrm xmlns:a="http://schemas.openxmlformats.org/drawingml/2006/main">
            <a:off x="78295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6" name="">
            <a:extLst xmlns:a="http://schemas.openxmlformats.org/drawingml/2006/main">
              <a:ext uri="{FF2B5EF4-FFF2-40B4-BE49-F238E27FC236}">
                <a16:creationId xmlns:a16="http://schemas.microsoft.com/office/drawing/2014/main" id="{46B16570-FC32-42E7-A918-24C8CF4069A3}"/>
              </a:ext>
            </a:extLst>
          </p:cNvPr>
          <p:cNvSpPr>
            <a:spLocks xmlns:a="http://schemas.openxmlformats.org/drawingml/2006/main" noGrp="1"/>
          </p:cNvSpPr>
          <p:nvPr/>
        </p:nvSpPr>
        <p:spPr>
          <a:xfrm xmlns:a="http://schemas.openxmlformats.org/drawingml/2006/main">
            <a:off x="79248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Elbow flexion, dislodgement, occlusion, nerve and artery proximity; poor routine long-term choice</a:t>
            </a:r>
          </a:p>
        </p:txBody>
      </p:sp>
    </p:spTree>
    <p:extLst>
      <p:ext uri="{BB962C8B-B14F-4D97-AF65-F5344CB8AC3E}">
        <p14:creationId xmlns:p14="http://schemas.microsoft.com/office/powerpoint/2010/main" val="527045471"/>
      </p:ext>
    </p:extLst>
  </p:cSld>
</p:sld>
</file>

<file path=ppt/slides/slide1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0A95481-C439-43EE-9C38-9A69F2A34E8B}"/>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B5EB639B-434C-48CD-9311-6C3148D38D9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9CCF7E97-700B-4180-A50B-FD8ACE7CE9B5}"/>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CAE43385-FFBC-44EE-906B-9ECE7C692F4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Peripheral IV insertion supplies</a:t>
            </a:r>
          </a:p>
        </p:txBody>
      </p:sp>
      <p:sp>
        <p:nvSpPr>
          <p:cNvPr id="5" name="">
            <a:extLst xmlns:a="http://schemas.openxmlformats.org/drawingml/2006/main">
              <a:ext uri="{FF2B5EF4-FFF2-40B4-BE49-F238E27FC236}">
                <a16:creationId xmlns:a16="http://schemas.microsoft.com/office/drawing/2014/main" id="{02C0F361-2060-4A2F-898E-0EB9B6B569A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6" name="">
            <a:extLst xmlns:a="http://schemas.openxmlformats.org/drawingml/2006/main">
              <a:ext uri="{FF2B5EF4-FFF2-40B4-BE49-F238E27FC236}">
                <a16:creationId xmlns:a16="http://schemas.microsoft.com/office/drawing/2014/main" id="{8424A8A4-4627-48B4-BC3F-F1A17C308F3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15</a:t>
            </a:r>
          </a:p>
        </p:txBody>
      </p:sp>
      <p:sp>
        <p:nvSpPr>
          <p:cNvPr id="7" name="">
            <a:extLst xmlns:a="http://schemas.openxmlformats.org/drawingml/2006/main">
              <a:ext uri="{FF2B5EF4-FFF2-40B4-BE49-F238E27FC236}">
                <a16:creationId xmlns:a16="http://schemas.microsoft.com/office/drawing/2014/main" id="{64D142EC-1165-479F-B71A-D836D3CB6A54}"/>
              </a:ext>
            </a:extLst>
          </p:cNvPr>
          <p:cNvSpPr>
            <a:spLocks xmlns:a="http://schemas.openxmlformats.org/drawingml/2006/main" noGrp="1"/>
          </p:cNvSpPr>
          <p:nvPr/>
        </p:nvSpPr>
        <p:spPr>
          <a:xfrm xmlns:a="http://schemas.openxmlformats.org/drawingml/2006/main">
            <a:off x="704850" y="1752600"/>
            <a:ext cx="47625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Select the catheter and equipment after assessing the patient, therapy, vein, and expected duration.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Open supplies only when ready to maintain asepsis.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Place the sharps container within immediate reach before insertion.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Prepare backup supplies without contaminating the primary setup.</a:t>
            </a:r>
          </a:p>
        </p:txBody>
      </p:sp>
      <p:pic>
        <p:nvPicPr>
          <p:cNvPr id="8" name="">
            <a:extLst xmlns:a="http://schemas.openxmlformats.org/drawingml/2006/main">
              <a:ext uri="{FF2B5EF4-FFF2-40B4-BE49-F238E27FC236}">
                <a16:creationId xmlns:a16="http://schemas.microsoft.com/office/drawing/2014/main" id="{D9E64FA9-D6AD-4967-934E-64D5623CBCCC}"/>
              </a:ext>
            </a:extLst>
          </p:cNvPr>
          <p:cNvPicPr>
            <a:picLocks xmlns:a="http://schemas.openxmlformats.org/drawingml/2006/main" noChangeAspect="1"/>
          </p:cNvPicPr>
          <p:nvPr/>
        </p:nvPicPr>
        <p:blipFill>
          <a:blip xmlns:r="http://schemas.openxmlformats.org/officeDocument/2006/relationships" xmlns:a="http://schemas.openxmlformats.org/drawingml/2006/main" r:embed="R001396af19394598"/>
          <a:srcRect xmlns:a="http://schemas.openxmlformats.org/drawingml/2006/main" l="12480" t="0" r="12480" b="0"/>
          <a:stretch xmlns:a="http://schemas.openxmlformats.org/drawingml/2006/main">
            <a:fillRect l="0" t="0" r="0" b="0"/>
          </a:stretch>
        </p:blipFill>
        <p:spPr>
          <a:xfrm xmlns:a="http://schemas.openxmlformats.org/drawingml/2006/main">
            <a:off x="5810250" y="1581150"/>
            <a:ext cx="5715000" cy="42862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3A96D582-78A1-4F45-8E86-E0D551048B78}"/>
              </a:ext>
            </a:extLst>
          </p:cNvPr>
          <p:cNvSpPr>
            <a:spLocks xmlns:a="http://schemas.openxmlformats.org/drawingml/2006/main" noGrp="1"/>
          </p:cNvSpPr>
          <p:nvPr/>
        </p:nvSpPr>
        <p:spPr>
          <a:xfrm xmlns:a="http://schemas.openxmlformats.org/drawingml/2006/main">
            <a:off x="5810250" y="1581150"/>
            <a:ext cx="5715000" cy="4286250"/>
          </a:xfrm>
          <a:prstGeom xmlns:a="http://schemas.openxmlformats.org/drawingml/2006/main" prst="rect">
            <a:avLst/>
          </a:prstGeom>
          <a:ln xmlns:a="http://schemas.openxmlformats.org/drawingml/2006/main" w="19050">
            <a:solidFill>
              <a:srgbClr val="237B82"/>
            </a:solidFill>
          </a:ln>
        </p:spPr>
      </p:sp>
      <p:sp>
        <p:nvSpPr>
          <p:cNvPr id="10" name="">
            <a:extLst xmlns:a="http://schemas.openxmlformats.org/drawingml/2006/main">
              <a:ext uri="{FF2B5EF4-FFF2-40B4-BE49-F238E27FC236}">
                <a16:creationId xmlns:a16="http://schemas.microsoft.com/office/drawing/2014/main" id="{D174A9BB-98E1-46CB-B4AD-9CA2D5C54CC9}"/>
              </a:ext>
            </a:extLst>
          </p:cNvPr>
          <p:cNvSpPr>
            <a:spLocks xmlns:a="http://schemas.openxmlformats.org/drawingml/2006/main" noGrp="1"/>
          </p:cNvSpPr>
          <p:nvPr/>
        </p:nvSpPr>
        <p:spPr>
          <a:xfrm xmlns:a="http://schemas.openxmlformats.org/drawingml/2006/main">
            <a:off x="5905500" y="5962650"/>
            <a:ext cx="552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050" b="1">
                <a:solidFill>
                  <a:srgbClr val="B94F3D"/>
                </a:solidFill>
                <a:latin typeface="Helvetica Neue"/>
                <a:ea typeface="Helvetica Neue"/>
                <a:cs typeface="Helvetica Neue"/>
              </a:defRPr>
            </a:defPPr>
            <a:lvl1pPr>
              <a:defRPr sz="1050" b="1">
                <a:solidFill>
                  <a:srgbClr val="B94F3D"/>
                </a:solidFill>
                <a:latin typeface="Helvetica Neue"/>
                <a:ea typeface="Helvetica Neue"/>
                <a:cs typeface="Helvetica Neue"/>
              </a:defRPr>
            </a:lvl1pPr>
            <a:lvl2pPr>
              <a:defRPr sz="1050" b="1">
                <a:solidFill>
                  <a:srgbClr val="B94F3D"/>
                </a:solidFill>
                <a:latin typeface="Helvetica Neue"/>
                <a:ea typeface="Helvetica Neue"/>
                <a:cs typeface="Helvetica Neue"/>
              </a:defRPr>
            </a:lvl2pPr>
            <a:lvl3pPr>
              <a:defRPr sz="1050" b="1">
                <a:solidFill>
                  <a:srgbClr val="B94F3D"/>
                </a:solidFill>
                <a:latin typeface="Helvetica Neue"/>
                <a:ea typeface="Helvetica Neue"/>
                <a:cs typeface="Helvetica Neue"/>
              </a:defRPr>
            </a:lvl3pPr>
            <a:lvl4pPr>
              <a:defRPr sz="1050" b="1">
                <a:solidFill>
                  <a:srgbClr val="B94F3D"/>
                </a:solidFill>
                <a:latin typeface="Helvetica Neue"/>
                <a:ea typeface="Helvetica Neue"/>
                <a:cs typeface="Helvetica Neue"/>
              </a:defRPr>
            </a:lvl4pPr>
            <a:lvl5pPr>
              <a:defRPr sz="1050" b="1">
                <a:solidFill>
                  <a:srgbClr val="B94F3D"/>
                </a:solidFill>
                <a:latin typeface="Helvetica Neue"/>
                <a:ea typeface="Helvetica Neue"/>
                <a:cs typeface="Helvetica Neue"/>
              </a:defRPr>
            </a:lvl5pPr>
            <a:lvl6pPr>
              <a:defRPr sz="1050" b="1">
                <a:solidFill>
                  <a:srgbClr val="B94F3D"/>
                </a:solidFill>
                <a:latin typeface="Helvetica Neue"/>
                <a:ea typeface="Helvetica Neue"/>
                <a:cs typeface="Helvetica Neue"/>
              </a:defRPr>
            </a:lvl6pPr>
            <a:lvl7pPr>
              <a:defRPr sz="1050" b="1">
                <a:solidFill>
                  <a:srgbClr val="B94F3D"/>
                </a:solidFill>
                <a:latin typeface="Helvetica Neue"/>
                <a:ea typeface="Helvetica Neue"/>
                <a:cs typeface="Helvetica Neue"/>
              </a:defRPr>
            </a:lvl7pPr>
            <a:lvl8pPr>
              <a:defRPr sz="1050" b="1">
                <a:solidFill>
                  <a:srgbClr val="B94F3D"/>
                </a:solidFill>
                <a:latin typeface="Helvetica Neue"/>
                <a:ea typeface="Helvetica Neue"/>
                <a:cs typeface="Helvetica Neue"/>
              </a:defRPr>
            </a:lvl8pPr>
            <a:lvl9pPr>
              <a:defRPr sz="1050" b="1">
                <a:solidFill>
                  <a:srgbClr val="B94F3D"/>
                </a:solidFill>
                <a:latin typeface="Helvetica Neue"/>
                <a:ea typeface="Helvetica Neue"/>
                <a:cs typeface="Helvetica Neue"/>
              </a:defRPr>
            </a:lvl9pPr>
          </a:lstStyle>
          <a:p xmlns:a="http://schemas.openxmlformats.org/drawingml/2006/main">
            <a:pPr>
              <a:defRPr sz="1050" b="1">
                <a:solidFill>
                  <a:srgbClr val="B94F3D"/>
                </a:solidFill>
                <a:latin typeface="Helvetica Neue"/>
                <a:ea typeface="Helvetica Neue"/>
                <a:cs typeface="Helvetica Neue"/>
              </a:defRPr>
            </a:pPr>
            <a:r>
              <a:rPr sz="1050" b="1">
                <a:solidFill>
                  <a:srgbClr val="B94F3D"/>
                </a:solidFill>
                <a:latin typeface="Helvetica Neue"/>
                <a:ea typeface="Helvetica Neue"/>
                <a:cs typeface="Helvetica Neue"/>
              </a:rPr>
              <a:t>Educational visual. Verify device-specific technique during supervised practice.</a:t>
            </a:r>
          </a:p>
        </p:txBody>
      </p:sp>
    </p:spTree>
    <p:extLst>
      <p:ext uri="{BB962C8B-B14F-4D97-AF65-F5344CB8AC3E}">
        <p14:creationId xmlns:p14="http://schemas.microsoft.com/office/powerpoint/2010/main" val="1364132673"/>
      </p:ext>
    </p:extLst>
  </p:cSld>
</p:sld>
</file>

<file path=ppt/slides/slide1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865F8041-E2B6-46C3-A4A4-48EBB6318B94}"/>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42B4DA99-A969-47DA-85CF-878C294B18C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16D6463D-16BC-4D75-A555-37A8B56D61A2}"/>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42EF7F76-BC87-4EBF-9C44-515BE3593BE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Peripheral IV supply checklist</a:t>
            </a:r>
          </a:p>
        </p:txBody>
      </p:sp>
      <p:sp>
        <p:nvSpPr>
          <p:cNvPr id="5" name="">
            <a:extLst xmlns:a="http://schemas.openxmlformats.org/drawingml/2006/main">
              <a:ext uri="{FF2B5EF4-FFF2-40B4-BE49-F238E27FC236}">
                <a16:creationId xmlns:a16="http://schemas.microsoft.com/office/drawing/2014/main" id="{11435E08-B245-494D-A7BA-C2C00A0510D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6" name="">
            <a:extLst xmlns:a="http://schemas.openxmlformats.org/drawingml/2006/main">
              <a:ext uri="{FF2B5EF4-FFF2-40B4-BE49-F238E27FC236}">
                <a16:creationId xmlns:a16="http://schemas.microsoft.com/office/drawing/2014/main" id="{028683A0-5147-4470-9635-B9C0C9F1F0B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16</a:t>
            </a:r>
          </a:p>
        </p:txBody>
      </p:sp>
      <p:sp>
        <p:nvSpPr>
          <p:cNvPr id="7" name="">
            <a:extLst xmlns:a="http://schemas.openxmlformats.org/drawingml/2006/main">
              <a:ext uri="{FF2B5EF4-FFF2-40B4-BE49-F238E27FC236}">
                <a16:creationId xmlns:a16="http://schemas.microsoft.com/office/drawing/2014/main" id="{2F1F37D8-3FE7-4591-93F2-4FA5AA94CC76}"/>
              </a:ext>
            </a:extLst>
          </p:cNvPr>
          <p:cNvSpPr>
            <a:spLocks xmlns:a="http://schemas.openxmlformats.org/drawingml/2006/main" noGrp="1"/>
          </p:cNvSpPr>
          <p:nvPr/>
        </p:nvSpPr>
        <p:spPr>
          <a:xfrm xmlns:a="http://schemas.openxmlformats.org/drawingml/2006/main">
            <a:off x="781050" y="1695450"/>
            <a:ext cx="5286375" cy="612321"/>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7DAC4791-7585-46CE-B490-288894654BCA}"/>
              </a:ext>
            </a:extLst>
          </p:cNvPr>
          <p:cNvSpPr>
            <a:spLocks xmlns:a="http://schemas.openxmlformats.org/drawingml/2006/main" noGrp="1"/>
          </p:cNvSpPr>
          <p:nvPr/>
        </p:nvSpPr>
        <p:spPr>
          <a:xfrm xmlns:a="http://schemas.openxmlformats.org/drawingml/2006/main">
            <a:off x="876300" y="1762125"/>
            <a:ext cx="5095875" cy="4789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Category</a:t>
            </a:r>
          </a:p>
        </p:txBody>
      </p:sp>
      <p:sp>
        <p:nvSpPr>
          <p:cNvPr id="9" name="">
            <a:extLst xmlns:a="http://schemas.openxmlformats.org/drawingml/2006/main">
              <a:ext uri="{FF2B5EF4-FFF2-40B4-BE49-F238E27FC236}">
                <a16:creationId xmlns:a16="http://schemas.microsoft.com/office/drawing/2014/main" id="{DFC16DB4-359F-449B-AF5D-FF96F2C64BE0}"/>
              </a:ext>
            </a:extLst>
          </p:cNvPr>
          <p:cNvSpPr>
            <a:spLocks xmlns:a="http://schemas.openxmlformats.org/drawingml/2006/main" noGrp="1"/>
          </p:cNvSpPr>
          <p:nvPr/>
        </p:nvSpPr>
        <p:spPr>
          <a:xfrm xmlns:a="http://schemas.openxmlformats.org/drawingml/2006/main">
            <a:off x="6067425" y="1695450"/>
            <a:ext cx="5286375" cy="612321"/>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311690AC-2CBD-4C2A-B215-AB4E99193F86}"/>
              </a:ext>
            </a:extLst>
          </p:cNvPr>
          <p:cNvSpPr>
            <a:spLocks xmlns:a="http://schemas.openxmlformats.org/drawingml/2006/main" noGrp="1"/>
          </p:cNvSpPr>
          <p:nvPr/>
        </p:nvSpPr>
        <p:spPr>
          <a:xfrm xmlns:a="http://schemas.openxmlformats.org/drawingml/2006/main">
            <a:off x="6162675" y="1762125"/>
            <a:ext cx="5095875" cy="4789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Supplies and purpose</a:t>
            </a:r>
          </a:p>
        </p:txBody>
      </p:sp>
      <p:sp>
        <p:nvSpPr>
          <p:cNvPr id="11" name="">
            <a:extLst xmlns:a="http://schemas.openxmlformats.org/drawingml/2006/main">
              <a:ext uri="{FF2B5EF4-FFF2-40B4-BE49-F238E27FC236}">
                <a16:creationId xmlns:a16="http://schemas.microsoft.com/office/drawing/2014/main" id="{CA5738D8-8603-40CF-A50A-65BEB5D340C0}"/>
              </a:ext>
            </a:extLst>
          </p:cNvPr>
          <p:cNvSpPr>
            <a:spLocks xmlns:a="http://schemas.openxmlformats.org/drawingml/2006/main" noGrp="1"/>
          </p:cNvSpPr>
          <p:nvPr/>
        </p:nvSpPr>
        <p:spPr>
          <a:xfrm xmlns:a="http://schemas.openxmlformats.org/drawingml/2006/main">
            <a:off x="781050" y="2307771"/>
            <a:ext cx="5286375" cy="612321"/>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573A747F-BCE3-46A6-A6A6-FC75A03A42AE}"/>
              </a:ext>
            </a:extLst>
          </p:cNvPr>
          <p:cNvSpPr>
            <a:spLocks xmlns:a="http://schemas.openxmlformats.org/drawingml/2006/main" noGrp="1"/>
          </p:cNvSpPr>
          <p:nvPr/>
        </p:nvSpPr>
        <p:spPr>
          <a:xfrm xmlns:a="http://schemas.openxmlformats.org/drawingml/2006/main">
            <a:off x="876300" y="2374446"/>
            <a:ext cx="5095875" cy="4789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Patient and clinician protection</a:t>
            </a:r>
          </a:p>
        </p:txBody>
      </p:sp>
      <p:sp>
        <p:nvSpPr>
          <p:cNvPr id="13" name="">
            <a:extLst xmlns:a="http://schemas.openxmlformats.org/drawingml/2006/main">
              <a:ext uri="{FF2B5EF4-FFF2-40B4-BE49-F238E27FC236}">
                <a16:creationId xmlns:a16="http://schemas.microsoft.com/office/drawing/2014/main" id="{1A6E26E0-B930-452F-B306-E012C844339F}"/>
              </a:ext>
            </a:extLst>
          </p:cNvPr>
          <p:cNvSpPr>
            <a:spLocks xmlns:a="http://schemas.openxmlformats.org/drawingml/2006/main" noGrp="1"/>
          </p:cNvSpPr>
          <p:nvPr/>
        </p:nvSpPr>
        <p:spPr>
          <a:xfrm xmlns:a="http://schemas.openxmlformats.org/drawingml/2006/main">
            <a:off x="6067425" y="2307771"/>
            <a:ext cx="5286375" cy="612321"/>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C19CAC01-FF0B-42A5-B254-95FCA09591C5}"/>
              </a:ext>
            </a:extLst>
          </p:cNvPr>
          <p:cNvSpPr>
            <a:spLocks xmlns:a="http://schemas.openxmlformats.org/drawingml/2006/main" noGrp="1"/>
          </p:cNvSpPr>
          <p:nvPr/>
        </p:nvSpPr>
        <p:spPr>
          <a:xfrm xmlns:a="http://schemas.openxmlformats.org/drawingml/2006/main">
            <a:off x="6162675" y="2374446"/>
            <a:ext cx="5095875" cy="4789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Clean gloves and additional PPE based on exposure risk</a:t>
            </a:r>
          </a:p>
        </p:txBody>
      </p:sp>
      <p:sp>
        <p:nvSpPr>
          <p:cNvPr id="15" name="">
            <a:extLst xmlns:a="http://schemas.openxmlformats.org/drawingml/2006/main">
              <a:ext uri="{FF2B5EF4-FFF2-40B4-BE49-F238E27FC236}">
                <a16:creationId xmlns:a16="http://schemas.microsoft.com/office/drawing/2014/main" id="{40015FD2-7C9A-42FB-8C9E-CEF588D0FC28}"/>
              </a:ext>
            </a:extLst>
          </p:cNvPr>
          <p:cNvSpPr>
            <a:spLocks xmlns:a="http://schemas.openxmlformats.org/drawingml/2006/main" noGrp="1"/>
          </p:cNvSpPr>
          <p:nvPr/>
        </p:nvSpPr>
        <p:spPr>
          <a:xfrm xmlns:a="http://schemas.openxmlformats.org/drawingml/2006/main">
            <a:off x="781050" y="2920093"/>
            <a:ext cx="5286375" cy="612321"/>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AEAB90B8-6608-45E6-AA1B-E122D7035E57}"/>
              </a:ext>
            </a:extLst>
          </p:cNvPr>
          <p:cNvSpPr>
            <a:spLocks xmlns:a="http://schemas.openxmlformats.org/drawingml/2006/main" noGrp="1"/>
          </p:cNvSpPr>
          <p:nvPr/>
        </p:nvSpPr>
        <p:spPr>
          <a:xfrm xmlns:a="http://schemas.openxmlformats.org/drawingml/2006/main">
            <a:off x="876300" y="2986768"/>
            <a:ext cx="5095875" cy="4789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Access</a:t>
            </a:r>
          </a:p>
        </p:txBody>
      </p:sp>
      <p:sp>
        <p:nvSpPr>
          <p:cNvPr id="17" name="">
            <a:extLst xmlns:a="http://schemas.openxmlformats.org/drawingml/2006/main">
              <a:ext uri="{FF2B5EF4-FFF2-40B4-BE49-F238E27FC236}">
                <a16:creationId xmlns:a16="http://schemas.microsoft.com/office/drawing/2014/main" id="{C3006C68-35A7-4752-BDCF-B2EE6DC5EFBE}"/>
              </a:ext>
            </a:extLst>
          </p:cNvPr>
          <p:cNvSpPr>
            <a:spLocks xmlns:a="http://schemas.openxmlformats.org/drawingml/2006/main" noGrp="1"/>
          </p:cNvSpPr>
          <p:nvPr/>
        </p:nvSpPr>
        <p:spPr>
          <a:xfrm xmlns:a="http://schemas.openxmlformats.org/drawingml/2006/main">
            <a:off x="6067425" y="2920093"/>
            <a:ext cx="5286375" cy="612321"/>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0A6345D6-B17A-42C7-B8A4-2AE7A716EC53}"/>
              </a:ext>
            </a:extLst>
          </p:cNvPr>
          <p:cNvSpPr>
            <a:spLocks xmlns:a="http://schemas.openxmlformats.org/drawingml/2006/main" noGrp="1"/>
          </p:cNvSpPr>
          <p:nvPr/>
        </p:nvSpPr>
        <p:spPr>
          <a:xfrm xmlns:a="http://schemas.openxmlformats.org/drawingml/2006/main">
            <a:off x="6162675" y="2986768"/>
            <a:ext cx="5095875" cy="4789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Appropriate safety catheter, tourniquet, optional vein-visualization or warming aid per policy</a:t>
            </a:r>
          </a:p>
        </p:txBody>
      </p:sp>
      <p:sp>
        <p:nvSpPr>
          <p:cNvPr id="19" name="">
            <a:extLst xmlns:a="http://schemas.openxmlformats.org/drawingml/2006/main">
              <a:ext uri="{FF2B5EF4-FFF2-40B4-BE49-F238E27FC236}">
                <a16:creationId xmlns:a16="http://schemas.microsoft.com/office/drawing/2014/main" id="{ED6ACD4B-F4BD-4401-A55A-E691F728E7EF}"/>
              </a:ext>
            </a:extLst>
          </p:cNvPr>
          <p:cNvSpPr>
            <a:spLocks xmlns:a="http://schemas.openxmlformats.org/drawingml/2006/main" noGrp="1"/>
          </p:cNvSpPr>
          <p:nvPr/>
        </p:nvSpPr>
        <p:spPr>
          <a:xfrm xmlns:a="http://schemas.openxmlformats.org/drawingml/2006/main">
            <a:off x="781050" y="3532414"/>
            <a:ext cx="5286375" cy="612321"/>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6B72578E-5EDD-4180-A138-8A7B5391D2D9}"/>
              </a:ext>
            </a:extLst>
          </p:cNvPr>
          <p:cNvSpPr>
            <a:spLocks xmlns:a="http://schemas.openxmlformats.org/drawingml/2006/main" noGrp="1"/>
          </p:cNvSpPr>
          <p:nvPr/>
        </p:nvSpPr>
        <p:spPr>
          <a:xfrm xmlns:a="http://schemas.openxmlformats.org/drawingml/2006/main">
            <a:off x="876300" y="3599089"/>
            <a:ext cx="5095875" cy="4789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Skin preparation</a:t>
            </a:r>
          </a:p>
        </p:txBody>
      </p:sp>
      <p:sp>
        <p:nvSpPr>
          <p:cNvPr id="21" name="">
            <a:extLst xmlns:a="http://schemas.openxmlformats.org/drawingml/2006/main">
              <a:ext uri="{FF2B5EF4-FFF2-40B4-BE49-F238E27FC236}">
                <a16:creationId xmlns:a16="http://schemas.microsoft.com/office/drawing/2014/main" id="{B42C5372-0A31-4AA6-9045-B643F01E99F8}"/>
              </a:ext>
            </a:extLst>
          </p:cNvPr>
          <p:cNvSpPr>
            <a:spLocks xmlns:a="http://schemas.openxmlformats.org/drawingml/2006/main" noGrp="1"/>
          </p:cNvSpPr>
          <p:nvPr/>
        </p:nvSpPr>
        <p:spPr>
          <a:xfrm xmlns:a="http://schemas.openxmlformats.org/drawingml/2006/main">
            <a:off x="6067425" y="3532414"/>
            <a:ext cx="5286375" cy="612321"/>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75E49645-5D56-4E53-9931-F0CFA43E96D7}"/>
              </a:ext>
            </a:extLst>
          </p:cNvPr>
          <p:cNvSpPr>
            <a:spLocks xmlns:a="http://schemas.openxmlformats.org/drawingml/2006/main" noGrp="1"/>
          </p:cNvSpPr>
          <p:nvPr/>
        </p:nvSpPr>
        <p:spPr>
          <a:xfrm xmlns:a="http://schemas.openxmlformats.org/drawingml/2006/main">
            <a:off x="6162675" y="3599089"/>
            <a:ext cx="5095875" cy="4789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Facility-approved antiseptic, sterile gauze, and enough drying time</a:t>
            </a:r>
          </a:p>
        </p:txBody>
      </p:sp>
      <p:sp>
        <p:nvSpPr>
          <p:cNvPr id="23" name="">
            <a:extLst xmlns:a="http://schemas.openxmlformats.org/drawingml/2006/main">
              <a:ext uri="{FF2B5EF4-FFF2-40B4-BE49-F238E27FC236}">
                <a16:creationId xmlns:a16="http://schemas.microsoft.com/office/drawing/2014/main" id="{60EE7555-5246-49E8-ACD5-27478BB25E75}"/>
              </a:ext>
            </a:extLst>
          </p:cNvPr>
          <p:cNvSpPr>
            <a:spLocks xmlns:a="http://schemas.openxmlformats.org/drawingml/2006/main" noGrp="1"/>
          </p:cNvSpPr>
          <p:nvPr/>
        </p:nvSpPr>
        <p:spPr>
          <a:xfrm xmlns:a="http://schemas.openxmlformats.org/drawingml/2006/main">
            <a:off x="781050" y="4144736"/>
            <a:ext cx="5286375" cy="612321"/>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E2DAA5D0-13AC-461C-A91B-DCE17C6C13CB}"/>
              </a:ext>
            </a:extLst>
          </p:cNvPr>
          <p:cNvSpPr>
            <a:spLocks xmlns:a="http://schemas.openxmlformats.org/drawingml/2006/main" noGrp="1"/>
          </p:cNvSpPr>
          <p:nvPr/>
        </p:nvSpPr>
        <p:spPr>
          <a:xfrm xmlns:a="http://schemas.openxmlformats.org/drawingml/2006/main">
            <a:off x="876300" y="4211411"/>
            <a:ext cx="5095875" cy="4789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Connection</a:t>
            </a:r>
          </a:p>
        </p:txBody>
      </p:sp>
      <p:sp>
        <p:nvSpPr>
          <p:cNvPr id="25" name="">
            <a:extLst xmlns:a="http://schemas.openxmlformats.org/drawingml/2006/main">
              <a:ext uri="{FF2B5EF4-FFF2-40B4-BE49-F238E27FC236}">
                <a16:creationId xmlns:a16="http://schemas.microsoft.com/office/drawing/2014/main" id="{4C374281-2663-4C92-82C7-B4F20520C0ED}"/>
              </a:ext>
            </a:extLst>
          </p:cNvPr>
          <p:cNvSpPr>
            <a:spLocks xmlns:a="http://schemas.openxmlformats.org/drawingml/2006/main" noGrp="1"/>
          </p:cNvSpPr>
          <p:nvPr/>
        </p:nvSpPr>
        <p:spPr>
          <a:xfrm xmlns:a="http://schemas.openxmlformats.org/drawingml/2006/main">
            <a:off x="6067425" y="4144736"/>
            <a:ext cx="5286375" cy="612321"/>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E38FB6F2-F475-497A-B031-EDB8BF409F5E}"/>
              </a:ext>
            </a:extLst>
          </p:cNvPr>
          <p:cNvSpPr>
            <a:spLocks xmlns:a="http://schemas.openxmlformats.org/drawingml/2006/main" noGrp="1"/>
          </p:cNvSpPr>
          <p:nvPr/>
        </p:nvSpPr>
        <p:spPr>
          <a:xfrm xmlns:a="http://schemas.openxmlformats.org/drawingml/2006/main">
            <a:off x="6162675" y="4211411"/>
            <a:ext cx="5095875" cy="4789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Primed extension tubing, needleless connector, ordered solution or flush, compatible administration set</a:t>
            </a:r>
          </a:p>
        </p:txBody>
      </p:sp>
      <p:sp>
        <p:nvSpPr>
          <p:cNvPr id="27" name="">
            <a:extLst xmlns:a="http://schemas.openxmlformats.org/drawingml/2006/main">
              <a:ext uri="{FF2B5EF4-FFF2-40B4-BE49-F238E27FC236}">
                <a16:creationId xmlns:a16="http://schemas.microsoft.com/office/drawing/2014/main" id="{599F950D-5AA3-4A4B-BF70-A1061C373D21}"/>
              </a:ext>
            </a:extLst>
          </p:cNvPr>
          <p:cNvSpPr>
            <a:spLocks xmlns:a="http://schemas.openxmlformats.org/drawingml/2006/main" noGrp="1"/>
          </p:cNvSpPr>
          <p:nvPr/>
        </p:nvSpPr>
        <p:spPr>
          <a:xfrm xmlns:a="http://schemas.openxmlformats.org/drawingml/2006/main">
            <a:off x="781050" y="4757057"/>
            <a:ext cx="5286375" cy="612321"/>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F2AE1277-B752-4F21-AACD-8C9DA8802FC9}"/>
              </a:ext>
            </a:extLst>
          </p:cNvPr>
          <p:cNvSpPr>
            <a:spLocks xmlns:a="http://schemas.openxmlformats.org/drawingml/2006/main" noGrp="1"/>
          </p:cNvSpPr>
          <p:nvPr/>
        </p:nvSpPr>
        <p:spPr>
          <a:xfrm xmlns:a="http://schemas.openxmlformats.org/drawingml/2006/main">
            <a:off x="876300" y="4823732"/>
            <a:ext cx="5095875" cy="4789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Securement</a:t>
            </a:r>
          </a:p>
        </p:txBody>
      </p:sp>
      <p:sp>
        <p:nvSpPr>
          <p:cNvPr id="29" name="">
            <a:extLst xmlns:a="http://schemas.openxmlformats.org/drawingml/2006/main">
              <a:ext uri="{FF2B5EF4-FFF2-40B4-BE49-F238E27FC236}">
                <a16:creationId xmlns:a16="http://schemas.microsoft.com/office/drawing/2014/main" id="{1B311325-2497-4A77-AC67-220750535422}"/>
              </a:ext>
            </a:extLst>
          </p:cNvPr>
          <p:cNvSpPr>
            <a:spLocks xmlns:a="http://schemas.openxmlformats.org/drawingml/2006/main" noGrp="1"/>
          </p:cNvSpPr>
          <p:nvPr/>
        </p:nvSpPr>
        <p:spPr>
          <a:xfrm xmlns:a="http://schemas.openxmlformats.org/drawingml/2006/main">
            <a:off x="6067425" y="4757057"/>
            <a:ext cx="5286375" cy="612321"/>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A0552D61-F634-4286-8899-F22120489186}"/>
              </a:ext>
            </a:extLst>
          </p:cNvPr>
          <p:cNvSpPr>
            <a:spLocks xmlns:a="http://schemas.openxmlformats.org/drawingml/2006/main" noGrp="1"/>
          </p:cNvSpPr>
          <p:nvPr/>
        </p:nvSpPr>
        <p:spPr>
          <a:xfrm xmlns:a="http://schemas.openxmlformats.org/drawingml/2006/main">
            <a:off x="6162675" y="4823732"/>
            <a:ext cx="5095875" cy="4789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Stabilization device, transparent dressing or indicated alternative, tape and label</a:t>
            </a:r>
          </a:p>
        </p:txBody>
      </p:sp>
      <p:sp>
        <p:nvSpPr>
          <p:cNvPr id="31" name="">
            <a:extLst xmlns:a="http://schemas.openxmlformats.org/drawingml/2006/main">
              <a:ext uri="{FF2B5EF4-FFF2-40B4-BE49-F238E27FC236}">
                <a16:creationId xmlns:a16="http://schemas.microsoft.com/office/drawing/2014/main" id="{8AA5CEB6-A9BD-4AE5-AD7B-84B714915A08}"/>
              </a:ext>
            </a:extLst>
          </p:cNvPr>
          <p:cNvSpPr>
            <a:spLocks xmlns:a="http://schemas.openxmlformats.org/drawingml/2006/main" noGrp="1"/>
          </p:cNvSpPr>
          <p:nvPr/>
        </p:nvSpPr>
        <p:spPr>
          <a:xfrm xmlns:a="http://schemas.openxmlformats.org/drawingml/2006/main">
            <a:off x="781050" y="5369379"/>
            <a:ext cx="5286375" cy="612321"/>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2" name="">
            <a:extLst xmlns:a="http://schemas.openxmlformats.org/drawingml/2006/main">
              <a:ext uri="{FF2B5EF4-FFF2-40B4-BE49-F238E27FC236}">
                <a16:creationId xmlns:a16="http://schemas.microsoft.com/office/drawing/2014/main" id="{E1D4CFE0-0976-4008-A1DE-BA4610C90458}"/>
              </a:ext>
            </a:extLst>
          </p:cNvPr>
          <p:cNvSpPr>
            <a:spLocks xmlns:a="http://schemas.openxmlformats.org/drawingml/2006/main" noGrp="1"/>
          </p:cNvSpPr>
          <p:nvPr/>
        </p:nvSpPr>
        <p:spPr>
          <a:xfrm xmlns:a="http://schemas.openxmlformats.org/drawingml/2006/main">
            <a:off x="876300" y="5436054"/>
            <a:ext cx="5095875" cy="4789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Safety and cleanup</a:t>
            </a:r>
          </a:p>
        </p:txBody>
      </p:sp>
      <p:sp>
        <p:nvSpPr>
          <p:cNvPr id="33" name="">
            <a:extLst xmlns:a="http://schemas.openxmlformats.org/drawingml/2006/main">
              <a:ext uri="{FF2B5EF4-FFF2-40B4-BE49-F238E27FC236}">
                <a16:creationId xmlns:a16="http://schemas.microsoft.com/office/drawing/2014/main" id="{624B13C7-BB9C-46B4-BC4D-92E8A7F6B55C}"/>
              </a:ext>
            </a:extLst>
          </p:cNvPr>
          <p:cNvSpPr>
            <a:spLocks xmlns:a="http://schemas.openxmlformats.org/drawingml/2006/main" noGrp="1"/>
          </p:cNvSpPr>
          <p:nvPr/>
        </p:nvSpPr>
        <p:spPr>
          <a:xfrm xmlns:a="http://schemas.openxmlformats.org/drawingml/2006/main">
            <a:off x="6067425" y="5369379"/>
            <a:ext cx="5286375" cy="612321"/>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4" name="">
            <a:extLst xmlns:a="http://schemas.openxmlformats.org/drawingml/2006/main">
              <a:ext uri="{FF2B5EF4-FFF2-40B4-BE49-F238E27FC236}">
                <a16:creationId xmlns:a16="http://schemas.microsoft.com/office/drawing/2014/main" id="{DFC7C6DC-D6BA-4A4D-9820-6AD6128CFF7D}"/>
              </a:ext>
            </a:extLst>
          </p:cNvPr>
          <p:cNvSpPr>
            <a:spLocks xmlns:a="http://schemas.openxmlformats.org/drawingml/2006/main" noGrp="1"/>
          </p:cNvSpPr>
          <p:nvPr/>
        </p:nvSpPr>
        <p:spPr>
          <a:xfrm xmlns:a="http://schemas.openxmlformats.org/drawingml/2006/main">
            <a:off x="6162675" y="5436054"/>
            <a:ext cx="5095875" cy="4789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Sharps container, waste receptacle, absorbent material, and spill supplies when indicated</a:t>
            </a:r>
          </a:p>
        </p:txBody>
      </p:sp>
    </p:spTree>
    <p:extLst>
      <p:ext uri="{BB962C8B-B14F-4D97-AF65-F5344CB8AC3E}">
        <p14:creationId xmlns:p14="http://schemas.microsoft.com/office/powerpoint/2010/main" val="941109996"/>
      </p:ext>
    </p:extLst>
  </p:cSld>
</p:sld>
</file>

<file path=ppt/slides/slide1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9343D65E-52DC-4F6F-961C-F9883D959AC2}"/>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277FA071-D0E7-4720-9AEA-76DA9425C9E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03641551-EB55-4841-987F-B8C7E1886367}"/>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62054E68-EA3F-4BC5-B0D8-0CDCFCD3C13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Extremities and sites that need special caution</a:t>
            </a:r>
          </a:p>
        </p:txBody>
      </p:sp>
      <p:sp>
        <p:nvSpPr>
          <p:cNvPr id="5" name="">
            <a:extLst xmlns:a="http://schemas.openxmlformats.org/drawingml/2006/main">
              <a:ext uri="{FF2B5EF4-FFF2-40B4-BE49-F238E27FC236}">
                <a16:creationId xmlns:a16="http://schemas.microsoft.com/office/drawing/2014/main" id="{466DF0B1-0EE2-43EE-8985-A8463279CAD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6" name="">
            <a:extLst xmlns:a="http://schemas.openxmlformats.org/drawingml/2006/main">
              <a:ext uri="{FF2B5EF4-FFF2-40B4-BE49-F238E27FC236}">
                <a16:creationId xmlns:a16="http://schemas.microsoft.com/office/drawing/2014/main" id="{257A4102-738B-4409-9741-008B6C36C4B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17</a:t>
            </a:r>
          </a:p>
        </p:txBody>
      </p:sp>
      <p:sp>
        <p:nvSpPr>
          <p:cNvPr id="7" name="">
            <a:extLst xmlns:a="http://schemas.openxmlformats.org/drawingml/2006/main">
              <a:ext uri="{FF2B5EF4-FFF2-40B4-BE49-F238E27FC236}">
                <a16:creationId xmlns:a16="http://schemas.microsoft.com/office/drawing/2014/main" id="{E2584CC0-885E-4526-A348-22287152D546}"/>
              </a:ext>
            </a:extLst>
          </p:cNvPr>
          <p:cNvSpPr>
            <a:spLocks xmlns:a="http://schemas.openxmlformats.org/drawingml/2006/main" noGrp="1"/>
          </p:cNvSpPr>
          <p:nvPr/>
        </p:nvSpPr>
        <p:spPr>
          <a:xfrm xmlns:a="http://schemas.openxmlformats.org/drawingml/2006/main">
            <a:off x="781050" y="1695450"/>
            <a:ext cx="5286375"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379A0D5E-9E9A-48C1-A90F-E57045F178C3}"/>
              </a:ext>
            </a:extLst>
          </p:cNvPr>
          <p:cNvSpPr>
            <a:spLocks xmlns:a="http://schemas.openxmlformats.org/drawingml/2006/main" noGrp="1"/>
          </p:cNvSpPr>
          <p:nvPr/>
        </p:nvSpPr>
        <p:spPr>
          <a:xfrm xmlns:a="http://schemas.openxmlformats.org/drawingml/2006/main">
            <a:off x="876300" y="17621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Finding or history</a:t>
            </a:r>
          </a:p>
        </p:txBody>
      </p:sp>
      <p:sp>
        <p:nvSpPr>
          <p:cNvPr id="9" name="">
            <a:extLst xmlns:a="http://schemas.openxmlformats.org/drawingml/2006/main">
              <a:ext uri="{FF2B5EF4-FFF2-40B4-BE49-F238E27FC236}">
                <a16:creationId xmlns:a16="http://schemas.microsoft.com/office/drawing/2014/main" id="{702C8745-38AC-452F-988A-9815336F5E25}"/>
              </a:ext>
            </a:extLst>
          </p:cNvPr>
          <p:cNvSpPr>
            <a:spLocks xmlns:a="http://schemas.openxmlformats.org/drawingml/2006/main" noGrp="1"/>
          </p:cNvSpPr>
          <p:nvPr/>
        </p:nvSpPr>
        <p:spPr>
          <a:xfrm xmlns:a="http://schemas.openxmlformats.org/drawingml/2006/main">
            <a:off x="6067425" y="1695450"/>
            <a:ext cx="5286375"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3A4A4EB3-E426-4FF2-BB0F-17CE5FA63261}"/>
              </a:ext>
            </a:extLst>
          </p:cNvPr>
          <p:cNvSpPr>
            <a:spLocks xmlns:a="http://schemas.openxmlformats.org/drawingml/2006/main" noGrp="1"/>
          </p:cNvSpPr>
          <p:nvPr/>
        </p:nvSpPr>
        <p:spPr>
          <a:xfrm xmlns:a="http://schemas.openxmlformats.org/drawingml/2006/main">
            <a:off x="6162675" y="17621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Action</a:t>
            </a:r>
          </a:p>
        </p:txBody>
      </p:sp>
      <p:sp>
        <p:nvSpPr>
          <p:cNvPr id="11" name="">
            <a:extLst xmlns:a="http://schemas.openxmlformats.org/drawingml/2006/main">
              <a:ext uri="{FF2B5EF4-FFF2-40B4-BE49-F238E27FC236}">
                <a16:creationId xmlns:a16="http://schemas.microsoft.com/office/drawing/2014/main" id="{964A71E1-6A7F-4D43-9D4F-6E8192E3E3AB}"/>
              </a:ext>
            </a:extLst>
          </p:cNvPr>
          <p:cNvSpPr>
            <a:spLocks xmlns:a="http://schemas.openxmlformats.org/drawingml/2006/main" noGrp="1"/>
          </p:cNvSpPr>
          <p:nvPr/>
        </p:nvSpPr>
        <p:spPr>
          <a:xfrm xmlns:a="http://schemas.openxmlformats.org/drawingml/2006/main">
            <a:off x="781050" y="24098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3ABFA240-F560-442C-88C1-3016A91307CA}"/>
              </a:ext>
            </a:extLst>
          </p:cNvPr>
          <p:cNvSpPr>
            <a:spLocks xmlns:a="http://schemas.openxmlformats.org/drawingml/2006/main" noGrp="1"/>
          </p:cNvSpPr>
          <p:nvPr/>
        </p:nvSpPr>
        <p:spPr>
          <a:xfrm xmlns:a="http://schemas.openxmlformats.org/drawingml/2006/main">
            <a:off x="876300" y="24765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Infection, burn, wound, hematoma, or impaired circulation</a:t>
            </a:r>
          </a:p>
        </p:txBody>
      </p:sp>
      <p:sp>
        <p:nvSpPr>
          <p:cNvPr id="13" name="">
            <a:extLst xmlns:a="http://schemas.openxmlformats.org/drawingml/2006/main">
              <a:ext uri="{FF2B5EF4-FFF2-40B4-BE49-F238E27FC236}">
                <a16:creationId xmlns:a16="http://schemas.microsoft.com/office/drawing/2014/main" id="{5A95B7F8-A2F3-4EEC-8298-A9AC745E8C32}"/>
              </a:ext>
            </a:extLst>
          </p:cNvPr>
          <p:cNvSpPr>
            <a:spLocks xmlns:a="http://schemas.openxmlformats.org/drawingml/2006/main" noGrp="1"/>
          </p:cNvSpPr>
          <p:nvPr/>
        </p:nvSpPr>
        <p:spPr>
          <a:xfrm xmlns:a="http://schemas.openxmlformats.org/drawingml/2006/main">
            <a:off x="6067425" y="24098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F5FEF107-4AFE-4547-8D19-879509ECB5E2}"/>
              </a:ext>
            </a:extLst>
          </p:cNvPr>
          <p:cNvSpPr>
            <a:spLocks xmlns:a="http://schemas.openxmlformats.org/drawingml/2006/main" noGrp="1"/>
          </p:cNvSpPr>
          <p:nvPr/>
        </p:nvSpPr>
        <p:spPr>
          <a:xfrm xmlns:a="http://schemas.openxmlformats.org/drawingml/2006/main">
            <a:off x="6162675" y="24765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Avoid the affected site and select a safer location</a:t>
            </a:r>
          </a:p>
        </p:txBody>
      </p:sp>
      <p:sp>
        <p:nvSpPr>
          <p:cNvPr id="15" name="">
            <a:extLst xmlns:a="http://schemas.openxmlformats.org/drawingml/2006/main">
              <a:ext uri="{FF2B5EF4-FFF2-40B4-BE49-F238E27FC236}">
                <a16:creationId xmlns:a16="http://schemas.microsoft.com/office/drawing/2014/main" id="{A55710EF-5AB6-4BCC-8C7A-1932716CCBF1}"/>
              </a:ext>
            </a:extLst>
          </p:cNvPr>
          <p:cNvSpPr>
            <a:spLocks xmlns:a="http://schemas.openxmlformats.org/drawingml/2006/main" noGrp="1"/>
          </p:cNvSpPr>
          <p:nvPr/>
        </p:nvSpPr>
        <p:spPr>
          <a:xfrm xmlns:a="http://schemas.openxmlformats.org/drawingml/2006/main">
            <a:off x="781050" y="312420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0A42CE26-7FF7-4A8C-B9B3-995B6DAE67C0}"/>
              </a:ext>
            </a:extLst>
          </p:cNvPr>
          <p:cNvSpPr>
            <a:spLocks xmlns:a="http://schemas.openxmlformats.org/drawingml/2006/main" noGrp="1"/>
          </p:cNvSpPr>
          <p:nvPr/>
        </p:nvSpPr>
        <p:spPr>
          <a:xfrm xmlns:a="http://schemas.openxmlformats.org/drawingml/2006/main">
            <a:off x="876300" y="319087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Dialysis fistula or graft</a:t>
            </a:r>
          </a:p>
        </p:txBody>
      </p:sp>
      <p:sp>
        <p:nvSpPr>
          <p:cNvPr id="17" name="">
            <a:extLst xmlns:a="http://schemas.openxmlformats.org/drawingml/2006/main">
              <a:ext uri="{FF2B5EF4-FFF2-40B4-BE49-F238E27FC236}">
                <a16:creationId xmlns:a16="http://schemas.microsoft.com/office/drawing/2014/main" id="{736AEECD-B123-4626-9FF3-91FA4E542F21}"/>
              </a:ext>
            </a:extLst>
          </p:cNvPr>
          <p:cNvSpPr>
            <a:spLocks xmlns:a="http://schemas.openxmlformats.org/drawingml/2006/main" noGrp="1"/>
          </p:cNvSpPr>
          <p:nvPr/>
        </p:nvSpPr>
        <p:spPr>
          <a:xfrm xmlns:a="http://schemas.openxmlformats.org/drawingml/2006/main">
            <a:off x="6067425" y="312420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5446B023-E62B-4C5B-ACFB-FBB4B4A5E469}"/>
              </a:ext>
            </a:extLst>
          </p:cNvPr>
          <p:cNvSpPr>
            <a:spLocks xmlns:a="http://schemas.openxmlformats.org/drawingml/2006/main" noGrp="1"/>
          </p:cNvSpPr>
          <p:nvPr/>
        </p:nvSpPr>
        <p:spPr>
          <a:xfrm xmlns:a="http://schemas.openxmlformats.org/drawingml/2006/main">
            <a:off x="6162675" y="319087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Do not use the extremity unless a specialist-specific emergency protocol authorizes it</a:t>
            </a:r>
          </a:p>
        </p:txBody>
      </p:sp>
      <p:sp>
        <p:nvSpPr>
          <p:cNvPr id="19" name="">
            <a:extLst xmlns:a="http://schemas.openxmlformats.org/drawingml/2006/main">
              <a:ext uri="{FF2B5EF4-FFF2-40B4-BE49-F238E27FC236}">
                <a16:creationId xmlns:a16="http://schemas.microsoft.com/office/drawing/2014/main" id="{A49F5645-4889-428C-99F1-F0DD278ADAFD}"/>
              </a:ext>
            </a:extLst>
          </p:cNvPr>
          <p:cNvSpPr>
            <a:spLocks xmlns:a="http://schemas.openxmlformats.org/drawingml/2006/main" noGrp="1"/>
          </p:cNvSpPr>
          <p:nvPr/>
        </p:nvSpPr>
        <p:spPr>
          <a:xfrm xmlns:a="http://schemas.openxmlformats.org/drawingml/2006/main">
            <a:off x="781050" y="383857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666DCC66-BDED-4370-8C63-F7E57D02F151}"/>
              </a:ext>
            </a:extLst>
          </p:cNvPr>
          <p:cNvSpPr>
            <a:spLocks xmlns:a="http://schemas.openxmlformats.org/drawingml/2006/main" noGrp="1"/>
          </p:cNvSpPr>
          <p:nvPr/>
        </p:nvSpPr>
        <p:spPr>
          <a:xfrm xmlns:a="http://schemas.openxmlformats.org/drawingml/2006/main">
            <a:off x="876300" y="390525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Lymph-node surgery, mastectomy, or lymphedema risk</a:t>
            </a:r>
          </a:p>
        </p:txBody>
      </p:sp>
      <p:sp>
        <p:nvSpPr>
          <p:cNvPr id="21" name="">
            <a:extLst xmlns:a="http://schemas.openxmlformats.org/drawingml/2006/main">
              <a:ext uri="{FF2B5EF4-FFF2-40B4-BE49-F238E27FC236}">
                <a16:creationId xmlns:a16="http://schemas.microsoft.com/office/drawing/2014/main" id="{C31A847D-CFF8-472B-B098-C0EE6E4FF4E5}"/>
              </a:ext>
            </a:extLst>
          </p:cNvPr>
          <p:cNvSpPr>
            <a:spLocks xmlns:a="http://schemas.openxmlformats.org/drawingml/2006/main" noGrp="1"/>
          </p:cNvSpPr>
          <p:nvPr/>
        </p:nvSpPr>
        <p:spPr>
          <a:xfrm xmlns:a="http://schemas.openxmlformats.org/drawingml/2006/main">
            <a:off x="6067425" y="383857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E4994192-A766-4D76-98D4-3E7E74F11CF6}"/>
              </a:ext>
            </a:extLst>
          </p:cNvPr>
          <p:cNvSpPr>
            <a:spLocks xmlns:a="http://schemas.openxmlformats.org/drawingml/2006/main" noGrp="1"/>
          </p:cNvSpPr>
          <p:nvPr/>
        </p:nvSpPr>
        <p:spPr>
          <a:xfrm xmlns:a="http://schemas.openxmlformats.org/drawingml/2006/main">
            <a:off x="6162675" y="390525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Follow the current patient-specific restriction and facility policy</a:t>
            </a:r>
          </a:p>
        </p:txBody>
      </p:sp>
      <p:sp>
        <p:nvSpPr>
          <p:cNvPr id="23" name="">
            <a:extLst xmlns:a="http://schemas.openxmlformats.org/drawingml/2006/main">
              <a:ext uri="{FF2B5EF4-FFF2-40B4-BE49-F238E27FC236}">
                <a16:creationId xmlns:a16="http://schemas.microsoft.com/office/drawing/2014/main" id="{1DC4C278-07C6-44A2-8CA8-3A0DF46FBCCB}"/>
              </a:ext>
            </a:extLst>
          </p:cNvPr>
          <p:cNvSpPr>
            <a:spLocks xmlns:a="http://schemas.openxmlformats.org/drawingml/2006/main" noGrp="1"/>
          </p:cNvSpPr>
          <p:nvPr/>
        </p:nvSpPr>
        <p:spPr>
          <a:xfrm xmlns:a="http://schemas.openxmlformats.org/drawingml/2006/main">
            <a:off x="781050" y="455295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DC00EB97-2BA2-4419-821E-A2411C03B93D}"/>
              </a:ext>
            </a:extLst>
          </p:cNvPr>
          <p:cNvSpPr>
            <a:spLocks xmlns:a="http://schemas.openxmlformats.org/drawingml/2006/main" noGrp="1"/>
          </p:cNvSpPr>
          <p:nvPr/>
        </p:nvSpPr>
        <p:spPr>
          <a:xfrm xmlns:a="http://schemas.openxmlformats.org/drawingml/2006/main">
            <a:off x="876300" y="46196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Paralysis or reduced sensation</a:t>
            </a:r>
          </a:p>
        </p:txBody>
      </p:sp>
      <p:sp>
        <p:nvSpPr>
          <p:cNvPr id="25" name="">
            <a:extLst xmlns:a="http://schemas.openxmlformats.org/drawingml/2006/main">
              <a:ext uri="{FF2B5EF4-FFF2-40B4-BE49-F238E27FC236}">
                <a16:creationId xmlns:a16="http://schemas.microsoft.com/office/drawing/2014/main" id="{63DE03D6-A190-4BBC-92F7-BAB5558BEBFB}"/>
              </a:ext>
            </a:extLst>
          </p:cNvPr>
          <p:cNvSpPr>
            <a:spLocks xmlns:a="http://schemas.openxmlformats.org/drawingml/2006/main" noGrp="1"/>
          </p:cNvSpPr>
          <p:nvPr/>
        </p:nvSpPr>
        <p:spPr>
          <a:xfrm xmlns:a="http://schemas.openxmlformats.org/drawingml/2006/main">
            <a:off x="6067425" y="455295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F805839C-0AC2-4289-9D0C-8DD61DD42586}"/>
              </a:ext>
            </a:extLst>
          </p:cNvPr>
          <p:cNvSpPr>
            <a:spLocks xmlns:a="http://schemas.openxmlformats.org/drawingml/2006/main" noGrp="1"/>
          </p:cNvSpPr>
          <p:nvPr/>
        </p:nvSpPr>
        <p:spPr>
          <a:xfrm xmlns:a="http://schemas.openxmlformats.org/drawingml/2006/main">
            <a:off x="6162675" y="46196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Avoid when possible because injury or complication may go unrecognized</a:t>
            </a:r>
          </a:p>
        </p:txBody>
      </p:sp>
      <p:sp>
        <p:nvSpPr>
          <p:cNvPr id="27" name="">
            <a:extLst xmlns:a="http://schemas.openxmlformats.org/drawingml/2006/main">
              <a:ext uri="{FF2B5EF4-FFF2-40B4-BE49-F238E27FC236}">
                <a16:creationId xmlns:a16="http://schemas.microsoft.com/office/drawing/2014/main" id="{F6D8695F-0A7C-4E33-85ED-B4FAC869D7C3}"/>
              </a:ext>
            </a:extLst>
          </p:cNvPr>
          <p:cNvSpPr>
            <a:spLocks xmlns:a="http://schemas.openxmlformats.org/drawingml/2006/main" noGrp="1"/>
          </p:cNvSpPr>
          <p:nvPr/>
        </p:nvSpPr>
        <p:spPr>
          <a:xfrm xmlns:a="http://schemas.openxmlformats.org/drawingml/2006/main">
            <a:off x="781050" y="52673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3D16F50A-C822-4894-9143-D29FE60D1012}"/>
              </a:ext>
            </a:extLst>
          </p:cNvPr>
          <p:cNvSpPr>
            <a:spLocks xmlns:a="http://schemas.openxmlformats.org/drawingml/2006/main" noGrp="1"/>
          </p:cNvSpPr>
          <p:nvPr/>
        </p:nvSpPr>
        <p:spPr>
          <a:xfrm xmlns:a="http://schemas.openxmlformats.org/drawingml/2006/main">
            <a:off x="876300" y="53340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Lower extremity in an adult</a:t>
            </a:r>
          </a:p>
        </p:txBody>
      </p:sp>
      <p:sp>
        <p:nvSpPr>
          <p:cNvPr id="29" name="">
            <a:extLst xmlns:a="http://schemas.openxmlformats.org/drawingml/2006/main">
              <a:ext uri="{FF2B5EF4-FFF2-40B4-BE49-F238E27FC236}">
                <a16:creationId xmlns:a16="http://schemas.microsoft.com/office/drawing/2014/main" id="{8CAAE758-48FA-42DE-8578-780627D6A8A5}"/>
              </a:ext>
            </a:extLst>
          </p:cNvPr>
          <p:cNvSpPr>
            <a:spLocks xmlns:a="http://schemas.openxmlformats.org/drawingml/2006/main" noGrp="1"/>
          </p:cNvSpPr>
          <p:nvPr/>
        </p:nvSpPr>
        <p:spPr>
          <a:xfrm xmlns:a="http://schemas.openxmlformats.org/drawingml/2006/main">
            <a:off x="6067425" y="52673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535C6B41-6399-444F-A378-57BE3094CA20}"/>
              </a:ext>
            </a:extLst>
          </p:cNvPr>
          <p:cNvSpPr>
            <a:spLocks xmlns:a="http://schemas.openxmlformats.org/drawingml/2006/main" noGrp="1"/>
          </p:cNvSpPr>
          <p:nvPr/>
        </p:nvSpPr>
        <p:spPr>
          <a:xfrm xmlns:a="http://schemas.openxmlformats.org/drawingml/2006/main">
            <a:off x="6162675" y="53340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Use only when clinically authorized and replace with safer access as directed</a:t>
            </a:r>
          </a:p>
        </p:txBody>
      </p:sp>
    </p:spTree>
    <p:extLst>
      <p:ext uri="{BB962C8B-B14F-4D97-AF65-F5344CB8AC3E}">
        <p14:creationId xmlns:p14="http://schemas.microsoft.com/office/powerpoint/2010/main" val="1110376534"/>
      </p:ext>
    </p:extLst>
  </p:cSld>
</p:sld>
</file>

<file path=ppt/slides/slide1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43" name="">
            <a:extLst xmlns:a="http://schemas.openxmlformats.org/drawingml/2006/main">
              <a:ext uri="{FF2B5EF4-FFF2-40B4-BE49-F238E27FC236}">
                <a16:creationId xmlns:a16="http://schemas.microsoft.com/office/drawing/2014/main" id="{8C8EB2E1-6912-4AB2-92FE-D124BDB1D03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E6B97057-B35A-4924-A94D-308741978E9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7B0E787F-78FD-4011-92D6-CA754C008DBA}"/>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E4D95D77-B10D-41BE-9290-8F3ECE9AB8D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Primary and secondary administration sets</a:t>
            </a:r>
          </a:p>
        </p:txBody>
      </p:sp>
      <p:sp>
        <p:nvSpPr>
          <p:cNvPr id="5" name="">
            <a:extLst xmlns:a="http://schemas.openxmlformats.org/drawingml/2006/main">
              <a:ext uri="{FF2B5EF4-FFF2-40B4-BE49-F238E27FC236}">
                <a16:creationId xmlns:a16="http://schemas.microsoft.com/office/drawing/2014/main" id="{3A88537A-721D-49B6-936E-8F6ADEA7554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6" name="">
            <a:extLst xmlns:a="http://schemas.openxmlformats.org/drawingml/2006/main">
              <a:ext uri="{FF2B5EF4-FFF2-40B4-BE49-F238E27FC236}">
                <a16:creationId xmlns:a16="http://schemas.microsoft.com/office/drawing/2014/main" id="{79835F0C-9295-49F4-8A1C-0D61BCD5ADF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18</a:t>
            </a:r>
          </a:p>
        </p:txBody>
      </p:sp>
      <p:sp>
        <p:nvSpPr>
          <p:cNvPr id="7" name="">
            <a:extLst xmlns:a="http://schemas.openxmlformats.org/drawingml/2006/main">
              <a:ext uri="{FF2B5EF4-FFF2-40B4-BE49-F238E27FC236}">
                <a16:creationId xmlns:a16="http://schemas.microsoft.com/office/drawing/2014/main" id="{A408BF6B-7713-4790-97DF-48A5E40D9CCD}"/>
              </a:ext>
            </a:extLst>
          </p:cNvPr>
          <p:cNvSpPr>
            <a:spLocks xmlns:a="http://schemas.openxmlformats.org/drawingml/2006/main" noGrp="1"/>
          </p:cNvSpPr>
          <p:nvPr/>
        </p:nvSpPr>
        <p:spPr>
          <a:xfrm xmlns:a="http://schemas.openxmlformats.org/drawingml/2006/main">
            <a:off x="781050" y="1695450"/>
            <a:ext cx="3524250"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3C0174AE-C0E9-44BF-B8C5-97D69C625569}"/>
              </a:ext>
            </a:extLst>
          </p:cNvPr>
          <p:cNvSpPr>
            <a:spLocks xmlns:a="http://schemas.openxmlformats.org/drawingml/2006/main" noGrp="1"/>
          </p:cNvSpPr>
          <p:nvPr/>
        </p:nvSpPr>
        <p:spPr>
          <a:xfrm xmlns:a="http://schemas.openxmlformats.org/drawingml/2006/main">
            <a:off x="876300" y="1762125"/>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Equipment</a:t>
            </a:r>
          </a:p>
        </p:txBody>
      </p:sp>
      <p:sp>
        <p:nvSpPr>
          <p:cNvPr id="9" name="">
            <a:extLst xmlns:a="http://schemas.openxmlformats.org/drawingml/2006/main">
              <a:ext uri="{FF2B5EF4-FFF2-40B4-BE49-F238E27FC236}">
                <a16:creationId xmlns:a16="http://schemas.microsoft.com/office/drawing/2014/main" id="{95A64DAD-9454-48B5-8CE9-4555AA867483}"/>
              </a:ext>
            </a:extLst>
          </p:cNvPr>
          <p:cNvSpPr>
            <a:spLocks xmlns:a="http://schemas.openxmlformats.org/drawingml/2006/main" noGrp="1"/>
          </p:cNvSpPr>
          <p:nvPr/>
        </p:nvSpPr>
        <p:spPr>
          <a:xfrm xmlns:a="http://schemas.openxmlformats.org/drawingml/2006/main">
            <a:off x="4305300" y="1695450"/>
            <a:ext cx="3524250"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3F4F15A8-F836-4AEE-B6C8-1A582074F9B5}"/>
              </a:ext>
            </a:extLst>
          </p:cNvPr>
          <p:cNvSpPr>
            <a:spLocks xmlns:a="http://schemas.openxmlformats.org/drawingml/2006/main" noGrp="1"/>
          </p:cNvSpPr>
          <p:nvPr/>
        </p:nvSpPr>
        <p:spPr>
          <a:xfrm xmlns:a="http://schemas.openxmlformats.org/drawingml/2006/main">
            <a:off x="4400550" y="1762125"/>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Purpose</a:t>
            </a:r>
          </a:p>
        </p:txBody>
      </p:sp>
      <p:sp>
        <p:nvSpPr>
          <p:cNvPr id="11" name="">
            <a:extLst xmlns:a="http://schemas.openxmlformats.org/drawingml/2006/main">
              <a:ext uri="{FF2B5EF4-FFF2-40B4-BE49-F238E27FC236}">
                <a16:creationId xmlns:a16="http://schemas.microsoft.com/office/drawing/2014/main" id="{4F66EBED-3BB4-4C1D-A3BB-685AF288ED0A}"/>
              </a:ext>
            </a:extLst>
          </p:cNvPr>
          <p:cNvSpPr>
            <a:spLocks xmlns:a="http://schemas.openxmlformats.org/drawingml/2006/main" noGrp="1"/>
          </p:cNvSpPr>
          <p:nvPr/>
        </p:nvSpPr>
        <p:spPr>
          <a:xfrm xmlns:a="http://schemas.openxmlformats.org/drawingml/2006/main">
            <a:off x="7829550" y="1695450"/>
            <a:ext cx="3524250"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981677B2-7C08-4D98-B8A8-2DFE17E2519A}"/>
              </a:ext>
            </a:extLst>
          </p:cNvPr>
          <p:cNvSpPr>
            <a:spLocks xmlns:a="http://schemas.openxmlformats.org/drawingml/2006/main" noGrp="1"/>
          </p:cNvSpPr>
          <p:nvPr/>
        </p:nvSpPr>
        <p:spPr>
          <a:xfrm xmlns:a="http://schemas.openxmlformats.org/drawingml/2006/main">
            <a:off x="7924800" y="1762125"/>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Safety check</a:t>
            </a:r>
          </a:p>
        </p:txBody>
      </p:sp>
      <p:sp>
        <p:nvSpPr>
          <p:cNvPr id="13" name="">
            <a:extLst xmlns:a="http://schemas.openxmlformats.org/drawingml/2006/main">
              <a:ext uri="{FF2B5EF4-FFF2-40B4-BE49-F238E27FC236}">
                <a16:creationId xmlns:a16="http://schemas.microsoft.com/office/drawing/2014/main" id="{8069323A-5DA6-4E1A-B0E8-02B4C70B3421}"/>
              </a:ext>
            </a:extLst>
          </p:cNvPr>
          <p:cNvSpPr>
            <a:spLocks xmlns:a="http://schemas.openxmlformats.org/drawingml/2006/main" noGrp="1"/>
          </p:cNvSpPr>
          <p:nvPr/>
        </p:nvSpPr>
        <p:spPr>
          <a:xfrm xmlns:a="http://schemas.openxmlformats.org/drawingml/2006/main">
            <a:off x="781050" y="2409825"/>
            <a:ext cx="3524250"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7B270A8D-AD88-493B-8E01-C121915E7B3E}"/>
              </a:ext>
            </a:extLst>
          </p:cNvPr>
          <p:cNvSpPr>
            <a:spLocks xmlns:a="http://schemas.openxmlformats.org/drawingml/2006/main" noGrp="1"/>
          </p:cNvSpPr>
          <p:nvPr/>
        </p:nvSpPr>
        <p:spPr>
          <a:xfrm xmlns:a="http://schemas.openxmlformats.org/drawingml/2006/main">
            <a:off x="876300" y="2476500"/>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Macrodrip set</a:t>
            </a:r>
          </a:p>
        </p:txBody>
      </p:sp>
      <p:sp>
        <p:nvSpPr>
          <p:cNvPr id="15" name="">
            <a:extLst xmlns:a="http://schemas.openxmlformats.org/drawingml/2006/main">
              <a:ext uri="{FF2B5EF4-FFF2-40B4-BE49-F238E27FC236}">
                <a16:creationId xmlns:a16="http://schemas.microsoft.com/office/drawing/2014/main" id="{34E269C8-B07C-4BE1-9CB9-46D90E09FFB9}"/>
              </a:ext>
            </a:extLst>
          </p:cNvPr>
          <p:cNvSpPr>
            <a:spLocks xmlns:a="http://schemas.openxmlformats.org/drawingml/2006/main" noGrp="1"/>
          </p:cNvSpPr>
          <p:nvPr/>
        </p:nvSpPr>
        <p:spPr>
          <a:xfrm xmlns:a="http://schemas.openxmlformats.org/drawingml/2006/main">
            <a:off x="4305300" y="2409825"/>
            <a:ext cx="3524250"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D9501A2C-33EF-4235-BA35-AC5EE3675B77}"/>
              </a:ext>
            </a:extLst>
          </p:cNvPr>
          <p:cNvSpPr>
            <a:spLocks xmlns:a="http://schemas.openxmlformats.org/drawingml/2006/main" noGrp="1"/>
          </p:cNvSpPr>
          <p:nvPr/>
        </p:nvSpPr>
        <p:spPr>
          <a:xfrm xmlns:a="http://schemas.openxmlformats.org/drawingml/2006/main">
            <a:off x="4400550" y="2476500"/>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Gravity delivery with a manufacturer-specified drop factor</a:t>
            </a:r>
          </a:p>
        </p:txBody>
      </p:sp>
      <p:sp>
        <p:nvSpPr>
          <p:cNvPr id="17" name="">
            <a:extLst xmlns:a="http://schemas.openxmlformats.org/drawingml/2006/main">
              <a:ext uri="{FF2B5EF4-FFF2-40B4-BE49-F238E27FC236}">
                <a16:creationId xmlns:a16="http://schemas.microsoft.com/office/drawing/2014/main" id="{1C5E7A6F-E98E-42F3-9179-1E274DEA4101}"/>
              </a:ext>
            </a:extLst>
          </p:cNvPr>
          <p:cNvSpPr>
            <a:spLocks xmlns:a="http://schemas.openxmlformats.org/drawingml/2006/main" noGrp="1"/>
          </p:cNvSpPr>
          <p:nvPr/>
        </p:nvSpPr>
        <p:spPr>
          <a:xfrm xmlns:a="http://schemas.openxmlformats.org/drawingml/2006/main">
            <a:off x="7829550" y="2409825"/>
            <a:ext cx="3524250"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434F6387-D958-42EA-8471-090578BFE833}"/>
              </a:ext>
            </a:extLst>
          </p:cNvPr>
          <p:cNvSpPr>
            <a:spLocks xmlns:a="http://schemas.openxmlformats.org/drawingml/2006/main" noGrp="1"/>
          </p:cNvSpPr>
          <p:nvPr/>
        </p:nvSpPr>
        <p:spPr>
          <a:xfrm xmlns:a="http://schemas.openxmlformats.org/drawingml/2006/main">
            <a:off x="7924800" y="2476500"/>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Read the actual package; never assume 10, 15, or 20 gtt/mL</a:t>
            </a:r>
          </a:p>
        </p:txBody>
      </p:sp>
      <p:sp>
        <p:nvSpPr>
          <p:cNvPr id="19" name="">
            <a:extLst xmlns:a="http://schemas.openxmlformats.org/drawingml/2006/main">
              <a:ext uri="{FF2B5EF4-FFF2-40B4-BE49-F238E27FC236}">
                <a16:creationId xmlns:a16="http://schemas.microsoft.com/office/drawing/2014/main" id="{ABB36E7E-1434-40FE-824D-B5E8EBED98DA}"/>
              </a:ext>
            </a:extLst>
          </p:cNvPr>
          <p:cNvSpPr>
            <a:spLocks xmlns:a="http://schemas.openxmlformats.org/drawingml/2006/main" noGrp="1"/>
          </p:cNvSpPr>
          <p:nvPr/>
        </p:nvSpPr>
        <p:spPr>
          <a:xfrm xmlns:a="http://schemas.openxmlformats.org/drawingml/2006/main">
            <a:off x="781050" y="3124200"/>
            <a:ext cx="3524250"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BE9D4B5C-5CD4-4EDF-96D2-E840EE3627D4}"/>
              </a:ext>
            </a:extLst>
          </p:cNvPr>
          <p:cNvSpPr>
            <a:spLocks xmlns:a="http://schemas.openxmlformats.org/drawingml/2006/main" noGrp="1"/>
          </p:cNvSpPr>
          <p:nvPr/>
        </p:nvSpPr>
        <p:spPr>
          <a:xfrm xmlns:a="http://schemas.openxmlformats.org/drawingml/2006/main">
            <a:off x="876300" y="3190875"/>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Microdrip set</a:t>
            </a:r>
          </a:p>
        </p:txBody>
      </p:sp>
      <p:sp>
        <p:nvSpPr>
          <p:cNvPr id="21" name="">
            <a:extLst xmlns:a="http://schemas.openxmlformats.org/drawingml/2006/main">
              <a:ext uri="{FF2B5EF4-FFF2-40B4-BE49-F238E27FC236}">
                <a16:creationId xmlns:a16="http://schemas.microsoft.com/office/drawing/2014/main" id="{E070B212-2622-4951-BBD4-B2EE113769B3}"/>
              </a:ext>
            </a:extLst>
          </p:cNvPr>
          <p:cNvSpPr>
            <a:spLocks xmlns:a="http://schemas.openxmlformats.org/drawingml/2006/main" noGrp="1"/>
          </p:cNvSpPr>
          <p:nvPr/>
        </p:nvSpPr>
        <p:spPr>
          <a:xfrm xmlns:a="http://schemas.openxmlformats.org/drawingml/2006/main">
            <a:off x="4305300" y="3124200"/>
            <a:ext cx="3524250"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3E6CAB2B-3C3C-4784-A73C-AA9AFAE9B779}"/>
              </a:ext>
            </a:extLst>
          </p:cNvPr>
          <p:cNvSpPr>
            <a:spLocks xmlns:a="http://schemas.openxmlformats.org/drawingml/2006/main" noGrp="1"/>
          </p:cNvSpPr>
          <p:nvPr/>
        </p:nvSpPr>
        <p:spPr>
          <a:xfrm xmlns:a="http://schemas.openxmlformats.org/drawingml/2006/main">
            <a:off x="4400550" y="3190875"/>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Fine gravity control, commonly 60 gtt/mL</a:t>
            </a:r>
          </a:p>
        </p:txBody>
      </p:sp>
      <p:sp>
        <p:nvSpPr>
          <p:cNvPr id="23" name="">
            <a:extLst xmlns:a="http://schemas.openxmlformats.org/drawingml/2006/main">
              <a:ext uri="{FF2B5EF4-FFF2-40B4-BE49-F238E27FC236}">
                <a16:creationId xmlns:a16="http://schemas.microsoft.com/office/drawing/2014/main" id="{589F4F71-3A24-485A-B727-FA8365A7555B}"/>
              </a:ext>
            </a:extLst>
          </p:cNvPr>
          <p:cNvSpPr>
            <a:spLocks xmlns:a="http://schemas.openxmlformats.org/drawingml/2006/main" noGrp="1"/>
          </p:cNvSpPr>
          <p:nvPr/>
        </p:nvSpPr>
        <p:spPr>
          <a:xfrm xmlns:a="http://schemas.openxmlformats.org/drawingml/2006/main">
            <a:off x="7829550" y="3124200"/>
            <a:ext cx="3524250"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0AD855BE-6CDF-4E0D-A49A-DEA834B32CAB}"/>
              </a:ext>
            </a:extLst>
          </p:cNvPr>
          <p:cNvSpPr>
            <a:spLocks xmlns:a="http://schemas.openxmlformats.org/drawingml/2006/main" noGrp="1"/>
          </p:cNvSpPr>
          <p:nvPr/>
        </p:nvSpPr>
        <p:spPr>
          <a:xfrm xmlns:a="http://schemas.openxmlformats.org/drawingml/2006/main">
            <a:off x="7924800" y="3190875"/>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Confirm package and patient-specific use</a:t>
            </a:r>
          </a:p>
        </p:txBody>
      </p:sp>
      <p:sp>
        <p:nvSpPr>
          <p:cNvPr id="25" name="">
            <a:extLst xmlns:a="http://schemas.openxmlformats.org/drawingml/2006/main">
              <a:ext uri="{FF2B5EF4-FFF2-40B4-BE49-F238E27FC236}">
                <a16:creationId xmlns:a16="http://schemas.microsoft.com/office/drawing/2014/main" id="{1A8AC1FE-38C8-4E44-B0CD-46E118A66E86}"/>
              </a:ext>
            </a:extLst>
          </p:cNvPr>
          <p:cNvSpPr>
            <a:spLocks xmlns:a="http://schemas.openxmlformats.org/drawingml/2006/main" noGrp="1"/>
          </p:cNvSpPr>
          <p:nvPr/>
        </p:nvSpPr>
        <p:spPr>
          <a:xfrm xmlns:a="http://schemas.openxmlformats.org/drawingml/2006/main">
            <a:off x="781050" y="3838575"/>
            <a:ext cx="3524250"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7A0F893D-F472-4461-B68C-653164B896EE}"/>
              </a:ext>
            </a:extLst>
          </p:cNvPr>
          <p:cNvSpPr>
            <a:spLocks xmlns:a="http://schemas.openxmlformats.org/drawingml/2006/main" noGrp="1"/>
          </p:cNvSpPr>
          <p:nvPr/>
        </p:nvSpPr>
        <p:spPr>
          <a:xfrm xmlns:a="http://schemas.openxmlformats.org/drawingml/2006/main">
            <a:off x="876300" y="3905250"/>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Primary set</a:t>
            </a:r>
          </a:p>
        </p:txBody>
      </p:sp>
      <p:sp>
        <p:nvSpPr>
          <p:cNvPr id="27" name="">
            <a:extLst xmlns:a="http://schemas.openxmlformats.org/drawingml/2006/main">
              <a:ext uri="{FF2B5EF4-FFF2-40B4-BE49-F238E27FC236}">
                <a16:creationId xmlns:a16="http://schemas.microsoft.com/office/drawing/2014/main" id="{F39B8BBC-B9F4-48A8-B50E-6F1CB6410CE5}"/>
              </a:ext>
            </a:extLst>
          </p:cNvPr>
          <p:cNvSpPr>
            <a:spLocks xmlns:a="http://schemas.openxmlformats.org/drawingml/2006/main" noGrp="1"/>
          </p:cNvSpPr>
          <p:nvPr/>
        </p:nvSpPr>
        <p:spPr>
          <a:xfrm xmlns:a="http://schemas.openxmlformats.org/drawingml/2006/main">
            <a:off x="4305300" y="3838575"/>
            <a:ext cx="3524250"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D872ABEC-1E7B-40A3-A8C2-FEF105BC83EC}"/>
              </a:ext>
            </a:extLst>
          </p:cNvPr>
          <p:cNvSpPr>
            <a:spLocks xmlns:a="http://schemas.openxmlformats.org/drawingml/2006/main" noGrp="1"/>
          </p:cNvSpPr>
          <p:nvPr/>
        </p:nvSpPr>
        <p:spPr>
          <a:xfrm xmlns:a="http://schemas.openxmlformats.org/drawingml/2006/main">
            <a:off x="4400550" y="3905250"/>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Continuous fluid path from main container</a:t>
            </a:r>
          </a:p>
        </p:txBody>
      </p:sp>
      <p:sp>
        <p:nvSpPr>
          <p:cNvPr id="29" name="">
            <a:extLst xmlns:a="http://schemas.openxmlformats.org/drawingml/2006/main">
              <a:ext uri="{FF2B5EF4-FFF2-40B4-BE49-F238E27FC236}">
                <a16:creationId xmlns:a16="http://schemas.microsoft.com/office/drawing/2014/main" id="{D6F50D6A-646E-4C99-8BD0-D7351A4C5927}"/>
              </a:ext>
            </a:extLst>
          </p:cNvPr>
          <p:cNvSpPr>
            <a:spLocks xmlns:a="http://schemas.openxmlformats.org/drawingml/2006/main" noGrp="1"/>
          </p:cNvSpPr>
          <p:nvPr/>
        </p:nvSpPr>
        <p:spPr>
          <a:xfrm xmlns:a="http://schemas.openxmlformats.org/drawingml/2006/main">
            <a:off x="7829550" y="3838575"/>
            <a:ext cx="3524250"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FA3BD9B2-2021-4498-8582-74538138B35C}"/>
              </a:ext>
            </a:extLst>
          </p:cNvPr>
          <p:cNvSpPr>
            <a:spLocks xmlns:a="http://schemas.openxmlformats.org/drawingml/2006/main" noGrp="1"/>
          </p:cNvSpPr>
          <p:nvPr/>
        </p:nvSpPr>
        <p:spPr>
          <a:xfrm xmlns:a="http://schemas.openxmlformats.org/drawingml/2006/main">
            <a:off x="7924800" y="3905250"/>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Prime, label, trace, and change according to current policy</a:t>
            </a:r>
          </a:p>
        </p:txBody>
      </p:sp>
      <p:sp>
        <p:nvSpPr>
          <p:cNvPr id="31" name="">
            <a:extLst xmlns:a="http://schemas.openxmlformats.org/drawingml/2006/main">
              <a:ext uri="{FF2B5EF4-FFF2-40B4-BE49-F238E27FC236}">
                <a16:creationId xmlns:a16="http://schemas.microsoft.com/office/drawing/2014/main" id="{1C8BB24C-32FF-442A-BCC7-75820168E38A}"/>
              </a:ext>
            </a:extLst>
          </p:cNvPr>
          <p:cNvSpPr>
            <a:spLocks xmlns:a="http://schemas.openxmlformats.org/drawingml/2006/main" noGrp="1"/>
          </p:cNvSpPr>
          <p:nvPr/>
        </p:nvSpPr>
        <p:spPr>
          <a:xfrm xmlns:a="http://schemas.openxmlformats.org/drawingml/2006/main">
            <a:off x="781050" y="4552950"/>
            <a:ext cx="3524250"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2" name="">
            <a:extLst xmlns:a="http://schemas.openxmlformats.org/drawingml/2006/main">
              <a:ext uri="{FF2B5EF4-FFF2-40B4-BE49-F238E27FC236}">
                <a16:creationId xmlns:a16="http://schemas.microsoft.com/office/drawing/2014/main" id="{2A8ECBF8-4B76-41E1-9951-84329B8F78CE}"/>
              </a:ext>
            </a:extLst>
          </p:cNvPr>
          <p:cNvSpPr>
            <a:spLocks xmlns:a="http://schemas.openxmlformats.org/drawingml/2006/main" noGrp="1"/>
          </p:cNvSpPr>
          <p:nvPr/>
        </p:nvSpPr>
        <p:spPr>
          <a:xfrm xmlns:a="http://schemas.openxmlformats.org/drawingml/2006/main">
            <a:off x="876300" y="4619625"/>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Secondary set</a:t>
            </a:r>
          </a:p>
        </p:txBody>
      </p:sp>
      <p:sp>
        <p:nvSpPr>
          <p:cNvPr id="33" name="">
            <a:extLst xmlns:a="http://schemas.openxmlformats.org/drawingml/2006/main">
              <a:ext uri="{FF2B5EF4-FFF2-40B4-BE49-F238E27FC236}">
                <a16:creationId xmlns:a16="http://schemas.microsoft.com/office/drawing/2014/main" id="{2CDCB256-A373-48ED-8166-E3232B3814D6}"/>
              </a:ext>
            </a:extLst>
          </p:cNvPr>
          <p:cNvSpPr>
            <a:spLocks xmlns:a="http://schemas.openxmlformats.org/drawingml/2006/main" noGrp="1"/>
          </p:cNvSpPr>
          <p:nvPr/>
        </p:nvSpPr>
        <p:spPr>
          <a:xfrm xmlns:a="http://schemas.openxmlformats.org/drawingml/2006/main">
            <a:off x="4305300" y="4552950"/>
            <a:ext cx="3524250"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4" name="">
            <a:extLst xmlns:a="http://schemas.openxmlformats.org/drawingml/2006/main">
              <a:ext uri="{FF2B5EF4-FFF2-40B4-BE49-F238E27FC236}">
                <a16:creationId xmlns:a16="http://schemas.microsoft.com/office/drawing/2014/main" id="{04D02856-3739-4E79-ABD2-124628DCCE4B}"/>
              </a:ext>
            </a:extLst>
          </p:cNvPr>
          <p:cNvSpPr>
            <a:spLocks xmlns:a="http://schemas.openxmlformats.org/drawingml/2006/main" noGrp="1"/>
          </p:cNvSpPr>
          <p:nvPr/>
        </p:nvSpPr>
        <p:spPr>
          <a:xfrm xmlns:a="http://schemas.openxmlformats.org/drawingml/2006/main">
            <a:off x="4400550" y="4619625"/>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Intermittent medication through compatible primary line</a:t>
            </a:r>
          </a:p>
        </p:txBody>
      </p:sp>
      <p:sp>
        <p:nvSpPr>
          <p:cNvPr id="35" name="">
            <a:extLst xmlns:a="http://schemas.openxmlformats.org/drawingml/2006/main">
              <a:ext uri="{FF2B5EF4-FFF2-40B4-BE49-F238E27FC236}">
                <a16:creationId xmlns:a16="http://schemas.microsoft.com/office/drawing/2014/main" id="{AF4FFE4F-8D3F-4CE3-AFAA-8FEF1E6479AD}"/>
              </a:ext>
            </a:extLst>
          </p:cNvPr>
          <p:cNvSpPr>
            <a:spLocks xmlns:a="http://schemas.openxmlformats.org/drawingml/2006/main" noGrp="1"/>
          </p:cNvSpPr>
          <p:nvPr/>
        </p:nvSpPr>
        <p:spPr>
          <a:xfrm xmlns:a="http://schemas.openxmlformats.org/drawingml/2006/main">
            <a:off x="7829550" y="4552950"/>
            <a:ext cx="3524250"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6" name="">
            <a:extLst xmlns:a="http://schemas.openxmlformats.org/drawingml/2006/main">
              <a:ext uri="{FF2B5EF4-FFF2-40B4-BE49-F238E27FC236}">
                <a16:creationId xmlns:a16="http://schemas.microsoft.com/office/drawing/2014/main" id="{3BDACF32-B0EE-4F71-8FA6-C3BDDE50DC5D}"/>
              </a:ext>
            </a:extLst>
          </p:cNvPr>
          <p:cNvSpPr>
            <a:spLocks xmlns:a="http://schemas.openxmlformats.org/drawingml/2006/main" noGrp="1"/>
          </p:cNvSpPr>
          <p:nvPr/>
        </p:nvSpPr>
        <p:spPr>
          <a:xfrm xmlns:a="http://schemas.openxmlformats.org/drawingml/2006/main">
            <a:off x="7924800" y="4619625"/>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Verify compatibility, bag height, connection port, pump channel, volume, and rate</a:t>
            </a:r>
          </a:p>
        </p:txBody>
      </p:sp>
      <p:sp>
        <p:nvSpPr>
          <p:cNvPr id="37" name="">
            <a:extLst xmlns:a="http://schemas.openxmlformats.org/drawingml/2006/main">
              <a:ext uri="{FF2B5EF4-FFF2-40B4-BE49-F238E27FC236}">
                <a16:creationId xmlns:a16="http://schemas.microsoft.com/office/drawing/2014/main" id="{B242FE54-C35F-41F5-8EEF-5C2D24BB9D24}"/>
              </a:ext>
            </a:extLst>
          </p:cNvPr>
          <p:cNvSpPr>
            <a:spLocks xmlns:a="http://schemas.openxmlformats.org/drawingml/2006/main" noGrp="1"/>
          </p:cNvSpPr>
          <p:nvPr/>
        </p:nvSpPr>
        <p:spPr>
          <a:xfrm xmlns:a="http://schemas.openxmlformats.org/drawingml/2006/main">
            <a:off x="781050" y="5267325"/>
            <a:ext cx="3524250"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8" name="">
            <a:extLst xmlns:a="http://schemas.openxmlformats.org/drawingml/2006/main">
              <a:ext uri="{FF2B5EF4-FFF2-40B4-BE49-F238E27FC236}">
                <a16:creationId xmlns:a16="http://schemas.microsoft.com/office/drawing/2014/main" id="{579C32EC-6C30-4EDF-893A-C4A2037A749C}"/>
              </a:ext>
            </a:extLst>
          </p:cNvPr>
          <p:cNvSpPr>
            <a:spLocks xmlns:a="http://schemas.openxmlformats.org/drawingml/2006/main" noGrp="1"/>
          </p:cNvSpPr>
          <p:nvPr/>
        </p:nvSpPr>
        <p:spPr>
          <a:xfrm xmlns:a="http://schemas.openxmlformats.org/drawingml/2006/main">
            <a:off x="876300" y="5334000"/>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Extension or needleless connector</a:t>
            </a:r>
          </a:p>
        </p:txBody>
      </p:sp>
      <p:sp>
        <p:nvSpPr>
          <p:cNvPr id="39" name="">
            <a:extLst xmlns:a="http://schemas.openxmlformats.org/drawingml/2006/main">
              <a:ext uri="{FF2B5EF4-FFF2-40B4-BE49-F238E27FC236}">
                <a16:creationId xmlns:a16="http://schemas.microsoft.com/office/drawing/2014/main" id="{4DE3A3B3-CA5E-46AF-BE9F-9D2EB663975B}"/>
              </a:ext>
            </a:extLst>
          </p:cNvPr>
          <p:cNvSpPr>
            <a:spLocks xmlns:a="http://schemas.openxmlformats.org/drawingml/2006/main" noGrp="1"/>
          </p:cNvSpPr>
          <p:nvPr/>
        </p:nvSpPr>
        <p:spPr>
          <a:xfrm xmlns:a="http://schemas.openxmlformats.org/drawingml/2006/main">
            <a:off x="4305300" y="5267325"/>
            <a:ext cx="3524250"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40" name="">
            <a:extLst xmlns:a="http://schemas.openxmlformats.org/drawingml/2006/main">
              <a:ext uri="{FF2B5EF4-FFF2-40B4-BE49-F238E27FC236}">
                <a16:creationId xmlns:a16="http://schemas.microsoft.com/office/drawing/2014/main" id="{F278BDF8-7A21-4967-AD71-5AA28838490F}"/>
              </a:ext>
            </a:extLst>
          </p:cNvPr>
          <p:cNvSpPr>
            <a:spLocks xmlns:a="http://schemas.openxmlformats.org/drawingml/2006/main" noGrp="1"/>
          </p:cNvSpPr>
          <p:nvPr/>
        </p:nvSpPr>
        <p:spPr>
          <a:xfrm xmlns:a="http://schemas.openxmlformats.org/drawingml/2006/main">
            <a:off x="4400550" y="5334000"/>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Adds access and supports securement</a:t>
            </a:r>
          </a:p>
        </p:txBody>
      </p:sp>
      <p:sp>
        <p:nvSpPr>
          <p:cNvPr id="41" name="">
            <a:extLst xmlns:a="http://schemas.openxmlformats.org/drawingml/2006/main">
              <a:ext uri="{FF2B5EF4-FFF2-40B4-BE49-F238E27FC236}">
                <a16:creationId xmlns:a16="http://schemas.microsoft.com/office/drawing/2014/main" id="{0FD69B49-E2E5-40ED-8671-3BBAFC26F2CE}"/>
              </a:ext>
            </a:extLst>
          </p:cNvPr>
          <p:cNvSpPr>
            <a:spLocks xmlns:a="http://schemas.openxmlformats.org/drawingml/2006/main" noGrp="1"/>
          </p:cNvSpPr>
          <p:nvPr/>
        </p:nvSpPr>
        <p:spPr>
          <a:xfrm xmlns:a="http://schemas.openxmlformats.org/drawingml/2006/main">
            <a:off x="7829550" y="5267325"/>
            <a:ext cx="3524250"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42" name="">
            <a:extLst xmlns:a="http://schemas.openxmlformats.org/drawingml/2006/main">
              <a:ext uri="{FF2B5EF4-FFF2-40B4-BE49-F238E27FC236}">
                <a16:creationId xmlns:a16="http://schemas.microsoft.com/office/drawing/2014/main" id="{ECD652F5-B92A-4196-9BD8-0112D4CCE76E}"/>
              </a:ext>
            </a:extLst>
          </p:cNvPr>
          <p:cNvSpPr>
            <a:spLocks xmlns:a="http://schemas.openxmlformats.org/drawingml/2006/main" noGrp="1"/>
          </p:cNvSpPr>
          <p:nvPr/>
        </p:nvSpPr>
        <p:spPr>
          <a:xfrm xmlns:a="http://schemas.openxmlformats.org/drawingml/2006/main">
            <a:off x="7924800" y="5334000"/>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Prime, disinfect, protect key parts, and assess patency</a:t>
            </a:r>
          </a:p>
        </p:txBody>
      </p:sp>
    </p:spTree>
    <p:extLst>
      <p:ext uri="{BB962C8B-B14F-4D97-AF65-F5344CB8AC3E}">
        <p14:creationId xmlns:p14="http://schemas.microsoft.com/office/powerpoint/2010/main" val="1110451055"/>
      </p:ext>
    </p:extLst>
  </p:cSld>
</p:sld>
</file>

<file path=ppt/slides/slide1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43" name="">
            <a:extLst xmlns:a="http://schemas.openxmlformats.org/drawingml/2006/main">
              <a:ext uri="{FF2B5EF4-FFF2-40B4-BE49-F238E27FC236}">
                <a16:creationId xmlns:a16="http://schemas.microsoft.com/office/drawing/2014/main" id="{68F6928E-0972-4B4E-A701-B1D32DCE7F23}"/>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CCCCA10B-8053-47C7-8E68-99DFCFF1394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E6EA21F5-E954-4E8F-BAD0-D6EFF490A5BE}"/>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F36FA75B-A9B8-4D35-9600-B60FECB39C5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Medication delivery methods</a:t>
            </a:r>
          </a:p>
        </p:txBody>
      </p:sp>
      <p:sp>
        <p:nvSpPr>
          <p:cNvPr id="5" name="">
            <a:extLst xmlns:a="http://schemas.openxmlformats.org/drawingml/2006/main">
              <a:ext uri="{FF2B5EF4-FFF2-40B4-BE49-F238E27FC236}">
                <a16:creationId xmlns:a16="http://schemas.microsoft.com/office/drawing/2014/main" id="{05FB913F-38C3-4652-83FB-095A6F5E7CA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6" name="">
            <a:extLst xmlns:a="http://schemas.openxmlformats.org/drawingml/2006/main">
              <a:ext uri="{FF2B5EF4-FFF2-40B4-BE49-F238E27FC236}">
                <a16:creationId xmlns:a16="http://schemas.microsoft.com/office/drawing/2014/main" id="{A2ED9380-05CC-4595-950B-94AC085FD31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19</a:t>
            </a:r>
          </a:p>
        </p:txBody>
      </p:sp>
      <p:sp>
        <p:nvSpPr>
          <p:cNvPr id="7" name="">
            <a:extLst xmlns:a="http://schemas.openxmlformats.org/drawingml/2006/main">
              <a:ext uri="{FF2B5EF4-FFF2-40B4-BE49-F238E27FC236}">
                <a16:creationId xmlns:a16="http://schemas.microsoft.com/office/drawing/2014/main" id="{A19DB308-FB9E-4AD3-B5EC-E625D4D8EE5D}"/>
              </a:ext>
            </a:extLst>
          </p:cNvPr>
          <p:cNvSpPr>
            <a:spLocks xmlns:a="http://schemas.openxmlformats.org/drawingml/2006/main" noGrp="1"/>
          </p:cNvSpPr>
          <p:nvPr/>
        </p:nvSpPr>
        <p:spPr>
          <a:xfrm xmlns:a="http://schemas.openxmlformats.org/drawingml/2006/main">
            <a:off x="781050" y="1695450"/>
            <a:ext cx="3524250"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02697F21-244C-4455-BD20-98BD476C6CFC}"/>
              </a:ext>
            </a:extLst>
          </p:cNvPr>
          <p:cNvSpPr>
            <a:spLocks xmlns:a="http://schemas.openxmlformats.org/drawingml/2006/main" noGrp="1"/>
          </p:cNvSpPr>
          <p:nvPr/>
        </p:nvSpPr>
        <p:spPr>
          <a:xfrm xmlns:a="http://schemas.openxmlformats.org/drawingml/2006/main">
            <a:off x="876300" y="1762125"/>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Method</a:t>
            </a:r>
          </a:p>
        </p:txBody>
      </p:sp>
      <p:sp>
        <p:nvSpPr>
          <p:cNvPr id="9" name="">
            <a:extLst xmlns:a="http://schemas.openxmlformats.org/drawingml/2006/main">
              <a:ext uri="{FF2B5EF4-FFF2-40B4-BE49-F238E27FC236}">
                <a16:creationId xmlns:a16="http://schemas.microsoft.com/office/drawing/2014/main" id="{6F72D766-41CF-46B4-B54C-EA44CC02FD4B}"/>
              </a:ext>
            </a:extLst>
          </p:cNvPr>
          <p:cNvSpPr>
            <a:spLocks xmlns:a="http://schemas.openxmlformats.org/drawingml/2006/main" noGrp="1"/>
          </p:cNvSpPr>
          <p:nvPr/>
        </p:nvSpPr>
        <p:spPr>
          <a:xfrm xmlns:a="http://schemas.openxmlformats.org/drawingml/2006/main">
            <a:off x="4305300" y="1695450"/>
            <a:ext cx="3524250"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040CE2F1-ED7D-4C86-8770-5D2BF7E3182C}"/>
              </a:ext>
            </a:extLst>
          </p:cNvPr>
          <p:cNvSpPr>
            <a:spLocks xmlns:a="http://schemas.openxmlformats.org/drawingml/2006/main" noGrp="1"/>
          </p:cNvSpPr>
          <p:nvPr/>
        </p:nvSpPr>
        <p:spPr>
          <a:xfrm xmlns:a="http://schemas.openxmlformats.org/drawingml/2006/main">
            <a:off x="4400550" y="1762125"/>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Description</a:t>
            </a:r>
          </a:p>
        </p:txBody>
      </p:sp>
      <p:sp>
        <p:nvSpPr>
          <p:cNvPr id="11" name="">
            <a:extLst xmlns:a="http://schemas.openxmlformats.org/drawingml/2006/main">
              <a:ext uri="{FF2B5EF4-FFF2-40B4-BE49-F238E27FC236}">
                <a16:creationId xmlns:a16="http://schemas.microsoft.com/office/drawing/2014/main" id="{D64ED851-6170-456F-892B-38A60F2FD7E2}"/>
              </a:ext>
            </a:extLst>
          </p:cNvPr>
          <p:cNvSpPr>
            <a:spLocks xmlns:a="http://schemas.openxmlformats.org/drawingml/2006/main" noGrp="1"/>
          </p:cNvSpPr>
          <p:nvPr/>
        </p:nvSpPr>
        <p:spPr>
          <a:xfrm xmlns:a="http://schemas.openxmlformats.org/drawingml/2006/main">
            <a:off x="7829550" y="1695450"/>
            <a:ext cx="3524250"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5442740A-2AF8-467B-9AE0-56016574DA35}"/>
              </a:ext>
            </a:extLst>
          </p:cNvPr>
          <p:cNvSpPr>
            <a:spLocks xmlns:a="http://schemas.openxmlformats.org/drawingml/2006/main" noGrp="1"/>
          </p:cNvSpPr>
          <p:nvPr/>
        </p:nvSpPr>
        <p:spPr>
          <a:xfrm xmlns:a="http://schemas.openxmlformats.org/drawingml/2006/main">
            <a:off x="7924800" y="1762125"/>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Primary safety issue</a:t>
            </a:r>
          </a:p>
        </p:txBody>
      </p:sp>
      <p:sp>
        <p:nvSpPr>
          <p:cNvPr id="13" name="">
            <a:extLst xmlns:a="http://schemas.openxmlformats.org/drawingml/2006/main">
              <a:ext uri="{FF2B5EF4-FFF2-40B4-BE49-F238E27FC236}">
                <a16:creationId xmlns:a16="http://schemas.microsoft.com/office/drawing/2014/main" id="{47815434-16EB-43A2-8EBE-121D381426E6}"/>
              </a:ext>
            </a:extLst>
          </p:cNvPr>
          <p:cNvSpPr>
            <a:spLocks xmlns:a="http://schemas.openxmlformats.org/drawingml/2006/main" noGrp="1"/>
          </p:cNvSpPr>
          <p:nvPr/>
        </p:nvSpPr>
        <p:spPr>
          <a:xfrm xmlns:a="http://schemas.openxmlformats.org/drawingml/2006/main">
            <a:off x="781050" y="2409825"/>
            <a:ext cx="3524250"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EE330E4E-8450-4813-A989-32E9DAF03AAF}"/>
              </a:ext>
            </a:extLst>
          </p:cNvPr>
          <p:cNvSpPr>
            <a:spLocks xmlns:a="http://schemas.openxmlformats.org/drawingml/2006/main" noGrp="1"/>
          </p:cNvSpPr>
          <p:nvPr/>
        </p:nvSpPr>
        <p:spPr>
          <a:xfrm xmlns:a="http://schemas.openxmlformats.org/drawingml/2006/main">
            <a:off x="876300" y="2476500"/>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Continuous infusion</a:t>
            </a:r>
          </a:p>
        </p:txBody>
      </p:sp>
      <p:sp>
        <p:nvSpPr>
          <p:cNvPr id="15" name="">
            <a:extLst xmlns:a="http://schemas.openxmlformats.org/drawingml/2006/main">
              <a:ext uri="{FF2B5EF4-FFF2-40B4-BE49-F238E27FC236}">
                <a16:creationId xmlns:a16="http://schemas.microsoft.com/office/drawing/2014/main" id="{88322CFF-D8D6-42DD-9725-48690D5A486E}"/>
              </a:ext>
            </a:extLst>
          </p:cNvPr>
          <p:cNvSpPr>
            <a:spLocks xmlns:a="http://schemas.openxmlformats.org/drawingml/2006/main" noGrp="1"/>
          </p:cNvSpPr>
          <p:nvPr/>
        </p:nvSpPr>
        <p:spPr>
          <a:xfrm xmlns:a="http://schemas.openxmlformats.org/drawingml/2006/main">
            <a:off x="4305300" y="2409825"/>
            <a:ext cx="3524250"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FAA18541-468C-4563-B80F-05D7E7DB209D}"/>
              </a:ext>
            </a:extLst>
          </p:cNvPr>
          <p:cNvSpPr>
            <a:spLocks xmlns:a="http://schemas.openxmlformats.org/drawingml/2006/main" noGrp="1"/>
          </p:cNvSpPr>
          <p:nvPr/>
        </p:nvSpPr>
        <p:spPr>
          <a:xfrm xmlns:a="http://schemas.openxmlformats.org/drawingml/2006/main">
            <a:off x="4400550" y="2476500"/>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Medication or fluid delivered at a prescribed ongoing rate</a:t>
            </a:r>
          </a:p>
        </p:txBody>
      </p:sp>
      <p:sp>
        <p:nvSpPr>
          <p:cNvPr id="17" name="">
            <a:extLst xmlns:a="http://schemas.openxmlformats.org/drawingml/2006/main">
              <a:ext uri="{FF2B5EF4-FFF2-40B4-BE49-F238E27FC236}">
                <a16:creationId xmlns:a16="http://schemas.microsoft.com/office/drawing/2014/main" id="{A98A7F16-9CBB-4C6A-8909-1A6A206C9D23}"/>
              </a:ext>
            </a:extLst>
          </p:cNvPr>
          <p:cNvSpPr>
            <a:spLocks xmlns:a="http://schemas.openxmlformats.org/drawingml/2006/main" noGrp="1"/>
          </p:cNvSpPr>
          <p:nvPr/>
        </p:nvSpPr>
        <p:spPr>
          <a:xfrm xmlns:a="http://schemas.openxmlformats.org/drawingml/2006/main">
            <a:off x="7829550" y="2409825"/>
            <a:ext cx="3524250"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A01380F8-0364-424E-9E48-70B458385DF7}"/>
              </a:ext>
            </a:extLst>
          </p:cNvPr>
          <p:cNvSpPr>
            <a:spLocks xmlns:a="http://schemas.openxmlformats.org/drawingml/2006/main" noGrp="1"/>
          </p:cNvSpPr>
          <p:nvPr/>
        </p:nvSpPr>
        <p:spPr>
          <a:xfrm xmlns:a="http://schemas.openxmlformats.org/drawingml/2006/main">
            <a:off x="7924800" y="2476500"/>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Concentration, pump programming, line tracing, cumulative dose</a:t>
            </a:r>
          </a:p>
        </p:txBody>
      </p:sp>
      <p:sp>
        <p:nvSpPr>
          <p:cNvPr id="19" name="">
            <a:extLst xmlns:a="http://schemas.openxmlformats.org/drawingml/2006/main">
              <a:ext uri="{FF2B5EF4-FFF2-40B4-BE49-F238E27FC236}">
                <a16:creationId xmlns:a16="http://schemas.microsoft.com/office/drawing/2014/main" id="{0D430A6F-5317-4F23-B200-4CDA1023C821}"/>
              </a:ext>
            </a:extLst>
          </p:cNvPr>
          <p:cNvSpPr>
            <a:spLocks xmlns:a="http://schemas.openxmlformats.org/drawingml/2006/main" noGrp="1"/>
          </p:cNvSpPr>
          <p:nvPr/>
        </p:nvSpPr>
        <p:spPr>
          <a:xfrm xmlns:a="http://schemas.openxmlformats.org/drawingml/2006/main">
            <a:off x="781050" y="3124200"/>
            <a:ext cx="3524250"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2AEBED51-CDDA-4AEC-868C-5ACDDC1B0839}"/>
              </a:ext>
            </a:extLst>
          </p:cNvPr>
          <p:cNvSpPr>
            <a:spLocks xmlns:a="http://schemas.openxmlformats.org/drawingml/2006/main" noGrp="1"/>
          </p:cNvSpPr>
          <p:nvPr/>
        </p:nvSpPr>
        <p:spPr>
          <a:xfrm xmlns:a="http://schemas.openxmlformats.org/drawingml/2006/main">
            <a:off x="876300" y="3190875"/>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Intermittent or IVPB</a:t>
            </a:r>
          </a:p>
        </p:txBody>
      </p:sp>
      <p:sp>
        <p:nvSpPr>
          <p:cNvPr id="21" name="">
            <a:extLst xmlns:a="http://schemas.openxmlformats.org/drawingml/2006/main">
              <a:ext uri="{FF2B5EF4-FFF2-40B4-BE49-F238E27FC236}">
                <a16:creationId xmlns:a16="http://schemas.microsoft.com/office/drawing/2014/main" id="{4E38FD07-3B4A-4A99-9A3F-F042D54859F5}"/>
              </a:ext>
            </a:extLst>
          </p:cNvPr>
          <p:cNvSpPr>
            <a:spLocks xmlns:a="http://schemas.openxmlformats.org/drawingml/2006/main" noGrp="1"/>
          </p:cNvSpPr>
          <p:nvPr/>
        </p:nvSpPr>
        <p:spPr>
          <a:xfrm xmlns:a="http://schemas.openxmlformats.org/drawingml/2006/main">
            <a:off x="4305300" y="3124200"/>
            <a:ext cx="3524250"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79443D9B-D6C7-4388-80C0-BD4E5FFCAF06}"/>
              </a:ext>
            </a:extLst>
          </p:cNvPr>
          <p:cNvSpPr>
            <a:spLocks xmlns:a="http://schemas.openxmlformats.org/drawingml/2006/main" noGrp="1"/>
          </p:cNvSpPr>
          <p:nvPr/>
        </p:nvSpPr>
        <p:spPr>
          <a:xfrm xmlns:a="http://schemas.openxmlformats.org/drawingml/2006/main">
            <a:off x="4400550" y="3190875"/>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Medication delivered at scheduled intervals</a:t>
            </a:r>
          </a:p>
        </p:txBody>
      </p:sp>
      <p:sp>
        <p:nvSpPr>
          <p:cNvPr id="23" name="">
            <a:extLst xmlns:a="http://schemas.openxmlformats.org/drawingml/2006/main">
              <a:ext uri="{FF2B5EF4-FFF2-40B4-BE49-F238E27FC236}">
                <a16:creationId xmlns:a16="http://schemas.microsoft.com/office/drawing/2014/main" id="{E9611DA3-679B-4D9D-A10E-30500314370F}"/>
              </a:ext>
            </a:extLst>
          </p:cNvPr>
          <p:cNvSpPr>
            <a:spLocks xmlns:a="http://schemas.openxmlformats.org/drawingml/2006/main" noGrp="1"/>
          </p:cNvSpPr>
          <p:nvPr/>
        </p:nvSpPr>
        <p:spPr>
          <a:xfrm xmlns:a="http://schemas.openxmlformats.org/drawingml/2006/main">
            <a:off x="7829550" y="3124200"/>
            <a:ext cx="3524250"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6C303BB5-58A8-4805-9D6E-2A1D7A2E512D}"/>
              </a:ext>
            </a:extLst>
          </p:cNvPr>
          <p:cNvSpPr>
            <a:spLocks xmlns:a="http://schemas.openxmlformats.org/drawingml/2006/main" noGrp="1"/>
          </p:cNvSpPr>
          <p:nvPr/>
        </p:nvSpPr>
        <p:spPr>
          <a:xfrm xmlns:a="http://schemas.openxmlformats.org/drawingml/2006/main">
            <a:off x="7924800" y="3190875"/>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Compatibility, secondary setup, residual volume, timing</a:t>
            </a:r>
          </a:p>
        </p:txBody>
      </p:sp>
      <p:sp>
        <p:nvSpPr>
          <p:cNvPr id="25" name="">
            <a:extLst xmlns:a="http://schemas.openxmlformats.org/drawingml/2006/main">
              <a:ext uri="{FF2B5EF4-FFF2-40B4-BE49-F238E27FC236}">
                <a16:creationId xmlns:a16="http://schemas.microsoft.com/office/drawing/2014/main" id="{6AACFF5D-8440-4E4F-8B69-7E6E0B45B96B}"/>
              </a:ext>
            </a:extLst>
          </p:cNvPr>
          <p:cNvSpPr>
            <a:spLocks xmlns:a="http://schemas.openxmlformats.org/drawingml/2006/main" noGrp="1"/>
          </p:cNvSpPr>
          <p:nvPr/>
        </p:nvSpPr>
        <p:spPr>
          <a:xfrm xmlns:a="http://schemas.openxmlformats.org/drawingml/2006/main">
            <a:off x="781050" y="3838575"/>
            <a:ext cx="3524250"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7CDE64B9-FDDD-4000-B96F-BE8B544C1EC7}"/>
              </a:ext>
            </a:extLst>
          </p:cNvPr>
          <p:cNvSpPr>
            <a:spLocks xmlns:a="http://schemas.openxmlformats.org/drawingml/2006/main" noGrp="1"/>
          </p:cNvSpPr>
          <p:nvPr/>
        </p:nvSpPr>
        <p:spPr>
          <a:xfrm xmlns:a="http://schemas.openxmlformats.org/drawingml/2006/main">
            <a:off x="876300" y="3905250"/>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Direct IV administration</a:t>
            </a:r>
          </a:p>
        </p:txBody>
      </p:sp>
      <p:sp>
        <p:nvSpPr>
          <p:cNvPr id="27" name="">
            <a:extLst xmlns:a="http://schemas.openxmlformats.org/drawingml/2006/main">
              <a:ext uri="{FF2B5EF4-FFF2-40B4-BE49-F238E27FC236}">
                <a16:creationId xmlns:a16="http://schemas.microsoft.com/office/drawing/2014/main" id="{AB9B3340-89A4-446A-8EEF-861FD54794F0}"/>
              </a:ext>
            </a:extLst>
          </p:cNvPr>
          <p:cNvSpPr>
            <a:spLocks xmlns:a="http://schemas.openxmlformats.org/drawingml/2006/main" noGrp="1"/>
          </p:cNvSpPr>
          <p:nvPr/>
        </p:nvSpPr>
        <p:spPr>
          <a:xfrm xmlns:a="http://schemas.openxmlformats.org/drawingml/2006/main">
            <a:off x="4305300" y="3838575"/>
            <a:ext cx="3524250"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3A2D5325-2F10-4F33-A709-E09943076AF9}"/>
              </a:ext>
            </a:extLst>
          </p:cNvPr>
          <p:cNvSpPr>
            <a:spLocks xmlns:a="http://schemas.openxmlformats.org/drawingml/2006/main" noGrp="1"/>
          </p:cNvSpPr>
          <p:nvPr/>
        </p:nvSpPr>
        <p:spPr>
          <a:xfrm xmlns:a="http://schemas.openxmlformats.org/drawingml/2006/main">
            <a:off x="4400550" y="3905250"/>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Small volume delivered over a specified time</a:t>
            </a:r>
          </a:p>
        </p:txBody>
      </p:sp>
      <p:sp>
        <p:nvSpPr>
          <p:cNvPr id="29" name="">
            <a:extLst xmlns:a="http://schemas.openxmlformats.org/drawingml/2006/main">
              <a:ext uri="{FF2B5EF4-FFF2-40B4-BE49-F238E27FC236}">
                <a16:creationId xmlns:a16="http://schemas.microsoft.com/office/drawing/2014/main" id="{B48101E0-3E49-4EEB-9DEC-E4CDCADBB66A}"/>
              </a:ext>
            </a:extLst>
          </p:cNvPr>
          <p:cNvSpPr>
            <a:spLocks xmlns:a="http://schemas.openxmlformats.org/drawingml/2006/main" noGrp="1"/>
          </p:cNvSpPr>
          <p:nvPr/>
        </p:nvSpPr>
        <p:spPr>
          <a:xfrm xmlns:a="http://schemas.openxmlformats.org/drawingml/2006/main">
            <a:off x="7829550" y="3838575"/>
            <a:ext cx="3524250"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80EF8720-F25A-4E63-BCC0-C9B4A7F8466B}"/>
              </a:ext>
            </a:extLst>
          </p:cNvPr>
          <p:cNvSpPr>
            <a:spLocks xmlns:a="http://schemas.openxmlformats.org/drawingml/2006/main" noGrp="1"/>
          </p:cNvSpPr>
          <p:nvPr/>
        </p:nvSpPr>
        <p:spPr>
          <a:xfrm xmlns:a="http://schemas.openxmlformats.org/drawingml/2006/main">
            <a:off x="7924800" y="3905250"/>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Scope, dilution, rate, patency, immediate adverse effect</a:t>
            </a:r>
          </a:p>
        </p:txBody>
      </p:sp>
      <p:sp>
        <p:nvSpPr>
          <p:cNvPr id="31" name="">
            <a:extLst xmlns:a="http://schemas.openxmlformats.org/drawingml/2006/main">
              <a:ext uri="{FF2B5EF4-FFF2-40B4-BE49-F238E27FC236}">
                <a16:creationId xmlns:a16="http://schemas.microsoft.com/office/drawing/2014/main" id="{E5D3308E-42D2-44CE-AAA6-96174DD7307D}"/>
              </a:ext>
            </a:extLst>
          </p:cNvPr>
          <p:cNvSpPr>
            <a:spLocks xmlns:a="http://schemas.openxmlformats.org/drawingml/2006/main" noGrp="1"/>
          </p:cNvSpPr>
          <p:nvPr/>
        </p:nvSpPr>
        <p:spPr>
          <a:xfrm xmlns:a="http://schemas.openxmlformats.org/drawingml/2006/main">
            <a:off x="781050" y="4552950"/>
            <a:ext cx="3524250"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2" name="">
            <a:extLst xmlns:a="http://schemas.openxmlformats.org/drawingml/2006/main">
              <a:ext uri="{FF2B5EF4-FFF2-40B4-BE49-F238E27FC236}">
                <a16:creationId xmlns:a16="http://schemas.microsoft.com/office/drawing/2014/main" id="{0073018C-32A9-43A1-BF13-2BBC2EB8E01A}"/>
              </a:ext>
            </a:extLst>
          </p:cNvPr>
          <p:cNvSpPr>
            <a:spLocks xmlns:a="http://schemas.openxmlformats.org/drawingml/2006/main" noGrp="1"/>
          </p:cNvSpPr>
          <p:nvPr/>
        </p:nvSpPr>
        <p:spPr>
          <a:xfrm xmlns:a="http://schemas.openxmlformats.org/drawingml/2006/main">
            <a:off x="876300" y="4619625"/>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Saline lock</a:t>
            </a:r>
          </a:p>
        </p:txBody>
      </p:sp>
      <p:sp>
        <p:nvSpPr>
          <p:cNvPr id="33" name="">
            <a:extLst xmlns:a="http://schemas.openxmlformats.org/drawingml/2006/main">
              <a:ext uri="{FF2B5EF4-FFF2-40B4-BE49-F238E27FC236}">
                <a16:creationId xmlns:a16="http://schemas.microsoft.com/office/drawing/2014/main" id="{CF312889-B88C-4DF6-B8D7-BF570ED44BBB}"/>
              </a:ext>
            </a:extLst>
          </p:cNvPr>
          <p:cNvSpPr>
            <a:spLocks xmlns:a="http://schemas.openxmlformats.org/drawingml/2006/main" noGrp="1"/>
          </p:cNvSpPr>
          <p:nvPr/>
        </p:nvSpPr>
        <p:spPr>
          <a:xfrm xmlns:a="http://schemas.openxmlformats.org/drawingml/2006/main">
            <a:off x="4305300" y="4552950"/>
            <a:ext cx="3524250"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4" name="">
            <a:extLst xmlns:a="http://schemas.openxmlformats.org/drawingml/2006/main">
              <a:ext uri="{FF2B5EF4-FFF2-40B4-BE49-F238E27FC236}">
                <a16:creationId xmlns:a16="http://schemas.microsoft.com/office/drawing/2014/main" id="{0027E57B-3077-405B-8E6D-5467BC94B2A1}"/>
              </a:ext>
            </a:extLst>
          </p:cNvPr>
          <p:cNvSpPr>
            <a:spLocks xmlns:a="http://schemas.openxmlformats.org/drawingml/2006/main" noGrp="1"/>
          </p:cNvSpPr>
          <p:nvPr/>
        </p:nvSpPr>
        <p:spPr>
          <a:xfrm xmlns:a="http://schemas.openxmlformats.org/drawingml/2006/main">
            <a:off x="4400550" y="4619625"/>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Intermittent access without continuous fluid</a:t>
            </a:r>
          </a:p>
        </p:txBody>
      </p:sp>
      <p:sp>
        <p:nvSpPr>
          <p:cNvPr id="35" name="">
            <a:extLst xmlns:a="http://schemas.openxmlformats.org/drawingml/2006/main">
              <a:ext uri="{FF2B5EF4-FFF2-40B4-BE49-F238E27FC236}">
                <a16:creationId xmlns:a16="http://schemas.microsoft.com/office/drawing/2014/main" id="{F7420BDB-1124-499B-BEA7-FD056B1F9F7C}"/>
              </a:ext>
            </a:extLst>
          </p:cNvPr>
          <p:cNvSpPr>
            <a:spLocks xmlns:a="http://schemas.openxmlformats.org/drawingml/2006/main" noGrp="1"/>
          </p:cNvSpPr>
          <p:nvPr/>
        </p:nvSpPr>
        <p:spPr>
          <a:xfrm xmlns:a="http://schemas.openxmlformats.org/drawingml/2006/main">
            <a:off x="7829550" y="4552950"/>
            <a:ext cx="3524250"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6" name="">
            <a:extLst xmlns:a="http://schemas.openxmlformats.org/drawingml/2006/main">
              <a:ext uri="{FF2B5EF4-FFF2-40B4-BE49-F238E27FC236}">
                <a16:creationId xmlns:a16="http://schemas.microsoft.com/office/drawing/2014/main" id="{3381A2EA-24FB-4511-9A16-8ADAA1E9BAF3}"/>
              </a:ext>
            </a:extLst>
          </p:cNvPr>
          <p:cNvSpPr>
            <a:spLocks xmlns:a="http://schemas.openxmlformats.org/drawingml/2006/main" noGrp="1"/>
          </p:cNvSpPr>
          <p:nvPr/>
        </p:nvSpPr>
        <p:spPr>
          <a:xfrm xmlns:a="http://schemas.openxmlformats.org/drawingml/2006/main">
            <a:off x="7924800" y="4619625"/>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Patency assessment, flushing sequence, connector disinfection</a:t>
            </a:r>
          </a:p>
        </p:txBody>
      </p:sp>
      <p:sp>
        <p:nvSpPr>
          <p:cNvPr id="37" name="">
            <a:extLst xmlns:a="http://schemas.openxmlformats.org/drawingml/2006/main">
              <a:ext uri="{FF2B5EF4-FFF2-40B4-BE49-F238E27FC236}">
                <a16:creationId xmlns:a16="http://schemas.microsoft.com/office/drawing/2014/main" id="{7BC185E7-A495-4ED9-A177-D19BC9794F41}"/>
              </a:ext>
            </a:extLst>
          </p:cNvPr>
          <p:cNvSpPr>
            <a:spLocks xmlns:a="http://schemas.openxmlformats.org/drawingml/2006/main" noGrp="1"/>
          </p:cNvSpPr>
          <p:nvPr/>
        </p:nvSpPr>
        <p:spPr>
          <a:xfrm xmlns:a="http://schemas.openxmlformats.org/drawingml/2006/main">
            <a:off x="781050" y="5267325"/>
            <a:ext cx="3524250"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8" name="">
            <a:extLst xmlns:a="http://schemas.openxmlformats.org/drawingml/2006/main">
              <a:ext uri="{FF2B5EF4-FFF2-40B4-BE49-F238E27FC236}">
                <a16:creationId xmlns:a16="http://schemas.microsoft.com/office/drawing/2014/main" id="{3280FF8A-153E-44CF-866C-156D1577E6B8}"/>
              </a:ext>
            </a:extLst>
          </p:cNvPr>
          <p:cNvSpPr>
            <a:spLocks xmlns:a="http://schemas.openxmlformats.org/drawingml/2006/main" noGrp="1"/>
          </p:cNvSpPr>
          <p:nvPr/>
        </p:nvSpPr>
        <p:spPr>
          <a:xfrm xmlns:a="http://schemas.openxmlformats.org/drawingml/2006/main">
            <a:off x="876300" y="5334000"/>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Bolus fluid</a:t>
            </a:r>
          </a:p>
        </p:txBody>
      </p:sp>
      <p:sp>
        <p:nvSpPr>
          <p:cNvPr id="39" name="">
            <a:extLst xmlns:a="http://schemas.openxmlformats.org/drawingml/2006/main">
              <a:ext uri="{FF2B5EF4-FFF2-40B4-BE49-F238E27FC236}">
                <a16:creationId xmlns:a16="http://schemas.microsoft.com/office/drawing/2014/main" id="{87FA6DBA-117D-4ECE-8480-A382652BDB35}"/>
              </a:ext>
            </a:extLst>
          </p:cNvPr>
          <p:cNvSpPr>
            <a:spLocks xmlns:a="http://schemas.openxmlformats.org/drawingml/2006/main" noGrp="1"/>
          </p:cNvSpPr>
          <p:nvPr/>
        </p:nvSpPr>
        <p:spPr>
          <a:xfrm xmlns:a="http://schemas.openxmlformats.org/drawingml/2006/main">
            <a:off x="4305300" y="5267325"/>
            <a:ext cx="3524250"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40" name="">
            <a:extLst xmlns:a="http://schemas.openxmlformats.org/drawingml/2006/main">
              <a:ext uri="{FF2B5EF4-FFF2-40B4-BE49-F238E27FC236}">
                <a16:creationId xmlns:a16="http://schemas.microsoft.com/office/drawing/2014/main" id="{B1A8E2C6-A5AB-4BCF-9347-8CF3E982C68B}"/>
              </a:ext>
            </a:extLst>
          </p:cNvPr>
          <p:cNvSpPr>
            <a:spLocks xmlns:a="http://schemas.openxmlformats.org/drawingml/2006/main" noGrp="1"/>
          </p:cNvSpPr>
          <p:nvPr/>
        </p:nvSpPr>
        <p:spPr>
          <a:xfrm xmlns:a="http://schemas.openxmlformats.org/drawingml/2006/main">
            <a:off x="4400550" y="5334000"/>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Rapid prescribed fluid volume</a:t>
            </a:r>
          </a:p>
        </p:txBody>
      </p:sp>
      <p:sp>
        <p:nvSpPr>
          <p:cNvPr id="41" name="">
            <a:extLst xmlns:a="http://schemas.openxmlformats.org/drawingml/2006/main">
              <a:ext uri="{FF2B5EF4-FFF2-40B4-BE49-F238E27FC236}">
                <a16:creationId xmlns:a16="http://schemas.microsoft.com/office/drawing/2014/main" id="{24217D4D-8B58-4943-B273-B939871C0E83}"/>
              </a:ext>
            </a:extLst>
          </p:cNvPr>
          <p:cNvSpPr>
            <a:spLocks xmlns:a="http://schemas.openxmlformats.org/drawingml/2006/main" noGrp="1"/>
          </p:cNvSpPr>
          <p:nvPr/>
        </p:nvSpPr>
        <p:spPr>
          <a:xfrm xmlns:a="http://schemas.openxmlformats.org/drawingml/2006/main">
            <a:off x="7829550" y="5267325"/>
            <a:ext cx="3524250"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42" name="">
            <a:extLst xmlns:a="http://schemas.openxmlformats.org/drawingml/2006/main">
              <a:ext uri="{FF2B5EF4-FFF2-40B4-BE49-F238E27FC236}">
                <a16:creationId xmlns:a16="http://schemas.microsoft.com/office/drawing/2014/main" id="{5CAD018B-7217-4D2C-9942-FC9909A169D9}"/>
              </a:ext>
            </a:extLst>
          </p:cNvPr>
          <p:cNvSpPr>
            <a:spLocks xmlns:a="http://schemas.openxmlformats.org/drawingml/2006/main" noGrp="1"/>
          </p:cNvSpPr>
          <p:nvPr/>
        </p:nvSpPr>
        <p:spPr>
          <a:xfrm xmlns:a="http://schemas.openxmlformats.org/drawingml/2006/main">
            <a:off x="7924800" y="5334000"/>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Hemodynamic tolerance and exact volume</a:t>
            </a:r>
          </a:p>
        </p:txBody>
      </p:sp>
    </p:spTree>
    <p:extLst>
      <p:ext uri="{BB962C8B-B14F-4D97-AF65-F5344CB8AC3E}">
        <p14:creationId xmlns:p14="http://schemas.microsoft.com/office/powerpoint/2010/main" val="1507131570"/>
      </p:ext>
    </p:extLst>
  </p:cSld>
</p:sld>
</file>

<file path=ppt/slides/slide2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7509328E-9B4F-4DBD-BB7A-8664FA5F7C5B}"/>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44AA3B59-B5D1-4B7B-84D2-61EE20EEC2D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FAAFD369-CCB1-452D-A302-81F28424E412}"/>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C515BA2A-DB11-4503-8A37-7767D1F7038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Medication compatibility has several dimensions</a:t>
            </a:r>
          </a:p>
        </p:txBody>
      </p:sp>
      <p:sp>
        <p:nvSpPr>
          <p:cNvPr id="5" name="">
            <a:extLst xmlns:a="http://schemas.openxmlformats.org/drawingml/2006/main">
              <a:ext uri="{FF2B5EF4-FFF2-40B4-BE49-F238E27FC236}">
                <a16:creationId xmlns:a16="http://schemas.microsoft.com/office/drawing/2014/main" id="{FD92868A-421C-427D-8139-C4D7A9FBC5A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6" name="">
            <a:extLst xmlns:a="http://schemas.openxmlformats.org/drawingml/2006/main">
              <a:ext uri="{FF2B5EF4-FFF2-40B4-BE49-F238E27FC236}">
                <a16:creationId xmlns:a16="http://schemas.microsoft.com/office/drawing/2014/main" id="{873B058B-A5FE-46F1-BA0C-B21AC65406C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20</a:t>
            </a:r>
          </a:p>
        </p:txBody>
      </p:sp>
      <p:sp>
        <p:nvSpPr>
          <p:cNvPr id="7" name="">
            <a:extLst xmlns:a="http://schemas.openxmlformats.org/drawingml/2006/main">
              <a:ext uri="{FF2B5EF4-FFF2-40B4-BE49-F238E27FC236}">
                <a16:creationId xmlns:a16="http://schemas.microsoft.com/office/drawing/2014/main" id="{7E918466-E9AC-43BB-B586-A9B6CD1722A3}"/>
              </a:ext>
            </a:extLst>
          </p:cNvPr>
          <p:cNvSpPr>
            <a:spLocks xmlns:a="http://schemas.openxmlformats.org/drawingml/2006/main" noGrp="1"/>
          </p:cNvSpPr>
          <p:nvPr/>
        </p:nvSpPr>
        <p:spPr>
          <a:xfrm xmlns:a="http://schemas.openxmlformats.org/drawingml/2006/main">
            <a:off x="7810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DD7866D8-D8C7-49C0-BF72-35A19BA6A952}"/>
              </a:ext>
            </a:extLst>
          </p:cNvPr>
          <p:cNvSpPr>
            <a:spLocks xmlns:a="http://schemas.openxmlformats.org/drawingml/2006/main" noGrp="1"/>
          </p:cNvSpPr>
          <p:nvPr/>
        </p:nvSpPr>
        <p:spPr>
          <a:xfrm xmlns:a="http://schemas.openxmlformats.org/drawingml/2006/main">
            <a:off x="8763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Type</a:t>
            </a:r>
          </a:p>
        </p:txBody>
      </p:sp>
      <p:sp>
        <p:nvSpPr>
          <p:cNvPr id="9" name="">
            <a:extLst xmlns:a="http://schemas.openxmlformats.org/drawingml/2006/main">
              <a:ext uri="{FF2B5EF4-FFF2-40B4-BE49-F238E27FC236}">
                <a16:creationId xmlns:a16="http://schemas.microsoft.com/office/drawing/2014/main" id="{5FF066E6-CF6B-4770-BA5F-F2DEA0F96688}"/>
              </a:ext>
            </a:extLst>
          </p:cNvPr>
          <p:cNvSpPr>
            <a:spLocks xmlns:a="http://schemas.openxmlformats.org/drawingml/2006/main" noGrp="1"/>
          </p:cNvSpPr>
          <p:nvPr/>
        </p:nvSpPr>
        <p:spPr>
          <a:xfrm xmlns:a="http://schemas.openxmlformats.org/drawingml/2006/main">
            <a:off x="430530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C8DC6CE7-287E-4B64-B876-2FC536930273}"/>
              </a:ext>
            </a:extLst>
          </p:cNvPr>
          <p:cNvSpPr>
            <a:spLocks xmlns:a="http://schemas.openxmlformats.org/drawingml/2006/main" noGrp="1"/>
          </p:cNvSpPr>
          <p:nvPr/>
        </p:nvSpPr>
        <p:spPr>
          <a:xfrm xmlns:a="http://schemas.openxmlformats.org/drawingml/2006/main">
            <a:off x="440055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Meaning</a:t>
            </a:r>
          </a:p>
        </p:txBody>
      </p:sp>
      <p:sp>
        <p:nvSpPr>
          <p:cNvPr id="11" name="">
            <a:extLst xmlns:a="http://schemas.openxmlformats.org/drawingml/2006/main">
              <a:ext uri="{FF2B5EF4-FFF2-40B4-BE49-F238E27FC236}">
                <a16:creationId xmlns:a16="http://schemas.microsoft.com/office/drawing/2014/main" id="{9003558C-2D02-43A3-9A30-0C33C5FC68A2}"/>
              </a:ext>
            </a:extLst>
          </p:cNvPr>
          <p:cNvSpPr>
            <a:spLocks xmlns:a="http://schemas.openxmlformats.org/drawingml/2006/main" noGrp="1"/>
          </p:cNvSpPr>
          <p:nvPr/>
        </p:nvSpPr>
        <p:spPr>
          <a:xfrm xmlns:a="http://schemas.openxmlformats.org/drawingml/2006/main">
            <a:off x="78295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075CA371-9824-42BD-83AE-D26B353EC997}"/>
              </a:ext>
            </a:extLst>
          </p:cNvPr>
          <p:cNvSpPr>
            <a:spLocks xmlns:a="http://schemas.openxmlformats.org/drawingml/2006/main" noGrp="1"/>
          </p:cNvSpPr>
          <p:nvPr/>
        </p:nvSpPr>
        <p:spPr>
          <a:xfrm xmlns:a="http://schemas.openxmlformats.org/drawingml/2006/main">
            <a:off x="79248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What the nurse does</a:t>
            </a:r>
          </a:p>
        </p:txBody>
      </p:sp>
      <p:sp>
        <p:nvSpPr>
          <p:cNvPr id="13" name="">
            <a:extLst xmlns:a="http://schemas.openxmlformats.org/drawingml/2006/main">
              <a:ext uri="{FF2B5EF4-FFF2-40B4-BE49-F238E27FC236}">
                <a16:creationId xmlns:a16="http://schemas.microsoft.com/office/drawing/2014/main" id="{F54B69C2-A9E8-4B01-ADDD-03A449C7F118}"/>
              </a:ext>
            </a:extLst>
          </p:cNvPr>
          <p:cNvSpPr>
            <a:spLocks xmlns:a="http://schemas.openxmlformats.org/drawingml/2006/main" noGrp="1"/>
          </p:cNvSpPr>
          <p:nvPr/>
        </p:nvSpPr>
        <p:spPr>
          <a:xfrm xmlns:a="http://schemas.openxmlformats.org/drawingml/2006/main">
            <a:off x="7810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2086A8B6-5284-47EF-BCF2-191936EDACAE}"/>
              </a:ext>
            </a:extLst>
          </p:cNvPr>
          <p:cNvSpPr>
            <a:spLocks xmlns:a="http://schemas.openxmlformats.org/drawingml/2006/main" noGrp="1"/>
          </p:cNvSpPr>
          <p:nvPr/>
        </p:nvSpPr>
        <p:spPr>
          <a:xfrm xmlns:a="http://schemas.openxmlformats.org/drawingml/2006/main">
            <a:off x="8763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Physical</a:t>
            </a:r>
          </a:p>
        </p:txBody>
      </p:sp>
      <p:sp>
        <p:nvSpPr>
          <p:cNvPr id="15" name="">
            <a:extLst xmlns:a="http://schemas.openxmlformats.org/drawingml/2006/main">
              <a:ext uri="{FF2B5EF4-FFF2-40B4-BE49-F238E27FC236}">
                <a16:creationId xmlns:a16="http://schemas.microsoft.com/office/drawing/2014/main" id="{218167AF-DAE4-4787-8358-27E3B3809A8D}"/>
              </a:ext>
            </a:extLst>
          </p:cNvPr>
          <p:cNvSpPr>
            <a:spLocks xmlns:a="http://schemas.openxmlformats.org/drawingml/2006/main" noGrp="1"/>
          </p:cNvSpPr>
          <p:nvPr/>
        </p:nvSpPr>
        <p:spPr>
          <a:xfrm xmlns:a="http://schemas.openxmlformats.org/drawingml/2006/main">
            <a:off x="430530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4C4F78AA-6F37-424C-ABA5-BF5F89DB2455}"/>
              </a:ext>
            </a:extLst>
          </p:cNvPr>
          <p:cNvSpPr>
            <a:spLocks xmlns:a="http://schemas.openxmlformats.org/drawingml/2006/main" noGrp="1"/>
          </p:cNvSpPr>
          <p:nvPr/>
        </p:nvSpPr>
        <p:spPr>
          <a:xfrm xmlns:a="http://schemas.openxmlformats.org/drawingml/2006/main">
            <a:off x="440055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Visible precipitate, haze, color change, gas, or separation</a:t>
            </a:r>
          </a:p>
        </p:txBody>
      </p:sp>
      <p:sp>
        <p:nvSpPr>
          <p:cNvPr id="17" name="">
            <a:extLst xmlns:a="http://schemas.openxmlformats.org/drawingml/2006/main">
              <a:ext uri="{FF2B5EF4-FFF2-40B4-BE49-F238E27FC236}">
                <a16:creationId xmlns:a16="http://schemas.microsoft.com/office/drawing/2014/main" id="{643050B8-8A7F-42FD-85F7-54D6CA30C4F9}"/>
              </a:ext>
            </a:extLst>
          </p:cNvPr>
          <p:cNvSpPr>
            <a:spLocks xmlns:a="http://schemas.openxmlformats.org/drawingml/2006/main" noGrp="1"/>
          </p:cNvSpPr>
          <p:nvPr/>
        </p:nvSpPr>
        <p:spPr>
          <a:xfrm xmlns:a="http://schemas.openxmlformats.org/drawingml/2006/main">
            <a:off x="78295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7921D11F-E31D-4848-96E8-87648DAA14C8}"/>
              </a:ext>
            </a:extLst>
          </p:cNvPr>
          <p:cNvSpPr>
            <a:spLocks xmlns:a="http://schemas.openxmlformats.org/drawingml/2006/main" noGrp="1"/>
          </p:cNvSpPr>
          <p:nvPr/>
        </p:nvSpPr>
        <p:spPr>
          <a:xfrm xmlns:a="http://schemas.openxmlformats.org/drawingml/2006/main">
            <a:off x="79248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Do not administer; stop and clarify</a:t>
            </a:r>
          </a:p>
        </p:txBody>
      </p:sp>
      <p:sp>
        <p:nvSpPr>
          <p:cNvPr id="19" name="">
            <a:extLst xmlns:a="http://schemas.openxmlformats.org/drawingml/2006/main">
              <a:ext uri="{FF2B5EF4-FFF2-40B4-BE49-F238E27FC236}">
                <a16:creationId xmlns:a16="http://schemas.microsoft.com/office/drawing/2014/main" id="{FC296B41-F081-4E65-9320-21F8A794B733}"/>
              </a:ext>
            </a:extLst>
          </p:cNvPr>
          <p:cNvSpPr>
            <a:spLocks xmlns:a="http://schemas.openxmlformats.org/drawingml/2006/main" noGrp="1"/>
          </p:cNvSpPr>
          <p:nvPr/>
        </p:nvSpPr>
        <p:spPr>
          <a:xfrm xmlns:a="http://schemas.openxmlformats.org/drawingml/2006/main">
            <a:off x="7810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54E31F5D-4CD9-49D4-AD5F-410EC765F066}"/>
              </a:ext>
            </a:extLst>
          </p:cNvPr>
          <p:cNvSpPr>
            <a:spLocks xmlns:a="http://schemas.openxmlformats.org/drawingml/2006/main" noGrp="1"/>
          </p:cNvSpPr>
          <p:nvPr/>
        </p:nvSpPr>
        <p:spPr>
          <a:xfrm xmlns:a="http://schemas.openxmlformats.org/drawingml/2006/main">
            <a:off x="8763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Chemical</a:t>
            </a:r>
          </a:p>
        </p:txBody>
      </p:sp>
      <p:sp>
        <p:nvSpPr>
          <p:cNvPr id="21" name="">
            <a:extLst xmlns:a="http://schemas.openxmlformats.org/drawingml/2006/main">
              <a:ext uri="{FF2B5EF4-FFF2-40B4-BE49-F238E27FC236}">
                <a16:creationId xmlns:a16="http://schemas.microsoft.com/office/drawing/2014/main" id="{2FD784F5-2D7D-4992-BAA0-FA747AAE4972}"/>
              </a:ext>
            </a:extLst>
          </p:cNvPr>
          <p:cNvSpPr>
            <a:spLocks xmlns:a="http://schemas.openxmlformats.org/drawingml/2006/main" noGrp="1"/>
          </p:cNvSpPr>
          <p:nvPr/>
        </p:nvSpPr>
        <p:spPr>
          <a:xfrm xmlns:a="http://schemas.openxmlformats.org/drawingml/2006/main">
            <a:off x="430530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C177C1DC-BA2D-41CF-9B33-7EAD83B6CAA1}"/>
              </a:ext>
            </a:extLst>
          </p:cNvPr>
          <p:cNvSpPr>
            <a:spLocks xmlns:a="http://schemas.openxmlformats.org/drawingml/2006/main" noGrp="1"/>
          </p:cNvSpPr>
          <p:nvPr/>
        </p:nvSpPr>
        <p:spPr>
          <a:xfrm xmlns:a="http://schemas.openxmlformats.org/drawingml/2006/main">
            <a:off x="440055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Drug degrades or reacts even without visible change</a:t>
            </a:r>
          </a:p>
        </p:txBody>
      </p:sp>
      <p:sp>
        <p:nvSpPr>
          <p:cNvPr id="23" name="">
            <a:extLst xmlns:a="http://schemas.openxmlformats.org/drawingml/2006/main">
              <a:ext uri="{FF2B5EF4-FFF2-40B4-BE49-F238E27FC236}">
                <a16:creationId xmlns:a16="http://schemas.microsoft.com/office/drawing/2014/main" id="{FF261641-DCD2-4FF6-AE99-897E2337879D}"/>
              </a:ext>
            </a:extLst>
          </p:cNvPr>
          <p:cNvSpPr>
            <a:spLocks xmlns:a="http://schemas.openxmlformats.org/drawingml/2006/main" noGrp="1"/>
          </p:cNvSpPr>
          <p:nvPr/>
        </p:nvSpPr>
        <p:spPr>
          <a:xfrm xmlns:a="http://schemas.openxmlformats.org/drawingml/2006/main">
            <a:off x="78295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70049706-365F-4780-9CD6-C529A5AA623A}"/>
              </a:ext>
            </a:extLst>
          </p:cNvPr>
          <p:cNvSpPr>
            <a:spLocks xmlns:a="http://schemas.openxmlformats.org/drawingml/2006/main" noGrp="1"/>
          </p:cNvSpPr>
          <p:nvPr/>
        </p:nvSpPr>
        <p:spPr>
          <a:xfrm xmlns:a="http://schemas.openxmlformats.org/drawingml/2006/main">
            <a:off x="79248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Use an approved compatibility reference</a:t>
            </a:r>
          </a:p>
        </p:txBody>
      </p:sp>
      <p:sp>
        <p:nvSpPr>
          <p:cNvPr id="25" name="">
            <a:extLst xmlns:a="http://schemas.openxmlformats.org/drawingml/2006/main">
              <a:ext uri="{FF2B5EF4-FFF2-40B4-BE49-F238E27FC236}">
                <a16:creationId xmlns:a16="http://schemas.microsoft.com/office/drawing/2014/main" id="{FB174CA3-27C8-4C0F-AAF3-0342046F59AA}"/>
              </a:ext>
            </a:extLst>
          </p:cNvPr>
          <p:cNvSpPr>
            <a:spLocks xmlns:a="http://schemas.openxmlformats.org/drawingml/2006/main" noGrp="1"/>
          </p:cNvSpPr>
          <p:nvPr/>
        </p:nvSpPr>
        <p:spPr>
          <a:xfrm xmlns:a="http://schemas.openxmlformats.org/drawingml/2006/main">
            <a:off x="7810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32911A7B-9520-4389-B174-D5A2BF5CDA65}"/>
              </a:ext>
            </a:extLst>
          </p:cNvPr>
          <p:cNvSpPr>
            <a:spLocks xmlns:a="http://schemas.openxmlformats.org/drawingml/2006/main" noGrp="1"/>
          </p:cNvSpPr>
          <p:nvPr/>
        </p:nvSpPr>
        <p:spPr>
          <a:xfrm xmlns:a="http://schemas.openxmlformats.org/drawingml/2006/main">
            <a:off x="8763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Therapeutic</a:t>
            </a:r>
          </a:p>
        </p:txBody>
      </p:sp>
      <p:sp>
        <p:nvSpPr>
          <p:cNvPr id="27" name="">
            <a:extLst xmlns:a="http://schemas.openxmlformats.org/drawingml/2006/main">
              <a:ext uri="{FF2B5EF4-FFF2-40B4-BE49-F238E27FC236}">
                <a16:creationId xmlns:a16="http://schemas.microsoft.com/office/drawing/2014/main" id="{F2DECFCB-CEEC-4EF1-B1F2-E427053788E4}"/>
              </a:ext>
            </a:extLst>
          </p:cNvPr>
          <p:cNvSpPr>
            <a:spLocks xmlns:a="http://schemas.openxmlformats.org/drawingml/2006/main" noGrp="1"/>
          </p:cNvSpPr>
          <p:nvPr/>
        </p:nvSpPr>
        <p:spPr>
          <a:xfrm xmlns:a="http://schemas.openxmlformats.org/drawingml/2006/main">
            <a:off x="430530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5A0AA885-0A9D-487D-B494-A9825FB81307}"/>
              </a:ext>
            </a:extLst>
          </p:cNvPr>
          <p:cNvSpPr>
            <a:spLocks xmlns:a="http://schemas.openxmlformats.org/drawingml/2006/main" noGrp="1"/>
          </p:cNvSpPr>
          <p:nvPr/>
        </p:nvSpPr>
        <p:spPr>
          <a:xfrm xmlns:a="http://schemas.openxmlformats.org/drawingml/2006/main">
            <a:off x="440055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Combined drug effects create an unintended clinical result</a:t>
            </a:r>
          </a:p>
        </p:txBody>
      </p:sp>
      <p:sp>
        <p:nvSpPr>
          <p:cNvPr id="29" name="">
            <a:extLst xmlns:a="http://schemas.openxmlformats.org/drawingml/2006/main">
              <a:ext uri="{FF2B5EF4-FFF2-40B4-BE49-F238E27FC236}">
                <a16:creationId xmlns:a16="http://schemas.microsoft.com/office/drawing/2014/main" id="{DFF4745C-05AA-42AD-A87C-3F3F3747AD35}"/>
              </a:ext>
            </a:extLst>
          </p:cNvPr>
          <p:cNvSpPr>
            <a:spLocks xmlns:a="http://schemas.openxmlformats.org/drawingml/2006/main" noGrp="1"/>
          </p:cNvSpPr>
          <p:nvPr/>
        </p:nvSpPr>
        <p:spPr>
          <a:xfrm xmlns:a="http://schemas.openxmlformats.org/drawingml/2006/main">
            <a:off x="78295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39A326F1-2EF2-455C-BBEC-CA800845299D}"/>
              </a:ext>
            </a:extLst>
          </p:cNvPr>
          <p:cNvSpPr>
            <a:spLocks xmlns:a="http://schemas.openxmlformats.org/drawingml/2006/main" noGrp="1"/>
          </p:cNvSpPr>
          <p:nvPr/>
        </p:nvSpPr>
        <p:spPr>
          <a:xfrm xmlns:a="http://schemas.openxmlformats.org/drawingml/2006/main">
            <a:off x="79248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Review interactions, patient condition, and monitoring</a:t>
            </a:r>
          </a:p>
        </p:txBody>
      </p:sp>
      <p:sp>
        <p:nvSpPr>
          <p:cNvPr id="31" name="">
            <a:extLst xmlns:a="http://schemas.openxmlformats.org/drawingml/2006/main">
              <a:ext uri="{FF2B5EF4-FFF2-40B4-BE49-F238E27FC236}">
                <a16:creationId xmlns:a16="http://schemas.microsoft.com/office/drawing/2014/main" id="{7A5B8A83-A6CF-4C19-8AA5-34B4FAFEDACC}"/>
              </a:ext>
            </a:extLst>
          </p:cNvPr>
          <p:cNvSpPr>
            <a:spLocks xmlns:a="http://schemas.openxmlformats.org/drawingml/2006/main" noGrp="1"/>
          </p:cNvSpPr>
          <p:nvPr/>
        </p:nvSpPr>
        <p:spPr>
          <a:xfrm xmlns:a="http://schemas.openxmlformats.org/drawingml/2006/main">
            <a:off x="7810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2" name="">
            <a:extLst xmlns:a="http://schemas.openxmlformats.org/drawingml/2006/main">
              <a:ext uri="{FF2B5EF4-FFF2-40B4-BE49-F238E27FC236}">
                <a16:creationId xmlns:a16="http://schemas.microsoft.com/office/drawing/2014/main" id="{11F9B918-059F-49E8-A4F9-17EFEBDA72F0}"/>
              </a:ext>
            </a:extLst>
          </p:cNvPr>
          <p:cNvSpPr>
            <a:spLocks xmlns:a="http://schemas.openxmlformats.org/drawingml/2006/main" noGrp="1"/>
          </p:cNvSpPr>
          <p:nvPr/>
        </p:nvSpPr>
        <p:spPr>
          <a:xfrm xmlns:a="http://schemas.openxmlformats.org/drawingml/2006/main">
            <a:off x="8763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Container or tubing</a:t>
            </a:r>
          </a:p>
        </p:txBody>
      </p:sp>
      <p:sp>
        <p:nvSpPr>
          <p:cNvPr id="33" name="">
            <a:extLst xmlns:a="http://schemas.openxmlformats.org/drawingml/2006/main">
              <a:ext uri="{FF2B5EF4-FFF2-40B4-BE49-F238E27FC236}">
                <a16:creationId xmlns:a16="http://schemas.microsoft.com/office/drawing/2014/main" id="{DE5221F5-1F47-4AD1-8A4C-DFE1A6408060}"/>
              </a:ext>
            </a:extLst>
          </p:cNvPr>
          <p:cNvSpPr>
            <a:spLocks xmlns:a="http://schemas.openxmlformats.org/drawingml/2006/main" noGrp="1"/>
          </p:cNvSpPr>
          <p:nvPr/>
        </p:nvSpPr>
        <p:spPr>
          <a:xfrm xmlns:a="http://schemas.openxmlformats.org/drawingml/2006/main">
            <a:off x="430530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4" name="">
            <a:extLst xmlns:a="http://schemas.openxmlformats.org/drawingml/2006/main">
              <a:ext uri="{FF2B5EF4-FFF2-40B4-BE49-F238E27FC236}">
                <a16:creationId xmlns:a16="http://schemas.microsoft.com/office/drawing/2014/main" id="{CDAF488D-976F-4875-AE6E-342E777EDD00}"/>
              </a:ext>
            </a:extLst>
          </p:cNvPr>
          <p:cNvSpPr>
            <a:spLocks xmlns:a="http://schemas.openxmlformats.org/drawingml/2006/main" noGrp="1"/>
          </p:cNvSpPr>
          <p:nvPr/>
        </p:nvSpPr>
        <p:spPr>
          <a:xfrm xmlns:a="http://schemas.openxmlformats.org/drawingml/2006/main">
            <a:off x="440055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Drug binds to, leaches from, or is altered by the delivery system</a:t>
            </a:r>
          </a:p>
        </p:txBody>
      </p:sp>
      <p:sp>
        <p:nvSpPr>
          <p:cNvPr id="35" name="">
            <a:extLst xmlns:a="http://schemas.openxmlformats.org/drawingml/2006/main">
              <a:ext uri="{FF2B5EF4-FFF2-40B4-BE49-F238E27FC236}">
                <a16:creationId xmlns:a16="http://schemas.microsoft.com/office/drawing/2014/main" id="{40CFACED-1890-4BAF-B95C-367AE4347013}"/>
              </a:ext>
            </a:extLst>
          </p:cNvPr>
          <p:cNvSpPr>
            <a:spLocks xmlns:a="http://schemas.openxmlformats.org/drawingml/2006/main" noGrp="1"/>
          </p:cNvSpPr>
          <p:nvPr/>
        </p:nvSpPr>
        <p:spPr>
          <a:xfrm xmlns:a="http://schemas.openxmlformats.org/drawingml/2006/main">
            <a:off x="78295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6" name="">
            <a:extLst xmlns:a="http://schemas.openxmlformats.org/drawingml/2006/main">
              <a:ext uri="{FF2B5EF4-FFF2-40B4-BE49-F238E27FC236}">
                <a16:creationId xmlns:a16="http://schemas.microsoft.com/office/drawing/2014/main" id="{72A19DDA-1491-4049-AEDD-F3FC27A1267E}"/>
              </a:ext>
            </a:extLst>
          </p:cNvPr>
          <p:cNvSpPr>
            <a:spLocks xmlns:a="http://schemas.openxmlformats.org/drawingml/2006/main" noGrp="1"/>
          </p:cNvSpPr>
          <p:nvPr/>
        </p:nvSpPr>
        <p:spPr>
          <a:xfrm xmlns:a="http://schemas.openxmlformats.org/drawingml/2006/main">
            <a:off x="79248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Follow pharmacy and manufacturer instructions</a:t>
            </a:r>
          </a:p>
        </p:txBody>
      </p:sp>
    </p:spTree>
    <p:extLst>
      <p:ext uri="{BB962C8B-B14F-4D97-AF65-F5344CB8AC3E}">
        <p14:creationId xmlns:p14="http://schemas.microsoft.com/office/powerpoint/2010/main" val="1234569380"/>
      </p:ext>
    </p:extLst>
  </p:cSld>
</p:sld>
</file>

<file path=ppt/slides/slide2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1F9076F8-1BAE-4ABD-BFF0-9F85370EDABA}"/>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286E7602-EDC2-4A8F-868A-ECFE02DD628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61A8F311-3AB9-4B79-BD77-D8CC9AF5E134}"/>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6C85961A-46C1-4A11-AC84-CB914E4DCAA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Medication action and patient response</a:t>
            </a:r>
          </a:p>
        </p:txBody>
      </p:sp>
      <p:sp>
        <p:nvSpPr>
          <p:cNvPr id="5" name="">
            <a:extLst xmlns:a="http://schemas.openxmlformats.org/drawingml/2006/main">
              <a:ext uri="{FF2B5EF4-FFF2-40B4-BE49-F238E27FC236}">
                <a16:creationId xmlns:a16="http://schemas.microsoft.com/office/drawing/2014/main" id="{3FA756F7-154D-4FAC-AD1E-F7CEEAFADC3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6" name="">
            <a:extLst xmlns:a="http://schemas.openxmlformats.org/drawingml/2006/main">
              <a:ext uri="{FF2B5EF4-FFF2-40B4-BE49-F238E27FC236}">
                <a16:creationId xmlns:a16="http://schemas.microsoft.com/office/drawing/2014/main" id="{D28D8EF3-8EF7-40A4-B31B-695995C50F0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21</a:t>
            </a:r>
          </a:p>
        </p:txBody>
      </p:sp>
      <p:sp>
        <p:nvSpPr>
          <p:cNvPr id="7" name="">
            <a:extLst xmlns:a="http://schemas.openxmlformats.org/drawingml/2006/main">
              <a:ext uri="{FF2B5EF4-FFF2-40B4-BE49-F238E27FC236}">
                <a16:creationId xmlns:a16="http://schemas.microsoft.com/office/drawing/2014/main" id="{2C0F23E0-45E7-436A-87B8-792217F2D121}"/>
              </a:ext>
            </a:extLst>
          </p:cNvPr>
          <p:cNvSpPr>
            <a:spLocks xmlns:a="http://schemas.openxmlformats.org/drawingml/2006/main" noGrp="1"/>
          </p:cNvSpPr>
          <p:nvPr/>
        </p:nvSpPr>
        <p:spPr>
          <a:xfrm xmlns:a="http://schemas.openxmlformats.org/drawingml/2006/main">
            <a:off x="781050" y="1695450"/>
            <a:ext cx="5286375"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0DD0F6D6-EFCA-425F-A9C3-D45899524F30}"/>
              </a:ext>
            </a:extLst>
          </p:cNvPr>
          <p:cNvSpPr>
            <a:spLocks xmlns:a="http://schemas.openxmlformats.org/drawingml/2006/main" noGrp="1"/>
          </p:cNvSpPr>
          <p:nvPr/>
        </p:nvSpPr>
        <p:spPr>
          <a:xfrm xmlns:a="http://schemas.openxmlformats.org/drawingml/2006/main">
            <a:off x="876300" y="17621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Concept</a:t>
            </a:r>
          </a:p>
        </p:txBody>
      </p:sp>
      <p:sp>
        <p:nvSpPr>
          <p:cNvPr id="9" name="">
            <a:extLst xmlns:a="http://schemas.openxmlformats.org/drawingml/2006/main">
              <a:ext uri="{FF2B5EF4-FFF2-40B4-BE49-F238E27FC236}">
                <a16:creationId xmlns:a16="http://schemas.microsoft.com/office/drawing/2014/main" id="{319D6E06-6B2F-4ACD-89E6-70E85ADA068C}"/>
              </a:ext>
            </a:extLst>
          </p:cNvPr>
          <p:cNvSpPr>
            <a:spLocks xmlns:a="http://schemas.openxmlformats.org/drawingml/2006/main" noGrp="1"/>
          </p:cNvSpPr>
          <p:nvPr/>
        </p:nvSpPr>
        <p:spPr>
          <a:xfrm xmlns:a="http://schemas.openxmlformats.org/drawingml/2006/main">
            <a:off x="6067425" y="1695450"/>
            <a:ext cx="5286375"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B43B06CA-7505-4E38-9346-E3D0E0C6A83A}"/>
              </a:ext>
            </a:extLst>
          </p:cNvPr>
          <p:cNvSpPr>
            <a:spLocks xmlns:a="http://schemas.openxmlformats.org/drawingml/2006/main" noGrp="1"/>
          </p:cNvSpPr>
          <p:nvPr/>
        </p:nvSpPr>
        <p:spPr>
          <a:xfrm xmlns:a="http://schemas.openxmlformats.org/drawingml/2006/main">
            <a:off x="6162675" y="17621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Question</a:t>
            </a:r>
          </a:p>
        </p:txBody>
      </p:sp>
      <p:sp>
        <p:nvSpPr>
          <p:cNvPr id="11" name="">
            <a:extLst xmlns:a="http://schemas.openxmlformats.org/drawingml/2006/main">
              <a:ext uri="{FF2B5EF4-FFF2-40B4-BE49-F238E27FC236}">
                <a16:creationId xmlns:a16="http://schemas.microsoft.com/office/drawing/2014/main" id="{6DCA7C83-466A-4C00-9A17-37A2E3A15BC8}"/>
              </a:ext>
            </a:extLst>
          </p:cNvPr>
          <p:cNvSpPr>
            <a:spLocks xmlns:a="http://schemas.openxmlformats.org/drawingml/2006/main" noGrp="1"/>
          </p:cNvSpPr>
          <p:nvPr/>
        </p:nvSpPr>
        <p:spPr>
          <a:xfrm xmlns:a="http://schemas.openxmlformats.org/drawingml/2006/main">
            <a:off x="781050" y="24098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A1DADDB4-3A7F-4A9C-9577-C0D9036AC5B2}"/>
              </a:ext>
            </a:extLst>
          </p:cNvPr>
          <p:cNvSpPr>
            <a:spLocks xmlns:a="http://schemas.openxmlformats.org/drawingml/2006/main" noGrp="1"/>
          </p:cNvSpPr>
          <p:nvPr/>
        </p:nvSpPr>
        <p:spPr>
          <a:xfrm xmlns:a="http://schemas.openxmlformats.org/drawingml/2006/main">
            <a:off x="876300" y="24765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Absorption and bioavailability</a:t>
            </a:r>
          </a:p>
        </p:txBody>
      </p:sp>
      <p:sp>
        <p:nvSpPr>
          <p:cNvPr id="13" name="">
            <a:extLst xmlns:a="http://schemas.openxmlformats.org/drawingml/2006/main">
              <a:ext uri="{FF2B5EF4-FFF2-40B4-BE49-F238E27FC236}">
                <a16:creationId xmlns:a16="http://schemas.microsoft.com/office/drawing/2014/main" id="{1F0B2BB7-1DA1-41A3-A69B-774AFD8868AD}"/>
              </a:ext>
            </a:extLst>
          </p:cNvPr>
          <p:cNvSpPr>
            <a:spLocks xmlns:a="http://schemas.openxmlformats.org/drawingml/2006/main" noGrp="1"/>
          </p:cNvSpPr>
          <p:nvPr/>
        </p:nvSpPr>
        <p:spPr>
          <a:xfrm xmlns:a="http://schemas.openxmlformats.org/drawingml/2006/main">
            <a:off x="6067425" y="24098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4B06FD8B-AE21-4E48-91F3-62AD4D556AF0}"/>
              </a:ext>
            </a:extLst>
          </p:cNvPr>
          <p:cNvSpPr>
            <a:spLocks xmlns:a="http://schemas.openxmlformats.org/drawingml/2006/main" noGrp="1"/>
          </p:cNvSpPr>
          <p:nvPr/>
        </p:nvSpPr>
        <p:spPr>
          <a:xfrm xmlns:a="http://schemas.openxmlformats.org/drawingml/2006/main">
            <a:off x="6162675" y="24765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How does direct IV delivery change onset and risk?</a:t>
            </a:r>
          </a:p>
        </p:txBody>
      </p:sp>
      <p:sp>
        <p:nvSpPr>
          <p:cNvPr id="15" name="">
            <a:extLst xmlns:a="http://schemas.openxmlformats.org/drawingml/2006/main">
              <a:ext uri="{FF2B5EF4-FFF2-40B4-BE49-F238E27FC236}">
                <a16:creationId xmlns:a16="http://schemas.microsoft.com/office/drawing/2014/main" id="{55CECCB9-1E11-4424-BAD2-1441BDD722B9}"/>
              </a:ext>
            </a:extLst>
          </p:cNvPr>
          <p:cNvSpPr>
            <a:spLocks xmlns:a="http://schemas.openxmlformats.org/drawingml/2006/main" noGrp="1"/>
          </p:cNvSpPr>
          <p:nvPr/>
        </p:nvSpPr>
        <p:spPr>
          <a:xfrm xmlns:a="http://schemas.openxmlformats.org/drawingml/2006/main">
            <a:off x="781050" y="312420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545E9A89-3511-4878-B477-A70B0889EDE1}"/>
              </a:ext>
            </a:extLst>
          </p:cNvPr>
          <p:cNvSpPr>
            <a:spLocks xmlns:a="http://schemas.openxmlformats.org/drawingml/2006/main" noGrp="1"/>
          </p:cNvSpPr>
          <p:nvPr/>
        </p:nvSpPr>
        <p:spPr>
          <a:xfrm xmlns:a="http://schemas.openxmlformats.org/drawingml/2006/main">
            <a:off x="876300" y="319087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Distribution</a:t>
            </a:r>
          </a:p>
        </p:txBody>
      </p:sp>
      <p:sp>
        <p:nvSpPr>
          <p:cNvPr id="17" name="">
            <a:extLst xmlns:a="http://schemas.openxmlformats.org/drawingml/2006/main">
              <a:ext uri="{FF2B5EF4-FFF2-40B4-BE49-F238E27FC236}">
                <a16:creationId xmlns:a16="http://schemas.microsoft.com/office/drawing/2014/main" id="{75ACC716-F3D3-432A-908E-657DCFC3A8AB}"/>
              </a:ext>
            </a:extLst>
          </p:cNvPr>
          <p:cNvSpPr>
            <a:spLocks xmlns:a="http://schemas.openxmlformats.org/drawingml/2006/main" noGrp="1"/>
          </p:cNvSpPr>
          <p:nvPr/>
        </p:nvSpPr>
        <p:spPr>
          <a:xfrm xmlns:a="http://schemas.openxmlformats.org/drawingml/2006/main">
            <a:off x="6067425" y="312420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225A1150-96DA-474F-B40B-C06C2DB0E5C2}"/>
              </a:ext>
            </a:extLst>
          </p:cNvPr>
          <p:cNvSpPr>
            <a:spLocks xmlns:a="http://schemas.openxmlformats.org/drawingml/2006/main" noGrp="1"/>
          </p:cNvSpPr>
          <p:nvPr/>
        </p:nvSpPr>
        <p:spPr>
          <a:xfrm xmlns:a="http://schemas.openxmlformats.org/drawingml/2006/main">
            <a:off x="6162675" y="319087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Do fluid status, protein binding, perfusion, or body composition change effect?</a:t>
            </a:r>
          </a:p>
        </p:txBody>
      </p:sp>
      <p:sp>
        <p:nvSpPr>
          <p:cNvPr id="19" name="">
            <a:extLst xmlns:a="http://schemas.openxmlformats.org/drawingml/2006/main">
              <a:ext uri="{FF2B5EF4-FFF2-40B4-BE49-F238E27FC236}">
                <a16:creationId xmlns:a16="http://schemas.microsoft.com/office/drawing/2014/main" id="{25081310-D227-4B12-9BDC-B60DAD4E93C6}"/>
              </a:ext>
            </a:extLst>
          </p:cNvPr>
          <p:cNvSpPr>
            <a:spLocks xmlns:a="http://schemas.openxmlformats.org/drawingml/2006/main" noGrp="1"/>
          </p:cNvSpPr>
          <p:nvPr/>
        </p:nvSpPr>
        <p:spPr>
          <a:xfrm xmlns:a="http://schemas.openxmlformats.org/drawingml/2006/main">
            <a:off x="781050" y="383857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EDD294C9-D934-4523-AF1E-CCDACFC653AC}"/>
              </a:ext>
            </a:extLst>
          </p:cNvPr>
          <p:cNvSpPr>
            <a:spLocks xmlns:a="http://schemas.openxmlformats.org/drawingml/2006/main" noGrp="1"/>
          </p:cNvSpPr>
          <p:nvPr/>
        </p:nvSpPr>
        <p:spPr>
          <a:xfrm xmlns:a="http://schemas.openxmlformats.org/drawingml/2006/main">
            <a:off x="876300" y="390525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Metabolism</a:t>
            </a:r>
          </a:p>
        </p:txBody>
      </p:sp>
      <p:sp>
        <p:nvSpPr>
          <p:cNvPr id="21" name="">
            <a:extLst xmlns:a="http://schemas.openxmlformats.org/drawingml/2006/main">
              <a:ext uri="{FF2B5EF4-FFF2-40B4-BE49-F238E27FC236}">
                <a16:creationId xmlns:a16="http://schemas.microsoft.com/office/drawing/2014/main" id="{4C5691B3-9479-4341-8CB1-766A200A5F98}"/>
              </a:ext>
            </a:extLst>
          </p:cNvPr>
          <p:cNvSpPr>
            <a:spLocks xmlns:a="http://schemas.openxmlformats.org/drawingml/2006/main" noGrp="1"/>
          </p:cNvSpPr>
          <p:nvPr/>
        </p:nvSpPr>
        <p:spPr>
          <a:xfrm xmlns:a="http://schemas.openxmlformats.org/drawingml/2006/main">
            <a:off x="6067425" y="383857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BB9C71CE-1242-42F1-8D9A-AE0DA3FBC106}"/>
              </a:ext>
            </a:extLst>
          </p:cNvPr>
          <p:cNvSpPr>
            <a:spLocks xmlns:a="http://schemas.openxmlformats.org/drawingml/2006/main" noGrp="1"/>
          </p:cNvSpPr>
          <p:nvPr/>
        </p:nvSpPr>
        <p:spPr>
          <a:xfrm xmlns:a="http://schemas.openxmlformats.org/drawingml/2006/main">
            <a:off x="6162675" y="390525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Does liver function alter clearance or active metabolites?</a:t>
            </a:r>
          </a:p>
        </p:txBody>
      </p:sp>
      <p:sp>
        <p:nvSpPr>
          <p:cNvPr id="23" name="">
            <a:extLst xmlns:a="http://schemas.openxmlformats.org/drawingml/2006/main">
              <a:ext uri="{FF2B5EF4-FFF2-40B4-BE49-F238E27FC236}">
                <a16:creationId xmlns:a16="http://schemas.microsoft.com/office/drawing/2014/main" id="{3279826E-4058-4DAE-A9FF-7BCCBD34A635}"/>
              </a:ext>
            </a:extLst>
          </p:cNvPr>
          <p:cNvSpPr>
            <a:spLocks xmlns:a="http://schemas.openxmlformats.org/drawingml/2006/main" noGrp="1"/>
          </p:cNvSpPr>
          <p:nvPr/>
        </p:nvSpPr>
        <p:spPr>
          <a:xfrm xmlns:a="http://schemas.openxmlformats.org/drawingml/2006/main">
            <a:off x="781050" y="455295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C572B91D-BAAF-4E35-A258-8C0D3126D4AF}"/>
              </a:ext>
            </a:extLst>
          </p:cNvPr>
          <p:cNvSpPr>
            <a:spLocks xmlns:a="http://schemas.openxmlformats.org/drawingml/2006/main" noGrp="1"/>
          </p:cNvSpPr>
          <p:nvPr/>
        </p:nvSpPr>
        <p:spPr>
          <a:xfrm xmlns:a="http://schemas.openxmlformats.org/drawingml/2006/main">
            <a:off x="876300" y="46196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Excretion</a:t>
            </a:r>
          </a:p>
        </p:txBody>
      </p:sp>
      <p:sp>
        <p:nvSpPr>
          <p:cNvPr id="25" name="">
            <a:extLst xmlns:a="http://schemas.openxmlformats.org/drawingml/2006/main">
              <a:ext uri="{FF2B5EF4-FFF2-40B4-BE49-F238E27FC236}">
                <a16:creationId xmlns:a16="http://schemas.microsoft.com/office/drawing/2014/main" id="{97A4D43A-F006-4A83-BEB7-5F32CF075538}"/>
              </a:ext>
            </a:extLst>
          </p:cNvPr>
          <p:cNvSpPr>
            <a:spLocks xmlns:a="http://schemas.openxmlformats.org/drawingml/2006/main" noGrp="1"/>
          </p:cNvSpPr>
          <p:nvPr/>
        </p:nvSpPr>
        <p:spPr>
          <a:xfrm xmlns:a="http://schemas.openxmlformats.org/drawingml/2006/main">
            <a:off x="6067425" y="455295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656DF7F0-0C3F-4A5C-9786-88307AD204B7}"/>
              </a:ext>
            </a:extLst>
          </p:cNvPr>
          <p:cNvSpPr>
            <a:spLocks xmlns:a="http://schemas.openxmlformats.org/drawingml/2006/main" noGrp="1"/>
          </p:cNvSpPr>
          <p:nvPr/>
        </p:nvSpPr>
        <p:spPr>
          <a:xfrm xmlns:a="http://schemas.openxmlformats.org/drawingml/2006/main">
            <a:off x="6162675" y="46196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Does kidney function require dose or interval adjustment?</a:t>
            </a:r>
          </a:p>
        </p:txBody>
      </p:sp>
      <p:sp>
        <p:nvSpPr>
          <p:cNvPr id="27" name="">
            <a:extLst xmlns:a="http://schemas.openxmlformats.org/drawingml/2006/main">
              <a:ext uri="{FF2B5EF4-FFF2-40B4-BE49-F238E27FC236}">
                <a16:creationId xmlns:a16="http://schemas.microsoft.com/office/drawing/2014/main" id="{8531D59A-13BE-46FB-AFCA-F58DFEF70649}"/>
              </a:ext>
            </a:extLst>
          </p:cNvPr>
          <p:cNvSpPr>
            <a:spLocks xmlns:a="http://schemas.openxmlformats.org/drawingml/2006/main" noGrp="1"/>
          </p:cNvSpPr>
          <p:nvPr/>
        </p:nvSpPr>
        <p:spPr>
          <a:xfrm xmlns:a="http://schemas.openxmlformats.org/drawingml/2006/main">
            <a:off x="781050" y="52673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70D181F5-1B53-491B-942E-C0B103386442}"/>
              </a:ext>
            </a:extLst>
          </p:cNvPr>
          <p:cNvSpPr>
            <a:spLocks xmlns:a="http://schemas.openxmlformats.org/drawingml/2006/main" noGrp="1"/>
          </p:cNvSpPr>
          <p:nvPr/>
        </p:nvSpPr>
        <p:spPr>
          <a:xfrm xmlns:a="http://schemas.openxmlformats.org/drawingml/2006/main">
            <a:off x="876300" y="53340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Interaction</a:t>
            </a:r>
          </a:p>
        </p:txBody>
      </p:sp>
      <p:sp>
        <p:nvSpPr>
          <p:cNvPr id="29" name="">
            <a:extLst xmlns:a="http://schemas.openxmlformats.org/drawingml/2006/main">
              <a:ext uri="{FF2B5EF4-FFF2-40B4-BE49-F238E27FC236}">
                <a16:creationId xmlns:a16="http://schemas.microsoft.com/office/drawing/2014/main" id="{F1BBF0B1-92A6-4B1C-974B-0D6F9472E42D}"/>
              </a:ext>
            </a:extLst>
          </p:cNvPr>
          <p:cNvSpPr>
            <a:spLocks xmlns:a="http://schemas.openxmlformats.org/drawingml/2006/main" noGrp="1"/>
          </p:cNvSpPr>
          <p:nvPr/>
        </p:nvSpPr>
        <p:spPr>
          <a:xfrm xmlns:a="http://schemas.openxmlformats.org/drawingml/2006/main">
            <a:off x="6067425" y="52673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78BF1F6C-4B7B-43E7-80C2-89669413AC5E}"/>
              </a:ext>
            </a:extLst>
          </p:cNvPr>
          <p:cNvSpPr>
            <a:spLocks xmlns:a="http://schemas.openxmlformats.org/drawingml/2006/main" noGrp="1"/>
          </p:cNvSpPr>
          <p:nvPr/>
        </p:nvSpPr>
        <p:spPr>
          <a:xfrm xmlns:a="http://schemas.openxmlformats.org/drawingml/2006/main">
            <a:off x="6162675" y="53340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Could another drug, food, herb, disease, or test change the response?</a:t>
            </a:r>
          </a:p>
        </p:txBody>
      </p:sp>
    </p:spTree>
    <p:extLst>
      <p:ext uri="{BB962C8B-B14F-4D97-AF65-F5344CB8AC3E}">
        <p14:creationId xmlns:p14="http://schemas.microsoft.com/office/powerpoint/2010/main" val="507587867"/>
      </p:ext>
    </p:extLst>
  </p:cSld>
</p:sld>
</file>

<file path=ppt/slides/slide2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4EA3847-F2E1-449D-B56B-EE8907CB61A6}"/>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52AAE533-E8C5-433A-B95B-686701007E4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DC3E66A8-7C18-4109-8218-C50D3A58F4E4}"/>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A2366183-4258-464E-8C7A-A20AFF8C336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Choose the site before the catheter</a:t>
            </a:r>
          </a:p>
        </p:txBody>
      </p:sp>
      <p:sp>
        <p:nvSpPr>
          <p:cNvPr id="5" name="">
            <a:extLst xmlns:a="http://schemas.openxmlformats.org/drawingml/2006/main">
              <a:ext uri="{FF2B5EF4-FFF2-40B4-BE49-F238E27FC236}">
                <a16:creationId xmlns:a16="http://schemas.microsoft.com/office/drawing/2014/main" id="{7E57A701-E139-4EDE-A80A-D2927B065CE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6" name="">
            <a:extLst xmlns:a="http://schemas.openxmlformats.org/drawingml/2006/main">
              <a:ext uri="{FF2B5EF4-FFF2-40B4-BE49-F238E27FC236}">
                <a16:creationId xmlns:a16="http://schemas.microsoft.com/office/drawing/2014/main" id="{262EE291-1B8A-46F6-9FA1-0B9AB348ACA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22</a:t>
            </a:r>
          </a:p>
        </p:txBody>
      </p:sp>
      <p:sp>
        <p:nvSpPr>
          <p:cNvPr id="7" name="">
            <a:extLst xmlns:a="http://schemas.openxmlformats.org/drawingml/2006/main">
              <a:ext uri="{FF2B5EF4-FFF2-40B4-BE49-F238E27FC236}">
                <a16:creationId xmlns:a16="http://schemas.microsoft.com/office/drawing/2014/main" id="{72165509-1B96-46C0-B4C8-AA938AFB5D8E}"/>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Start with the prescribed therapy: pH, osmolarity, duration, flow requirement, and vesicant risk affect device choice.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Select a vein that is palpable, resilient, and appropriate for the therapy.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Prefer the smallest suitable gauge and shortest catheter.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Avoid infected, injured, poorly perfused, or policy-restricted extremities and areas of flexion when possible.</a:t>
            </a:r>
          </a:p>
        </p:txBody>
      </p:sp>
      <p:sp>
        <p:nvSpPr>
          <p:cNvPr id="8" name="">
            <a:extLst xmlns:a="http://schemas.openxmlformats.org/drawingml/2006/main">
              <a:ext uri="{FF2B5EF4-FFF2-40B4-BE49-F238E27FC236}">
                <a16:creationId xmlns:a16="http://schemas.microsoft.com/office/drawing/2014/main" id="{6ABAC27C-1D81-4BA0-B0F2-1CCEAF97036E}"/>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866847600"/>
      </p:ext>
    </p:extLst>
  </p:cSld>
</p:sld>
</file>

<file path=ppt/slides/slide2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CC7C41C6-0F22-4222-B88C-D4ADD03784FB}"/>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FA94B940-7329-4FA6-B29E-DF99D63C39A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34E27CE2-CA06-4441-B10C-36C8A7C36414}"/>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04C50474-C649-456D-BECA-9AB77AA6A16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Vein-wall anatomy and complication risk</a:t>
            </a:r>
          </a:p>
        </p:txBody>
      </p:sp>
      <p:sp>
        <p:nvSpPr>
          <p:cNvPr id="5" name="">
            <a:extLst xmlns:a="http://schemas.openxmlformats.org/drawingml/2006/main">
              <a:ext uri="{FF2B5EF4-FFF2-40B4-BE49-F238E27FC236}">
                <a16:creationId xmlns:a16="http://schemas.microsoft.com/office/drawing/2014/main" id="{BAD2E2CA-53BB-4463-B439-163C5C91433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6" name="">
            <a:extLst xmlns:a="http://schemas.openxmlformats.org/drawingml/2006/main">
              <a:ext uri="{FF2B5EF4-FFF2-40B4-BE49-F238E27FC236}">
                <a16:creationId xmlns:a16="http://schemas.microsoft.com/office/drawing/2014/main" id="{8D338B2E-B8C1-4B9B-9319-9D041C5D3AA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23</a:t>
            </a:r>
          </a:p>
        </p:txBody>
      </p:sp>
      <p:sp>
        <p:nvSpPr>
          <p:cNvPr id="7" name="">
            <a:extLst xmlns:a="http://schemas.openxmlformats.org/drawingml/2006/main">
              <a:ext uri="{FF2B5EF4-FFF2-40B4-BE49-F238E27FC236}">
                <a16:creationId xmlns:a16="http://schemas.microsoft.com/office/drawing/2014/main" id="{1CA75E18-0560-4846-8581-1FE32CFBC01D}"/>
              </a:ext>
            </a:extLst>
          </p:cNvPr>
          <p:cNvSpPr>
            <a:spLocks xmlns:a="http://schemas.openxmlformats.org/drawingml/2006/main" noGrp="1"/>
          </p:cNvSpPr>
          <p:nvPr/>
        </p:nvSpPr>
        <p:spPr>
          <a:xfrm xmlns:a="http://schemas.openxmlformats.org/drawingml/2006/main">
            <a:off x="781050" y="1695450"/>
            <a:ext cx="3524250" cy="1071563"/>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F340B4A6-6E0E-4D9A-A68A-9C2B1FADA283}"/>
              </a:ext>
            </a:extLst>
          </p:cNvPr>
          <p:cNvSpPr>
            <a:spLocks xmlns:a="http://schemas.openxmlformats.org/drawingml/2006/main" noGrp="1"/>
          </p:cNvSpPr>
          <p:nvPr/>
        </p:nvSpPr>
        <p:spPr>
          <a:xfrm xmlns:a="http://schemas.openxmlformats.org/drawingml/2006/main">
            <a:off x="876300" y="1762125"/>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Vein layer</a:t>
            </a:r>
          </a:p>
        </p:txBody>
      </p:sp>
      <p:sp>
        <p:nvSpPr>
          <p:cNvPr id="9" name="">
            <a:extLst xmlns:a="http://schemas.openxmlformats.org/drawingml/2006/main">
              <a:ext uri="{FF2B5EF4-FFF2-40B4-BE49-F238E27FC236}">
                <a16:creationId xmlns:a16="http://schemas.microsoft.com/office/drawing/2014/main" id="{FB9D7970-6E9C-4889-8B58-7119254C1669}"/>
              </a:ext>
            </a:extLst>
          </p:cNvPr>
          <p:cNvSpPr>
            <a:spLocks xmlns:a="http://schemas.openxmlformats.org/drawingml/2006/main" noGrp="1"/>
          </p:cNvSpPr>
          <p:nvPr/>
        </p:nvSpPr>
        <p:spPr>
          <a:xfrm xmlns:a="http://schemas.openxmlformats.org/drawingml/2006/main">
            <a:off x="4305300" y="1695450"/>
            <a:ext cx="3524250" cy="1071563"/>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47A956BC-C8AF-4495-86D4-D36033CAC6B4}"/>
              </a:ext>
            </a:extLst>
          </p:cNvPr>
          <p:cNvSpPr>
            <a:spLocks xmlns:a="http://schemas.openxmlformats.org/drawingml/2006/main" noGrp="1"/>
          </p:cNvSpPr>
          <p:nvPr/>
        </p:nvSpPr>
        <p:spPr>
          <a:xfrm xmlns:a="http://schemas.openxmlformats.org/drawingml/2006/main">
            <a:off x="4400550" y="1762125"/>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Function</a:t>
            </a:r>
          </a:p>
        </p:txBody>
      </p:sp>
      <p:sp>
        <p:nvSpPr>
          <p:cNvPr id="11" name="">
            <a:extLst xmlns:a="http://schemas.openxmlformats.org/drawingml/2006/main">
              <a:ext uri="{FF2B5EF4-FFF2-40B4-BE49-F238E27FC236}">
                <a16:creationId xmlns:a16="http://schemas.microsoft.com/office/drawing/2014/main" id="{E1C6ACC9-D5F0-4337-BC1C-7BF552B2030A}"/>
              </a:ext>
            </a:extLst>
          </p:cNvPr>
          <p:cNvSpPr>
            <a:spLocks xmlns:a="http://schemas.openxmlformats.org/drawingml/2006/main" noGrp="1"/>
          </p:cNvSpPr>
          <p:nvPr/>
        </p:nvSpPr>
        <p:spPr>
          <a:xfrm xmlns:a="http://schemas.openxmlformats.org/drawingml/2006/main">
            <a:off x="7829550" y="1695450"/>
            <a:ext cx="3524250" cy="1071563"/>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F8C16B7F-CC46-40C4-92AB-89B57CE1E757}"/>
              </a:ext>
            </a:extLst>
          </p:cNvPr>
          <p:cNvSpPr>
            <a:spLocks xmlns:a="http://schemas.openxmlformats.org/drawingml/2006/main" noGrp="1"/>
          </p:cNvSpPr>
          <p:nvPr/>
        </p:nvSpPr>
        <p:spPr>
          <a:xfrm xmlns:a="http://schemas.openxmlformats.org/drawingml/2006/main">
            <a:off x="7924800" y="1762125"/>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Clinical connection</a:t>
            </a:r>
          </a:p>
        </p:txBody>
      </p:sp>
      <p:sp>
        <p:nvSpPr>
          <p:cNvPr id="13" name="">
            <a:extLst xmlns:a="http://schemas.openxmlformats.org/drawingml/2006/main">
              <a:ext uri="{FF2B5EF4-FFF2-40B4-BE49-F238E27FC236}">
                <a16:creationId xmlns:a16="http://schemas.microsoft.com/office/drawing/2014/main" id="{D6EB6B56-9BDD-4CFD-9DE0-A9437957C95C}"/>
              </a:ext>
            </a:extLst>
          </p:cNvPr>
          <p:cNvSpPr>
            <a:spLocks xmlns:a="http://schemas.openxmlformats.org/drawingml/2006/main" noGrp="1"/>
          </p:cNvSpPr>
          <p:nvPr/>
        </p:nvSpPr>
        <p:spPr>
          <a:xfrm xmlns:a="http://schemas.openxmlformats.org/drawingml/2006/main">
            <a:off x="781050" y="2767013"/>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0DEF7631-8A26-4F3C-A2C2-EE0012541E04}"/>
              </a:ext>
            </a:extLst>
          </p:cNvPr>
          <p:cNvSpPr>
            <a:spLocks xmlns:a="http://schemas.openxmlformats.org/drawingml/2006/main" noGrp="1"/>
          </p:cNvSpPr>
          <p:nvPr/>
        </p:nvSpPr>
        <p:spPr>
          <a:xfrm xmlns:a="http://schemas.openxmlformats.org/drawingml/2006/main">
            <a:off x="876300" y="2833688"/>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Tunica intima</a:t>
            </a:r>
          </a:p>
        </p:txBody>
      </p:sp>
      <p:sp>
        <p:nvSpPr>
          <p:cNvPr id="15" name="">
            <a:extLst xmlns:a="http://schemas.openxmlformats.org/drawingml/2006/main">
              <a:ext uri="{FF2B5EF4-FFF2-40B4-BE49-F238E27FC236}">
                <a16:creationId xmlns:a16="http://schemas.microsoft.com/office/drawing/2014/main" id="{71C2AF35-C239-4568-ACAE-775CAF3C9AF3}"/>
              </a:ext>
            </a:extLst>
          </p:cNvPr>
          <p:cNvSpPr>
            <a:spLocks xmlns:a="http://schemas.openxmlformats.org/drawingml/2006/main" noGrp="1"/>
          </p:cNvSpPr>
          <p:nvPr/>
        </p:nvSpPr>
        <p:spPr>
          <a:xfrm xmlns:a="http://schemas.openxmlformats.org/drawingml/2006/main">
            <a:off x="4305300" y="2767013"/>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FE2AD897-E280-47FD-9A03-4AAFF47CD5A3}"/>
              </a:ext>
            </a:extLst>
          </p:cNvPr>
          <p:cNvSpPr>
            <a:spLocks xmlns:a="http://schemas.openxmlformats.org/drawingml/2006/main" noGrp="1"/>
          </p:cNvSpPr>
          <p:nvPr/>
        </p:nvSpPr>
        <p:spPr>
          <a:xfrm xmlns:a="http://schemas.openxmlformats.org/drawingml/2006/main">
            <a:off x="4400550" y="2833688"/>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Smooth inner lining and venous valves</a:t>
            </a:r>
          </a:p>
        </p:txBody>
      </p:sp>
      <p:sp>
        <p:nvSpPr>
          <p:cNvPr id="17" name="">
            <a:extLst xmlns:a="http://schemas.openxmlformats.org/drawingml/2006/main">
              <a:ext uri="{FF2B5EF4-FFF2-40B4-BE49-F238E27FC236}">
                <a16:creationId xmlns:a16="http://schemas.microsoft.com/office/drawing/2014/main" id="{DB020451-6CE1-4EAA-9D85-71800C782C16}"/>
              </a:ext>
            </a:extLst>
          </p:cNvPr>
          <p:cNvSpPr>
            <a:spLocks xmlns:a="http://schemas.openxmlformats.org/drawingml/2006/main" noGrp="1"/>
          </p:cNvSpPr>
          <p:nvPr/>
        </p:nvSpPr>
        <p:spPr>
          <a:xfrm xmlns:a="http://schemas.openxmlformats.org/drawingml/2006/main">
            <a:off x="7829550" y="2767013"/>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5CF1F58E-BA8D-472E-A26A-7DEB4910971B}"/>
              </a:ext>
            </a:extLst>
          </p:cNvPr>
          <p:cNvSpPr>
            <a:spLocks xmlns:a="http://schemas.openxmlformats.org/drawingml/2006/main" noGrp="1"/>
          </p:cNvSpPr>
          <p:nvPr/>
        </p:nvSpPr>
        <p:spPr>
          <a:xfrm xmlns:a="http://schemas.openxmlformats.org/drawingml/2006/main">
            <a:off x="7924800" y="2833688"/>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Trauma, chemical irritation, or contamination can promote phlebitis and thrombosis</a:t>
            </a:r>
          </a:p>
        </p:txBody>
      </p:sp>
      <p:sp>
        <p:nvSpPr>
          <p:cNvPr id="19" name="">
            <a:extLst xmlns:a="http://schemas.openxmlformats.org/drawingml/2006/main">
              <a:ext uri="{FF2B5EF4-FFF2-40B4-BE49-F238E27FC236}">
                <a16:creationId xmlns:a16="http://schemas.microsoft.com/office/drawing/2014/main" id="{387C9AA8-29EC-4CF7-90B7-8DCF4C012A67}"/>
              </a:ext>
            </a:extLst>
          </p:cNvPr>
          <p:cNvSpPr>
            <a:spLocks xmlns:a="http://schemas.openxmlformats.org/drawingml/2006/main" noGrp="1"/>
          </p:cNvSpPr>
          <p:nvPr/>
        </p:nvSpPr>
        <p:spPr>
          <a:xfrm xmlns:a="http://schemas.openxmlformats.org/drawingml/2006/main">
            <a:off x="781050" y="3838575"/>
            <a:ext cx="3524250" cy="1071563"/>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813155BB-07E0-4E55-A8B2-65C28970836D}"/>
              </a:ext>
            </a:extLst>
          </p:cNvPr>
          <p:cNvSpPr>
            <a:spLocks xmlns:a="http://schemas.openxmlformats.org/drawingml/2006/main" noGrp="1"/>
          </p:cNvSpPr>
          <p:nvPr/>
        </p:nvSpPr>
        <p:spPr>
          <a:xfrm xmlns:a="http://schemas.openxmlformats.org/drawingml/2006/main">
            <a:off x="876300" y="3905250"/>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Tunica media</a:t>
            </a:r>
          </a:p>
        </p:txBody>
      </p:sp>
      <p:sp>
        <p:nvSpPr>
          <p:cNvPr id="21" name="">
            <a:extLst xmlns:a="http://schemas.openxmlformats.org/drawingml/2006/main">
              <a:ext uri="{FF2B5EF4-FFF2-40B4-BE49-F238E27FC236}">
                <a16:creationId xmlns:a16="http://schemas.microsoft.com/office/drawing/2014/main" id="{0DF9EDEB-B994-4613-9953-4D779A373121}"/>
              </a:ext>
            </a:extLst>
          </p:cNvPr>
          <p:cNvSpPr>
            <a:spLocks xmlns:a="http://schemas.openxmlformats.org/drawingml/2006/main" noGrp="1"/>
          </p:cNvSpPr>
          <p:nvPr/>
        </p:nvSpPr>
        <p:spPr>
          <a:xfrm xmlns:a="http://schemas.openxmlformats.org/drawingml/2006/main">
            <a:off x="4305300" y="3838575"/>
            <a:ext cx="3524250" cy="1071563"/>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946DD9EF-166A-4DA7-ACB9-90C38568837A}"/>
              </a:ext>
            </a:extLst>
          </p:cNvPr>
          <p:cNvSpPr>
            <a:spLocks xmlns:a="http://schemas.openxmlformats.org/drawingml/2006/main" noGrp="1"/>
          </p:cNvSpPr>
          <p:nvPr/>
        </p:nvSpPr>
        <p:spPr>
          <a:xfrm xmlns:a="http://schemas.openxmlformats.org/drawingml/2006/main">
            <a:off x="4400550" y="3905250"/>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Muscle and elastic tissue</a:t>
            </a:r>
          </a:p>
        </p:txBody>
      </p:sp>
      <p:sp>
        <p:nvSpPr>
          <p:cNvPr id="23" name="">
            <a:extLst xmlns:a="http://schemas.openxmlformats.org/drawingml/2006/main">
              <a:ext uri="{FF2B5EF4-FFF2-40B4-BE49-F238E27FC236}">
                <a16:creationId xmlns:a16="http://schemas.microsoft.com/office/drawing/2014/main" id="{C2AFDEDC-9ABD-4472-80A5-B9B24DEC45A5}"/>
              </a:ext>
            </a:extLst>
          </p:cNvPr>
          <p:cNvSpPr>
            <a:spLocks xmlns:a="http://schemas.openxmlformats.org/drawingml/2006/main" noGrp="1"/>
          </p:cNvSpPr>
          <p:nvPr/>
        </p:nvSpPr>
        <p:spPr>
          <a:xfrm xmlns:a="http://schemas.openxmlformats.org/drawingml/2006/main">
            <a:off x="7829550" y="3838575"/>
            <a:ext cx="3524250" cy="1071563"/>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BEEC56E7-F3FA-481F-9E3E-1940B48CCDCF}"/>
              </a:ext>
            </a:extLst>
          </p:cNvPr>
          <p:cNvSpPr>
            <a:spLocks xmlns:a="http://schemas.openxmlformats.org/drawingml/2006/main" noGrp="1"/>
          </p:cNvSpPr>
          <p:nvPr/>
        </p:nvSpPr>
        <p:spPr>
          <a:xfrm xmlns:a="http://schemas.openxmlformats.org/drawingml/2006/main">
            <a:off x="7924800" y="3905250"/>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Irritation can trigger venospasm, pain, and reduced flow</a:t>
            </a:r>
          </a:p>
        </p:txBody>
      </p:sp>
      <p:sp>
        <p:nvSpPr>
          <p:cNvPr id="25" name="">
            <a:extLst xmlns:a="http://schemas.openxmlformats.org/drawingml/2006/main">
              <a:ext uri="{FF2B5EF4-FFF2-40B4-BE49-F238E27FC236}">
                <a16:creationId xmlns:a16="http://schemas.microsoft.com/office/drawing/2014/main" id="{08C85CE1-3AAE-46A3-B534-61848D2FB8BE}"/>
              </a:ext>
            </a:extLst>
          </p:cNvPr>
          <p:cNvSpPr>
            <a:spLocks xmlns:a="http://schemas.openxmlformats.org/drawingml/2006/main" noGrp="1"/>
          </p:cNvSpPr>
          <p:nvPr/>
        </p:nvSpPr>
        <p:spPr>
          <a:xfrm xmlns:a="http://schemas.openxmlformats.org/drawingml/2006/main">
            <a:off x="781050" y="4910138"/>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2315866E-AE30-403B-B9EA-9DED77E76F18}"/>
              </a:ext>
            </a:extLst>
          </p:cNvPr>
          <p:cNvSpPr>
            <a:spLocks xmlns:a="http://schemas.openxmlformats.org/drawingml/2006/main" noGrp="1"/>
          </p:cNvSpPr>
          <p:nvPr/>
        </p:nvSpPr>
        <p:spPr>
          <a:xfrm xmlns:a="http://schemas.openxmlformats.org/drawingml/2006/main">
            <a:off x="876300" y="4976813"/>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Tunica adventitia</a:t>
            </a:r>
          </a:p>
        </p:txBody>
      </p:sp>
      <p:sp>
        <p:nvSpPr>
          <p:cNvPr id="27" name="">
            <a:extLst xmlns:a="http://schemas.openxmlformats.org/drawingml/2006/main">
              <a:ext uri="{FF2B5EF4-FFF2-40B4-BE49-F238E27FC236}">
                <a16:creationId xmlns:a16="http://schemas.microsoft.com/office/drawing/2014/main" id="{FB8BDE46-95ED-45C7-B550-C65BD6654402}"/>
              </a:ext>
            </a:extLst>
          </p:cNvPr>
          <p:cNvSpPr>
            <a:spLocks xmlns:a="http://schemas.openxmlformats.org/drawingml/2006/main" noGrp="1"/>
          </p:cNvSpPr>
          <p:nvPr/>
        </p:nvSpPr>
        <p:spPr>
          <a:xfrm xmlns:a="http://schemas.openxmlformats.org/drawingml/2006/main">
            <a:off x="4305300" y="4910138"/>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152091DF-E281-4732-B53A-B1F81B3F1C01}"/>
              </a:ext>
            </a:extLst>
          </p:cNvPr>
          <p:cNvSpPr>
            <a:spLocks xmlns:a="http://schemas.openxmlformats.org/drawingml/2006/main" noGrp="1"/>
          </p:cNvSpPr>
          <p:nvPr/>
        </p:nvSpPr>
        <p:spPr>
          <a:xfrm xmlns:a="http://schemas.openxmlformats.org/drawingml/2006/main">
            <a:off x="4400550" y="4976813"/>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Outer connective-tissue support</a:t>
            </a:r>
          </a:p>
        </p:txBody>
      </p:sp>
      <p:sp>
        <p:nvSpPr>
          <p:cNvPr id="29" name="">
            <a:extLst xmlns:a="http://schemas.openxmlformats.org/drawingml/2006/main">
              <a:ext uri="{FF2B5EF4-FFF2-40B4-BE49-F238E27FC236}">
                <a16:creationId xmlns:a16="http://schemas.microsoft.com/office/drawing/2014/main" id="{6A55E19B-A8A4-46FC-8FE2-7AED81AD7559}"/>
              </a:ext>
            </a:extLst>
          </p:cNvPr>
          <p:cNvSpPr>
            <a:spLocks xmlns:a="http://schemas.openxmlformats.org/drawingml/2006/main" noGrp="1"/>
          </p:cNvSpPr>
          <p:nvPr/>
        </p:nvSpPr>
        <p:spPr>
          <a:xfrm xmlns:a="http://schemas.openxmlformats.org/drawingml/2006/main">
            <a:off x="7829550" y="4910138"/>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9491E72A-BF4C-4AAA-BEF5-93D7421C2C5B}"/>
              </a:ext>
            </a:extLst>
          </p:cNvPr>
          <p:cNvSpPr>
            <a:spLocks xmlns:a="http://schemas.openxmlformats.org/drawingml/2006/main" noGrp="1"/>
          </p:cNvSpPr>
          <p:nvPr/>
        </p:nvSpPr>
        <p:spPr>
          <a:xfrm xmlns:a="http://schemas.openxmlformats.org/drawingml/2006/main">
            <a:off x="7924800" y="4976813"/>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Deep advancement or vessel injury can affect surrounding tissue</a:t>
            </a:r>
          </a:p>
        </p:txBody>
      </p:sp>
    </p:spTree>
    <p:extLst>
      <p:ext uri="{BB962C8B-B14F-4D97-AF65-F5344CB8AC3E}">
        <p14:creationId xmlns:p14="http://schemas.microsoft.com/office/powerpoint/2010/main" val="1088622947"/>
      </p:ext>
    </p:extLst>
  </p:cSld>
</p:sld>
</file>

<file path=ppt/slides/slide2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FF0C92ED-5FA3-4BA0-8529-CE51A733B4E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5073C210-3679-429C-9F75-96BE6E4861B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E512A83D-7D6D-4E1A-AA23-592FDB5ADF23}"/>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9923EA8C-034F-42CE-B198-4E3A0D1A598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Vein or artery? Stop when the findings do not fit</a:t>
            </a:r>
          </a:p>
        </p:txBody>
      </p:sp>
      <p:sp>
        <p:nvSpPr>
          <p:cNvPr id="5" name="">
            <a:extLst xmlns:a="http://schemas.openxmlformats.org/drawingml/2006/main">
              <a:ext uri="{FF2B5EF4-FFF2-40B4-BE49-F238E27FC236}">
                <a16:creationId xmlns:a16="http://schemas.microsoft.com/office/drawing/2014/main" id="{050A69EA-CD0C-486E-AA6A-A7EE41FA6A3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6" name="">
            <a:extLst xmlns:a="http://schemas.openxmlformats.org/drawingml/2006/main">
              <a:ext uri="{FF2B5EF4-FFF2-40B4-BE49-F238E27FC236}">
                <a16:creationId xmlns:a16="http://schemas.microsoft.com/office/drawing/2014/main" id="{B8311D81-483C-4E35-BA95-B36AA91A1B8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24</a:t>
            </a:r>
          </a:p>
        </p:txBody>
      </p:sp>
      <p:sp>
        <p:nvSpPr>
          <p:cNvPr id="7" name="">
            <a:extLst xmlns:a="http://schemas.openxmlformats.org/drawingml/2006/main">
              <a:ext uri="{FF2B5EF4-FFF2-40B4-BE49-F238E27FC236}">
                <a16:creationId xmlns:a16="http://schemas.microsoft.com/office/drawing/2014/main" id="{4B97B1D2-5488-4F86-95FF-EC43EA10E9FF}"/>
              </a:ext>
            </a:extLst>
          </p:cNvPr>
          <p:cNvSpPr>
            <a:spLocks xmlns:a="http://schemas.openxmlformats.org/drawingml/2006/main" noGrp="1"/>
          </p:cNvSpPr>
          <p:nvPr/>
        </p:nvSpPr>
        <p:spPr>
          <a:xfrm xmlns:a="http://schemas.openxmlformats.org/drawingml/2006/main">
            <a:off x="7810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3F3AC44E-0A6B-457E-8A2D-EA4DE6DC49E4}"/>
              </a:ext>
            </a:extLst>
          </p:cNvPr>
          <p:cNvSpPr>
            <a:spLocks xmlns:a="http://schemas.openxmlformats.org/drawingml/2006/main" noGrp="1"/>
          </p:cNvSpPr>
          <p:nvPr/>
        </p:nvSpPr>
        <p:spPr>
          <a:xfrm xmlns:a="http://schemas.openxmlformats.org/drawingml/2006/main">
            <a:off x="8763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Assessment cue</a:t>
            </a:r>
          </a:p>
        </p:txBody>
      </p:sp>
      <p:sp>
        <p:nvSpPr>
          <p:cNvPr id="9" name="">
            <a:extLst xmlns:a="http://schemas.openxmlformats.org/drawingml/2006/main">
              <a:ext uri="{FF2B5EF4-FFF2-40B4-BE49-F238E27FC236}">
                <a16:creationId xmlns:a16="http://schemas.microsoft.com/office/drawing/2014/main" id="{41553D12-D8D8-4ABA-83DB-B6904037BE2B}"/>
              </a:ext>
            </a:extLst>
          </p:cNvPr>
          <p:cNvSpPr>
            <a:spLocks xmlns:a="http://schemas.openxmlformats.org/drawingml/2006/main" noGrp="1"/>
          </p:cNvSpPr>
          <p:nvPr/>
        </p:nvSpPr>
        <p:spPr>
          <a:xfrm xmlns:a="http://schemas.openxmlformats.org/drawingml/2006/main">
            <a:off x="430530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9ED060A5-2BC5-4901-8EC1-9B5FAA442870}"/>
              </a:ext>
            </a:extLst>
          </p:cNvPr>
          <p:cNvSpPr>
            <a:spLocks xmlns:a="http://schemas.openxmlformats.org/drawingml/2006/main" noGrp="1"/>
          </p:cNvSpPr>
          <p:nvPr/>
        </p:nvSpPr>
        <p:spPr>
          <a:xfrm xmlns:a="http://schemas.openxmlformats.org/drawingml/2006/main">
            <a:off x="440055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Typical vein</a:t>
            </a:r>
          </a:p>
        </p:txBody>
      </p:sp>
      <p:sp>
        <p:nvSpPr>
          <p:cNvPr id="11" name="">
            <a:extLst xmlns:a="http://schemas.openxmlformats.org/drawingml/2006/main">
              <a:ext uri="{FF2B5EF4-FFF2-40B4-BE49-F238E27FC236}">
                <a16:creationId xmlns:a16="http://schemas.microsoft.com/office/drawing/2014/main" id="{BF10EFCE-69A6-4DE1-A929-F57DC9086B62}"/>
              </a:ext>
            </a:extLst>
          </p:cNvPr>
          <p:cNvSpPr>
            <a:spLocks xmlns:a="http://schemas.openxmlformats.org/drawingml/2006/main" noGrp="1"/>
          </p:cNvSpPr>
          <p:nvPr/>
        </p:nvSpPr>
        <p:spPr>
          <a:xfrm xmlns:a="http://schemas.openxmlformats.org/drawingml/2006/main">
            <a:off x="78295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D05D2D2B-A968-4633-B293-1A7F0F99D234}"/>
              </a:ext>
            </a:extLst>
          </p:cNvPr>
          <p:cNvSpPr>
            <a:spLocks xmlns:a="http://schemas.openxmlformats.org/drawingml/2006/main" noGrp="1"/>
          </p:cNvSpPr>
          <p:nvPr/>
        </p:nvSpPr>
        <p:spPr>
          <a:xfrm xmlns:a="http://schemas.openxmlformats.org/drawingml/2006/main">
            <a:off x="79248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Possible artery / safety response</a:t>
            </a:r>
          </a:p>
        </p:txBody>
      </p:sp>
      <p:sp>
        <p:nvSpPr>
          <p:cNvPr id="13" name="">
            <a:extLst xmlns:a="http://schemas.openxmlformats.org/drawingml/2006/main">
              <a:ext uri="{FF2B5EF4-FFF2-40B4-BE49-F238E27FC236}">
                <a16:creationId xmlns:a16="http://schemas.microsoft.com/office/drawing/2014/main" id="{454522A8-1CAF-4414-B7E7-DA1A0519797D}"/>
              </a:ext>
            </a:extLst>
          </p:cNvPr>
          <p:cNvSpPr>
            <a:spLocks xmlns:a="http://schemas.openxmlformats.org/drawingml/2006/main" noGrp="1"/>
          </p:cNvSpPr>
          <p:nvPr/>
        </p:nvSpPr>
        <p:spPr>
          <a:xfrm xmlns:a="http://schemas.openxmlformats.org/drawingml/2006/main">
            <a:off x="7810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829F6BA3-CF20-40B3-8E46-6EC9C4F914B4}"/>
              </a:ext>
            </a:extLst>
          </p:cNvPr>
          <p:cNvSpPr>
            <a:spLocks xmlns:a="http://schemas.openxmlformats.org/drawingml/2006/main" noGrp="1"/>
          </p:cNvSpPr>
          <p:nvPr/>
        </p:nvSpPr>
        <p:spPr>
          <a:xfrm xmlns:a="http://schemas.openxmlformats.org/drawingml/2006/main">
            <a:off x="8763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Palpation</a:t>
            </a:r>
          </a:p>
        </p:txBody>
      </p:sp>
      <p:sp>
        <p:nvSpPr>
          <p:cNvPr id="15" name="">
            <a:extLst xmlns:a="http://schemas.openxmlformats.org/drawingml/2006/main">
              <a:ext uri="{FF2B5EF4-FFF2-40B4-BE49-F238E27FC236}">
                <a16:creationId xmlns:a16="http://schemas.microsoft.com/office/drawing/2014/main" id="{63570148-DFAF-4A11-B00D-FCC5E86FBE2A}"/>
              </a:ext>
            </a:extLst>
          </p:cNvPr>
          <p:cNvSpPr>
            <a:spLocks xmlns:a="http://schemas.openxmlformats.org/drawingml/2006/main" noGrp="1"/>
          </p:cNvSpPr>
          <p:nvPr/>
        </p:nvSpPr>
        <p:spPr>
          <a:xfrm xmlns:a="http://schemas.openxmlformats.org/drawingml/2006/main">
            <a:off x="430530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47A94628-2515-4DE0-9C1E-4F8B4ABCFD99}"/>
              </a:ext>
            </a:extLst>
          </p:cNvPr>
          <p:cNvSpPr>
            <a:spLocks xmlns:a="http://schemas.openxmlformats.org/drawingml/2006/main" noGrp="1"/>
          </p:cNvSpPr>
          <p:nvPr/>
        </p:nvSpPr>
        <p:spPr>
          <a:xfrm xmlns:a="http://schemas.openxmlformats.org/drawingml/2006/main">
            <a:off x="440055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Soft, compressible, nonpulsatile</a:t>
            </a:r>
          </a:p>
        </p:txBody>
      </p:sp>
      <p:sp>
        <p:nvSpPr>
          <p:cNvPr id="17" name="">
            <a:extLst xmlns:a="http://schemas.openxmlformats.org/drawingml/2006/main">
              <a:ext uri="{FF2B5EF4-FFF2-40B4-BE49-F238E27FC236}">
                <a16:creationId xmlns:a16="http://schemas.microsoft.com/office/drawing/2014/main" id="{5F84627F-A32D-4D4A-80A3-AD931BF3C251}"/>
              </a:ext>
            </a:extLst>
          </p:cNvPr>
          <p:cNvSpPr>
            <a:spLocks xmlns:a="http://schemas.openxmlformats.org/drawingml/2006/main" noGrp="1"/>
          </p:cNvSpPr>
          <p:nvPr/>
        </p:nvSpPr>
        <p:spPr>
          <a:xfrm xmlns:a="http://schemas.openxmlformats.org/drawingml/2006/main">
            <a:off x="78295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BED82358-3E51-43B7-8F98-E4AA743A7CAE}"/>
              </a:ext>
            </a:extLst>
          </p:cNvPr>
          <p:cNvSpPr>
            <a:spLocks xmlns:a="http://schemas.openxmlformats.org/drawingml/2006/main" noGrp="1"/>
          </p:cNvSpPr>
          <p:nvPr/>
        </p:nvSpPr>
        <p:spPr>
          <a:xfrm xmlns:a="http://schemas.openxmlformats.org/drawingml/2006/main">
            <a:off x="79248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Pulsation or firm recoil: do not cannulate</a:t>
            </a:r>
          </a:p>
        </p:txBody>
      </p:sp>
      <p:sp>
        <p:nvSpPr>
          <p:cNvPr id="19" name="">
            <a:extLst xmlns:a="http://schemas.openxmlformats.org/drawingml/2006/main">
              <a:ext uri="{FF2B5EF4-FFF2-40B4-BE49-F238E27FC236}">
                <a16:creationId xmlns:a16="http://schemas.microsoft.com/office/drawing/2014/main" id="{A355B460-6D0A-463D-9294-D6E6E3627019}"/>
              </a:ext>
            </a:extLst>
          </p:cNvPr>
          <p:cNvSpPr>
            <a:spLocks xmlns:a="http://schemas.openxmlformats.org/drawingml/2006/main" noGrp="1"/>
          </p:cNvSpPr>
          <p:nvPr/>
        </p:nvSpPr>
        <p:spPr>
          <a:xfrm xmlns:a="http://schemas.openxmlformats.org/drawingml/2006/main">
            <a:off x="7810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6723A875-9C8C-4B4A-BA93-0DF077FFCA0E}"/>
              </a:ext>
            </a:extLst>
          </p:cNvPr>
          <p:cNvSpPr>
            <a:spLocks xmlns:a="http://schemas.openxmlformats.org/drawingml/2006/main" noGrp="1"/>
          </p:cNvSpPr>
          <p:nvPr/>
        </p:nvSpPr>
        <p:spPr>
          <a:xfrm xmlns:a="http://schemas.openxmlformats.org/drawingml/2006/main">
            <a:off x="8763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Location</a:t>
            </a:r>
          </a:p>
        </p:txBody>
      </p:sp>
      <p:sp>
        <p:nvSpPr>
          <p:cNvPr id="21" name="">
            <a:extLst xmlns:a="http://schemas.openxmlformats.org/drawingml/2006/main">
              <a:ext uri="{FF2B5EF4-FFF2-40B4-BE49-F238E27FC236}">
                <a16:creationId xmlns:a16="http://schemas.microsoft.com/office/drawing/2014/main" id="{570E5725-DE63-487E-8E0A-4BB5EE7FB185}"/>
              </a:ext>
            </a:extLst>
          </p:cNvPr>
          <p:cNvSpPr>
            <a:spLocks xmlns:a="http://schemas.openxmlformats.org/drawingml/2006/main" noGrp="1"/>
          </p:cNvSpPr>
          <p:nvPr/>
        </p:nvSpPr>
        <p:spPr>
          <a:xfrm xmlns:a="http://schemas.openxmlformats.org/drawingml/2006/main">
            <a:off x="430530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8A42E1E1-19FD-4ACD-A397-CEAA913DAC16}"/>
              </a:ext>
            </a:extLst>
          </p:cNvPr>
          <p:cNvSpPr>
            <a:spLocks xmlns:a="http://schemas.openxmlformats.org/drawingml/2006/main" noGrp="1"/>
          </p:cNvSpPr>
          <p:nvPr/>
        </p:nvSpPr>
        <p:spPr>
          <a:xfrm xmlns:a="http://schemas.openxmlformats.org/drawingml/2006/main">
            <a:off x="440055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Often superficial and visible or palpable</a:t>
            </a:r>
          </a:p>
        </p:txBody>
      </p:sp>
      <p:sp>
        <p:nvSpPr>
          <p:cNvPr id="23" name="">
            <a:extLst xmlns:a="http://schemas.openxmlformats.org/drawingml/2006/main">
              <a:ext uri="{FF2B5EF4-FFF2-40B4-BE49-F238E27FC236}">
                <a16:creationId xmlns:a16="http://schemas.microsoft.com/office/drawing/2014/main" id="{697D4518-977B-4FA8-B101-BCEA6D37C6DA}"/>
              </a:ext>
            </a:extLst>
          </p:cNvPr>
          <p:cNvSpPr>
            <a:spLocks xmlns:a="http://schemas.openxmlformats.org/drawingml/2006/main" noGrp="1"/>
          </p:cNvSpPr>
          <p:nvPr/>
        </p:nvSpPr>
        <p:spPr>
          <a:xfrm xmlns:a="http://schemas.openxmlformats.org/drawingml/2006/main">
            <a:off x="78295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38A1EE3E-B5E9-4BF3-BC31-9DD9BE5182C6}"/>
              </a:ext>
            </a:extLst>
          </p:cNvPr>
          <p:cNvSpPr>
            <a:spLocks xmlns:a="http://schemas.openxmlformats.org/drawingml/2006/main" noGrp="1"/>
          </p:cNvSpPr>
          <p:nvPr/>
        </p:nvSpPr>
        <p:spPr>
          <a:xfrm xmlns:a="http://schemas.openxmlformats.org/drawingml/2006/main">
            <a:off x="79248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Often deeper and protected; confirm anatomy before proceeding</a:t>
            </a:r>
          </a:p>
        </p:txBody>
      </p:sp>
      <p:sp>
        <p:nvSpPr>
          <p:cNvPr id="25" name="">
            <a:extLst xmlns:a="http://schemas.openxmlformats.org/drawingml/2006/main">
              <a:ext uri="{FF2B5EF4-FFF2-40B4-BE49-F238E27FC236}">
                <a16:creationId xmlns:a16="http://schemas.microsoft.com/office/drawing/2014/main" id="{5B6DC63F-2228-4A3B-8848-CD4BB544D11A}"/>
              </a:ext>
            </a:extLst>
          </p:cNvPr>
          <p:cNvSpPr>
            <a:spLocks xmlns:a="http://schemas.openxmlformats.org/drawingml/2006/main" noGrp="1"/>
          </p:cNvSpPr>
          <p:nvPr/>
        </p:nvSpPr>
        <p:spPr>
          <a:xfrm xmlns:a="http://schemas.openxmlformats.org/drawingml/2006/main">
            <a:off x="7810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21A26AD0-C53E-4F39-9356-04FF55B2B6AC}"/>
              </a:ext>
            </a:extLst>
          </p:cNvPr>
          <p:cNvSpPr>
            <a:spLocks xmlns:a="http://schemas.openxmlformats.org/drawingml/2006/main" noGrp="1"/>
          </p:cNvSpPr>
          <p:nvPr/>
        </p:nvSpPr>
        <p:spPr>
          <a:xfrm xmlns:a="http://schemas.openxmlformats.org/drawingml/2006/main">
            <a:off x="8763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Blood return</a:t>
            </a:r>
          </a:p>
        </p:txBody>
      </p:sp>
      <p:sp>
        <p:nvSpPr>
          <p:cNvPr id="27" name="">
            <a:extLst xmlns:a="http://schemas.openxmlformats.org/drawingml/2006/main">
              <a:ext uri="{FF2B5EF4-FFF2-40B4-BE49-F238E27FC236}">
                <a16:creationId xmlns:a16="http://schemas.microsoft.com/office/drawing/2014/main" id="{4A2DE748-D524-47D4-999A-92144FD13701}"/>
              </a:ext>
            </a:extLst>
          </p:cNvPr>
          <p:cNvSpPr>
            <a:spLocks xmlns:a="http://schemas.openxmlformats.org/drawingml/2006/main" noGrp="1"/>
          </p:cNvSpPr>
          <p:nvPr/>
        </p:nvSpPr>
        <p:spPr>
          <a:xfrm xmlns:a="http://schemas.openxmlformats.org/drawingml/2006/main">
            <a:off x="430530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92EEEDE2-8828-4BF3-AD73-39328C23E0CE}"/>
              </a:ext>
            </a:extLst>
          </p:cNvPr>
          <p:cNvSpPr>
            <a:spLocks xmlns:a="http://schemas.openxmlformats.org/drawingml/2006/main" noGrp="1"/>
          </p:cNvSpPr>
          <p:nvPr/>
        </p:nvSpPr>
        <p:spPr>
          <a:xfrm xmlns:a="http://schemas.openxmlformats.org/drawingml/2006/main">
            <a:off x="440055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Usually darker and lower pressure</a:t>
            </a:r>
          </a:p>
        </p:txBody>
      </p:sp>
      <p:sp>
        <p:nvSpPr>
          <p:cNvPr id="29" name="">
            <a:extLst xmlns:a="http://schemas.openxmlformats.org/drawingml/2006/main">
              <a:ext uri="{FF2B5EF4-FFF2-40B4-BE49-F238E27FC236}">
                <a16:creationId xmlns:a16="http://schemas.microsoft.com/office/drawing/2014/main" id="{06FEFDC7-41DB-4DAD-8F13-13085797BC08}"/>
              </a:ext>
            </a:extLst>
          </p:cNvPr>
          <p:cNvSpPr>
            <a:spLocks xmlns:a="http://schemas.openxmlformats.org/drawingml/2006/main" noGrp="1"/>
          </p:cNvSpPr>
          <p:nvPr/>
        </p:nvSpPr>
        <p:spPr>
          <a:xfrm xmlns:a="http://schemas.openxmlformats.org/drawingml/2006/main">
            <a:off x="78295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80EA8161-89CC-410B-BBEF-C9F972A0D392}"/>
              </a:ext>
            </a:extLst>
          </p:cNvPr>
          <p:cNvSpPr>
            <a:spLocks xmlns:a="http://schemas.openxmlformats.org/drawingml/2006/main" noGrp="1"/>
          </p:cNvSpPr>
          <p:nvPr/>
        </p:nvSpPr>
        <p:spPr>
          <a:xfrm xmlns:a="http://schemas.openxmlformats.org/drawingml/2006/main">
            <a:off x="79248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Bright or pulsatile return is an emergency cue—stop and escalate</a:t>
            </a:r>
          </a:p>
        </p:txBody>
      </p:sp>
      <p:sp>
        <p:nvSpPr>
          <p:cNvPr id="31" name="">
            <a:extLst xmlns:a="http://schemas.openxmlformats.org/drawingml/2006/main">
              <a:ext uri="{FF2B5EF4-FFF2-40B4-BE49-F238E27FC236}">
                <a16:creationId xmlns:a16="http://schemas.microsoft.com/office/drawing/2014/main" id="{12C61FCC-006D-4A04-9ACC-C34004CAC24B}"/>
              </a:ext>
            </a:extLst>
          </p:cNvPr>
          <p:cNvSpPr>
            <a:spLocks xmlns:a="http://schemas.openxmlformats.org/drawingml/2006/main" noGrp="1"/>
          </p:cNvSpPr>
          <p:nvPr/>
        </p:nvSpPr>
        <p:spPr>
          <a:xfrm xmlns:a="http://schemas.openxmlformats.org/drawingml/2006/main">
            <a:off x="7810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2" name="">
            <a:extLst xmlns:a="http://schemas.openxmlformats.org/drawingml/2006/main">
              <a:ext uri="{FF2B5EF4-FFF2-40B4-BE49-F238E27FC236}">
                <a16:creationId xmlns:a16="http://schemas.microsoft.com/office/drawing/2014/main" id="{83FE7DFE-E172-4159-9796-76D61A67B41C}"/>
              </a:ext>
            </a:extLst>
          </p:cNvPr>
          <p:cNvSpPr>
            <a:spLocks xmlns:a="http://schemas.openxmlformats.org/drawingml/2006/main" noGrp="1"/>
          </p:cNvSpPr>
          <p:nvPr/>
        </p:nvSpPr>
        <p:spPr>
          <a:xfrm xmlns:a="http://schemas.openxmlformats.org/drawingml/2006/main">
            <a:off x="8763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When uncertain</a:t>
            </a:r>
          </a:p>
        </p:txBody>
      </p:sp>
      <p:sp>
        <p:nvSpPr>
          <p:cNvPr id="33" name="">
            <a:extLst xmlns:a="http://schemas.openxmlformats.org/drawingml/2006/main">
              <a:ext uri="{FF2B5EF4-FFF2-40B4-BE49-F238E27FC236}">
                <a16:creationId xmlns:a16="http://schemas.microsoft.com/office/drawing/2014/main" id="{F444BE7F-0764-4747-9821-931E1DED5A2A}"/>
              </a:ext>
            </a:extLst>
          </p:cNvPr>
          <p:cNvSpPr>
            <a:spLocks xmlns:a="http://schemas.openxmlformats.org/drawingml/2006/main" noGrp="1"/>
          </p:cNvSpPr>
          <p:nvPr/>
        </p:nvSpPr>
        <p:spPr>
          <a:xfrm xmlns:a="http://schemas.openxmlformats.org/drawingml/2006/main">
            <a:off x="430530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4" name="">
            <a:extLst xmlns:a="http://schemas.openxmlformats.org/drawingml/2006/main">
              <a:ext uri="{FF2B5EF4-FFF2-40B4-BE49-F238E27FC236}">
                <a16:creationId xmlns:a16="http://schemas.microsoft.com/office/drawing/2014/main" id="{9E1C285E-BDB6-4264-85FB-B0763686BD43}"/>
              </a:ext>
            </a:extLst>
          </p:cNvPr>
          <p:cNvSpPr>
            <a:spLocks xmlns:a="http://schemas.openxmlformats.org/drawingml/2006/main" noGrp="1"/>
          </p:cNvSpPr>
          <p:nvPr/>
        </p:nvSpPr>
        <p:spPr>
          <a:xfrm xmlns:a="http://schemas.openxmlformats.org/drawingml/2006/main">
            <a:off x="440055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Reassess the site and therapy</a:t>
            </a:r>
          </a:p>
        </p:txBody>
      </p:sp>
      <p:sp>
        <p:nvSpPr>
          <p:cNvPr id="35" name="">
            <a:extLst xmlns:a="http://schemas.openxmlformats.org/drawingml/2006/main">
              <a:ext uri="{FF2B5EF4-FFF2-40B4-BE49-F238E27FC236}">
                <a16:creationId xmlns:a16="http://schemas.microsoft.com/office/drawing/2014/main" id="{A67A2932-6CB5-4F75-A46E-73E986390FD3}"/>
              </a:ext>
            </a:extLst>
          </p:cNvPr>
          <p:cNvSpPr>
            <a:spLocks xmlns:a="http://schemas.openxmlformats.org/drawingml/2006/main" noGrp="1"/>
          </p:cNvSpPr>
          <p:nvPr/>
        </p:nvSpPr>
        <p:spPr>
          <a:xfrm xmlns:a="http://schemas.openxmlformats.org/drawingml/2006/main">
            <a:off x="78295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6" name="">
            <a:extLst xmlns:a="http://schemas.openxmlformats.org/drawingml/2006/main">
              <a:ext uri="{FF2B5EF4-FFF2-40B4-BE49-F238E27FC236}">
                <a16:creationId xmlns:a16="http://schemas.microsoft.com/office/drawing/2014/main" id="{EBB677C2-0582-44AA-9EAC-AB8EB8665A69}"/>
              </a:ext>
            </a:extLst>
          </p:cNvPr>
          <p:cNvSpPr>
            <a:spLocks xmlns:a="http://schemas.openxmlformats.org/drawingml/2006/main" noGrp="1"/>
          </p:cNvSpPr>
          <p:nvPr/>
        </p:nvSpPr>
        <p:spPr>
          <a:xfrm xmlns:a="http://schemas.openxmlformats.org/drawingml/2006/main">
            <a:off x="79248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Do not rely on color alone; obtain qualified assistance</a:t>
            </a:r>
          </a:p>
        </p:txBody>
      </p:sp>
    </p:spTree>
    <p:extLst>
      <p:ext uri="{BB962C8B-B14F-4D97-AF65-F5344CB8AC3E}">
        <p14:creationId xmlns:p14="http://schemas.microsoft.com/office/powerpoint/2010/main" val="1063735073"/>
      </p:ext>
    </p:extLst>
  </p:cSld>
</p:sld>
</file>

<file path=ppt/slides/slide2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62626C0-E4B5-4804-AE5D-53D4F6A3A31A}"/>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4091571D-4CDE-4033-B7A0-51062DBE216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9A22EB4F-7E3F-4D91-AF13-B0368DF07900}"/>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BDCDBC33-60A6-4533-A013-DAD486D5547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Vein assessment uses sight and touch</a:t>
            </a:r>
          </a:p>
        </p:txBody>
      </p:sp>
      <p:sp>
        <p:nvSpPr>
          <p:cNvPr id="5" name="">
            <a:extLst xmlns:a="http://schemas.openxmlformats.org/drawingml/2006/main">
              <a:ext uri="{FF2B5EF4-FFF2-40B4-BE49-F238E27FC236}">
                <a16:creationId xmlns:a16="http://schemas.microsoft.com/office/drawing/2014/main" id="{F05307E2-E749-4F68-8D86-16A5472A7B3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6" name="">
            <a:extLst xmlns:a="http://schemas.openxmlformats.org/drawingml/2006/main">
              <a:ext uri="{FF2B5EF4-FFF2-40B4-BE49-F238E27FC236}">
                <a16:creationId xmlns:a16="http://schemas.microsoft.com/office/drawing/2014/main" id="{645B39F2-7D1F-463A-8B7D-FE982BD46CF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25</a:t>
            </a:r>
          </a:p>
        </p:txBody>
      </p:sp>
      <p:sp>
        <p:nvSpPr>
          <p:cNvPr id="7" name="">
            <a:extLst xmlns:a="http://schemas.openxmlformats.org/drawingml/2006/main">
              <a:ext uri="{FF2B5EF4-FFF2-40B4-BE49-F238E27FC236}">
                <a16:creationId xmlns:a16="http://schemas.microsoft.com/office/drawing/2014/main" id="{10FE2DF3-F2C9-4E41-8266-575A453A37A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Inspect both appropriate extremities before choosing a site.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Use one or two fingertips rather than the thumb to palpate the vessel.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Press lightly, release, and assess elasticity, rebound filling, direction, depth, and length.</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Palpate even when a vein looks easy to access; appearance alone does not confirm suitability.</a:t>
            </a:r>
          </a:p>
        </p:txBody>
      </p:sp>
      <p:sp>
        <p:nvSpPr>
          <p:cNvPr id="8" name="">
            <a:extLst xmlns:a="http://schemas.openxmlformats.org/drawingml/2006/main">
              <a:ext uri="{FF2B5EF4-FFF2-40B4-BE49-F238E27FC236}">
                <a16:creationId xmlns:a16="http://schemas.microsoft.com/office/drawing/2014/main" id="{0C511651-AAD2-4F0C-850A-871181E4E4D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223143653"/>
      </p:ext>
    </p:extLst>
  </p:cSld>
</p:sld>
</file>

<file path=ppt/slides/slide2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AAD4E1E-6D30-4468-AE37-BF5395E500E9}"/>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FB2AAF4F-E45F-49F8-B21A-ABEFFC46ED9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2B73A440-4547-4A72-922D-48B28C0EF899}"/>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98F57B0D-8DAE-4C98-9A4B-7C74D186158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Strategies for a poorly filled vein</a:t>
            </a:r>
          </a:p>
        </p:txBody>
      </p:sp>
      <p:sp>
        <p:nvSpPr>
          <p:cNvPr id="5" name="">
            <a:extLst xmlns:a="http://schemas.openxmlformats.org/drawingml/2006/main">
              <a:ext uri="{FF2B5EF4-FFF2-40B4-BE49-F238E27FC236}">
                <a16:creationId xmlns:a16="http://schemas.microsoft.com/office/drawing/2014/main" id="{83ABFE9E-D06D-4F2D-8C9F-48C4871D8D6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6" name="">
            <a:extLst xmlns:a="http://schemas.openxmlformats.org/drawingml/2006/main">
              <a:ext uri="{FF2B5EF4-FFF2-40B4-BE49-F238E27FC236}">
                <a16:creationId xmlns:a16="http://schemas.microsoft.com/office/drawing/2014/main" id="{10B3CF05-F3A0-471D-A5B6-4682853CDE5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26</a:t>
            </a:r>
          </a:p>
        </p:txBody>
      </p:sp>
      <p:sp>
        <p:nvSpPr>
          <p:cNvPr id="7" name="">
            <a:extLst xmlns:a="http://schemas.openxmlformats.org/drawingml/2006/main">
              <a:ext uri="{FF2B5EF4-FFF2-40B4-BE49-F238E27FC236}">
                <a16:creationId xmlns:a16="http://schemas.microsoft.com/office/drawing/2014/main" id="{79F969A4-EF09-4D19-A68D-285A7776678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Lower the arm below heart level before applying the tourniquet when the patient's condition permits.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Ask the patient to gently open and close the hand, then relax it for insertion.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Use light tapping rather than forceful striking, which may cause vasoconstriction.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Apply an approved warm compress according to facility policy and reassess the vein before proceeding.</a:t>
            </a:r>
          </a:p>
        </p:txBody>
      </p:sp>
      <p:sp>
        <p:nvSpPr>
          <p:cNvPr id="8" name="">
            <a:extLst xmlns:a="http://schemas.openxmlformats.org/drawingml/2006/main">
              <a:ext uri="{FF2B5EF4-FFF2-40B4-BE49-F238E27FC236}">
                <a16:creationId xmlns:a16="http://schemas.microsoft.com/office/drawing/2014/main" id="{DBBB1B06-24F2-4872-8744-5B882AE54F4A}"/>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722772786"/>
      </p:ext>
    </p:extLst>
  </p:cSld>
</p:sld>
</file>

<file path=ppt/slides/slide2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B2290DB8-5996-4545-AECB-8A82733F8F52}"/>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C939A6C1-B3AD-47A7-BDB5-4C72112B50B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3570C352-B871-467D-BF0C-59DC1213F14A}"/>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CBA5957B-37D6-4476-99E9-CC21936373C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Peripheral catheter selection</a:t>
            </a:r>
          </a:p>
        </p:txBody>
      </p:sp>
      <p:sp>
        <p:nvSpPr>
          <p:cNvPr id="5" name="">
            <a:extLst xmlns:a="http://schemas.openxmlformats.org/drawingml/2006/main">
              <a:ext uri="{FF2B5EF4-FFF2-40B4-BE49-F238E27FC236}">
                <a16:creationId xmlns:a16="http://schemas.microsoft.com/office/drawing/2014/main" id="{F281B4D9-9452-4F98-BF7E-963639950BF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6" name="">
            <a:extLst xmlns:a="http://schemas.openxmlformats.org/drawingml/2006/main">
              <a:ext uri="{FF2B5EF4-FFF2-40B4-BE49-F238E27FC236}">
                <a16:creationId xmlns:a16="http://schemas.microsoft.com/office/drawing/2014/main" id="{98825BD7-814C-4B39-B18D-7D416EB0569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27</a:t>
            </a:r>
          </a:p>
        </p:txBody>
      </p:sp>
      <p:sp>
        <p:nvSpPr>
          <p:cNvPr id="7" name="">
            <a:extLst xmlns:a="http://schemas.openxmlformats.org/drawingml/2006/main">
              <a:ext uri="{FF2B5EF4-FFF2-40B4-BE49-F238E27FC236}">
                <a16:creationId xmlns:a16="http://schemas.microsoft.com/office/drawing/2014/main" id="{F2C749B8-1F94-4A76-AAA5-1BCFE0044D48}"/>
              </a:ext>
            </a:extLst>
          </p:cNvPr>
          <p:cNvSpPr>
            <a:spLocks xmlns:a="http://schemas.openxmlformats.org/drawingml/2006/main" noGrp="1"/>
          </p:cNvSpPr>
          <p:nvPr/>
        </p:nvSpPr>
        <p:spPr>
          <a:xfrm xmlns:a="http://schemas.openxmlformats.org/drawingml/2006/main">
            <a:off x="781050" y="1695450"/>
            <a:ext cx="5286375"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1DF24564-E5FE-462C-A9D0-78D1489BD8CF}"/>
              </a:ext>
            </a:extLst>
          </p:cNvPr>
          <p:cNvSpPr>
            <a:spLocks xmlns:a="http://schemas.openxmlformats.org/drawingml/2006/main" noGrp="1"/>
          </p:cNvSpPr>
          <p:nvPr/>
        </p:nvSpPr>
        <p:spPr>
          <a:xfrm xmlns:a="http://schemas.openxmlformats.org/drawingml/2006/main">
            <a:off x="876300" y="1762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Clinical need</a:t>
            </a:r>
          </a:p>
        </p:txBody>
      </p:sp>
      <p:sp>
        <p:nvSpPr>
          <p:cNvPr id="9" name="">
            <a:extLst xmlns:a="http://schemas.openxmlformats.org/drawingml/2006/main">
              <a:ext uri="{FF2B5EF4-FFF2-40B4-BE49-F238E27FC236}">
                <a16:creationId xmlns:a16="http://schemas.microsoft.com/office/drawing/2014/main" id="{6F4838A8-D19E-40D6-8170-A92E0E510F6B}"/>
              </a:ext>
            </a:extLst>
          </p:cNvPr>
          <p:cNvSpPr>
            <a:spLocks xmlns:a="http://schemas.openxmlformats.org/drawingml/2006/main" noGrp="1"/>
          </p:cNvSpPr>
          <p:nvPr/>
        </p:nvSpPr>
        <p:spPr>
          <a:xfrm xmlns:a="http://schemas.openxmlformats.org/drawingml/2006/main">
            <a:off x="6067425" y="1695450"/>
            <a:ext cx="5286375"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F04726D5-BDE8-40FF-B465-2E9F968A2EC0}"/>
              </a:ext>
            </a:extLst>
          </p:cNvPr>
          <p:cNvSpPr>
            <a:spLocks xmlns:a="http://schemas.openxmlformats.org/drawingml/2006/main" noGrp="1"/>
          </p:cNvSpPr>
          <p:nvPr/>
        </p:nvSpPr>
        <p:spPr>
          <a:xfrm xmlns:a="http://schemas.openxmlformats.org/drawingml/2006/main">
            <a:off x="6162675" y="1762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Selection principle</a:t>
            </a:r>
          </a:p>
        </p:txBody>
      </p:sp>
      <p:sp>
        <p:nvSpPr>
          <p:cNvPr id="11" name="">
            <a:extLst xmlns:a="http://schemas.openxmlformats.org/drawingml/2006/main">
              <a:ext uri="{FF2B5EF4-FFF2-40B4-BE49-F238E27FC236}">
                <a16:creationId xmlns:a16="http://schemas.microsoft.com/office/drawing/2014/main" id="{53F15F87-81EA-439D-8729-D48039D96DEC}"/>
              </a:ext>
            </a:extLst>
          </p:cNvPr>
          <p:cNvSpPr>
            <a:spLocks xmlns:a="http://schemas.openxmlformats.org/drawingml/2006/main" noGrp="1"/>
          </p:cNvSpPr>
          <p:nvPr/>
        </p:nvSpPr>
        <p:spPr>
          <a:xfrm xmlns:a="http://schemas.openxmlformats.org/drawingml/2006/main">
            <a:off x="781050" y="25527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DA229F6B-B5DC-4A74-ACDB-4018487C1281}"/>
              </a:ext>
            </a:extLst>
          </p:cNvPr>
          <p:cNvSpPr>
            <a:spLocks xmlns:a="http://schemas.openxmlformats.org/drawingml/2006/main" noGrp="1"/>
          </p:cNvSpPr>
          <p:nvPr/>
        </p:nvSpPr>
        <p:spPr>
          <a:xfrm xmlns:a="http://schemas.openxmlformats.org/drawingml/2006/main">
            <a:off x="876300" y="26193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Routine fluids or intermittent medication</a:t>
            </a:r>
          </a:p>
        </p:txBody>
      </p:sp>
      <p:sp>
        <p:nvSpPr>
          <p:cNvPr id="13" name="">
            <a:extLst xmlns:a="http://schemas.openxmlformats.org/drawingml/2006/main">
              <a:ext uri="{FF2B5EF4-FFF2-40B4-BE49-F238E27FC236}">
                <a16:creationId xmlns:a16="http://schemas.microsoft.com/office/drawing/2014/main" id="{7AA38024-B20B-4B57-A24B-0F0FEE5295BC}"/>
              </a:ext>
            </a:extLst>
          </p:cNvPr>
          <p:cNvSpPr>
            <a:spLocks xmlns:a="http://schemas.openxmlformats.org/drawingml/2006/main" noGrp="1"/>
          </p:cNvSpPr>
          <p:nvPr/>
        </p:nvSpPr>
        <p:spPr>
          <a:xfrm xmlns:a="http://schemas.openxmlformats.org/drawingml/2006/main">
            <a:off x="6067425" y="25527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5D8EFAE9-E07F-4D70-B3D3-7BE5E80FA366}"/>
              </a:ext>
            </a:extLst>
          </p:cNvPr>
          <p:cNvSpPr>
            <a:spLocks xmlns:a="http://schemas.openxmlformats.org/drawingml/2006/main" noGrp="1"/>
          </p:cNvSpPr>
          <p:nvPr/>
        </p:nvSpPr>
        <p:spPr>
          <a:xfrm xmlns:a="http://schemas.openxmlformats.org/drawingml/2006/main">
            <a:off x="6162675" y="26193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Use the smallest gauge that reliably supports therapy</a:t>
            </a:r>
          </a:p>
        </p:txBody>
      </p:sp>
      <p:sp>
        <p:nvSpPr>
          <p:cNvPr id="15" name="">
            <a:extLst xmlns:a="http://schemas.openxmlformats.org/drawingml/2006/main">
              <a:ext uri="{FF2B5EF4-FFF2-40B4-BE49-F238E27FC236}">
                <a16:creationId xmlns:a16="http://schemas.microsoft.com/office/drawing/2014/main" id="{C02DE061-7FD0-4A64-A440-EACA3F0A9A60}"/>
              </a:ext>
            </a:extLst>
          </p:cNvPr>
          <p:cNvSpPr>
            <a:spLocks xmlns:a="http://schemas.openxmlformats.org/drawingml/2006/main" noGrp="1"/>
          </p:cNvSpPr>
          <p:nvPr/>
        </p:nvSpPr>
        <p:spPr>
          <a:xfrm xmlns:a="http://schemas.openxmlformats.org/drawingml/2006/main">
            <a:off x="781050" y="34099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ECC839A0-A9D9-4592-857B-DAAE69F2215D}"/>
              </a:ext>
            </a:extLst>
          </p:cNvPr>
          <p:cNvSpPr>
            <a:spLocks xmlns:a="http://schemas.openxmlformats.org/drawingml/2006/main" noGrp="1"/>
          </p:cNvSpPr>
          <p:nvPr/>
        </p:nvSpPr>
        <p:spPr>
          <a:xfrm xmlns:a="http://schemas.openxmlformats.org/drawingml/2006/main">
            <a:off x="876300" y="34766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Rapid volume or blood</a:t>
            </a:r>
          </a:p>
        </p:txBody>
      </p:sp>
      <p:sp>
        <p:nvSpPr>
          <p:cNvPr id="17" name="">
            <a:extLst xmlns:a="http://schemas.openxmlformats.org/drawingml/2006/main">
              <a:ext uri="{FF2B5EF4-FFF2-40B4-BE49-F238E27FC236}">
                <a16:creationId xmlns:a16="http://schemas.microsoft.com/office/drawing/2014/main" id="{7E717CF4-D39B-4BBB-9A93-8FADF27A360A}"/>
              </a:ext>
            </a:extLst>
          </p:cNvPr>
          <p:cNvSpPr>
            <a:spLocks xmlns:a="http://schemas.openxmlformats.org/drawingml/2006/main" noGrp="1"/>
          </p:cNvSpPr>
          <p:nvPr/>
        </p:nvSpPr>
        <p:spPr>
          <a:xfrm xmlns:a="http://schemas.openxmlformats.org/drawingml/2006/main">
            <a:off x="6067425" y="34099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64733503-8763-4680-BA0F-7609AC9E0DA9}"/>
              </a:ext>
            </a:extLst>
          </p:cNvPr>
          <p:cNvSpPr>
            <a:spLocks xmlns:a="http://schemas.openxmlformats.org/drawingml/2006/main" noGrp="1"/>
          </p:cNvSpPr>
          <p:nvPr/>
        </p:nvSpPr>
        <p:spPr>
          <a:xfrm xmlns:a="http://schemas.openxmlformats.org/drawingml/2006/main">
            <a:off x="6162675" y="34766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 larger bore may be required when clinically appropriate</a:t>
            </a:r>
          </a:p>
        </p:txBody>
      </p:sp>
      <p:sp>
        <p:nvSpPr>
          <p:cNvPr id="19" name="">
            <a:extLst xmlns:a="http://schemas.openxmlformats.org/drawingml/2006/main">
              <a:ext uri="{FF2B5EF4-FFF2-40B4-BE49-F238E27FC236}">
                <a16:creationId xmlns:a16="http://schemas.microsoft.com/office/drawing/2014/main" id="{4CDD9FCE-D2FD-4F9F-8C81-3BE9B933C468}"/>
              </a:ext>
            </a:extLst>
          </p:cNvPr>
          <p:cNvSpPr>
            <a:spLocks xmlns:a="http://schemas.openxmlformats.org/drawingml/2006/main" noGrp="1"/>
          </p:cNvSpPr>
          <p:nvPr/>
        </p:nvSpPr>
        <p:spPr>
          <a:xfrm xmlns:a="http://schemas.openxmlformats.org/drawingml/2006/main">
            <a:off x="781050" y="42672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60389B89-850F-4CC6-8898-66EEDAA80D8F}"/>
              </a:ext>
            </a:extLst>
          </p:cNvPr>
          <p:cNvSpPr>
            <a:spLocks xmlns:a="http://schemas.openxmlformats.org/drawingml/2006/main" noGrp="1"/>
          </p:cNvSpPr>
          <p:nvPr/>
        </p:nvSpPr>
        <p:spPr>
          <a:xfrm xmlns:a="http://schemas.openxmlformats.org/drawingml/2006/main">
            <a:off x="876300" y="43338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Fragile or small veins</a:t>
            </a:r>
          </a:p>
        </p:txBody>
      </p:sp>
      <p:sp>
        <p:nvSpPr>
          <p:cNvPr id="21" name="">
            <a:extLst xmlns:a="http://schemas.openxmlformats.org/drawingml/2006/main">
              <a:ext uri="{FF2B5EF4-FFF2-40B4-BE49-F238E27FC236}">
                <a16:creationId xmlns:a16="http://schemas.microsoft.com/office/drawing/2014/main" id="{C566A34F-DCED-48FF-9154-61DD81682FC9}"/>
              </a:ext>
            </a:extLst>
          </p:cNvPr>
          <p:cNvSpPr>
            <a:spLocks xmlns:a="http://schemas.openxmlformats.org/drawingml/2006/main" noGrp="1"/>
          </p:cNvSpPr>
          <p:nvPr/>
        </p:nvSpPr>
        <p:spPr>
          <a:xfrm xmlns:a="http://schemas.openxmlformats.org/drawingml/2006/main">
            <a:off x="6067425" y="42672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70AE8F57-D902-41DB-9705-52D680054974}"/>
              </a:ext>
            </a:extLst>
          </p:cNvPr>
          <p:cNvSpPr>
            <a:spLocks xmlns:a="http://schemas.openxmlformats.org/drawingml/2006/main" noGrp="1"/>
          </p:cNvSpPr>
          <p:nvPr/>
        </p:nvSpPr>
        <p:spPr>
          <a:xfrm xmlns:a="http://schemas.openxmlformats.org/drawingml/2006/main">
            <a:off x="6162675" y="43338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Choose a smaller gauge and appropriate short catheter</a:t>
            </a:r>
          </a:p>
        </p:txBody>
      </p:sp>
      <p:sp>
        <p:nvSpPr>
          <p:cNvPr id="23" name="">
            <a:extLst xmlns:a="http://schemas.openxmlformats.org/drawingml/2006/main">
              <a:ext uri="{FF2B5EF4-FFF2-40B4-BE49-F238E27FC236}">
                <a16:creationId xmlns:a16="http://schemas.microsoft.com/office/drawing/2014/main" id="{AC456F5D-A3BC-4427-91EA-F9D9A2411BFB}"/>
              </a:ext>
            </a:extLst>
          </p:cNvPr>
          <p:cNvSpPr>
            <a:spLocks xmlns:a="http://schemas.openxmlformats.org/drawingml/2006/main" noGrp="1"/>
          </p:cNvSpPr>
          <p:nvPr/>
        </p:nvSpPr>
        <p:spPr>
          <a:xfrm xmlns:a="http://schemas.openxmlformats.org/drawingml/2006/main">
            <a:off x="781050" y="51244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2AC65D29-FC19-4EF0-99B8-B6C18CB4C408}"/>
              </a:ext>
            </a:extLst>
          </p:cNvPr>
          <p:cNvSpPr>
            <a:spLocks xmlns:a="http://schemas.openxmlformats.org/drawingml/2006/main" noGrp="1"/>
          </p:cNvSpPr>
          <p:nvPr/>
        </p:nvSpPr>
        <p:spPr>
          <a:xfrm xmlns:a="http://schemas.openxmlformats.org/drawingml/2006/main">
            <a:off x="876300" y="5191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Long duration or irritating therapy</a:t>
            </a:r>
          </a:p>
        </p:txBody>
      </p:sp>
      <p:sp>
        <p:nvSpPr>
          <p:cNvPr id="25" name="">
            <a:extLst xmlns:a="http://schemas.openxmlformats.org/drawingml/2006/main">
              <a:ext uri="{FF2B5EF4-FFF2-40B4-BE49-F238E27FC236}">
                <a16:creationId xmlns:a16="http://schemas.microsoft.com/office/drawing/2014/main" id="{8CDBA503-2060-4D55-9DC4-D48CC2007FAD}"/>
              </a:ext>
            </a:extLst>
          </p:cNvPr>
          <p:cNvSpPr>
            <a:spLocks xmlns:a="http://schemas.openxmlformats.org/drawingml/2006/main" noGrp="1"/>
          </p:cNvSpPr>
          <p:nvPr/>
        </p:nvSpPr>
        <p:spPr>
          <a:xfrm xmlns:a="http://schemas.openxmlformats.org/drawingml/2006/main">
            <a:off x="6067425" y="51244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6300A848-DCC7-4593-B01E-49783F5BD000}"/>
              </a:ext>
            </a:extLst>
          </p:cNvPr>
          <p:cNvSpPr>
            <a:spLocks xmlns:a="http://schemas.openxmlformats.org/drawingml/2006/main" noGrp="1"/>
          </p:cNvSpPr>
          <p:nvPr/>
        </p:nvSpPr>
        <p:spPr>
          <a:xfrm xmlns:a="http://schemas.openxmlformats.org/drawingml/2006/main">
            <a:off x="6162675" y="5191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Reassess whether a different vascular-access device is indicated</a:t>
            </a:r>
          </a:p>
        </p:txBody>
      </p:sp>
    </p:spTree>
    <p:extLst>
      <p:ext uri="{BB962C8B-B14F-4D97-AF65-F5344CB8AC3E}">
        <p14:creationId xmlns:p14="http://schemas.microsoft.com/office/powerpoint/2010/main" val="146393693"/>
      </p:ext>
    </p:extLst>
  </p:cSld>
</p:sld>
</file>

<file path=ppt/slides/slide2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C2EB36A-D147-444F-A64F-B7148E3FEA7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70EA5613-5F83-46EA-887D-87A7D334A58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E5B7BC57-0938-4AB0-B3E9-24D8F6B171D6}"/>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5D7C73D8-694E-48A9-B1FB-EF5D2A3718B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Insertion sequence: prepare and access</a:t>
            </a:r>
          </a:p>
        </p:txBody>
      </p:sp>
      <p:sp>
        <p:nvSpPr>
          <p:cNvPr id="5" name="">
            <a:extLst xmlns:a="http://schemas.openxmlformats.org/drawingml/2006/main">
              <a:ext uri="{FF2B5EF4-FFF2-40B4-BE49-F238E27FC236}">
                <a16:creationId xmlns:a16="http://schemas.microsoft.com/office/drawing/2014/main" id="{AFC95518-A5B3-47BB-BB34-B169B6B383D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6" name="">
            <a:extLst xmlns:a="http://schemas.openxmlformats.org/drawingml/2006/main">
              <a:ext uri="{FF2B5EF4-FFF2-40B4-BE49-F238E27FC236}">
                <a16:creationId xmlns:a16="http://schemas.microsoft.com/office/drawing/2014/main" id="{61AB3738-2407-43AA-9B8D-89209D1200A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28</a:t>
            </a:r>
          </a:p>
        </p:txBody>
      </p:sp>
      <p:sp>
        <p:nvSpPr>
          <p:cNvPr id="7" name="">
            <a:extLst xmlns:a="http://schemas.openxmlformats.org/drawingml/2006/main">
              <a:ext uri="{FF2B5EF4-FFF2-40B4-BE49-F238E27FC236}">
                <a16:creationId xmlns:a16="http://schemas.microsoft.com/office/drawing/2014/main" id="{D738C3C2-AB1B-44D9-96C3-666F3C45F0D4}"/>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Verify the order, identify and teach the patient, perform hand hygiene, and gather supplies.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Position the limb, assess veins, apply the tourniquet, and select the site.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Cleanse with the approved antiseptic using the required friction and allow it to dry completely.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Stabilize the vein, insert bevel up, observe flashback, lower the angle, and advance the catheter—not the needle.</a:t>
            </a:r>
          </a:p>
        </p:txBody>
      </p:sp>
      <p:sp>
        <p:nvSpPr>
          <p:cNvPr id="8" name="">
            <a:extLst xmlns:a="http://schemas.openxmlformats.org/drawingml/2006/main">
              <a:ext uri="{FF2B5EF4-FFF2-40B4-BE49-F238E27FC236}">
                <a16:creationId xmlns:a16="http://schemas.microsoft.com/office/drawing/2014/main" id="{F5B218C7-C9E9-4B18-A4B1-2FBACACE579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403857527"/>
      </p:ext>
    </p:extLst>
  </p:cSld>
</p:sld>
</file>

<file path=ppt/slides/slide2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339B995-7721-4324-92A0-2A8521CE8279}"/>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15002DF1-ACA1-4D15-BA1D-F7F9C8D422B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F9A7D125-4C36-4FA2-B753-1C946551DE71}"/>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4305AC6D-BC3B-4E1C-B919-F259E878AEE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Insertion sequence: connect and secure</a:t>
            </a:r>
          </a:p>
        </p:txBody>
      </p:sp>
      <p:sp>
        <p:nvSpPr>
          <p:cNvPr id="5" name="">
            <a:extLst xmlns:a="http://schemas.openxmlformats.org/drawingml/2006/main">
              <a:ext uri="{FF2B5EF4-FFF2-40B4-BE49-F238E27FC236}">
                <a16:creationId xmlns:a16="http://schemas.microsoft.com/office/drawing/2014/main" id="{F0463799-66FB-4928-AD74-A491FA4B72A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6" name="">
            <a:extLst xmlns:a="http://schemas.openxmlformats.org/drawingml/2006/main">
              <a:ext uri="{FF2B5EF4-FFF2-40B4-BE49-F238E27FC236}">
                <a16:creationId xmlns:a16="http://schemas.microsoft.com/office/drawing/2014/main" id="{1FE38A19-DD80-4B04-8B70-36B5DF7D550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29</a:t>
            </a:r>
          </a:p>
        </p:txBody>
      </p:sp>
      <p:sp>
        <p:nvSpPr>
          <p:cNvPr id="7" name="">
            <a:extLst xmlns:a="http://schemas.openxmlformats.org/drawingml/2006/main">
              <a:ext uri="{FF2B5EF4-FFF2-40B4-BE49-F238E27FC236}">
                <a16:creationId xmlns:a16="http://schemas.microsoft.com/office/drawing/2014/main" id="{F981C4C7-D7C0-49AC-8EA2-CC5B6EEBEFF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Release the tourniquet, apply appropriate pressure, activate the sharps safety device, and discard immediately.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Connect the primed extension without contaminating key parts.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Confirm patency using the approved assessment; never force a flush.</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Secure and dress the catheter, label it, start the ordered therapy, teach the patient, and document.</a:t>
            </a:r>
          </a:p>
        </p:txBody>
      </p:sp>
      <p:sp>
        <p:nvSpPr>
          <p:cNvPr id="8" name="">
            <a:extLst xmlns:a="http://schemas.openxmlformats.org/drawingml/2006/main">
              <a:ext uri="{FF2B5EF4-FFF2-40B4-BE49-F238E27FC236}">
                <a16:creationId xmlns:a16="http://schemas.microsoft.com/office/drawing/2014/main" id="{20DAD844-AAC5-425E-91DE-A2A0BC3772D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909390924"/>
      </p:ext>
    </p:extLst>
  </p:cSld>
</p:sld>
</file>

<file path=ppt/slides/slide3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1F0FAF6-D32F-447A-8C43-1D455B619ED2}"/>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389F3FAD-5A84-4518-87F1-1A5288C98D2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FC23F962-3256-48DE-97C9-A7E44C83FE23}"/>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F5E9DA68-0D2C-4123-A88B-CEDCED54D15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Sharps safety is part of every IV start</a:t>
            </a:r>
          </a:p>
        </p:txBody>
      </p:sp>
      <p:sp>
        <p:nvSpPr>
          <p:cNvPr id="5" name="">
            <a:extLst xmlns:a="http://schemas.openxmlformats.org/drawingml/2006/main">
              <a:ext uri="{FF2B5EF4-FFF2-40B4-BE49-F238E27FC236}">
                <a16:creationId xmlns:a16="http://schemas.microsoft.com/office/drawing/2014/main" id="{FA4EFAB2-F4B3-40FE-838D-76FED453770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6" name="">
            <a:extLst xmlns:a="http://schemas.openxmlformats.org/drawingml/2006/main">
              <a:ext uri="{FF2B5EF4-FFF2-40B4-BE49-F238E27FC236}">
                <a16:creationId xmlns:a16="http://schemas.microsoft.com/office/drawing/2014/main" id="{8838C190-A134-4AE2-B4B2-80114B5DDE6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30</a:t>
            </a:r>
          </a:p>
        </p:txBody>
      </p:sp>
      <p:sp>
        <p:nvSpPr>
          <p:cNvPr id="7" name="">
            <a:extLst xmlns:a="http://schemas.openxmlformats.org/drawingml/2006/main">
              <a:ext uri="{FF2B5EF4-FFF2-40B4-BE49-F238E27FC236}">
                <a16:creationId xmlns:a16="http://schemas.microsoft.com/office/drawing/2014/main" id="{290FFAA5-9A2D-4A06-BF88-0938AFC8ED60}"/>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Place an approved, closable, puncture-resistant sharps container within easy reach before beginning.</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Never bend, break, remove, or recap the introducer needle.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Activate the engineered safety feature immediately after withdrawal and visually confirm activation when the device permits.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Dispose of the sharp at once; never carry it, hand it to another person, or force it into an overfilled container.</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If an injury occurs, stop safely and follow the facility exposure-control plan without delay.</a:t>
            </a:r>
          </a:p>
        </p:txBody>
      </p:sp>
      <p:sp>
        <p:nvSpPr>
          <p:cNvPr id="8" name="">
            <a:extLst xmlns:a="http://schemas.openxmlformats.org/drawingml/2006/main">
              <a:ext uri="{FF2B5EF4-FFF2-40B4-BE49-F238E27FC236}">
                <a16:creationId xmlns:a16="http://schemas.microsoft.com/office/drawing/2014/main" id="{53F61DDC-A5E3-4F34-9AE2-93FCDA919019}"/>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2028565284"/>
      </p:ext>
    </p:extLst>
  </p:cSld>
</p:sld>
</file>

<file path=ppt/slides/slide3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3C513E21-86DD-4834-8ADF-109147D71304}"/>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6AD792DD-0031-458F-A705-AE8AD2FFACF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0E8DF8FC-32F3-4022-B0A2-F03DDD9252FF}"/>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CD6FD2D5-07F1-4C09-AD33-8DFE03F2505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Occupational exposure: immediate response</a:t>
            </a:r>
          </a:p>
        </p:txBody>
      </p:sp>
      <p:sp>
        <p:nvSpPr>
          <p:cNvPr id="5" name="">
            <a:extLst xmlns:a="http://schemas.openxmlformats.org/drawingml/2006/main">
              <a:ext uri="{FF2B5EF4-FFF2-40B4-BE49-F238E27FC236}">
                <a16:creationId xmlns:a16="http://schemas.microsoft.com/office/drawing/2014/main" id="{594CFB29-E4B3-44FC-9931-888DC845E3F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6" name="">
            <a:extLst xmlns:a="http://schemas.openxmlformats.org/drawingml/2006/main">
              <a:ext uri="{FF2B5EF4-FFF2-40B4-BE49-F238E27FC236}">
                <a16:creationId xmlns:a16="http://schemas.microsoft.com/office/drawing/2014/main" id="{36CDEF9A-77ED-4A82-853D-BBCA59A3FD2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31</a:t>
            </a:r>
          </a:p>
        </p:txBody>
      </p:sp>
      <p:sp>
        <p:nvSpPr>
          <p:cNvPr id="7" name="">
            <a:extLst xmlns:a="http://schemas.openxmlformats.org/drawingml/2006/main">
              <a:ext uri="{FF2B5EF4-FFF2-40B4-BE49-F238E27FC236}">
                <a16:creationId xmlns:a16="http://schemas.microsoft.com/office/drawing/2014/main" id="{CF0AE1AE-775E-4A5B-80C6-2CC4D8F0ED08}"/>
              </a:ext>
            </a:extLst>
          </p:cNvPr>
          <p:cNvSpPr>
            <a:spLocks xmlns:a="http://schemas.openxmlformats.org/drawingml/2006/main" noGrp="1"/>
          </p:cNvSpPr>
          <p:nvPr/>
        </p:nvSpPr>
        <p:spPr>
          <a:xfrm xmlns:a="http://schemas.openxmlformats.org/drawingml/2006/main">
            <a:off x="781050" y="1695450"/>
            <a:ext cx="5286375" cy="7429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B0825ED7-FDDB-43AE-A343-C3EAFC60C089}"/>
              </a:ext>
            </a:extLst>
          </p:cNvPr>
          <p:cNvSpPr>
            <a:spLocks xmlns:a="http://schemas.openxmlformats.org/drawingml/2006/main" noGrp="1"/>
          </p:cNvSpPr>
          <p:nvPr/>
        </p:nvSpPr>
        <p:spPr>
          <a:xfrm xmlns:a="http://schemas.openxmlformats.org/drawingml/2006/main">
            <a:off x="876300" y="1762125"/>
            <a:ext cx="5095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Exposure</a:t>
            </a:r>
          </a:p>
        </p:txBody>
      </p:sp>
      <p:sp>
        <p:nvSpPr>
          <p:cNvPr id="9" name="">
            <a:extLst xmlns:a="http://schemas.openxmlformats.org/drawingml/2006/main">
              <a:ext uri="{FF2B5EF4-FFF2-40B4-BE49-F238E27FC236}">
                <a16:creationId xmlns:a16="http://schemas.microsoft.com/office/drawing/2014/main" id="{BA6B2382-0266-4DC0-96E0-59B5807642C2}"/>
              </a:ext>
            </a:extLst>
          </p:cNvPr>
          <p:cNvSpPr>
            <a:spLocks xmlns:a="http://schemas.openxmlformats.org/drawingml/2006/main" noGrp="1"/>
          </p:cNvSpPr>
          <p:nvPr/>
        </p:nvSpPr>
        <p:spPr>
          <a:xfrm xmlns:a="http://schemas.openxmlformats.org/drawingml/2006/main">
            <a:off x="6067425" y="1695450"/>
            <a:ext cx="5286375" cy="7429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7B2CEDEB-7CEA-426A-8C65-6DF43DB6E8F8}"/>
              </a:ext>
            </a:extLst>
          </p:cNvPr>
          <p:cNvSpPr>
            <a:spLocks xmlns:a="http://schemas.openxmlformats.org/drawingml/2006/main" noGrp="1"/>
          </p:cNvSpPr>
          <p:nvPr/>
        </p:nvSpPr>
        <p:spPr>
          <a:xfrm xmlns:a="http://schemas.openxmlformats.org/drawingml/2006/main">
            <a:off x="6162675" y="1762125"/>
            <a:ext cx="5095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Immediate action</a:t>
            </a:r>
          </a:p>
        </p:txBody>
      </p:sp>
      <p:sp>
        <p:nvSpPr>
          <p:cNvPr id="11" name="">
            <a:extLst xmlns:a="http://schemas.openxmlformats.org/drawingml/2006/main">
              <a:ext uri="{FF2B5EF4-FFF2-40B4-BE49-F238E27FC236}">
                <a16:creationId xmlns:a16="http://schemas.microsoft.com/office/drawing/2014/main" id="{94CE50AB-B9E6-421C-B59B-60D0E1AFBCDE}"/>
              </a:ext>
            </a:extLst>
          </p:cNvPr>
          <p:cNvSpPr>
            <a:spLocks xmlns:a="http://schemas.openxmlformats.org/drawingml/2006/main" noGrp="1"/>
          </p:cNvSpPr>
          <p:nvPr/>
        </p:nvSpPr>
        <p:spPr>
          <a:xfrm xmlns:a="http://schemas.openxmlformats.org/drawingml/2006/main">
            <a:off x="781050" y="2438400"/>
            <a:ext cx="5286375"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F9F48A00-F538-49AA-9110-24CAC731C283}"/>
              </a:ext>
            </a:extLst>
          </p:cNvPr>
          <p:cNvSpPr>
            <a:spLocks xmlns:a="http://schemas.openxmlformats.org/drawingml/2006/main" noGrp="1"/>
          </p:cNvSpPr>
          <p:nvPr/>
        </p:nvSpPr>
        <p:spPr>
          <a:xfrm xmlns:a="http://schemas.openxmlformats.org/drawingml/2006/main">
            <a:off x="876300" y="2505075"/>
            <a:ext cx="5095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Needlestick or cut</a:t>
            </a:r>
          </a:p>
        </p:txBody>
      </p:sp>
      <p:sp>
        <p:nvSpPr>
          <p:cNvPr id="13" name="">
            <a:extLst xmlns:a="http://schemas.openxmlformats.org/drawingml/2006/main">
              <a:ext uri="{FF2B5EF4-FFF2-40B4-BE49-F238E27FC236}">
                <a16:creationId xmlns:a16="http://schemas.microsoft.com/office/drawing/2014/main" id="{6E130EF2-AFF3-4F85-B99A-0252CA78ECBD}"/>
              </a:ext>
            </a:extLst>
          </p:cNvPr>
          <p:cNvSpPr>
            <a:spLocks xmlns:a="http://schemas.openxmlformats.org/drawingml/2006/main" noGrp="1"/>
          </p:cNvSpPr>
          <p:nvPr/>
        </p:nvSpPr>
        <p:spPr>
          <a:xfrm xmlns:a="http://schemas.openxmlformats.org/drawingml/2006/main">
            <a:off x="6067425" y="2438400"/>
            <a:ext cx="5286375"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8DE47DAA-169B-4F06-B9BC-BB13027A11A3}"/>
              </a:ext>
            </a:extLst>
          </p:cNvPr>
          <p:cNvSpPr>
            <a:spLocks xmlns:a="http://schemas.openxmlformats.org/drawingml/2006/main" noGrp="1"/>
          </p:cNvSpPr>
          <p:nvPr/>
        </p:nvSpPr>
        <p:spPr>
          <a:xfrm xmlns:a="http://schemas.openxmlformats.org/drawingml/2006/main">
            <a:off x="6162675" y="2505075"/>
            <a:ext cx="5095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Wash with soap and water; do not scrub aggressively or squeeze the wound</a:t>
            </a:r>
          </a:p>
        </p:txBody>
      </p:sp>
      <p:sp>
        <p:nvSpPr>
          <p:cNvPr id="15" name="">
            <a:extLst xmlns:a="http://schemas.openxmlformats.org/drawingml/2006/main">
              <a:ext uri="{FF2B5EF4-FFF2-40B4-BE49-F238E27FC236}">
                <a16:creationId xmlns:a16="http://schemas.microsoft.com/office/drawing/2014/main" id="{D83EEC6D-2B79-4E28-8F74-812214146671}"/>
              </a:ext>
            </a:extLst>
          </p:cNvPr>
          <p:cNvSpPr>
            <a:spLocks xmlns:a="http://schemas.openxmlformats.org/drawingml/2006/main" noGrp="1"/>
          </p:cNvSpPr>
          <p:nvPr/>
        </p:nvSpPr>
        <p:spPr>
          <a:xfrm xmlns:a="http://schemas.openxmlformats.org/drawingml/2006/main">
            <a:off x="781050" y="3181350"/>
            <a:ext cx="5286375" cy="7429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7E825428-760B-4E2C-9ADF-AE2A080D9FC6}"/>
              </a:ext>
            </a:extLst>
          </p:cNvPr>
          <p:cNvSpPr>
            <a:spLocks xmlns:a="http://schemas.openxmlformats.org/drawingml/2006/main" noGrp="1"/>
          </p:cNvSpPr>
          <p:nvPr/>
        </p:nvSpPr>
        <p:spPr>
          <a:xfrm xmlns:a="http://schemas.openxmlformats.org/drawingml/2006/main">
            <a:off x="876300" y="3248025"/>
            <a:ext cx="5095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Eye or mucous-membrane splash</a:t>
            </a:r>
          </a:p>
        </p:txBody>
      </p:sp>
      <p:sp>
        <p:nvSpPr>
          <p:cNvPr id="17" name="">
            <a:extLst xmlns:a="http://schemas.openxmlformats.org/drawingml/2006/main">
              <a:ext uri="{FF2B5EF4-FFF2-40B4-BE49-F238E27FC236}">
                <a16:creationId xmlns:a16="http://schemas.microsoft.com/office/drawing/2014/main" id="{2FAE62E5-8C87-40F5-AFA7-7996B9F6E982}"/>
              </a:ext>
            </a:extLst>
          </p:cNvPr>
          <p:cNvSpPr>
            <a:spLocks xmlns:a="http://schemas.openxmlformats.org/drawingml/2006/main" noGrp="1"/>
          </p:cNvSpPr>
          <p:nvPr/>
        </p:nvSpPr>
        <p:spPr>
          <a:xfrm xmlns:a="http://schemas.openxmlformats.org/drawingml/2006/main">
            <a:off x="6067425" y="3181350"/>
            <a:ext cx="5286375" cy="7429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7E8A4AC5-3053-4FC8-BED2-CACF1F74E48B}"/>
              </a:ext>
            </a:extLst>
          </p:cNvPr>
          <p:cNvSpPr>
            <a:spLocks xmlns:a="http://schemas.openxmlformats.org/drawingml/2006/main" noGrp="1"/>
          </p:cNvSpPr>
          <p:nvPr/>
        </p:nvSpPr>
        <p:spPr>
          <a:xfrm xmlns:a="http://schemas.openxmlformats.org/drawingml/2006/main">
            <a:off x="6162675" y="3248025"/>
            <a:ext cx="5095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Flush promptly with water or the designated eyewash</a:t>
            </a:r>
          </a:p>
        </p:txBody>
      </p:sp>
      <p:sp>
        <p:nvSpPr>
          <p:cNvPr id="19" name="">
            <a:extLst xmlns:a="http://schemas.openxmlformats.org/drawingml/2006/main">
              <a:ext uri="{FF2B5EF4-FFF2-40B4-BE49-F238E27FC236}">
                <a16:creationId xmlns:a16="http://schemas.microsoft.com/office/drawing/2014/main" id="{AD389BDF-4321-432B-9314-A5EC3AF16B3B}"/>
              </a:ext>
            </a:extLst>
          </p:cNvPr>
          <p:cNvSpPr>
            <a:spLocks xmlns:a="http://schemas.openxmlformats.org/drawingml/2006/main" noGrp="1"/>
          </p:cNvSpPr>
          <p:nvPr/>
        </p:nvSpPr>
        <p:spPr>
          <a:xfrm xmlns:a="http://schemas.openxmlformats.org/drawingml/2006/main">
            <a:off x="781050" y="3924300"/>
            <a:ext cx="5286375"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0317750A-91F5-45A7-AA73-8855DBF9577B}"/>
              </a:ext>
            </a:extLst>
          </p:cNvPr>
          <p:cNvSpPr>
            <a:spLocks xmlns:a="http://schemas.openxmlformats.org/drawingml/2006/main" noGrp="1"/>
          </p:cNvSpPr>
          <p:nvPr/>
        </p:nvSpPr>
        <p:spPr>
          <a:xfrm xmlns:a="http://schemas.openxmlformats.org/drawingml/2006/main">
            <a:off x="876300" y="3990975"/>
            <a:ext cx="5095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Nonintact-skin contact</a:t>
            </a:r>
          </a:p>
        </p:txBody>
      </p:sp>
      <p:sp>
        <p:nvSpPr>
          <p:cNvPr id="21" name="">
            <a:extLst xmlns:a="http://schemas.openxmlformats.org/drawingml/2006/main">
              <a:ext uri="{FF2B5EF4-FFF2-40B4-BE49-F238E27FC236}">
                <a16:creationId xmlns:a16="http://schemas.microsoft.com/office/drawing/2014/main" id="{21F772E8-DE73-45A2-94AA-918B912E8ED1}"/>
              </a:ext>
            </a:extLst>
          </p:cNvPr>
          <p:cNvSpPr>
            <a:spLocks xmlns:a="http://schemas.openxmlformats.org/drawingml/2006/main" noGrp="1"/>
          </p:cNvSpPr>
          <p:nvPr/>
        </p:nvSpPr>
        <p:spPr>
          <a:xfrm xmlns:a="http://schemas.openxmlformats.org/drawingml/2006/main">
            <a:off x="6067425" y="3924300"/>
            <a:ext cx="5286375"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1AD75BA6-4BBD-478C-A183-12FAB877ED54}"/>
              </a:ext>
            </a:extLst>
          </p:cNvPr>
          <p:cNvSpPr>
            <a:spLocks xmlns:a="http://schemas.openxmlformats.org/drawingml/2006/main" noGrp="1"/>
          </p:cNvSpPr>
          <p:nvPr/>
        </p:nvSpPr>
        <p:spPr>
          <a:xfrm xmlns:a="http://schemas.openxmlformats.org/drawingml/2006/main">
            <a:off x="6162675" y="3990975"/>
            <a:ext cx="5095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Wash the area promptly and remove contaminated clothing as directed</a:t>
            </a:r>
          </a:p>
        </p:txBody>
      </p:sp>
      <p:sp>
        <p:nvSpPr>
          <p:cNvPr id="23" name="">
            <a:extLst xmlns:a="http://schemas.openxmlformats.org/drawingml/2006/main">
              <a:ext uri="{FF2B5EF4-FFF2-40B4-BE49-F238E27FC236}">
                <a16:creationId xmlns:a16="http://schemas.microsoft.com/office/drawing/2014/main" id="{566B31B8-0EBE-475A-9516-20439E503DEF}"/>
              </a:ext>
            </a:extLst>
          </p:cNvPr>
          <p:cNvSpPr>
            <a:spLocks xmlns:a="http://schemas.openxmlformats.org/drawingml/2006/main" noGrp="1"/>
          </p:cNvSpPr>
          <p:nvPr/>
        </p:nvSpPr>
        <p:spPr>
          <a:xfrm xmlns:a="http://schemas.openxmlformats.org/drawingml/2006/main">
            <a:off x="781050" y="4667250"/>
            <a:ext cx="5286375" cy="7429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4DD0C38E-281A-4E19-9ED8-6CA3C27099CD}"/>
              </a:ext>
            </a:extLst>
          </p:cNvPr>
          <p:cNvSpPr>
            <a:spLocks xmlns:a="http://schemas.openxmlformats.org/drawingml/2006/main" noGrp="1"/>
          </p:cNvSpPr>
          <p:nvPr/>
        </p:nvSpPr>
        <p:spPr>
          <a:xfrm xmlns:a="http://schemas.openxmlformats.org/drawingml/2006/main">
            <a:off x="876300" y="4733925"/>
            <a:ext cx="5095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Every exposure</a:t>
            </a:r>
          </a:p>
        </p:txBody>
      </p:sp>
      <p:sp>
        <p:nvSpPr>
          <p:cNvPr id="25" name="">
            <a:extLst xmlns:a="http://schemas.openxmlformats.org/drawingml/2006/main">
              <a:ext uri="{FF2B5EF4-FFF2-40B4-BE49-F238E27FC236}">
                <a16:creationId xmlns:a16="http://schemas.microsoft.com/office/drawing/2014/main" id="{737321B9-9A38-4C36-B7FE-500E4019DFCC}"/>
              </a:ext>
            </a:extLst>
          </p:cNvPr>
          <p:cNvSpPr>
            <a:spLocks xmlns:a="http://schemas.openxmlformats.org/drawingml/2006/main" noGrp="1"/>
          </p:cNvSpPr>
          <p:nvPr/>
        </p:nvSpPr>
        <p:spPr>
          <a:xfrm xmlns:a="http://schemas.openxmlformats.org/drawingml/2006/main">
            <a:off x="6067425" y="4667250"/>
            <a:ext cx="5286375" cy="7429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7A087A69-FB3C-4F54-A186-D543E6E7D795}"/>
              </a:ext>
            </a:extLst>
          </p:cNvPr>
          <p:cNvSpPr>
            <a:spLocks xmlns:a="http://schemas.openxmlformats.org/drawingml/2006/main" noGrp="1"/>
          </p:cNvSpPr>
          <p:nvPr/>
        </p:nvSpPr>
        <p:spPr>
          <a:xfrm xmlns:a="http://schemas.openxmlformats.org/drawingml/2006/main">
            <a:off x="6162675" y="4733925"/>
            <a:ext cx="5095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Report immediately, identify the source process when permitted, and obtain confidential medical evaluation and follow-up</a:t>
            </a:r>
          </a:p>
        </p:txBody>
      </p:sp>
      <p:sp>
        <p:nvSpPr>
          <p:cNvPr id="27" name="">
            <a:extLst xmlns:a="http://schemas.openxmlformats.org/drawingml/2006/main">
              <a:ext uri="{FF2B5EF4-FFF2-40B4-BE49-F238E27FC236}">
                <a16:creationId xmlns:a16="http://schemas.microsoft.com/office/drawing/2014/main" id="{70B43019-C6EB-4798-9269-8181FA216A5A}"/>
              </a:ext>
            </a:extLst>
          </p:cNvPr>
          <p:cNvSpPr>
            <a:spLocks xmlns:a="http://schemas.openxmlformats.org/drawingml/2006/main" noGrp="1"/>
          </p:cNvSpPr>
          <p:nvPr/>
        </p:nvSpPr>
        <p:spPr>
          <a:xfrm xmlns:a="http://schemas.openxmlformats.org/drawingml/2006/main">
            <a:off x="838200" y="5619750"/>
            <a:ext cx="1038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B94F3D"/>
                </a:solidFill>
                <a:latin typeface="Helvetica Neue"/>
                <a:ea typeface="Helvetica Neue"/>
                <a:cs typeface="Helvetica Neue"/>
              </a:defRPr>
            </a:defPPr>
            <a:lvl1pPr>
              <a:defRPr sz="1275" b="1">
                <a:solidFill>
                  <a:srgbClr val="B94F3D"/>
                </a:solidFill>
                <a:latin typeface="Helvetica Neue"/>
                <a:ea typeface="Helvetica Neue"/>
                <a:cs typeface="Helvetica Neue"/>
              </a:defRPr>
            </a:lvl1pPr>
            <a:lvl2pPr>
              <a:defRPr sz="1275" b="1">
                <a:solidFill>
                  <a:srgbClr val="B94F3D"/>
                </a:solidFill>
                <a:latin typeface="Helvetica Neue"/>
                <a:ea typeface="Helvetica Neue"/>
                <a:cs typeface="Helvetica Neue"/>
              </a:defRPr>
            </a:lvl2pPr>
            <a:lvl3pPr>
              <a:defRPr sz="1275" b="1">
                <a:solidFill>
                  <a:srgbClr val="B94F3D"/>
                </a:solidFill>
                <a:latin typeface="Helvetica Neue"/>
                <a:ea typeface="Helvetica Neue"/>
                <a:cs typeface="Helvetica Neue"/>
              </a:defRPr>
            </a:lvl3pPr>
            <a:lvl4pPr>
              <a:defRPr sz="1275" b="1">
                <a:solidFill>
                  <a:srgbClr val="B94F3D"/>
                </a:solidFill>
                <a:latin typeface="Helvetica Neue"/>
                <a:ea typeface="Helvetica Neue"/>
                <a:cs typeface="Helvetica Neue"/>
              </a:defRPr>
            </a:lvl4pPr>
            <a:lvl5pPr>
              <a:defRPr sz="1275" b="1">
                <a:solidFill>
                  <a:srgbClr val="B94F3D"/>
                </a:solidFill>
                <a:latin typeface="Helvetica Neue"/>
                <a:ea typeface="Helvetica Neue"/>
                <a:cs typeface="Helvetica Neue"/>
              </a:defRPr>
            </a:lvl5pPr>
            <a:lvl6pPr>
              <a:defRPr sz="1275" b="1">
                <a:solidFill>
                  <a:srgbClr val="B94F3D"/>
                </a:solidFill>
                <a:latin typeface="Helvetica Neue"/>
                <a:ea typeface="Helvetica Neue"/>
                <a:cs typeface="Helvetica Neue"/>
              </a:defRPr>
            </a:lvl6pPr>
            <a:lvl7pPr>
              <a:defRPr sz="1275" b="1">
                <a:solidFill>
                  <a:srgbClr val="B94F3D"/>
                </a:solidFill>
                <a:latin typeface="Helvetica Neue"/>
                <a:ea typeface="Helvetica Neue"/>
                <a:cs typeface="Helvetica Neue"/>
              </a:defRPr>
            </a:lvl7pPr>
            <a:lvl8pPr>
              <a:defRPr sz="1275" b="1">
                <a:solidFill>
                  <a:srgbClr val="B94F3D"/>
                </a:solidFill>
                <a:latin typeface="Helvetica Neue"/>
                <a:ea typeface="Helvetica Neue"/>
                <a:cs typeface="Helvetica Neue"/>
              </a:defRPr>
            </a:lvl8pPr>
            <a:lvl9pPr>
              <a:defRPr sz="1275" b="1">
                <a:solidFill>
                  <a:srgbClr val="B94F3D"/>
                </a:solidFill>
                <a:latin typeface="Helvetica Neue"/>
                <a:ea typeface="Helvetica Neue"/>
                <a:cs typeface="Helvetica Neue"/>
              </a:defRPr>
            </a:lvl9pPr>
          </a:lstStyle>
          <a:p xmlns:a="http://schemas.openxmlformats.org/drawingml/2006/main">
            <a:pPr>
              <a:defRPr sz="1275" b="1">
                <a:solidFill>
                  <a:srgbClr val="B94F3D"/>
                </a:solidFill>
                <a:latin typeface="Helvetica Neue"/>
                <a:ea typeface="Helvetica Neue"/>
                <a:cs typeface="Helvetica Neue"/>
              </a:defRPr>
            </a:pPr>
            <a:r>
              <a:rPr sz="1275" b="1">
                <a:solidFill>
                  <a:srgbClr val="B94F3D"/>
                </a:solidFill>
                <a:latin typeface="Helvetica Neue"/>
                <a:ea typeface="Helvetica Neue"/>
                <a:cs typeface="Helvetica Neue"/>
              </a:rPr>
              <a:t>Do not delay reporting while deciding whether the exposure seems serious. Follow the employer's written exposure-control plan and current post-exposure protocol.</a:t>
            </a:r>
          </a:p>
        </p:txBody>
      </p:sp>
    </p:spTree>
    <p:extLst>
      <p:ext uri="{BB962C8B-B14F-4D97-AF65-F5344CB8AC3E}">
        <p14:creationId xmlns:p14="http://schemas.microsoft.com/office/powerpoint/2010/main" val="1063693642"/>
      </p:ext>
    </p:extLst>
  </p:cSld>
</p:sld>
</file>

<file path=ppt/slides/slide3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42085DD6-ED8A-4F88-B0EB-A9CFB2AF00D2}"/>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FAE86918-EF3F-4435-A61F-E7AF20FD822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0779BB9C-1DCD-490B-BEF7-EE1A7CD229B9}"/>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7EDD7F40-A6A4-4AB6-BFD4-6E9ED5AB748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Unsuccessful insertion: safe next steps</a:t>
            </a:r>
          </a:p>
        </p:txBody>
      </p:sp>
      <p:sp>
        <p:nvSpPr>
          <p:cNvPr id="5" name="">
            <a:extLst xmlns:a="http://schemas.openxmlformats.org/drawingml/2006/main">
              <a:ext uri="{FF2B5EF4-FFF2-40B4-BE49-F238E27FC236}">
                <a16:creationId xmlns:a16="http://schemas.microsoft.com/office/drawing/2014/main" id="{76ACE974-4A5A-473B-8160-DFCAFF071C1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6" name="">
            <a:extLst xmlns:a="http://schemas.openxmlformats.org/drawingml/2006/main">
              <a:ext uri="{FF2B5EF4-FFF2-40B4-BE49-F238E27FC236}">
                <a16:creationId xmlns:a16="http://schemas.microsoft.com/office/drawing/2014/main" id="{36BE61DE-CBB7-43AF-9D35-B1E8A947900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32</a:t>
            </a:r>
          </a:p>
        </p:txBody>
      </p:sp>
      <p:sp>
        <p:nvSpPr>
          <p:cNvPr id="7" name="">
            <a:extLst xmlns:a="http://schemas.openxmlformats.org/drawingml/2006/main">
              <a:ext uri="{FF2B5EF4-FFF2-40B4-BE49-F238E27FC236}">
                <a16:creationId xmlns:a16="http://schemas.microsoft.com/office/drawing/2014/main" id="{878BEA58-700C-4234-8462-B50C39796763}"/>
              </a:ext>
            </a:extLst>
          </p:cNvPr>
          <p:cNvSpPr>
            <a:spLocks xmlns:a="http://schemas.openxmlformats.org/drawingml/2006/main" noGrp="1"/>
          </p:cNvSpPr>
          <p:nvPr/>
        </p:nvSpPr>
        <p:spPr>
          <a:xfrm xmlns:a="http://schemas.openxmlformats.org/drawingml/2006/main">
            <a:off x="7810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7F60757B-A13D-4092-8F7C-937624012CF7}"/>
              </a:ext>
            </a:extLst>
          </p:cNvPr>
          <p:cNvSpPr>
            <a:spLocks xmlns:a="http://schemas.openxmlformats.org/drawingml/2006/main" noGrp="1"/>
          </p:cNvSpPr>
          <p:nvPr/>
        </p:nvSpPr>
        <p:spPr>
          <a:xfrm xmlns:a="http://schemas.openxmlformats.org/drawingml/2006/main">
            <a:off x="8763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Problem</a:t>
            </a:r>
          </a:p>
        </p:txBody>
      </p:sp>
      <p:sp>
        <p:nvSpPr>
          <p:cNvPr id="9" name="">
            <a:extLst xmlns:a="http://schemas.openxmlformats.org/drawingml/2006/main">
              <a:ext uri="{FF2B5EF4-FFF2-40B4-BE49-F238E27FC236}">
                <a16:creationId xmlns:a16="http://schemas.microsoft.com/office/drawing/2014/main" id="{A120A8AE-3CAD-498C-BCB6-60A1FDCF6A7E}"/>
              </a:ext>
            </a:extLst>
          </p:cNvPr>
          <p:cNvSpPr>
            <a:spLocks xmlns:a="http://schemas.openxmlformats.org/drawingml/2006/main" noGrp="1"/>
          </p:cNvSpPr>
          <p:nvPr/>
        </p:nvSpPr>
        <p:spPr>
          <a:xfrm xmlns:a="http://schemas.openxmlformats.org/drawingml/2006/main">
            <a:off x="430530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5A17E029-3177-45EB-B8E9-303CA77D6CAB}"/>
              </a:ext>
            </a:extLst>
          </p:cNvPr>
          <p:cNvSpPr>
            <a:spLocks xmlns:a="http://schemas.openxmlformats.org/drawingml/2006/main" noGrp="1"/>
          </p:cNvSpPr>
          <p:nvPr/>
        </p:nvSpPr>
        <p:spPr>
          <a:xfrm xmlns:a="http://schemas.openxmlformats.org/drawingml/2006/main">
            <a:off x="440055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Likely cause</a:t>
            </a:r>
          </a:p>
        </p:txBody>
      </p:sp>
      <p:sp>
        <p:nvSpPr>
          <p:cNvPr id="11" name="">
            <a:extLst xmlns:a="http://schemas.openxmlformats.org/drawingml/2006/main">
              <a:ext uri="{FF2B5EF4-FFF2-40B4-BE49-F238E27FC236}">
                <a16:creationId xmlns:a16="http://schemas.microsoft.com/office/drawing/2014/main" id="{03C15C96-5169-4F45-B7FA-C7E9079F7EFA}"/>
              </a:ext>
            </a:extLst>
          </p:cNvPr>
          <p:cNvSpPr>
            <a:spLocks xmlns:a="http://schemas.openxmlformats.org/drawingml/2006/main" noGrp="1"/>
          </p:cNvSpPr>
          <p:nvPr/>
        </p:nvSpPr>
        <p:spPr>
          <a:xfrm xmlns:a="http://schemas.openxmlformats.org/drawingml/2006/main">
            <a:off x="78295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1B739075-E1E6-4CF3-8113-6969C4174DC3}"/>
              </a:ext>
            </a:extLst>
          </p:cNvPr>
          <p:cNvSpPr>
            <a:spLocks xmlns:a="http://schemas.openxmlformats.org/drawingml/2006/main" noGrp="1"/>
          </p:cNvSpPr>
          <p:nvPr/>
        </p:nvSpPr>
        <p:spPr>
          <a:xfrm xmlns:a="http://schemas.openxmlformats.org/drawingml/2006/main">
            <a:off x="79248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Safe response</a:t>
            </a:r>
          </a:p>
        </p:txBody>
      </p:sp>
      <p:sp>
        <p:nvSpPr>
          <p:cNvPr id="13" name="">
            <a:extLst xmlns:a="http://schemas.openxmlformats.org/drawingml/2006/main">
              <a:ext uri="{FF2B5EF4-FFF2-40B4-BE49-F238E27FC236}">
                <a16:creationId xmlns:a16="http://schemas.microsoft.com/office/drawing/2014/main" id="{6EF4A2B3-471E-4B9B-B2E9-2B415F43B06B}"/>
              </a:ext>
            </a:extLst>
          </p:cNvPr>
          <p:cNvSpPr>
            <a:spLocks xmlns:a="http://schemas.openxmlformats.org/drawingml/2006/main" noGrp="1"/>
          </p:cNvSpPr>
          <p:nvPr/>
        </p:nvSpPr>
        <p:spPr>
          <a:xfrm xmlns:a="http://schemas.openxmlformats.org/drawingml/2006/main">
            <a:off x="7810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EA573A77-8520-4840-BC03-852C5DEAFD68}"/>
              </a:ext>
            </a:extLst>
          </p:cNvPr>
          <p:cNvSpPr>
            <a:spLocks xmlns:a="http://schemas.openxmlformats.org/drawingml/2006/main" noGrp="1"/>
          </p:cNvSpPr>
          <p:nvPr/>
        </p:nvSpPr>
        <p:spPr>
          <a:xfrm xmlns:a="http://schemas.openxmlformats.org/drawingml/2006/main">
            <a:off x="8763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Vein rolls away</a:t>
            </a:r>
          </a:p>
        </p:txBody>
      </p:sp>
      <p:sp>
        <p:nvSpPr>
          <p:cNvPr id="15" name="">
            <a:extLst xmlns:a="http://schemas.openxmlformats.org/drawingml/2006/main">
              <a:ext uri="{FF2B5EF4-FFF2-40B4-BE49-F238E27FC236}">
                <a16:creationId xmlns:a16="http://schemas.microsoft.com/office/drawing/2014/main" id="{B7A68B19-3979-4D4A-AC9D-4D7A5D376678}"/>
              </a:ext>
            </a:extLst>
          </p:cNvPr>
          <p:cNvSpPr>
            <a:spLocks xmlns:a="http://schemas.openxmlformats.org/drawingml/2006/main" noGrp="1"/>
          </p:cNvSpPr>
          <p:nvPr/>
        </p:nvSpPr>
        <p:spPr>
          <a:xfrm xmlns:a="http://schemas.openxmlformats.org/drawingml/2006/main">
            <a:off x="430530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76907F42-DC89-477F-A557-8ABE26EC42E5}"/>
              </a:ext>
            </a:extLst>
          </p:cNvPr>
          <p:cNvSpPr>
            <a:spLocks xmlns:a="http://schemas.openxmlformats.org/drawingml/2006/main" noGrp="1"/>
          </p:cNvSpPr>
          <p:nvPr/>
        </p:nvSpPr>
        <p:spPr>
          <a:xfrm xmlns:a="http://schemas.openxmlformats.org/drawingml/2006/main">
            <a:off x="440055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Inadequate stabilization</a:t>
            </a:r>
          </a:p>
        </p:txBody>
      </p:sp>
      <p:sp>
        <p:nvSpPr>
          <p:cNvPr id="17" name="">
            <a:extLst xmlns:a="http://schemas.openxmlformats.org/drawingml/2006/main">
              <a:ext uri="{FF2B5EF4-FFF2-40B4-BE49-F238E27FC236}">
                <a16:creationId xmlns:a16="http://schemas.microsoft.com/office/drawing/2014/main" id="{BBB44406-1698-4714-BBD3-F909256F967B}"/>
              </a:ext>
            </a:extLst>
          </p:cNvPr>
          <p:cNvSpPr>
            <a:spLocks xmlns:a="http://schemas.openxmlformats.org/drawingml/2006/main" noGrp="1"/>
          </p:cNvSpPr>
          <p:nvPr/>
        </p:nvSpPr>
        <p:spPr>
          <a:xfrm xmlns:a="http://schemas.openxmlformats.org/drawingml/2006/main">
            <a:off x="78295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479430EA-5AE8-4DDD-B9C4-17882F6D72F4}"/>
              </a:ext>
            </a:extLst>
          </p:cNvPr>
          <p:cNvSpPr>
            <a:spLocks xmlns:a="http://schemas.openxmlformats.org/drawingml/2006/main" noGrp="1"/>
          </p:cNvSpPr>
          <p:nvPr/>
        </p:nvSpPr>
        <p:spPr>
          <a:xfrm xmlns:a="http://schemas.openxmlformats.org/drawingml/2006/main">
            <a:off x="79248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Stop probing; stabilize correctly and use a new catheter/site as required</a:t>
            </a:r>
          </a:p>
        </p:txBody>
      </p:sp>
      <p:sp>
        <p:nvSpPr>
          <p:cNvPr id="19" name="">
            <a:extLst xmlns:a="http://schemas.openxmlformats.org/drawingml/2006/main">
              <a:ext uri="{FF2B5EF4-FFF2-40B4-BE49-F238E27FC236}">
                <a16:creationId xmlns:a16="http://schemas.microsoft.com/office/drawing/2014/main" id="{5B8814FB-EB3D-431D-A6EC-59AE07FE22DA}"/>
              </a:ext>
            </a:extLst>
          </p:cNvPr>
          <p:cNvSpPr>
            <a:spLocks xmlns:a="http://schemas.openxmlformats.org/drawingml/2006/main" noGrp="1"/>
          </p:cNvSpPr>
          <p:nvPr/>
        </p:nvSpPr>
        <p:spPr>
          <a:xfrm xmlns:a="http://schemas.openxmlformats.org/drawingml/2006/main">
            <a:off x="7810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86D89795-B36B-445A-BC15-5081896245CC}"/>
              </a:ext>
            </a:extLst>
          </p:cNvPr>
          <p:cNvSpPr>
            <a:spLocks xmlns:a="http://schemas.openxmlformats.org/drawingml/2006/main" noGrp="1"/>
          </p:cNvSpPr>
          <p:nvPr/>
        </p:nvSpPr>
        <p:spPr>
          <a:xfrm xmlns:a="http://schemas.openxmlformats.org/drawingml/2006/main">
            <a:off x="8763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Hematoma develops</a:t>
            </a:r>
          </a:p>
        </p:txBody>
      </p:sp>
      <p:sp>
        <p:nvSpPr>
          <p:cNvPr id="21" name="">
            <a:extLst xmlns:a="http://schemas.openxmlformats.org/drawingml/2006/main">
              <a:ext uri="{FF2B5EF4-FFF2-40B4-BE49-F238E27FC236}">
                <a16:creationId xmlns:a16="http://schemas.microsoft.com/office/drawing/2014/main" id="{ED5311B3-F177-40D4-B54B-FBA608D980D3}"/>
              </a:ext>
            </a:extLst>
          </p:cNvPr>
          <p:cNvSpPr>
            <a:spLocks xmlns:a="http://schemas.openxmlformats.org/drawingml/2006/main" noGrp="1"/>
          </p:cNvSpPr>
          <p:nvPr/>
        </p:nvSpPr>
        <p:spPr>
          <a:xfrm xmlns:a="http://schemas.openxmlformats.org/drawingml/2006/main">
            <a:off x="430530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27E39E69-F52D-465F-B26A-7683A3248D7A}"/>
              </a:ext>
            </a:extLst>
          </p:cNvPr>
          <p:cNvSpPr>
            <a:spLocks xmlns:a="http://schemas.openxmlformats.org/drawingml/2006/main" noGrp="1"/>
          </p:cNvSpPr>
          <p:nvPr/>
        </p:nvSpPr>
        <p:spPr>
          <a:xfrm xmlns:a="http://schemas.openxmlformats.org/drawingml/2006/main">
            <a:off x="440055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Posterior-wall trauma or excessive angle</a:t>
            </a:r>
          </a:p>
        </p:txBody>
      </p:sp>
      <p:sp>
        <p:nvSpPr>
          <p:cNvPr id="23" name="">
            <a:extLst xmlns:a="http://schemas.openxmlformats.org/drawingml/2006/main">
              <a:ext uri="{FF2B5EF4-FFF2-40B4-BE49-F238E27FC236}">
                <a16:creationId xmlns:a16="http://schemas.microsoft.com/office/drawing/2014/main" id="{0EEAB8B7-3C52-42BA-B845-80710D38685F}"/>
              </a:ext>
            </a:extLst>
          </p:cNvPr>
          <p:cNvSpPr>
            <a:spLocks xmlns:a="http://schemas.openxmlformats.org/drawingml/2006/main" noGrp="1"/>
          </p:cNvSpPr>
          <p:nvPr/>
        </p:nvSpPr>
        <p:spPr>
          <a:xfrm xmlns:a="http://schemas.openxmlformats.org/drawingml/2006/main">
            <a:off x="78295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0F660C80-7E07-48DF-97DD-0CFE92528C2E}"/>
              </a:ext>
            </a:extLst>
          </p:cNvPr>
          <p:cNvSpPr>
            <a:spLocks xmlns:a="http://schemas.openxmlformats.org/drawingml/2006/main" noGrp="1"/>
          </p:cNvSpPr>
          <p:nvPr/>
        </p:nvSpPr>
        <p:spPr>
          <a:xfrm xmlns:a="http://schemas.openxmlformats.org/drawingml/2006/main">
            <a:off x="79248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Stop, remove, apply pressure, and reassess</a:t>
            </a:r>
          </a:p>
        </p:txBody>
      </p:sp>
      <p:sp>
        <p:nvSpPr>
          <p:cNvPr id="25" name="">
            <a:extLst xmlns:a="http://schemas.openxmlformats.org/drawingml/2006/main">
              <a:ext uri="{FF2B5EF4-FFF2-40B4-BE49-F238E27FC236}">
                <a16:creationId xmlns:a16="http://schemas.microsoft.com/office/drawing/2014/main" id="{2BBE859C-54CB-41F7-8654-2C7A7754D664}"/>
              </a:ext>
            </a:extLst>
          </p:cNvPr>
          <p:cNvSpPr>
            <a:spLocks xmlns:a="http://schemas.openxmlformats.org/drawingml/2006/main" noGrp="1"/>
          </p:cNvSpPr>
          <p:nvPr/>
        </p:nvSpPr>
        <p:spPr>
          <a:xfrm xmlns:a="http://schemas.openxmlformats.org/drawingml/2006/main">
            <a:off x="7810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54AC5B08-8ADE-4B53-BAE2-1C2E627262E6}"/>
              </a:ext>
            </a:extLst>
          </p:cNvPr>
          <p:cNvSpPr>
            <a:spLocks xmlns:a="http://schemas.openxmlformats.org/drawingml/2006/main" noGrp="1"/>
          </p:cNvSpPr>
          <p:nvPr/>
        </p:nvSpPr>
        <p:spPr>
          <a:xfrm xmlns:a="http://schemas.openxmlformats.org/drawingml/2006/main">
            <a:off x="8763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Flashback appears but catheter will not advance</a:t>
            </a:r>
          </a:p>
        </p:txBody>
      </p:sp>
      <p:sp>
        <p:nvSpPr>
          <p:cNvPr id="27" name="">
            <a:extLst xmlns:a="http://schemas.openxmlformats.org/drawingml/2006/main">
              <a:ext uri="{FF2B5EF4-FFF2-40B4-BE49-F238E27FC236}">
                <a16:creationId xmlns:a16="http://schemas.microsoft.com/office/drawing/2014/main" id="{BCC0BF36-0535-4B66-9BD6-34DD47EFABA9}"/>
              </a:ext>
            </a:extLst>
          </p:cNvPr>
          <p:cNvSpPr>
            <a:spLocks xmlns:a="http://schemas.openxmlformats.org/drawingml/2006/main" noGrp="1"/>
          </p:cNvSpPr>
          <p:nvPr/>
        </p:nvSpPr>
        <p:spPr>
          <a:xfrm xmlns:a="http://schemas.openxmlformats.org/drawingml/2006/main">
            <a:off x="430530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1AED359A-9558-4D5D-8CF8-AE03DE179BAF}"/>
              </a:ext>
            </a:extLst>
          </p:cNvPr>
          <p:cNvSpPr>
            <a:spLocks xmlns:a="http://schemas.openxmlformats.org/drawingml/2006/main" noGrp="1"/>
          </p:cNvSpPr>
          <p:nvPr/>
        </p:nvSpPr>
        <p:spPr>
          <a:xfrm xmlns:a="http://schemas.openxmlformats.org/drawingml/2006/main">
            <a:off x="440055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Only the needle tip may be in the lumen</a:t>
            </a:r>
          </a:p>
        </p:txBody>
      </p:sp>
      <p:sp>
        <p:nvSpPr>
          <p:cNvPr id="29" name="">
            <a:extLst xmlns:a="http://schemas.openxmlformats.org/drawingml/2006/main">
              <a:ext uri="{FF2B5EF4-FFF2-40B4-BE49-F238E27FC236}">
                <a16:creationId xmlns:a16="http://schemas.microsoft.com/office/drawing/2014/main" id="{6559BEB7-8761-4AB0-B36B-17F019A68713}"/>
              </a:ext>
            </a:extLst>
          </p:cNvPr>
          <p:cNvSpPr>
            <a:spLocks xmlns:a="http://schemas.openxmlformats.org/drawingml/2006/main" noGrp="1"/>
          </p:cNvSpPr>
          <p:nvPr/>
        </p:nvSpPr>
        <p:spPr>
          <a:xfrm xmlns:a="http://schemas.openxmlformats.org/drawingml/2006/main">
            <a:off x="78295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9AF2EDA1-75FA-4D72-AE83-C62BA42BB75D}"/>
              </a:ext>
            </a:extLst>
          </p:cNvPr>
          <p:cNvSpPr>
            <a:spLocks xmlns:a="http://schemas.openxmlformats.org/drawingml/2006/main" noGrp="1"/>
          </p:cNvSpPr>
          <p:nvPr/>
        </p:nvSpPr>
        <p:spPr>
          <a:xfrm xmlns:a="http://schemas.openxmlformats.org/drawingml/2006/main">
            <a:off x="79248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Do not reinsert the needle into the catheter; remove and restart according to policy</a:t>
            </a:r>
          </a:p>
        </p:txBody>
      </p:sp>
      <p:sp>
        <p:nvSpPr>
          <p:cNvPr id="31" name="">
            <a:extLst xmlns:a="http://schemas.openxmlformats.org/drawingml/2006/main">
              <a:ext uri="{FF2B5EF4-FFF2-40B4-BE49-F238E27FC236}">
                <a16:creationId xmlns:a16="http://schemas.microsoft.com/office/drawing/2014/main" id="{40B271E5-9BE1-4A5A-BD30-CE99DC2E14E1}"/>
              </a:ext>
            </a:extLst>
          </p:cNvPr>
          <p:cNvSpPr>
            <a:spLocks xmlns:a="http://schemas.openxmlformats.org/drawingml/2006/main" noGrp="1"/>
          </p:cNvSpPr>
          <p:nvPr/>
        </p:nvSpPr>
        <p:spPr>
          <a:xfrm xmlns:a="http://schemas.openxmlformats.org/drawingml/2006/main">
            <a:off x="7810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2" name="">
            <a:extLst xmlns:a="http://schemas.openxmlformats.org/drawingml/2006/main">
              <a:ext uri="{FF2B5EF4-FFF2-40B4-BE49-F238E27FC236}">
                <a16:creationId xmlns:a16="http://schemas.microsoft.com/office/drawing/2014/main" id="{46202523-F81E-4437-9214-060638B52551}"/>
              </a:ext>
            </a:extLst>
          </p:cNvPr>
          <p:cNvSpPr>
            <a:spLocks xmlns:a="http://schemas.openxmlformats.org/drawingml/2006/main" noGrp="1"/>
          </p:cNvSpPr>
          <p:nvPr/>
        </p:nvSpPr>
        <p:spPr>
          <a:xfrm xmlns:a="http://schemas.openxmlformats.org/drawingml/2006/main">
            <a:off x="8763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Repeated unsuccessful attempts</a:t>
            </a:r>
          </a:p>
        </p:txBody>
      </p:sp>
      <p:sp>
        <p:nvSpPr>
          <p:cNvPr id="33" name="">
            <a:extLst xmlns:a="http://schemas.openxmlformats.org/drawingml/2006/main">
              <a:ext uri="{FF2B5EF4-FFF2-40B4-BE49-F238E27FC236}">
                <a16:creationId xmlns:a16="http://schemas.microsoft.com/office/drawing/2014/main" id="{EE4E952C-FEC2-4850-80EC-4968FFB37C68}"/>
              </a:ext>
            </a:extLst>
          </p:cNvPr>
          <p:cNvSpPr>
            <a:spLocks xmlns:a="http://schemas.openxmlformats.org/drawingml/2006/main" noGrp="1"/>
          </p:cNvSpPr>
          <p:nvPr/>
        </p:nvSpPr>
        <p:spPr>
          <a:xfrm xmlns:a="http://schemas.openxmlformats.org/drawingml/2006/main">
            <a:off x="430530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4" name="">
            <a:extLst xmlns:a="http://schemas.openxmlformats.org/drawingml/2006/main">
              <a:ext uri="{FF2B5EF4-FFF2-40B4-BE49-F238E27FC236}">
                <a16:creationId xmlns:a16="http://schemas.microsoft.com/office/drawing/2014/main" id="{048E8C32-99AB-4BDE-81D8-02EE646455CD}"/>
              </a:ext>
            </a:extLst>
          </p:cNvPr>
          <p:cNvSpPr>
            <a:spLocks xmlns:a="http://schemas.openxmlformats.org/drawingml/2006/main" noGrp="1"/>
          </p:cNvSpPr>
          <p:nvPr/>
        </p:nvSpPr>
        <p:spPr>
          <a:xfrm xmlns:a="http://schemas.openxmlformats.org/drawingml/2006/main">
            <a:off x="440055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Site, device, or operator factors</a:t>
            </a:r>
          </a:p>
        </p:txBody>
      </p:sp>
      <p:sp>
        <p:nvSpPr>
          <p:cNvPr id="35" name="">
            <a:extLst xmlns:a="http://schemas.openxmlformats.org/drawingml/2006/main">
              <a:ext uri="{FF2B5EF4-FFF2-40B4-BE49-F238E27FC236}">
                <a16:creationId xmlns:a16="http://schemas.microsoft.com/office/drawing/2014/main" id="{0E1538C4-6A55-4FA1-8CC8-DCBF5848331B}"/>
              </a:ext>
            </a:extLst>
          </p:cNvPr>
          <p:cNvSpPr>
            <a:spLocks xmlns:a="http://schemas.openxmlformats.org/drawingml/2006/main" noGrp="1"/>
          </p:cNvSpPr>
          <p:nvPr/>
        </p:nvSpPr>
        <p:spPr>
          <a:xfrm xmlns:a="http://schemas.openxmlformats.org/drawingml/2006/main">
            <a:off x="78295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6" name="">
            <a:extLst xmlns:a="http://schemas.openxmlformats.org/drawingml/2006/main">
              <a:ext uri="{FF2B5EF4-FFF2-40B4-BE49-F238E27FC236}">
                <a16:creationId xmlns:a16="http://schemas.microsoft.com/office/drawing/2014/main" id="{2AD346A1-CBC6-48C8-A451-2EF7FBFD71AB}"/>
              </a:ext>
            </a:extLst>
          </p:cNvPr>
          <p:cNvSpPr>
            <a:spLocks xmlns:a="http://schemas.openxmlformats.org/drawingml/2006/main" noGrp="1"/>
          </p:cNvSpPr>
          <p:nvPr/>
        </p:nvSpPr>
        <p:spPr>
          <a:xfrm xmlns:a="http://schemas.openxmlformats.org/drawingml/2006/main">
            <a:off x="79248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Stop at the facility attempt limit and escalate to a more experienced clinician</a:t>
            </a:r>
          </a:p>
        </p:txBody>
      </p:sp>
    </p:spTree>
    <p:extLst>
      <p:ext uri="{BB962C8B-B14F-4D97-AF65-F5344CB8AC3E}">
        <p14:creationId xmlns:p14="http://schemas.microsoft.com/office/powerpoint/2010/main" val="2116030066"/>
      </p:ext>
    </p:extLst>
  </p:cSld>
</p:sld>
</file>

<file path=ppt/slides/slide3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492C8816-8326-4EE3-9FAC-763F478CCBF1}"/>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63633FB8-8301-4413-927B-0FCB63AB1AD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2D1F33ED-F733-4BAD-B126-A716A2E9ABEC}"/>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3E449223-F4F7-4826-8BBB-992A4B34591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Infusion flow troubleshooting</a:t>
            </a:r>
          </a:p>
        </p:txBody>
      </p:sp>
      <p:sp>
        <p:nvSpPr>
          <p:cNvPr id="5" name="">
            <a:extLst xmlns:a="http://schemas.openxmlformats.org/drawingml/2006/main">
              <a:ext uri="{FF2B5EF4-FFF2-40B4-BE49-F238E27FC236}">
                <a16:creationId xmlns:a16="http://schemas.microsoft.com/office/drawing/2014/main" id="{4EA7A93E-9746-4A8E-A532-A28C122513C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6" name="">
            <a:extLst xmlns:a="http://schemas.openxmlformats.org/drawingml/2006/main">
              <a:ext uri="{FF2B5EF4-FFF2-40B4-BE49-F238E27FC236}">
                <a16:creationId xmlns:a16="http://schemas.microsoft.com/office/drawing/2014/main" id="{30B7F3E6-C9E6-4D0E-9ED0-9216418EB67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33</a:t>
            </a:r>
          </a:p>
        </p:txBody>
      </p:sp>
      <p:sp>
        <p:nvSpPr>
          <p:cNvPr id="7" name="">
            <a:extLst xmlns:a="http://schemas.openxmlformats.org/drawingml/2006/main">
              <a:ext uri="{FF2B5EF4-FFF2-40B4-BE49-F238E27FC236}">
                <a16:creationId xmlns:a16="http://schemas.microsoft.com/office/drawing/2014/main" id="{6CF56FB7-759E-4C8D-9D0C-34FA060421F9}"/>
              </a:ext>
            </a:extLst>
          </p:cNvPr>
          <p:cNvSpPr>
            <a:spLocks xmlns:a="http://schemas.openxmlformats.org/drawingml/2006/main" noGrp="1"/>
          </p:cNvSpPr>
          <p:nvPr/>
        </p:nvSpPr>
        <p:spPr>
          <a:xfrm xmlns:a="http://schemas.openxmlformats.org/drawingml/2006/main">
            <a:off x="7810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A8E9DF5C-5012-4601-BA9F-8B38C59CB7C7}"/>
              </a:ext>
            </a:extLst>
          </p:cNvPr>
          <p:cNvSpPr>
            <a:spLocks xmlns:a="http://schemas.openxmlformats.org/drawingml/2006/main" noGrp="1"/>
          </p:cNvSpPr>
          <p:nvPr/>
        </p:nvSpPr>
        <p:spPr>
          <a:xfrm xmlns:a="http://schemas.openxmlformats.org/drawingml/2006/main">
            <a:off x="8763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Observation</a:t>
            </a:r>
          </a:p>
        </p:txBody>
      </p:sp>
      <p:sp>
        <p:nvSpPr>
          <p:cNvPr id="9" name="">
            <a:extLst xmlns:a="http://schemas.openxmlformats.org/drawingml/2006/main">
              <a:ext uri="{FF2B5EF4-FFF2-40B4-BE49-F238E27FC236}">
                <a16:creationId xmlns:a16="http://schemas.microsoft.com/office/drawing/2014/main" id="{21D7237B-CBE8-4423-998A-51B0E0626545}"/>
              </a:ext>
            </a:extLst>
          </p:cNvPr>
          <p:cNvSpPr>
            <a:spLocks xmlns:a="http://schemas.openxmlformats.org/drawingml/2006/main" noGrp="1"/>
          </p:cNvSpPr>
          <p:nvPr/>
        </p:nvSpPr>
        <p:spPr>
          <a:xfrm xmlns:a="http://schemas.openxmlformats.org/drawingml/2006/main">
            <a:off x="430530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9F2106DE-E7B7-4070-A6F9-798AF68F7E6C}"/>
              </a:ext>
            </a:extLst>
          </p:cNvPr>
          <p:cNvSpPr>
            <a:spLocks xmlns:a="http://schemas.openxmlformats.org/drawingml/2006/main" noGrp="1"/>
          </p:cNvSpPr>
          <p:nvPr/>
        </p:nvSpPr>
        <p:spPr>
          <a:xfrm xmlns:a="http://schemas.openxmlformats.org/drawingml/2006/main">
            <a:off x="440055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Check first</a:t>
            </a:r>
          </a:p>
        </p:txBody>
      </p:sp>
      <p:sp>
        <p:nvSpPr>
          <p:cNvPr id="11" name="">
            <a:extLst xmlns:a="http://schemas.openxmlformats.org/drawingml/2006/main">
              <a:ext uri="{FF2B5EF4-FFF2-40B4-BE49-F238E27FC236}">
                <a16:creationId xmlns:a16="http://schemas.microsoft.com/office/drawing/2014/main" id="{5916FD15-BBD2-4C1B-8858-F2C55AE1AE23}"/>
              </a:ext>
            </a:extLst>
          </p:cNvPr>
          <p:cNvSpPr>
            <a:spLocks xmlns:a="http://schemas.openxmlformats.org/drawingml/2006/main" noGrp="1"/>
          </p:cNvSpPr>
          <p:nvPr/>
        </p:nvSpPr>
        <p:spPr>
          <a:xfrm xmlns:a="http://schemas.openxmlformats.org/drawingml/2006/main">
            <a:off x="78295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7DD90F35-746D-4D1D-A8EE-A6620C2EDF95}"/>
              </a:ext>
            </a:extLst>
          </p:cNvPr>
          <p:cNvSpPr>
            <a:spLocks xmlns:a="http://schemas.openxmlformats.org/drawingml/2006/main" noGrp="1"/>
          </p:cNvSpPr>
          <p:nvPr/>
        </p:nvSpPr>
        <p:spPr>
          <a:xfrm xmlns:a="http://schemas.openxmlformats.org/drawingml/2006/main">
            <a:off x="79248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Safety response</a:t>
            </a:r>
          </a:p>
        </p:txBody>
      </p:sp>
      <p:sp>
        <p:nvSpPr>
          <p:cNvPr id="13" name="">
            <a:extLst xmlns:a="http://schemas.openxmlformats.org/drawingml/2006/main">
              <a:ext uri="{FF2B5EF4-FFF2-40B4-BE49-F238E27FC236}">
                <a16:creationId xmlns:a16="http://schemas.microsoft.com/office/drawing/2014/main" id="{BA389066-B8CF-4B4F-B259-AE269764F9D2}"/>
              </a:ext>
            </a:extLst>
          </p:cNvPr>
          <p:cNvSpPr>
            <a:spLocks xmlns:a="http://schemas.openxmlformats.org/drawingml/2006/main" noGrp="1"/>
          </p:cNvSpPr>
          <p:nvPr/>
        </p:nvSpPr>
        <p:spPr>
          <a:xfrm xmlns:a="http://schemas.openxmlformats.org/drawingml/2006/main">
            <a:off x="7810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A6D7CF93-F947-4818-BB5E-5A3B1108AB8B}"/>
              </a:ext>
            </a:extLst>
          </p:cNvPr>
          <p:cNvSpPr>
            <a:spLocks xmlns:a="http://schemas.openxmlformats.org/drawingml/2006/main" noGrp="1"/>
          </p:cNvSpPr>
          <p:nvPr/>
        </p:nvSpPr>
        <p:spPr>
          <a:xfrm xmlns:a="http://schemas.openxmlformats.org/drawingml/2006/main">
            <a:off x="8763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Pump occlusion or slowed flow</a:t>
            </a:r>
          </a:p>
        </p:txBody>
      </p:sp>
      <p:sp>
        <p:nvSpPr>
          <p:cNvPr id="15" name="">
            <a:extLst xmlns:a="http://schemas.openxmlformats.org/drawingml/2006/main">
              <a:ext uri="{FF2B5EF4-FFF2-40B4-BE49-F238E27FC236}">
                <a16:creationId xmlns:a16="http://schemas.microsoft.com/office/drawing/2014/main" id="{042B2705-CBA9-4286-9124-A137C8259496}"/>
              </a:ext>
            </a:extLst>
          </p:cNvPr>
          <p:cNvSpPr>
            <a:spLocks xmlns:a="http://schemas.openxmlformats.org/drawingml/2006/main" noGrp="1"/>
          </p:cNvSpPr>
          <p:nvPr/>
        </p:nvSpPr>
        <p:spPr>
          <a:xfrm xmlns:a="http://schemas.openxmlformats.org/drawingml/2006/main">
            <a:off x="430530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4174EAAB-4174-491E-8428-E3E38C47C898}"/>
              </a:ext>
            </a:extLst>
          </p:cNvPr>
          <p:cNvSpPr>
            <a:spLocks xmlns:a="http://schemas.openxmlformats.org/drawingml/2006/main" noGrp="1"/>
          </p:cNvSpPr>
          <p:nvPr/>
        </p:nvSpPr>
        <p:spPr>
          <a:xfrm xmlns:a="http://schemas.openxmlformats.org/drawingml/2006/main">
            <a:off x="440055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Trace the line from patient to container for clamps, kinks, or compression</a:t>
            </a:r>
          </a:p>
        </p:txBody>
      </p:sp>
      <p:sp>
        <p:nvSpPr>
          <p:cNvPr id="17" name="">
            <a:extLst xmlns:a="http://schemas.openxmlformats.org/drawingml/2006/main">
              <a:ext uri="{FF2B5EF4-FFF2-40B4-BE49-F238E27FC236}">
                <a16:creationId xmlns:a16="http://schemas.microsoft.com/office/drawing/2014/main" id="{DCB17547-F60A-445A-B2A9-16F1DF1588F8}"/>
              </a:ext>
            </a:extLst>
          </p:cNvPr>
          <p:cNvSpPr>
            <a:spLocks xmlns:a="http://schemas.openxmlformats.org/drawingml/2006/main" noGrp="1"/>
          </p:cNvSpPr>
          <p:nvPr/>
        </p:nvSpPr>
        <p:spPr>
          <a:xfrm xmlns:a="http://schemas.openxmlformats.org/drawingml/2006/main">
            <a:off x="78295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74CB9EDB-65C9-43D8-9F16-EEA6DC450A62}"/>
              </a:ext>
            </a:extLst>
          </p:cNvPr>
          <p:cNvSpPr>
            <a:spLocks xmlns:a="http://schemas.openxmlformats.org/drawingml/2006/main" noGrp="1"/>
          </p:cNvSpPr>
          <p:nvPr/>
        </p:nvSpPr>
        <p:spPr>
          <a:xfrm xmlns:a="http://schemas.openxmlformats.org/drawingml/2006/main">
            <a:off x="79248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Correct an external cause only after assessing the patient and site</a:t>
            </a:r>
          </a:p>
        </p:txBody>
      </p:sp>
      <p:sp>
        <p:nvSpPr>
          <p:cNvPr id="19" name="">
            <a:extLst xmlns:a="http://schemas.openxmlformats.org/drawingml/2006/main">
              <a:ext uri="{FF2B5EF4-FFF2-40B4-BE49-F238E27FC236}">
                <a16:creationId xmlns:a16="http://schemas.microsoft.com/office/drawing/2014/main" id="{9574BC2A-F30E-4CF7-9152-265552FE2D86}"/>
              </a:ext>
            </a:extLst>
          </p:cNvPr>
          <p:cNvSpPr>
            <a:spLocks xmlns:a="http://schemas.openxmlformats.org/drawingml/2006/main" noGrp="1"/>
          </p:cNvSpPr>
          <p:nvPr/>
        </p:nvSpPr>
        <p:spPr>
          <a:xfrm xmlns:a="http://schemas.openxmlformats.org/drawingml/2006/main">
            <a:off x="7810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A6CD5C2D-67D4-4BE5-97E4-C23DEB74C0BC}"/>
              </a:ext>
            </a:extLst>
          </p:cNvPr>
          <p:cNvSpPr>
            <a:spLocks xmlns:a="http://schemas.openxmlformats.org/drawingml/2006/main" noGrp="1"/>
          </p:cNvSpPr>
          <p:nvPr/>
        </p:nvSpPr>
        <p:spPr>
          <a:xfrm xmlns:a="http://schemas.openxmlformats.org/drawingml/2006/main">
            <a:off x="8763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Flow changes with limb position</a:t>
            </a:r>
          </a:p>
        </p:txBody>
      </p:sp>
      <p:sp>
        <p:nvSpPr>
          <p:cNvPr id="21" name="">
            <a:extLst xmlns:a="http://schemas.openxmlformats.org/drawingml/2006/main">
              <a:ext uri="{FF2B5EF4-FFF2-40B4-BE49-F238E27FC236}">
                <a16:creationId xmlns:a16="http://schemas.microsoft.com/office/drawing/2014/main" id="{63242096-B2CF-44A7-87FF-ABFCD2E33B28}"/>
              </a:ext>
            </a:extLst>
          </p:cNvPr>
          <p:cNvSpPr>
            <a:spLocks xmlns:a="http://schemas.openxmlformats.org/drawingml/2006/main" noGrp="1"/>
          </p:cNvSpPr>
          <p:nvPr/>
        </p:nvSpPr>
        <p:spPr>
          <a:xfrm xmlns:a="http://schemas.openxmlformats.org/drawingml/2006/main">
            <a:off x="430530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A36B9629-8383-425A-9887-6194BB153D09}"/>
              </a:ext>
            </a:extLst>
          </p:cNvPr>
          <p:cNvSpPr>
            <a:spLocks xmlns:a="http://schemas.openxmlformats.org/drawingml/2006/main" noGrp="1"/>
          </p:cNvSpPr>
          <p:nvPr/>
        </p:nvSpPr>
        <p:spPr>
          <a:xfrm xmlns:a="http://schemas.openxmlformats.org/drawingml/2006/main">
            <a:off x="440055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Catheter tip may contact the vein wall or lie near flexion</a:t>
            </a:r>
          </a:p>
        </p:txBody>
      </p:sp>
      <p:sp>
        <p:nvSpPr>
          <p:cNvPr id="23" name="">
            <a:extLst xmlns:a="http://schemas.openxmlformats.org/drawingml/2006/main">
              <a:ext uri="{FF2B5EF4-FFF2-40B4-BE49-F238E27FC236}">
                <a16:creationId xmlns:a16="http://schemas.microsoft.com/office/drawing/2014/main" id="{C7519033-69EB-45B3-9185-BC6A5130E6C4}"/>
              </a:ext>
            </a:extLst>
          </p:cNvPr>
          <p:cNvSpPr>
            <a:spLocks xmlns:a="http://schemas.openxmlformats.org/drawingml/2006/main" noGrp="1"/>
          </p:cNvSpPr>
          <p:nvPr/>
        </p:nvSpPr>
        <p:spPr>
          <a:xfrm xmlns:a="http://schemas.openxmlformats.org/drawingml/2006/main">
            <a:off x="78295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F41B5123-940B-4FCF-A517-54F087F8F91A}"/>
              </a:ext>
            </a:extLst>
          </p:cNvPr>
          <p:cNvSpPr>
            <a:spLocks xmlns:a="http://schemas.openxmlformats.org/drawingml/2006/main" noGrp="1"/>
          </p:cNvSpPr>
          <p:nvPr/>
        </p:nvSpPr>
        <p:spPr>
          <a:xfrm xmlns:a="http://schemas.openxmlformats.org/drawingml/2006/main">
            <a:off x="79248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Reposition and reassess; do not manipulate a contaminated catheter</a:t>
            </a:r>
          </a:p>
        </p:txBody>
      </p:sp>
      <p:sp>
        <p:nvSpPr>
          <p:cNvPr id="25" name="">
            <a:extLst xmlns:a="http://schemas.openxmlformats.org/drawingml/2006/main">
              <a:ext uri="{FF2B5EF4-FFF2-40B4-BE49-F238E27FC236}">
                <a16:creationId xmlns:a16="http://schemas.microsoft.com/office/drawing/2014/main" id="{65AEF9F8-ABB8-4839-B435-B47F05A33318}"/>
              </a:ext>
            </a:extLst>
          </p:cNvPr>
          <p:cNvSpPr>
            <a:spLocks xmlns:a="http://schemas.openxmlformats.org/drawingml/2006/main" noGrp="1"/>
          </p:cNvSpPr>
          <p:nvPr/>
        </p:nvSpPr>
        <p:spPr>
          <a:xfrm xmlns:a="http://schemas.openxmlformats.org/drawingml/2006/main">
            <a:off x="7810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E2F160DB-0E09-4B70-B211-EA570EADEDB4}"/>
              </a:ext>
            </a:extLst>
          </p:cNvPr>
          <p:cNvSpPr>
            <a:spLocks xmlns:a="http://schemas.openxmlformats.org/drawingml/2006/main" noGrp="1"/>
          </p:cNvSpPr>
          <p:nvPr/>
        </p:nvSpPr>
        <p:spPr>
          <a:xfrm xmlns:a="http://schemas.openxmlformats.org/drawingml/2006/main">
            <a:off x="8763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Blood backs into tubing</a:t>
            </a:r>
          </a:p>
        </p:txBody>
      </p:sp>
      <p:sp>
        <p:nvSpPr>
          <p:cNvPr id="27" name="">
            <a:extLst xmlns:a="http://schemas.openxmlformats.org/drawingml/2006/main">
              <a:ext uri="{FF2B5EF4-FFF2-40B4-BE49-F238E27FC236}">
                <a16:creationId xmlns:a16="http://schemas.microsoft.com/office/drawing/2014/main" id="{02D838DC-4546-43C1-A4E0-26CA125D4B1F}"/>
              </a:ext>
            </a:extLst>
          </p:cNvPr>
          <p:cNvSpPr>
            <a:spLocks xmlns:a="http://schemas.openxmlformats.org/drawingml/2006/main" noGrp="1"/>
          </p:cNvSpPr>
          <p:nvPr/>
        </p:nvSpPr>
        <p:spPr>
          <a:xfrm xmlns:a="http://schemas.openxmlformats.org/drawingml/2006/main">
            <a:off x="430530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CFF2EC89-C009-4F84-95DC-AB4E69ABEC7E}"/>
              </a:ext>
            </a:extLst>
          </p:cNvPr>
          <p:cNvSpPr>
            <a:spLocks xmlns:a="http://schemas.openxmlformats.org/drawingml/2006/main" noGrp="1"/>
          </p:cNvSpPr>
          <p:nvPr/>
        </p:nvSpPr>
        <p:spPr>
          <a:xfrm xmlns:a="http://schemas.openxmlformats.org/drawingml/2006/main">
            <a:off x="440055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Bag height, empty container, clamp position, or interruption</a:t>
            </a:r>
          </a:p>
        </p:txBody>
      </p:sp>
      <p:sp>
        <p:nvSpPr>
          <p:cNvPr id="29" name="">
            <a:extLst xmlns:a="http://schemas.openxmlformats.org/drawingml/2006/main">
              <a:ext uri="{FF2B5EF4-FFF2-40B4-BE49-F238E27FC236}">
                <a16:creationId xmlns:a16="http://schemas.microsoft.com/office/drawing/2014/main" id="{E37854DC-E7A6-4BE4-B4C5-98A663532A57}"/>
              </a:ext>
            </a:extLst>
          </p:cNvPr>
          <p:cNvSpPr>
            <a:spLocks xmlns:a="http://schemas.openxmlformats.org/drawingml/2006/main" noGrp="1"/>
          </p:cNvSpPr>
          <p:nvPr/>
        </p:nvSpPr>
        <p:spPr>
          <a:xfrm xmlns:a="http://schemas.openxmlformats.org/drawingml/2006/main">
            <a:off x="78295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02950936-7CC8-44A7-88F7-E347546E4015}"/>
              </a:ext>
            </a:extLst>
          </p:cNvPr>
          <p:cNvSpPr>
            <a:spLocks xmlns:a="http://schemas.openxmlformats.org/drawingml/2006/main" noGrp="1"/>
          </p:cNvSpPr>
          <p:nvPr/>
        </p:nvSpPr>
        <p:spPr>
          <a:xfrm xmlns:a="http://schemas.openxmlformats.org/drawingml/2006/main">
            <a:off x="79248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Protect against air and clot risk; restore flow only under order and policy</a:t>
            </a:r>
          </a:p>
        </p:txBody>
      </p:sp>
      <p:sp>
        <p:nvSpPr>
          <p:cNvPr id="31" name="">
            <a:extLst xmlns:a="http://schemas.openxmlformats.org/drawingml/2006/main">
              <a:ext uri="{FF2B5EF4-FFF2-40B4-BE49-F238E27FC236}">
                <a16:creationId xmlns:a16="http://schemas.microsoft.com/office/drawing/2014/main" id="{B4363FEB-EBFF-461B-A670-78DF49EDFF47}"/>
              </a:ext>
            </a:extLst>
          </p:cNvPr>
          <p:cNvSpPr>
            <a:spLocks xmlns:a="http://schemas.openxmlformats.org/drawingml/2006/main" noGrp="1"/>
          </p:cNvSpPr>
          <p:nvPr/>
        </p:nvSpPr>
        <p:spPr>
          <a:xfrm xmlns:a="http://schemas.openxmlformats.org/drawingml/2006/main">
            <a:off x="7810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2" name="">
            <a:extLst xmlns:a="http://schemas.openxmlformats.org/drawingml/2006/main">
              <a:ext uri="{FF2B5EF4-FFF2-40B4-BE49-F238E27FC236}">
                <a16:creationId xmlns:a16="http://schemas.microsoft.com/office/drawing/2014/main" id="{DD08570A-590A-42AC-A3F2-3CDC2015E6DC}"/>
              </a:ext>
            </a:extLst>
          </p:cNvPr>
          <p:cNvSpPr>
            <a:spLocks xmlns:a="http://schemas.openxmlformats.org/drawingml/2006/main" noGrp="1"/>
          </p:cNvSpPr>
          <p:nvPr/>
        </p:nvSpPr>
        <p:spPr>
          <a:xfrm xmlns:a="http://schemas.openxmlformats.org/drawingml/2006/main">
            <a:off x="8763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Resistance during flushing</a:t>
            </a:r>
          </a:p>
        </p:txBody>
      </p:sp>
      <p:sp>
        <p:nvSpPr>
          <p:cNvPr id="33" name="">
            <a:extLst xmlns:a="http://schemas.openxmlformats.org/drawingml/2006/main">
              <a:ext uri="{FF2B5EF4-FFF2-40B4-BE49-F238E27FC236}">
                <a16:creationId xmlns:a16="http://schemas.microsoft.com/office/drawing/2014/main" id="{BDD4AE28-5105-46EF-BE85-82AD5FF33CFA}"/>
              </a:ext>
            </a:extLst>
          </p:cNvPr>
          <p:cNvSpPr>
            <a:spLocks xmlns:a="http://schemas.openxmlformats.org/drawingml/2006/main" noGrp="1"/>
          </p:cNvSpPr>
          <p:nvPr/>
        </p:nvSpPr>
        <p:spPr>
          <a:xfrm xmlns:a="http://schemas.openxmlformats.org/drawingml/2006/main">
            <a:off x="430530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4" name="">
            <a:extLst xmlns:a="http://schemas.openxmlformats.org/drawingml/2006/main">
              <a:ext uri="{FF2B5EF4-FFF2-40B4-BE49-F238E27FC236}">
                <a16:creationId xmlns:a16="http://schemas.microsoft.com/office/drawing/2014/main" id="{597A3C8B-34EC-4E34-B3C5-C65767CDB668}"/>
              </a:ext>
            </a:extLst>
          </p:cNvPr>
          <p:cNvSpPr>
            <a:spLocks xmlns:a="http://schemas.openxmlformats.org/drawingml/2006/main" noGrp="1"/>
          </p:cNvSpPr>
          <p:nvPr/>
        </p:nvSpPr>
        <p:spPr>
          <a:xfrm xmlns:a="http://schemas.openxmlformats.org/drawingml/2006/main">
            <a:off x="440055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Mechanical obstruction, malposition, or complication</a:t>
            </a:r>
          </a:p>
        </p:txBody>
      </p:sp>
      <p:sp>
        <p:nvSpPr>
          <p:cNvPr id="35" name="">
            <a:extLst xmlns:a="http://schemas.openxmlformats.org/drawingml/2006/main">
              <a:ext uri="{FF2B5EF4-FFF2-40B4-BE49-F238E27FC236}">
                <a16:creationId xmlns:a16="http://schemas.microsoft.com/office/drawing/2014/main" id="{D6862F34-0CF1-402F-950F-A76C66C8E3EE}"/>
              </a:ext>
            </a:extLst>
          </p:cNvPr>
          <p:cNvSpPr>
            <a:spLocks xmlns:a="http://schemas.openxmlformats.org/drawingml/2006/main" noGrp="1"/>
          </p:cNvSpPr>
          <p:nvPr/>
        </p:nvSpPr>
        <p:spPr>
          <a:xfrm xmlns:a="http://schemas.openxmlformats.org/drawingml/2006/main">
            <a:off x="78295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6" name="">
            <a:extLst xmlns:a="http://schemas.openxmlformats.org/drawingml/2006/main">
              <a:ext uri="{FF2B5EF4-FFF2-40B4-BE49-F238E27FC236}">
                <a16:creationId xmlns:a16="http://schemas.microsoft.com/office/drawing/2014/main" id="{C9586D90-B650-4CA1-B71F-6040ABE4BFF9}"/>
              </a:ext>
            </a:extLst>
          </p:cNvPr>
          <p:cNvSpPr>
            <a:spLocks xmlns:a="http://schemas.openxmlformats.org/drawingml/2006/main" noGrp="1"/>
          </p:cNvSpPr>
          <p:nvPr/>
        </p:nvSpPr>
        <p:spPr>
          <a:xfrm xmlns:a="http://schemas.openxmlformats.org/drawingml/2006/main">
            <a:off x="79248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Never force the flush; stop use and escalate</a:t>
            </a:r>
          </a:p>
        </p:txBody>
      </p:sp>
    </p:spTree>
    <p:extLst>
      <p:ext uri="{BB962C8B-B14F-4D97-AF65-F5344CB8AC3E}">
        <p14:creationId xmlns:p14="http://schemas.microsoft.com/office/powerpoint/2010/main" val="1613186626"/>
      </p:ext>
    </p:extLst>
  </p:cSld>
</p:sld>
</file>

<file path=ppt/slides/slide3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575E1FC-5B63-48F7-9618-24B08FA2DC9F}"/>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456CE77F-C4E1-45A0-B47F-99D7F16B3B7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844374DF-2C57-4388-B92F-346D0DC86D45}"/>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35C437DF-FC85-4C19-8DA4-F76EEEA39DD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Visual comparison of local IV complications</a:t>
            </a:r>
          </a:p>
        </p:txBody>
      </p:sp>
      <p:sp>
        <p:nvSpPr>
          <p:cNvPr id="5" name="">
            <a:extLst xmlns:a="http://schemas.openxmlformats.org/drawingml/2006/main">
              <a:ext uri="{FF2B5EF4-FFF2-40B4-BE49-F238E27FC236}">
                <a16:creationId xmlns:a16="http://schemas.microsoft.com/office/drawing/2014/main" id="{20FB55E7-2A31-445C-80BC-31CAA77E893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6" name="">
            <a:extLst xmlns:a="http://schemas.openxmlformats.org/drawingml/2006/main">
              <a:ext uri="{FF2B5EF4-FFF2-40B4-BE49-F238E27FC236}">
                <a16:creationId xmlns:a16="http://schemas.microsoft.com/office/drawing/2014/main" id="{676E81F8-446A-49A3-B125-34E7BC4DC97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34</a:t>
            </a:r>
          </a:p>
        </p:txBody>
      </p:sp>
      <p:sp>
        <p:nvSpPr>
          <p:cNvPr id="7" name="">
            <a:extLst xmlns:a="http://schemas.openxmlformats.org/drawingml/2006/main">
              <a:ext uri="{FF2B5EF4-FFF2-40B4-BE49-F238E27FC236}">
                <a16:creationId xmlns:a16="http://schemas.microsoft.com/office/drawing/2014/main" id="{87E15EAE-40F8-4D7A-B928-1277B5F0F45F}"/>
              </a:ext>
            </a:extLst>
          </p:cNvPr>
          <p:cNvSpPr>
            <a:spLocks xmlns:a="http://schemas.openxmlformats.org/drawingml/2006/main" noGrp="1"/>
          </p:cNvSpPr>
          <p:nvPr/>
        </p:nvSpPr>
        <p:spPr>
          <a:xfrm xmlns:a="http://schemas.openxmlformats.org/drawingml/2006/main">
            <a:off x="704850" y="1752600"/>
            <a:ext cx="47625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Infiltration: cool, pale swelling and slowed or stopped flow.</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Phlebitis: pain, warmth, redness, swelling, or a palpable venous cord.</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Extravasation: burning, tense swelling, blistering, discoloration, or worsening tissue injury after a vesicant or irritant.</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Local infection: increasing redness, warmth, tenderness, drainage, or associated fever.</a:t>
            </a:r>
          </a:p>
        </p:txBody>
      </p:sp>
      <p:pic>
        <p:nvPicPr>
          <p:cNvPr id="8" name="">
            <a:extLst xmlns:a="http://schemas.openxmlformats.org/drawingml/2006/main">
              <a:ext uri="{FF2B5EF4-FFF2-40B4-BE49-F238E27FC236}">
                <a16:creationId xmlns:a16="http://schemas.microsoft.com/office/drawing/2014/main" id="{DF97161F-958B-47A8-9B89-224F32DEAEB4}"/>
              </a:ext>
            </a:extLst>
          </p:cNvPr>
          <p:cNvPicPr>
            <a:picLocks xmlns:a="http://schemas.openxmlformats.org/drawingml/2006/main" noChangeAspect="1"/>
          </p:cNvPicPr>
          <p:nvPr/>
        </p:nvPicPr>
        <p:blipFill>
          <a:blip xmlns:r="http://schemas.openxmlformats.org/officeDocument/2006/relationships" xmlns:a="http://schemas.openxmlformats.org/drawingml/2006/main" r:embed="Rb9796cca819b48f1"/>
          <a:srcRect xmlns:a="http://schemas.openxmlformats.org/drawingml/2006/main" l="12480" t="0" r="12480" b="0"/>
          <a:stretch xmlns:a="http://schemas.openxmlformats.org/drawingml/2006/main">
            <a:fillRect l="0" t="0" r="0" b="0"/>
          </a:stretch>
        </p:blipFill>
        <p:spPr>
          <a:xfrm xmlns:a="http://schemas.openxmlformats.org/drawingml/2006/main">
            <a:off x="5810250" y="1581150"/>
            <a:ext cx="5715000" cy="42862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99C5A1EB-FBCE-4A7A-88A4-F51D5980B9BD}"/>
              </a:ext>
            </a:extLst>
          </p:cNvPr>
          <p:cNvSpPr>
            <a:spLocks xmlns:a="http://schemas.openxmlformats.org/drawingml/2006/main" noGrp="1"/>
          </p:cNvSpPr>
          <p:nvPr/>
        </p:nvSpPr>
        <p:spPr>
          <a:xfrm xmlns:a="http://schemas.openxmlformats.org/drawingml/2006/main">
            <a:off x="5810250" y="1581150"/>
            <a:ext cx="5715000" cy="4286250"/>
          </a:xfrm>
          <a:prstGeom xmlns:a="http://schemas.openxmlformats.org/drawingml/2006/main" prst="rect">
            <a:avLst/>
          </a:prstGeom>
          <a:ln xmlns:a="http://schemas.openxmlformats.org/drawingml/2006/main" w="19050">
            <a:solidFill>
              <a:srgbClr val="237B82"/>
            </a:solidFill>
          </a:ln>
        </p:spPr>
      </p:sp>
      <p:sp>
        <p:nvSpPr>
          <p:cNvPr id="10" name="">
            <a:extLst xmlns:a="http://schemas.openxmlformats.org/drawingml/2006/main">
              <a:ext uri="{FF2B5EF4-FFF2-40B4-BE49-F238E27FC236}">
                <a16:creationId xmlns:a16="http://schemas.microsoft.com/office/drawing/2014/main" id="{2A3A0EA3-5C8E-4583-81BF-6D0FAF458888}"/>
              </a:ext>
            </a:extLst>
          </p:cNvPr>
          <p:cNvSpPr>
            <a:spLocks xmlns:a="http://schemas.openxmlformats.org/drawingml/2006/main" noGrp="1"/>
          </p:cNvSpPr>
          <p:nvPr/>
        </p:nvSpPr>
        <p:spPr>
          <a:xfrm xmlns:a="http://schemas.openxmlformats.org/drawingml/2006/main">
            <a:off x="5905500" y="5962650"/>
            <a:ext cx="552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050" b="1">
                <a:solidFill>
                  <a:srgbClr val="B94F3D"/>
                </a:solidFill>
                <a:latin typeface="Helvetica Neue"/>
                <a:ea typeface="Helvetica Neue"/>
                <a:cs typeface="Helvetica Neue"/>
              </a:defRPr>
            </a:defPPr>
            <a:lvl1pPr>
              <a:defRPr sz="1050" b="1">
                <a:solidFill>
                  <a:srgbClr val="B94F3D"/>
                </a:solidFill>
                <a:latin typeface="Helvetica Neue"/>
                <a:ea typeface="Helvetica Neue"/>
                <a:cs typeface="Helvetica Neue"/>
              </a:defRPr>
            </a:lvl1pPr>
            <a:lvl2pPr>
              <a:defRPr sz="1050" b="1">
                <a:solidFill>
                  <a:srgbClr val="B94F3D"/>
                </a:solidFill>
                <a:latin typeface="Helvetica Neue"/>
                <a:ea typeface="Helvetica Neue"/>
                <a:cs typeface="Helvetica Neue"/>
              </a:defRPr>
            </a:lvl2pPr>
            <a:lvl3pPr>
              <a:defRPr sz="1050" b="1">
                <a:solidFill>
                  <a:srgbClr val="B94F3D"/>
                </a:solidFill>
                <a:latin typeface="Helvetica Neue"/>
                <a:ea typeface="Helvetica Neue"/>
                <a:cs typeface="Helvetica Neue"/>
              </a:defRPr>
            </a:lvl3pPr>
            <a:lvl4pPr>
              <a:defRPr sz="1050" b="1">
                <a:solidFill>
                  <a:srgbClr val="B94F3D"/>
                </a:solidFill>
                <a:latin typeface="Helvetica Neue"/>
                <a:ea typeface="Helvetica Neue"/>
                <a:cs typeface="Helvetica Neue"/>
              </a:defRPr>
            </a:lvl4pPr>
            <a:lvl5pPr>
              <a:defRPr sz="1050" b="1">
                <a:solidFill>
                  <a:srgbClr val="B94F3D"/>
                </a:solidFill>
                <a:latin typeface="Helvetica Neue"/>
                <a:ea typeface="Helvetica Neue"/>
                <a:cs typeface="Helvetica Neue"/>
              </a:defRPr>
            </a:lvl5pPr>
            <a:lvl6pPr>
              <a:defRPr sz="1050" b="1">
                <a:solidFill>
                  <a:srgbClr val="B94F3D"/>
                </a:solidFill>
                <a:latin typeface="Helvetica Neue"/>
                <a:ea typeface="Helvetica Neue"/>
                <a:cs typeface="Helvetica Neue"/>
              </a:defRPr>
            </a:lvl6pPr>
            <a:lvl7pPr>
              <a:defRPr sz="1050" b="1">
                <a:solidFill>
                  <a:srgbClr val="B94F3D"/>
                </a:solidFill>
                <a:latin typeface="Helvetica Neue"/>
                <a:ea typeface="Helvetica Neue"/>
                <a:cs typeface="Helvetica Neue"/>
              </a:defRPr>
            </a:lvl7pPr>
            <a:lvl8pPr>
              <a:defRPr sz="1050" b="1">
                <a:solidFill>
                  <a:srgbClr val="B94F3D"/>
                </a:solidFill>
                <a:latin typeface="Helvetica Neue"/>
                <a:ea typeface="Helvetica Neue"/>
                <a:cs typeface="Helvetica Neue"/>
              </a:defRPr>
            </a:lvl8pPr>
            <a:lvl9pPr>
              <a:defRPr sz="1050" b="1">
                <a:solidFill>
                  <a:srgbClr val="B94F3D"/>
                </a:solidFill>
                <a:latin typeface="Helvetica Neue"/>
                <a:ea typeface="Helvetica Neue"/>
                <a:cs typeface="Helvetica Neue"/>
              </a:defRPr>
            </a:lvl9pPr>
          </a:lstStyle>
          <a:p xmlns:a="http://schemas.openxmlformats.org/drawingml/2006/main">
            <a:pPr>
              <a:defRPr sz="1050" b="1">
                <a:solidFill>
                  <a:srgbClr val="B94F3D"/>
                </a:solidFill>
                <a:latin typeface="Helvetica Neue"/>
                <a:ea typeface="Helvetica Neue"/>
                <a:cs typeface="Helvetica Neue"/>
              </a:defRPr>
            </a:pPr>
            <a:r>
              <a:rPr sz="1050" b="1">
                <a:solidFill>
                  <a:srgbClr val="B94F3D"/>
                </a:solidFill>
                <a:latin typeface="Helvetica Neue"/>
                <a:ea typeface="Helvetica Neue"/>
                <a:cs typeface="Helvetica Neue"/>
              </a:rPr>
              <a:t>Educational visual. Verify device-specific technique during supervised practice.</a:t>
            </a:r>
          </a:p>
        </p:txBody>
      </p:sp>
    </p:spTree>
    <p:extLst>
      <p:ext uri="{BB962C8B-B14F-4D97-AF65-F5344CB8AC3E}">
        <p14:creationId xmlns:p14="http://schemas.microsoft.com/office/powerpoint/2010/main" val="543011708"/>
      </p:ext>
    </p:extLst>
  </p:cSld>
</p:sld>
</file>

<file path=ppt/slides/slide3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65FB7AC-8D80-4791-854A-DF387FB05BB9}"/>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3DCAB172-E995-4DF1-A4C2-DEFDCB895E8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900CCFE8-DE29-490D-833C-88B2F52B7BF5}"/>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49B47C2D-488C-41FC-B276-DDC3EBA26F4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First response to a suspected IV complication</a:t>
            </a:r>
          </a:p>
        </p:txBody>
      </p:sp>
      <p:sp>
        <p:nvSpPr>
          <p:cNvPr id="5" name="">
            <a:extLst xmlns:a="http://schemas.openxmlformats.org/drawingml/2006/main">
              <a:ext uri="{FF2B5EF4-FFF2-40B4-BE49-F238E27FC236}">
                <a16:creationId xmlns:a16="http://schemas.microsoft.com/office/drawing/2014/main" id="{3FECBB59-E310-4D5C-A531-84CD1A28390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6" name="">
            <a:extLst xmlns:a="http://schemas.openxmlformats.org/drawingml/2006/main">
              <a:ext uri="{FF2B5EF4-FFF2-40B4-BE49-F238E27FC236}">
                <a16:creationId xmlns:a16="http://schemas.microsoft.com/office/drawing/2014/main" id="{FD577DDA-8846-4433-84B0-143079978BC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35</a:t>
            </a:r>
          </a:p>
        </p:txBody>
      </p:sp>
      <p:sp>
        <p:nvSpPr>
          <p:cNvPr id="7" name="">
            <a:extLst xmlns:a="http://schemas.openxmlformats.org/drawingml/2006/main">
              <a:ext uri="{FF2B5EF4-FFF2-40B4-BE49-F238E27FC236}">
                <a16:creationId xmlns:a16="http://schemas.microsoft.com/office/drawing/2014/main" id="{279F2C5F-9F5D-4FDB-923C-7FD4E78874F8}"/>
              </a:ext>
            </a:extLst>
          </p:cNvPr>
          <p:cNvSpPr>
            <a:spLocks xmlns:a="http://schemas.openxmlformats.org/drawingml/2006/main" noGrp="1"/>
          </p:cNvSpPr>
          <p:nvPr/>
        </p:nvSpPr>
        <p:spPr>
          <a:xfrm xmlns:a="http://schemas.openxmlformats.org/drawingml/2006/main">
            <a:off x="704850" y="1752600"/>
            <a:ext cx="47625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Stop the infusion when the site or patient response becomes unsafe.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Assess the site, limb, vital signs, symptoms, medication or solution, and estimated volume infused.</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Do not flush a suspected extravasation. Leave the catheter in place when the agent-specific protocol requires aspiration or antidote delivery.</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Notify the appropriate clinician, follow the specific protocol, document the event, and arrange reassessment.</a:t>
            </a:r>
          </a:p>
        </p:txBody>
      </p:sp>
      <p:pic>
        <p:nvPicPr>
          <p:cNvPr id="8" name="">
            <a:extLst xmlns:a="http://schemas.openxmlformats.org/drawingml/2006/main">
              <a:ext uri="{FF2B5EF4-FFF2-40B4-BE49-F238E27FC236}">
                <a16:creationId xmlns:a16="http://schemas.microsoft.com/office/drawing/2014/main" id="{35FDC0F3-24B8-4C60-A683-2D29FB582188}"/>
              </a:ext>
            </a:extLst>
          </p:cNvPr>
          <p:cNvPicPr>
            <a:picLocks xmlns:a="http://schemas.openxmlformats.org/drawingml/2006/main" noChangeAspect="1"/>
          </p:cNvPicPr>
          <p:nvPr/>
        </p:nvPicPr>
        <p:blipFill>
          <a:blip xmlns:r="http://schemas.openxmlformats.org/officeDocument/2006/relationships" xmlns:a="http://schemas.openxmlformats.org/drawingml/2006/main" r:embed="R876c694ad6f2408f"/>
          <a:srcRect xmlns:a="http://schemas.openxmlformats.org/drawingml/2006/main" l="12480" t="0" r="12480" b="0"/>
          <a:stretch xmlns:a="http://schemas.openxmlformats.org/drawingml/2006/main">
            <a:fillRect l="0" t="0" r="0" b="0"/>
          </a:stretch>
        </p:blipFill>
        <p:spPr>
          <a:xfrm xmlns:a="http://schemas.openxmlformats.org/drawingml/2006/main">
            <a:off x="5810250" y="1581150"/>
            <a:ext cx="5715000" cy="42862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03CADFBD-3760-48D5-8BFB-4B52A36CE3F4}"/>
              </a:ext>
            </a:extLst>
          </p:cNvPr>
          <p:cNvSpPr>
            <a:spLocks xmlns:a="http://schemas.openxmlformats.org/drawingml/2006/main" noGrp="1"/>
          </p:cNvSpPr>
          <p:nvPr/>
        </p:nvSpPr>
        <p:spPr>
          <a:xfrm xmlns:a="http://schemas.openxmlformats.org/drawingml/2006/main">
            <a:off x="5810250" y="1581150"/>
            <a:ext cx="5715000" cy="4286250"/>
          </a:xfrm>
          <a:prstGeom xmlns:a="http://schemas.openxmlformats.org/drawingml/2006/main" prst="rect">
            <a:avLst/>
          </a:prstGeom>
          <a:ln xmlns:a="http://schemas.openxmlformats.org/drawingml/2006/main" w="19050">
            <a:solidFill>
              <a:srgbClr val="237B82"/>
            </a:solidFill>
          </a:ln>
        </p:spPr>
      </p:sp>
      <p:sp>
        <p:nvSpPr>
          <p:cNvPr id="10" name="">
            <a:extLst xmlns:a="http://schemas.openxmlformats.org/drawingml/2006/main">
              <a:ext uri="{FF2B5EF4-FFF2-40B4-BE49-F238E27FC236}">
                <a16:creationId xmlns:a16="http://schemas.microsoft.com/office/drawing/2014/main" id="{DA5CF77D-A4A6-469B-AB27-A9CDD67E9863}"/>
              </a:ext>
            </a:extLst>
          </p:cNvPr>
          <p:cNvSpPr>
            <a:spLocks xmlns:a="http://schemas.openxmlformats.org/drawingml/2006/main" noGrp="1"/>
          </p:cNvSpPr>
          <p:nvPr/>
        </p:nvSpPr>
        <p:spPr>
          <a:xfrm xmlns:a="http://schemas.openxmlformats.org/drawingml/2006/main">
            <a:off x="5905500" y="5962650"/>
            <a:ext cx="552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050" b="1">
                <a:solidFill>
                  <a:srgbClr val="B94F3D"/>
                </a:solidFill>
                <a:latin typeface="Helvetica Neue"/>
                <a:ea typeface="Helvetica Neue"/>
                <a:cs typeface="Helvetica Neue"/>
              </a:defRPr>
            </a:defPPr>
            <a:lvl1pPr>
              <a:defRPr sz="1050" b="1">
                <a:solidFill>
                  <a:srgbClr val="B94F3D"/>
                </a:solidFill>
                <a:latin typeface="Helvetica Neue"/>
                <a:ea typeface="Helvetica Neue"/>
                <a:cs typeface="Helvetica Neue"/>
              </a:defRPr>
            </a:lvl1pPr>
            <a:lvl2pPr>
              <a:defRPr sz="1050" b="1">
                <a:solidFill>
                  <a:srgbClr val="B94F3D"/>
                </a:solidFill>
                <a:latin typeface="Helvetica Neue"/>
                <a:ea typeface="Helvetica Neue"/>
                <a:cs typeface="Helvetica Neue"/>
              </a:defRPr>
            </a:lvl2pPr>
            <a:lvl3pPr>
              <a:defRPr sz="1050" b="1">
                <a:solidFill>
                  <a:srgbClr val="B94F3D"/>
                </a:solidFill>
                <a:latin typeface="Helvetica Neue"/>
                <a:ea typeface="Helvetica Neue"/>
                <a:cs typeface="Helvetica Neue"/>
              </a:defRPr>
            </a:lvl3pPr>
            <a:lvl4pPr>
              <a:defRPr sz="1050" b="1">
                <a:solidFill>
                  <a:srgbClr val="B94F3D"/>
                </a:solidFill>
                <a:latin typeface="Helvetica Neue"/>
                <a:ea typeface="Helvetica Neue"/>
                <a:cs typeface="Helvetica Neue"/>
              </a:defRPr>
            </a:lvl4pPr>
            <a:lvl5pPr>
              <a:defRPr sz="1050" b="1">
                <a:solidFill>
                  <a:srgbClr val="B94F3D"/>
                </a:solidFill>
                <a:latin typeface="Helvetica Neue"/>
                <a:ea typeface="Helvetica Neue"/>
                <a:cs typeface="Helvetica Neue"/>
              </a:defRPr>
            </a:lvl5pPr>
            <a:lvl6pPr>
              <a:defRPr sz="1050" b="1">
                <a:solidFill>
                  <a:srgbClr val="B94F3D"/>
                </a:solidFill>
                <a:latin typeface="Helvetica Neue"/>
                <a:ea typeface="Helvetica Neue"/>
                <a:cs typeface="Helvetica Neue"/>
              </a:defRPr>
            </a:lvl6pPr>
            <a:lvl7pPr>
              <a:defRPr sz="1050" b="1">
                <a:solidFill>
                  <a:srgbClr val="B94F3D"/>
                </a:solidFill>
                <a:latin typeface="Helvetica Neue"/>
                <a:ea typeface="Helvetica Neue"/>
                <a:cs typeface="Helvetica Neue"/>
              </a:defRPr>
            </a:lvl7pPr>
            <a:lvl8pPr>
              <a:defRPr sz="1050" b="1">
                <a:solidFill>
                  <a:srgbClr val="B94F3D"/>
                </a:solidFill>
                <a:latin typeface="Helvetica Neue"/>
                <a:ea typeface="Helvetica Neue"/>
                <a:cs typeface="Helvetica Neue"/>
              </a:defRPr>
            </a:lvl8pPr>
            <a:lvl9pPr>
              <a:defRPr sz="1050" b="1">
                <a:solidFill>
                  <a:srgbClr val="B94F3D"/>
                </a:solidFill>
                <a:latin typeface="Helvetica Neue"/>
                <a:ea typeface="Helvetica Neue"/>
                <a:cs typeface="Helvetica Neue"/>
              </a:defRPr>
            </a:lvl9pPr>
          </a:lstStyle>
          <a:p xmlns:a="http://schemas.openxmlformats.org/drawingml/2006/main">
            <a:pPr>
              <a:defRPr sz="1050" b="1">
                <a:solidFill>
                  <a:srgbClr val="B94F3D"/>
                </a:solidFill>
                <a:latin typeface="Helvetica Neue"/>
                <a:ea typeface="Helvetica Neue"/>
                <a:cs typeface="Helvetica Neue"/>
              </a:defRPr>
            </a:pPr>
            <a:r>
              <a:rPr sz="1050" b="1">
                <a:solidFill>
                  <a:srgbClr val="B94F3D"/>
                </a:solidFill>
                <a:latin typeface="Helvetica Neue"/>
                <a:ea typeface="Helvetica Neue"/>
                <a:cs typeface="Helvetica Neue"/>
              </a:rPr>
              <a:t>Educational visual. Verify device-specific technique during supervised practice.</a:t>
            </a:r>
          </a:p>
        </p:txBody>
      </p:sp>
    </p:spTree>
    <p:extLst>
      <p:ext uri="{BB962C8B-B14F-4D97-AF65-F5344CB8AC3E}">
        <p14:creationId xmlns:p14="http://schemas.microsoft.com/office/powerpoint/2010/main" val="1540001846"/>
      </p:ext>
    </p:extLst>
  </p:cSld>
</p:sld>
</file>

<file path=ppt/slides/slide3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EAD8D2FA-A0AE-4D00-95B4-F4355075FF18}"/>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89D2F13B-22A0-4864-B126-3B048DA023A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A1F8C9AB-8F34-4AD7-8E13-0C096338D0A8}"/>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E175F371-6FDF-4DD8-8D44-753C3455460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Local complication interventions</a:t>
            </a:r>
          </a:p>
        </p:txBody>
      </p:sp>
      <p:sp>
        <p:nvSpPr>
          <p:cNvPr id="5" name="">
            <a:extLst xmlns:a="http://schemas.openxmlformats.org/drawingml/2006/main">
              <a:ext uri="{FF2B5EF4-FFF2-40B4-BE49-F238E27FC236}">
                <a16:creationId xmlns:a16="http://schemas.microsoft.com/office/drawing/2014/main" id="{A00BDF8E-1159-4292-8B79-83DEB4914C6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6" name="">
            <a:extLst xmlns:a="http://schemas.openxmlformats.org/drawingml/2006/main">
              <a:ext uri="{FF2B5EF4-FFF2-40B4-BE49-F238E27FC236}">
                <a16:creationId xmlns:a16="http://schemas.microsoft.com/office/drawing/2014/main" id="{9A9C6DC1-C8B1-4CA7-A9EC-A6294F5CF19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36</a:t>
            </a:r>
          </a:p>
        </p:txBody>
      </p:sp>
      <p:sp>
        <p:nvSpPr>
          <p:cNvPr id="7" name="">
            <a:extLst xmlns:a="http://schemas.openxmlformats.org/drawingml/2006/main">
              <a:ext uri="{FF2B5EF4-FFF2-40B4-BE49-F238E27FC236}">
                <a16:creationId xmlns:a16="http://schemas.microsoft.com/office/drawing/2014/main" id="{0930017F-E9EE-4280-8BFA-CA42F3B35C9F}"/>
              </a:ext>
            </a:extLst>
          </p:cNvPr>
          <p:cNvSpPr>
            <a:spLocks xmlns:a="http://schemas.openxmlformats.org/drawingml/2006/main" noGrp="1"/>
          </p:cNvSpPr>
          <p:nvPr/>
        </p:nvSpPr>
        <p:spPr>
          <a:xfrm xmlns:a="http://schemas.openxmlformats.org/drawingml/2006/main">
            <a:off x="7810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573E6F3B-3B5C-4CC7-A549-C1E1CDF8AC93}"/>
              </a:ext>
            </a:extLst>
          </p:cNvPr>
          <p:cNvSpPr>
            <a:spLocks xmlns:a="http://schemas.openxmlformats.org/drawingml/2006/main" noGrp="1"/>
          </p:cNvSpPr>
          <p:nvPr/>
        </p:nvSpPr>
        <p:spPr>
          <a:xfrm xmlns:a="http://schemas.openxmlformats.org/drawingml/2006/main">
            <a:off x="8763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Complication</a:t>
            </a:r>
          </a:p>
        </p:txBody>
      </p:sp>
      <p:sp>
        <p:nvSpPr>
          <p:cNvPr id="9" name="">
            <a:extLst xmlns:a="http://schemas.openxmlformats.org/drawingml/2006/main">
              <a:ext uri="{FF2B5EF4-FFF2-40B4-BE49-F238E27FC236}">
                <a16:creationId xmlns:a16="http://schemas.microsoft.com/office/drawing/2014/main" id="{DD6227D5-2DD3-472B-BD44-28A44BE62D31}"/>
              </a:ext>
            </a:extLst>
          </p:cNvPr>
          <p:cNvSpPr>
            <a:spLocks xmlns:a="http://schemas.openxmlformats.org/drawingml/2006/main" noGrp="1"/>
          </p:cNvSpPr>
          <p:nvPr/>
        </p:nvSpPr>
        <p:spPr>
          <a:xfrm xmlns:a="http://schemas.openxmlformats.org/drawingml/2006/main">
            <a:off x="430530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FD7E3506-97FC-4159-94D2-B1A6A3157300}"/>
              </a:ext>
            </a:extLst>
          </p:cNvPr>
          <p:cNvSpPr>
            <a:spLocks xmlns:a="http://schemas.openxmlformats.org/drawingml/2006/main" noGrp="1"/>
          </p:cNvSpPr>
          <p:nvPr/>
        </p:nvSpPr>
        <p:spPr>
          <a:xfrm xmlns:a="http://schemas.openxmlformats.org/drawingml/2006/main">
            <a:off x="440055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Immediate intervention</a:t>
            </a:r>
          </a:p>
        </p:txBody>
      </p:sp>
      <p:sp>
        <p:nvSpPr>
          <p:cNvPr id="11" name="">
            <a:extLst xmlns:a="http://schemas.openxmlformats.org/drawingml/2006/main">
              <a:ext uri="{FF2B5EF4-FFF2-40B4-BE49-F238E27FC236}">
                <a16:creationId xmlns:a16="http://schemas.microsoft.com/office/drawing/2014/main" id="{32C0F0B3-FE51-4873-A6D2-81B148ABCBF4}"/>
              </a:ext>
            </a:extLst>
          </p:cNvPr>
          <p:cNvSpPr>
            <a:spLocks xmlns:a="http://schemas.openxmlformats.org/drawingml/2006/main" noGrp="1"/>
          </p:cNvSpPr>
          <p:nvPr/>
        </p:nvSpPr>
        <p:spPr>
          <a:xfrm xmlns:a="http://schemas.openxmlformats.org/drawingml/2006/main">
            <a:off x="78295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A138D200-F009-44FA-85A1-482A6355257B}"/>
              </a:ext>
            </a:extLst>
          </p:cNvPr>
          <p:cNvSpPr>
            <a:spLocks xmlns:a="http://schemas.openxmlformats.org/drawingml/2006/main" noGrp="1"/>
          </p:cNvSpPr>
          <p:nvPr/>
        </p:nvSpPr>
        <p:spPr>
          <a:xfrm xmlns:a="http://schemas.openxmlformats.org/drawingml/2006/main">
            <a:off x="79248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Follow-up</a:t>
            </a:r>
          </a:p>
        </p:txBody>
      </p:sp>
      <p:sp>
        <p:nvSpPr>
          <p:cNvPr id="13" name="">
            <a:extLst xmlns:a="http://schemas.openxmlformats.org/drawingml/2006/main">
              <a:ext uri="{FF2B5EF4-FFF2-40B4-BE49-F238E27FC236}">
                <a16:creationId xmlns:a16="http://schemas.microsoft.com/office/drawing/2014/main" id="{6740AA9F-C169-4935-BAA5-D920DD67B037}"/>
              </a:ext>
            </a:extLst>
          </p:cNvPr>
          <p:cNvSpPr>
            <a:spLocks xmlns:a="http://schemas.openxmlformats.org/drawingml/2006/main" noGrp="1"/>
          </p:cNvSpPr>
          <p:nvPr/>
        </p:nvSpPr>
        <p:spPr>
          <a:xfrm xmlns:a="http://schemas.openxmlformats.org/drawingml/2006/main">
            <a:off x="7810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4542F679-F2B8-436D-B4C9-D703C740E461}"/>
              </a:ext>
            </a:extLst>
          </p:cNvPr>
          <p:cNvSpPr>
            <a:spLocks xmlns:a="http://schemas.openxmlformats.org/drawingml/2006/main" noGrp="1"/>
          </p:cNvSpPr>
          <p:nvPr/>
        </p:nvSpPr>
        <p:spPr>
          <a:xfrm xmlns:a="http://schemas.openxmlformats.org/drawingml/2006/main">
            <a:off x="8763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Infiltration</a:t>
            </a:r>
          </a:p>
        </p:txBody>
      </p:sp>
      <p:sp>
        <p:nvSpPr>
          <p:cNvPr id="15" name="">
            <a:extLst xmlns:a="http://schemas.openxmlformats.org/drawingml/2006/main">
              <a:ext uri="{FF2B5EF4-FFF2-40B4-BE49-F238E27FC236}">
                <a16:creationId xmlns:a16="http://schemas.microsoft.com/office/drawing/2014/main" id="{7589E332-6B63-497F-9216-3973D4DC295B}"/>
              </a:ext>
            </a:extLst>
          </p:cNvPr>
          <p:cNvSpPr>
            <a:spLocks xmlns:a="http://schemas.openxmlformats.org/drawingml/2006/main" noGrp="1"/>
          </p:cNvSpPr>
          <p:nvPr/>
        </p:nvSpPr>
        <p:spPr>
          <a:xfrm xmlns:a="http://schemas.openxmlformats.org/drawingml/2006/main">
            <a:off x="430530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BBDC8464-DC45-453E-87F8-2F1EC0D4E6D6}"/>
              </a:ext>
            </a:extLst>
          </p:cNvPr>
          <p:cNvSpPr>
            <a:spLocks xmlns:a="http://schemas.openxmlformats.org/drawingml/2006/main" noGrp="1"/>
          </p:cNvSpPr>
          <p:nvPr/>
        </p:nvSpPr>
        <p:spPr>
          <a:xfrm xmlns:a="http://schemas.openxmlformats.org/drawingml/2006/main">
            <a:off x="440055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Stop infusion; disconnect tubing; remove catheter unless the protocol requires temporary retention</a:t>
            </a:r>
          </a:p>
        </p:txBody>
      </p:sp>
      <p:sp>
        <p:nvSpPr>
          <p:cNvPr id="17" name="">
            <a:extLst xmlns:a="http://schemas.openxmlformats.org/drawingml/2006/main">
              <a:ext uri="{FF2B5EF4-FFF2-40B4-BE49-F238E27FC236}">
                <a16:creationId xmlns:a16="http://schemas.microsoft.com/office/drawing/2014/main" id="{5C44680E-7E57-44C8-8CBB-70AD95B2415A}"/>
              </a:ext>
            </a:extLst>
          </p:cNvPr>
          <p:cNvSpPr>
            <a:spLocks xmlns:a="http://schemas.openxmlformats.org/drawingml/2006/main" noGrp="1"/>
          </p:cNvSpPr>
          <p:nvPr/>
        </p:nvSpPr>
        <p:spPr>
          <a:xfrm xmlns:a="http://schemas.openxmlformats.org/drawingml/2006/main">
            <a:off x="78295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85A3002A-3E24-46BD-A265-9B4AD58FF73B}"/>
              </a:ext>
            </a:extLst>
          </p:cNvPr>
          <p:cNvSpPr>
            <a:spLocks xmlns:a="http://schemas.openxmlformats.org/drawingml/2006/main" noGrp="1"/>
          </p:cNvSpPr>
          <p:nvPr/>
        </p:nvSpPr>
        <p:spPr>
          <a:xfrm xmlns:a="http://schemas.openxmlformats.org/drawingml/2006/main">
            <a:off x="79248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Elevate and use a solution-specific compress when directed; restart at another site; reassess tissue and circulation</a:t>
            </a:r>
          </a:p>
        </p:txBody>
      </p:sp>
      <p:sp>
        <p:nvSpPr>
          <p:cNvPr id="19" name="">
            <a:extLst xmlns:a="http://schemas.openxmlformats.org/drawingml/2006/main">
              <a:ext uri="{FF2B5EF4-FFF2-40B4-BE49-F238E27FC236}">
                <a16:creationId xmlns:a16="http://schemas.microsoft.com/office/drawing/2014/main" id="{764392F1-2130-4E20-96B7-2B42120F291F}"/>
              </a:ext>
            </a:extLst>
          </p:cNvPr>
          <p:cNvSpPr>
            <a:spLocks xmlns:a="http://schemas.openxmlformats.org/drawingml/2006/main" noGrp="1"/>
          </p:cNvSpPr>
          <p:nvPr/>
        </p:nvSpPr>
        <p:spPr>
          <a:xfrm xmlns:a="http://schemas.openxmlformats.org/drawingml/2006/main">
            <a:off x="7810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AE5B8ED6-611C-47BF-ABE6-AA30DCDE6233}"/>
              </a:ext>
            </a:extLst>
          </p:cNvPr>
          <p:cNvSpPr>
            <a:spLocks xmlns:a="http://schemas.openxmlformats.org/drawingml/2006/main" noGrp="1"/>
          </p:cNvSpPr>
          <p:nvPr/>
        </p:nvSpPr>
        <p:spPr>
          <a:xfrm xmlns:a="http://schemas.openxmlformats.org/drawingml/2006/main">
            <a:off x="8763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Phlebitis</a:t>
            </a:r>
          </a:p>
        </p:txBody>
      </p:sp>
      <p:sp>
        <p:nvSpPr>
          <p:cNvPr id="21" name="">
            <a:extLst xmlns:a="http://schemas.openxmlformats.org/drawingml/2006/main">
              <a:ext uri="{FF2B5EF4-FFF2-40B4-BE49-F238E27FC236}">
                <a16:creationId xmlns:a16="http://schemas.microsoft.com/office/drawing/2014/main" id="{2185566D-2064-4A13-B06F-72EFAF77A81A}"/>
              </a:ext>
            </a:extLst>
          </p:cNvPr>
          <p:cNvSpPr>
            <a:spLocks xmlns:a="http://schemas.openxmlformats.org/drawingml/2006/main" noGrp="1"/>
          </p:cNvSpPr>
          <p:nvPr/>
        </p:nvSpPr>
        <p:spPr>
          <a:xfrm xmlns:a="http://schemas.openxmlformats.org/drawingml/2006/main">
            <a:off x="430530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51B40EF9-34DC-405B-B0A4-BD123E172CED}"/>
              </a:ext>
            </a:extLst>
          </p:cNvPr>
          <p:cNvSpPr>
            <a:spLocks xmlns:a="http://schemas.openxmlformats.org/drawingml/2006/main" noGrp="1"/>
          </p:cNvSpPr>
          <p:nvPr/>
        </p:nvSpPr>
        <p:spPr>
          <a:xfrm xmlns:a="http://schemas.openxmlformats.org/drawingml/2006/main">
            <a:off x="440055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Stop infusion and remove the peripheral catheter</a:t>
            </a:r>
          </a:p>
        </p:txBody>
      </p:sp>
      <p:sp>
        <p:nvSpPr>
          <p:cNvPr id="23" name="">
            <a:extLst xmlns:a="http://schemas.openxmlformats.org/drawingml/2006/main">
              <a:ext uri="{FF2B5EF4-FFF2-40B4-BE49-F238E27FC236}">
                <a16:creationId xmlns:a16="http://schemas.microsoft.com/office/drawing/2014/main" id="{22526BAE-F15B-4A9D-A9CB-A567D09C83BC}"/>
              </a:ext>
            </a:extLst>
          </p:cNvPr>
          <p:cNvSpPr>
            <a:spLocks xmlns:a="http://schemas.openxmlformats.org/drawingml/2006/main" noGrp="1"/>
          </p:cNvSpPr>
          <p:nvPr/>
        </p:nvSpPr>
        <p:spPr>
          <a:xfrm xmlns:a="http://schemas.openxmlformats.org/drawingml/2006/main">
            <a:off x="78295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29414941-9FFE-4B2A-9937-5643AD0D91A3}"/>
              </a:ext>
            </a:extLst>
          </p:cNvPr>
          <p:cNvSpPr>
            <a:spLocks xmlns:a="http://schemas.openxmlformats.org/drawingml/2006/main" noGrp="1"/>
          </p:cNvSpPr>
          <p:nvPr/>
        </p:nvSpPr>
        <p:spPr>
          <a:xfrm xmlns:a="http://schemas.openxmlformats.org/drawingml/2006/main">
            <a:off x="79248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Apply the ordered or policy-directed compress; notify as indicated; restart elsewhere; trend the vein and symptoms</a:t>
            </a:r>
          </a:p>
        </p:txBody>
      </p:sp>
      <p:sp>
        <p:nvSpPr>
          <p:cNvPr id="25" name="">
            <a:extLst xmlns:a="http://schemas.openxmlformats.org/drawingml/2006/main">
              <a:ext uri="{FF2B5EF4-FFF2-40B4-BE49-F238E27FC236}">
                <a16:creationId xmlns:a16="http://schemas.microsoft.com/office/drawing/2014/main" id="{00029E0A-53F8-4812-9ADD-44D9A641D33F}"/>
              </a:ext>
            </a:extLst>
          </p:cNvPr>
          <p:cNvSpPr>
            <a:spLocks xmlns:a="http://schemas.openxmlformats.org/drawingml/2006/main" noGrp="1"/>
          </p:cNvSpPr>
          <p:nvPr/>
        </p:nvSpPr>
        <p:spPr>
          <a:xfrm xmlns:a="http://schemas.openxmlformats.org/drawingml/2006/main">
            <a:off x="7810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3F66C101-382C-47AC-9926-4F8DA9475BE0}"/>
              </a:ext>
            </a:extLst>
          </p:cNvPr>
          <p:cNvSpPr>
            <a:spLocks xmlns:a="http://schemas.openxmlformats.org/drawingml/2006/main" noGrp="1"/>
          </p:cNvSpPr>
          <p:nvPr/>
        </p:nvSpPr>
        <p:spPr>
          <a:xfrm xmlns:a="http://schemas.openxmlformats.org/drawingml/2006/main">
            <a:off x="8763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Extravasation</a:t>
            </a:r>
          </a:p>
        </p:txBody>
      </p:sp>
      <p:sp>
        <p:nvSpPr>
          <p:cNvPr id="27" name="">
            <a:extLst xmlns:a="http://schemas.openxmlformats.org/drawingml/2006/main">
              <a:ext uri="{FF2B5EF4-FFF2-40B4-BE49-F238E27FC236}">
                <a16:creationId xmlns:a16="http://schemas.microsoft.com/office/drawing/2014/main" id="{FEB8F0F9-7081-4212-A1FE-22BD5D1A480D}"/>
              </a:ext>
            </a:extLst>
          </p:cNvPr>
          <p:cNvSpPr>
            <a:spLocks xmlns:a="http://schemas.openxmlformats.org/drawingml/2006/main" noGrp="1"/>
          </p:cNvSpPr>
          <p:nvPr/>
        </p:nvSpPr>
        <p:spPr>
          <a:xfrm xmlns:a="http://schemas.openxmlformats.org/drawingml/2006/main">
            <a:off x="430530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FD213559-3BDA-4FAA-8009-FCEEAC80D51C}"/>
              </a:ext>
            </a:extLst>
          </p:cNvPr>
          <p:cNvSpPr>
            <a:spLocks xmlns:a="http://schemas.openxmlformats.org/drawingml/2006/main" noGrp="1"/>
          </p:cNvSpPr>
          <p:nvPr/>
        </p:nvSpPr>
        <p:spPr>
          <a:xfrm xmlns:a="http://schemas.openxmlformats.org/drawingml/2006/main">
            <a:off x="440055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Stop infusion; do not flush; disconnect tubing; leave catheter in place for aspiration or antidote when the protocol directs</a:t>
            </a:r>
          </a:p>
        </p:txBody>
      </p:sp>
      <p:sp>
        <p:nvSpPr>
          <p:cNvPr id="29" name="">
            <a:extLst xmlns:a="http://schemas.openxmlformats.org/drawingml/2006/main">
              <a:ext uri="{FF2B5EF4-FFF2-40B4-BE49-F238E27FC236}">
                <a16:creationId xmlns:a16="http://schemas.microsoft.com/office/drawing/2014/main" id="{4F67F78F-9FF9-46E2-9EFC-47E5D634F524}"/>
              </a:ext>
            </a:extLst>
          </p:cNvPr>
          <p:cNvSpPr>
            <a:spLocks xmlns:a="http://schemas.openxmlformats.org/drawingml/2006/main" noGrp="1"/>
          </p:cNvSpPr>
          <p:nvPr/>
        </p:nvSpPr>
        <p:spPr>
          <a:xfrm xmlns:a="http://schemas.openxmlformats.org/drawingml/2006/main">
            <a:off x="78295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8D9F9587-5CF5-4F2C-9D5E-051CED364176}"/>
              </a:ext>
            </a:extLst>
          </p:cNvPr>
          <p:cNvSpPr>
            <a:spLocks xmlns:a="http://schemas.openxmlformats.org/drawingml/2006/main" noGrp="1"/>
          </p:cNvSpPr>
          <p:nvPr/>
        </p:nvSpPr>
        <p:spPr>
          <a:xfrm xmlns:a="http://schemas.openxmlformats.org/drawingml/2006/main">
            <a:off x="79248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458"/>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Notify immediately; identify agent and dose; apply agent-specific antidote and compress; elevate when directed; photograph or measure and arrange follow-up</a:t>
            </a:r>
          </a:p>
        </p:txBody>
      </p:sp>
      <p:sp>
        <p:nvSpPr>
          <p:cNvPr id="31" name="">
            <a:extLst xmlns:a="http://schemas.openxmlformats.org/drawingml/2006/main">
              <a:ext uri="{FF2B5EF4-FFF2-40B4-BE49-F238E27FC236}">
                <a16:creationId xmlns:a16="http://schemas.microsoft.com/office/drawing/2014/main" id="{90659ABB-1DDC-4501-B8A9-B46EA59FBD91}"/>
              </a:ext>
            </a:extLst>
          </p:cNvPr>
          <p:cNvSpPr>
            <a:spLocks xmlns:a="http://schemas.openxmlformats.org/drawingml/2006/main" noGrp="1"/>
          </p:cNvSpPr>
          <p:nvPr/>
        </p:nvSpPr>
        <p:spPr>
          <a:xfrm xmlns:a="http://schemas.openxmlformats.org/drawingml/2006/main">
            <a:off x="7810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2" name="">
            <a:extLst xmlns:a="http://schemas.openxmlformats.org/drawingml/2006/main">
              <a:ext uri="{FF2B5EF4-FFF2-40B4-BE49-F238E27FC236}">
                <a16:creationId xmlns:a16="http://schemas.microsoft.com/office/drawing/2014/main" id="{A36ACC59-0431-462C-BEF5-4614663D6698}"/>
              </a:ext>
            </a:extLst>
          </p:cNvPr>
          <p:cNvSpPr>
            <a:spLocks xmlns:a="http://schemas.openxmlformats.org/drawingml/2006/main" noGrp="1"/>
          </p:cNvSpPr>
          <p:nvPr/>
        </p:nvSpPr>
        <p:spPr>
          <a:xfrm xmlns:a="http://schemas.openxmlformats.org/drawingml/2006/main">
            <a:off x="8763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Local infection</a:t>
            </a:r>
          </a:p>
        </p:txBody>
      </p:sp>
      <p:sp>
        <p:nvSpPr>
          <p:cNvPr id="33" name="">
            <a:extLst xmlns:a="http://schemas.openxmlformats.org/drawingml/2006/main">
              <a:ext uri="{FF2B5EF4-FFF2-40B4-BE49-F238E27FC236}">
                <a16:creationId xmlns:a16="http://schemas.microsoft.com/office/drawing/2014/main" id="{08E8B015-9ADE-4942-8F60-C6E4B1896E12}"/>
              </a:ext>
            </a:extLst>
          </p:cNvPr>
          <p:cNvSpPr>
            <a:spLocks xmlns:a="http://schemas.openxmlformats.org/drawingml/2006/main" noGrp="1"/>
          </p:cNvSpPr>
          <p:nvPr/>
        </p:nvSpPr>
        <p:spPr>
          <a:xfrm xmlns:a="http://schemas.openxmlformats.org/drawingml/2006/main">
            <a:off x="430530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4" name="">
            <a:extLst xmlns:a="http://schemas.openxmlformats.org/drawingml/2006/main">
              <a:ext uri="{FF2B5EF4-FFF2-40B4-BE49-F238E27FC236}">
                <a16:creationId xmlns:a16="http://schemas.microsoft.com/office/drawing/2014/main" id="{91DE8F38-3410-4468-B759-CEBE7D39A75C}"/>
              </a:ext>
            </a:extLst>
          </p:cNvPr>
          <p:cNvSpPr>
            <a:spLocks xmlns:a="http://schemas.openxmlformats.org/drawingml/2006/main" noGrp="1"/>
          </p:cNvSpPr>
          <p:nvPr/>
        </p:nvSpPr>
        <p:spPr>
          <a:xfrm xmlns:a="http://schemas.openxmlformats.org/drawingml/2006/main">
            <a:off x="440055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Stop using the site and notify the supervising clinician</a:t>
            </a:r>
          </a:p>
        </p:txBody>
      </p:sp>
      <p:sp>
        <p:nvSpPr>
          <p:cNvPr id="35" name="">
            <a:extLst xmlns:a="http://schemas.openxmlformats.org/drawingml/2006/main">
              <a:ext uri="{FF2B5EF4-FFF2-40B4-BE49-F238E27FC236}">
                <a16:creationId xmlns:a16="http://schemas.microsoft.com/office/drawing/2014/main" id="{374B2618-FD3A-46E4-9E94-BD10FAE5F151}"/>
              </a:ext>
            </a:extLst>
          </p:cNvPr>
          <p:cNvSpPr>
            <a:spLocks xmlns:a="http://schemas.openxmlformats.org/drawingml/2006/main" noGrp="1"/>
          </p:cNvSpPr>
          <p:nvPr/>
        </p:nvSpPr>
        <p:spPr>
          <a:xfrm xmlns:a="http://schemas.openxmlformats.org/drawingml/2006/main">
            <a:off x="78295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6" name="">
            <a:extLst xmlns:a="http://schemas.openxmlformats.org/drawingml/2006/main">
              <a:ext uri="{FF2B5EF4-FFF2-40B4-BE49-F238E27FC236}">
                <a16:creationId xmlns:a16="http://schemas.microsoft.com/office/drawing/2014/main" id="{A7651A84-0C92-4425-85A9-819091B30D31}"/>
              </a:ext>
            </a:extLst>
          </p:cNvPr>
          <p:cNvSpPr>
            <a:spLocks xmlns:a="http://schemas.openxmlformats.org/drawingml/2006/main" noGrp="1"/>
          </p:cNvSpPr>
          <p:nvPr/>
        </p:nvSpPr>
        <p:spPr>
          <a:xfrm xmlns:a="http://schemas.openxmlformats.org/drawingml/2006/main">
            <a:off x="79248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Remove or culture as ordered; assess for systemic infection; initiate the prescribed infection or sepsis pathway</a:t>
            </a:r>
          </a:p>
        </p:txBody>
      </p:sp>
    </p:spTree>
    <p:extLst>
      <p:ext uri="{BB962C8B-B14F-4D97-AF65-F5344CB8AC3E}">
        <p14:creationId xmlns:p14="http://schemas.microsoft.com/office/powerpoint/2010/main" val="1406179407"/>
      </p:ext>
    </p:extLst>
  </p:cSld>
</p:sld>
</file>

<file path=ppt/slides/slide3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27DCE76E-507C-42A7-853E-03EA7E07C96F}"/>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3E727E97-9349-44BD-99BB-073A836B92D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4B13597F-F858-4CBA-8DBA-9DAAE87334C1}"/>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EB35267F-D1C1-48C5-A8BF-DDF1FC62778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Local complication comparison</a:t>
            </a:r>
          </a:p>
        </p:txBody>
      </p:sp>
      <p:sp>
        <p:nvSpPr>
          <p:cNvPr id="5" name="">
            <a:extLst xmlns:a="http://schemas.openxmlformats.org/drawingml/2006/main">
              <a:ext uri="{FF2B5EF4-FFF2-40B4-BE49-F238E27FC236}">
                <a16:creationId xmlns:a16="http://schemas.microsoft.com/office/drawing/2014/main" id="{4D0111D8-B735-4599-A7B4-A977D524A68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6" name="">
            <a:extLst xmlns:a="http://schemas.openxmlformats.org/drawingml/2006/main">
              <a:ext uri="{FF2B5EF4-FFF2-40B4-BE49-F238E27FC236}">
                <a16:creationId xmlns:a16="http://schemas.microsoft.com/office/drawing/2014/main" id="{EEFBDE06-F8AD-4BB0-B0AC-8396E077921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37</a:t>
            </a:r>
          </a:p>
        </p:txBody>
      </p:sp>
      <p:sp>
        <p:nvSpPr>
          <p:cNvPr id="7" name="">
            <a:extLst xmlns:a="http://schemas.openxmlformats.org/drawingml/2006/main">
              <a:ext uri="{FF2B5EF4-FFF2-40B4-BE49-F238E27FC236}">
                <a16:creationId xmlns:a16="http://schemas.microsoft.com/office/drawing/2014/main" id="{584AA5F1-D9B0-4181-973D-1C533AFFDF9A}"/>
              </a:ext>
            </a:extLst>
          </p:cNvPr>
          <p:cNvSpPr>
            <a:spLocks xmlns:a="http://schemas.openxmlformats.org/drawingml/2006/main" noGrp="1"/>
          </p:cNvSpPr>
          <p:nvPr/>
        </p:nvSpPr>
        <p:spPr>
          <a:xfrm xmlns:a="http://schemas.openxmlformats.org/drawingml/2006/main">
            <a:off x="7810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3533E1A3-D693-4E6D-AE4F-D09C7C151CAE}"/>
              </a:ext>
            </a:extLst>
          </p:cNvPr>
          <p:cNvSpPr>
            <a:spLocks xmlns:a="http://schemas.openxmlformats.org/drawingml/2006/main" noGrp="1"/>
          </p:cNvSpPr>
          <p:nvPr/>
        </p:nvSpPr>
        <p:spPr>
          <a:xfrm xmlns:a="http://schemas.openxmlformats.org/drawingml/2006/main">
            <a:off x="8763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Finding</a:t>
            </a:r>
          </a:p>
        </p:txBody>
      </p:sp>
      <p:sp>
        <p:nvSpPr>
          <p:cNvPr id="9" name="">
            <a:extLst xmlns:a="http://schemas.openxmlformats.org/drawingml/2006/main">
              <a:ext uri="{FF2B5EF4-FFF2-40B4-BE49-F238E27FC236}">
                <a16:creationId xmlns:a16="http://schemas.microsoft.com/office/drawing/2014/main" id="{F6790016-C9B2-46EC-99AA-DAE69411235B}"/>
              </a:ext>
            </a:extLst>
          </p:cNvPr>
          <p:cNvSpPr>
            <a:spLocks xmlns:a="http://schemas.openxmlformats.org/drawingml/2006/main" noGrp="1"/>
          </p:cNvSpPr>
          <p:nvPr/>
        </p:nvSpPr>
        <p:spPr>
          <a:xfrm xmlns:a="http://schemas.openxmlformats.org/drawingml/2006/main">
            <a:off x="430530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BBE80EC6-5B5F-4F9B-AC33-91B31FF7C11D}"/>
              </a:ext>
            </a:extLst>
          </p:cNvPr>
          <p:cNvSpPr>
            <a:spLocks xmlns:a="http://schemas.openxmlformats.org/drawingml/2006/main" noGrp="1"/>
          </p:cNvSpPr>
          <p:nvPr/>
        </p:nvSpPr>
        <p:spPr>
          <a:xfrm xmlns:a="http://schemas.openxmlformats.org/drawingml/2006/main">
            <a:off x="440055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Likely concern</a:t>
            </a:r>
          </a:p>
        </p:txBody>
      </p:sp>
      <p:sp>
        <p:nvSpPr>
          <p:cNvPr id="11" name="">
            <a:extLst xmlns:a="http://schemas.openxmlformats.org/drawingml/2006/main">
              <a:ext uri="{FF2B5EF4-FFF2-40B4-BE49-F238E27FC236}">
                <a16:creationId xmlns:a16="http://schemas.microsoft.com/office/drawing/2014/main" id="{B14BFD44-E48D-41B2-BDBA-C39037681BDE}"/>
              </a:ext>
            </a:extLst>
          </p:cNvPr>
          <p:cNvSpPr>
            <a:spLocks xmlns:a="http://schemas.openxmlformats.org/drawingml/2006/main" noGrp="1"/>
          </p:cNvSpPr>
          <p:nvPr/>
        </p:nvSpPr>
        <p:spPr>
          <a:xfrm xmlns:a="http://schemas.openxmlformats.org/drawingml/2006/main">
            <a:off x="78295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79982FA6-589C-40C5-9ACC-340A6A0D7F23}"/>
              </a:ext>
            </a:extLst>
          </p:cNvPr>
          <p:cNvSpPr>
            <a:spLocks xmlns:a="http://schemas.openxmlformats.org/drawingml/2006/main" noGrp="1"/>
          </p:cNvSpPr>
          <p:nvPr/>
        </p:nvSpPr>
        <p:spPr>
          <a:xfrm xmlns:a="http://schemas.openxmlformats.org/drawingml/2006/main">
            <a:off x="79248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Immediate priority</a:t>
            </a:r>
          </a:p>
        </p:txBody>
      </p:sp>
      <p:sp>
        <p:nvSpPr>
          <p:cNvPr id="13" name="">
            <a:extLst xmlns:a="http://schemas.openxmlformats.org/drawingml/2006/main">
              <a:ext uri="{FF2B5EF4-FFF2-40B4-BE49-F238E27FC236}">
                <a16:creationId xmlns:a16="http://schemas.microsoft.com/office/drawing/2014/main" id="{94EE8C0A-B2B3-430B-9F94-697B39B5092C}"/>
              </a:ext>
            </a:extLst>
          </p:cNvPr>
          <p:cNvSpPr>
            <a:spLocks xmlns:a="http://schemas.openxmlformats.org/drawingml/2006/main" noGrp="1"/>
          </p:cNvSpPr>
          <p:nvPr/>
        </p:nvSpPr>
        <p:spPr>
          <a:xfrm xmlns:a="http://schemas.openxmlformats.org/drawingml/2006/main">
            <a:off x="7810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7EDF3014-0F3D-408A-A393-A8CCDA354420}"/>
              </a:ext>
            </a:extLst>
          </p:cNvPr>
          <p:cNvSpPr>
            <a:spLocks xmlns:a="http://schemas.openxmlformats.org/drawingml/2006/main" noGrp="1"/>
          </p:cNvSpPr>
          <p:nvPr/>
        </p:nvSpPr>
        <p:spPr>
          <a:xfrm xmlns:a="http://schemas.openxmlformats.org/drawingml/2006/main">
            <a:off x="8763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Cool, pale swelling; slowed infusion</a:t>
            </a:r>
          </a:p>
        </p:txBody>
      </p:sp>
      <p:sp>
        <p:nvSpPr>
          <p:cNvPr id="15" name="">
            <a:extLst xmlns:a="http://schemas.openxmlformats.org/drawingml/2006/main">
              <a:ext uri="{FF2B5EF4-FFF2-40B4-BE49-F238E27FC236}">
                <a16:creationId xmlns:a16="http://schemas.microsoft.com/office/drawing/2014/main" id="{F464C1BA-89EC-43FD-B05B-459BDBFE7C15}"/>
              </a:ext>
            </a:extLst>
          </p:cNvPr>
          <p:cNvSpPr>
            <a:spLocks xmlns:a="http://schemas.openxmlformats.org/drawingml/2006/main" noGrp="1"/>
          </p:cNvSpPr>
          <p:nvPr/>
        </p:nvSpPr>
        <p:spPr>
          <a:xfrm xmlns:a="http://schemas.openxmlformats.org/drawingml/2006/main">
            <a:off x="430530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4942368A-84EB-4E13-AAE8-4D631F348FBE}"/>
              </a:ext>
            </a:extLst>
          </p:cNvPr>
          <p:cNvSpPr>
            <a:spLocks xmlns:a="http://schemas.openxmlformats.org/drawingml/2006/main" noGrp="1"/>
          </p:cNvSpPr>
          <p:nvPr/>
        </p:nvSpPr>
        <p:spPr>
          <a:xfrm xmlns:a="http://schemas.openxmlformats.org/drawingml/2006/main">
            <a:off x="440055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Infiltration</a:t>
            </a:r>
          </a:p>
        </p:txBody>
      </p:sp>
      <p:sp>
        <p:nvSpPr>
          <p:cNvPr id="17" name="">
            <a:extLst xmlns:a="http://schemas.openxmlformats.org/drawingml/2006/main">
              <a:ext uri="{FF2B5EF4-FFF2-40B4-BE49-F238E27FC236}">
                <a16:creationId xmlns:a16="http://schemas.microsoft.com/office/drawing/2014/main" id="{F08F7226-362E-4F75-BEE0-F92F7B91EE98}"/>
              </a:ext>
            </a:extLst>
          </p:cNvPr>
          <p:cNvSpPr>
            <a:spLocks xmlns:a="http://schemas.openxmlformats.org/drawingml/2006/main" noGrp="1"/>
          </p:cNvSpPr>
          <p:nvPr/>
        </p:nvSpPr>
        <p:spPr>
          <a:xfrm xmlns:a="http://schemas.openxmlformats.org/drawingml/2006/main">
            <a:off x="78295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7EBF5AD7-F577-4D45-B348-CA5DA2DF3E7D}"/>
              </a:ext>
            </a:extLst>
          </p:cNvPr>
          <p:cNvSpPr>
            <a:spLocks xmlns:a="http://schemas.openxmlformats.org/drawingml/2006/main" noGrp="1"/>
          </p:cNvSpPr>
          <p:nvPr/>
        </p:nvSpPr>
        <p:spPr>
          <a:xfrm xmlns:a="http://schemas.openxmlformats.org/drawingml/2006/main">
            <a:off x="79248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Stop infusion and follow infiltration protocol</a:t>
            </a:r>
          </a:p>
        </p:txBody>
      </p:sp>
      <p:sp>
        <p:nvSpPr>
          <p:cNvPr id="19" name="">
            <a:extLst xmlns:a="http://schemas.openxmlformats.org/drawingml/2006/main">
              <a:ext uri="{FF2B5EF4-FFF2-40B4-BE49-F238E27FC236}">
                <a16:creationId xmlns:a16="http://schemas.microsoft.com/office/drawing/2014/main" id="{5A0D1232-276E-46C6-8EC8-DC9BDCFA3E6F}"/>
              </a:ext>
            </a:extLst>
          </p:cNvPr>
          <p:cNvSpPr>
            <a:spLocks xmlns:a="http://schemas.openxmlformats.org/drawingml/2006/main" noGrp="1"/>
          </p:cNvSpPr>
          <p:nvPr/>
        </p:nvSpPr>
        <p:spPr>
          <a:xfrm xmlns:a="http://schemas.openxmlformats.org/drawingml/2006/main">
            <a:off x="7810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38E9892D-C301-424D-A67B-A80BEF5113E1}"/>
              </a:ext>
            </a:extLst>
          </p:cNvPr>
          <p:cNvSpPr>
            <a:spLocks xmlns:a="http://schemas.openxmlformats.org/drawingml/2006/main" noGrp="1"/>
          </p:cNvSpPr>
          <p:nvPr/>
        </p:nvSpPr>
        <p:spPr>
          <a:xfrm xmlns:a="http://schemas.openxmlformats.org/drawingml/2006/main">
            <a:off x="8763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Pain, warmth, redness, venous cord</a:t>
            </a:r>
          </a:p>
        </p:txBody>
      </p:sp>
      <p:sp>
        <p:nvSpPr>
          <p:cNvPr id="21" name="">
            <a:extLst xmlns:a="http://schemas.openxmlformats.org/drawingml/2006/main">
              <a:ext uri="{FF2B5EF4-FFF2-40B4-BE49-F238E27FC236}">
                <a16:creationId xmlns:a16="http://schemas.microsoft.com/office/drawing/2014/main" id="{4A2F72C7-5F8A-4D55-B113-66DECBD5BDE7}"/>
              </a:ext>
            </a:extLst>
          </p:cNvPr>
          <p:cNvSpPr>
            <a:spLocks xmlns:a="http://schemas.openxmlformats.org/drawingml/2006/main" noGrp="1"/>
          </p:cNvSpPr>
          <p:nvPr/>
        </p:nvSpPr>
        <p:spPr>
          <a:xfrm xmlns:a="http://schemas.openxmlformats.org/drawingml/2006/main">
            <a:off x="430530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5A3714CD-AFA0-4CEC-ACCC-0824BBBD65A5}"/>
              </a:ext>
            </a:extLst>
          </p:cNvPr>
          <p:cNvSpPr>
            <a:spLocks xmlns:a="http://schemas.openxmlformats.org/drawingml/2006/main" noGrp="1"/>
          </p:cNvSpPr>
          <p:nvPr/>
        </p:nvSpPr>
        <p:spPr>
          <a:xfrm xmlns:a="http://schemas.openxmlformats.org/drawingml/2006/main">
            <a:off x="440055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Phlebitis</a:t>
            </a:r>
          </a:p>
        </p:txBody>
      </p:sp>
      <p:sp>
        <p:nvSpPr>
          <p:cNvPr id="23" name="">
            <a:extLst xmlns:a="http://schemas.openxmlformats.org/drawingml/2006/main">
              <a:ext uri="{FF2B5EF4-FFF2-40B4-BE49-F238E27FC236}">
                <a16:creationId xmlns:a16="http://schemas.microsoft.com/office/drawing/2014/main" id="{B4A74DCF-52F7-4AFD-AD51-04A30524372E}"/>
              </a:ext>
            </a:extLst>
          </p:cNvPr>
          <p:cNvSpPr>
            <a:spLocks xmlns:a="http://schemas.openxmlformats.org/drawingml/2006/main" noGrp="1"/>
          </p:cNvSpPr>
          <p:nvPr/>
        </p:nvSpPr>
        <p:spPr>
          <a:xfrm xmlns:a="http://schemas.openxmlformats.org/drawingml/2006/main">
            <a:off x="78295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0AE0A429-16A2-45D5-93A4-57A568A4ECF0}"/>
              </a:ext>
            </a:extLst>
          </p:cNvPr>
          <p:cNvSpPr>
            <a:spLocks xmlns:a="http://schemas.openxmlformats.org/drawingml/2006/main" noGrp="1"/>
          </p:cNvSpPr>
          <p:nvPr/>
        </p:nvSpPr>
        <p:spPr>
          <a:xfrm xmlns:a="http://schemas.openxmlformats.org/drawingml/2006/main">
            <a:off x="79248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Stop infusion, remove as indicated, assess and report</a:t>
            </a:r>
          </a:p>
        </p:txBody>
      </p:sp>
      <p:sp>
        <p:nvSpPr>
          <p:cNvPr id="25" name="">
            <a:extLst xmlns:a="http://schemas.openxmlformats.org/drawingml/2006/main">
              <a:ext uri="{FF2B5EF4-FFF2-40B4-BE49-F238E27FC236}">
                <a16:creationId xmlns:a16="http://schemas.microsoft.com/office/drawing/2014/main" id="{C3B2BF62-FDBF-45AC-9EB3-9D5B9BB2ACD2}"/>
              </a:ext>
            </a:extLst>
          </p:cNvPr>
          <p:cNvSpPr>
            <a:spLocks xmlns:a="http://schemas.openxmlformats.org/drawingml/2006/main" noGrp="1"/>
          </p:cNvSpPr>
          <p:nvPr/>
        </p:nvSpPr>
        <p:spPr>
          <a:xfrm xmlns:a="http://schemas.openxmlformats.org/drawingml/2006/main">
            <a:off x="7810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FE81E1B7-2552-4846-BBFD-634A22D241BA}"/>
              </a:ext>
            </a:extLst>
          </p:cNvPr>
          <p:cNvSpPr>
            <a:spLocks xmlns:a="http://schemas.openxmlformats.org/drawingml/2006/main" noGrp="1"/>
          </p:cNvSpPr>
          <p:nvPr/>
        </p:nvSpPr>
        <p:spPr>
          <a:xfrm xmlns:a="http://schemas.openxmlformats.org/drawingml/2006/main">
            <a:off x="8763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Burning, blistering, tissue injury with vesicant</a:t>
            </a:r>
          </a:p>
        </p:txBody>
      </p:sp>
      <p:sp>
        <p:nvSpPr>
          <p:cNvPr id="27" name="">
            <a:extLst xmlns:a="http://schemas.openxmlformats.org/drawingml/2006/main">
              <a:ext uri="{FF2B5EF4-FFF2-40B4-BE49-F238E27FC236}">
                <a16:creationId xmlns:a16="http://schemas.microsoft.com/office/drawing/2014/main" id="{DD8D0587-64DA-42D4-B9BD-53E536F459CC}"/>
              </a:ext>
            </a:extLst>
          </p:cNvPr>
          <p:cNvSpPr>
            <a:spLocks xmlns:a="http://schemas.openxmlformats.org/drawingml/2006/main" noGrp="1"/>
          </p:cNvSpPr>
          <p:nvPr/>
        </p:nvSpPr>
        <p:spPr>
          <a:xfrm xmlns:a="http://schemas.openxmlformats.org/drawingml/2006/main">
            <a:off x="430530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7E4EFB0F-C708-4926-A708-679D7F1C7F67}"/>
              </a:ext>
            </a:extLst>
          </p:cNvPr>
          <p:cNvSpPr>
            <a:spLocks xmlns:a="http://schemas.openxmlformats.org/drawingml/2006/main" noGrp="1"/>
          </p:cNvSpPr>
          <p:nvPr/>
        </p:nvSpPr>
        <p:spPr>
          <a:xfrm xmlns:a="http://schemas.openxmlformats.org/drawingml/2006/main">
            <a:off x="440055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Extravasation</a:t>
            </a:r>
          </a:p>
        </p:txBody>
      </p:sp>
      <p:sp>
        <p:nvSpPr>
          <p:cNvPr id="29" name="">
            <a:extLst xmlns:a="http://schemas.openxmlformats.org/drawingml/2006/main">
              <a:ext uri="{FF2B5EF4-FFF2-40B4-BE49-F238E27FC236}">
                <a16:creationId xmlns:a16="http://schemas.microsoft.com/office/drawing/2014/main" id="{7AB3EB2A-A30E-446E-A4B5-B0DA4512BA93}"/>
              </a:ext>
            </a:extLst>
          </p:cNvPr>
          <p:cNvSpPr>
            <a:spLocks xmlns:a="http://schemas.openxmlformats.org/drawingml/2006/main" noGrp="1"/>
          </p:cNvSpPr>
          <p:nvPr/>
        </p:nvSpPr>
        <p:spPr>
          <a:xfrm xmlns:a="http://schemas.openxmlformats.org/drawingml/2006/main">
            <a:off x="78295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C2908ACA-55A1-4D85-8FC2-BE79A3B2458D}"/>
              </a:ext>
            </a:extLst>
          </p:cNvPr>
          <p:cNvSpPr>
            <a:spLocks xmlns:a="http://schemas.openxmlformats.org/drawingml/2006/main" noGrp="1"/>
          </p:cNvSpPr>
          <p:nvPr/>
        </p:nvSpPr>
        <p:spPr>
          <a:xfrm xmlns:a="http://schemas.openxmlformats.org/drawingml/2006/main">
            <a:off x="79248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Stop; do not flush; follow agent-specific protocol</a:t>
            </a:r>
          </a:p>
        </p:txBody>
      </p:sp>
      <p:sp>
        <p:nvSpPr>
          <p:cNvPr id="31" name="">
            <a:extLst xmlns:a="http://schemas.openxmlformats.org/drawingml/2006/main">
              <a:ext uri="{FF2B5EF4-FFF2-40B4-BE49-F238E27FC236}">
                <a16:creationId xmlns:a16="http://schemas.microsoft.com/office/drawing/2014/main" id="{26B27F45-CFC7-4146-BA81-89F9D3C5A900}"/>
              </a:ext>
            </a:extLst>
          </p:cNvPr>
          <p:cNvSpPr>
            <a:spLocks xmlns:a="http://schemas.openxmlformats.org/drawingml/2006/main" noGrp="1"/>
          </p:cNvSpPr>
          <p:nvPr/>
        </p:nvSpPr>
        <p:spPr>
          <a:xfrm xmlns:a="http://schemas.openxmlformats.org/drawingml/2006/main">
            <a:off x="7810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2" name="">
            <a:extLst xmlns:a="http://schemas.openxmlformats.org/drawingml/2006/main">
              <a:ext uri="{FF2B5EF4-FFF2-40B4-BE49-F238E27FC236}">
                <a16:creationId xmlns:a16="http://schemas.microsoft.com/office/drawing/2014/main" id="{B2823F34-5C13-4D8A-81A2-DAD93BEAE243}"/>
              </a:ext>
            </a:extLst>
          </p:cNvPr>
          <p:cNvSpPr>
            <a:spLocks xmlns:a="http://schemas.openxmlformats.org/drawingml/2006/main" noGrp="1"/>
          </p:cNvSpPr>
          <p:nvPr/>
        </p:nvSpPr>
        <p:spPr>
          <a:xfrm xmlns:a="http://schemas.openxmlformats.org/drawingml/2006/main">
            <a:off x="8763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Drainage, tenderness, fever</a:t>
            </a:r>
          </a:p>
        </p:txBody>
      </p:sp>
      <p:sp>
        <p:nvSpPr>
          <p:cNvPr id="33" name="">
            <a:extLst xmlns:a="http://schemas.openxmlformats.org/drawingml/2006/main">
              <a:ext uri="{FF2B5EF4-FFF2-40B4-BE49-F238E27FC236}">
                <a16:creationId xmlns:a16="http://schemas.microsoft.com/office/drawing/2014/main" id="{2DAD549A-8001-4690-B2CB-00C90663F324}"/>
              </a:ext>
            </a:extLst>
          </p:cNvPr>
          <p:cNvSpPr>
            <a:spLocks xmlns:a="http://schemas.openxmlformats.org/drawingml/2006/main" noGrp="1"/>
          </p:cNvSpPr>
          <p:nvPr/>
        </p:nvSpPr>
        <p:spPr>
          <a:xfrm xmlns:a="http://schemas.openxmlformats.org/drawingml/2006/main">
            <a:off x="430530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4" name="">
            <a:extLst xmlns:a="http://schemas.openxmlformats.org/drawingml/2006/main">
              <a:ext uri="{FF2B5EF4-FFF2-40B4-BE49-F238E27FC236}">
                <a16:creationId xmlns:a16="http://schemas.microsoft.com/office/drawing/2014/main" id="{972BF4B7-ED6F-47B5-9E8E-D2F1463326B8}"/>
              </a:ext>
            </a:extLst>
          </p:cNvPr>
          <p:cNvSpPr>
            <a:spLocks xmlns:a="http://schemas.openxmlformats.org/drawingml/2006/main" noGrp="1"/>
          </p:cNvSpPr>
          <p:nvPr/>
        </p:nvSpPr>
        <p:spPr>
          <a:xfrm xmlns:a="http://schemas.openxmlformats.org/drawingml/2006/main">
            <a:off x="440055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Local or bloodstream infection</a:t>
            </a:r>
          </a:p>
        </p:txBody>
      </p:sp>
      <p:sp>
        <p:nvSpPr>
          <p:cNvPr id="35" name="">
            <a:extLst xmlns:a="http://schemas.openxmlformats.org/drawingml/2006/main">
              <a:ext uri="{FF2B5EF4-FFF2-40B4-BE49-F238E27FC236}">
                <a16:creationId xmlns:a16="http://schemas.microsoft.com/office/drawing/2014/main" id="{F8717661-6162-45F4-BD51-15D2F6ADF3AA}"/>
              </a:ext>
            </a:extLst>
          </p:cNvPr>
          <p:cNvSpPr>
            <a:spLocks xmlns:a="http://schemas.openxmlformats.org/drawingml/2006/main" noGrp="1"/>
          </p:cNvSpPr>
          <p:nvPr/>
        </p:nvSpPr>
        <p:spPr>
          <a:xfrm xmlns:a="http://schemas.openxmlformats.org/drawingml/2006/main">
            <a:off x="78295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6" name="">
            <a:extLst xmlns:a="http://schemas.openxmlformats.org/drawingml/2006/main">
              <a:ext uri="{FF2B5EF4-FFF2-40B4-BE49-F238E27FC236}">
                <a16:creationId xmlns:a16="http://schemas.microsoft.com/office/drawing/2014/main" id="{4410BE54-56DB-4C29-9060-C1E43A1F71CA}"/>
              </a:ext>
            </a:extLst>
          </p:cNvPr>
          <p:cNvSpPr>
            <a:spLocks xmlns:a="http://schemas.openxmlformats.org/drawingml/2006/main" noGrp="1"/>
          </p:cNvSpPr>
          <p:nvPr/>
        </p:nvSpPr>
        <p:spPr>
          <a:xfrm xmlns:a="http://schemas.openxmlformats.org/drawingml/2006/main">
            <a:off x="79248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Stop unsafe use, assess, notify, and follow culture/removal policy</a:t>
            </a:r>
          </a:p>
        </p:txBody>
      </p:sp>
    </p:spTree>
    <p:extLst>
      <p:ext uri="{BB962C8B-B14F-4D97-AF65-F5344CB8AC3E}">
        <p14:creationId xmlns:p14="http://schemas.microsoft.com/office/powerpoint/2010/main" val="210346761"/>
      </p:ext>
    </p:extLst>
  </p:cSld>
</p:sld>
</file>

<file path=ppt/slides/slide3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8C2CCD0B-0C2B-47AB-866A-3238E4EB9395}"/>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88B949BB-45C9-48C0-97DB-BEA4D634A0F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82D71C66-2612-460D-AAD7-4F27FD09DD14}"/>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3BCFFC05-3FB4-46B3-967F-D52FDB62BC2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Systemic IV complications</a:t>
            </a:r>
          </a:p>
        </p:txBody>
      </p:sp>
      <p:sp>
        <p:nvSpPr>
          <p:cNvPr id="5" name="">
            <a:extLst xmlns:a="http://schemas.openxmlformats.org/drawingml/2006/main">
              <a:ext uri="{FF2B5EF4-FFF2-40B4-BE49-F238E27FC236}">
                <a16:creationId xmlns:a16="http://schemas.microsoft.com/office/drawing/2014/main" id="{FA419111-47EC-4715-91F4-FF0E9F0AD22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6" name="">
            <a:extLst xmlns:a="http://schemas.openxmlformats.org/drawingml/2006/main">
              <a:ext uri="{FF2B5EF4-FFF2-40B4-BE49-F238E27FC236}">
                <a16:creationId xmlns:a16="http://schemas.microsoft.com/office/drawing/2014/main" id="{F87F966C-F6B0-47ED-9444-06A5D376DA7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38</a:t>
            </a:r>
          </a:p>
        </p:txBody>
      </p:sp>
      <p:sp>
        <p:nvSpPr>
          <p:cNvPr id="7" name="">
            <a:extLst xmlns:a="http://schemas.openxmlformats.org/drawingml/2006/main">
              <a:ext uri="{FF2B5EF4-FFF2-40B4-BE49-F238E27FC236}">
                <a16:creationId xmlns:a16="http://schemas.microsoft.com/office/drawing/2014/main" id="{5A7D0D93-713D-4239-91B0-E936C4CE3B53}"/>
              </a:ext>
            </a:extLst>
          </p:cNvPr>
          <p:cNvSpPr>
            <a:spLocks xmlns:a="http://schemas.openxmlformats.org/drawingml/2006/main" noGrp="1"/>
          </p:cNvSpPr>
          <p:nvPr/>
        </p:nvSpPr>
        <p:spPr>
          <a:xfrm xmlns:a="http://schemas.openxmlformats.org/drawingml/2006/main">
            <a:off x="7810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70CC4B04-197C-451D-9470-8596B148E0D4}"/>
              </a:ext>
            </a:extLst>
          </p:cNvPr>
          <p:cNvSpPr>
            <a:spLocks xmlns:a="http://schemas.openxmlformats.org/drawingml/2006/main" noGrp="1"/>
          </p:cNvSpPr>
          <p:nvPr/>
        </p:nvSpPr>
        <p:spPr>
          <a:xfrm xmlns:a="http://schemas.openxmlformats.org/drawingml/2006/main">
            <a:off x="8763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Complication</a:t>
            </a:r>
          </a:p>
        </p:txBody>
      </p:sp>
      <p:sp>
        <p:nvSpPr>
          <p:cNvPr id="9" name="">
            <a:extLst xmlns:a="http://schemas.openxmlformats.org/drawingml/2006/main">
              <a:ext uri="{FF2B5EF4-FFF2-40B4-BE49-F238E27FC236}">
                <a16:creationId xmlns:a16="http://schemas.microsoft.com/office/drawing/2014/main" id="{27891E20-E66B-4967-8D0B-DA65C91E3906}"/>
              </a:ext>
            </a:extLst>
          </p:cNvPr>
          <p:cNvSpPr>
            <a:spLocks xmlns:a="http://schemas.openxmlformats.org/drawingml/2006/main" noGrp="1"/>
          </p:cNvSpPr>
          <p:nvPr/>
        </p:nvSpPr>
        <p:spPr>
          <a:xfrm xmlns:a="http://schemas.openxmlformats.org/drawingml/2006/main">
            <a:off x="430530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D0187197-B14A-4B84-9E8C-B8EB72663E03}"/>
              </a:ext>
            </a:extLst>
          </p:cNvPr>
          <p:cNvSpPr>
            <a:spLocks xmlns:a="http://schemas.openxmlformats.org/drawingml/2006/main" noGrp="1"/>
          </p:cNvSpPr>
          <p:nvPr/>
        </p:nvSpPr>
        <p:spPr>
          <a:xfrm xmlns:a="http://schemas.openxmlformats.org/drawingml/2006/main">
            <a:off x="440055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Possible findings</a:t>
            </a:r>
          </a:p>
        </p:txBody>
      </p:sp>
      <p:sp>
        <p:nvSpPr>
          <p:cNvPr id="11" name="">
            <a:extLst xmlns:a="http://schemas.openxmlformats.org/drawingml/2006/main">
              <a:ext uri="{FF2B5EF4-FFF2-40B4-BE49-F238E27FC236}">
                <a16:creationId xmlns:a16="http://schemas.microsoft.com/office/drawing/2014/main" id="{3C6AE590-5E56-42C2-979A-6C93DBF370EC}"/>
              </a:ext>
            </a:extLst>
          </p:cNvPr>
          <p:cNvSpPr>
            <a:spLocks xmlns:a="http://schemas.openxmlformats.org/drawingml/2006/main" noGrp="1"/>
          </p:cNvSpPr>
          <p:nvPr/>
        </p:nvSpPr>
        <p:spPr>
          <a:xfrm xmlns:a="http://schemas.openxmlformats.org/drawingml/2006/main">
            <a:off x="78295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76FBEA55-6B0C-4631-99F2-CD9583290FF0}"/>
              </a:ext>
            </a:extLst>
          </p:cNvPr>
          <p:cNvSpPr>
            <a:spLocks xmlns:a="http://schemas.openxmlformats.org/drawingml/2006/main" noGrp="1"/>
          </p:cNvSpPr>
          <p:nvPr/>
        </p:nvSpPr>
        <p:spPr>
          <a:xfrm xmlns:a="http://schemas.openxmlformats.org/drawingml/2006/main">
            <a:off x="79248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Immediate priority</a:t>
            </a:r>
          </a:p>
        </p:txBody>
      </p:sp>
      <p:sp>
        <p:nvSpPr>
          <p:cNvPr id="13" name="">
            <a:extLst xmlns:a="http://schemas.openxmlformats.org/drawingml/2006/main">
              <a:ext uri="{FF2B5EF4-FFF2-40B4-BE49-F238E27FC236}">
                <a16:creationId xmlns:a16="http://schemas.microsoft.com/office/drawing/2014/main" id="{9EC47CC2-ED14-48E4-98A9-D80AB2B48C1F}"/>
              </a:ext>
            </a:extLst>
          </p:cNvPr>
          <p:cNvSpPr>
            <a:spLocks xmlns:a="http://schemas.openxmlformats.org/drawingml/2006/main" noGrp="1"/>
          </p:cNvSpPr>
          <p:nvPr/>
        </p:nvSpPr>
        <p:spPr>
          <a:xfrm xmlns:a="http://schemas.openxmlformats.org/drawingml/2006/main">
            <a:off x="7810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61B9FB80-CD8B-4470-B13B-E0299F96C815}"/>
              </a:ext>
            </a:extLst>
          </p:cNvPr>
          <p:cNvSpPr>
            <a:spLocks xmlns:a="http://schemas.openxmlformats.org/drawingml/2006/main" noGrp="1"/>
          </p:cNvSpPr>
          <p:nvPr/>
        </p:nvSpPr>
        <p:spPr>
          <a:xfrm xmlns:a="http://schemas.openxmlformats.org/drawingml/2006/main">
            <a:off x="8763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Fluid overload</a:t>
            </a:r>
          </a:p>
        </p:txBody>
      </p:sp>
      <p:sp>
        <p:nvSpPr>
          <p:cNvPr id="15" name="">
            <a:extLst xmlns:a="http://schemas.openxmlformats.org/drawingml/2006/main">
              <a:ext uri="{FF2B5EF4-FFF2-40B4-BE49-F238E27FC236}">
                <a16:creationId xmlns:a16="http://schemas.microsoft.com/office/drawing/2014/main" id="{30B37652-8EC7-4CC6-B535-07AA3D1F2358}"/>
              </a:ext>
            </a:extLst>
          </p:cNvPr>
          <p:cNvSpPr>
            <a:spLocks xmlns:a="http://schemas.openxmlformats.org/drawingml/2006/main" noGrp="1"/>
          </p:cNvSpPr>
          <p:nvPr/>
        </p:nvSpPr>
        <p:spPr>
          <a:xfrm xmlns:a="http://schemas.openxmlformats.org/drawingml/2006/main">
            <a:off x="430530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16565007-F27C-474F-A21A-F42B815E98F2}"/>
              </a:ext>
            </a:extLst>
          </p:cNvPr>
          <p:cNvSpPr>
            <a:spLocks xmlns:a="http://schemas.openxmlformats.org/drawingml/2006/main" noGrp="1"/>
          </p:cNvSpPr>
          <p:nvPr/>
        </p:nvSpPr>
        <p:spPr>
          <a:xfrm xmlns:a="http://schemas.openxmlformats.org/drawingml/2006/main">
            <a:off x="440055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Dyspnea, crackles, edema, hypertension, oxygen decline</a:t>
            </a:r>
          </a:p>
        </p:txBody>
      </p:sp>
      <p:sp>
        <p:nvSpPr>
          <p:cNvPr id="17" name="">
            <a:extLst xmlns:a="http://schemas.openxmlformats.org/drawingml/2006/main">
              <a:ext uri="{FF2B5EF4-FFF2-40B4-BE49-F238E27FC236}">
                <a16:creationId xmlns:a16="http://schemas.microsoft.com/office/drawing/2014/main" id="{CB56AFD0-4738-49A0-B01F-03378F01FDFC}"/>
              </a:ext>
            </a:extLst>
          </p:cNvPr>
          <p:cNvSpPr>
            <a:spLocks xmlns:a="http://schemas.openxmlformats.org/drawingml/2006/main" noGrp="1"/>
          </p:cNvSpPr>
          <p:nvPr/>
        </p:nvSpPr>
        <p:spPr>
          <a:xfrm xmlns:a="http://schemas.openxmlformats.org/drawingml/2006/main">
            <a:off x="78295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C76BD724-C6BB-48B5-9D50-E4BC33DE0A46}"/>
              </a:ext>
            </a:extLst>
          </p:cNvPr>
          <p:cNvSpPr>
            <a:spLocks xmlns:a="http://schemas.openxmlformats.org/drawingml/2006/main" noGrp="1"/>
          </p:cNvSpPr>
          <p:nvPr/>
        </p:nvSpPr>
        <p:spPr>
          <a:xfrm xmlns:a="http://schemas.openxmlformats.org/drawingml/2006/main">
            <a:off x="79248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Slow or stop as authorized, position and support breathing, notify promptly</a:t>
            </a:r>
          </a:p>
        </p:txBody>
      </p:sp>
      <p:sp>
        <p:nvSpPr>
          <p:cNvPr id="19" name="">
            <a:extLst xmlns:a="http://schemas.openxmlformats.org/drawingml/2006/main">
              <a:ext uri="{FF2B5EF4-FFF2-40B4-BE49-F238E27FC236}">
                <a16:creationId xmlns:a16="http://schemas.microsoft.com/office/drawing/2014/main" id="{B29F5CE3-D3B3-457F-AC06-A0F57287B243}"/>
              </a:ext>
            </a:extLst>
          </p:cNvPr>
          <p:cNvSpPr>
            <a:spLocks xmlns:a="http://schemas.openxmlformats.org/drawingml/2006/main" noGrp="1"/>
          </p:cNvSpPr>
          <p:nvPr/>
        </p:nvSpPr>
        <p:spPr>
          <a:xfrm xmlns:a="http://schemas.openxmlformats.org/drawingml/2006/main">
            <a:off x="7810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4DCAFE53-CD55-44EF-BFB7-F6C6AFB7A307}"/>
              </a:ext>
            </a:extLst>
          </p:cNvPr>
          <p:cNvSpPr>
            <a:spLocks xmlns:a="http://schemas.openxmlformats.org/drawingml/2006/main" noGrp="1"/>
          </p:cNvSpPr>
          <p:nvPr/>
        </p:nvSpPr>
        <p:spPr>
          <a:xfrm xmlns:a="http://schemas.openxmlformats.org/drawingml/2006/main">
            <a:off x="8763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Speed shock or medication reaction</a:t>
            </a:r>
          </a:p>
        </p:txBody>
      </p:sp>
      <p:sp>
        <p:nvSpPr>
          <p:cNvPr id="21" name="">
            <a:extLst xmlns:a="http://schemas.openxmlformats.org/drawingml/2006/main">
              <a:ext uri="{FF2B5EF4-FFF2-40B4-BE49-F238E27FC236}">
                <a16:creationId xmlns:a16="http://schemas.microsoft.com/office/drawing/2014/main" id="{DE59B7CF-3B0E-4992-AFAB-58B2CD332D81}"/>
              </a:ext>
            </a:extLst>
          </p:cNvPr>
          <p:cNvSpPr>
            <a:spLocks xmlns:a="http://schemas.openxmlformats.org/drawingml/2006/main" noGrp="1"/>
          </p:cNvSpPr>
          <p:nvPr/>
        </p:nvSpPr>
        <p:spPr>
          <a:xfrm xmlns:a="http://schemas.openxmlformats.org/drawingml/2006/main">
            <a:off x="430530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286ADC50-DC15-41A1-AA48-A22B65F393C8}"/>
              </a:ext>
            </a:extLst>
          </p:cNvPr>
          <p:cNvSpPr>
            <a:spLocks xmlns:a="http://schemas.openxmlformats.org/drawingml/2006/main" noGrp="1"/>
          </p:cNvSpPr>
          <p:nvPr/>
        </p:nvSpPr>
        <p:spPr>
          <a:xfrm xmlns:a="http://schemas.openxmlformats.org/drawingml/2006/main">
            <a:off x="440055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Flushing, headache, chest tightness, hypotension, rapid change after administration</a:t>
            </a:r>
          </a:p>
        </p:txBody>
      </p:sp>
      <p:sp>
        <p:nvSpPr>
          <p:cNvPr id="23" name="">
            <a:extLst xmlns:a="http://schemas.openxmlformats.org/drawingml/2006/main">
              <a:ext uri="{FF2B5EF4-FFF2-40B4-BE49-F238E27FC236}">
                <a16:creationId xmlns:a16="http://schemas.microsoft.com/office/drawing/2014/main" id="{DE62A105-81E7-434F-A791-89A021C26D55}"/>
              </a:ext>
            </a:extLst>
          </p:cNvPr>
          <p:cNvSpPr>
            <a:spLocks xmlns:a="http://schemas.openxmlformats.org/drawingml/2006/main" noGrp="1"/>
          </p:cNvSpPr>
          <p:nvPr/>
        </p:nvSpPr>
        <p:spPr>
          <a:xfrm xmlns:a="http://schemas.openxmlformats.org/drawingml/2006/main">
            <a:off x="78295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FCE6B11C-97C4-4308-9EBD-8E6755D1B955}"/>
              </a:ext>
            </a:extLst>
          </p:cNvPr>
          <p:cNvSpPr>
            <a:spLocks xmlns:a="http://schemas.openxmlformats.org/drawingml/2006/main" noGrp="1"/>
          </p:cNvSpPr>
          <p:nvPr/>
        </p:nvSpPr>
        <p:spPr>
          <a:xfrm xmlns:a="http://schemas.openxmlformats.org/drawingml/2006/main">
            <a:off x="79248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Stop medication, assess ABCs, activate emergency response</a:t>
            </a:r>
          </a:p>
        </p:txBody>
      </p:sp>
      <p:sp>
        <p:nvSpPr>
          <p:cNvPr id="25" name="">
            <a:extLst xmlns:a="http://schemas.openxmlformats.org/drawingml/2006/main">
              <a:ext uri="{FF2B5EF4-FFF2-40B4-BE49-F238E27FC236}">
                <a16:creationId xmlns:a16="http://schemas.microsoft.com/office/drawing/2014/main" id="{F7FBA90B-1019-4D04-9607-F46DF4CEB286}"/>
              </a:ext>
            </a:extLst>
          </p:cNvPr>
          <p:cNvSpPr>
            <a:spLocks xmlns:a="http://schemas.openxmlformats.org/drawingml/2006/main" noGrp="1"/>
          </p:cNvSpPr>
          <p:nvPr/>
        </p:nvSpPr>
        <p:spPr>
          <a:xfrm xmlns:a="http://schemas.openxmlformats.org/drawingml/2006/main">
            <a:off x="7810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90BF5C51-70A1-4D56-9054-D3E18EC65E84}"/>
              </a:ext>
            </a:extLst>
          </p:cNvPr>
          <p:cNvSpPr>
            <a:spLocks xmlns:a="http://schemas.openxmlformats.org/drawingml/2006/main" noGrp="1"/>
          </p:cNvSpPr>
          <p:nvPr/>
        </p:nvSpPr>
        <p:spPr>
          <a:xfrm xmlns:a="http://schemas.openxmlformats.org/drawingml/2006/main">
            <a:off x="8763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Air embolism</a:t>
            </a:r>
          </a:p>
        </p:txBody>
      </p:sp>
      <p:sp>
        <p:nvSpPr>
          <p:cNvPr id="27" name="">
            <a:extLst xmlns:a="http://schemas.openxmlformats.org/drawingml/2006/main">
              <a:ext uri="{FF2B5EF4-FFF2-40B4-BE49-F238E27FC236}">
                <a16:creationId xmlns:a16="http://schemas.microsoft.com/office/drawing/2014/main" id="{71649B49-C92F-4937-884A-C7024CF90AAB}"/>
              </a:ext>
            </a:extLst>
          </p:cNvPr>
          <p:cNvSpPr>
            <a:spLocks xmlns:a="http://schemas.openxmlformats.org/drawingml/2006/main" noGrp="1"/>
          </p:cNvSpPr>
          <p:nvPr/>
        </p:nvSpPr>
        <p:spPr>
          <a:xfrm xmlns:a="http://schemas.openxmlformats.org/drawingml/2006/main">
            <a:off x="430530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D8DA91ED-3C70-4963-AFD0-CE59B6D5F7AE}"/>
              </a:ext>
            </a:extLst>
          </p:cNvPr>
          <p:cNvSpPr>
            <a:spLocks xmlns:a="http://schemas.openxmlformats.org/drawingml/2006/main" noGrp="1"/>
          </p:cNvSpPr>
          <p:nvPr/>
        </p:nvSpPr>
        <p:spPr>
          <a:xfrm xmlns:a="http://schemas.openxmlformats.org/drawingml/2006/main">
            <a:off x="440055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Sudden dyspnea, chest pain, confusion, hypotension</a:t>
            </a:r>
          </a:p>
        </p:txBody>
      </p:sp>
      <p:sp>
        <p:nvSpPr>
          <p:cNvPr id="29" name="">
            <a:extLst xmlns:a="http://schemas.openxmlformats.org/drawingml/2006/main">
              <a:ext uri="{FF2B5EF4-FFF2-40B4-BE49-F238E27FC236}">
                <a16:creationId xmlns:a16="http://schemas.microsoft.com/office/drawing/2014/main" id="{1A393BDF-E7F0-4664-9483-233C01C879E9}"/>
              </a:ext>
            </a:extLst>
          </p:cNvPr>
          <p:cNvSpPr>
            <a:spLocks xmlns:a="http://schemas.openxmlformats.org/drawingml/2006/main" noGrp="1"/>
          </p:cNvSpPr>
          <p:nvPr/>
        </p:nvSpPr>
        <p:spPr>
          <a:xfrm xmlns:a="http://schemas.openxmlformats.org/drawingml/2006/main">
            <a:off x="78295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7033CCC6-56EB-486E-8BA3-54DDC5E0C839}"/>
              </a:ext>
            </a:extLst>
          </p:cNvPr>
          <p:cNvSpPr>
            <a:spLocks xmlns:a="http://schemas.openxmlformats.org/drawingml/2006/main" noGrp="1"/>
          </p:cNvSpPr>
          <p:nvPr/>
        </p:nvSpPr>
        <p:spPr>
          <a:xfrm xmlns:a="http://schemas.openxmlformats.org/drawingml/2006/main">
            <a:off x="79248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Clamp or protect the system, call emergency response, support ABCs</a:t>
            </a:r>
          </a:p>
        </p:txBody>
      </p:sp>
      <p:sp>
        <p:nvSpPr>
          <p:cNvPr id="31" name="">
            <a:extLst xmlns:a="http://schemas.openxmlformats.org/drawingml/2006/main">
              <a:ext uri="{FF2B5EF4-FFF2-40B4-BE49-F238E27FC236}">
                <a16:creationId xmlns:a16="http://schemas.microsoft.com/office/drawing/2014/main" id="{30387045-628D-4F02-A338-BC0911AB3742}"/>
              </a:ext>
            </a:extLst>
          </p:cNvPr>
          <p:cNvSpPr>
            <a:spLocks xmlns:a="http://schemas.openxmlformats.org/drawingml/2006/main" noGrp="1"/>
          </p:cNvSpPr>
          <p:nvPr/>
        </p:nvSpPr>
        <p:spPr>
          <a:xfrm xmlns:a="http://schemas.openxmlformats.org/drawingml/2006/main">
            <a:off x="7810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2" name="">
            <a:extLst xmlns:a="http://schemas.openxmlformats.org/drawingml/2006/main">
              <a:ext uri="{FF2B5EF4-FFF2-40B4-BE49-F238E27FC236}">
                <a16:creationId xmlns:a16="http://schemas.microsoft.com/office/drawing/2014/main" id="{8A7EEE5B-3EDF-4CBF-8DC4-3F04A6D11E39}"/>
              </a:ext>
            </a:extLst>
          </p:cNvPr>
          <p:cNvSpPr>
            <a:spLocks xmlns:a="http://schemas.openxmlformats.org/drawingml/2006/main" noGrp="1"/>
          </p:cNvSpPr>
          <p:nvPr/>
        </p:nvSpPr>
        <p:spPr>
          <a:xfrm xmlns:a="http://schemas.openxmlformats.org/drawingml/2006/main">
            <a:off x="8763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Catheter-related bloodstream infection</a:t>
            </a:r>
          </a:p>
        </p:txBody>
      </p:sp>
      <p:sp>
        <p:nvSpPr>
          <p:cNvPr id="33" name="">
            <a:extLst xmlns:a="http://schemas.openxmlformats.org/drawingml/2006/main">
              <a:ext uri="{FF2B5EF4-FFF2-40B4-BE49-F238E27FC236}">
                <a16:creationId xmlns:a16="http://schemas.microsoft.com/office/drawing/2014/main" id="{FE8D0720-80FC-4ABA-B41F-00CEDF811B8A}"/>
              </a:ext>
            </a:extLst>
          </p:cNvPr>
          <p:cNvSpPr>
            <a:spLocks xmlns:a="http://schemas.openxmlformats.org/drawingml/2006/main" noGrp="1"/>
          </p:cNvSpPr>
          <p:nvPr/>
        </p:nvSpPr>
        <p:spPr>
          <a:xfrm xmlns:a="http://schemas.openxmlformats.org/drawingml/2006/main">
            <a:off x="430530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4" name="">
            <a:extLst xmlns:a="http://schemas.openxmlformats.org/drawingml/2006/main">
              <a:ext uri="{FF2B5EF4-FFF2-40B4-BE49-F238E27FC236}">
                <a16:creationId xmlns:a16="http://schemas.microsoft.com/office/drawing/2014/main" id="{272B6A53-BF04-4F8B-AF25-CA1CB8434192}"/>
              </a:ext>
            </a:extLst>
          </p:cNvPr>
          <p:cNvSpPr>
            <a:spLocks xmlns:a="http://schemas.openxmlformats.org/drawingml/2006/main" noGrp="1"/>
          </p:cNvSpPr>
          <p:nvPr/>
        </p:nvSpPr>
        <p:spPr>
          <a:xfrm xmlns:a="http://schemas.openxmlformats.org/drawingml/2006/main">
            <a:off x="440055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Fever, chills, hypotension, altered status</a:t>
            </a:r>
          </a:p>
        </p:txBody>
      </p:sp>
      <p:sp>
        <p:nvSpPr>
          <p:cNvPr id="35" name="">
            <a:extLst xmlns:a="http://schemas.openxmlformats.org/drawingml/2006/main">
              <a:ext uri="{FF2B5EF4-FFF2-40B4-BE49-F238E27FC236}">
                <a16:creationId xmlns:a16="http://schemas.microsoft.com/office/drawing/2014/main" id="{12DE7F08-647C-4EC0-B377-F93D6006DF5A}"/>
              </a:ext>
            </a:extLst>
          </p:cNvPr>
          <p:cNvSpPr>
            <a:spLocks xmlns:a="http://schemas.openxmlformats.org/drawingml/2006/main" noGrp="1"/>
          </p:cNvSpPr>
          <p:nvPr/>
        </p:nvSpPr>
        <p:spPr>
          <a:xfrm xmlns:a="http://schemas.openxmlformats.org/drawingml/2006/main">
            <a:off x="78295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6" name="">
            <a:extLst xmlns:a="http://schemas.openxmlformats.org/drawingml/2006/main">
              <a:ext uri="{FF2B5EF4-FFF2-40B4-BE49-F238E27FC236}">
                <a16:creationId xmlns:a16="http://schemas.microsoft.com/office/drawing/2014/main" id="{6506A011-CAEE-4222-8FF7-91F99BF066F4}"/>
              </a:ext>
            </a:extLst>
          </p:cNvPr>
          <p:cNvSpPr>
            <a:spLocks xmlns:a="http://schemas.openxmlformats.org/drawingml/2006/main" noGrp="1"/>
          </p:cNvSpPr>
          <p:nvPr/>
        </p:nvSpPr>
        <p:spPr>
          <a:xfrm xmlns:a="http://schemas.openxmlformats.org/drawingml/2006/main">
            <a:off x="79248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Stop unsafe use, assess, notify, and follow culture and sepsis pathway</a:t>
            </a:r>
          </a:p>
        </p:txBody>
      </p:sp>
    </p:spTree>
    <p:extLst>
      <p:ext uri="{BB962C8B-B14F-4D97-AF65-F5344CB8AC3E}">
        <p14:creationId xmlns:p14="http://schemas.microsoft.com/office/powerpoint/2010/main" val="206435494"/>
      </p:ext>
    </p:extLst>
  </p:cSld>
</p:sld>
</file>

<file path=ppt/slides/slide3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5F26B0A-C455-4CE0-B06A-E5E03E0D2D00}"/>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AA92ACFF-1FEC-498D-8EF5-ACE0C4638DB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20D13D7D-8DE3-4AB8-A4C8-44E059F7AD8E}"/>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36B9D4EC-161C-40F1-8415-A6562DAFDA6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Infiltration severity and response</a:t>
            </a:r>
          </a:p>
        </p:txBody>
      </p:sp>
      <p:sp>
        <p:nvSpPr>
          <p:cNvPr id="5" name="">
            <a:extLst xmlns:a="http://schemas.openxmlformats.org/drawingml/2006/main">
              <a:ext uri="{FF2B5EF4-FFF2-40B4-BE49-F238E27FC236}">
                <a16:creationId xmlns:a16="http://schemas.microsoft.com/office/drawing/2014/main" id="{2BA1383D-DDC6-46E3-B923-5EEA7DB7426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6" name="">
            <a:extLst xmlns:a="http://schemas.openxmlformats.org/drawingml/2006/main">
              <a:ext uri="{FF2B5EF4-FFF2-40B4-BE49-F238E27FC236}">
                <a16:creationId xmlns:a16="http://schemas.microsoft.com/office/drawing/2014/main" id="{50F91EDC-142A-4002-B721-3FCC2E17323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39</a:t>
            </a:r>
          </a:p>
        </p:txBody>
      </p:sp>
      <p:sp>
        <p:nvSpPr>
          <p:cNvPr id="7" name="">
            <a:extLst xmlns:a="http://schemas.openxmlformats.org/drawingml/2006/main">
              <a:ext uri="{FF2B5EF4-FFF2-40B4-BE49-F238E27FC236}">
                <a16:creationId xmlns:a16="http://schemas.microsoft.com/office/drawing/2014/main" id="{BA69C3AC-871A-43B9-91D1-2CD166EEFFD5}"/>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Assess pain, temperature, color, capillary refill, swelling, skin integrity, sensation, and the estimated area involved.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Stop the infusion and disconnect tubing. Follow the solution-specific policy before removing the catheter because aspiration or an antidote may be required for extravasation.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Elevate or apply a compress only when the specific protocol directs it.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Document findings, estimated severity, solution and volume, actions, notifications, patient response, and follow-up plan.</a:t>
            </a:r>
          </a:p>
        </p:txBody>
      </p:sp>
      <p:sp>
        <p:nvSpPr>
          <p:cNvPr id="8" name="">
            <a:extLst xmlns:a="http://schemas.openxmlformats.org/drawingml/2006/main">
              <a:ext uri="{FF2B5EF4-FFF2-40B4-BE49-F238E27FC236}">
                <a16:creationId xmlns:a16="http://schemas.microsoft.com/office/drawing/2014/main" id="{50708097-267C-4174-BD64-3666AC1B2441}"/>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2029319663"/>
      </p:ext>
    </p:extLst>
  </p:cSld>
</p:sld>
</file>

<file path=ppt/slides/slide4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EA013B6B-FDCF-4B78-8014-0ED33713679D}"/>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6F5E990B-6859-499D-837E-6D1BEBEC1BD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91502EF3-1DC6-4267-A9AD-B355C16BC1EE}"/>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00B46527-C29F-4D19-86CB-0100DA1EAB6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Phlebitis causes and prevention</a:t>
            </a:r>
          </a:p>
        </p:txBody>
      </p:sp>
      <p:sp>
        <p:nvSpPr>
          <p:cNvPr id="5" name="">
            <a:extLst xmlns:a="http://schemas.openxmlformats.org/drawingml/2006/main">
              <a:ext uri="{FF2B5EF4-FFF2-40B4-BE49-F238E27FC236}">
                <a16:creationId xmlns:a16="http://schemas.microsoft.com/office/drawing/2014/main" id="{AED542B6-4512-41D7-B1BD-1311070645B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6" name="">
            <a:extLst xmlns:a="http://schemas.openxmlformats.org/drawingml/2006/main">
              <a:ext uri="{FF2B5EF4-FFF2-40B4-BE49-F238E27FC236}">
                <a16:creationId xmlns:a16="http://schemas.microsoft.com/office/drawing/2014/main" id="{06B34CD0-03FC-4CE5-8E8C-770F3A13CF5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40</a:t>
            </a:r>
          </a:p>
        </p:txBody>
      </p:sp>
      <p:sp>
        <p:nvSpPr>
          <p:cNvPr id="7" name="">
            <a:extLst xmlns:a="http://schemas.openxmlformats.org/drawingml/2006/main">
              <a:ext uri="{FF2B5EF4-FFF2-40B4-BE49-F238E27FC236}">
                <a16:creationId xmlns:a16="http://schemas.microsoft.com/office/drawing/2014/main" id="{AE1C1B6C-3680-405D-9886-F146AC4F8977}"/>
              </a:ext>
            </a:extLst>
          </p:cNvPr>
          <p:cNvSpPr>
            <a:spLocks xmlns:a="http://schemas.openxmlformats.org/drawingml/2006/main" noGrp="1"/>
          </p:cNvSpPr>
          <p:nvPr/>
        </p:nvSpPr>
        <p:spPr>
          <a:xfrm xmlns:a="http://schemas.openxmlformats.org/drawingml/2006/main">
            <a:off x="7810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0CDC6B82-340B-4C63-96A4-3F2CFB6AE5DB}"/>
              </a:ext>
            </a:extLst>
          </p:cNvPr>
          <p:cNvSpPr>
            <a:spLocks xmlns:a="http://schemas.openxmlformats.org/drawingml/2006/main" noGrp="1"/>
          </p:cNvSpPr>
          <p:nvPr/>
        </p:nvSpPr>
        <p:spPr>
          <a:xfrm xmlns:a="http://schemas.openxmlformats.org/drawingml/2006/main">
            <a:off x="8763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Cause</a:t>
            </a:r>
          </a:p>
        </p:txBody>
      </p:sp>
      <p:sp>
        <p:nvSpPr>
          <p:cNvPr id="9" name="">
            <a:extLst xmlns:a="http://schemas.openxmlformats.org/drawingml/2006/main">
              <a:ext uri="{FF2B5EF4-FFF2-40B4-BE49-F238E27FC236}">
                <a16:creationId xmlns:a16="http://schemas.microsoft.com/office/drawing/2014/main" id="{91F532CF-3B92-460F-91BE-61DA9D7E1D43}"/>
              </a:ext>
            </a:extLst>
          </p:cNvPr>
          <p:cNvSpPr>
            <a:spLocks xmlns:a="http://schemas.openxmlformats.org/drawingml/2006/main" noGrp="1"/>
          </p:cNvSpPr>
          <p:nvPr/>
        </p:nvSpPr>
        <p:spPr>
          <a:xfrm xmlns:a="http://schemas.openxmlformats.org/drawingml/2006/main">
            <a:off x="430530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6A472AD9-A843-4EA7-A044-9F40D0604B3D}"/>
              </a:ext>
            </a:extLst>
          </p:cNvPr>
          <p:cNvSpPr>
            <a:spLocks xmlns:a="http://schemas.openxmlformats.org/drawingml/2006/main" noGrp="1"/>
          </p:cNvSpPr>
          <p:nvPr/>
        </p:nvSpPr>
        <p:spPr>
          <a:xfrm xmlns:a="http://schemas.openxmlformats.org/drawingml/2006/main">
            <a:off x="440055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Example</a:t>
            </a:r>
          </a:p>
        </p:txBody>
      </p:sp>
      <p:sp>
        <p:nvSpPr>
          <p:cNvPr id="11" name="">
            <a:extLst xmlns:a="http://schemas.openxmlformats.org/drawingml/2006/main">
              <a:ext uri="{FF2B5EF4-FFF2-40B4-BE49-F238E27FC236}">
                <a16:creationId xmlns:a16="http://schemas.microsoft.com/office/drawing/2014/main" id="{7D90A5E2-9337-4DEE-8CCE-08455F223664}"/>
              </a:ext>
            </a:extLst>
          </p:cNvPr>
          <p:cNvSpPr>
            <a:spLocks xmlns:a="http://schemas.openxmlformats.org/drawingml/2006/main" noGrp="1"/>
          </p:cNvSpPr>
          <p:nvPr/>
        </p:nvSpPr>
        <p:spPr>
          <a:xfrm xmlns:a="http://schemas.openxmlformats.org/drawingml/2006/main">
            <a:off x="78295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8D83A5AE-0C66-4366-A767-1C81203D8DF8}"/>
              </a:ext>
            </a:extLst>
          </p:cNvPr>
          <p:cNvSpPr>
            <a:spLocks xmlns:a="http://schemas.openxmlformats.org/drawingml/2006/main" noGrp="1"/>
          </p:cNvSpPr>
          <p:nvPr/>
        </p:nvSpPr>
        <p:spPr>
          <a:xfrm xmlns:a="http://schemas.openxmlformats.org/drawingml/2006/main">
            <a:off x="79248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Prevention</a:t>
            </a:r>
          </a:p>
        </p:txBody>
      </p:sp>
      <p:sp>
        <p:nvSpPr>
          <p:cNvPr id="13" name="">
            <a:extLst xmlns:a="http://schemas.openxmlformats.org/drawingml/2006/main">
              <a:ext uri="{FF2B5EF4-FFF2-40B4-BE49-F238E27FC236}">
                <a16:creationId xmlns:a16="http://schemas.microsoft.com/office/drawing/2014/main" id="{BC9D112C-2801-4408-B63F-6AA0A2EED943}"/>
              </a:ext>
            </a:extLst>
          </p:cNvPr>
          <p:cNvSpPr>
            <a:spLocks xmlns:a="http://schemas.openxmlformats.org/drawingml/2006/main" noGrp="1"/>
          </p:cNvSpPr>
          <p:nvPr/>
        </p:nvSpPr>
        <p:spPr>
          <a:xfrm xmlns:a="http://schemas.openxmlformats.org/drawingml/2006/main">
            <a:off x="7810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00C18E96-28DF-4EC7-8DFB-7A6BCC8DFB71}"/>
              </a:ext>
            </a:extLst>
          </p:cNvPr>
          <p:cNvSpPr>
            <a:spLocks xmlns:a="http://schemas.openxmlformats.org/drawingml/2006/main" noGrp="1"/>
          </p:cNvSpPr>
          <p:nvPr/>
        </p:nvSpPr>
        <p:spPr>
          <a:xfrm xmlns:a="http://schemas.openxmlformats.org/drawingml/2006/main">
            <a:off x="8763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Mechanical</a:t>
            </a:r>
          </a:p>
        </p:txBody>
      </p:sp>
      <p:sp>
        <p:nvSpPr>
          <p:cNvPr id="15" name="">
            <a:extLst xmlns:a="http://schemas.openxmlformats.org/drawingml/2006/main">
              <a:ext uri="{FF2B5EF4-FFF2-40B4-BE49-F238E27FC236}">
                <a16:creationId xmlns:a16="http://schemas.microsoft.com/office/drawing/2014/main" id="{E7A26D52-9D46-4412-831F-AD11310789FD}"/>
              </a:ext>
            </a:extLst>
          </p:cNvPr>
          <p:cNvSpPr>
            <a:spLocks xmlns:a="http://schemas.openxmlformats.org/drawingml/2006/main" noGrp="1"/>
          </p:cNvSpPr>
          <p:nvPr/>
        </p:nvSpPr>
        <p:spPr>
          <a:xfrm xmlns:a="http://schemas.openxmlformats.org/drawingml/2006/main">
            <a:off x="430530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B1D04093-5C7B-4DDA-BDE7-C543793B0C7B}"/>
              </a:ext>
            </a:extLst>
          </p:cNvPr>
          <p:cNvSpPr>
            <a:spLocks xmlns:a="http://schemas.openxmlformats.org/drawingml/2006/main" noGrp="1"/>
          </p:cNvSpPr>
          <p:nvPr/>
        </p:nvSpPr>
        <p:spPr>
          <a:xfrm xmlns:a="http://schemas.openxmlformats.org/drawingml/2006/main">
            <a:off x="440055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Large catheter, flexion, movement, poor securement</a:t>
            </a:r>
          </a:p>
        </p:txBody>
      </p:sp>
      <p:sp>
        <p:nvSpPr>
          <p:cNvPr id="17" name="">
            <a:extLst xmlns:a="http://schemas.openxmlformats.org/drawingml/2006/main">
              <a:ext uri="{FF2B5EF4-FFF2-40B4-BE49-F238E27FC236}">
                <a16:creationId xmlns:a16="http://schemas.microsoft.com/office/drawing/2014/main" id="{3CAF4A48-E2C2-46CA-9BB3-CF46A9C39626}"/>
              </a:ext>
            </a:extLst>
          </p:cNvPr>
          <p:cNvSpPr>
            <a:spLocks xmlns:a="http://schemas.openxmlformats.org/drawingml/2006/main" noGrp="1"/>
          </p:cNvSpPr>
          <p:nvPr/>
        </p:nvSpPr>
        <p:spPr>
          <a:xfrm xmlns:a="http://schemas.openxmlformats.org/drawingml/2006/main">
            <a:off x="78295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7FF8A6BC-99BF-409D-942F-8BCBBDC10B6D}"/>
              </a:ext>
            </a:extLst>
          </p:cNvPr>
          <p:cNvSpPr>
            <a:spLocks xmlns:a="http://schemas.openxmlformats.org/drawingml/2006/main" noGrp="1"/>
          </p:cNvSpPr>
          <p:nvPr/>
        </p:nvSpPr>
        <p:spPr>
          <a:xfrm xmlns:a="http://schemas.openxmlformats.org/drawingml/2006/main">
            <a:off x="79248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Smallest suitable catheter, stable site, effective securement</a:t>
            </a:r>
          </a:p>
        </p:txBody>
      </p:sp>
      <p:sp>
        <p:nvSpPr>
          <p:cNvPr id="19" name="">
            <a:extLst xmlns:a="http://schemas.openxmlformats.org/drawingml/2006/main">
              <a:ext uri="{FF2B5EF4-FFF2-40B4-BE49-F238E27FC236}">
                <a16:creationId xmlns:a16="http://schemas.microsoft.com/office/drawing/2014/main" id="{BC939D6C-2746-4DB1-8AE3-1028A39E498E}"/>
              </a:ext>
            </a:extLst>
          </p:cNvPr>
          <p:cNvSpPr>
            <a:spLocks xmlns:a="http://schemas.openxmlformats.org/drawingml/2006/main" noGrp="1"/>
          </p:cNvSpPr>
          <p:nvPr/>
        </p:nvSpPr>
        <p:spPr>
          <a:xfrm xmlns:a="http://schemas.openxmlformats.org/drawingml/2006/main">
            <a:off x="7810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C39EB4AD-80D3-4C01-B846-26D4EFB733C0}"/>
              </a:ext>
            </a:extLst>
          </p:cNvPr>
          <p:cNvSpPr>
            <a:spLocks xmlns:a="http://schemas.openxmlformats.org/drawingml/2006/main" noGrp="1"/>
          </p:cNvSpPr>
          <p:nvPr/>
        </p:nvSpPr>
        <p:spPr>
          <a:xfrm xmlns:a="http://schemas.openxmlformats.org/drawingml/2006/main">
            <a:off x="8763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Chemical</a:t>
            </a:r>
          </a:p>
        </p:txBody>
      </p:sp>
      <p:sp>
        <p:nvSpPr>
          <p:cNvPr id="21" name="">
            <a:extLst xmlns:a="http://schemas.openxmlformats.org/drawingml/2006/main">
              <a:ext uri="{FF2B5EF4-FFF2-40B4-BE49-F238E27FC236}">
                <a16:creationId xmlns:a16="http://schemas.microsoft.com/office/drawing/2014/main" id="{511B19F7-1A49-4CD0-88B3-B3117E6CB11A}"/>
              </a:ext>
            </a:extLst>
          </p:cNvPr>
          <p:cNvSpPr>
            <a:spLocks xmlns:a="http://schemas.openxmlformats.org/drawingml/2006/main" noGrp="1"/>
          </p:cNvSpPr>
          <p:nvPr/>
        </p:nvSpPr>
        <p:spPr>
          <a:xfrm xmlns:a="http://schemas.openxmlformats.org/drawingml/2006/main">
            <a:off x="430530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6DE6F0CD-8E13-4ADF-BF33-85E39361B5BB}"/>
              </a:ext>
            </a:extLst>
          </p:cNvPr>
          <p:cNvSpPr>
            <a:spLocks xmlns:a="http://schemas.openxmlformats.org/drawingml/2006/main" noGrp="1"/>
          </p:cNvSpPr>
          <p:nvPr/>
        </p:nvSpPr>
        <p:spPr>
          <a:xfrm xmlns:a="http://schemas.openxmlformats.org/drawingml/2006/main">
            <a:off x="440055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Extreme pH or osmolarity, irritating medication</a:t>
            </a:r>
          </a:p>
        </p:txBody>
      </p:sp>
      <p:sp>
        <p:nvSpPr>
          <p:cNvPr id="23" name="">
            <a:extLst xmlns:a="http://schemas.openxmlformats.org/drawingml/2006/main">
              <a:ext uri="{FF2B5EF4-FFF2-40B4-BE49-F238E27FC236}">
                <a16:creationId xmlns:a16="http://schemas.microsoft.com/office/drawing/2014/main" id="{C1A193F9-8AC1-485A-ADE8-855575EBA3C5}"/>
              </a:ext>
            </a:extLst>
          </p:cNvPr>
          <p:cNvSpPr>
            <a:spLocks xmlns:a="http://schemas.openxmlformats.org/drawingml/2006/main" noGrp="1"/>
          </p:cNvSpPr>
          <p:nvPr/>
        </p:nvSpPr>
        <p:spPr>
          <a:xfrm xmlns:a="http://schemas.openxmlformats.org/drawingml/2006/main">
            <a:off x="78295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12B7E53F-DAD0-4FE2-9A69-42F5F078B59B}"/>
              </a:ext>
            </a:extLst>
          </p:cNvPr>
          <p:cNvSpPr>
            <a:spLocks xmlns:a="http://schemas.openxmlformats.org/drawingml/2006/main" noGrp="1"/>
          </p:cNvSpPr>
          <p:nvPr/>
        </p:nvSpPr>
        <p:spPr>
          <a:xfrm xmlns:a="http://schemas.openxmlformats.org/drawingml/2006/main">
            <a:off x="79248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Correct dilution, rate, access device, and compatibility</a:t>
            </a:r>
          </a:p>
        </p:txBody>
      </p:sp>
      <p:sp>
        <p:nvSpPr>
          <p:cNvPr id="25" name="">
            <a:extLst xmlns:a="http://schemas.openxmlformats.org/drawingml/2006/main">
              <a:ext uri="{FF2B5EF4-FFF2-40B4-BE49-F238E27FC236}">
                <a16:creationId xmlns:a16="http://schemas.microsoft.com/office/drawing/2014/main" id="{FC9860CF-FEC4-48C8-8D89-60C163AE2802}"/>
              </a:ext>
            </a:extLst>
          </p:cNvPr>
          <p:cNvSpPr>
            <a:spLocks xmlns:a="http://schemas.openxmlformats.org/drawingml/2006/main" noGrp="1"/>
          </p:cNvSpPr>
          <p:nvPr/>
        </p:nvSpPr>
        <p:spPr>
          <a:xfrm xmlns:a="http://schemas.openxmlformats.org/drawingml/2006/main">
            <a:off x="7810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B0663F1F-E102-43A9-95D6-DB744623ADF8}"/>
              </a:ext>
            </a:extLst>
          </p:cNvPr>
          <p:cNvSpPr>
            <a:spLocks xmlns:a="http://schemas.openxmlformats.org/drawingml/2006/main" noGrp="1"/>
          </p:cNvSpPr>
          <p:nvPr/>
        </p:nvSpPr>
        <p:spPr>
          <a:xfrm xmlns:a="http://schemas.openxmlformats.org/drawingml/2006/main">
            <a:off x="8763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Bacterial</a:t>
            </a:r>
          </a:p>
        </p:txBody>
      </p:sp>
      <p:sp>
        <p:nvSpPr>
          <p:cNvPr id="27" name="">
            <a:extLst xmlns:a="http://schemas.openxmlformats.org/drawingml/2006/main">
              <a:ext uri="{FF2B5EF4-FFF2-40B4-BE49-F238E27FC236}">
                <a16:creationId xmlns:a16="http://schemas.microsoft.com/office/drawing/2014/main" id="{13B30878-F208-448E-86F3-6825CACDEEED}"/>
              </a:ext>
            </a:extLst>
          </p:cNvPr>
          <p:cNvSpPr>
            <a:spLocks xmlns:a="http://schemas.openxmlformats.org/drawingml/2006/main" noGrp="1"/>
          </p:cNvSpPr>
          <p:nvPr/>
        </p:nvSpPr>
        <p:spPr>
          <a:xfrm xmlns:a="http://schemas.openxmlformats.org/drawingml/2006/main">
            <a:off x="430530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D4917F80-AECA-4530-A48A-20354CDC6504}"/>
              </a:ext>
            </a:extLst>
          </p:cNvPr>
          <p:cNvSpPr>
            <a:spLocks xmlns:a="http://schemas.openxmlformats.org/drawingml/2006/main" noGrp="1"/>
          </p:cNvSpPr>
          <p:nvPr/>
        </p:nvSpPr>
        <p:spPr>
          <a:xfrm xmlns:a="http://schemas.openxmlformats.org/drawingml/2006/main">
            <a:off x="440055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Contamination of site, hub, or connection</a:t>
            </a:r>
          </a:p>
        </p:txBody>
      </p:sp>
      <p:sp>
        <p:nvSpPr>
          <p:cNvPr id="29" name="">
            <a:extLst xmlns:a="http://schemas.openxmlformats.org/drawingml/2006/main">
              <a:ext uri="{FF2B5EF4-FFF2-40B4-BE49-F238E27FC236}">
                <a16:creationId xmlns:a16="http://schemas.microsoft.com/office/drawing/2014/main" id="{882F0068-58DC-4594-BC42-265510D01977}"/>
              </a:ext>
            </a:extLst>
          </p:cNvPr>
          <p:cNvSpPr>
            <a:spLocks xmlns:a="http://schemas.openxmlformats.org/drawingml/2006/main" noGrp="1"/>
          </p:cNvSpPr>
          <p:nvPr/>
        </p:nvSpPr>
        <p:spPr>
          <a:xfrm xmlns:a="http://schemas.openxmlformats.org/drawingml/2006/main">
            <a:off x="78295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E9383E03-6056-4249-BCB6-8C9D688FB229}"/>
              </a:ext>
            </a:extLst>
          </p:cNvPr>
          <p:cNvSpPr>
            <a:spLocks xmlns:a="http://schemas.openxmlformats.org/drawingml/2006/main" noGrp="1"/>
          </p:cNvSpPr>
          <p:nvPr/>
        </p:nvSpPr>
        <p:spPr>
          <a:xfrm xmlns:a="http://schemas.openxmlformats.org/drawingml/2006/main">
            <a:off x="79248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Hand hygiene, antisepsis, connector disinfection, closed system</a:t>
            </a:r>
          </a:p>
        </p:txBody>
      </p:sp>
      <p:sp>
        <p:nvSpPr>
          <p:cNvPr id="31" name="">
            <a:extLst xmlns:a="http://schemas.openxmlformats.org/drawingml/2006/main">
              <a:ext uri="{FF2B5EF4-FFF2-40B4-BE49-F238E27FC236}">
                <a16:creationId xmlns:a16="http://schemas.microsoft.com/office/drawing/2014/main" id="{AE084982-67E6-4AA1-8C93-376708667F19}"/>
              </a:ext>
            </a:extLst>
          </p:cNvPr>
          <p:cNvSpPr>
            <a:spLocks xmlns:a="http://schemas.openxmlformats.org/drawingml/2006/main" noGrp="1"/>
          </p:cNvSpPr>
          <p:nvPr/>
        </p:nvSpPr>
        <p:spPr>
          <a:xfrm xmlns:a="http://schemas.openxmlformats.org/drawingml/2006/main">
            <a:off x="7810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2" name="">
            <a:extLst xmlns:a="http://schemas.openxmlformats.org/drawingml/2006/main">
              <a:ext uri="{FF2B5EF4-FFF2-40B4-BE49-F238E27FC236}">
                <a16:creationId xmlns:a16="http://schemas.microsoft.com/office/drawing/2014/main" id="{96A43173-BE28-4BFB-96F2-AA84C63DC901}"/>
              </a:ext>
            </a:extLst>
          </p:cNvPr>
          <p:cNvSpPr>
            <a:spLocks xmlns:a="http://schemas.openxmlformats.org/drawingml/2006/main" noGrp="1"/>
          </p:cNvSpPr>
          <p:nvPr/>
        </p:nvSpPr>
        <p:spPr>
          <a:xfrm xmlns:a="http://schemas.openxmlformats.org/drawingml/2006/main">
            <a:off x="8763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Patient-related</a:t>
            </a:r>
          </a:p>
        </p:txBody>
      </p:sp>
      <p:sp>
        <p:nvSpPr>
          <p:cNvPr id="33" name="">
            <a:extLst xmlns:a="http://schemas.openxmlformats.org/drawingml/2006/main">
              <a:ext uri="{FF2B5EF4-FFF2-40B4-BE49-F238E27FC236}">
                <a16:creationId xmlns:a16="http://schemas.microsoft.com/office/drawing/2014/main" id="{52619885-B09A-4BFF-AF0F-6440F9DC18EA}"/>
              </a:ext>
            </a:extLst>
          </p:cNvPr>
          <p:cNvSpPr>
            <a:spLocks xmlns:a="http://schemas.openxmlformats.org/drawingml/2006/main" noGrp="1"/>
          </p:cNvSpPr>
          <p:nvPr/>
        </p:nvSpPr>
        <p:spPr>
          <a:xfrm xmlns:a="http://schemas.openxmlformats.org/drawingml/2006/main">
            <a:off x="430530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4" name="">
            <a:extLst xmlns:a="http://schemas.openxmlformats.org/drawingml/2006/main">
              <a:ext uri="{FF2B5EF4-FFF2-40B4-BE49-F238E27FC236}">
                <a16:creationId xmlns:a16="http://schemas.microsoft.com/office/drawing/2014/main" id="{F88713BE-3D2C-44B7-B49F-3D4C38A38418}"/>
              </a:ext>
            </a:extLst>
          </p:cNvPr>
          <p:cNvSpPr>
            <a:spLocks xmlns:a="http://schemas.openxmlformats.org/drawingml/2006/main" noGrp="1"/>
          </p:cNvSpPr>
          <p:nvPr/>
        </p:nvSpPr>
        <p:spPr>
          <a:xfrm xmlns:a="http://schemas.openxmlformats.org/drawingml/2006/main">
            <a:off x="440055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Fragile veins, inflammation, hypercoagulability</a:t>
            </a:r>
          </a:p>
        </p:txBody>
      </p:sp>
      <p:sp>
        <p:nvSpPr>
          <p:cNvPr id="35" name="">
            <a:extLst xmlns:a="http://schemas.openxmlformats.org/drawingml/2006/main">
              <a:ext uri="{FF2B5EF4-FFF2-40B4-BE49-F238E27FC236}">
                <a16:creationId xmlns:a16="http://schemas.microsoft.com/office/drawing/2014/main" id="{794B7ADC-D5F4-4CFA-878B-0901C3963194}"/>
              </a:ext>
            </a:extLst>
          </p:cNvPr>
          <p:cNvSpPr>
            <a:spLocks xmlns:a="http://schemas.openxmlformats.org/drawingml/2006/main" noGrp="1"/>
          </p:cNvSpPr>
          <p:nvPr/>
        </p:nvSpPr>
        <p:spPr>
          <a:xfrm xmlns:a="http://schemas.openxmlformats.org/drawingml/2006/main">
            <a:off x="78295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6" name="">
            <a:extLst xmlns:a="http://schemas.openxmlformats.org/drawingml/2006/main">
              <a:ext uri="{FF2B5EF4-FFF2-40B4-BE49-F238E27FC236}">
                <a16:creationId xmlns:a16="http://schemas.microsoft.com/office/drawing/2014/main" id="{E8562793-769C-4B3F-B158-EA5A922370CA}"/>
              </a:ext>
            </a:extLst>
          </p:cNvPr>
          <p:cNvSpPr>
            <a:spLocks xmlns:a="http://schemas.openxmlformats.org/drawingml/2006/main" noGrp="1"/>
          </p:cNvSpPr>
          <p:nvPr/>
        </p:nvSpPr>
        <p:spPr>
          <a:xfrm xmlns:a="http://schemas.openxmlformats.org/drawingml/2006/main">
            <a:off x="79248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Individualized site and device plan with frequent assessment</a:t>
            </a:r>
          </a:p>
        </p:txBody>
      </p:sp>
    </p:spTree>
    <p:extLst>
      <p:ext uri="{BB962C8B-B14F-4D97-AF65-F5344CB8AC3E}">
        <p14:creationId xmlns:p14="http://schemas.microsoft.com/office/powerpoint/2010/main" val="200418046"/>
      </p:ext>
    </p:extLst>
  </p:cSld>
</p:sld>
</file>

<file path=ppt/slides/slide4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1445286-32D5-47DB-BAC7-EBB757F980A8}"/>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5078E19C-5E22-4541-81B7-DE26FF222C1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94219AFB-DCED-4870-9294-CD9BC41F211A}"/>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9BF320FF-F2CC-4404-8467-026D119E403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Complete documentation tells the clinical story</a:t>
            </a:r>
          </a:p>
        </p:txBody>
      </p:sp>
      <p:sp>
        <p:nvSpPr>
          <p:cNvPr id="5" name="">
            <a:extLst xmlns:a="http://schemas.openxmlformats.org/drawingml/2006/main">
              <a:ext uri="{FF2B5EF4-FFF2-40B4-BE49-F238E27FC236}">
                <a16:creationId xmlns:a16="http://schemas.microsoft.com/office/drawing/2014/main" id="{C5421E3A-6753-4469-BB3A-3EF46A4F5BD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6" name="">
            <a:extLst xmlns:a="http://schemas.openxmlformats.org/drawingml/2006/main">
              <a:ext uri="{FF2B5EF4-FFF2-40B4-BE49-F238E27FC236}">
                <a16:creationId xmlns:a16="http://schemas.microsoft.com/office/drawing/2014/main" id="{18DE5E26-8D21-4AF4-BDF7-1B4E136A310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41</a:t>
            </a:r>
          </a:p>
        </p:txBody>
      </p:sp>
      <p:sp>
        <p:nvSpPr>
          <p:cNvPr id="7" name="">
            <a:extLst xmlns:a="http://schemas.openxmlformats.org/drawingml/2006/main">
              <a:ext uri="{FF2B5EF4-FFF2-40B4-BE49-F238E27FC236}">
                <a16:creationId xmlns:a16="http://schemas.microsoft.com/office/drawing/2014/main" id="{5599AFA2-76D4-46DA-BBD1-F6FB76CD70A2}"/>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Record date and time, site, vein or anatomic location, catheter gauge and length when required, number of attempts, and inserter.</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Record skin preparation, dressing, securement, patency assessment, solution, rate, pump, and patient tolerance.</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Document teaching, complications, actions, notifications, and response.</a:t>
            </a:r>
          </a:p>
        </p:txBody>
      </p:sp>
      <p:sp>
        <p:nvSpPr>
          <p:cNvPr id="8" name="">
            <a:extLst xmlns:a="http://schemas.openxmlformats.org/drawingml/2006/main">
              <a:ext uri="{FF2B5EF4-FFF2-40B4-BE49-F238E27FC236}">
                <a16:creationId xmlns:a16="http://schemas.microsoft.com/office/drawing/2014/main" id="{12CFE47B-F4EA-4B49-ACF4-C3B656839A4F}"/>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517108443"/>
      </p:ext>
    </p:extLst>
  </p:cSld>
</p:sld>
</file>

<file path=ppt/slides/slide4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C878074-06D1-4224-8099-9D6C46768B01}"/>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3CA03AFB-5092-40C0-9F78-83A49B062BC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CA564BC1-43F6-4980-96F5-8C91751318FE}"/>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225AE081-4710-48E7-9178-E44348D1EAA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Practice and competency check</a:t>
            </a:r>
          </a:p>
        </p:txBody>
      </p:sp>
      <p:sp>
        <p:nvSpPr>
          <p:cNvPr id="5" name="">
            <a:extLst xmlns:a="http://schemas.openxmlformats.org/drawingml/2006/main">
              <a:ext uri="{FF2B5EF4-FFF2-40B4-BE49-F238E27FC236}">
                <a16:creationId xmlns:a16="http://schemas.microsoft.com/office/drawing/2014/main" id="{010510F8-2323-432E-891B-FB005F0D273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6" name="">
            <a:extLst xmlns:a="http://schemas.openxmlformats.org/drawingml/2006/main">
              <a:ext uri="{FF2B5EF4-FFF2-40B4-BE49-F238E27FC236}">
                <a16:creationId xmlns:a16="http://schemas.microsoft.com/office/drawing/2014/main" id="{3C14E0D4-13C7-4AEE-8B99-B8799B5441E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42</a:t>
            </a:r>
          </a:p>
        </p:txBody>
      </p:sp>
      <p:sp>
        <p:nvSpPr>
          <p:cNvPr id="7" name="">
            <a:extLst xmlns:a="http://schemas.openxmlformats.org/drawingml/2006/main">
              <a:ext uri="{FF2B5EF4-FFF2-40B4-BE49-F238E27FC236}">
                <a16:creationId xmlns:a16="http://schemas.microsoft.com/office/drawing/2014/main" id="{70548252-9E4C-4773-AAF7-B85DB2FC7701}"/>
              </a:ext>
            </a:extLst>
          </p:cNvPr>
          <p:cNvSpPr>
            <a:spLocks xmlns:a="http://schemas.openxmlformats.org/drawingml/2006/main" noGrp="1"/>
          </p:cNvSpPr>
          <p:nvPr/>
        </p:nvSpPr>
        <p:spPr>
          <a:xfrm xmlns:a="http://schemas.openxmlformats.org/drawingml/2006/main">
            <a:off x="895350" y="1809750"/>
            <a:ext cx="101917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Palpate and select veins on a task trainer</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Perform the complete insertion sequence without contamination</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Discontinue the catheter and verify that it remains intact</a:t>
            </a:r>
          </a:p>
        </p:txBody>
      </p:sp>
      <p:sp>
        <p:nvSpPr>
          <p:cNvPr id="8" name="">
            <a:extLst xmlns:a="http://schemas.openxmlformats.org/drawingml/2006/main">
              <a:ext uri="{FF2B5EF4-FFF2-40B4-BE49-F238E27FC236}">
                <a16:creationId xmlns:a16="http://schemas.microsoft.com/office/drawing/2014/main" id="{8997D397-E630-41FE-BC50-2E9DF233CC26}"/>
              </a:ext>
            </a:extLst>
          </p:cNvPr>
          <p:cNvSpPr>
            <a:spLocks xmlns:a="http://schemas.openxmlformats.org/drawingml/2006/main" noGrp="1"/>
          </p:cNvSpPr>
          <p:nvPr/>
        </p:nvSpPr>
        <p:spPr>
          <a:xfrm xmlns:a="http://schemas.openxmlformats.org/drawingml/2006/main">
            <a:off x="895350" y="5334000"/>
            <a:ext cx="10191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B94F3D"/>
                </a:solidFill>
                <a:latin typeface="Helvetica Neue"/>
                <a:ea typeface="Helvetica Neue"/>
                <a:cs typeface="Helvetica Neue"/>
              </a:defRPr>
            </a:defPPr>
            <a:lvl1pPr>
              <a:defRPr sz="1650" b="1">
                <a:solidFill>
                  <a:srgbClr val="B94F3D"/>
                </a:solidFill>
                <a:latin typeface="Helvetica Neue"/>
                <a:ea typeface="Helvetica Neue"/>
                <a:cs typeface="Helvetica Neue"/>
              </a:defRPr>
            </a:lvl1pPr>
            <a:lvl2pPr>
              <a:defRPr sz="1650" b="1">
                <a:solidFill>
                  <a:srgbClr val="B94F3D"/>
                </a:solidFill>
                <a:latin typeface="Helvetica Neue"/>
                <a:ea typeface="Helvetica Neue"/>
                <a:cs typeface="Helvetica Neue"/>
              </a:defRPr>
            </a:lvl2pPr>
            <a:lvl3pPr>
              <a:defRPr sz="1650" b="1">
                <a:solidFill>
                  <a:srgbClr val="B94F3D"/>
                </a:solidFill>
                <a:latin typeface="Helvetica Neue"/>
                <a:ea typeface="Helvetica Neue"/>
                <a:cs typeface="Helvetica Neue"/>
              </a:defRPr>
            </a:lvl3pPr>
            <a:lvl4pPr>
              <a:defRPr sz="1650" b="1">
                <a:solidFill>
                  <a:srgbClr val="B94F3D"/>
                </a:solidFill>
                <a:latin typeface="Helvetica Neue"/>
                <a:ea typeface="Helvetica Neue"/>
                <a:cs typeface="Helvetica Neue"/>
              </a:defRPr>
            </a:lvl4pPr>
            <a:lvl5pPr>
              <a:defRPr sz="1650" b="1">
                <a:solidFill>
                  <a:srgbClr val="B94F3D"/>
                </a:solidFill>
                <a:latin typeface="Helvetica Neue"/>
                <a:ea typeface="Helvetica Neue"/>
                <a:cs typeface="Helvetica Neue"/>
              </a:defRPr>
            </a:lvl5pPr>
            <a:lvl6pPr>
              <a:defRPr sz="1650" b="1">
                <a:solidFill>
                  <a:srgbClr val="B94F3D"/>
                </a:solidFill>
                <a:latin typeface="Helvetica Neue"/>
                <a:ea typeface="Helvetica Neue"/>
                <a:cs typeface="Helvetica Neue"/>
              </a:defRPr>
            </a:lvl6pPr>
            <a:lvl7pPr>
              <a:defRPr sz="1650" b="1">
                <a:solidFill>
                  <a:srgbClr val="B94F3D"/>
                </a:solidFill>
                <a:latin typeface="Helvetica Neue"/>
                <a:ea typeface="Helvetica Neue"/>
                <a:cs typeface="Helvetica Neue"/>
              </a:defRPr>
            </a:lvl7pPr>
            <a:lvl8pPr>
              <a:defRPr sz="1650" b="1">
                <a:solidFill>
                  <a:srgbClr val="B94F3D"/>
                </a:solidFill>
                <a:latin typeface="Helvetica Neue"/>
                <a:ea typeface="Helvetica Neue"/>
                <a:cs typeface="Helvetica Neue"/>
              </a:defRPr>
            </a:lvl8pPr>
            <a:lvl9pPr>
              <a:defRPr sz="1650" b="1">
                <a:solidFill>
                  <a:srgbClr val="B94F3D"/>
                </a:solidFill>
                <a:latin typeface="Helvetica Neue"/>
                <a:ea typeface="Helvetica Neue"/>
                <a:cs typeface="Helvetica Neue"/>
              </a:defRPr>
            </a:lvl9pPr>
          </a:lstStyle>
          <a:p xmlns:a="http://schemas.openxmlformats.org/drawingml/2006/main">
            <a:pPr>
              <a:defRPr sz="1650" b="1">
                <a:solidFill>
                  <a:srgbClr val="B94F3D"/>
                </a:solidFill>
                <a:latin typeface="Helvetica Neue"/>
                <a:ea typeface="Helvetica Neue"/>
                <a:cs typeface="Helvetica Neue"/>
              </a:defRPr>
            </a:pPr>
            <a:r>
              <a:rPr sz="1650" b="1">
                <a:solidFill>
                  <a:srgbClr val="B94F3D"/>
                </a:solidFill>
                <a:latin typeface="Helvetica Neue"/>
                <a:ea typeface="Helvetica Neue"/>
                <a:cs typeface="Helvetica Neue"/>
              </a:rPr>
              <a:t>Complete the matching online lesson and assessment before the in-person laboratory.</a:t>
            </a:r>
          </a:p>
        </p:txBody>
      </p:sp>
    </p:spTree>
    <p:extLst>
      <p:ext uri="{BB962C8B-B14F-4D97-AF65-F5344CB8AC3E}">
        <p14:creationId xmlns:p14="http://schemas.microsoft.com/office/powerpoint/2010/main" val="1782955517"/>
      </p:ext>
    </p:extLst>
  </p:cSld>
</p:sld>
</file>

<file path=ppt/slides/slide4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ED354C0-29BA-4AB4-A27D-EA4D5BEF8850}"/>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AD9EB998-106A-48A7-8C3F-3D3410E8D04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BBF730AB-4349-465A-8C1E-09862A665A87}"/>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89A5B9AD-FC93-49AD-85F4-AF65B7BBD40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Key points</a:t>
            </a:r>
          </a:p>
        </p:txBody>
      </p:sp>
      <p:sp>
        <p:nvSpPr>
          <p:cNvPr id="5" name="">
            <a:extLst xmlns:a="http://schemas.openxmlformats.org/drawingml/2006/main">
              <a:ext uri="{FF2B5EF4-FFF2-40B4-BE49-F238E27FC236}">
                <a16:creationId xmlns:a16="http://schemas.microsoft.com/office/drawing/2014/main" id="{78C08493-4A0A-4857-ABFB-59E07D37A4E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6" name="">
            <a:extLst xmlns:a="http://schemas.openxmlformats.org/drawingml/2006/main">
              <a:ext uri="{FF2B5EF4-FFF2-40B4-BE49-F238E27FC236}">
                <a16:creationId xmlns:a16="http://schemas.microsoft.com/office/drawing/2014/main" id="{FD466C11-BEB2-4558-9518-62C301D8083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43</a:t>
            </a:r>
          </a:p>
        </p:txBody>
      </p:sp>
      <p:sp>
        <p:nvSpPr>
          <p:cNvPr id="7" name="">
            <a:extLst xmlns:a="http://schemas.openxmlformats.org/drawingml/2006/main">
              <a:ext uri="{FF2B5EF4-FFF2-40B4-BE49-F238E27FC236}">
                <a16:creationId xmlns:a16="http://schemas.microsoft.com/office/drawing/2014/main" id="{0E115EF7-9E36-4255-9C84-09B487B92102}"/>
              </a:ext>
            </a:extLst>
          </p:cNvPr>
          <p:cNvSpPr>
            <a:spLocks xmlns:a="http://schemas.openxmlformats.org/drawingml/2006/main" noGrp="1"/>
          </p:cNvSpPr>
          <p:nvPr/>
        </p:nvSpPr>
        <p:spPr>
          <a:xfrm xmlns:a="http://schemas.openxmlformats.org/drawingml/2006/main">
            <a:off x="895350" y="1809750"/>
            <a:ext cx="10191750" cy="361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025">
                <a:solidFill>
                  <a:srgbClr val="13212D"/>
                </a:solidFill>
                <a:latin typeface="Helvetica Neue"/>
                <a:ea typeface="Helvetica Neue"/>
                <a:cs typeface="Helvetica Neue"/>
              </a:defRPr>
            </a:defPPr>
            <a:lvl1pPr>
              <a:defRPr sz="2025">
                <a:solidFill>
                  <a:srgbClr val="13212D"/>
                </a:solidFill>
                <a:latin typeface="Helvetica Neue"/>
                <a:ea typeface="Helvetica Neue"/>
                <a:cs typeface="Helvetica Neue"/>
              </a:defRPr>
            </a:lvl1pPr>
            <a:lvl2pPr>
              <a:defRPr sz="2025">
                <a:solidFill>
                  <a:srgbClr val="13212D"/>
                </a:solidFill>
                <a:latin typeface="Helvetica Neue"/>
                <a:ea typeface="Helvetica Neue"/>
                <a:cs typeface="Helvetica Neue"/>
              </a:defRPr>
            </a:lvl2pPr>
            <a:lvl3pPr>
              <a:defRPr sz="2025">
                <a:solidFill>
                  <a:srgbClr val="13212D"/>
                </a:solidFill>
                <a:latin typeface="Helvetica Neue"/>
                <a:ea typeface="Helvetica Neue"/>
                <a:cs typeface="Helvetica Neue"/>
              </a:defRPr>
            </a:lvl3pPr>
            <a:lvl4pPr>
              <a:defRPr sz="2025">
                <a:solidFill>
                  <a:srgbClr val="13212D"/>
                </a:solidFill>
                <a:latin typeface="Helvetica Neue"/>
                <a:ea typeface="Helvetica Neue"/>
                <a:cs typeface="Helvetica Neue"/>
              </a:defRPr>
            </a:lvl4pPr>
            <a:lvl5pPr>
              <a:defRPr sz="2025">
                <a:solidFill>
                  <a:srgbClr val="13212D"/>
                </a:solidFill>
                <a:latin typeface="Helvetica Neue"/>
                <a:ea typeface="Helvetica Neue"/>
                <a:cs typeface="Helvetica Neue"/>
              </a:defRPr>
            </a:lvl5pPr>
            <a:lvl6pPr>
              <a:defRPr sz="2025">
                <a:solidFill>
                  <a:srgbClr val="13212D"/>
                </a:solidFill>
                <a:latin typeface="Helvetica Neue"/>
                <a:ea typeface="Helvetica Neue"/>
                <a:cs typeface="Helvetica Neue"/>
              </a:defRPr>
            </a:lvl6pPr>
            <a:lvl7pPr>
              <a:defRPr sz="2025">
                <a:solidFill>
                  <a:srgbClr val="13212D"/>
                </a:solidFill>
                <a:latin typeface="Helvetica Neue"/>
                <a:ea typeface="Helvetica Neue"/>
                <a:cs typeface="Helvetica Neue"/>
              </a:defRPr>
            </a:lvl7pPr>
            <a:lvl8pPr>
              <a:defRPr sz="2025">
                <a:solidFill>
                  <a:srgbClr val="13212D"/>
                </a:solidFill>
                <a:latin typeface="Helvetica Neue"/>
                <a:ea typeface="Helvetica Neue"/>
                <a:cs typeface="Helvetica Neue"/>
              </a:defRPr>
            </a:lvl8pPr>
            <a:lvl9pPr>
              <a:defRPr sz="20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Select an appropriate peripheral vein and catheter</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Perform hand hygiene, prepare and position the patient, apply the tourniquet, cleanse the site with the approved antiseptic, let it dry, stabilize the vein, observe flashback, thread the catheter, and activate sharps protection.</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Cool swelling suggests infiltration. Pain, warmth, redness, or a venous cord suggests phlebitis. Burning or tissue injury with a vesicant suggests extravasation. Stop unsafe therapy and follow the condition-specific protocol.</a:t>
            </a:r>
          </a:p>
        </p:txBody>
      </p:sp>
      <p:sp>
        <p:nvSpPr>
          <p:cNvPr id="8" name="">
            <a:extLst xmlns:a="http://schemas.openxmlformats.org/drawingml/2006/main">
              <a:ext uri="{FF2B5EF4-FFF2-40B4-BE49-F238E27FC236}">
                <a16:creationId xmlns:a16="http://schemas.microsoft.com/office/drawing/2014/main" id="{D1B37305-374C-41DB-BEDB-B7010DABF0E5}"/>
              </a:ext>
            </a:extLst>
          </p:cNvPr>
          <p:cNvSpPr>
            <a:spLocks xmlns:a="http://schemas.openxmlformats.org/drawingml/2006/main" noGrp="1"/>
          </p:cNvSpPr>
          <p:nvPr/>
        </p:nvSpPr>
        <p:spPr>
          <a:xfrm xmlns:a="http://schemas.openxmlformats.org/drawingml/2006/main">
            <a:off x="895350" y="5467350"/>
            <a:ext cx="10191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237B82"/>
                </a:solidFill>
                <a:latin typeface="Helvetica Neue"/>
                <a:ea typeface="Helvetica Neue"/>
                <a:cs typeface="Helvetica Neue"/>
              </a:defRPr>
            </a:defPPr>
            <a:lvl1pPr>
              <a:defRPr sz="1650" b="1">
                <a:solidFill>
                  <a:srgbClr val="237B82"/>
                </a:solidFill>
                <a:latin typeface="Helvetica Neue"/>
                <a:ea typeface="Helvetica Neue"/>
                <a:cs typeface="Helvetica Neue"/>
              </a:defRPr>
            </a:lvl1pPr>
            <a:lvl2pPr>
              <a:defRPr sz="1650" b="1">
                <a:solidFill>
                  <a:srgbClr val="237B82"/>
                </a:solidFill>
                <a:latin typeface="Helvetica Neue"/>
                <a:ea typeface="Helvetica Neue"/>
                <a:cs typeface="Helvetica Neue"/>
              </a:defRPr>
            </a:lvl2pPr>
            <a:lvl3pPr>
              <a:defRPr sz="1650" b="1">
                <a:solidFill>
                  <a:srgbClr val="237B82"/>
                </a:solidFill>
                <a:latin typeface="Helvetica Neue"/>
                <a:ea typeface="Helvetica Neue"/>
                <a:cs typeface="Helvetica Neue"/>
              </a:defRPr>
            </a:lvl3pPr>
            <a:lvl4pPr>
              <a:defRPr sz="1650" b="1">
                <a:solidFill>
                  <a:srgbClr val="237B82"/>
                </a:solidFill>
                <a:latin typeface="Helvetica Neue"/>
                <a:ea typeface="Helvetica Neue"/>
                <a:cs typeface="Helvetica Neue"/>
              </a:defRPr>
            </a:lvl4pPr>
            <a:lvl5pPr>
              <a:defRPr sz="1650" b="1">
                <a:solidFill>
                  <a:srgbClr val="237B82"/>
                </a:solidFill>
                <a:latin typeface="Helvetica Neue"/>
                <a:ea typeface="Helvetica Neue"/>
                <a:cs typeface="Helvetica Neue"/>
              </a:defRPr>
            </a:lvl5pPr>
            <a:lvl6pPr>
              <a:defRPr sz="1650" b="1">
                <a:solidFill>
                  <a:srgbClr val="237B82"/>
                </a:solidFill>
                <a:latin typeface="Helvetica Neue"/>
                <a:ea typeface="Helvetica Neue"/>
                <a:cs typeface="Helvetica Neue"/>
              </a:defRPr>
            </a:lvl6pPr>
            <a:lvl7pPr>
              <a:defRPr sz="1650" b="1">
                <a:solidFill>
                  <a:srgbClr val="237B82"/>
                </a:solidFill>
                <a:latin typeface="Helvetica Neue"/>
                <a:ea typeface="Helvetica Neue"/>
                <a:cs typeface="Helvetica Neue"/>
              </a:defRPr>
            </a:lvl7pPr>
            <a:lvl8pPr>
              <a:defRPr sz="1650" b="1">
                <a:solidFill>
                  <a:srgbClr val="237B82"/>
                </a:solidFill>
                <a:latin typeface="Helvetica Neue"/>
                <a:ea typeface="Helvetica Neue"/>
                <a:cs typeface="Helvetica Neue"/>
              </a:defRPr>
            </a:lvl8pPr>
            <a:lvl9pPr>
              <a:defRPr sz="1650" b="1">
                <a:solidFill>
                  <a:srgbClr val="237B82"/>
                </a:solidFill>
                <a:latin typeface="Helvetica Neue"/>
                <a:ea typeface="Helvetica Neue"/>
                <a:cs typeface="Helvetica Neue"/>
              </a:defRPr>
            </a:lvl9pPr>
          </a:lstStyle>
          <a:p xmlns:a="http://schemas.openxmlformats.org/drawingml/2006/main">
            <a:pPr>
              <a:defRPr sz="1650" b="1">
                <a:solidFill>
                  <a:srgbClr val="237B82"/>
                </a:solidFill>
                <a:latin typeface="Helvetica Neue"/>
                <a:ea typeface="Helvetica Neue"/>
                <a:cs typeface="Helvetica Neue"/>
              </a:defRPr>
            </a:pPr>
            <a:r>
              <a:rPr sz="1650" b="1">
                <a:solidFill>
                  <a:srgbClr val="237B82"/>
                </a:solidFill>
                <a:latin typeface="Helvetica Neue"/>
                <a:ea typeface="Helvetica Neue"/>
                <a:cs typeface="Helvetica Neue"/>
              </a:rPr>
              <a:t>Review the course lesson, complete the assessment, and bring questions to the live session.</a:t>
            </a:r>
          </a:p>
        </p:txBody>
      </p:sp>
    </p:spTree>
    <p:extLst>
      <p:ext uri="{BB962C8B-B14F-4D97-AF65-F5344CB8AC3E}">
        <p14:creationId xmlns:p14="http://schemas.microsoft.com/office/powerpoint/2010/main" val="47027937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2026-10-23T13:06:23.3510000Z</dcterms:created>
  <dcterms:modified xsi:type="dcterms:W3CDTF">2026-10-23T13:06:23.3510000Z</dcterms:modified>
</coreProperties>
</file>