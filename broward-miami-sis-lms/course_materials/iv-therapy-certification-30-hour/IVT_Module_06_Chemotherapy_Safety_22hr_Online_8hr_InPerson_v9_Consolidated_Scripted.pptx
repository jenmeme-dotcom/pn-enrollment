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4563f7ee39412a" /><Relationship Type="http://schemas.openxmlformats.org/officeDocument/2006/relationships/extended-properties" Target="/docProps/app.xml" Id="Re7738383100d4ba3" /><Relationship Type="http://schemas.openxmlformats.org/officeDocument/2006/relationships/officeDocument" Target="/ppt/presentation.xml" Id="R32c5ed6c392d452f" /></Relationships>
</file>

<file path=ppt/presentation.xml><?xml version="1.0" encoding="utf-8"?>
<p:presentation xmlns:p="http://schemas.openxmlformats.org/presentationml/2006/main">
  <p:sldMasterIdLst>
    <p:sldMasterId xmlns:r="http://schemas.openxmlformats.org/officeDocument/2006/relationships" id="2147483648" r:id="Rb5b98e348d794294"/>
  </p:sldMasterIdLst>
  <p:notesMasterIdLst>
    <p:notesMasterId xmlns:r="http://schemas.openxmlformats.org/officeDocument/2006/relationships" r:id="Rb82c7471788e4d98"/>
  </p:notesMasterIdLst>
  <p:sldIdLst>
    <p:sldId xmlns:r="http://schemas.openxmlformats.org/officeDocument/2006/relationships" id="256" r:id="Rb18af350c57446af"/>
    <p:sldId xmlns:r="http://schemas.openxmlformats.org/officeDocument/2006/relationships" id="257" r:id="R68fab27fcfec4ef9"/>
    <p:sldId xmlns:r="http://schemas.openxmlformats.org/officeDocument/2006/relationships" id="258" r:id="R9df0cc0d550d4608"/>
    <p:sldId xmlns:r="http://schemas.openxmlformats.org/officeDocument/2006/relationships" id="259" r:id="R274d20cc9d9b46c4"/>
    <p:sldId xmlns:r="http://schemas.openxmlformats.org/officeDocument/2006/relationships" id="260" r:id="R6a3d408351414404"/>
    <p:sldId xmlns:r="http://schemas.openxmlformats.org/officeDocument/2006/relationships" id="261" r:id="Rf2d232c23b6c4ef4"/>
    <p:sldId xmlns:r="http://schemas.openxmlformats.org/officeDocument/2006/relationships" id="262" r:id="Rafa80d64abd0475c"/>
    <p:sldId xmlns:r="http://schemas.openxmlformats.org/officeDocument/2006/relationships" id="263" r:id="Rd428cb5367554d46"/>
    <p:sldId xmlns:r="http://schemas.openxmlformats.org/officeDocument/2006/relationships" id="264" r:id="R0dbf01b458624f1b"/>
    <p:sldId xmlns:r="http://schemas.openxmlformats.org/officeDocument/2006/relationships" id="265" r:id="Rd82551849eff4994"/>
    <p:sldId xmlns:r="http://schemas.openxmlformats.org/officeDocument/2006/relationships" id="266" r:id="R61fb3a903efe4cea"/>
    <p:sldId xmlns:r="http://schemas.openxmlformats.org/officeDocument/2006/relationships" id="267" r:id="R466fe6af99ac448b"/>
    <p:sldId xmlns:r="http://schemas.openxmlformats.org/officeDocument/2006/relationships" id="268" r:id="R1c9154b00ed54ccb"/>
    <p:sldId xmlns:r="http://schemas.openxmlformats.org/officeDocument/2006/relationships" id="269" r:id="Rb8ab1e0c2da443e1"/>
    <p:sldId xmlns:r="http://schemas.openxmlformats.org/officeDocument/2006/relationships" id="270" r:id="R8f8500e51deb4754"/>
    <p:sldId xmlns:r="http://schemas.openxmlformats.org/officeDocument/2006/relationships" id="271" r:id="Rbf295f86dc064f42"/>
    <p:sldId xmlns:r="http://schemas.openxmlformats.org/officeDocument/2006/relationships" id="272" r:id="R633fd05ec7ee49f4"/>
    <p:sldId xmlns:r="http://schemas.openxmlformats.org/officeDocument/2006/relationships" id="273" r:id="Rbc92541585424782"/>
    <p:sldId xmlns:r="http://schemas.openxmlformats.org/officeDocument/2006/relationships" id="274" r:id="R5b319c44aea74715"/>
    <p:sldId xmlns:r="http://schemas.openxmlformats.org/officeDocument/2006/relationships" id="275" r:id="R045e1d6e18bc4f15"/>
    <p:sldId xmlns:r="http://schemas.openxmlformats.org/officeDocument/2006/relationships" id="276" r:id="R06febdf8d5ab455a"/>
    <p:sldId xmlns:r="http://schemas.openxmlformats.org/officeDocument/2006/relationships" id="277" r:id="Rf45f5ea12f7a442b"/>
    <p:sldId xmlns:r="http://schemas.openxmlformats.org/officeDocument/2006/relationships" id="278" r:id="R6108bfadd5f74ae7"/>
    <p:sldId xmlns:r="http://schemas.openxmlformats.org/officeDocument/2006/relationships" id="279" r:id="Rce8f72b94d0740a8"/>
    <p:sldId xmlns:r="http://schemas.openxmlformats.org/officeDocument/2006/relationships" id="280" r:id="Rf00a057d8c284124"/>
    <p:sldId xmlns:r="http://schemas.openxmlformats.org/officeDocument/2006/relationships" id="281" r:id="Ra359717dd12e49b6"/>
    <p:sldId xmlns:r="http://schemas.openxmlformats.org/officeDocument/2006/relationships" id="282" r:id="R62859138ff7a43c0"/>
    <p:sldId xmlns:r="http://schemas.openxmlformats.org/officeDocument/2006/relationships" id="283" r:id="Rf2ff954190f44cfb"/>
    <p:sldId xmlns:r="http://schemas.openxmlformats.org/officeDocument/2006/relationships" id="284" r:id="Rc6177c18616c4350"/>
    <p:sldId xmlns:r="http://schemas.openxmlformats.org/officeDocument/2006/relationships" id="285" r:id="R02b1f94d27d347ca"/>
    <p:sldId xmlns:r="http://schemas.openxmlformats.org/officeDocument/2006/relationships" id="286" r:id="Re2dd1334c8d74fce"/>
    <p:sldId xmlns:r="http://schemas.openxmlformats.org/officeDocument/2006/relationships" id="287" r:id="Rdd72fa880bd243f5"/>
    <p:sldId xmlns:r="http://schemas.openxmlformats.org/officeDocument/2006/relationships" id="288" r:id="Rdee6cb7f01214d21"/>
    <p:sldId xmlns:r="http://schemas.openxmlformats.org/officeDocument/2006/relationships" id="289" r:id="R8f4aaed8be614a8e"/>
    <p:sldId xmlns:r="http://schemas.openxmlformats.org/officeDocument/2006/relationships" id="290" r:id="R8f5da77a73ed4950"/>
    <p:sldId xmlns:r="http://schemas.openxmlformats.org/officeDocument/2006/relationships" id="291" r:id="Ra469aff65a774a59"/>
    <p:sldId xmlns:r="http://schemas.openxmlformats.org/officeDocument/2006/relationships" id="292" r:id="R5c795244c41445a7"/>
    <p:sldId xmlns:r="http://schemas.openxmlformats.org/officeDocument/2006/relationships" id="293" r:id="R7ce7d589c53b458f"/>
    <p:sldId xmlns:r="http://schemas.openxmlformats.org/officeDocument/2006/relationships" id="294" r:id="R06a8e27c4b624f9a"/>
    <p:sldId xmlns:r="http://schemas.openxmlformats.org/officeDocument/2006/relationships" id="295" r:id="R9731b6a71e9b4e7a"/>
    <p:sldId xmlns:r="http://schemas.openxmlformats.org/officeDocument/2006/relationships" id="296" r:id="R1788ed297ad146fc"/>
    <p:sldId xmlns:r="http://schemas.openxmlformats.org/officeDocument/2006/relationships" id="297" r:id="R0ae4dcbd4a824c46"/>
    <p:sldId xmlns:r="http://schemas.openxmlformats.org/officeDocument/2006/relationships" id="298" r:id="R5fe54a96ca534507"/>
    <p:sldId xmlns:r="http://schemas.openxmlformats.org/officeDocument/2006/relationships" id="299" r:id="Red804355f8c648e1"/>
    <p:sldId xmlns:r="http://schemas.openxmlformats.org/officeDocument/2006/relationships" id="300" r:id="Rd8426a290e0845cf"/>
    <p:sldId xmlns:r="http://schemas.openxmlformats.org/officeDocument/2006/relationships" id="301" r:id="R3684b75ba2304316"/>
    <p:sldId xmlns:r="http://schemas.openxmlformats.org/officeDocument/2006/relationships" id="302" r:id="Re912f71180d7431f"/>
    <p:sldId xmlns:r="http://schemas.openxmlformats.org/officeDocument/2006/relationships" id="303" r:id="Rd73dc2d4450b4fd9"/>
    <p:sldId xmlns:r="http://schemas.openxmlformats.org/officeDocument/2006/relationships" id="304" r:id="R4075856432ca46bd"/>
    <p:sldId xmlns:r="http://schemas.openxmlformats.org/officeDocument/2006/relationships" id="305" r:id="Raa993fdb8e294a59"/>
    <p:sldId xmlns:r="http://schemas.openxmlformats.org/officeDocument/2006/relationships" id="306" r:id="Rfe4c1e6f829443f7"/>
    <p:sldId xmlns:r="http://schemas.openxmlformats.org/officeDocument/2006/relationships" id="307" r:id="R2aa394ef290c4b97"/>
    <p:sldId xmlns:r="http://schemas.openxmlformats.org/officeDocument/2006/relationships" id="308" r:id="R742f5f9b6fe94778"/>
    <p:sldId xmlns:r="http://schemas.openxmlformats.org/officeDocument/2006/relationships" id="309" r:id="Rf5e2bd602ec2441d"/>
    <p:sldId xmlns:r="http://schemas.openxmlformats.org/officeDocument/2006/relationships" id="310" r:id="R0b1adae3b6004e71"/>
    <p:sldId xmlns:r="http://schemas.openxmlformats.org/officeDocument/2006/relationships" id="311" r:id="R5a77e4895c494d62"/>
    <p:sldId xmlns:r="http://schemas.openxmlformats.org/officeDocument/2006/relationships" id="312" r:id="R60d92868eb2646ec"/>
    <p:sldId xmlns:r="http://schemas.openxmlformats.org/officeDocument/2006/relationships" id="313" r:id="Rab45c44018014339"/>
    <p:sldId xmlns:r="http://schemas.openxmlformats.org/officeDocument/2006/relationships" id="314" r:id="Re38a9979714e4cb2"/>
    <p:sldId xmlns:r="http://schemas.openxmlformats.org/officeDocument/2006/relationships" id="315" r:id="Rc87ecbd8372d4fb6"/>
    <p:sldId xmlns:r="http://schemas.openxmlformats.org/officeDocument/2006/relationships" id="316" r:id="R76b85eed0fd5449f"/>
    <p:sldId xmlns:r="http://schemas.openxmlformats.org/officeDocument/2006/relationships" id="317" r:id="R0248b1b2aacb4e55"/>
    <p:sldId xmlns:r="http://schemas.openxmlformats.org/officeDocument/2006/relationships" id="318" r:id="R34cb0ff49f7e4c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8d42dd327446d8" /><Relationship Type="http://schemas.openxmlformats.org/officeDocument/2006/relationships/slideMaster" Target="/ppt/slideMasters/slideMaster1.xml" Id="Rb5b98e348d794294" /><Relationship Type="http://schemas.openxmlformats.org/officeDocument/2006/relationships/notesMaster" Target="/ppt/notesMasters/notesMaster1.xml" Id="Rb82c7471788e4d98" /><Relationship Type="http://schemas.openxmlformats.org/officeDocument/2006/relationships/presProps" Target="/ppt/presProps.xml" Id="Rb3c92b7ee2c2473c" /><Relationship Type="http://schemas.openxmlformats.org/officeDocument/2006/relationships/tableStyles" Target="/ppt/tableStyles.xml" Id="R283673ca25354d85" /><Relationship Type="http://schemas.openxmlformats.org/officeDocument/2006/relationships/slide" Target="/ppt/slides/slide1.xml" Id="Rb18af350c57446af" /><Relationship Type="http://schemas.openxmlformats.org/officeDocument/2006/relationships/slide" Target="/ppt/slides/slide2.xml" Id="R68fab27fcfec4ef9" /><Relationship Type="http://schemas.openxmlformats.org/officeDocument/2006/relationships/slide" Target="/ppt/slides/slide3.xml" Id="R9df0cc0d550d4608" /><Relationship Type="http://schemas.openxmlformats.org/officeDocument/2006/relationships/slide" Target="/ppt/slides/slide4.xml" Id="R274d20cc9d9b46c4" /><Relationship Type="http://schemas.openxmlformats.org/officeDocument/2006/relationships/slide" Target="/ppt/slides/slide5.xml" Id="R6a3d408351414404" /><Relationship Type="http://schemas.openxmlformats.org/officeDocument/2006/relationships/slide" Target="/ppt/slides/slide6.xml" Id="Rf2d232c23b6c4ef4" /><Relationship Type="http://schemas.openxmlformats.org/officeDocument/2006/relationships/slide" Target="/ppt/slides/slide7.xml" Id="Rafa80d64abd0475c" /><Relationship Type="http://schemas.openxmlformats.org/officeDocument/2006/relationships/slide" Target="/ppt/slides/slide8.xml" Id="Rd428cb5367554d46" /><Relationship Type="http://schemas.openxmlformats.org/officeDocument/2006/relationships/slide" Target="/ppt/slides/slide9.xml" Id="R0dbf01b458624f1b" /><Relationship Type="http://schemas.openxmlformats.org/officeDocument/2006/relationships/slide" Target="/ppt/slides/slide10.xml" Id="Rd82551849eff4994" /><Relationship Type="http://schemas.openxmlformats.org/officeDocument/2006/relationships/slide" Target="/ppt/slides/slide11.xml" Id="R61fb3a903efe4cea" /><Relationship Type="http://schemas.openxmlformats.org/officeDocument/2006/relationships/slide" Target="/ppt/slides/slide12.xml" Id="R466fe6af99ac448b" /><Relationship Type="http://schemas.openxmlformats.org/officeDocument/2006/relationships/slide" Target="/ppt/slides/slide13.xml" Id="R1c9154b00ed54ccb" /><Relationship Type="http://schemas.openxmlformats.org/officeDocument/2006/relationships/slide" Target="/ppt/slides/slide14.xml" Id="Rb8ab1e0c2da443e1" /><Relationship Type="http://schemas.openxmlformats.org/officeDocument/2006/relationships/slide" Target="/ppt/slides/slide15.xml" Id="R8f8500e51deb4754" /><Relationship Type="http://schemas.openxmlformats.org/officeDocument/2006/relationships/slide" Target="/ppt/slides/slide16.xml" Id="Rbf295f86dc064f42" /><Relationship Type="http://schemas.openxmlformats.org/officeDocument/2006/relationships/slide" Target="/ppt/slides/slide17.xml" Id="R633fd05ec7ee49f4" /><Relationship Type="http://schemas.openxmlformats.org/officeDocument/2006/relationships/slide" Target="/ppt/slides/slide18.xml" Id="Rbc92541585424782" /><Relationship Type="http://schemas.openxmlformats.org/officeDocument/2006/relationships/slide" Target="/ppt/slides/slide19.xml" Id="R5b319c44aea74715" /><Relationship Type="http://schemas.openxmlformats.org/officeDocument/2006/relationships/slide" Target="/ppt/slides/slide20.xml" Id="R045e1d6e18bc4f15" /><Relationship Type="http://schemas.openxmlformats.org/officeDocument/2006/relationships/slide" Target="/ppt/slides/slide21.xml" Id="R06febdf8d5ab455a" /><Relationship Type="http://schemas.openxmlformats.org/officeDocument/2006/relationships/slide" Target="/ppt/slides/slide22.xml" Id="Rf45f5ea12f7a442b" /><Relationship Type="http://schemas.openxmlformats.org/officeDocument/2006/relationships/slide" Target="/ppt/slides/slide23.xml" Id="R6108bfadd5f74ae7" /><Relationship Type="http://schemas.openxmlformats.org/officeDocument/2006/relationships/slide" Target="/ppt/slides/slide24.xml" Id="Rce8f72b94d0740a8" /><Relationship Type="http://schemas.openxmlformats.org/officeDocument/2006/relationships/slide" Target="/ppt/slides/slide25.xml" Id="Rf00a057d8c284124" /><Relationship Type="http://schemas.openxmlformats.org/officeDocument/2006/relationships/slide" Target="/ppt/slides/slide26.xml" Id="Ra359717dd12e49b6" /><Relationship Type="http://schemas.openxmlformats.org/officeDocument/2006/relationships/slide" Target="/ppt/slides/slide27.xml" Id="R62859138ff7a43c0" /><Relationship Type="http://schemas.openxmlformats.org/officeDocument/2006/relationships/slide" Target="/ppt/slides/slide28.xml" Id="Rf2ff954190f44cfb" /><Relationship Type="http://schemas.openxmlformats.org/officeDocument/2006/relationships/slide" Target="/ppt/slides/slide29.xml" Id="Rc6177c18616c4350" /><Relationship Type="http://schemas.openxmlformats.org/officeDocument/2006/relationships/slide" Target="/ppt/slides/slide30.xml" Id="R02b1f94d27d347ca" /><Relationship Type="http://schemas.openxmlformats.org/officeDocument/2006/relationships/slide" Target="/ppt/slides/slide31.xml" Id="Re2dd1334c8d74fce" /><Relationship Type="http://schemas.openxmlformats.org/officeDocument/2006/relationships/slide" Target="/ppt/slides/slide32.xml" Id="Rdd72fa880bd243f5" /><Relationship Type="http://schemas.openxmlformats.org/officeDocument/2006/relationships/slide" Target="/ppt/slides/slide33.xml" Id="Rdee6cb7f01214d21" /><Relationship Type="http://schemas.openxmlformats.org/officeDocument/2006/relationships/slide" Target="/ppt/slides/slide34.xml" Id="R8f4aaed8be614a8e" /><Relationship Type="http://schemas.openxmlformats.org/officeDocument/2006/relationships/slide" Target="/ppt/slides/slide35.xml" Id="R8f5da77a73ed4950" /><Relationship Type="http://schemas.openxmlformats.org/officeDocument/2006/relationships/slide" Target="/ppt/slides/slide36.xml" Id="Ra469aff65a774a59" /><Relationship Type="http://schemas.openxmlformats.org/officeDocument/2006/relationships/slide" Target="/ppt/slides/slide37.xml" Id="R5c795244c41445a7" /><Relationship Type="http://schemas.openxmlformats.org/officeDocument/2006/relationships/slide" Target="/ppt/slides/slide38.xml" Id="R7ce7d589c53b458f" /><Relationship Type="http://schemas.openxmlformats.org/officeDocument/2006/relationships/slide" Target="/ppt/slides/slide39.xml" Id="R06a8e27c4b624f9a" /><Relationship Type="http://schemas.openxmlformats.org/officeDocument/2006/relationships/slide" Target="/ppt/slides/slide40.xml" Id="R9731b6a71e9b4e7a" /><Relationship Type="http://schemas.openxmlformats.org/officeDocument/2006/relationships/slide" Target="/ppt/slides/slide41.xml" Id="R1788ed297ad146fc" /><Relationship Type="http://schemas.openxmlformats.org/officeDocument/2006/relationships/slide" Target="/ppt/slides/slide42.xml" Id="R0ae4dcbd4a824c46" /><Relationship Type="http://schemas.openxmlformats.org/officeDocument/2006/relationships/slide" Target="/ppt/slides/slide43.xml" Id="R5fe54a96ca534507" /><Relationship Type="http://schemas.openxmlformats.org/officeDocument/2006/relationships/slide" Target="/ppt/slides/slide44.xml" Id="Red804355f8c648e1" /><Relationship Type="http://schemas.openxmlformats.org/officeDocument/2006/relationships/slide" Target="/ppt/slides/slide45.xml" Id="Rd8426a290e0845cf" /><Relationship Type="http://schemas.openxmlformats.org/officeDocument/2006/relationships/slide" Target="/ppt/slides/slide46.xml" Id="R3684b75ba2304316" /><Relationship Type="http://schemas.openxmlformats.org/officeDocument/2006/relationships/slide" Target="/ppt/slides/slide47.xml" Id="Re912f71180d7431f" /><Relationship Type="http://schemas.openxmlformats.org/officeDocument/2006/relationships/slide" Target="/ppt/slides/slide48.xml" Id="Rd73dc2d4450b4fd9" /><Relationship Type="http://schemas.openxmlformats.org/officeDocument/2006/relationships/slide" Target="/ppt/slides/slide49.xml" Id="R4075856432ca46bd" /><Relationship Type="http://schemas.openxmlformats.org/officeDocument/2006/relationships/slide" Target="/ppt/slides/slide50.xml" Id="Raa993fdb8e294a59" /><Relationship Type="http://schemas.openxmlformats.org/officeDocument/2006/relationships/slide" Target="/ppt/slides/slide51.xml" Id="Rfe4c1e6f829443f7" /><Relationship Type="http://schemas.openxmlformats.org/officeDocument/2006/relationships/slide" Target="/ppt/slides/slide52.xml" Id="R2aa394ef290c4b97" /><Relationship Type="http://schemas.openxmlformats.org/officeDocument/2006/relationships/slide" Target="/ppt/slides/slide53.xml" Id="R742f5f9b6fe94778" /><Relationship Type="http://schemas.openxmlformats.org/officeDocument/2006/relationships/slide" Target="/ppt/slides/slide54.xml" Id="Rf5e2bd602ec2441d" /><Relationship Type="http://schemas.openxmlformats.org/officeDocument/2006/relationships/slide" Target="/ppt/slides/slide55.xml" Id="R0b1adae3b6004e71" /><Relationship Type="http://schemas.openxmlformats.org/officeDocument/2006/relationships/slide" Target="/ppt/slides/slide56.xml" Id="R5a77e4895c494d62" /><Relationship Type="http://schemas.openxmlformats.org/officeDocument/2006/relationships/slide" Target="/ppt/slides/slide57.xml" Id="R60d92868eb2646ec" /><Relationship Type="http://schemas.openxmlformats.org/officeDocument/2006/relationships/slide" Target="/ppt/slides/slide58.xml" Id="Rab45c44018014339" /><Relationship Type="http://schemas.openxmlformats.org/officeDocument/2006/relationships/slide" Target="/ppt/slides/slide59.xml" Id="Re38a9979714e4cb2" /><Relationship Type="http://schemas.openxmlformats.org/officeDocument/2006/relationships/slide" Target="/ppt/slides/slide60.xml" Id="Rc87ecbd8372d4fb6" /><Relationship Type="http://schemas.openxmlformats.org/officeDocument/2006/relationships/slide" Target="/ppt/slides/slide61.xml" Id="R76b85eed0fd5449f" /><Relationship Type="http://schemas.openxmlformats.org/officeDocument/2006/relationships/slide" Target="/ppt/slides/slide62.xml" Id="R0248b1b2aacb4e55" /><Relationship Type="http://schemas.openxmlformats.org/officeDocument/2006/relationships/slide" Target="/ppt/slides/slide63.xml" Id="R34cb0ff49f7e4c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4b2f06869845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b29a684e184b3c" /><Relationship Type="http://schemas.openxmlformats.org/officeDocument/2006/relationships/notesMaster" Target="/ppt/notesMasters/notesMaster1.xml" Id="R0b3d304bdbd04c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e8a9b982fa4313" /><Relationship Type="http://schemas.openxmlformats.org/officeDocument/2006/relationships/notesMaster" Target="/ppt/notesMasters/notesMaster1.xml" Id="R4614df2c5cf442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703f5833524bf8" /><Relationship Type="http://schemas.openxmlformats.org/officeDocument/2006/relationships/notesMaster" Target="/ppt/notesMasters/notesMaster1.xml" Id="R449f88221fea4e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518313c16f4f69" /><Relationship Type="http://schemas.openxmlformats.org/officeDocument/2006/relationships/notesMaster" Target="/ppt/notesMasters/notesMaster1.xml" Id="R35f45848bd0841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4d822d2e8a4036" /><Relationship Type="http://schemas.openxmlformats.org/officeDocument/2006/relationships/notesMaster" Target="/ppt/notesMasters/notesMaster1.xml" Id="Rbafc6427b0f94b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6af13f785e4f1d" /><Relationship Type="http://schemas.openxmlformats.org/officeDocument/2006/relationships/notesMaster" Target="/ppt/notesMasters/notesMaster1.xml" Id="R96ce0df1b5724c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c8c11474ee4958" /><Relationship Type="http://schemas.openxmlformats.org/officeDocument/2006/relationships/notesMaster" Target="/ppt/notesMasters/notesMaster1.xml" Id="Rebc3b47835944c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e5c40c405f406c" /><Relationship Type="http://schemas.openxmlformats.org/officeDocument/2006/relationships/notesMaster" Target="/ppt/notesMasters/notesMaster1.xml" Id="R519fb52d27df40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029b4811484cd1" /><Relationship Type="http://schemas.openxmlformats.org/officeDocument/2006/relationships/notesMaster" Target="/ppt/notesMasters/notesMaster1.xml" Id="Rdfa5fef5d39841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0e407610b1471d" /><Relationship Type="http://schemas.openxmlformats.org/officeDocument/2006/relationships/notesMaster" Target="/ppt/notesMasters/notesMaster1.xml" Id="R2ec256e6115544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ede056188f43bd" /><Relationship Type="http://schemas.openxmlformats.org/officeDocument/2006/relationships/notesMaster" Target="/ppt/notesMasters/notesMaster1.xml" Id="Rb4c07779c60c4b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9b66f4fbc445b0" /><Relationship Type="http://schemas.openxmlformats.org/officeDocument/2006/relationships/notesMaster" Target="/ppt/notesMasters/notesMaster1.xml" Id="Rb2d6309eb7c245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16217da7474b46" /><Relationship Type="http://schemas.openxmlformats.org/officeDocument/2006/relationships/notesMaster" Target="/ppt/notesMasters/notesMaster1.xml" Id="Rdf0b41341eac41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e239a0f1b54a53" /><Relationship Type="http://schemas.openxmlformats.org/officeDocument/2006/relationships/notesMaster" Target="/ppt/notesMasters/notesMaster1.xml" Id="Rac726ba7e55f45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d93071007a478a" /><Relationship Type="http://schemas.openxmlformats.org/officeDocument/2006/relationships/notesMaster" Target="/ppt/notesMasters/notesMaster1.xml" Id="R8988f869d1b649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f1972ac59c49f2" /><Relationship Type="http://schemas.openxmlformats.org/officeDocument/2006/relationships/notesMaster" Target="/ppt/notesMasters/notesMaster1.xml" Id="R77f84fdf48eb45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5c1fe5041164961" /><Relationship Type="http://schemas.openxmlformats.org/officeDocument/2006/relationships/notesMaster" Target="/ppt/notesMasters/notesMaster1.xml" Id="R4e2398362db446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491d0123ea44bc" /><Relationship Type="http://schemas.openxmlformats.org/officeDocument/2006/relationships/notesMaster" Target="/ppt/notesMasters/notesMaster1.xml" Id="R124abbf7cece4f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706f2ec47e48f4" /><Relationship Type="http://schemas.openxmlformats.org/officeDocument/2006/relationships/notesMaster" Target="/ppt/notesMasters/notesMaster1.xml" Id="R7ecdd70adade43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9214234a0b49eb" /><Relationship Type="http://schemas.openxmlformats.org/officeDocument/2006/relationships/notesMaster" Target="/ppt/notesMasters/notesMaster1.xml" Id="Rc680c9ae50bc475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dbcfe4d1db4130" /><Relationship Type="http://schemas.openxmlformats.org/officeDocument/2006/relationships/notesMaster" Target="/ppt/notesMasters/notesMaster1.xml" Id="R746c49483f344b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9248ee7d7e40a3" /><Relationship Type="http://schemas.openxmlformats.org/officeDocument/2006/relationships/notesMaster" Target="/ppt/notesMasters/notesMaster1.xml" Id="R9d7069b86aa14d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c938e8512248f7" /><Relationship Type="http://schemas.openxmlformats.org/officeDocument/2006/relationships/notesMaster" Target="/ppt/notesMasters/notesMaster1.xml" Id="Rb2371b9092ae4d8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40902082e78403c" /><Relationship Type="http://schemas.openxmlformats.org/officeDocument/2006/relationships/notesMaster" Target="/ppt/notesMasters/notesMaster1.xml" Id="R5a8bdc43c1db49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e91225caadd4641" /><Relationship Type="http://schemas.openxmlformats.org/officeDocument/2006/relationships/notesMaster" Target="/ppt/notesMasters/notesMaster1.xml" Id="R39f4dc0247044a7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62d24f99d745c6" /><Relationship Type="http://schemas.openxmlformats.org/officeDocument/2006/relationships/notesMaster" Target="/ppt/notesMasters/notesMaster1.xml" Id="R537b7d489a734e6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494b6ec4092478d" /><Relationship Type="http://schemas.openxmlformats.org/officeDocument/2006/relationships/notesMaster" Target="/ppt/notesMasters/notesMaster1.xml" Id="Rb507e2be9d7143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f3e058f14a549fa" /><Relationship Type="http://schemas.openxmlformats.org/officeDocument/2006/relationships/notesMaster" Target="/ppt/notesMasters/notesMaster1.xml" Id="R0f53593c507746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1d42de0977b428e" /><Relationship Type="http://schemas.openxmlformats.org/officeDocument/2006/relationships/notesMaster" Target="/ppt/notesMasters/notesMaster1.xml" Id="R2178ae31b28048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a0247bccde7481b" /><Relationship Type="http://schemas.openxmlformats.org/officeDocument/2006/relationships/notesMaster" Target="/ppt/notesMasters/notesMaster1.xml" Id="R73216469fc1e46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6ff150f6584aff" /><Relationship Type="http://schemas.openxmlformats.org/officeDocument/2006/relationships/notesMaster" Target="/ppt/notesMasters/notesMaster1.xml" Id="R3028f9ec884b43f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8f59a2579a24814" /><Relationship Type="http://schemas.openxmlformats.org/officeDocument/2006/relationships/notesMaster" Target="/ppt/notesMasters/notesMaster1.xml" Id="Rf04433e682a04f8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cfc4df3d7494051" /><Relationship Type="http://schemas.openxmlformats.org/officeDocument/2006/relationships/notesMaster" Target="/ppt/notesMasters/notesMaster1.xml" Id="R1be78a2db44b4af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fef3004b0e4010" /><Relationship Type="http://schemas.openxmlformats.org/officeDocument/2006/relationships/notesMaster" Target="/ppt/notesMasters/notesMaster1.xml" Id="Rfd60b105c41f469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a836bfca361443c" /><Relationship Type="http://schemas.openxmlformats.org/officeDocument/2006/relationships/notesMaster" Target="/ppt/notesMasters/notesMaster1.xml" Id="Re5a7c46e8f1549b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08281b1c92b40b7" /><Relationship Type="http://schemas.openxmlformats.org/officeDocument/2006/relationships/notesMaster" Target="/ppt/notesMasters/notesMaster1.xml" Id="Rd5b8f31ec1fc41d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6994a9172f44c4e" /><Relationship Type="http://schemas.openxmlformats.org/officeDocument/2006/relationships/notesMaster" Target="/ppt/notesMasters/notesMaster1.xml" Id="R135892e24c9a49d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0d3b814d2744697" /><Relationship Type="http://schemas.openxmlformats.org/officeDocument/2006/relationships/notesMaster" Target="/ppt/notesMasters/notesMaster1.xml" Id="Rebf7e330976b472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443809517f44f26" /><Relationship Type="http://schemas.openxmlformats.org/officeDocument/2006/relationships/notesMaster" Target="/ppt/notesMasters/notesMaster1.xml" Id="Rdec9ff7ea2ab4c9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bda4d9256d84ba2" /><Relationship Type="http://schemas.openxmlformats.org/officeDocument/2006/relationships/notesMaster" Target="/ppt/notesMasters/notesMaster1.xml" Id="Ra6abec0a87e2484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e102f2f7eeb4d4d" /><Relationship Type="http://schemas.openxmlformats.org/officeDocument/2006/relationships/notesMaster" Target="/ppt/notesMasters/notesMaster1.xml" Id="R59c29c4f33db422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ef0bf7f3b244ccf" /><Relationship Type="http://schemas.openxmlformats.org/officeDocument/2006/relationships/notesMaster" Target="/ppt/notesMasters/notesMaster1.xml" Id="R5e0c48449bed45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49cbbb2307946b1" /><Relationship Type="http://schemas.openxmlformats.org/officeDocument/2006/relationships/notesMaster" Target="/ppt/notesMasters/notesMaster1.xml" Id="R98228cc2d59b4f0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864e4eed8d1426d" /><Relationship Type="http://schemas.openxmlformats.org/officeDocument/2006/relationships/notesMaster" Target="/ppt/notesMasters/notesMaster1.xml" Id="R71aec3be84ab45c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fd2f52c6ee64fef" /><Relationship Type="http://schemas.openxmlformats.org/officeDocument/2006/relationships/notesMaster" Target="/ppt/notesMasters/notesMaster1.xml" Id="R1a4a4c7297a24db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8405083d62f49bc" /><Relationship Type="http://schemas.openxmlformats.org/officeDocument/2006/relationships/notesMaster" Target="/ppt/notesMasters/notesMaster1.xml" Id="R784a78eac690413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2f81664faff4b3a" /><Relationship Type="http://schemas.openxmlformats.org/officeDocument/2006/relationships/notesMaster" Target="/ppt/notesMasters/notesMaster1.xml" Id="R35a691ae7bae42e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46f8c546f034410" /><Relationship Type="http://schemas.openxmlformats.org/officeDocument/2006/relationships/notesMaster" Target="/ppt/notesMasters/notesMaster1.xml" Id="R9008dfa60a314a9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bc09f8f60f040ae" /><Relationship Type="http://schemas.openxmlformats.org/officeDocument/2006/relationships/notesMaster" Target="/ppt/notesMasters/notesMaster1.xml" Id="Reeed53d5b63d47a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3965b335e574045" /><Relationship Type="http://schemas.openxmlformats.org/officeDocument/2006/relationships/notesMaster" Target="/ppt/notesMasters/notesMaster1.xml" Id="R963fa3cf5701461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ab549a27ad54267" /><Relationship Type="http://schemas.openxmlformats.org/officeDocument/2006/relationships/notesMaster" Target="/ppt/notesMasters/notesMaster1.xml" Id="Rf16348f8ad1f4ae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b850fe8fc2f4879" /><Relationship Type="http://schemas.openxmlformats.org/officeDocument/2006/relationships/notesMaster" Target="/ppt/notesMasters/notesMaster1.xml" Id="R08a10d842e2744b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939189d76404864" /><Relationship Type="http://schemas.openxmlformats.org/officeDocument/2006/relationships/notesMaster" Target="/ppt/notesMasters/notesMaster1.xml" Id="R3997599b0a1f417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7defddec037462e" /><Relationship Type="http://schemas.openxmlformats.org/officeDocument/2006/relationships/notesMaster" Target="/ppt/notesMasters/notesMaster1.xml" Id="R68eeeb57b7364f1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adf878a896f4d09" /><Relationship Type="http://schemas.openxmlformats.org/officeDocument/2006/relationships/notesMaster" Target="/ppt/notesMasters/notesMaster1.xml" Id="R1e5318e5aa5e423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4f56a969a25498e" /><Relationship Type="http://schemas.openxmlformats.org/officeDocument/2006/relationships/notesMaster" Target="/ppt/notesMasters/notesMaster1.xml" Id="R43cd50a25b5b41b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db5df4595494f43" /><Relationship Type="http://schemas.openxmlformats.org/officeDocument/2006/relationships/notesMaster" Target="/ppt/notesMasters/notesMaster1.xml" Id="R5e9d59e3ea9c4e6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32815d8f9014e19" /><Relationship Type="http://schemas.openxmlformats.org/officeDocument/2006/relationships/notesMaster" Target="/ppt/notesMasters/notesMaster1.xml" Id="Rce41df014be04c5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2505223b4454789" /><Relationship Type="http://schemas.openxmlformats.org/officeDocument/2006/relationships/notesMaster" Target="/ppt/notesMasters/notesMaster1.xml" Id="Rdfe0ea821bf6426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645b323c1d34a14" /><Relationship Type="http://schemas.openxmlformats.org/officeDocument/2006/relationships/notesMaster" Target="/ppt/notesMasters/notesMaster1.xml" Id="Rad88ccc3086e43a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ec61bc8250e44af" /><Relationship Type="http://schemas.openxmlformats.org/officeDocument/2006/relationships/notesMaster" Target="/ppt/notesMasters/notesMaster1.xml" Id="Rc7e3d326c5224a1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5276f041e344860" /><Relationship Type="http://schemas.openxmlformats.org/officeDocument/2006/relationships/notesMaster" Target="/ppt/notesMasters/notesMaster1.xml" Id="R64f68c1a623a40a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6311f418b364304" /><Relationship Type="http://schemas.openxmlformats.org/officeDocument/2006/relationships/notesMaster" Target="/ppt/notesMasters/notesMaster1.xml" Id="R886b218ab0fa43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1. First, Blood administration requires specific authorization, patient identification, consent verification, baseline assessment, product verification by qualified staff, dedicated compatible tubing/solution, close early monitoring, and prompt response to reactions. Next, If a reaction is suspected, stop the transfusion, maintain access as policy directs with compatible solution/new tubing, assess and support the patient, notify required personnel, recheck identification, and complete ordered specimens/documentation.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2. First, Parenteral nutrition contains concentrated nutrients and carries metabolic, infection, and line risks. Next, Verify the formulation and rate, use the required central or peripheral route, dedicated lumen and filter when ordered, strict asepsis, glucose/electrolyte monitoring, and never abruptly change therapy without direction.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Blood Components, Parenteral Nutrition, and High-Risk Therapy 3. First, High-alert and vesicant medications require current drug-specific guidance, appropriate access, blood return/patency checks when indicated, close monitoring, and immediate use of the facility extravasation or emergency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complications. First, Infiltration: cool, pale, swollen, uncomfortable site; slowed infusion. Next, Extravasation: vesicant leakage with pain, blistering, tissue injury, or altered sensation. Next, Phlebitis: pain, erythema, warmth, swelling, or palpable venous cord. Next, Hematoma/bleeding, occlusion, dislodgement, leakage, nerve injury, and arterial puncture.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complications. First, Allergic reaction/anaphylaxis, bloodstream infection/sepsis, fluid overload, speed shock, air embolism, catheter embolism, and transfusion reaction require rapid recognition.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General response. First, 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 Next, Never force-flush an occluded or compromised device.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First, MODULE SIX MODULE OBJECTIVES 1. Next, Answer written and verbal questions on the role of Chemotherapy as a treatment modality Discuss the need for and benefits of patient / family teaching before the initiation of Chemotherapy List the various Next, chemotherapeutic agents used in the treatment of different types of cancer and the nursing interventions appropriate for specific complications Name the other routes of administration for chemotherapeutic agents. Next, Discuss the psychosocial effects of chemotherapy on the patient and family and interventions to assist in this crisis Answer written and verbal questions about the actions of chemotherapeutic agents. Next, Discuss the side effects of these different agents and their corresponding nursing actions.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 continued. First, SECTION OUTLINE Overview and definition. Next, Cellular reproduction a. Next, Healthy cell cycle b. Next, Difference between healthy cell and cancer cell cycle. Next, Preparation and handling of chemotherapeutic agents.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 continued. First, Administration Classification of chemotherapeutic agents. Next, Side effects of agents Nursing interventions 8. Next, Patient Teaching Alternative Routes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First, The word "Chemotherapy" comes from two words that mean chemical and treatment. Next, In today's use the word Chemotherapy refers to the specific group of drugs that are used to treat the many forms of cancer. Next, Combination Chemotherapy - Cancer chemotherapy involves the use of several specialized drugs. Next, Adjuvant Chemotherapy - refers to the use of surgery and or radiation therapy to increase the probability of a successful treatment. Next, Adjuvant Chemotherapy may be added to the drug therapy to destroy any remaining cancerous cells that were not eliminated by chemotherapy agents..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 continued. First, Cellular Reproduction The reproductive cycle of an individual cell can provide the basic information for understanding how chemotherapy works. Next, The cell cycle includes the preparation that occurs before the cell divides, as well as the actual division itself. Next, This process is as follows: G 1 Phase, S Phase, G 2 Phase, M Phase, and Go Phase. Next, Different cells have a different rate of reproduction. Next, For example, mucous cells reproduce very rapidly compared to nerve cells.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 continued. First, As you read the descriptions below think of' the goal of chemotherapy in destroying cancerous cells and the side effects of damaging normal cells. Next, G-l Phase (Gap 1) - Formation of protein and RNA. Next, May take minutes to years. Next, S Phase (Synthesis) - Cell prepares for division, DNA is duplicated. Next, Time of preparation is 6 minutes to 50 years.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 continued. First, G-2 Phase (Gap 11) - The second period of RNA and protein synthesis, taking an average time of less than 6 hours. Next, M Phase (Mitosis) - Actual cell division takes place in this phase, the parent cell divides into two complete sibling cells. Next, Each sibling cell contains the exact amount and type of chromosomes as the parent. Next, This process takes about one hour. Next, *Prophase - The nuclear membrane breaks down and the chromosomes are dumped.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 continued. First, *Metaphase - The chromosomes line up in the middle of the cell *Anaphase - The chromosomes move to the poles of the cell (centrioles). Next, *Telophase- The actual cell division and production of two new cells. Next, Go Phase - The resting stage for the cell.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signaling cells to reproduce based upon need. Cancer cells do not respond to these. First, There are differences and similarities between the divisions of cancer cells and the bodies "normal" cells. Next, First the differences... Next, The body has a feedback mechanism for feedback signals and reproduce in an uncontrolled manner without regard for the bodies needs: Next, Also, instead of dividing into two cells, they may divide into several new cells at a time. Next, These rapidly growing cell masses soon begin pushing their way into the surrounding normal tissues.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signaling cells to reproduce based upon need. Cancer cells do not respond to these — continued. First, Cancer cells lack cohesiveness as well. Next, They may fragment or metastasize, and be carried to other parts of the body by the blood or lymph systems, where their growth may continue in an uncontrolled fashion at a new location. Next, Most of the similarities are in the process of the "cell cycle" itself. Next, All types of cells, normal and cancerous, go through the cell cycle. Next, The goal of chemotherapy is to kill cancerous cells and minimize the harm done to normal cells.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signaling cells to reproduce based upon need. Cancer cells do not respond to these — continued. First, To destroy the greatest number of cancer cells, chemotherapy agents are often given in combination. Next, They are also given at certain times and in precise doses to attack the cancerous cells either at specific phases of the cell cycle, or throughout the cell cycle. Next, These agents are very strong and damage to normal cells is inevitable. Next, Healthy cells that reproduce quickly are the ones that are most prone to injury, and result in the greatest severity of experienced side effects (i.e.: hair, mucous membranes). Next, There is a large variety of chemotherapeutic agents now in use.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signaling cells to reproduce based upon need. Cancer cells do not respond to these — continued. First, Many more are being discovered each year, as well as new uses for present agents. Next, Due to the high level of toxicity of these medications, knowing their method of action, dosages, side effects, mode of delivery, and methods to treat emergency reactions and side effects is essential. Next, A simple medication error can have disastrous consequences. Next, Preparation and Handling Everyone who comes in contact with chemotherapy drugs must be careful in their handling. Next, Mutagenic and carcinogenic reactions have been noted in people with prolonged or repeated exposure.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signaling cells to reproduce based upon need. Cancer cells do not respond to these — continued. First, Precautions to take include: drawing and mixing these agents under a special air flow hood, wearing a protective gown, gloves and mask, and adhering to strict biohazardous waste disposal procedures. Next, These wastes which are collected in biohazard secure containers, and then must be disposed of in accordance with city, state and federal regulations. Next, Administration Parental drugs, of which chemotherapy agents are but one type, are classified as vesicants, nonvesicants, and irritants. Next, This classification depends upon their potential to damage the body's tissues if they leave the vein (extravasate).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by peripheral IV catheters in a continuous drip or with a syringe.. First, Vesicants are extremely toxic to skin, subcutaneous tissue, and muscles and may cause necrosis with infiltration. Next, Use of these agents requires careful selection of the venous access site. Next, Once the site is obtained, the catheter requires strict observation and care to prevent complications. Next, Hourly site evaluations and blood return checks are necessary when vesicants are given as a continuous drip. Next, The patient must notify the staff of any abnormal feelings in the area if the IV catheter (i.e., pain, burning, itching, etc.).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by peripheral IV catheters in a continuous drip or with a syringe. — continued. First, Nonvesicants have little toxic effects on the soft tissue. Next, These drugs may be safely given by peripheral IV catheters in a continuous drip or with a syringe. Next, Irritants are less toxic than vesicants and may only cause burning or minimal inflammation in the area near the catheter. Next, They may be safely given by continuous infusion or by syringe. Next, Due to the irritating effect of all chemotherapy agents on the inner lining of veins, a long course of treatment will leave them very fragile.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by peripheral IV catheters in a continuous drip or with a syringe. — continued. First, This will increase the chance of extravasation and may necessitate the use of a central venous catheter or infusion port. Next, Even with a central line the need for careful evaluation of the catheter and surrounding tissue for extravasation remains. Next, Those who are predisposed to these problems are the elderly, patients on long-term chemotherapy, and diabetics. Next, The administration of chemotherapy always requires the three C's: Caution with handling, Careful administration technique, and Continuous observation of the site. Next, CLASSIFICATION OF CHEMOTHERAPY AGENTS (From Cancer Chemotherapy: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by peripheral IV catheters in a continuous drip or with a syringe. — continued. First, A Reference Guide by Linda Tenenbaum) Alkylating Agents Busulfan (Myleran) Chlorambucil (Leukeran) Cispolatin (Platinol) Cyclophosphamide (Cytoxan) Mechlorethamine (Mustargen) Melphalan (Alkeran) Dacarbazine (DTIC) Next, Ifosfamide (Ifex) Uracil Antibiotics Bleomycin (Blenoxane) Dactinomycin (Actinomycin) Daunorubicin (Cerubidin) Doxorubicin (Adriamycin) Mitomycin (Mutamycin)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Anti-Metabolite Agents. First, Cytarabine (Cytosar) 5-flurouracil (5-FU) - Methotrexate (Mexate) Nitroureas Agents Cormustine (BCNU) Lomustine (CCNU) Strep toxocin (Zanosar) Hormonal Agents Estrogens Glucocorticoids Progestational Agents Antiestrogens Next, Androgens Gonadotropin-releasing hormone analogs Common Side Effects Cancer chemotherapy agents cause a wide variety of side effects, minor to severe, that involve all of the major organ groups. Next, The use of combination and adjuvant therapies increases the probability of untoward side effects. Next, Several of the major side effects of chemotherapy in general, are described below. Next, When you are the nurse responsible for giving these agents, you need to know the specific negative actions of each individual drug, and combination of drugs.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Anti-Metabolite Agents — continued. First, A discussion of different nursing interventions that will assist your patients and families through some of the difficult side effects follows: Next, Neurological Sensory changes, headaches, neuropathies HEEN T Oral thrush, headaches, photophobia Respiratory Decreased immunity to upper respiratory infections and pneumonia Cardiac Dehydration, fluid imbalances, cardiac Next, toxicity GI Nausea, vomiting, diarrhea, stomatitis, reduced appetite, changes in food taste, constipation GU Hematuria, increased chance of infection, urine discoloration, renal failure GYN Dysmennorhia, yeast infections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agents with pain, swelling, and possible necrosis. First, Extremities Muscles mass loss (due to decreased food intake), weakness, and decreased mobility Skin Decreased turgor, bruising, redness, itching, increased pigmentation, and yeast infection, alopecia. Next, Extravasation of chemotherapy agents with pain, swelling, and possible necrosis Hematopoetic Myelosuppression (inhibition of the bone marrow, which produces blood cells, resulting in anemia, bleeding disorders, and Next, increased risk of infection) Psychosocial Withdrawal, regression, depression, possible suicidal. Next, Increased stress on family unit. Next, Damaged self-concept.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agents with pain, swelling, and possible necrosis — continued. First, Loss of sexual drive. Next, Nursing Interventions Nausea &amp; Vomiting Foods served cold or at room temperature are better tolerated. Next, Avoid sweet, salty, spicy, and odiferous foods A clear liquid diet for times of nausea, before and after every treatment. Next, Eat smaller meals in greater frequency Decrease unpleasant surroundings Do not bring food to nauseated patients, wait until they are ready to eat Provide distractions when possible, le: Next, games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agents with pain, swelling, and possible necrosis — continued. First, TV, reading Give anti-emetics as ordered, and as soon as needed Myelosuppression Use isolation techniques that protect patient form exposure to communicable pathogens Use universal precautions Support pre and post Next, treatment hydration (IV or PO) Assess for and report signs of anemia or bleeding Stomatitis Assess the oral cavity at least BID, and report infection Encourage oral intake Avoid wearing ill-fitting dentures Avoid Next, alcohol, tobacco, and foods that are hot or cold Use a soft toothbrush or sponge brush and stop flossing with bleeding or pain Use topical anesthetics if ordered prior to oral hygiene and eating to increase comfort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Encourage the patient to report any discomfort, swelling, or. First, Report quantity and quality of diarrhea and give anti-diarrhea medications as ordered (at regular intervals, not PRN) Extravasation Monitor insertion site frequently and carefully document Encourage the patient to report Next, any discomfort, swelling, or discoloration at the site If extravasation is suspected, stop the IV, do not remove the catheter, and notify the charge nurse immediately List of Common Vesicant / Irritant Drugs 1 Nitrogen Next, Mustard (Mechlorethamine) 2. Next, Mutamycin (Mitomycin C) Velban (Binblastine) Oncovin (Vincristine) Eldisine (Vindesine) VM-26 (Teniposide) Adriamycine (Doxorubicin) Cerubidine (Daunomycin, Daunorubicin, Rubidomycin 9. Next, Cosmegen(Dactinomycin, Actinomycin D) 10.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Encourage the patient to report any discomfort, swelling, or — continued. First, Bisantrene 11 Mithramycin (Mithracin Next, Plicamycin) 12 Dacarbazine (DTIC) Specific Drug Side Effects Adriamycin: Next, Urine turns reddish in color (not from blood) Next, Lasts one to two days after medication is given Bleomycin: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Encourage the patient to report any discomfort, swelling, or — continued. First, Adverse reactions include shaking, chills and febrile reactions. Next, A test dose is normally given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TEACHING. First, Many fears exist in our society about cancer and chemotherapy. Next, Your patient and their family will be very apprehensive about the disease as well as the treatment. Next, Whether those fears are grounded in fact, or based on misinformation, they must be addressed. Next, Although a caring and compassionate demeanor is required in oncology nursing, the single most effective tool for reducing apprehension is information. Next, Knowledge about the disease, the treatment, and expected outcomes will alleviate anxieties and aid in the formation of a cooperative and successful relationship with your patient and their treatment.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TEACHING — continued. First, The changes and challenges that occur during the course of cancer and treatment affect all areas of an individuals' life: psychological, social, sexual, spiritual, and physical. Next, Nothing is left untouched. Next, The education you provide should encompass all of these areas. Next, The following question and answer examples only touch briefly on some of the issues that you will encounter: Q. Next, Will the Chemotherapy be painful?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TEACHING — continued. First, Taking chemotherapeutic agents is no more painful than any other medication. Next, The pills are no worse, the injections hurt just like a normal injection, and the only discomfort you feel form the IV medications is from the insertion of the needle itself. Next, Will I lose my hair from having chemotherapy? Next, Hair cells grow more rapidly than most of the bodies other cells and this makes them similar to cancer cells which also reproduce rapidly. Next, Chemotherapy attacks fast growing cells more than slow ones, which is why the hair follicle is sometimes damaged.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TEACHING — continued. First, There are a number of interventions available to reduce this problem. Next, What can I do about the problems with my skin? Next, Each individual reacts differently to the medication. Next, Redness, itching, and dryness are possibilities that may occur. Next, Most skin problems can be treated with a variety of creams and lotions for comfort.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TEACHING — continued. First, How will I know if I'm getting an infection? Next, If you develop a new pain or discomfort, fever, temperature, chills, cough, urinary or gynecological problems, or other unusual symptoms, contact the physician or nurse.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puts a great stress on the body and increases its nutritional needs.. First, How important is drinking liquids? Next, Due to the action of some agents on the kidneys, it is very important to drink a greater amount of liquid than normal. Next, Why do I need to eat when I don't even want to look at food? Next, Chemotherapy puts a great stress on the body and increases its nutritional needs. Next, Fueling your body during this time is extremely important to your current sense of well being and to the success of the treatments.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puts a great stress on the body and increases its nutritional needs. — continued. First, These agents may increase of decrease your appetite, change your tastes, or affect it in other ways. Next, If your appetite decreases do things that help it, such as eat small frequent meals, make the meal a special event, reward yourself for eating, etc. Next, This is only a sampling of the questions that will arise. Next, Prepare yourself for this specialty area by making use of the number of written materials and educational opportunities that are available. Next, Alopecia is one of the more traumatic side effects of chemotherapy because of the damage it does to a person's body image.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puts a great stress on the body and increases its nutritional needs. — continued. First, This problem alone may discourage people from initiating or continuing treatment. Next, Here is a list of considerations when this issue arises, Patients may want to purchase a "hair prosthesis" before treatment to match their actual hair and wear it occasionally to get use to it. Next, Insurance may cover this cost. Next, They may want to shave their hair and get an earring to identify with an athletic person or other star and make that a positive change in their image. Next, Not that hair loss is usually temporary and differs in degree and duration.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puts a great stress on the body and increases its nutritional needs. — continued. First, The loss of other body hair is generally less severe, and hair often returns during or right after the completion of therapy though it may change slightly in color or texture. Next, Avoid the following which may add to hair damage: excessive brushing, hair dryers, hair sprays, coloring and bleaching, harsh shampoos. Next, Use mild protein based shampoos and conditioners. Next, Allow the person to talk about this important part of their self-image.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puts a great stress on the body and increases its nutritional needs. — continued. First, Alternative Routes There are a number of potential routes of administration for the different chemotherapy agents. Next, Though you may not be responsible for actually giving the medication, you will need to know about the specific agent, its action, method of delivery, side effects, and accompanying patient education factors.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Oral Route. First, Commonly used for certain agents. Next, Intramuscular or Subcutaneous Route Used infrequently. Next, Irritants and especially vesicants are avoided by this route. Next, If the route is used for other agents, note swelling, pain, discoloration, and bleeding at the puncture site. Next, Intravenous Route This is the most common route used due to the superior absorption of the agent.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Oral Route — continued. First, The most common complications are local irritation and phlebitis. Next, Observing and maintaining the IV site are critical, especially with vesicants. Next, The use of aseptic technique in changing solution, IV bags, adding medications, and changing tubing is essential as these persons may be immuno-compromised and extremely susceptible to the introduction of any bacteria. Next, Venous system access may be accomplished through a peripheral catheter, a central venous catheter (CVP or an Infusaport), or a peripherally inserted central venous catheter (PICC line). Next, Site care is even more critical with central lines.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Oral Route — continued. First, Intra-Arterial Route An agent injected into an artery proximal to a tumor or affected organ travels directly to that area before spreading to the rest of the body. Next, Higher concentrations are then achieved at the target area, with fewer side effects to the rest of the body. Next, The insertion is chosen careful and care includes maintaining catheter patency, bleeding, and infection. Next, Other Routes Intraperitoneal therapy is often used for ovarian and colon cancer. Next, A small catheter is inserted into the intraperitoneal cavity through an incision just below the umbilicus, and the agent then instilled.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Oral Route — continued. First, The intrapieural route is used for some forms of lung cancer. Next, A small tube is inserted, in a manner not unlike a chest tube, into the intrapicural space where the chemotherapy is then injected. Next, Intrathecal chemotherapy is injected into cerebrospinal fluid through a lumbar puncture. Next, This more directly focuses the agent to central nervous system cancers.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Adjuvant Chemotherapy. First, Each of these approaches carries its' own risks for complications. Next, Site maintenance is similar for each method, but the nurse needs to be knowledgeable of the problems and specific care associated with each. Next, GLOSSARY Adjuvant Chemotherapy Using drugs in combination with surgery and/or radiation to treat cancer. Next, Akylating Agent Agents that interfere with the DNA replication process Alopecia The loss of hair from the scalp and body. Next, Anorexia The reduction or loss of appetite for food.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Adjuvant Chemotherapy — continued. First, Anticipatory Nausea The nausea and/or vomiting that precedes the receiving of chemotherapy. Next, Antiemetic A drug that reduces or eliminates nausea and vomiting. Next, Antimetabolites Medications that act on the S Phase of the cell cycle by blocking the metabolic pathways or by replacing the essential metabolites. Next, Antitumor Antibiotics Agents that work by binding with DNA to inhibit the synthesis of both DNA and RNA. Next, Benign A tumor that is non-cancerous.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Adjuvant Chemotherapy — continued. First, Cancer A broad term to indicate over 1 00 diseases in which abnormal cells reproduce at an uncontrollable rate. Next, A malignant tumor. Next, Cardiomyopathy An acute or chronic disease of the cardiac muscle. Next, Chemotherapy The use of chemicals or drugs to treat diseases. Next, Combination Therapy The use of more than one drug at the same time, or in a sequence to treat a specific type of cancer.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Adjuvant Chemotherapy — continued. First, Extravasation An infiltration into the surrounding tissue due to the needle going through the vein site. Next, (symptoms much like an infiltration)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injection of chemotherapy into an artery through an. First, Intra-arterial Chemotherapy arterial line. Next, Intraperitoneal Placement of chemotherapy into the peritoneal space Chemotherapy Intrathecal Chemotherapy Injection of chemotherapy into the cerebrospinal fluid. Next, Irritant An agent that causes irritation in the vein during infusion. Next, Leukopenia A reduction in the bodies leukocyte count. Next, Malignant A tumor that is made of cancerous cells.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injection of chemotherapy into an artery through an — continued. First, Metastasis The process of a tumor fragmenting, traveling through the lymphatic or vascular system, and then establishing itself in a different location of the body. Next, Mitosis The last stage of the cell cycle where the cell actually splits into two sibling cells, each having the same number and type of chromosomes as the parent. Next, Myelosuppression A decrease in the number of red blood cells. Next, Nitrisureas Chemotherapeutic agents that attack cancer cells by inhibiting the formation of DNA. Next, Phlebitis The inflammation of a vein, often due to IV drug irritation.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injection of chemotherapy into an artery through an — continued. First, Plant Alkaloid (Vinca) A chemotherapy agent that attacks cancerous cells by the inhibition of mitosis. Next, Radiation Therapy The treatment of cancer with radiation (high energy X-rays). Next, Stomatitis The inflammation of the mucous membrane of the oral cavity and upper GI tract. Next, Vesicant An agent that causes tissue damage and necrosis with infiltration into the tissues outside of the vein. Next, Tumor A physically distinct, abnormal growth of cells; may be benign or malignant.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Goodman, M.D.: (1 988) Chemotherapy and Care, Bristol-Meyers. First, BIBLIOGRAPHY Bready, B. Next, B., Anderson, R. Next, W.: (1 990) Guide for the Administration and Use of Cancer Chemotherapeutic Agents, Pharmacy Practice News Casciato, D.A., Lawitz., B.B." (1988) Manual of Clinical Oncology, Little, Brown and Company. Next, Goodman, M.D.: (1 988) Chemotherapy and Care, Bristol-Meyers Miller, B. Next, Keane, C.: (1 986) Encyclopedia and Dictionary of Medicine and Nursing, W.B.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Goodman, M.D.: (1 988) Chemotherapy and Care, Bristol-Meyers — continued. First, Saunders Nentwick Next, P.F.: Next, (1 991) 1991-1992 Handbook of Intravenous Medications Next, Jones &amp; Bartlett Reyman P.: Next, (1989) The Cancer Chemotherapy Administration Program Manual Tenenbaum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Goodman, M.D.: (1 988) Chemotherapy and Care, Bristol-Meyers — continued. First, (1 989) A Reference Guide - Cancer Chemotherapy. Next, Saunders, Philadelphia Yasko, J.M.: (1 986) Nursing Management of Symptoms Associated with Chemotherapy, Adria Laboratories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45f5e7f90e4d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4872f740ee45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fcf3b37cd84c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130697cc5f48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1c347cc0a84e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60bcdc35fc4d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552CD5-482F-4EAC-8D25-6601438035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15192D-A615-4382-9E72-2168CD97A1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294B6D-0601-4552-B408-D6C59E9847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C83B76-BBC6-412C-8E89-76A69AC945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CBF4A5B-FF4B-4337-8C13-64CCE02C4C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72C390-9C88-426E-8DAE-BAA5120768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E777EB-8874-41F3-AA26-ABC6C33C89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6752F2-8B04-4DAE-B047-10BFF61934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EAA631-DAF9-4D5E-9FFA-A62ED0B6A4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07B903-E80B-45E5-92A1-E7AC636308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b4b83a65e433c" /><Relationship Type="http://schemas.openxmlformats.org/officeDocument/2006/relationships/slideLayout" Target="/ppt/slideLayouts/slideLayout1.xml" Id="R64d94936d9754252" /><Relationship Type="http://schemas.openxmlformats.org/officeDocument/2006/relationships/slideLayout" Target="/ppt/slideLayouts/slideLayout2.xml" Id="Rcbd7f397d3704797" /><Relationship Type="http://schemas.openxmlformats.org/officeDocument/2006/relationships/slideLayout" Target="/ppt/slideLayouts/slideLayout3.xml" Id="R4620f905f82d492f" /><Relationship Type="http://schemas.openxmlformats.org/officeDocument/2006/relationships/slideLayout" Target="/ppt/slideLayouts/slideLayout4.xml" Id="Rd57c0db86dc94dca" /><Relationship Type="http://schemas.openxmlformats.org/officeDocument/2006/relationships/slideLayout" Target="/ppt/slideLayouts/slideLayout5.xml" Id="Rfe0e327b8d6f453d" /><Relationship Type="http://schemas.openxmlformats.org/officeDocument/2006/relationships/slideLayout" Target="/ppt/slideLayouts/slideLayout6.xml" Id="R7c5eb1cd416c43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d94936d9754252"/>
    <p:sldLayoutId xmlns:r="http://schemas.openxmlformats.org/officeDocument/2006/relationships" id="2147483650" r:id="Rcbd7f397d3704797"/>
    <p:sldLayoutId xmlns:r="http://schemas.openxmlformats.org/officeDocument/2006/relationships" id="2147483651" r:id="R4620f905f82d492f"/>
    <p:sldLayoutId xmlns:r="http://schemas.openxmlformats.org/officeDocument/2006/relationships" id="2147483652" r:id="Rd57c0db86dc94dca"/>
    <p:sldLayoutId xmlns:r="http://schemas.openxmlformats.org/officeDocument/2006/relationships" id="2147483653" r:id="Rfe0e327b8d6f453d"/>
    <p:sldLayoutId xmlns:r="http://schemas.openxmlformats.org/officeDocument/2006/relationships" id="2147483654" r:id="R7c5eb1cd416c43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4a0ffa2a5a44a4" /><Relationship Type="http://schemas.openxmlformats.org/officeDocument/2006/relationships/notesSlide" Target="/ppt/notesSlides/notesSlide1.xml" Id="Rcbcaa0a6d50740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7064740cee4748" /><Relationship Type="http://schemas.openxmlformats.org/officeDocument/2006/relationships/notesSlide" Target="/ppt/notesSlides/notesSlide2.xml" Id="Rdead01ac454d48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7b07c4cd794aec" /><Relationship Type="http://schemas.openxmlformats.org/officeDocument/2006/relationships/notesSlide" Target="/ppt/notesSlides/notesSlide3.xml" Id="R7dc91204be584a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4d077f04ee47de" /><Relationship Type="http://schemas.openxmlformats.org/officeDocument/2006/relationships/notesSlide" Target="/ppt/notesSlides/notesSlide4.xml" Id="R9982c462611c4d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045c1940094d22" /><Relationship Type="http://schemas.openxmlformats.org/officeDocument/2006/relationships/notesSlide" Target="/ppt/notesSlides/notesSlide5.xml" Id="R495ad077c3b142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fc67d45c914fb9" /><Relationship Type="http://schemas.openxmlformats.org/officeDocument/2006/relationships/notesSlide" Target="/ppt/notesSlides/notesSlide6.xml" Id="R09a1b1d8cff749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bbecea50014389" /><Relationship Type="http://schemas.openxmlformats.org/officeDocument/2006/relationships/notesSlide" Target="/ppt/notesSlides/notesSlide7.xml" Id="R5da0c2ddf7d04c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671a5877f04f69" /><Relationship Type="http://schemas.openxmlformats.org/officeDocument/2006/relationships/notesSlide" Target="/ppt/notesSlides/notesSlide8.xml" Id="R05d842ff66bd4b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a89ab5a5ec485e" /><Relationship Type="http://schemas.openxmlformats.org/officeDocument/2006/relationships/notesSlide" Target="/ppt/notesSlides/notesSlide9.xml" Id="R279d415d711847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c850f87660437f" /><Relationship Type="http://schemas.openxmlformats.org/officeDocument/2006/relationships/notesSlide" Target="/ppt/notesSlides/notesSlide10.xml" Id="Rf28254e6e39f47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6bcaf65efb4fe6" /><Relationship Type="http://schemas.openxmlformats.org/officeDocument/2006/relationships/notesSlide" Target="/ppt/notesSlides/notesSlide11.xml" Id="Rb20c67bcbd974b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ae9d39b23741b7" /><Relationship Type="http://schemas.openxmlformats.org/officeDocument/2006/relationships/notesSlide" Target="/ppt/notesSlides/notesSlide12.xml" Id="Rfee221c47d0f47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128127ee2254cd0" /><Relationship Type="http://schemas.openxmlformats.org/officeDocument/2006/relationships/notesSlide" Target="/ppt/notesSlides/notesSlide13.xml" Id="R8273331b183a44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53cb551c1ad4a69" /><Relationship Type="http://schemas.openxmlformats.org/officeDocument/2006/relationships/notesSlide" Target="/ppt/notesSlides/notesSlide14.xml" Id="R1d4a9268c73644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81b4801220e40e9" /><Relationship Type="http://schemas.openxmlformats.org/officeDocument/2006/relationships/notesSlide" Target="/ppt/notesSlides/notesSlide15.xml" Id="R47046b0077a543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03656495ef6440e" /><Relationship Type="http://schemas.openxmlformats.org/officeDocument/2006/relationships/notesSlide" Target="/ppt/notesSlides/notesSlide16.xml" Id="R065964bc3f5144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e14336292de4f3b" /><Relationship Type="http://schemas.openxmlformats.org/officeDocument/2006/relationships/notesSlide" Target="/ppt/notesSlides/notesSlide17.xml" Id="R5f58eb8c16d7458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ed8db6f39854f30" /><Relationship Type="http://schemas.openxmlformats.org/officeDocument/2006/relationships/notesSlide" Target="/ppt/notesSlides/notesSlide18.xml" Id="Rd8dbf1d5015845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395edfdab63467c" /><Relationship Type="http://schemas.openxmlformats.org/officeDocument/2006/relationships/notesSlide" Target="/ppt/notesSlides/notesSlide19.xml" Id="R05c6f0da499c4a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9d6a999ba964380" /><Relationship Type="http://schemas.openxmlformats.org/officeDocument/2006/relationships/notesSlide" Target="/ppt/notesSlides/notesSlide20.xml" Id="R100e072bad2643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2c652a84c6141fb" /><Relationship Type="http://schemas.openxmlformats.org/officeDocument/2006/relationships/notesSlide" Target="/ppt/notesSlides/notesSlide21.xml" Id="Rda82cecefbe44d3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c33ec2f0ad04e4c" /><Relationship Type="http://schemas.openxmlformats.org/officeDocument/2006/relationships/notesSlide" Target="/ppt/notesSlides/notesSlide22.xml" Id="R4c341f6acca64bd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e8fcc1dc53412a" /><Relationship Type="http://schemas.openxmlformats.org/officeDocument/2006/relationships/notesSlide" Target="/ppt/notesSlides/notesSlide23.xml" Id="R2a8aa03c328248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1be6a82a54c4707" /><Relationship Type="http://schemas.openxmlformats.org/officeDocument/2006/relationships/notesSlide" Target="/ppt/notesSlides/notesSlide24.xml" Id="R203136b436cd49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702e5a49dac40ed" /><Relationship Type="http://schemas.openxmlformats.org/officeDocument/2006/relationships/notesSlide" Target="/ppt/notesSlides/notesSlide25.xml" Id="Rd8ecba5e32814b0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18b1c3d22a94336" /><Relationship Type="http://schemas.openxmlformats.org/officeDocument/2006/relationships/notesSlide" Target="/ppt/notesSlides/notesSlide26.xml" Id="R24f763154fe9480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49c6f2bd77845ad" /><Relationship Type="http://schemas.openxmlformats.org/officeDocument/2006/relationships/notesSlide" Target="/ppt/notesSlides/notesSlide27.xml" Id="Re1a73c47f4da4d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ac1a5e49b304e85" /><Relationship Type="http://schemas.openxmlformats.org/officeDocument/2006/relationships/notesSlide" Target="/ppt/notesSlides/notesSlide28.xml" Id="R54ed3940a828403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6fbe7b945af4261" /><Relationship Type="http://schemas.openxmlformats.org/officeDocument/2006/relationships/notesSlide" Target="/ppt/notesSlides/notesSlide29.xml" Id="R8ea77c95074e416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989c74c2ebc491d" /><Relationship Type="http://schemas.openxmlformats.org/officeDocument/2006/relationships/notesSlide" Target="/ppt/notesSlides/notesSlide30.xml" Id="R1eb66ea09d194cf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7c21f6242a34c30" /><Relationship Type="http://schemas.openxmlformats.org/officeDocument/2006/relationships/notesSlide" Target="/ppt/notesSlides/notesSlide31.xml" Id="R2b1d511e57834ae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f1ecd1b329d4e45" /><Relationship Type="http://schemas.openxmlformats.org/officeDocument/2006/relationships/notesSlide" Target="/ppt/notesSlides/notesSlide32.xml" Id="R3f2fa28c0ab8471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941b62213934a70" /><Relationship Type="http://schemas.openxmlformats.org/officeDocument/2006/relationships/notesSlide" Target="/ppt/notesSlides/notesSlide33.xml" Id="Ra20ee96ffe5e477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5fd6b14864e488e" /><Relationship Type="http://schemas.openxmlformats.org/officeDocument/2006/relationships/notesSlide" Target="/ppt/notesSlides/notesSlide34.xml" Id="R1a5811b43b2a4b6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4339e2f47434cb8" /><Relationship Type="http://schemas.openxmlformats.org/officeDocument/2006/relationships/notesSlide" Target="/ppt/notesSlides/notesSlide35.xml" Id="Rd1f8c55850fc4b8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bfd26b1976746a9" /><Relationship Type="http://schemas.openxmlformats.org/officeDocument/2006/relationships/notesSlide" Target="/ppt/notesSlides/notesSlide36.xml" Id="Raa21490dcd22488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8c000a47bcc4083" /><Relationship Type="http://schemas.openxmlformats.org/officeDocument/2006/relationships/notesSlide" Target="/ppt/notesSlides/notesSlide37.xml" Id="R2fc3d20618f147c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79f8a9478434439" /><Relationship Type="http://schemas.openxmlformats.org/officeDocument/2006/relationships/notesSlide" Target="/ppt/notesSlides/notesSlide38.xml" Id="R4b8c9c51dd854e2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9896f6c3d4c4206" /><Relationship Type="http://schemas.openxmlformats.org/officeDocument/2006/relationships/notesSlide" Target="/ppt/notesSlides/notesSlide39.xml" Id="R51a55a31ffc5402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8d24fa136d943e5" /><Relationship Type="http://schemas.openxmlformats.org/officeDocument/2006/relationships/notesSlide" Target="/ppt/notesSlides/notesSlide40.xml" Id="Ree49219f583f41e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f8f63d063364657" /><Relationship Type="http://schemas.openxmlformats.org/officeDocument/2006/relationships/notesSlide" Target="/ppt/notesSlides/notesSlide41.xml" Id="Rd649f7c8998e49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ad17291ee83487e" /><Relationship Type="http://schemas.openxmlformats.org/officeDocument/2006/relationships/notesSlide" Target="/ppt/notesSlides/notesSlide42.xml" Id="R1684da79110143f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a17336cb5694d03" /><Relationship Type="http://schemas.openxmlformats.org/officeDocument/2006/relationships/notesSlide" Target="/ppt/notesSlides/notesSlide43.xml" Id="R33ca37c985714ab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eb5d1ca3ef5479a" /><Relationship Type="http://schemas.openxmlformats.org/officeDocument/2006/relationships/notesSlide" Target="/ppt/notesSlides/notesSlide44.xml" Id="R2bb6095b04a64fa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1d5f320da2341b6" /><Relationship Type="http://schemas.openxmlformats.org/officeDocument/2006/relationships/notesSlide" Target="/ppt/notesSlides/notesSlide45.xml" Id="Rae035b548830430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e1ba701a46142bd" /><Relationship Type="http://schemas.openxmlformats.org/officeDocument/2006/relationships/notesSlide" Target="/ppt/notesSlides/notesSlide46.xml" Id="R44c1513b7afa4be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ea7714c7d8624e60" /><Relationship Type="http://schemas.openxmlformats.org/officeDocument/2006/relationships/notesSlide" Target="/ppt/notesSlides/notesSlide47.xml" Id="R74d4e4644f1d42d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32f9dd46a644a64" /><Relationship Type="http://schemas.openxmlformats.org/officeDocument/2006/relationships/notesSlide" Target="/ppt/notesSlides/notesSlide48.xml" Id="R16ac4e184b35464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9cce73568c64ee5" /><Relationship Type="http://schemas.openxmlformats.org/officeDocument/2006/relationships/notesSlide" Target="/ppt/notesSlides/notesSlide49.xml" Id="Reabc857e269949b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547ffb6da1a949e3" /><Relationship Type="http://schemas.openxmlformats.org/officeDocument/2006/relationships/notesSlide" Target="/ppt/notesSlides/notesSlide50.xml" Id="R952a20ca60214b0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66e869d14b74e39" /><Relationship Type="http://schemas.openxmlformats.org/officeDocument/2006/relationships/notesSlide" Target="/ppt/notesSlides/notesSlide51.xml" Id="Rec3cef80a9374ba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7e43ddeb19d4288" /><Relationship Type="http://schemas.openxmlformats.org/officeDocument/2006/relationships/notesSlide" Target="/ppt/notesSlides/notesSlide52.xml" Id="R8afcb70f37c94d5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ba15286b9e6478f" /><Relationship Type="http://schemas.openxmlformats.org/officeDocument/2006/relationships/notesSlide" Target="/ppt/notesSlides/notesSlide53.xml" Id="R0ac4ba92302842d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b8ced68c3ce545a2" /><Relationship Type="http://schemas.openxmlformats.org/officeDocument/2006/relationships/notesSlide" Target="/ppt/notesSlides/notesSlide54.xml" Id="Rf22d23d1e5e747c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46b558738a424f5e" /><Relationship Type="http://schemas.openxmlformats.org/officeDocument/2006/relationships/notesSlide" Target="/ppt/notesSlides/notesSlide55.xml" Id="Ra44e16742ed748d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97df24b2a304ed5" /><Relationship Type="http://schemas.openxmlformats.org/officeDocument/2006/relationships/notesSlide" Target="/ppt/notesSlides/notesSlide56.xml" Id="R79503fc288e6428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e9fa4d97d5a3430d" /><Relationship Type="http://schemas.openxmlformats.org/officeDocument/2006/relationships/notesSlide" Target="/ppt/notesSlides/notesSlide57.xml" Id="R289207cd97e8471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d2388874fb16472d" /><Relationship Type="http://schemas.openxmlformats.org/officeDocument/2006/relationships/notesSlide" Target="/ppt/notesSlides/notesSlide58.xml" Id="Racd0bbec6720425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14bb189910c94853" /><Relationship Type="http://schemas.openxmlformats.org/officeDocument/2006/relationships/notesSlide" Target="/ppt/notesSlides/notesSlide59.xml" Id="Rb33b7b61d58546d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d386659a031142c3" /><Relationship Type="http://schemas.openxmlformats.org/officeDocument/2006/relationships/notesSlide" Target="/ppt/notesSlides/notesSlide60.xml" Id="R102a199448eb44d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26c87dda2cb4844" /><Relationship Type="http://schemas.openxmlformats.org/officeDocument/2006/relationships/notesSlide" Target="/ppt/notesSlides/notesSlide61.xml" Id="R27f7783c13b84c53"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86148a0fba244643" /><Relationship Type="http://schemas.openxmlformats.org/officeDocument/2006/relationships/notesSlide" Target="/ppt/notesSlides/notesSlide62.xml" Id="R8a0f9f267b754dc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4b4a1aac8da04a3c" /><Relationship Type="http://schemas.openxmlformats.org/officeDocument/2006/relationships/notesSlide" Target="/ppt/notesSlides/notesSlide63.xml" Id="Rb5707367a2154c2e"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2E1D75C-CC86-42BF-9D4A-00ED8165823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597618-4309-4EB3-8A95-A370174C62A3}"/>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4CE1E50C-35CB-4E2E-A2AB-41E9C3008295}"/>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Chemotherapy Safety</a:t>
            </a:r>
          </a:p>
        </p:txBody>
      </p:sp>
      <p:sp>
        <p:nvSpPr>
          <p:cNvPr id="4" name="">
            <a:extLst xmlns:a="http://schemas.openxmlformats.org/drawingml/2006/main">
              <a:ext uri="{FF2B5EF4-FFF2-40B4-BE49-F238E27FC236}">
                <a16:creationId xmlns:a16="http://schemas.microsoft.com/office/drawing/2014/main" id="{D8C968B1-5AEB-4292-A05E-2CC38C7F769F}"/>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6  |  30-Hour Basic Intravenous Therapy</a:t>
            </a:r>
          </a:p>
        </p:txBody>
      </p:sp>
      <p:sp>
        <p:nvSpPr>
          <p:cNvPr id="5" name="">
            <a:extLst xmlns:a="http://schemas.openxmlformats.org/drawingml/2006/main">
              <a:ext uri="{FF2B5EF4-FFF2-40B4-BE49-F238E27FC236}">
                <a16:creationId xmlns:a16="http://schemas.microsoft.com/office/drawing/2014/main" id="{28365545-000B-4FC9-AD18-8D391445AAB7}"/>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33361518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1DA698-FE07-4441-AF20-14C57CB632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B0F77F5-52FA-497B-8EF0-3A0E41D891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4B58A4A2-DBF0-4F12-8B56-30924A4E14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DEB99CB-4541-4353-A87C-AA7E796AB59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F83B01B-E52C-4997-BF53-AB6EB46B0973}"/>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42687106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1CEC82-9494-468E-97A4-2556CA6E8F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DB1B22-C10F-4781-81D6-944623B95A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711ED3CA-35DF-4751-88EA-7ED89AA365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ABB32CD-0D6B-4394-85ED-E777CCAAB8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6E2F9CF1-AAF0-45C9-BEC6-426B44C505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64CBC6C9-FCD3-44FF-BC71-336D6AD99A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59838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8FAC81-0149-44F8-BB5A-26AE7F5D62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B7E5FC-7E05-44F1-977A-9A1718CF6E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6BFCB8D7-BC49-495D-86BD-0F07F806FD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D371119-11DA-4557-874F-05483B973B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D26F237-0624-43F7-9F10-5A35AD9459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D2040582-19A0-444D-AA90-1211FEF022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8212225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668571-1DF8-4D16-8968-6E1B4C523E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0325F00-2AB5-45EB-9665-E2DCE5A793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3A220267-BB64-4C3C-94A4-8E92DBEEF3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DF395B1-A7FF-4B88-94AB-2089537FE4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22FF02A-4A95-49E9-A989-C333A1A150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EEA20390-9550-4BD0-BF61-2059DA8F32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0636834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F86D69-BFAF-4AD4-A626-E213DE7560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E9BDD7-D008-4C80-8AC0-C71D457C3CF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00AB67AD-174F-4E89-AA32-A2920F07AE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5DCBA36-7DDB-4F32-8BF8-139F351074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72508A0C-6FEE-42F7-9EFC-68C08171C9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7E23DFE9-3480-4C52-9EB1-A64D9C8AD4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3165298"/>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5679D3-CFA9-4789-B59D-99B7388B07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A152907-B40B-4D6B-B5D5-1DDA40CEC2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1</a:t>
            </a:r>
          </a:p>
        </p:txBody>
      </p:sp>
      <p:sp>
        <p:nvSpPr>
          <p:cNvPr id="3" name="">
            <a:extLst xmlns:a="http://schemas.openxmlformats.org/drawingml/2006/main">
              <a:ext uri="{FF2B5EF4-FFF2-40B4-BE49-F238E27FC236}">
                <a16:creationId xmlns:a16="http://schemas.microsoft.com/office/drawing/2014/main" id="{50CC1C83-5C72-44AD-BEA8-62AAD39875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F262F12-237A-4C5A-A548-D135B5D0D3B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588AF65-C866-4FB7-8463-948D5D354E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administration requires specific authorization, patient identification, consent verification, baseline assessment, product verification by qualified staff, dedicated compatible tubing/solution, close early monitoring, and prompt response to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a reaction is suspected, stop the transfusion, maintain access as policy directs with compatible solution/new tubing, assess and support the patient, notify required personnel, recheck identification, and complete ordered specimens/documentation.</a:t>
            </a:r>
          </a:p>
        </p:txBody>
      </p:sp>
      <p:sp>
        <p:nvSpPr>
          <p:cNvPr id="6" name="">
            <a:extLst xmlns:a="http://schemas.openxmlformats.org/drawingml/2006/main">
              <a:ext uri="{FF2B5EF4-FFF2-40B4-BE49-F238E27FC236}">
                <a16:creationId xmlns:a16="http://schemas.microsoft.com/office/drawing/2014/main" id="{560E7FEA-5744-4773-B3E7-C24D3B3B5D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5537083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B2F543-7A5F-4AB0-BC5B-CB44458BDC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C62F47-E4C5-4CF5-8B36-AE4F86613A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2</a:t>
            </a:r>
          </a:p>
        </p:txBody>
      </p:sp>
      <p:sp>
        <p:nvSpPr>
          <p:cNvPr id="3" name="">
            <a:extLst xmlns:a="http://schemas.openxmlformats.org/drawingml/2006/main">
              <a:ext uri="{FF2B5EF4-FFF2-40B4-BE49-F238E27FC236}">
                <a16:creationId xmlns:a16="http://schemas.microsoft.com/office/drawing/2014/main" id="{B34F4FC4-8B38-4371-A1C6-4E2F424470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740CD06-BD1A-4887-8F55-F779833633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1FC911F-5001-4E30-8EBA-34A606FBA1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Parenteral nutrition contains concentrated nutrients and carries metabolic, infection, and line risks.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formulation and rate, use the required central or peripheral route, dedicated lumen and filter when ordered, strict asepsis, glucose/electrolyte monitoring, and never abruptly change therapy without direction.</a:t>
            </a:r>
          </a:p>
        </p:txBody>
      </p:sp>
      <p:sp>
        <p:nvSpPr>
          <p:cNvPr id="6" name="">
            <a:extLst xmlns:a="http://schemas.openxmlformats.org/drawingml/2006/main">
              <a:ext uri="{FF2B5EF4-FFF2-40B4-BE49-F238E27FC236}">
                <a16:creationId xmlns:a16="http://schemas.microsoft.com/office/drawing/2014/main" id="{379CACC4-04EA-4BAF-A50E-137D5408AB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4977500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4A027B-5ABB-475D-89EC-8D954DB84C3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516435-E827-48DA-9ADF-0C10549363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85"/>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Blood Components, Parenteral Nutrition, and High-Risk Therapy 3</a:t>
            </a:r>
          </a:p>
        </p:txBody>
      </p:sp>
      <p:sp>
        <p:nvSpPr>
          <p:cNvPr id="3" name="">
            <a:extLst xmlns:a="http://schemas.openxmlformats.org/drawingml/2006/main">
              <a:ext uri="{FF2B5EF4-FFF2-40B4-BE49-F238E27FC236}">
                <a16:creationId xmlns:a16="http://schemas.microsoft.com/office/drawing/2014/main" id="{1D1B3C10-4020-4799-92E0-C096345E3B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433B637-6CF0-4F6F-911F-8684508858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1F87FF3-5772-428C-A61E-40FB2325F5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High-alert and vesicant medications require current drug-specific guidance, appropriate access, blood return/patency checks when indicated, close monitoring, and immediate use of the facility extravasation or emergency protocol.</a:t>
            </a:r>
          </a:p>
        </p:txBody>
      </p:sp>
      <p:sp>
        <p:nvSpPr>
          <p:cNvPr id="6" name="">
            <a:extLst xmlns:a="http://schemas.openxmlformats.org/drawingml/2006/main">
              <a:ext uri="{FF2B5EF4-FFF2-40B4-BE49-F238E27FC236}">
                <a16:creationId xmlns:a16="http://schemas.microsoft.com/office/drawing/2014/main" id="{8B61F333-BAC8-4D08-9F19-C2B61D5AB2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4635085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10418A-9F5D-428E-8B25-8AA71CC0AD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744E05-48DC-40FE-9831-F56F2EA5FBE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complications</a:t>
            </a:r>
          </a:p>
        </p:txBody>
      </p:sp>
      <p:sp>
        <p:nvSpPr>
          <p:cNvPr id="3" name="">
            <a:extLst xmlns:a="http://schemas.openxmlformats.org/drawingml/2006/main">
              <a:ext uri="{FF2B5EF4-FFF2-40B4-BE49-F238E27FC236}">
                <a16:creationId xmlns:a16="http://schemas.microsoft.com/office/drawing/2014/main" id="{6837279F-64C1-49CB-9E89-2E9E52788E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288E7C3-2660-4264-8B6E-BF5E49DB10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004DB2CE-5865-4BEC-B2D6-19A20AE75C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cool, pale, swollen, uncomfortable site; slowed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Extravasation: vesicant leakage with pain, blistering, tissue injury, or altered sensation.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pain, erythema, warmth, swelling, or palpable venous 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Hematoma/bleeding, occlusion, dislodgement, leakage, nerve injury, and arterial puncture.</a:t>
            </a:r>
          </a:p>
        </p:txBody>
      </p:sp>
      <p:sp>
        <p:nvSpPr>
          <p:cNvPr id="6" name="">
            <a:extLst xmlns:a="http://schemas.openxmlformats.org/drawingml/2006/main">
              <a:ext uri="{FF2B5EF4-FFF2-40B4-BE49-F238E27FC236}">
                <a16:creationId xmlns:a16="http://schemas.microsoft.com/office/drawing/2014/main" id="{5FDE74D9-21BA-4D14-AD86-4A9D05BFFD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6846315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4A581D-E910-48E4-B9E6-1F4248FB8D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FDF59A-56D6-4A4B-A534-E2C9645ACE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complications</a:t>
            </a:r>
          </a:p>
        </p:txBody>
      </p:sp>
      <p:sp>
        <p:nvSpPr>
          <p:cNvPr id="3" name="">
            <a:extLst xmlns:a="http://schemas.openxmlformats.org/drawingml/2006/main">
              <a:ext uri="{FF2B5EF4-FFF2-40B4-BE49-F238E27FC236}">
                <a16:creationId xmlns:a16="http://schemas.microsoft.com/office/drawing/2014/main" id="{DD6B1768-D60D-4505-9A80-B5D85D8A0F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94720A9-D6AF-4EF5-B65A-12E150B44E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11BC6B3-CA1D-4D17-92B2-35C4E354B3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Allergic reaction/anaphylaxis, bloodstream infection/sepsis, fluid overload, speed shock, air embolism, catheter embolism, and transfusion reaction require rapid recognition.</a:t>
            </a:r>
          </a:p>
        </p:txBody>
      </p:sp>
      <p:sp>
        <p:nvSpPr>
          <p:cNvPr id="6" name="">
            <a:extLst xmlns:a="http://schemas.openxmlformats.org/drawingml/2006/main">
              <a:ext uri="{FF2B5EF4-FFF2-40B4-BE49-F238E27FC236}">
                <a16:creationId xmlns:a16="http://schemas.microsoft.com/office/drawing/2014/main" id="{253AB698-C657-4B1B-BEC6-4BEAD76E67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1056043"/>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77520B-927E-49BF-BD53-9E384BF3AE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613802-968B-4A83-BE36-56411B9537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General response</a:t>
            </a:r>
          </a:p>
        </p:txBody>
      </p:sp>
      <p:sp>
        <p:nvSpPr>
          <p:cNvPr id="3" name="">
            <a:extLst xmlns:a="http://schemas.openxmlformats.org/drawingml/2006/main">
              <a:ext uri="{FF2B5EF4-FFF2-40B4-BE49-F238E27FC236}">
                <a16:creationId xmlns:a16="http://schemas.microsoft.com/office/drawing/2014/main" id="{ED3DD1F3-FE15-4772-82E7-478D173454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BF65752-A603-4FE8-AD79-97EF49639BD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2EDE5A9-5073-4C95-9259-02450467A2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infusion when indicated, assess airway/breathing/circulation and vital signs, activate emergency response, notify the RN/prescriber, preserve access or equipment as drug-specific protocol requires, position/support the patient, administer ordered treatment, document objective findings/actions/response, and complete an event report when required.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force-flush an occluded or compromised device.</a:t>
            </a:r>
          </a:p>
        </p:txBody>
      </p:sp>
      <p:sp>
        <p:nvSpPr>
          <p:cNvPr id="6" name="">
            <a:extLst xmlns:a="http://schemas.openxmlformats.org/drawingml/2006/main">
              <a:ext uri="{FF2B5EF4-FFF2-40B4-BE49-F238E27FC236}">
                <a16:creationId xmlns:a16="http://schemas.microsoft.com/office/drawing/2014/main" id="{A2B15207-EFDD-4E45-8256-3CC9B5A236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7412619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D4D547-563A-4D21-93F8-BEDEFAB012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09CFDA-5DEA-417D-8CA9-6BFC2DAA84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a:t>
            </a:r>
          </a:p>
        </p:txBody>
      </p:sp>
      <p:sp>
        <p:nvSpPr>
          <p:cNvPr id="3" name="">
            <a:extLst xmlns:a="http://schemas.openxmlformats.org/drawingml/2006/main">
              <a:ext uri="{FF2B5EF4-FFF2-40B4-BE49-F238E27FC236}">
                <a16:creationId xmlns:a16="http://schemas.microsoft.com/office/drawing/2014/main" id="{EFC353FA-4E68-4AEA-8FA9-979A934D51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54A96EC-CF80-41B1-8BE8-DB1E18EA66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C20810C4-E159-4078-9E50-B281358CFF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MODULE SIX MODULE OBJECTIVES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Answer written and verbal questions on the role of Chemotherapy as a treatment modality Discuss the need for and benefits of patient / family teaching before the initiation of Chemotherapy List the various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chemotherapeutic agents used in the treatment of different types of cancer and the nursing interventions appropriate for specific complications Name the other routes of administration for chemotherapeutic agents.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psychosocial effects of chemotherapy on the patient and family and interventions to assist in this crisis Answer written and verbal questions about the actions of chemotherapeutic agents.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side effects of these different agents and their corresponding nursing actions.</a:t>
            </a:r>
          </a:p>
        </p:txBody>
      </p:sp>
      <p:sp>
        <p:nvSpPr>
          <p:cNvPr id="6" name="">
            <a:extLst xmlns:a="http://schemas.openxmlformats.org/drawingml/2006/main">
              <a:ext uri="{FF2B5EF4-FFF2-40B4-BE49-F238E27FC236}">
                <a16:creationId xmlns:a16="http://schemas.microsoft.com/office/drawing/2014/main" id="{848494C7-0623-4E32-8C01-5C23CFA6E2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4132A2F-987D-406F-B196-5C31ADEC07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59764804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7D991A-D271-480C-B038-63F4FDC1A3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FA8D9D-01C7-4068-BECB-4B3F473E15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96E08B4E-F2C2-46C0-BB6B-FEAF1D58FF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1F8C6E5-4633-4C89-9334-C317F7FF07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65400348-F9F9-44D0-962C-F0B0D7E4B7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SECTION OUTLINE Overview and definition.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Cellular reproduction 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Healthy cell cycle 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Difference between healthy cell and cancer cell cycle.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Preparation and handling of chemotherapeutic agents.</a:t>
            </a:r>
          </a:p>
        </p:txBody>
      </p:sp>
      <p:sp>
        <p:nvSpPr>
          <p:cNvPr id="6" name="">
            <a:extLst xmlns:a="http://schemas.openxmlformats.org/drawingml/2006/main">
              <a:ext uri="{FF2B5EF4-FFF2-40B4-BE49-F238E27FC236}">
                <a16:creationId xmlns:a16="http://schemas.microsoft.com/office/drawing/2014/main" id="{0032A3CD-5514-434A-A409-B82E2CC4E7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C83A16B-3D3B-4D29-9D5E-0BAF3849A9B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388561026"/>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267467-AEA6-407F-9351-3050B98D4E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AE3E07-E98F-43B6-8374-4BA91EAA42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7074297E-842D-4813-8055-F0A3BA6137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6492E6B3-1896-4E31-A23B-119BADF652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00648C82-FA21-4527-95A5-5B3E00D9595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Administration Classification of chemotherapeutic agents.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Side effects of agents Nursing interventions 8.</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 Teaching Alternative Routes</a:t>
            </a:r>
          </a:p>
        </p:txBody>
      </p:sp>
      <p:sp>
        <p:nvSpPr>
          <p:cNvPr id="6" name="">
            <a:extLst xmlns:a="http://schemas.openxmlformats.org/drawingml/2006/main">
              <a:ext uri="{FF2B5EF4-FFF2-40B4-BE49-F238E27FC236}">
                <a16:creationId xmlns:a16="http://schemas.microsoft.com/office/drawing/2014/main" id="{76890E77-04D1-4C82-BAFA-B5A7DF95AD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A16631-2299-4F33-BB0A-6E2B02B8DFE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67</a:t>
            </a:r>
          </a:p>
        </p:txBody>
      </p:sp>
    </p:spTree>
    <p:extLst>
      <p:ext uri="{BB962C8B-B14F-4D97-AF65-F5344CB8AC3E}">
        <p14:creationId xmlns:p14="http://schemas.microsoft.com/office/powerpoint/2010/main" val="88004121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9D8C70-6449-4CB2-BD2C-56BCCB62EE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48F1CB-4FBD-467E-90D4-437397230F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a:t>
            </a:r>
          </a:p>
        </p:txBody>
      </p:sp>
      <p:sp>
        <p:nvSpPr>
          <p:cNvPr id="3" name="">
            <a:extLst xmlns:a="http://schemas.openxmlformats.org/drawingml/2006/main">
              <a:ext uri="{FF2B5EF4-FFF2-40B4-BE49-F238E27FC236}">
                <a16:creationId xmlns:a16="http://schemas.microsoft.com/office/drawing/2014/main" id="{BC6041C8-0B5A-4D8E-88BF-EFC3797A15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854C23CC-C7B1-4CE8-9B6B-6E120C937F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DDAF0882-392E-44CB-A604-3EDE795665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word "Chemotherapy" comes from two words that mean chemical and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today's use the word Chemotherapy refers to the specific group of drugs that are used to treat the many forms of cancer.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Combination Chemotherapy - Cancer chemotherapy involves the use of several specialized drugs.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Adjuvant Chemotherapy - refers to the use of surgery and or radiation therapy to increase the probability of a successful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Adjuvant Chemotherapy may be added to the drug therapy to destroy any remaining cancerous cells that were not eliminated by chemotherapy agents..</a:t>
            </a:r>
          </a:p>
        </p:txBody>
      </p:sp>
      <p:sp>
        <p:nvSpPr>
          <p:cNvPr id="6" name="">
            <a:extLst xmlns:a="http://schemas.openxmlformats.org/drawingml/2006/main">
              <a:ext uri="{FF2B5EF4-FFF2-40B4-BE49-F238E27FC236}">
                <a16:creationId xmlns:a16="http://schemas.microsoft.com/office/drawing/2014/main" id="{61A8CAD7-5D61-4B9F-AB23-05C7D4ACF0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5F68C3-07F6-48B5-B396-C96B21535F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726414218"/>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6E7665-84DA-4700-8A07-A2A08DB506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FA605E-DAA8-49ED-B345-E6E89D77B5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75155B59-A47D-4D0B-A450-01A7117131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E5E2BC4-5EB8-4A7A-82AC-B79145CE7A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F8B21E02-102B-4B79-B5D5-9EC01E901C4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Cellular Reproduction The reproductive cycle of an individual cell can provide the basic information for understanding how chemotherapy works.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cell cycle includes the preparation that occurs before the cell divides, as well as the actual division itself.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process is as follows: G 1 Phase, S Phase, G 2 Phase, M Phase, and Go Phase.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Different cells have a different rate of reproduction.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example, mucous cells reproduce very rapidly compared to nerve cells.</a:t>
            </a:r>
          </a:p>
        </p:txBody>
      </p:sp>
      <p:sp>
        <p:nvSpPr>
          <p:cNvPr id="6" name="">
            <a:extLst xmlns:a="http://schemas.openxmlformats.org/drawingml/2006/main">
              <a:ext uri="{FF2B5EF4-FFF2-40B4-BE49-F238E27FC236}">
                <a16:creationId xmlns:a16="http://schemas.microsoft.com/office/drawing/2014/main" id="{4909CEE4-07DF-4EF7-97CC-814B88B0BD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8EC4925-1AC8-423E-9614-5F35DC1CD8D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1236710453"/>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35194B-A203-4BC3-BFCA-ED7ECE042E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982811-B078-4F24-866A-A15B7B488A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09F06417-FC8C-4D1A-9EBB-A60F0CB4F8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452DFFB-690C-4F90-949F-273F2ECA1A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436D1D17-A9A3-4664-ACF0-E02494099E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you read the descriptions below think of' the goal of chemotherapy in destroying cancerous cells and the side effects of damaging normal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G-l Phase (Gap 1) - Formation of protein and RNA.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May take minutes to years.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 Phase (Synthesis) - Cell prepares for division, DNA is duplicated.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Time of preparation is 6 minutes to 50 years.</a:t>
            </a:r>
          </a:p>
        </p:txBody>
      </p:sp>
      <p:sp>
        <p:nvSpPr>
          <p:cNvPr id="6" name="">
            <a:extLst xmlns:a="http://schemas.openxmlformats.org/drawingml/2006/main">
              <a:ext uri="{FF2B5EF4-FFF2-40B4-BE49-F238E27FC236}">
                <a16:creationId xmlns:a16="http://schemas.microsoft.com/office/drawing/2014/main" id="{E0D2F340-5CB6-480B-AA33-0171E5DE19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50A1C16-A6EF-43C2-9228-9F4D5761BD1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598170905"/>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5846F9-1455-4F7C-B0DF-09E6D5E4C2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E2DA1A-F19F-4138-8952-23E3B36727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9AF5184C-BE96-4225-8BB5-206D577069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CF1D574-D6C9-423E-9B4C-CDD5F66368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5AD86F17-FC37-4774-B7F3-796ABDE698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G-2 Phase (Gap 11) - The second period of RNA and protein synthesis, taking an average time of less than 6 hours.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 Phase (Mitosis) - Actual cell division takes place in this phase, the parent cell divides into two complete sibling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Each sibling cell contains the exact amount and type of chromosomes as the parent.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process takes about one hour.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*Prophase - The nuclear membrane breaks down and the chromosomes are dumped.</a:t>
            </a:r>
          </a:p>
        </p:txBody>
      </p:sp>
      <p:sp>
        <p:nvSpPr>
          <p:cNvPr id="6" name="">
            <a:extLst xmlns:a="http://schemas.openxmlformats.org/drawingml/2006/main">
              <a:ext uri="{FF2B5EF4-FFF2-40B4-BE49-F238E27FC236}">
                <a16:creationId xmlns:a16="http://schemas.microsoft.com/office/drawing/2014/main" id="{64C22A5D-FE47-4624-8739-633E2D00ED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D4BBE2-AB76-4A60-BE42-30421F4700A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553869973"/>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971C41-739C-4AE0-9962-84C997B465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FF1D1F-3275-40F7-8B4A-6BDE2E8FCA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 continued</a:t>
            </a:r>
          </a:p>
        </p:txBody>
      </p:sp>
      <p:sp>
        <p:nvSpPr>
          <p:cNvPr id="3" name="">
            <a:extLst xmlns:a="http://schemas.openxmlformats.org/drawingml/2006/main">
              <a:ext uri="{FF2B5EF4-FFF2-40B4-BE49-F238E27FC236}">
                <a16:creationId xmlns:a16="http://schemas.microsoft.com/office/drawing/2014/main" id="{2C36DF74-FC1E-4558-A96C-7FF6741722F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55402A1-6270-4B16-8563-6E4523ED28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599E64C5-7E36-4383-BFE3-3713357297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*Metaphase - The chromosomes line up in the middle of the cell *Anaphase - The chromosomes move to the poles of the cell (centrioles).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*Telophase- The actual cell division and production of two new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Go Phase - The resting stage for the cell.</a:t>
            </a:r>
          </a:p>
        </p:txBody>
      </p:sp>
      <p:sp>
        <p:nvSpPr>
          <p:cNvPr id="6" name="">
            <a:extLst xmlns:a="http://schemas.openxmlformats.org/drawingml/2006/main">
              <a:ext uri="{FF2B5EF4-FFF2-40B4-BE49-F238E27FC236}">
                <a16:creationId xmlns:a16="http://schemas.microsoft.com/office/drawing/2014/main" id="{E45DD955-5AAB-4401-8982-ACCC1DE077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865BD99-C6BD-4102-8652-6BA7B6FF11C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68</a:t>
            </a:r>
          </a:p>
        </p:txBody>
      </p:sp>
    </p:spTree>
    <p:extLst>
      <p:ext uri="{BB962C8B-B14F-4D97-AF65-F5344CB8AC3E}">
        <p14:creationId xmlns:p14="http://schemas.microsoft.com/office/powerpoint/2010/main" val="538933829"/>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918618-542A-4243-8EE2-7D2E8356A5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ED0AC7-B31F-4614-ADEC-08CCF594FF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a:t>
            </a:r>
          </a:p>
        </p:txBody>
      </p:sp>
      <p:sp>
        <p:nvSpPr>
          <p:cNvPr id="3" name="">
            <a:extLst xmlns:a="http://schemas.openxmlformats.org/drawingml/2006/main">
              <a:ext uri="{FF2B5EF4-FFF2-40B4-BE49-F238E27FC236}">
                <a16:creationId xmlns:a16="http://schemas.microsoft.com/office/drawing/2014/main" id="{927BC1B3-90BF-41F0-88BE-F81C137B1C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BBBA297-98C0-434F-8DCA-73E953C275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12EE6F8F-12ED-44C9-954D-D731617443C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are differences and similarities between the divisions of cancer cells and the bodies "normal"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First the differences...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body has a feedback mechanism for feedback signals and reproduce in an uncontrolled manner without regard for the bodies needs: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Also, instead of dividing into two cells, they may divide into several new cells at a time.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rapidly growing cell masses soon begin pushing their way into the surrounding normal tissues.</a:t>
            </a:r>
          </a:p>
        </p:txBody>
      </p:sp>
      <p:sp>
        <p:nvSpPr>
          <p:cNvPr id="6" name="">
            <a:extLst xmlns:a="http://schemas.openxmlformats.org/drawingml/2006/main">
              <a:ext uri="{FF2B5EF4-FFF2-40B4-BE49-F238E27FC236}">
                <a16:creationId xmlns:a16="http://schemas.microsoft.com/office/drawing/2014/main" id="{DEFFFAC3-FB15-4CDE-9521-9124B2F357C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3BD821-19A3-45D0-B8FA-0244AB4E35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810825826"/>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F55190-0D26-49CF-A2C5-979342ABEE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AC9297-BA2A-4FEC-BE6B-DB3B9D0B80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704B3CFC-DA39-466B-A257-C7AEEF63C3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F87ADA9-A027-4B23-8883-93B8AB76B8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3538722E-4B5C-49A5-A37B-D91211134C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Cancer cells lack cohesiveness as well.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may fragment or metastasize, and be carried to other parts of the body by the blood or lymph systems, where their growth may continue in an uncontrolled fashion at a new location.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of the similarities are in the process of the "cell cycle" itself.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All types of cells, normal and cancerous, go through the cell cycle.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goal of chemotherapy is to kill cancerous cells and minimize the harm done to normal cells.</a:t>
            </a:r>
          </a:p>
        </p:txBody>
      </p:sp>
      <p:sp>
        <p:nvSpPr>
          <p:cNvPr id="6" name="">
            <a:extLst xmlns:a="http://schemas.openxmlformats.org/drawingml/2006/main">
              <a:ext uri="{FF2B5EF4-FFF2-40B4-BE49-F238E27FC236}">
                <a16:creationId xmlns:a16="http://schemas.microsoft.com/office/drawing/2014/main" id="{0AEAF1AC-FED5-4532-B2A4-C38D998E91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E6D690-E554-464E-93AA-22EBD440976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134490672"/>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A9EB24-D517-4DCB-B42C-EDEF40B8A8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2B31C07-A889-47CD-A8AF-22BD30353B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150C262D-7C32-4362-ADB6-89DBF1677D0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30C1C84-FE11-46A4-B5F1-DE4AD9F8A1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9E82A939-F9DC-45EC-A72A-02F2771820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 destroy the greatest number of cancer cells, chemotherapy agents are often given in combination.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are also given at certain times and in precise doses to attack the cancerous cells either at specific phases of the cell cycle, or throughout the cell cycle.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agents are very strong and damage to normal cells is inevitable.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Healthy cells that reproduce quickly are the ones that are most prone to injury, and result in the greatest severity of experienced side effects (i.e.: hair, mucous membranes).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is a large variety of chemotherapeutic agents now in use.</a:t>
            </a:r>
          </a:p>
        </p:txBody>
      </p:sp>
      <p:sp>
        <p:nvSpPr>
          <p:cNvPr id="6" name="">
            <a:extLst xmlns:a="http://schemas.openxmlformats.org/drawingml/2006/main">
              <a:ext uri="{FF2B5EF4-FFF2-40B4-BE49-F238E27FC236}">
                <a16:creationId xmlns:a16="http://schemas.microsoft.com/office/drawing/2014/main" id="{BA6287C1-2DA0-42CE-8C33-EF184346D9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0F077EA-0D0D-494F-8B54-01B36C7E4A6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583750964"/>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FF849F-5A65-4B42-BE17-34878A8CAE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41F501-0A5E-49A6-8CB1-A5DCB9236A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98DE8DB7-83B4-4495-BF56-631191D3AB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58205C0-214A-473F-989E-B8BE8C36E0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82CC5E90-0FAF-4737-8940-254C5DE4BFC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Many more are being discovered each year, as well as new uses for present agents.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Due to the high level of toxicity of these medications, knowing their method of action, dosages, side effects, mode of delivery, and methods to treat emergency reactions and side effects is essential.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simple medication error can have disastrous consequences.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Preparation and Handling Everyone who comes in contact with chemotherapy drugs must be careful in their handling.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Mutagenic and carcinogenic reactions have been noted in people with prolonged or repeated exposure.</a:t>
            </a:r>
          </a:p>
        </p:txBody>
      </p:sp>
      <p:sp>
        <p:nvSpPr>
          <p:cNvPr id="6" name="">
            <a:extLst xmlns:a="http://schemas.openxmlformats.org/drawingml/2006/main">
              <a:ext uri="{FF2B5EF4-FFF2-40B4-BE49-F238E27FC236}">
                <a16:creationId xmlns:a16="http://schemas.microsoft.com/office/drawing/2014/main" id="{46D35FEE-22B8-4D83-BF7C-5BD01C22605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61CB98-BD17-4757-9B59-3D6153801F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549585171"/>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3FB3C8-9C88-4D10-87A1-12E2C06D3D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DC5ACA8-791C-4679-8855-D6CD0102EA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signaling cells to reproduce based upon need. Cancer cells do not respond to these — continued</a:t>
            </a:r>
          </a:p>
        </p:txBody>
      </p:sp>
      <p:sp>
        <p:nvSpPr>
          <p:cNvPr id="3" name="">
            <a:extLst xmlns:a="http://schemas.openxmlformats.org/drawingml/2006/main">
              <a:ext uri="{FF2B5EF4-FFF2-40B4-BE49-F238E27FC236}">
                <a16:creationId xmlns:a16="http://schemas.microsoft.com/office/drawing/2014/main" id="{BBBFA1D4-413B-4B35-8997-5A77B7427B2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193EA43-21A8-46B2-9F5E-DF2A99327D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9873A788-C92B-48EA-99C1-D5E21F3AE0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Precautions to take include: drawing and mixing these agents under a special air flow hood, wearing a protective gown, gloves and mask, and adhering to strict biohazardous waste disposal procedures.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wastes which are collected in biohazard secure containers, and then must be disposed of in accordance with city, state and federal regulations.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Administration Parental drugs, of which chemotherapy agents are but one type, are classified as vesicants, nonvesicants, and irritants.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classification depends upon their potential to damage the body's tissues if they leave the vein (extravasate).</a:t>
            </a:r>
          </a:p>
        </p:txBody>
      </p:sp>
      <p:sp>
        <p:nvSpPr>
          <p:cNvPr id="6" name="">
            <a:extLst xmlns:a="http://schemas.openxmlformats.org/drawingml/2006/main">
              <a:ext uri="{FF2B5EF4-FFF2-40B4-BE49-F238E27FC236}">
                <a16:creationId xmlns:a16="http://schemas.microsoft.com/office/drawing/2014/main" id="{80D486CC-C478-4180-8EF3-A67201D5EF4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517736B-E5FA-430E-AE5F-7E20EF9AE8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69</a:t>
            </a:r>
          </a:p>
        </p:txBody>
      </p:sp>
    </p:spTree>
    <p:extLst>
      <p:ext uri="{BB962C8B-B14F-4D97-AF65-F5344CB8AC3E}">
        <p14:creationId xmlns:p14="http://schemas.microsoft.com/office/powerpoint/2010/main" val="714649168"/>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FFA9FA-F351-461B-BD83-6B78AAF901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5D32AC-A35A-464F-B8CD-235C3C45E3C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82"/>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a:t>
            </a:r>
          </a:p>
        </p:txBody>
      </p:sp>
      <p:sp>
        <p:nvSpPr>
          <p:cNvPr id="3" name="">
            <a:extLst xmlns:a="http://schemas.openxmlformats.org/drawingml/2006/main">
              <a:ext uri="{FF2B5EF4-FFF2-40B4-BE49-F238E27FC236}">
                <a16:creationId xmlns:a16="http://schemas.microsoft.com/office/drawing/2014/main" id="{55578EC3-04C5-416F-966E-5D6F75C281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7620A65-EB1D-4435-AF9F-E4DB137580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695AA002-19B3-4337-A9C1-8173743939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Vesicants are extremely toxic to skin, subcutaneous tissue, and muscles and may cause necrosis with infiltration.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Use of these agents requires careful selection of the venous access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Once the site is obtained, the catheter requires strict observation and care to prevent complications.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Hourly site evaluations and blood return checks are necessary when vesicants are given as a continuous drip.</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 must notify the staff of any abnormal feelings in the area if the IV catheter (i.e., pain, burning, itching, etc.).</a:t>
            </a:r>
          </a:p>
        </p:txBody>
      </p:sp>
      <p:sp>
        <p:nvSpPr>
          <p:cNvPr id="6" name="">
            <a:extLst xmlns:a="http://schemas.openxmlformats.org/drawingml/2006/main">
              <a:ext uri="{FF2B5EF4-FFF2-40B4-BE49-F238E27FC236}">
                <a16:creationId xmlns:a16="http://schemas.microsoft.com/office/drawing/2014/main" id="{96423006-C588-4E1D-8014-B2E91B8A73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54C1081-A8AD-451C-94B9-74016C1D8A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08705560"/>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DEFBC4-30FC-4A6C-A70E-13A4BDD79D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B831B8B-200C-41F7-BCAD-BE6258A94A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FED17605-9A39-4322-A281-1FFE91AE7F6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413A256-AF34-4324-A137-317A052BD0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3DF6CA74-23BB-4861-B9EB-EA8479C425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Nonvesicants have little toxic effects on the soft tissue.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drugs may be safely given by peripheral IV catheters in a continuous drip or with a syringe.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Irritants are less toxic than vesicants and may only cause burning or minimal inflammation in the area near the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may be safely given by continuous infusion or by syringe.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Due to the irritating effect of all chemotherapy agents on the inner lining of veins, a long course of treatment will leave them very fragile.</a:t>
            </a:r>
          </a:p>
        </p:txBody>
      </p:sp>
      <p:sp>
        <p:nvSpPr>
          <p:cNvPr id="6" name="">
            <a:extLst xmlns:a="http://schemas.openxmlformats.org/drawingml/2006/main">
              <a:ext uri="{FF2B5EF4-FFF2-40B4-BE49-F238E27FC236}">
                <a16:creationId xmlns:a16="http://schemas.microsoft.com/office/drawing/2014/main" id="{7A524110-03D0-404F-B507-02DF8F202B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CFFE340-C49E-4819-9A4D-C7AA54AD48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2110460321"/>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5012A0-37A8-4591-B3CE-A2A092FA7F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AB913E-44ED-4FA5-BEF8-22816536B91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B10614C7-3E10-4B3A-BBDA-DF5290F5C2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06E493A-B9BC-4950-BB5B-0622E93A02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A4ED590C-FF5A-4F2C-A4CA-31340F54523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will increase the chance of extravasation and may necessitate the use of a central venous catheter or infusion port.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Even with a central line the need for careful evaluation of the catheter and surrounding tissue for extravasation remains.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Those who are predisposed to these problems are the elderly, patients on long-term chemotherapy, and diabetics.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administration of chemotherapy always requires the three C's: Caution with handling, Careful administration technique, and Continuous observation of the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CLASSIFICATION OF CHEMOTHERAPY AGENTS (From Cancer Chemotherapy:</a:t>
            </a:r>
          </a:p>
        </p:txBody>
      </p:sp>
      <p:sp>
        <p:nvSpPr>
          <p:cNvPr id="6" name="">
            <a:extLst xmlns:a="http://schemas.openxmlformats.org/drawingml/2006/main">
              <a:ext uri="{FF2B5EF4-FFF2-40B4-BE49-F238E27FC236}">
                <a16:creationId xmlns:a16="http://schemas.microsoft.com/office/drawing/2014/main" id="{BF784F27-9309-4147-A665-799F68B7AF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CD0108-8280-4A35-AE87-6ED2F1429B9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444384707"/>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E5FCDB-CB6E-4645-873B-8DCE1679BB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C946AF-A707-4E57-ABF5-91A6F3E5BB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by peripheral IV catheters in a continuous drip or with a syringe. — continued</a:t>
            </a:r>
          </a:p>
        </p:txBody>
      </p:sp>
      <p:sp>
        <p:nvSpPr>
          <p:cNvPr id="3" name="">
            <a:extLst xmlns:a="http://schemas.openxmlformats.org/drawingml/2006/main">
              <a:ext uri="{FF2B5EF4-FFF2-40B4-BE49-F238E27FC236}">
                <a16:creationId xmlns:a16="http://schemas.microsoft.com/office/drawing/2014/main" id="{7BE98DC0-7D55-4BFC-B596-050253E198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B5F06DC-EE85-4F2F-9CDD-5729EB23FF6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24555811-05D2-4E15-96AD-1F6A3673F4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Reference Guide by Linda Tenenbaum) Alkylating Agents Busulfan (Myleran) Chlorambucil (Leukeran) Cispolatin (Platinol) Cyclophosphamide (Cytoxan) Mechlorethamine (Mustargen) Melphalan (Alkeran) Dacarbazine (DTIC)</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Ifosfamide (Ifex) Uracil Antibiotics Bleomycin (Blenoxane) Dactinomycin (Actinomycin) Daunorubicin (Cerubidin) Doxorubicin (Adriamycin) Mitomycin (Mutamycin)</a:t>
            </a:r>
          </a:p>
        </p:txBody>
      </p:sp>
      <p:sp>
        <p:nvSpPr>
          <p:cNvPr id="6" name="">
            <a:extLst xmlns:a="http://schemas.openxmlformats.org/drawingml/2006/main">
              <a:ext uri="{FF2B5EF4-FFF2-40B4-BE49-F238E27FC236}">
                <a16:creationId xmlns:a16="http://schemas.microsoft.com/office/drawing/2014/main" id="{143C2E3F-254A-4C0D-AC62-7383DBF229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FAB1844-5671-41C3-AA23-BA57BD90C82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70</a:t>
            </a:r>
          </a:p>
        </p:txBody>
      </p:sp>
    </p:spTree>
    <p:extLst>
      <p:ext uri="{BB962C8B-B14F-4D97-AF65-F5344CB8AC3E}">
        <p14:creationId xmlns:p14="http://schemas.microsoft.com/office/powerpoint/2010/main" val="167130317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1AA801-53AB-447B-8D0F-6936316F43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5CDEB8-E04D-4341-BEBB-A93FA8D20A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a:t>
            </a:r>
          </a:p>
        </p:txBody>
      </p:sp>
      <p:sp>
        <p:nvSpPr>
          <p:cNvPr id="3" name="">
            <a:extLst xmlns:a="http://schemas.openxmlformats.org/drawingml/2006/main">
              <a:ext uri="{FF2B5EF4-FFF2-40B4-BE49-F238E27FC236}">
                <a16:creationId xmlns:a16="http://schemas.microsoft.com/office/drawing/2014/main" id="{59C615EE-25AC-4DB0-AD0B-B303AC751E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03E51ED-26A1-4BCE-80ED-F0EB410020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32F06962-0E9B-477C-88BE-E39A07ACBD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Cytarabine (Cytosar) 5-flurouracil (5-FU) - Methotrexate (Mexate) Nitroureas Agents Cormustine (BCNU) Lomustine (CCNU) Strep toxocin (Zanosar) Hormonal Agents Estrogens Glucocorticoids Progestational Agents Antiestrogens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Androgens Gonadotropin-releasing hormone analogs Common Side Effects Cancer chemotherapy agents cause a wide variety of side effects, minor to severe, that involve all of the major organ groups.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use of combination and adjuvant therapies increases the probability of untoward side effects.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Several of the major side effects of chemotherapy in general, are described below.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you are the nurse responsible for giving these agents, you need to know the specific negative actions of each individual drug, and combination of drugs.</a:t>
            </a:r>
          </a:p>
        </p:txBody>
      </p:sp>
      <p:sp>
        <p:nvSpPr>
          <p:cNvPr id="6" name="">
            <a:extLst xmlns:a="http://schemas.openxmlformats.org/drawingml/2006/main">
              <a:ext uri="{FF2B5EF4-FFF2-40B4-BE49-F238E27FC236}">
                <a16:creationId xmlns:a16="http://schemas.microsoft.com/office/drawing/2014/main" id="{96E9DC46-E6E8-4DAC-A0F9-98356AAE802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0EFC8BC-FCAC-4D68-88A9-20C8564394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643967678"/>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457F10-BBCE-4F16-A50F-DB89431FE2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020D46-2EC8-465B-A854-4FF43FE2BF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Anti-Metabolite Agents — continued</a:t>
            </a:r>
          </a:p>
        </p:txBody>
      </p:sp>
      <p:sp>
        <p:nvSpPr>
          <p:cNvPr id="3" name="">
            <a:extLst xmlns:a="http://schemas.openxmlformats.org/drawingml/2006/main">
              <a:ext uri="{FF2B5EF4-FFF2-40B4-BE49-F238E27FC236}">
                <a16:creationId xmlns:a16="http://schemas.microsoft.com/office/drawing/2014/main" id="{0F6DC2D7-B4C8-4CAE-B7F2-443E730E97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65DC520-F30C-4C70-BD1F-F5FE969361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ED492651-600C-4FD6-B51C-A6F960310CA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discussion of different nursing interventions that will assist your patients and families through some of the difficult side effects follows: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Neurological Sensory changes, headaches, neuropathies HEEN T Oral thrush, headaches, photophobia Respiratory Decreased immunity to upper respiratory infections and pneumonia Cardiac Dehydration, fluid imbalances, cardiac</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toxicity GI Nausea, vomiting, diarrhea, stomatitis, reduced appetite, changes in food taste, constipation GU Hematuria, increased chance of infection, urine discoloration, renal failure GYN Dysmennorhia, yeast infections</a:t>
            </a:r>
          </a:p>
        </p:txBody>
      </p:sp>
      <p:sp>
        <p:nvSpPr>
          <p:cNvPr id="6" name="">
            <a:extLst xmlns:a="http://schemas.openxmlformats.org/drawingml/2006/main">
              <a:ext uri="{FF2B5EF4-FFF2-40B4-BE49-F238E27FC236}">
                <a16:creationId xmlns:a16="http://schemas.microsoft.com/office/drawing/2014/main" id="{99FB80E4-6009-4895-B393-9F5814258CE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514B9B-3AD7-45E5-8A79-300A1F69ED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71</a:t>
            </a:r>
          </a:p>
        </p:txBody>
      </p:sp>
    </p:spTree>
    <p:extLst>
      <p:ext uri="{BB962C8B-B14F-4D97-AF65-F5344CB8AC3E}">
        <p14:creationId xmlns:p14="http://schemas.microsoft.com/office/powerpoint/2010/main" val="111365966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D58D34-BF19-43BE-9E63-B250304246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085D5D-FB1C-4688-A4CB-4CD3D26E47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112"/>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a:t>
            </a:r>
          </a:p>
        </p:txBody>
      </p:sp>
      <p:sp>
        <p:nvSpPr>
          <p:cNvPr id="3" name="">
            <a:extLst xmlns:a="http://schemas.openxmlformats.org/drawingml/2006/main">
              <a:ext uri="{FF2B5EF4-FFF2-40B4-BE49-F238E27FC236}">
                <a16:creationId xmlns:a16="http://schemas.microsoft.com/office/drawing/2014/main" id="{BD000097-7A2A-4EDB-AA9A-FF1505E823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5F07B35-B5AD-4FAA-8722-553E8191D7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FC6DC7F1-44D8-4A37-AAE6-F6E582E8B6F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Extremities Muscles mass loss (due to decreased food intake), weakness, and decreased mobility Skin Decreased turgor, bruising, redness, itching, increased pigmentation, and yeast infection, alopecia.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Extravasation of chemotherapy agents with pain, swelling, and possible necrosis Hematopoetic Myelosuppression (inhibition of the bone marrow, which produces blood cells, resulting in anemia, bleeding disorders, and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increased risk of infection) Psychosocial Withdrawal, regression, depression, possible suicidal.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Increased stress on family unit.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Damaged self-concept.</a:t>
            </a:r>
          </a:p>
        </p:txBody>
      </p:sp>
      <p:sp>
        <p:nvSpPr>
          <p:cNvPr id="6" name="">
            <a:extLst xmlns:a="http://schemas.openxmlformats.org/drawingml/2006/main">
              <a:ext uri="{FF2B5EF4-FFF2-40B4-BE49-F238E27FC236}">
                <a16:creationId xmlns:a16="http://schemas.microsoft.com/office/drawing/2014/main" id="{5D579241-57F7-40DA-A204-E4E4EA9858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FEB6AA-B485-4E0D-BBCC-29AC0EFD0E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1766901785"/>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FD5B4CE-8092-4D87-AF9D-8D47E5E43F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B4C97D-8253-4A29-AE8F-60C4E836D27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CA69AFCA-0A8D-4D52-A00E-1BCF72BD1F7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C1AA050-0A02-4726-A9A9-B5D5318226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7FB1FC3E-86F3-44F5-B890-01EC1C0D4A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Loss of sexual drive.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Nursing Interventions Nausea &amp; Vomiting Foods served cold or at room temperature are better tolerated.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Avoid sweet, salty, spicy, and odiferous foods A clear liquid diet for times of nausea, before and after every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Eat smaller meals in greater frequency Decrease unpleasant surroundings Do not bring food to nauseated patients, wait until they are ready to eat Provide distractions when possible, 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games</a:t>
            </a:r>
          </a:p>
        </p:txBody>
      </p:sp>
      <p:sp>
        <p:nvSpPr>
          <p:cNvPr id="6" name="">
            <a:extLst xmlns:a="http://schemas.openxmlformats.org/drawingml/2006/main">
              <a:ext uri="{FF2B5EF4-FFF2-40B4-BE49-F238E27FC236}">
                <a16:creationId xmlns:a16="http://schemas.microsoft.com/office/drawing/2014/main" id="{DDC12F14-D282-4960-8822-D06EC0A094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2FC6F8-1054-458E-84AB-50AA1BD340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2119135402"/>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E84D5A-47F0-42DA-AA05-7725A2FD0B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40DE3A-78B3-405D-A2B3-59BCB3E0CD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agents with pain, swelling, and possible necrosis — continued</a:t>
            </a:r>
          </a:p>
        </p:txBody>
      </p:sp>
      <p:sp>
        <p:nvSpPr>
          <p:cNvPr id="3" name="">
            <a:extLst xmlns:a="http://schemas.openxmlformats.org/drawingml/2006/main">
              <a:ext uri="{FF2B5EF4-FFF2-40B4-BE49-F238E27FC236}">
                <a16:creationId xmlns:a16="http://schemas.microsoft.com/office/drawing/2014/main" id="{FEB11BDF-A969-4A7E-ADE2-4674E45E31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3FE54DD-761A-4B11-B8C1-73CA3BC427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636C9EC2-FDBC-42EB-AD60-C317038C089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TV, reading Give anti-emetics as ordered, and as soon as needed Myelosuppression Use isolation techniques that protect patient form exposure to communicable pathogens Use universal precautions Support pre and post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treatment hydration (IV or PO) Assess for and report signs of anemia or bleeding Stomatitis Assess the oral cavity at least BID, and report infection Encourage oral intake Avoid wearing ill-fitting dentures Avoid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alcohol, tobacco, and foods that are hot or cold Use a soft toothbrush or sponge brush and stop flossing with bleeding or pain Use topical anesthetics if ordered prior to oral hygiene and eating to increase comfort</a:t>
            </a:r>
          </a:p>
        </p:txBody>
      </p:sp>
      <p:sp>
        <p:nvSpPr>
          <p:cNvPr id="6" name="">
            <a:extLst xmlns:a="http://schemas.openxmlformats.org/drawingml/2006/main">
              <a:ext uri="{FF2B5EF4-FFF2-40B4-BE49-F238E27FC236}">
                <a16:creationId xmlns:a16="http://schemas.microsoft.com/office/drawing/2014/main" id="{DA01DB0F-9283-4DAF-8556-B4EC698DEB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A638677-8038-43C7-A0D4-F0FDA7D68D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72</a:t>
            </a:r>
          </a:p>
        </p:txBody>
      </p:sp>
    </p:spTree>
    <p:extLst>
      <p:ext uri="{BB962C8B-B14F-4D97-AF65-F5344CB8AC3E}">
        <p14:creationId xmlns:p14="http://schemas.microsoft.com/office/powerpoint/2010/main" val="1283967158"/>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729BBD-B1C9-40DD-B461-30751B6742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C5E4D3-AD42-413D-945E-6E619A0E5D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a:t>
            </a:r>
          </a:p>
        </p:txBody>
      </p:sp>
      <p:sp>
        <p:nvSpPr>
          <p:cNvPr id="3" name="">
            <a:extLst xmlns:a="http://schemas.openxmlformats.org/drawingml/2006/main">
              <a:ext uri="{FF2B5EF4-FFF2-40B4-BE49-F238E27FC236}">
                <a16:creationId xmlns:a16="http://schemas.microsoft.com/office/drawing/2014/main" id="{8DADF9E0-E19A-4C4A-8966-ADA5EACDC6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A486859-17B3-4452-B30E-75A7E77A7DE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4830505F-71E4-4FEF-9861-5C9D6EF25C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Report quantity and quality of diarrhea and give anti-diarrhea medications as ordered (at regular intervals, not PRN) Extravasation Monitor insertion site frequently and carefully document Encourage the patient to report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discomfort, swelling, or discoloration at the site If extravasation is suspected, stop the IV, do not remove the catheter, and notify the charge nurse immediately List of Common Vesicant / Irritant Drugs 1 Nitrogen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Mustard (Mechlorethamine)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Mutamycin (Mitomycin C) Velban (Binblastine) Oncovin (Vincristine) Eldisine (Vindesine) VM-26 (Teniposide) Adriamycine (Doxorubicin) Cerubidine (Daunomycin, Daunorubicin, Rubidomycin 9.</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Cosmegen(Dactinomycin, Actinomycin D) 10.</a:t>
            </a:r>
          </a:p>
        </p:txBody>
      </p:sp>
      <p:sp>
        <p:nvSpPr>
          <p:cNvPr id="6" name="">
            <a:extLst xmlns:a="http://schemas.openxmlformats.org/drawingml/2006/main">
              <a:ext uri="{FF2B5EF4-FFF2-40B4-BE49-F238E27FC236}">
                <a16:creationId xmlns:a16="http://schemas.microsoft.com/office/drawing/2014/main" id="{DA1D2869-A7FE-49F5-820F-28F0867933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E87636-2C9B-4255-9B65-2ED7AE6806F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235253113"/>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4188D3-F984-47B2-9A7D-926F5E60D0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D93BD5-2DC5-4655-A55C-4AC601D52F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 — continued</a:t>
            </a:r>
          </a:p>
        </p:txBody>
      </p:sp>
      <p:sp>
        <p:nvSpPr>
          <p:cNvPr id="3" name="">
            <a:extLst xmlns:a="http://schemas.openxmlformats.org/drawingml/2006/main">
              <a:ext uri="{FF2B5EF4-FFF2-40B4-BE49-F238E27FC236}">
                <a16:creationId xmlns:a16="http://schemas.microsoft.com/office/drawing/2014/main" id="{A79C9507-495C-4CC5-868C-63574E3EA5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3030C6E-A1A3-46C8-BE16-51D4379537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B354414C-C2CB-420A-A008-4E125A43F2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Bisantrene 11 Mithramycin (Mithracin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Plicamycin) 12 Dacarbazine (DTIC) Specific Drug Side Effects Adriamycin: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Urine turns reddish in color (not from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Lasts one to two days after medication is given Bleomycin:</a:t>
            </a:r>
          </a:p>
        </p:txBody>
      </p:sp>
      <p:sp>
        <p:nvSpPr>
          <p:cNvPr id="6" name="">
            <a:extLst xmlns:a="http://schemas.openxmlformats.org/drawingml/2006/main">
              <a:ext uri="{FF2B5EF4-FFF2-40B4-BE49-F238E27FC236}">
                <a16:creationId xmlns:a16="http://schemas.microsoft.com/office/drawing/2014/main" id="{CA9E089C-C9F5-4488-BC3C-5A846B6D82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D07F385-C74E-45E9-AC0E-B8DB8B9D91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270796197"/>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2B0D88-4650-4488-8618-CC8D136F18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DA6092-04C7-4502-9751-0FE71B68CD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Encourage the patient to report any discomfort, swelling, or — continued</a:t>
            </a:r>
          </a:p>
        </p:txBody>
      </p:sp>
      <p:sp>
        <p:nvSpPr>
          <p:cNvPr id="3" name="">
            <a:extLst xmlns:a="http://schemas.openxmlformats.org/drawingml/2006/main">
              <a:ext uri="{FF2B5EF4-FFF2-40B4-BE49-F238E27FC236}">
                <a16:creationId xmlns:a16="http://schemas.microsoft.com/office/drawing/2014/main" id="{026F0D43-8421-4A73-9FC0-60E4A1557E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872DAC4-C396-4069-A219-B8CF6A95CF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D2FE9B73-34A0-4DE4-AD2B-B83C8FFF00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Adverse reactions include shaking, chills and febrile reactions.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test dose is normally given</a:t>
            </a:r>
          </a:p>
        </p:txBody>
      </p:sp>
      <p:sp>
        <p:nvSpPr>
          <p:cNvPr id="6" name="">
            <a:extLst xmlns:a="http://schemas.openxmlformats.org/drawingml/2006/main">
              <a:ext uri="{FF2B5EF4-FFF2-40B4-BE49-F238E27FC236}">
                <a16:creationId xmlns:a16="http://schemas.microsoft.com/office/drawing/2014/main" id="{900E8842-537F-40A5-80A0-1FE7010431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5FFC491-0718-474F-904E-EC852F44BE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73</a:t>
            </a:r>
          </a:p>
        </p:txBody>
      </p:sp>
    </p:spTree>
    <p:extLst>
      <p:ext uri="{BB962C8B-B14F-4D97-AF65-F5344CB8AC3E}">
        <p14:creationId xmlns:p14="http://schemas.microsoft.com/office/powerpoint/2010/main" val="1020098629"/>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2F07CF-52FA-4C7D-B922-9CCD90E08A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887204-1E72-4664-AF83-28A388DEFE6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a:t>
            </a:r>
          </a:p>
        </p:txBody>
      </p:sp>
      <p:sp>
        <p:nvSpPr>
          <p:cNvPr id="3" name="">
            <a:extLst xmlns:a="http://schemas.openxmlformats.org/drawingml/2006/main">
              <a:ext uri="{FF2B5EF4-FFF2-40B4-BE49-F238E27FC236}">
                <a16:creationId xmlns:a16="http://schemas.microsoft.com/office/drawing/2014/main" id="{A5A3B108-F090-4133-9F08-86D7EF7CF1A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ECABAC6-B2F1-4E50-A366-FF18FCA2DF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A9B0FE43-2B32-4C5A-A682-C80DC9A78B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Many fears exist in our society about cancer and chemotherapy.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Your patient and their family will be very apprehensive about the disease as well as the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Whether those fears are grounded in fact, or based on misinformation, they must be addressed.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Although a caring and compassionate demeanor is required in oncology nursing, the single most effective tool for reducing apprehension is information.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Knowledge about the disease, the treatment, and expected outcomes will alleviate anxieties and aid in the formation of a cooperative and successful relationship with your patient and their treatment.</a:t>
            </a:r>
          </a:p>
        </p:txBody>
      </p:sp>
      <p:sp>
        <p:nvSpPr>
          <p:cNvPr id="6" name="">
            <a:extLst xmlns:a="http://schemas.openxmlformats.org/drawingml/2006/main">
              <a:ext uri="{FF2B5EF4-FFF2-40B4-BE49-F238E27FC236}">
                <a16:creationId xmlns:a16="http://schemas.microsoft.com/office/drawing/2014/main" id="{AAF6637E-6245-422C-B4C8-8EDADA0393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8DAB632-8454-4970-BCD5-3738CEE225B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426111731"/>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07D3B6-930C-4E12-A747-AEFB3B971E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D1436F-0980-4B5A-8384-01EA3D1825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667E7719-3575-4932-9991-385C7DE787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C82AD60A-1244-416B-822A-EA4001FF65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FA00D6E8-D5CD-45D4-A753-3B386BAF0A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changes and challenges that occur during the course of cancer and treatment affect all areas of an individuals' life: psychological, social, sexual, spiritual, and physical.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Nothing is left untouched.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education you provide should encompass all of these areas.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question and answer examples only touch briefly on some of the issues that you will encounter: Q.</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Will the Chemotherapy be painful?</a:t>
            </a:r>
          </a:p>
        </p:txBody>
      </p:sp>
      <p:sp>
        <p:nvSpPr>
          <p:cNvPr id="6" name="">
            <a:extLst xmlns:a="http://schemas.openxmlformats.org/drawingml/2006/main">
              <a:ext uri="{FF2B5EF4-FFF2-40B4-BE49-F238E27FC236}">
                <a16:creationId xmlns:a16="http://schemas.microsoft.com/office/drawing/2014/main" id="{E79509E2-BCF2-40A8-90DD-6B52D5F7919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61EA078-7083-4862-9EC5-D752537543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088470609"/>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036D9C-E2EC-4DFF-8970-CC8F8E997C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CB53CA-B963-422C-81E4-85BD61F5A7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78AF9358-C8FE-47BF-B2DA-C75EAF7924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22AE350-805F-4AD4-AFBE-86B1D47ADEF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CB1EA3A7-AC1E-4CD7-B3D5-E83417EB966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Taking chemotherapeutic agents is no more painful than any other medication.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pills are no worse, the injections hurt just like a normal injection, and the only discomfort you feel form the IV medications is from the insertion of the needle itself.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Will I lose my hair from having chemotherapy?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Hair cells grow more rapidly than most of the bodies other cells and this makes them similar to cancer cells which also reproduce rapidly.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Chemotherapy attacks fast growing cells more than slow ones, which is why the hair follicle is sometimes damaged.</a:t>
            </a:r>
          </a:p>
        </p:txBody>
      </p:sp>
      <p:sp>
        <p:nvSpPr>
          <p:cNvPr id="6" name="">
            <a:extLst xmlns:a="http://schemas.openxmlformats.org/drawingml/2006/main">
              <a:ext uri="{FF2B5EF4-FFF2-40B4-BE49-F238E27FC236}">
                <a16:creationId xmlns:a16="http://schemas.microsoft.com/office/drawing/2014/main" id="{EB255A99-1443-4493-9683-70BF9739A3F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5E095C2-CCA3-4739-9AE0-6D911F3C8B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496110744"/>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028A18-50DE-49AF-B24E-641483D9DA7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7FAAA2-A0A4-43FD-B354-C394A784BDA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983E67F2-6106-43DC-9D33-3062E35D11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A22CE44-091B-407A-9001-CBADD9A660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391173EC-1816-439D-BA3A-80ACB4C26F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are a number of interventions available to reduce this problem.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What can I do about the problems with my skin?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Each individual reacts differently to the medication.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Redness, itching, and dryness are possibilities that may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Most skin problems can be treated with a variety of creams and lotions for comfort.</a:t>
            </a:r>
          </a:p>
        </p:txBody>
      </p:sp>
      <p:sp>
        <p:nvSpPr>
          <p:cNvPr id="6" name="">
            <a:extLst xmlns:a="http://schemas.openxmlformats.org/drawingml/2006/main">
              <a:ext uri="{FF2B5EF4-FFF2-40B4-BE49-F238E27FC236}">
                <a16:creationId xmlns:a16="http://schemas.microsoft.com/office/drawing/2014/main" id="{4546E2E8-5013-4F59-B279-B243041E98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86207BB-CA8F-45D7-A786-C685EB6FFDF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2100019400"/>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5C7250-5F70-4C6F-A850-C75D0CF570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C7EB86-88B5-4A3A-8D50-DE6ACE21C5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TEACHING — continued</a:t>
            </a:r>
          </a:p>
        </p:txBody>
      </p:sp>
      <p:sp>
        <p:nvSpPr>
          <p:cNvPr id="3" name="">
            <a:extLst xmlns:a="http://schemas.openxmlformats.org/drawingml/2006/main">
              <a:ext uri="{FF2B5EF4-FFF2-40B4-BE49-F238E27FC236}">
                <a16:creationId xmlns:a16="http://schemas.microsoft.com/office/drawing/2014/main" id="{723E5631-AA0E-4D03-A155-A4F0EBA730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E168FF0-A331-4923-B2CA-2E54B31A51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FC8B8777-0245-4347-B684-586177D55E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 will I know if I'm getting an infection?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you develop a new pain or discomfort, fever, temperature, chills, cough, urinary or gynecological problems, or other unusual symptoms, contact the physician or nurse.</a:t>
            </a:r>
          </a:p>
        </p:txBody>
      </p:sp>
      <p:sp>
        <p:nvSpPr>
          <p:cNvPr id="6" name="">
            <a:extLst xmlns:a="http://schemas.openxmlformats.org/drawingml/2006/main">
              <a:ext uri="{FF2B5EF4-FFF2-40B4-BE49-F238E27FC236}">
                <a16:creationId xmlns:a16="http://schemas.microsoft.com/office/drawing/2014/main" id="{E4B83DB9-217E-4ADA-9580-D805B9DD8E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5F3D59-C546-4CC8-9DCD-59C27CC99F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74</a:t>
            </a:r>
          </a:p>
        </p:txBody>
      </p:sp>
    </p:spTree>
    <p:extLst>
      <p:ext uri="{BB962C8B-B14F-4D97-AF65-F5344CB8AC3E}">
        <p14:creationId xmlns:p14="http://schemas.microsoft.com/office/powerpoint/2010/main" val="138171736"/>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7C3AD0-5526-406D-B219-57C360FB96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78FB1B-3C65-4794-8401-2D3EC60B5D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a:t>
            </a:r>
          </a:p>
        </p:txBody>
      </p:sp>
      <p:sp>
        <p:nvSpPr>
          <p:cNvPr id="3" name="">
            <a:extLst xmlns:a="http://schemas.openxmlformats.org/drawingml/2006/main">
              <a:ext uri="{FF2B5EF4-FFF2-40B4-BE49-F238E27FC236}">
                <a16:creationId xmlns:a16="http://schemas.microsoft.com/office/drawing/2014/main" id="{2001D7CA-0B4E-4980-8BCD-5621DACE43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D285074-A701-44B0-AE20-C890B5ADAAA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8DC52956-B67A-4141-9641-87730964EC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 important is drinking liquids?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Due to the action of some agents on the kidneys, it is very important to drink a greater amount of liquid than normal.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Why do I need to eat when I don't even want to look at food?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Chemotherapy puts a great stress on the body and increases its nutritional needs.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Fueling your body during this time is extremely important to your current sense of well being and to the success of the treatments.</a:t>
            </a:r>
          </a:p>
        </p:txBody>
      </p:sp>
      <p:sp>
        <p:nvSpPr>
          <p:cNvPr id="6" name="">
            <a:extLst xmlns:a="http://schemas.openxmlformats.org/drawingml/2006/main">
              <a:ext uri="{FF2B5EF4-FFF2-40B4-BE49-F238E27FC236}">
                <a16:creationId xmlns:a16="http://schemas.microsoft.com/office/drawing/2014/main" id="{A5C00E09-2204-44FE-A017-3E2042C2A8D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9E05F4B-C6F3-4D2E-8AB5-C5766D5167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405146701"/>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12E1EF-55FD-4493-983E-E5FB06235E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3C5CF1-8A3B-4373-B596-998AFF5A24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F9D151AF-AD95-42E9-AFC0-42DBBCFCA4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94201FB-B33C-432C-BEA2-CE8CDE9E88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67AFC1D7-703A-4861-810B-035335C5A11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agents may increase of decrease your appetite, change your tastes, or affect it in other ways.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your appetite decreases do things that help it, such as eat small frequent meals, make the meal a special event, reward yourself for eating, etc.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only a sampling of the questions that will arise.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yourself for this specialty area by making use of the number of written materials and educational opportunities that are available.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Alopecia is one of the more traumatic side effects of chemotherapy because of the damage it does to a person's body image.</a:t>
            </a:r>
          </a:p>
        </p:txBody>
      </p:sp>
      <p:sp>
        <p:nvSpPr>
          <p:cNvPr id="6" name="">
            <a:extLst xmlns:a="http://schemas.openxmlformats.org/drawingml/2006/main">
              <a:ext uri="{FF2B5EF4-FFF2-40B4-BE49-F238E27FC236}">
                <a16:creationId xmlns:a16="http://schemas.microsoft.com/office/drawing/2014/main" id="{88C44C1A-AF9B-4380-BFD3-07CA893A26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9BFD63-D1E8-41CE-AE2A-2E95E54DB6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266929064"/>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6E832C-6B46-4B35-AB0F-028E0EBDB8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FF4EF3-CBA9-4A78-84D3-53255712B1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1EB58450-E315-440E-8451-0E1E02C6B4A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3F46927-A9B2-494A-A487-A449D89D95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9CF069AC-22A3-469A-B186-24C161AD50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problem alone may discourage people from initiating or continuing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Here is a list of considerations when this issue arises, Patients may want to purchase a "hair prosthesis" before treatment to match their actual hair and wear it occasionally to get use to 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Insurance may cover this cost.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may want to shave their hair and get an earring to identify with an athletic person or other star and make that a positive change in their image.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 that hair loss is usually temporary and differs in degree and duration.</a:t>
            </a:r>
          </a:p>
        </p:txBody>
      </p:sp>
      <p:sp>
        <p:nvSpPr>
          <p:cNvPr id="6" name="">
            <a:extLst xmlns:a="http://schemas.openxmlformats.org/drawingml/2006/main">
              <a:ext uri="{FF2B5EF4-FFF2-40B4-BE49-F238E27FC236}">
                <a16:creationId xmlns:a16="http://schemas.microsoft.com/office/drawing/2014/main" id="{EA9D6AD1-6110-48B1-9CD3-11CA3C6859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36222E8-E459-4946-A7FB-924F2DCEAD6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323668260"/>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300C68-82B8-490D-9D2D-A2A416C9E6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7C89F9-22C2-45EF-8279-BCBB7792D6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89F40681-6354-49FD-B9EF-25FC3D3781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C002DDE-823E-4CE1-AB29-ECE0EFBFED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4D303251-12CF-413F-9883-8728F06350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loss of other body hair is generally less severe, and hair often returns during or right after the completion of therapy though it may change slightly in color or texture.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the following which may add to hair damage: excessive brushing, hair dryers, hair sprays, coloring and bleaching, harsh shampoos.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mild protein based shampoos and conditioners.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Allow the person to talk about this important part of their self-image.</a:t>
            </a:r>
          </a:p>
        </p:txBody>
      </p:sp>
      <p:sp>
        <p:nvSpPr>
          <p:cNvPr id="6" name="">
            <a:extLst xmlns:a="http://schemas.openxmlformats.org/drawingml/2006/main">
              <a:ext uri="{FF2B5EF4-FFF2-40B4-BE49-F238E27FC236}">
                <a16:creationId xmlns:a16="http://schemas.microsoft.com/office/drawing/2014/main" id="{4A4420B3-7F64-4482-BEBA-482A883CFB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211D9B-ED24-4E24-BE46-7E899A381DA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889676263"/>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858D78-3739-493B-9781-FFD3703C61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22003F-0730-4981-8D3A-64A80A7324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puts a great stress on the body and increases its nutritional needs. — continued</a:t>
            </a:r>
          </a:p>
        </p:txBody>
      </p:sp>
      <p:sp>
        <p:nvSpPr>
          <p:cNvPr id="3" name="">
            <a:extLst xmlns:a="http://schemas.openxmlformats.org/drawingml/2006/main">
              <a:ext uri="{FF2B5EF4-FFF2-40B4-BE49-F238E27FC236}">
                <a16:creationId xmlns:a16="http://schemas.microsoft.com/office/drawing/2014/main" id="{F39430E7-8DB5-4EB1-B815-18AC2F7F8B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852E502-93DE-48A2-BC83-6131C75787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38B671CF-4B92-4C76-B2E0-2B42E63710F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Alternative Routes There are a number of potential routes of administration for the different chemotherapy agents.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Though you may not be responsible for actually giving the medication, you will need to know about the specific agent, its action, method of delivery, side effects, and accompanying patient education factors.</a:t>
            </a:r>
          </a:p>
        </p:txBody>
      </p:sp>
      <p:sp>
        <p:nvSpPr>
          <p:cNvPr id="6" name="">
            <a:extLst xmlns:a="http://schemas.openxmlformats.org/drawingml/2006/main">
              <a:ext uri="{FF2B5EF4-FFF2-40B4-BE49-F238E27FC236}">
                <a16:creationId xmlns:a16="http://schemas.microsoft.com/office/drawing/2014/main" id="{CF8B213D-5311-49BC-964F-601A80567DC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064CA2-0FB0-43FD-9476-5AEAF6E1DBA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75</a:t>
            </a:r>
          </a:p>
        </p:txBody>
      </p:sp>
    </p:spTree>
    <p:extLst>
      <p:ext uri="{BB962C8B-B14F-4D97-AF65-F5344CB8AC3E}">
        <p14:creationId xmlns:p14="http://schemas.microsoft.com/office/powerpoint/2010/main" val="1530836545"/>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CC5FFB-3C96-4AF9-A139-DB4DA234B24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161CC0-CC8A-494F-8590-C4874F7821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a:t>
            </a:r>
          </a:p>
        </p:txBody>
      </p:sp>
      <p:sp>
        <p:nvSpPr>
          <p:cNvPr id="3" name="">
            <a:extLst xmlns:a="http://schemas.openxmlformats.org/drawingml/2006/main">
              <a:ext uri="{FF2B5EF4-FFF2-40B4-BE49-F238E27FC236}">
                <a16:creationId xmlns:a16="http://schemas.microsoft.com/office/drawing/2014/main" id="{04CD19C9-0BE7-4405-983C-9963548D02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538EDC2E-6B5B-4EC8-A49D-15813CB20C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0ED0B5D4-9ACB-450D-AF52-9AF4869393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Commonly used for certain agents.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Intramuscular or Subcutaneous Route Used infrequently.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Irritants and especially vesicants are avoided by this route.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route is used for other agents, note swelling, pain, discoloration, and bleeding at the puncture site.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Intravenous Route This is the most common route used due to the superior absorption of the agent.</a:t>
            </a:r>
          </a:p>
        </p:txBody>
      </p:sp>
      <p:sp>
        <p:nvSpPr>
          <p:cNvPr id="6" name="">
            <a:extLst xmlns:a="http://schemas.openxmlformats.org/drawingml/2006/main">
              <a:ext uri="{FF2B5EF4-FFF2-40B4-BE49-F238E27FC236}">
                <a16:creationId xmlns:a16="http://schemas.microsoft.com/office/drawing/2014/main" id="{14CAB058-A0D9-4591-807F-9E4DF72076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CA20B4E-7A60-49FC-84AC-CF8F7D67D33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1775621647"/>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F770EF-0B1F-497D-A6F2-6323347E81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1DEEB1-1B38-4250-B7DD-B147B7429B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CA0D8F44-9CF1-4DFD-9987-8EE0373939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42810321-3193-44B9-AA29-686B8FBD3E6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C98E2603-3AF2-40AB-B1CD-052AA0EB55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common complications are local irritation and phlebitis.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Observing and maintaining the IV site are critical, especially with vesicants.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use of aseptic technique in changing solution, IV bags, adding medications, and changing tubing is essential as these persons may be immuno-compromised and extremely susceptible to the introduction of any bacteria.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Venous system access may be accomplished through a peripheral catheter, a central venous catheter (CVP or an Infusaport), or a peripherally inserted central venous catheter (PICC line).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Site care is even more critical with central lines.</a:t>
            </a:r>
          </a:p>
        </p:txBody>
      </p:sp>
      <p:sp>
        <p:nvSpPr>
          <p:cNvPr id="6" name="">
            <a:extLst xmlns:a="http://schemas.openxmlformats.org/drawingml/2006/main">
              <a:ext uri="{FF2B5EF4-FFF2-40B4-BE49-F238E27FC236}">
                <a16:creationId xmlns:a16="http://schemas.microsoft.com/office/drawing/2014/main" id="{56BAC591-01C2-4ACE-ACD0-C03A3741EC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D8585CB-18E8-4CF7-8448-211B496D03C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432112726"/>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CE02B0-9E7F-4D97-A073-3C3C267487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B7FD54-CB38-491D-814F-C66C97E134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42177162-46BF-4628-B3E6-26FC603765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1F02EE1-E171-4524-93AF-A24A9EB344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0196681C-1506-430B-8927-2E61C3BF33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Intra-Arterial Route An agent injected into an artery proximal to a tumor or affected organ travels directly to that area before spreading to the rest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Higher concentrations are then achieved at the target area, with fewer side effects to the rest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insertion is chosen careful and care includes maintaining catheter patency, bleeding, and infection.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Routes Intraperitoneal therapy is often used for ovarian and colon cancer.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small catheter is inserted into the intraperitoneal cavity through an incision just below the umbilicus, and the agent then instilled.</a:t>
            </a:r>
          </a:p>
        </p:txBody>
      </p:sp>
      <p:sp>
        <p:nvSpPr>
          <p:cNvPr id="6" name="">
            <a:extLst xmlns:a="http://schemas.openxmlformats.org/drawingml/2006/main">
              <a:ext uri="{FF2B5EF4-FFF2-40B4-BE49-F238E27FC236}">
                <a16:creationId xmlns:a16="http://schemas.microsoft.com/office/drawing/2014/main" id="{74BA8E0F-03FB-40BD-BD0F-02F3CB36FF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BE7CE5-C3A3-46AD-B902-68A938CABCB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1263854709"/>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98D2BE-607C-4075-8A3E-479B65589F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AF9AA6-43F0-4A22-8B9E-C60DD96611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Oral Route — continued</a:t>
            </a:r>
          </a:p>
        </p:txBody>
      </p:sp>
      <p:sp>
        <p:nvSpPr>
          <p:cNvPr id="3" name="">
            <a:extLst xmlns:a="http://schemas.openxmlformats.org/drawingml/2006/main">
              <a:ext uri="{FF2B5EF4-FFF2-40B4-BE49-F238E27FC236}">
                <a16:creationId xmlns:a16="http://schemas.microsoft.com/office/drawing/2014/main" id="{91E17FC6-F6FE-4FE2-8199-9D8C6A58DF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0262EAB-5FCC-4172-A2A7-1B3779657C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185CEC14-6869-4ABD-A4EE-565B709000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intrapieural route is used for some forms of lung cancer.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small tube is inserted, in a manner not unlike a chest tube, into the intrapicural space where the chemotherapy is then injected.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Intrathecal chemotherapy is injected into cerebrospinal fluid through a lumbar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more directly focuses the agent to central nervous system cancers.</a:t>
            </a:r>
          </a:p>
        </p:txBody>
      </p:sp>
      <p:sp>
        <p:nvSpPr>
          <p:cNvPr id="6" name="">
            <a:extLst xmlns:a="http://schemas.openxmlformats.org/drawingml/2006/main">
              <a:ext uri="{FF2B5EF4-FFF2-40B4-BE49-F238E27FC236}">
                <a16:creationId xmlns:a16="http://schemas.microsoft.com/office/drawing/2014/main" id="{52AC7CC0-D2BD-4557-8335-376E927CD9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97B020-DE67-4150-BAE4-1D381B5CE2E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76</a:t>
            </a:r>
          </a:p>
        </p:txBody>
      </p:sp>
    </p:spTree>
    <p:extLst>
      <p:ext uri="{BB962C8B-B14F-4D97-AF65-F5344CB8AC3E}">
        <p14:creationId xmlns:p14="http://schemas.microsoft.com/office/powerpoint/2010/main" val="391723147"/>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27736D-26F6-43E5-AE38-6BF3B084AF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1A1EB5-98EA-41B9-A54D-402467528A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a:t>
            </a:r>
          </a:p>
        </p:txBody>
      </p:sp>
      <p:sp>
        <p:nvSpPr>
          <p:cNvPr id="3" name="">
            <a:extLst xmlns:a="http://schemas.openxmlformats.org/drawingml/2006/main">
              <a:ext uri="{FF2B5EF4-FFF2-40B4-BE49-F238E27FC236}">
                <a16:creationId xmlns:a16="http://schemas.microsoft.com/office/drawing/2014/main" id="{ADF25D68-8D22-4026-8071-20E709E058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F1A76D9-BA5A-4887-819F-E599EBDEE4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8E0AA7B2-05CF-4145-B976-7097320DDCD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Each of these approaches carries its' own risks for complications.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Site maintenance is similar for each method, but the nurse needs to be knowledgeable of the problems and specific care associated with each.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GLOSSARY Adjuvant Chemotherapy Using drugs in combination with surgery and/or radiation to treat cancer.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Akylating Agent Agents that interfere with the DNA replication process Alopecia The loss of hair from the scalp and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Anorexia The reduction or loss of appetite for food.</a:t>
            </a:r>
          </a:p>
        </p:txBody>
      </p:sp>
      <p:sp>
        <p:nvSpPr>
          <p:cNvPr id="6" name="">
            <a:extLst xmlns:a="http://schemas.openxmlformats.org/drawingml/2006/main">
              <a:ext uri="{FF2B5EF4-FFF2-40B4-BE49-F238E27FC236}">
                <a16:creationId xmlns:a16="http://schemas.microsoft.com/office/drawing/2014/main" id="{4C28FBEA-2EAF-48B1-A53B-95206D1BE84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DD3CC12-EA10-49FE-8C35-976EA6BCE83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88929714"/>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0AC91D-A63A-4743-9649-75818E7D1E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77BC7D-E4A0-4E3F-83EC-D5158D855F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D18FA0D5-1A39-48B4-B425-47446A7F40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D6377DF-9E60-4BB6-BB69-CF4F74BB5C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1589F7E4-1BEF-48E8-B248-668F70CBDD7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Anticipatory Nausea The nausea and/or vomiting that precedes the receiving of chemotherapy.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Antiemetic A drug that reduces or eliminates nausea and vomiting.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Antimetabolites Medications that act on the S Phase of the cell cycle by blocking the metabolic pathways or by replacing the essential metabolites.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Antitumor Antibiotics Agents that work by binding with DNA to inhibit the synthesis of both DNA and RNA.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Benign A tumor that is non-cancerous.</a:t>
            </a:r>
          </a:p>
        </p:txBody>
      </p:sp>
      <p:sp>
        <p:nvSpPr>
          <p:cNvPr id="6" name="">
            <a:extLst xmlns:a="http://schemas.openxmlformats.org/drawingml/2006/main">
              <a:ext uri="{FF2B5EF4-FFF2-40B4-BE49-F238E27FC236}">
                <a16:creationId xmlns:a16="http://schemas.microsoft.com/office/drawing/2014/main" id="{C1282D20-2E76-479F-8A3E-1B2B05D7E2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A4EED9D-A2EE-437B-9878-E3D3E6CA7E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1523941520"/>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D9F08A-E5E6-456B-AFCC-05C001C5B1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D950BB-69A5-4FD4-AABE-307FF7108B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2E70A9EA-24E7-4791-AEDB-9A8D66641F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0DA81B87-76DC-425D-A2EF-965BA3EAA0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753DB2F0-2C4E-4D82-A9BE-C4EEBC6A08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Cancer A broad term to indicate over 1 00 diseases in which abnormal cells reproduce at an uncontrollable rate.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malignant tumor.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Cardiomyopathy An acute or chronic disease of the cardiac muscle.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Chemotherapy The use of chemicals or drugs to treat diseases.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Combination Therapy The use of more than one drug at the same time, or in a sequence to treat a specific type of cancer.</a:t>
            </a:r>
          </a:p>
        </p:txBody>
      </p:sp>
      <p:sp>
        <p:nvSpPr>
          <p:cNvPr id="6" name="">
            <a:extLst xmlns:a="http://schemas.openxmlformats.org/drawingml/2006/main">
              <a:ext uri="{FF2B5EF4-FFF2-40B4-BE49-F238E27FC236}">
                <a16:creationId xmlns:a16="http://schemas.microsoft.com/office/drawing/2014/main" id="{69486B96-DD68-4710-B347-93DFA09690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E1A476-5497-427A-8C40-8E1B62A516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2123413313"/>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9DC5EB-ED2F-4820-ACE1-AA1C29EAFD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8CDA66-F5D1-477A-8246-59EA32EEB3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Adjuvant Chemotherapy — continued</a:t>
            </a:r>
          </a:p>
        </p:txBody>
      </p:sp>
      <p:sp>
        <p:nvSpPr>
          <p:cNvPr id="3" name="">
            <a:extLst xmlns:a="http://schemas.openxmlformats.org/drawingml/2006/main">
              <a:ext uri="{FF2B5EF4-FFF2-40B4-BE49-F238E27FC236}">
                <a16:creationId xmlns:a16="http://schemas.microsoft.com/office/drawing/2014/main" id="{89F3765C-1AC9-45A0-8DD5-7B1D5D65AF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5AE3EE5-5BA8-42D3-9B74-8A228C40AF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0CC4CA5C-8BD2-4779-9EDC-2481008B01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Extravasation An infiltration into the surrounding tissue due to the needle going through the vein site.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(symptoms much like an infiltration)</a:t>
            </a:r>
          </a:p>
        </p:txBody>
      </p:sp>
      <p:sp>
        <p:nvSpPr>
          <p:cNvPr id="6" name="">
            <a:extLst xmlns:a="http://schemas.openxmlformats.org/drawingml/2006/main">
              <a:ext uri="{FF2B5EF4-FFF2-40B4-BE49-F238E27FC236}">
                <a16:creationId xmlns:a16="http://schemas.microsoft.com/office/drawing/2014/main" id="{CFE6B29C-4B48-4B87-9035-7445A94274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1731C9-B1AC-4C69-9539-0B0CA68F7C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77</a:t>
            </a:r>
          </a:p>
        </p:txBody>
      </p:sp>
    </p:spTree>
    <p:extLst>
      <p:ext uri="{BB962C8B-B14F-4D97-AF65-F5344CB8AC3E}">
        <p14:creationId xmlns:p14="http://schemas.microsoft.com/office/powerpoint/2010/main" val="2140586422"/>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56E745-7F5A-45CD-AA9B-E72AE16220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1BABE92-AB1B-4312-ADFD-A597E95D15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a:t>
            </a:r>
          </a:p>
        </p:txBody>
      </p:sp>
      <p:sp>
        <p:nvSpPr>
          <p:cNvPr id="3" name="">
            <a:extLst xmlns:a="http://schemas.openxmlformats.org/drawingml/2006/main">
              <a:ext uri="{FF2B5EF4-FFF2-40B4-BE49-F238E27FC236}">
                <a16:creationId xmlns:a16="http://schemas.microsoft.com/office/drawing/2014/main" id="{7D342C27-1C46-40B0-9CA2-535B5B36FB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3CCA967-8B30-492A-963B-1CAB474CB3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D783F4C0-7B65-43D6-9BB4-D7FA13AC60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Intra-arterial Chemotherapy arterial line.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Intraperitoneal Placement of chemotherapy into the peritoneal space Chemotherapy Intrathecal Chemotherapy Injection of chemotherapy into the cerebrospinal fluid.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Irritant An agent that causes irritation in the vein during infusion.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Leukopenia A reduction in the bodies leukocyte count.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Malignant A tumor that is made of cancerous cells.</a:t>
            </a:r>
          </a:p>
        </p:txBody>
      </p:sp>
      <p:sp>
        <p:nvSpPr>
          <p:cNvPr id="6" name="">
            <a:extLst xmlns:a="http://schemas.openxmlformats.org/drawingml/2006/main">
              <a:ext uri="{FF2B5EF4-FFF2-40B4-BE49-F238E27FC236}">
                <a16:creationId xmlns:a16="http://schemas.microsoft.com/office/drawing/2014/main" id="{B318C025-4AC2-4601-8882-0E70DBF5A1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8019A0-A0FC-4765-9945-DD2551C0C5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922973158"/>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3E1F56-BC77-4691-85EC-446D2B19C0F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F92B5D5-FE82-450A-A6A8-55A7228DF3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94651483-8A8E-42DC-98BD-22DC26C219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0298ED4-091F-496B-91A0-6D0F2696FB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DF3BF0A1-3D7A-408F-A42C-7A9096F784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Metastasis The process of a tumor fragmenting, traveling through the lymphatic or vascular system, and then establishing itself in a different location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Mitosis The last stage of the cell cycle where the cell actually splits into two sibling cells, each having the same number and type of chromosomes as the parent.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Myelosuppression A decrease in the number of red blood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Nitrisureas Chemotherapeutic agents that attack cancer cells by inhibiting the formation of DNA.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Phlebitis The inflammation of a vein, often due to IV drug irritation.</a:t>
            </a:r>
          </a:p>
        </p:txBody>
      </p:sp>
      <p:sp>
        <p:nvSpPr>
          <p:cNvPr id="6" name="">
            <a:extLst xmlns:a="http://schemas.openxmlformats.org/drawingml/2006/main">
              <a:ext uri="{FF2B5EF4-FFF2-40B4-BE49-F238E27FC236}">
                <a16:creationId xmlns:a16="http://schemas.microsoft.com/office/drawing/2014/main" id="{ABB5343C-5040-4F17-B651-B23E22BD78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46C4ED3-E248-40CC-A584-834624CF4C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43074935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51E935-2774-4603-B3D3-2CC17E8BEE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86CFA2-FCAA-491A-9CDE-319D44A866A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injection of chemotherapy into an artery through an — continued</a:t>
            </a:r>
          </a:p>
        </p:txBody>
      </p:sp>
      <p:sp>
        <p:nvSpPr>
          <p:cNvPr id="3" name="">
            <a:extLst xmlns:a="http://schemas.openxmlformats.org/drawingml/2006/main">
              <a:ext uri="{FF2B5EF4-FFF2-40B4-BE49-F238E27FC236}">
                <a16:creationId xmlns:a16="http://schemas.microsoft.com/office/drawing/2014/main" id="{8F7BD94C-7FF1-403D-8CF8-74C7943867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19338C1-0672-4347-B6CA-4276BE8ECC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B0641F73-0328-42AD-95AD-9A3C02A14A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Plant Alkaloid (Vinca) A chemotherapy agent that attacks cancerous cells by the inhibition of mitosis.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Radiation Therapy The treatment of cancer with radiation (high energy X-rays).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Stomatitis The inflammation of the mucous membrane of the oral cavity and upper GI tract.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Vesicant An agent that causes tissue damage and necrosis with infiltration into the tissues outside of the vein.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Tumor A physically distinct, abnormal growth of cells; may be benign or malignant.</a:t>
            </a:r>
          </a:p>
        </p:txBody>
      </p:sp>
      <p:sp>
        <p:nvSpPr>
          <p:cNvPr id="6" name="">
            <a:extLst xmlns:a="http://schemas.openxmlformats.org/drawingml/2006/main">
              <a:ext uri="{FF2B5EF4-FFF2-40B4-BE49-F238E27FC236}">
                <a16:creationId xmlns:a16="http://schemas.microsoft.com/office/drawing/2014/main" id="{764033E8-48A7-453D-9CA2-34417FEA85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45DA27-7416-42F4-80AC-8C00F825E5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78</a:t>
            </a:r>
          </a:p>
        </p:txBody>
      </p:sp>
    </p:spTree>
    <p:extLst>
      <p:ext uri="{BB962C8B-B14F-4D97-AF65-F5344CB8AC3E}">
        <p14:creationId xmlns:p14="http://schemas.microsoft.com/office/powerpoint/2010/main" val="1167721667"/>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DC20B8-BE56-493D-9BF3-D41CF744F8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A99DD74-F914-453C-8EFD-75B11BE773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69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a:t>
            </a:r>
          </a:p>
        </p:txBody>
      </p:sp>
      <p:sp>
        <p:nvSpPr>
          <p:cNvPr id="3" name="">
            <a:extLst xmlns:a="http://schemas.openxmlformats.org/drawingml/2006/main">
              <a:ext uri="{FF2B5EF4-FFF2-40B4-BE49-F238E27FC236}">
                <a16:creationId xmlns:a16="http://schemas.microsoft.com/office/drawing/2014/main" id="{72E62116-4B81-4D0B-9826-85CA64B41C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75EC53E-24FC-4DBD-9030-1B6AF57460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8AF27EC0-0871-4CDB-BD24-A5E7F9EA59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BIBLIOGRAPHY Bready, 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 Anderson, 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 (1 990) Guide for the Administration and Use of Cancer Chemotherapeutic Agents, Pharmacy Practice News Casciato, D.A., Lawitz., B.B." (1988) Manual of Clinical Oncology, Little, Brown and Company.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Goodman, M.D.: (1 988) Chemotherapy and Care, Bristol-Meyers Miller, 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Keane, C.: (1 986) Encyclopedia and Dictionary of Medicine and Nursing, W.B.</a:t>
            </a:r>
          </a:p>
        </p:txBody>
      </p:sp>
      <p:sp>
        <p:nvSpPr>
          <p:cNvPr id="6" name="">
            <a:extLst xmlns:a="http://schemas.openxmlformats.org/drawingml/2006/main">
              <a:ext uri="{FF2B5EF4-FFF2-40B4-BE49-F238E27FC236}">
                <a16:creationId xmlns:a16="http://schemas.microsoft.com/office/drawing/2014/main" id="{B6CB69B9-D9F2-471C-BC48-B86B4AD12C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3E0787-06F7-49CD-B6D3-3FCB2D50618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659791470"/>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1A92F9-09A0-46FD-BE7C-66B8D3D9877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E5A18A-3EAE-4AD5-A903-CEF824B7458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FB04EC47-FFEC-4B7C-ADCB-264DC092E1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CFB6907-C103-468B-AD6F-C84E072F55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3163212F-02D3-4F83-9AC3-152376AAC4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Saunders Nentwick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(1 991) 1991-1992 Handbook of Intravenous Medications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Jones &amp; Bartlett Reyman P.:</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(1989) The Cancer Chemotherapy Administration Program Manual Tenenbaum</a:t>
            </a:r>
          </a:p>
        </p:txBody>
      </p:sp>
      <p:sp>
        <p:nvSpPr>
          <p:cNvPr id="6" name="">
            <a:extLst xmlns:a="http://schemas.openxmlformats.org/drawingml/2006/main">
              <a:ext uri="{FF2B5EF4-FFF2-40B4-BE49-F238E27FC236}">
                <a16:creationId xmlns:a16="http://schemas.microsoft.com/office/drawing/2014/main" id="{1D0F0BE2-3DAB-4F5E-8903-BEA2EE9D34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ECE723-6EB3-4C1A-A34D-F75FB2D1416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859738531"/>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551373-6A3A-4759-B423-C4020C178F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378ED25-C63A-49AE-B7C7-65F06CD913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Goodman, M.D.: (1 988) Chemotherapy and Care, Bristol-Meyers — continued</a:t>
            </a:r>
          </a:p>
        </p:txBody>
      </p:sp>
      <p:sp>
        <p:nvSpPr>
          <p:cNvPr id="3" name="">
            <a:extLst xmlns:a="http://schemas.openxmlformats.org/drawingml/2006/main">
              <a:ext uri="{FF2B5EF4-FFF2-40B4-BE49-F238E27FC236}">
                <a16:creationId xmlns:a16="http://schemas.microsoft.com/office/drawing/2014/main" id="{60F6CED4-5267-4D9C-B684-E21B9E4549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20443555-4234-4893-9794-CA76D56F98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CF93AA20-3C87-4585-8A33-91CE60547B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(1 989) A Reference Guide - Cancer Chemotherapy.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Saunders, Philadelphia Yasko, J.M.: (1 986) Nursing Management of Symptoms Associated with Chemotherapy, Adria Laboratories</a:t>
            </a:r>
          </a:p>
        </p:txBody>
      </p:sp>
      <p:sp>
        <p:nvSpPr>
          <p:cNvPr id="6" name="">
            <a:extLst xmlns:a="http://schemas.openxmlformats.org/drawingml/2006/main">
              <a:ext uri="{FF2B5EF4-FFF2-40B4-BE49-F238E27FC236}">
                <a16:creationId xmlns:a16="http://schemas.microsoft.com/office/drawing/2014/main" id="{11D7447A-3BEE-4DAF-9256-E2510CBA183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DE7F88-7A58-4022-8908-F94A30DB5E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79</a:t>
            </a:r>
          </a:p>
        </p:txBody>
      </p:sp>
    </p:spTree>
    <p:extLst>
      <p:ext uri="{BB962C8B-B14F-4D97-AF65-F5344CB8AC3E}">
        <p14:creationId xmlns:p14="http://schemas.microsoft.com/office/powerpoint/2010/main" val="570753644"/>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8A6CAB-5C90-4EFB-9895-71C5447180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3693BF-34C3-451C-B229-A57ED6D8E3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22E35808-766D-4606-A346-F69DE7CDC5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0068905-3165-4244-AF33-F54A216EB9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0C63581B-7422-485A-9BFA-6AC13E70E0E5}"/>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8F04C537-3220-4E97-BBF6-11C9D51D39EB}"/>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722505843"/>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1942B8-3ED0-4876-9621-4A22E70C8D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FC3D343-1BA3-4C88-B442-9DA8B92579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C259DD40-999F-46DF-8CE1-5FFBC59250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E8FEBF35-5B3F-432C-A30B-AE799C010D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F1CACDCC-BFE3-4ADF-8492-26FFBB29AD0E}"/>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66F6FCBE-8DCC-407F-9BBE-E04624D4A60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3071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2026-10-23T07:16:05.5320000Z</dcterms:created>
  <dcterms:modified xsi:type="dcterms:W3CDTF">2026-10-23T07:16:05.5320000Z</dcterms:modified>
</coreProperties>
</file>